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Play"/>
      <p:regular r:id="rId14"/>
      <p:bold r:id="rId15"/>
    </p:embeddedFont>
    <p:embeddedFont>
      <p:font typeface="Open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gLPaBG34pQa8ADdogl9EkVvf9A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lay-bold.fntdata"/><Relationship Id="rId14" Type="http://schemas.openxmlformats.org/officeDocument/2006/relationships/font" Target="fonts/Play-regular.fntdata"/><Relationship Id="rId17" Type="http://schemas.openxmlformats.org/officeDocument/2006/relationships/font" Target="fonts/OpenSans-boldItalic.fntdata"/><Relationship Id="rId16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3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3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4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5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5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5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2541309" y="0"/>
            <a:ext cx="5746691" cy="1711780"/>
          </a:xfrm>
          <a:custGeom>
            <a:rect b="b" l="l" r="r" t="t"/>
            <a:pathLst>
              <a:path extrusionOk="0" h="1711780" w="5746691">
                <a:moveTo>
                  <a:pt x="0" y="0"/>
                </a:moveTo>
                <a:lnTo>
                  <a:pt x="5746691" y="0"/>
                </a:lnTo>
                <a:lnTo>
                  <a:pt x="5746691" y="1711780"/>
                </a:lnTo>
                <a:lnTo>
                  <a:pt x="0" y="171178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"/>
          <p:cNvSpPr txBox="1"/>
          <p:nvPr/>
        </p:nvSpPr>
        <p:spPr>
          <a:xfrm>
            <a:off x="1267996" y="2553699"/>
            <a:ext cx="15433500" cy="32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900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Sistemas Organizacionales y Gerenciales 1</a:t>
            </a:r>
            <a:endParaRPr sz="1100"/>
          </a:p>
        </p:txBody>
      </p:sp>
      <p:sp>
        <p:nvSpPr>
          <p:cNvPr id="86" name="Google Shape;86;p1"/>
          <p:cNvSpPr txBox="1"/>
          <p:nvPr/>
        </p:nvSpPr>
        <p:spPr>
          <a:xfrm>
            <a:off x="1063303" y="8745251"/>
            <a:ext cx="6981379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Escuela de Ingenieria de Ciencias Y Sistemas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028700" y="9210675"/>
            <a:ext cx="3525292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Facultad de Ingenieria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028700" y="9585325"/>
            <a:ext cx="6407944" cy="42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93;p2"/>
          <p:cNvGrpSpPr/>
          <p:nvPr/>
        </p:nvGrpSpPr>
        <p:grpSpPr>
          <a:xfrm>
            <a:off x="1405646" y="3692152"/>
            <a:ext cx="7269518" cy="845385"/>
            <a:chOff x="0" y="-76200"/>
            <a:chExt cx="3095001" cy="359923"/>
          </a:xfrm>
        </p:grpSpPr>
        <p:sp>
          <p:nvSpPr>
            <p:cNvPr id="94" name="Google Shape;94;p2"/>
            <p:cNvSpPr/>
            <p:nvPr/>
          </p:nvSpPr>
          <p:spPr>
            <a:xfrm>
              <a:off x="0" y="0"/>
              <a:ext cx="3095001" cy="283723"/>
            </a:xfrm>
            <a:custGeom>
              <a:rect b="b" l="l" r="r" t="t"/>
              <a:pathLst>
                <a:path extrusionOk="0" h="283723" w="3095001">
                  <a:moveTo>
                    <a:pt x="289180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891801" y="283723"/>
                  </a:lnTo>
                  <a:lnTo>
                    <a:pt x="3095001" y="141862"/>
                  </a:lnTo>
                  <a:lnTo>
                    <a:pt x="289180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95" name="Google Shape;95;p2"/>
            <p:cNvSpPr txBox="1"/>
            <p:nvPr/>
          </p:nvSpPr>
          <p:spPr>
            <a:xfrm>
              <a:off x="0" y="-76200"/>
              <a:ext cx="298070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Auxiliar de curso</a:t>
              </a:r>
              <a:endParaRPr/>
            </a:p>
          </p:txBody>
        </p:sp>
      </p:grpSp>
      <p:sp>
        <p:nvSpPr>
          <p:cNvPr id="96" name="Google Shape;96;p2"/>
          <p:cNvSpPr/>
          <p:nvPr/>
        </p:nvSpPr>
        <p:spPr>
          <a:xfrm>
            <a:off x="878654" y="3911874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97" name="Google Shape;97;p2"/>
          <p:cNvGrpSpPr/>
          <p:nvPr/>
        </p:nvGrpSpPr>
        <p:grpSpPr>
          <a:xfrm>
            <a:off x="651748" y="-320617"/>
            <a:ext cx="8516026" cy="3120467"/>
            <a:chOff x="-7" y="-95250"/>
            <a:chExt cx="11354700" cy="4160623"/>
          </a:xfrm>
        </p:grpSpPr>
        <p:sp>
          <p:nvSpPr>
            <p:cNvPr id="98" name="Google Shape;98;p2"/>
            <p:cNvSpPr txBox="1"/>
            <p:nvPr/>
          </p:nvSpPr>
          <p:spPr>
            <a:xfrm>
              <a:off x="-7" y="986773"/>
              <a:ext cx="11354700" cy="307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5000" u="none" cap="none" strike="noStrike">
                  <a:solidFill>
                    <a:srgbClr val="131416"/>
                  </a:solidFill>
                  <a:latin typeface="Play"/>
                  <a:ea typeface="Play"/>
                  <a:cs typeface="Play"/>
                  <a:sym typeface="Play"/>
                </a:rPr>
                <a:t>Agenda</a:t>
              </a:r>
              <a:endParaRPr/>
            </a:p>
          </p:txBody>
        </p:sp>
        <p:sp>
          <p:nvSpPr>
            <p:cNvPr id="99" name="Google Shape;99;p2"/>
            <p:cNvSpPr txBox="1"/>
            <p:nvPr/>
          </p:nvSpPr>
          <p:spPr>
            <a:xfrm>
              <a:off x="0" y="-95250"/>
              <a:ext cx="8186982" cy="9274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318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2"/>
          <p:cNvGrpSpPr/>
          <p:nvPr/>
        </p:nvGrpSpPr>
        <p:grpSpPr>
          <a:xfrm>
            <a:off x="1519265" y="5533944"/>
            <a:ext cx="9055351" cy="845566"/>
            <a:chOff x="-148044" y="-53657"/>
            <a:chExt cx="3855320" cy="360000"/>
          </a:xfrm>
        </p:grpSpPr>
        <p:sp>
          <p:nvSpPr>
            <p:cNvPr id="101" name="Google Shape;101;p2"/>
            <p:cNvSpPr/>
            <p:nvPr/>
          </p:nvSpPr>
          <p:spPr>
            <a:xfrm>
              <a:off x="0" y="0"/>
              <a:ext cx="3707276" cy="283723"/>
            </a:xfrm>
            <a:custGeom>
              <a:rect b="b" l="l" r="r" t="t"/>
              <a:pathLst>
                <a:path extrusionOk="0" h="283723" w="3707276">
                  <a:moveTo>
                    <a:pt x="3504076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3504076" y="283723"/>
                  </a:lnTo>
                  <a:lnTo>
                    <a:pt x="3707276" y="141862"/>
                  </a:lnTo>
                  <a:lnTo>
                    <a:pt x="35040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2" name="Google Shape;102;p2"/>
            <p:cNvSpPr txBox="1"/>
            <p:nvPr/>
          </p:nvSpPr>
          <p:spPr>
            <a:xfrm>
              <a:off x="-148044" y="-53657"/>
              <a:ext cx="35931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del programa del laboratorio</a:t>
              </a:r>
              <a:endParaRPr/>
            </a:p>
          </p:txBody>
        </p:sp>
      </p:grpSp>
      <p:grpSp>
        <p:nvGrpSpPr>
          <p:cNvPr id="103" name="Google Shape;103;p2"/>
          <p:cNvGrpSpPr/>
          <p:nvPr/>
        </p:nvGrpSpPr>
        <p:grpSpPr>
          <a:xfrm>
            <a:off x="1956273" y="6481338"/>
            <a:ext cx="6168263" cy="845385"/>
            <a:chOff x="0" y="-76200"/>
            <a:chExt cx="2626141" cy="359923"/>
          </a:xfrm>
        </p:grpSpPr>
        <p:sp>
          <p:nvSpPr>
            <p:cNvPr id="104" name="Google Shape;104;p2"/>
            <p:cNvSpPr/>
            <p:nvPr/>
          </p:nvSpPr>
          <p:spPr>
            <a:xfrm>
              <a:off x="0" y="0"/>
              <a:ext cx="2626141" cy="283723"/>
            </a:xfrm>
            <a:custGeom>
              <a:rect b="b" l="l" r="r" t="t"/>
              <a:pathLst>
                <a:path extrusionOk="0" h="283723" w="2626141">
                  <a:moveTo>
                    <a:pt x="2422941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422941" y="283723"/>
                  </a:lnTo>
                  <a:lnTo>
                    <a:pt x="2626141" y="141862"/>
                  </a:lnTo>
                  <a:lnTo>
                    <a:pt x="242294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5" name="Google Shape;105;p2"/>
            <p:cNvSpPr txBox="1"/>
            <p:nvPr/>
          </p:nvSpPr>
          <p:spPr>
            <a:xfrm>
              <a:off x="0" y="-76200"/>
              <a:ext cx="2511841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Evaluación de Conocimientos</a:t>
              </a:r>
              <a:endParaRPr/>
            </a:p>
          </p:txBody>
        </p:sp>
      </p:grpSp>
      <p:grpSp>
        <p:nvGrpSpPr>
          <p:cNvPr id="106" name="Google Shape;106;p2"/>
          <p:cNvGrpSpPr/>
          <p:nvPr/>
        </p:nvGrpSpPr>
        <p:grpSpPr>
          <a:xfrm>
            <a:off x="1944725" y="4586573"/>
            <a:ext cx="5935056" cy="845385"/>
            <a:chOff x="0" y="-76200"/>
            <a:chExt cx="2526853" cy="359923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2526853" cy="283723"/>
            </a:xfrm>
            <a:custGeom>
              <a:rect b="b" l="l" r="r" t="t"/>
              <a:pathLst>
                <a:path extrusionOk="0" h="283723" w="2526853">
                  <a:moveTo>
                    <a:pt x="2323653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2323653" y="283723"/>
                  </a:lnTo>
                  <a:lnTo>
                    <a:pt x="2526853" y="141862"/>
                  </a:lnTo>
                  <a:lnTo>
                    <a:pt x="2323653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76200"/>
              <a:ext cx="2412553" cy="359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Presentación de estudiantes</a:t>
              </a:r>
              <a:endParaRPr/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1866989" y="7571169"/>
            <a:ext cx="2796960" cy="845566"/>
            <a:chOff x="0" y="-38101"/>
            <a:chExt cx="1190807" cy="360000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1070630" cy="283723"/>
            </a:xfrm>
            <a:custGeom>
              <a:rect b="b" l="l" r="r" t="t"/>
              <a:pathLst>
                <a:path extrusionOk="0" h="283723" w="1070630">
                  <a:moveTo>
                    <a:pt x="867430" y="0"/>
                  </a:moveTo>
                  <a:lnTo>
                    <a:pt x="0" y="0"/>
                  </a:lnTo>
                  <a:lnTo>
                    <a:pt x="0" y="283723"/>
                  </a:lnTo>
                  <a:lnTo>
                    <a:pt x="867430" y="283723"/>
                  </a:lnTo>
                  <a:lnTo>
                    <a:pt x="1070630" y="141862"/>
                  </a:lnTo>
                  <a:lnTo>
                    <a:pt x="86743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</p:sp>
        <p:sp>
          <p:nvSpPr>
            <p:cNvPr id="111" name="Google Shape;111;p2"/>
            <p:cNvSpPr txBox="1"/>
            <p:nvPr/>
          </p:nvSpPr>
          <p:spPr>
            <a:xfrm>
              <a:off x="234407" y="-38101"/>
              <a:ext cx="956400" cy="36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80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799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Despedida</a:t>
              </a:r>
              <a:endParaRPr/>
            </a:p>
          </p:txBody>
        </p:sp>
      </p:grpSp>
      <p:sp>
        <p:nvSpPr>
          <p:cNvPr id="112" name="Google Shape;112;p2"/>
          <p:cNvSpPr/>
          <p:nvPr/>
        </p:nvSpPr>
        <p:spPr>
          <a:xfrm>
            <a:off x="878654" y="4794712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3" name="Google Shape;113;p2"/>
          <p:cNvSpPr/>
          <p:nvPr/>
        </p:nvSpPr>
        <p:spPr>
          <a:xfrm>
            <a:off x="878654" y="5776285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p2"/>
          <p:cNvSpPr/>
          <p:nvPr/>
        </p:nvSpPr>
        <p:spPr>
          <a:xfrm>
            <a:off x="878654" y="6776068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2"/>
          <p:cNvSpPr/>
          <p:nvPr/>
        </p:nvSpPr>
        <p:spPr>
          <a:xfrm>
            <a:off x="878654" y="7776973"/>
            <a:ext cx="453358" cy="550094"/>
          </a:xfrm>
          <a:custGeom>
            <a:rect b="b" l="l" r="r" t="t"/>
            <a:pathLst>
              <a:path extrusionOk="0" h="550094" w="453358">
                <a:moveTo>
                  <a:pt x="0" y="0"/>
                </a:moveTo>
                <a:lnTo>
                  <a:pt x="453359" y="0"/>
                </a:lnTo>
                <a:lnTo>
                  <a:pt x="453359" y="550094"/>
                </a:lnTo>
                <a:lnTo>
                  <a:pt x="0" y="5500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3"/>
          <p:cNvSpPr txBox="1"/>
          <p:nvPr/>
        </p:nvSpPr>
        <p:spPr>
          <a:xfrm>
            <a:off x="4337966" y="395245"/>
            <a:ext cx="9612067" cy="180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BIENVENIDA Y PRESENTACIÓN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3435763" y="4156571"/>
            <a:ext cx="11397424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199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¿Quien soy? Conociendo al auxiliar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2090111" y="2242623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 txBox="1"/>
          <p:nvPr/>
        </p:nvSpPr>
        <p:spPr>
          <a:xfrm>
            <a:off x="4337966" y="317778"/>
            <a:ext cx="9612067" cy="26648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ESTUDIANTES</a:t>
            </a:r>
            <a:endParaRPr/>
          </a:p>
        </p:txBody>
      </p:sp>
      <p:sp>
        <p:nvSpPr>
          <p:cNvPr id="128" name="Google Shape;128;p4"/>
          <p:cNvSpPr txBox="1"/>
          <p:nvPr/>
        </p:nvSpPr>
        <p:spPr>
          <a:xfrm>
            <a:off x="4337966" y="3698875"/>
            <a:ext cx="8869033" cy="28035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Seleccionar 5 estudiantes de manera aleatoria a través de sorteo para que se presenten ante la clase.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13371222" y="4942444"/>
            <a:ext cx="4815461" cy="4762929"/>
          </a:xfrm>
          <a:custGeom>
            <a:rect b="b" l="l" r="r" t="t"/>
            <a:pathLst>
              <a:path extrusionOk="0" h="4762929" w="4815461">
                <a:moveTo>
                  <a:pt x="0" y="0"/>
                </a:moveTo>
                <a:lnTo>
                  <a:pt x="4815461" y="0"/>
                </a:lnTo>
                <a:lnTo>
                  <a:pt x="4815461" y="4762929"/>
                </a:lnTo>
                <a:lnTo>
                  <a:pt x="0" y="47629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4"/>
          <p:cNvSpPr txBox="1"/>
          <p:nvPr/>
        </p:nvSpPr>
        <p:spPr>
          <a:xfrm>
            <a:off x="13874788" y="5844712"/>
            <a:ext cx="3808200" cy="3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</a:t>
            </a: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o</a:t>
            </a: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! Conociendo a algunos compañeros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</a:t>
            </a: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</a:t>
            </a: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ud</a:t>
            </a: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ante deberá compartir: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/>
          </a:p>
          <a:p>
            <a:pPr indent="-166041" lvl="1" marL="332082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538"/>
              <a:buFont typeface="Arial"/>
              <a:buChar char="•"/>
            </a:pPr>
            <a:r>
              <a:rPr b="0" i="0" lang="en-US" sz="1538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/>
          </a:p>
          <a:p>
            <a:pPr indent="0" lvl="0" marL="0" marR="0" rtl="0" algn="l">
              <a:lnSpc>
                <a:spcPct val="139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38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1" name="Google Shape;131;p4"/>
          <p:cNvSpPr txBox="1"/>
          <p:nvPr/>
        </p:nvSpPr>
        <p:spPr>
          <a:xfrm>
            <a:off x="2245583" y="2811227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25 minutos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"/>
          <p:cNvSpPr txBox="1"/>
          <p:nvPr/>
        </p:nvSpPr>
        <p:spPr>
          <a:xfrm>
            <a:off x="2116023" y="428019"/>
            <a:ext cx="14055954" cy="1688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PREVIOS</a:t>
            </a:r>
            <a:endParaRPr/>
          </a:p>
        </p:txBody>
      </p:sp>
      <p:sp>
        <p:nvSpPr>
          <p:cNvPr id="137" name="Google Shape;137;p5"/>
          <p:cNvSpPr txBox="1"/>
          <p:nvPr/>
        </p:nvSpPr>
        <p:spPr>
          <a:xfrm>
            <a:off x="2116023" y="3080412"/>
            <a:ext cx="14365903" cy="2273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Se debe colocar enlace a actividad (Cuestionario media Quizz, Kahoot, ) para evaluar los conocimientos que el estudiante posee del curso anterior</a:t>
            </a:r>
            <a:endParaRPr/>
          </a:p>
        </p:txBody>
      </p:sp>
      <p:sp>
        <p:nvSpPr>
          <p:cNvPr id="138" name="Google Shape;138;p5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5"/>
          <p:cNvSpPr txBox="1"/>
          <p:nvPr/>
        </p:nvSpPr>
        <p:spPr>
          <a:xfrm>
            <a:off x="14021064" y="5820568"/>
            <a:ext cx="3238236" cy="38731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📌 Objetivos de la actividad: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Identificar cuánto recuerdan del curso anterior.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Explorar conocimientos previos sobre el nuevo curso.</a:t>
            </a:r>
            <a:endParaRPr/>
          </a:p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 ✔️ Adaptar el enfoque del curso según el nivel del grupo.</a:t>
            </a:r>
            <a:endParaRPr/>
          </a:p>
        </p:txBody>
      </p:sp>
      <p:sp>
        <p:nvSpPr>
          <p:cNvPr id="140" name="Google Shape;140;p5"/>
          <p:cNvSpPr txBox="1"/>
          <p:nvPr/>
        </p:nvSpPr>
        <p:spPr>
          <a:xfrm>
            <a:off x="2116023" y="1944637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"/>
          <p:cNvSpPr txBox="1"/>
          <p:nvPr/>
        </p:nvSpPr>
        <p:spPr>
          <a:xfrm>
            <a:off x="1843948" y="2289328"/>
            <a:ext cx="12625499" cy="16406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Competencias y objetivos del curso</a:t>
            </a:r>
            <a:endParaRPr/>
          </a:p>
          <a:p>
            <a:pPr indent="0" lvl="0" marL="0" marR="0" rtl="0" algn="l">
              <a:lnSpc>
                <a:spcPct val="173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925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Temarios y Contenidos Principales</a:t>
            </a:r>
            <a:endParaRPr/>
          </a:p>
        </p:txBody>
      </p:sp>
      <p:sp>
        <p:nvSpPr>
          <p:cNvPr id="146" name="Google Shape;146;p6"/>
          <p:cNvSpPr txBox="1"/>
          <p:nvPr/>
        </p:nvSpPr>
        <p:spPr>
          <a:xfrm>
            <a:off x="412317" y="560459"/>
            <a:ext cx="17463365" cy="8983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Presentación de programa</a:t>
            </a: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13447195" y="5334021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8" y="0"/>
                </a:lnTo>
                <a:lnTo>
                  <a:pt x="4626468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p6"/>
          <p:cNvSpPr txBox="1"/>
          <p:nvPr/>
        </p:nvSpPr>
        <p:spPr>
          <a:xfrm>
            <a:off x="14141311" y="6461503"/>
            <a:ext cx="3238236" cy="2182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el propósito del curso y su relevancia en la formación profesional.</a:t>
            </a:r>
            <a:endParaRPr/>
          </a:p>
          <a:p>
            <a:pPr indent="0" lvl="0" marL="0" marR="0" rtl="0" algn="l">
              <a:lnSpc>
                <a:spcPct val="1400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desglosar las competencias generales y específicas que se trabajarán a lo largo del laboratorio</a:t>
            </a: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656614" y="4488814"/>
            <a:ext cx="5365079" cy="5306551"/>
          </a:xfrm>
          <a:custGeom>
            <a:rect b="b" l="l" r="r" t="t"/>
            <a:pathLst>
              <a:path extrusionOk="0" h="5306551" w="5365079">
                <a:moveTo>
                  <a:pt x="0" y="0"/>
                </a:moveTo>
                <a:lnTo>
                  <a:pt x="5365078" y="0"/>
                </a:lnTo>
                <a:lnTo>
                  <a:pt x="5365078" y="5306551"/>
                </a:lnTo>
                <a:lnTo>
                  <a:pt x="0" y="530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0" name="Google Shape;150;p6"/>
          <p:cNvSpPr txBox="1"/>
          <p:nvPr/>
        </p:nvSpPr>
        <p:spPr>
          <a:xfrm>
            <a:off x="1143435" y="5685306"/>
            <a:ext cx="4171064" cy="37023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explicar lo siguiente: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del curso y su propósito dentro del plan de estudios.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Competencias y objetivos a desarrollar (enfoque en la Taxonomía de Bloom).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Temas principales que se abordarán a lo largo del curso.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Metodología de enseñanza (teoría, práctica, proyectos, estudios de caso).</a:t>
            </a:r>
            <a:endParaRPr/>
          </a:p>
          <a:p>
            <a:pPr indent="-174327" lvl="1" marL="348654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Clr>
                <a:srgbClr val="131416"/>
              </a:buClr>
              <a:buSzPts val="1614"/>
              <a:buFont typeface="Arial"/>
              <a:buChar char="•"/>
            </a:pPr>
            <a:r>
              <a:rPr b="0" i="0" lang="en-US" sz="16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Recursos y herramientas que se utilizarán (plataformas, software, libros, etc.).</a:t>
            </a:r>
            <a:endParaRPr/>
          </a:p>
          <a:p>
            <a:pPr indent="0" lvl="0" marL="0" marR="0" rtl="0" algn="l">
              <a:lnSpc>
                <a:spcPct val="14002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1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1843948" y="1568914"/>
            <a:ext cx="14365903" cy="711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20 minutos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"/>
          <p:cNvSpPr txBox="1"/>
          <p:nvPr/>
        </p:nvSpPr>
        <p:spPr>
          <a:xfrm>
            <a:off x="3392183" y="246636"/>
            <a:ext cx="11503634" cy="24881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129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598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EVALUACIÓN DE CONOCIMIENTOS DEL NUEVO CURSO</a:t>
            </a:r>
            <a:endParaRPr/>
          </a:p>
        </p:txBody>
      </p:sp>
      <p:sp>
        <p:nvSpPr>
          <p:cNvPr id="157" name="Google Shape;157;p7"/>
          <p:cNvSpPr txBox="1"/>
          <p:nvPr/>
        </p:nvSpPr>
        <p:spPr>
          <a:xfrm>
            <a:off x="2043523" y="3896418"/>
            <a:ext cx="14365800" cy="150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75">
                <a:solidFill>
                  <a:srgbClr val="131416"/>
                </a:solidFill>
              </a:rPr>
              <a:t>https://create.kahoot.it/share/evaluacion-de-diagnostico/306181d0-184c-4664-948f-66bad9677e15</a:t>
            </a:r>
            <a:endParaRPr/>
          </a:p>
        </p:txBody>
      </p:sp>
      <p:sp>
        <p:nvSpPr>
          <p:cNvPr id="158" name="Google Shape;158;p7"/>
          <p:cNvSpPr/>
          <p:nvPr/>
        </p:nvSpPr>
        <p:spPr>
          <a:xfrm>
            <a:off x="13395371" y="5711002"/>
            <a:ext cx="4626468" cy="4575998"/>
          </a:xfrm>
          <a:custGeom>
            <a:rect b="b" l="l" r="r" t="t"/>
            <a:pathLst>
              <a:path extrusionOk="0" h="4575998" w="4626468">
                <a:moveTo>
                  <a:pt x="0" y="0"/>
                </a:moveTo>
                <a:lnTo>
                  <a:pt x="4626469" y="0"/>
                </a:lnTo>
                <a:lnTo>
                  <a:pt x="4626469" y="4575998"/>
                </a:lnTo>
                <a:lnTo>
                  <a:pt x="0" y="45759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9" name="Google Shape;159;p7"/>
          <p:cNvSpPr txBox="1"/>
          <p:nvPr/>
        </p:nvSpPr>
        <p:spPr>
          <a:xfrm>
            <a:off x="14089487" y="6819434"/>
            <a:ext cx="3238236" cy="2463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1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deben considerar los conocimientos previos de los estudiantes sobre los temas a impartir para ajustar el tiempo asignado a cada uno de ellos de manera adecuada.</a:t>
            </a:r>
            <a:endParaRPr/>
          </a:p>
        </p:txBody>
      </p:sp>
      <p:sp>
        <p:nvSpPr>
          <p:cNvPr id="160" name="Google Shape;160;p7"/>
          <p:cNvSpPr txBox="1"/>
          <p:nvPr/>
        </p:nvSpPr>
        <p:spPr>
          <a:xfrm>
            <a:off x="2043573" y="3287905"/>
            <a:ext cx="143658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303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575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15 minutos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"/>
          <p:cNvSpPr txBox="1"/>
          <p:nvPr/>
        </p:nvSpPr>
        <p:spPr>
          <a:xfrm>
            <a:off x="4437795" y="3389104"/>
            <a:ext cx="8658828" cy="24956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99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¡GRACIAS POR SU  ATENCIÓN!</a:t>
            </a:r>
            <a:endParaRPr/>
          </a:p>
          <a:p>
            <a:pPr indent="0" lvl="0" marL="0" marR="0" rtl="0" algn="just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6099" u="none" cap="none" strike="noStrike">
              <a:solidFill>
                <a:srgbClr val="13141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8"/>
          <p:cNvSpPr txBox="1"/>
          <p:nvPr/>
        </p:nvSpPr>
        <p:spPr>
          <a:xfrm>
            <a:off x="5414714" y="5958103"/>
            <a:ext cx="6704991" cy="898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000" u="none" cap="none" strike="noStrik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13963751" y="1028700"/>
            <a:ext cx="2757268" cy="3770970"/>
          </a:xfrm>
          <a:custGeom>
            <a:rect b="b" l="l" r="r" t="t"/>
            <a:pathLst>
              <a:path extrusionOk="0" h="3770970" w="2757268">
                <a:moveTo>
                  <a:pt x="0" y="0"/>
                </a:moveTo>
                <a:lnTo>
                  <a:pt x="2757268" y="0"/>
                </a:lnTo>
                <a:lnTo>
                  <a:pt x="2757268" y="3770970"/>
                </a:lnTo>
                <a:lnTo>
                  <a:pt x="0" y="377097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