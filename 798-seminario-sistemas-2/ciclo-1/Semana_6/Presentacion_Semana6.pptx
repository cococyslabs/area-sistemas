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Montserrat"/>
      <p:bold r:id="rId13"/>
      <p:boldItalic r:id="rId14"/>
    </p:embeddedFont>
    <p:embeddedFont>
      <p:font typeface="Montserrat Medium"/>
      <p:regular r:id="rId15"/>
      <p:bold r:id="rId16"/>
      <p:italic r:id="rId17"/>
      <p:boldItalic r:id="rId18"/>
    </p:embeddedFont>
    <p:embeddedFont>
      <p:font typeface="Brygada 1918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z9uwS7wRLWzk8wbiVxFOYbojh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rygada1918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font" Target="fonts/Montserrat-bold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Medium-regular.fntdata"/><Relationship Id="rId14" Type="http://schemas.openxmlformats.org/officeDocument/2006/relationships/font" Target="fonts/Montserrat-boldItalic.fntdata"/><Relationship Id="rId17" Type="http://schemas.openxmlformats.org/officeDocument/2006/relationships/font" Target="fonts/MontserratMedium-italic.fntdata"/><Relationship Id="rId16" Type="http://schemas.openxmlformats.org/officeDocument/2006/relationships/font" Target="fonts/MontserratMedium-bold.fntdata"/><Relationship Id="rId5" Type="http://schemas.openxmlformats.org/officeDocument/2006/relationships/slide" Target="slides/slide1.xml"/><Relationship Id="rId19" Type="http://schemas.openxmlformats.org/officeDocument/2006/relationships/font" Target="fonts/Brygada1918-bold.fntdata"/><Relationship Id="rId6" Type="http://schemas.openxmlformats.org/officeDocument/2006/relationships/slide" Target="slides/slide2.xml"/><Relationship Id="rId18" Type="http://schemas.openxmlformats.org/officeDocument/2006/relationships/font" Target="fonts/MontserratMedium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749260" y="2297906"/>
            <a:ext cx="7645479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6200"/>
              <a:buFont typeface="Brygada 1918"/>
              <a:buNone/>
            </a:pPr>
            <a:r>
              <a:rPr b="1" i="0" lang="en-US" sz="62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Introducción a SSIS</a:t>
            </a:r>
            <a:endParaRPr b="0" i="0" sz="6200" u="none" cap="none" strike="noStrike"/>
          </a:p>
        </p:txBody>
      </p:sp>
      <p:sp>
        <p:nvSpPr>
          <p:cNvPr id="50" name="Google Shape;50;p1"/>
          <p:cNvSpPr/>
          <p:nvPr/>
        </p:nvSpPr>
        <p:spPr>
          <a:xfrm>
            <a:off x="749260" y="3603903"/>
            <a:ext cx="7645479" cy="171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SSIS (SQL Server Integration Services) es una poderosa herramienta de Microsoft que permite la integración y transformación de datos provenientes de múltiples fuentes. Con SSIS, los profesionales de datos pueden automatizar y optimizar sus procesos de ETL (Extracción, Transformación y Carga) de manera eficiente.</a:t>
            </a:r>
            <a:endParaRPr b="0" i="0" sz="1650" u="none" cap="none" strike="noStrike"/>
          </a:p>
        </p:txBody>
      </p:sp>
      <p:sp>
        <p:nvSpPr>
          <p:cNvPr id="51" name="Google Shape;51;p1"/>
          <p:cNvSpPr/>
          <p:nvPr/>
        </p:nvSpPr>
        <p:spPr>
          <a:xfrm>
            <a:off x="749260" y="5572958"/>
            <a:ext cx="342543" cy="342543"/>
          </a:xfrm>
          <a:prstGeom prst="roundRect">
            <a:avLst>
              <a:gd fmla="val 26691789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6880" y="5580578"/>
            <a:ext cx="327303" cy="327303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1198840" y="5556885"/>
            <a:ext cx="3972163" cy="374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47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100"/>
              <a:buFont typeface="Montserrat"/>
              <a:buNone/>
            </a:pPr>
            <a:r>
              <a:rPr b="1" i="0" lang="en-US" sz="2100" u="none" cap="none" strike="noStrike">
                <a:solidFill>
                  <a:srgbClr val="F4CAB8"/>
                </a:solidFill>
                <a:latin typeface="Montserrat"/>
                <a:ea typeface="Montserrat"/>
                <a:cs typeface="Montserrat"/>
                <a:sym typeface="Montserrat"/>
              </a:rPr>
              <a:t>por Seminario de Sistemas 2</a:t>
            </a:r>
            <a:endParaRPr b="0" i="0" sz="21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/>
          <p:nvPr/>
        </p:nvSpPr>
        <p:spPr>
          <a:xfrm>
            <a:off x="749260" y="1895832"/>
            <a:ext cx="13131879" cy="1427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450"/>
              <a:buFont typeface="Brygada 1918"/>
              <a:buNone/>
            </a:pPr>
            <a:r>
              <a:rPr b="1" i="0" lang="en-US" sz="44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Instalación y configuración de SSIS en Visual Studio</a:t>
            </a:r>
            <a:endParaRPr b="0" i="0" sz="4450" u="none" cap="none" strike="noStrike"/>
          </a:p>
        </p:txBody>
      </p:sp>
      <p:sp>
        <p:nvSpPr>
          <p:cNvPr id="60" name="Google Shape;60;p2"/>
          <p:cNvSpPr/>
          <p:nvPr/>
        </p:nvSpPr>
        <p:spPr>
          <a:xfrm>
            <a:off x="749260" y="3858101"/>
            <a:ext cx="3066931" cy="35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Requisitos del sistema</a:t>
            </a:r>
            <a:endParaRPr b="0" i="0" sz="220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749260" y="4429006"/>
            <a:ext cx="4028599" cy="136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 utilizar SSIS, es necesario contar con Visual Studio y tener instalado el componente de SQL Server Integration Services.</a:t>
            </a:r>
            <a:endParaRPr b="0" i="0" sz="165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5307687" y="3858101"/>
            <a:ext cx="2895600" cy="35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Configuración inicial</a:t>
            </a:r>
            <a:endParaRPr b="0" i="0" sz="2200" u="none" cap="none" strike="noStrike"/>
          </a:p>
        </p:txBody>
      </p:sp>
      <p:sp>
        <p:nvSpPr>
          <p:cNvPr id="63" name="Google Shape;63;p2"/>
          <p:cNvSpPr/>
          <p:nvPr/>
        </p:nvSpPr>
        <p:spPr>
          <a:xfrm>
            <a:off x="5307687" y="4429006"/>
            <a:ext cx="4028599" cy="171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Una vez instalado, SSIS se integra perfectamente con Visual Studio, permitiendo crear y gestionar paquetes de integración de datos de manera intuitiva.</a:t>
            </a:r>
            <a:endParaRPr b="0" i="0" sz="165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9866114" y="3858101"/>
            <a:ext cx="3000137" cy="35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Entorno de desarrollo</a:t>
            </a:r>
            <a:endParaRPr b="0" i="0" sz="2200" u="none" cap="none" strike="noStrike"/>
          </a:p>
        </p:txBody>
      </p:sp>
      <p:sp>
        <p:nvSpPr>
          <p:cNvPr id="65" name="Google Shape;65;p2"/>
          <p:cNvSpPr/>
          <p:nvPr/>
        </p:nvSpPr>
        <p:spPr>
          <a:xfrm>
            <a:off x="9866114" y="4429006"/>
            <a:ext cx="4028599" cy="136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diseñador de SSIS en Visual Studio proporciona una interfaz visual y herramientas intuitivas para construir flujos de trabajo complejos.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697825" y="721995"/>
            <a:ext cx="7464981" cy="664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150"/>
              <a:buFont typeface="Brygada 1918"/>
              <a:buNone/>
            </a:pPr>
            <a:r>
              <a:rPr b="1" i="0" lang="en-US" sz="41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Creación de un proyecto SSIS</a:t>
            </a:r>
            <a:endParaRPr b="0" i="0" sz="4150" u="none" cap="none" strike="noStrike"/>
          </a:p>
        </p:txBody>
      </p:sp>
      <p:sp>
        <p:nvSpPr>
          <p:cNvPr id="73" name="Google Shape;73;p3"/>
          <p:cNvSpPr/>
          <p:nvPr/>
        </p:nvSpPr>
        <p:spPr>
          <a:xfrm>
            <a:off x="985480" y="1685687"/>
            <a:ext cx="22860" cy="5821799"/>
          </a:xfrm>
          <a:prstGeom prst="roundRect">
            <a:avLst>
              <a:gd fmla="val 130842" name="adj"/>
            </a:avLst>
          </a:prstGeom>
          <a:solidFill>
            <a:srgbClr val="662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1198364" y="2122884"/>
            <a:ext cx="697825" cy="22860"/>
          </a:xfrm>
          <a:prstGeom prst="roundRect">
            <a:avLst>
              <a:gd fmla="val 130842" name="adj"/>
            </a:avLst>
          </a:prstGeom>
          <a:solidFill>
            <a:srgbClr val="662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772597" y="1910001"/>
            <a:ext cx="448628" cy="448628"/>
          </a:xfrm>
          <a:prstGeom prst="roundRect">
            <a:avLst>
              <a:gd fmla="val 6667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917138" y="1974771"/>
            <a:ext cx="159544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500"/>
              <a:buFont typeface="Brygada 1918"/>
              <a:buNone/>
            </a:pPr>
            <a:r>
              <a:rPr b="1" i="0" lang="en-US" sz="25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1</a:t>
            </a:r>
            <a:endParaRPr b="0" i="0" sz="2500" u="none" cap="none" strike="noStrike"/>
          </a:p>
        </p:txBody>
      </p:sp>
      <p:sp>
        <p:nvSpPr>
          <p:cNvPr id="77" name="Google Shape;77;p3"/>
          <p:cNvSpPr/>
          <p:nvPr/>
        </p:nvSpPr>
        <p:spPr>
          <a:xfrm>
            <a:off x="2093595" y="1884997"/>
            <a:ext cx="2731651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050"/>
              <a:buFont typeface="Brygada 1918"/>
              <a:buNone/>
            </a:pPr>
            <a:r>
              <a:rPr b="1" i="0" lang="en-US" sz="20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Selección de </a:t>
            </a:r>
            <a:r>
              <a:rPr b="1" i="0" lang="en-US" sz="20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plantilla</a:t>
            </a:r>
            <a:endParaRPr b="0" i="0" sz="205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2093595" y="2336840"/>
            <a:ext cx="6352580" cy="957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 crear un nuevo proyecto SSIS, se puede elegir entre diferentes plantillas para adaptarse a las necesidades específicas.</a:t>
            </a:r>
            <a:endParaRPr b="0" i="0" sz="1550" u="none" cap="none" strike="noStrike"/>
          </a:p>
        </p:txBody>
      </p:sp>
      <p:sp>
        <p:nvSpPr>
          <p:cNvPr id="79" name="Google Shape;79;p3"/>
          <p:cNvSpPr/>
          <p:nvPr/>
        </p:nvSpPr>
        <p:spPr>
          <a:xfrm>
            <a:off x="1198364" y="4129921"/>
            <a:ext cx="697825" cy="22860"/>
          </a:xfrm>
          <a:prstGeom prst="roundRect">
            <a:avLst>
              <a:gd fmla="val 130842" name="adj"/>
            </a:avLst>
          </a:prstGeom>
          <a:solidFill>
            <a:srgbClr val="662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72597" y="3917037"/>
            <a:ext cx="448628" cy="448628"/>
          </a:xfrm>
          <a:prstGeom prst="roundRect">
            <a:avLst>
              <a:gd fmla="val 6667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905947" y="3981807"/>
            <a:ext cx="18192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500"/>
              <a:buFont typeface="Brygada 1918"/>
              <a:buNone/>
            </a:pPr>
            <a:r>
              <a:rPr b="1" i="0" lang="en-US" sz="25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2</a:t>
            </a:r>
            <a:endParaRPr b="0" i="0" sz="2500" u="none" cap="none" strike="noStrike"/>
          </a:p>
        </p:txBody>
      </p:sp>
      <p:sp>
        <p:nvSpPr>
          <p:cNvPr id="82" name="Google Shape;82;p3"/>
          <p:cNvSpPr/>
          <p:nvPr/>
        </p:nvSpPr>
        <p:spPr>
          <a:xfrm>
            <a:off x="2093595" y="3892034"/>
            <a:ext cx="346960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050"/>
              <a:buFont typeface="Brygada 1918"/>
              <a:buNone/>
            </a:pPr>
            <a:r>
              <a:rPr b="1" i="0" lang="en-US" sz="20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Configuración del proyecto</a:t>
            </a:r>
            <a:endParaRPr b="0" i="0" sz="2050" u="none" cap="none" strike="noStrike"/>
          </a:p>
        </p:txBody>
      </p:sp>
      <p:sp>
        <p:nvSpPr>
          <p:cNvPr id="83" name="Google Shape;83;p3"/>
          <p:cNvSpPr/>
          <p:nvPr/>
        </p:nvSpPr>
        <p:spPr>
          <a:xfrm>
            <a:off x="2093595" y="4343876"/>
            <a:ext cx="6352580" cy="957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 importante definir correctamente las propiedades del proyecto, como la ubicación de almacenamiento y las opciones de implementación.</a:t>
            </a:r>
            <a:endParaRPr b="0" i="0" sz="15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1198364" y="6136957"/>
            <a:ext cx="697825" cy="22860"/>
          </a:xfrm>
          <a:prstGeom prst="roundRect">
            <a:avLst>
              <a:gd fmla="val 130842" name="adj"/>
            </a:avLst>
          </a:prstGeom>
          <a:solidFill>
            <a:srgbClr val="662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772597" y="5924074"/>
            <a:ext cx="448628" cy="448628"/>
          </a:xfrm>
          <a:prstGeom prst="roundRect">
            <a:avLst>
              <a:gd fmla="val 6667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899517" y="5988844"/>
            <a:ext cx="19466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500"/>
              <a:buFont typeface="Brygada 1918"/>
              <a:buNone/>
            </a:pPr>
            <a:r>
              <a:rPr b="1" i="0" lang="en-US" sz="25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3</a:t>
            </a:r>
            <a:endParaRPr b="0" i="0" sz="250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2093595" y="5899071"/>
            <a:ext cx="3330416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050"/>
              <a:buFont typeface="Brygada 1918"/>
              <a:buNone/>
            </a:pPr>
            <a:r>
              <a:rPr b="1" i="0" lang="en-US" sz="20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Organización de paquetes</a:t>
            </a:r>
            <a:endParaRPr b="0" i="0" sz="205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2093595" y="6350913"/>
            <a:ext cx="6352580" cy="957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paquetes SSIS se pueden agrupar en carpetas y subcarpetas para mantener una estructura ordenada y escalable.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7628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749260" y="3538061"/>
            <a:ext cx="9639538" cy="713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450"/>
              <a:buFont typeface="Brygada 1918"/>
              <a:buNone/>
            </a:pPr>
            <a:r>
              <a:rPr b="1" i="0" lang="en-US" sz="44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Fuentes y destinos de datos en SSIS</a:t>
            </a:r>
            <a:endParaRPr b="0" i="0" sz="4450" u="none" cap="none" strike="noStrike"/>
          </a:p>
        </p:txBody>
      </p:sp>
      <p:sp>
        <p:nvSpPr>
          <p:cNvPr id="96" name="Google Shape;96;p4"/>
          <p:cNvSpPr/>
          <p:nvPr/>
        </p:nvSpPr>
        <p:spPr>
          <a:xfrm>
            <a:off x="749260" y="4813578"/>
            <a:ext cx="481727" cy="481727"/>
          </a:xfrm>
          <a:prstGeom prst="roundRect">
            <a:avLst>
              <a:gd fmla="val 6667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904399" y="4883110"/>
            <a:ext cx="171331" cy="342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650"/>
              <a:buFont typeface="Brygada 1918"/>
              <a:buNone/>
            </a:pPr>
            <a:r>
              <a:rPr b="1" i="0" lang="en-US" sz="26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1</a:t>
            </a:r>
            <a:endParaRPr b="0" i="0" sz="265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1445062" y="4813578"/>
            <a:ext cx="2854643" cy="35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Conectores flexibles</a:t>
            </a:r>
            <a:endParaRPr b="0" i="0" sz="220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1445062" y="5298758"/>
            <a:ext cx="3538776" cy="136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SSIS permite conectar a una amplia variedad de orígenes y destinos de datos, desde bases de datos hasta archivos planos.</a:t>
            </a:r>
            <a:endParaRPr b="0" i="0" sz="1650" u="none" cap="none" strike="noStrike"/>
          </a:p>
        </p:txBody>
      </p:sp>
      <p:sp>
        <p:nvSpPr>
          <p:cNvPr id="100" name="Google Shape;100;p4"/>
          <p:cNvSpPr/>
          <p:nvPr/>
        </p:nvSpPr>
        <p:spPr>
          <a:xfrm>
            <a:off x="5197912" y="4813578"/>
            <a:ext cx="481727" cy="481727"/>
          </a:xfrm>
          <a:prstGeom prst="roundRect">
            <a:avLst>
              <a:gd fmla="val 6667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341144" y="4883110"/>
            <a:ext cx="195263" cy="342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650"/>
              <a:buFont typeface="Brygada 1918"/>
              <a:buNone/>
            </a:pPr>
            <a:r>
              <a:rPr b="1" i="0" lang="en-US" sz="26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2</a:t>
            </a:r>
            <a:endParaRPr b="0" i="0" sz="265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5893713" y="4813578"/>
            <a:ext cx="3538776" cy="713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Configuración de conexiones</a:t>
            </a:r>
            <a:endParaRPr b="0" i="0" sz="220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5893713" y="5655588"/>
            <a:ext cx="3538776" cy="171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administradores pueden gestionar y reutilizar las conexiones de datos a través de las propiedades de los componentes.</a:t>
            </a:r>
            <a:endParaRPr b="0" i="0" sz="165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9646563" y="4813578"/>
            <a:ext cx="481727" cy="481727"/>
          </a:xfrm>
          <a:prstGeom prst="roundRect">
            <a:avLst>
              <a:gd fmla="val 6667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9782889" y="4883110"/>
            <a:ext cx="208955" cy="342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650"/>
              <a:buFont typeface="Brygada 1918"/>
              <a:buNone/>
            </a:pPr>
            <a:r>
              <a:rPr b="1" i="0" lang="en-US" sz="26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3</a:t>
            </a:r>
            <a:endParaRPr b="0" i="0" sz="2650" u="none" cap="none" strike="noStrike"/>
          </a:p>
        </p:txBody>
      </p:sp>
      <p:sp>
        <p:nvSpPr>
          <p:cNvPr id="106" name="Google Shape;106;p4"/>
          <p:cNvSpPr/>
          <p:nvPr/>
        </p:nvSpPr>
        <p:spPr>
          <a:xfrm>
            <a:off x="10342364" y="4813578"/>
            <a:ext cx="3538776" cy="713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Flujos de trabajo personalizados</a:t>
            </a:r>
            <a:endParaRPr b="0" i="0" sz="220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10342364" y="5655588"/>
            <a:ext cx="3538776" cy="102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Combinar fuentes y destinos de datos permite crear flujos de trabajo de integración a medida.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749260" y="679371"/>
            <a:ext cx="7645479" cy="1427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450"/>
              <a:buFont typeface="Brygada 1918"/>
              <a:buNone/>
            </a:pPr>
            <a:r>
              <a:rPr b="1" i="0" lang="en-US" sz="44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Tareas de flujo de control en SSIS</a:t>
            </a:r>
            <a:endParaRPr b="0" i="0" sz="4450" u="none" cap="none" strike="noStrike"/>
          </a:p>
        </p:txBody>
      </p:sp>
      <p:sp>
        <p:nvSpPr>
          <p:cNvPr id="115" name="Google Shape;115;p5"/>
          <p:cNvSpPr/>
          <p:nvPr/>
        </p:nvSpPr>
        <p:spPr>
          <a:xfrm>
            <a:off x="749260" y="2427565"/>
            <a:ext cx="3715703" cy="2283023"/>
          </a:xfrm>
          <a:prstGeom prst="roundRect">
            <a:avLst>
              <a:gd fmla="val 1407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963335" y="2641640"/>
            <a:ext cx="2854643" cy="35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Secuencia de tareas</a:t>
            </a:r>
            <a:endParaRPr b="0" i="0" sz="2200" u="none" cap="none" strike="noStrike"/>
          </a:p>
        </p:txBody>
      </p:sp>
      <p:sp>
        <p:nvSpPr>
          <p:cNvPr id="117" name="Google Shape;117;p5"/>
          <p:cNvSpPr/>
          <p:nvPr/>
        </p:nvSpPr>
        <p:spPr>
          <a:xfrm>
            <a:off x="963335" y="3126819"/>
            <a:ext cx="3287554" cy="136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Las tareas de flujo de control permiten encadenar y ejecutar múltiples pasos en un orden específico.</a:t>
            </a:r>
            <a:endParaRPr b="0" i="0" sz="165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4679037" y="2427565"/>
            <a:ext cx="3715703" cy="2283023"/>
          </a:xfrm>
          <a:prstGeom prst="roundRect">
            <a:avLst>
              <a:gd fmla="val 1407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4893112" y="2641640"/>
            <a:ext cx="3107174" cy="35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Condicionales y bucles</a:t>
            </a:r>
            <a:endParaRPr b="0" i="0" sz="2200" u="none" cap="none" strike="noStrike"/>
          </a:p>
        </p:txBody>
      </p:sp>
      <p:sp>
        <p:nvSpPr>
          <p:cNvPr id="120" name="Google Shape;120;p5"/>
          <p:cNvSpPr/>
          <p:nvPr/>
        </p:nvSpPr>
        <p:spPr>
          <a:xfrm>
            <a:off x="4893112" y="3126819"/>
            <a:ext cx="3287554" cy="136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Estructuras de control como decisiones y ciclos iterativos ayudan a implementar lógica avanzada en los paquetes.</a:t>
            </a:r>
            <a:endParaRPr b="0" i="0" sz="1650" u="none" cap="none" strike="noStrike"/>
          </a:p>
        </p:txBody>
      </p:sp>
      <p:sp>
        <p:nvSpPr>
          <p:cNvPr id="121" name="Google Shape;121;p5"/>
          <p:cNvSpPr/>
          <p:nvPr/>
        </p:nvSpPr>
        <p:spPr>
          <a:xfrm>
            <a:off x="749260" y="4924663"/>
            <a:ext cx="3715703" cy="2625447"/>
          </a:xfrm>
          <a:prstGeom prst="roundRect">
            <a:avLst>
              <a:gd fmla="val 1223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963335" y="5138738"/>
            <a:ext cx="2854643" cy="35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Gestión de errores</a:t>
            </a:r>
            <a:endParaRPr b="0" i="0" sz="2200" u="none" cap="none" strike="noStrike"/>
          </a:p>
        </p:txBody>
      </p:sp>
      <p:sp>
        <p:nvSpPr>
          <p:cNvPr id="123" name="Google Shape;123;p5"/>
          <p:cNvSpPr/>
          <p:nvPr/>
        </p:nvSpPr>
        <p:spPr>
          <a:xfrm>
            <a:off x="963335" y="5623917"/>
            <a:ext cx="3287554" cy="1712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Las tareas de flujo de control también facilitan la implementación de mecanismos de manejo de errores.</a:t>
            </a:r>
            <a:endParaRPr b="0" i="0" sz="1650" u="none" cap="none" strike="noStrike"/>
          </a:p>
        </p:txBody>
      </p:sp>
      <p:sp>
        <p:nvSpPr>
          <p:cNvPr id="124" name="Google Shape;124;p5"/>
          <p:cNvSpPr/>
          <p:nvPr/>
        </p:nvSpPr>
        <p:spPr>
          <a:xfrm>
            <a:off x="4679037" y="4924663"/>
            <a:ext cx="3715703" cy="2625447"/>
          </a:xfrm>
          <a:prstGeom prst="roundRect">
            <a:avLst>
              <a:gd fmla="val 1223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893112" y="5138738"/>
            <a:ext cx="3197304" cy="35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Reutilización de código</a:t>
            </a:r>
            <a:endParaRPr b="0" i="0" sz="2200" u="none" cap="none" strike="noStrike"/>
          </a:p>
        </p:txBody>
      </p:sp>
      <p:sp>
        <p:nvSpPr>
          <p:cNvPr id="126" name="Google Shape;126;p5"/>
          <p:cNvSpPr/>
          <p:nvPr/>
        </p:nvSpPr>
        <p:spPr>
          <a:xfrm>
            <a:off x="4893112" y="5623917"/>
            <a:ext cx="3287554" cy="1369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contenedores permiten agrupar y reutilizar conjuntos de tareas en diferentes paquetes SSIS.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2" name="Google Shape;1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7628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/>
          <p:nvPr/>
        </p:nvSpPr>
        <p:spPr>
          <a:xfrm>
            <a:off x="749260" y="3483650"/>
            <a:ext cx="11858149" cy="713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42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450"/>
              <a:buFont typeface="Brygada 1918"/>
              <a:buNone/>
            </a:pPr>
            <a:r>
              <a:rPr b="1" i="0" lang="en-US" sz="44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Flujo de datos y transformaciones comunes</a:t>
            </a:r>
            <a:endParaRPr b="0" i="0" sz="4450" u="none" cap="none" strike="noStrike"/>
          </a:p>
        </p:txBody>
      </p:sp>
      <p:pic>
        <p:nvPicPr>
          <p:cNvPr descr="preencoded.png" id="134" name="Google Shape;13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260" y="4518303"/>
            <a:ext cx="4377214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963335" y="5695712"/>
            <a:ext cx="2854643" cy="35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Extracción</a:t>
            </a:r>
            <a:endParaRPr b="0" i="0" sz="2200" u="none" cap="none" strike="noStrike"/>
          </a:p>
        </p:txBody>
      </p:sp>
      <p:sp>
        <p:nvSpPr>
          <p:cNvPr id="136" name="Google Shape;136;p6"/>
          <p:cNvSpPr/>
          <p:nvPr/>
        </p:nvSpPr>
        <p:spPr>
          <a:xfrm>
            <a:off x="963335" y="6180892"/>
            <a:ext cx="3949065" cy="684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orígenes de datos permiten leer información de diversas fuentes.</a:t>
            </a:r>
            <a:endParaRPr b="0" i="0" sz="1650" u="none" cap="none" strike="noStrike"/>
          </a:p>
        </p:txBody>
      </p:sp>
      <p:pic>
        <p:nvPicPr>
          <p:cNvPr descr="preencoded.png" id="137" name="Google Shape;13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6474" y="4518303"/>
            <a:ext cx="4377333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5340548" y="5695712"/>
            <a:ext cx="2854643" cy="35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Transformación</a:t>
            </a:r>
            <a:endParaRPr b="0" i="0" sz="2200" u="none" cap="none" strike="noStrike"/>
          </a:p>
        </p:txBody>
      </p:sp>
      <p:sp>
        <p:nvSpPr>
          <p:cNvPr id="139" name="Google Shape;139;p6"/>
          <p:cNvSpPr/>
          <p:nvPr/>
        </p:nvSpPr>
        <p:spPr>
          <a:xfrm>
            <a:off x="5340548" y="6180892"/>
            <a:ext cx="3949184" cy="102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Las transformaciones de SSIS facilitan la limpieza, combinación y enriquecimiento de los datos.</a:t>
            </a:r>
            <a:endParaRPr b="0" i="0" sz="1650" u="none" cap="none" strike="noStrike"/>
          </a:p>
        </p:txBody>
      </p:sp>
      <p:pic>
        <p:nvPicPr>
          <p:cNvPr descr="preencoded.png" id="140" name="Google Shape;14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3807" y="4518303"/>
            <a:ext cx="4377333" cy="85629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6"/>
          <p:cNvSpPr/>
          <p:nvPr/>
        </p:nvSpPr>
        <p:spPr>
          <a:xfrm>
            <a:off x="9717881" y="5695712"/>
            <a:ext cx="2854643" cy="356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200"/>
              <a:buFont typeface="Brygada 1918"/>
              <a:buNone/>
            </a:pPr>
            <a:r>
              <a:rPr b="1" i="0" lang="en-US" sz="22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Carga</a:t>
            </a:r>
            <a:endParaRPr b="0" i="0" sz="2200" u="none" cap="none" strike="noStrike"/>
          </a:p>
        </p:txBody>
      </p:sp>
      <p:sp>
        <p:nvSpPr>
          <p:cNvPr id="142" name="Google Shape;142;p6"/>
          <p:cNvSpPr/>
          <p:nvPr/>
        </p:nvSpPr>
        <p:spPr>
          <a:xfrm>
            <a:off x="9717881" y="6180892"/>
            <a:ext cx="3949184" cy="102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650"/>
              <a:buFont typeface="Montserrat Medium"/>
              <a:buNone/>
            </a:pPr>
            <a:r>
              <a:rPr b="0" i="0" lang="en-US" sz="16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destinos de datos permiten escribir los datos procesados en sistemas de almacenamiento.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8" name="Google Shape;1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6148626" y="532924"/>
            <a:ext cx="7819549" cy="126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3950"/>
              <a:buFont typeface="Brygada 1918"/>
              <a:buNone/>
            </a:pPr>
            <a:r>
              <a:rPr b="1" i="0" lang="en-US" sz="39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Ejecución y monitoreo de paquetes SSIS</a:t>
            </a:r>
            <a:endParaRPr b="0" i="0" sz="3950" u="none" cap="none" strike="noStrike"/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8626" y="2077998"/>
            <a:ext cx="473035" cy="47303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6148626" y="2740223"/>
            <a:ext cx="2522934" cy="315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950"/>
              <a:buFont typeface="Brygada 1918"/>
              <a:buNone/>
            </a:pPr>
            <a:r>
              <a:rPr b="1" i="0" lang="en-US" sz="19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Ejecución</a:t>
            </a:r>
            <a:endParaRPr b="0" i="0" sz="1950" u="none" cap="none" strike="noStrike"/>
          </a:p>
        </p:txBody>
      </p:sp>
      <p:sp>
        <p:nvSpPr>
          <p:cNvPr id="152" name="Google Shape;152;p7"/>
          <p:cNvSpPr/>
          <p:nvPr/>
        </p:nvSpPr>
        <p:spPr>
          <a:xfrm>
            <a:off x="6148626" y="3168967"/>
            <a:ext cx="7819549" cy="302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paquetes SSIS se pueden ejecutar de manera interactiva o programada.</a:t>
            </a:r>
            <a:endParaRPr b="0" i="0" sz="1450" u="none" cap="none" strike="noStrike"/>
          </a:p>
        </p:txBody>
      </p:sp>
      <p:pic>
        <p:nvPicPr>
          <p:cNvPr descr="preencoded.png" id="153" name="Google Shape;15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8626" y="4039195"/>
            <a:ext cx="473035" cy="47303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/>
          <p:nvPr/>
        </p:nvSpPr>
        <p:spPr>
          <a:xfrm>
            <a:off x="6148626" y="4701421"/>
            <a:ext cx="2522934" cy="315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950"/>
              <a:buFont typeface="Brygada 1918"/>
              <a:buNone/>
            </a:pPr>
            <a:r>
              <a:rPr b="1" i="0" lang="en-US" sz="19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Monitoreo</a:t>
            </a:r>
            <a:endParaRPr b="0" i="0" sz="1950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6148626" y="5130165"/>
            <a:ext cx="7819549" cy="302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El monitoreo en tiempo real permite ver el progreso y el estado de los paquetes.</a:t>
            </a:r>
            <a:endParaRPr b="0" i="0" sz="1450" u="none" cap="none" strike="noStrike"/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48626" y="6000393"/>
            <a:ext cx="473035" cy="47303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6148626" y="6662618"/>
            <a:ext cx="2522934" cy="3152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950"/>
              <a:buFont typeface="Brygada 1918"/>
              <a:buNone/>
            </a:pPr>
            <a:r>
              <a:rPr b="1" i="0" lang="en-US" sz="19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Registro</a:t>
            </a:r>
            <a:endParaRPr b="0" i="0" sz="1950" u="none" cap="none" strike="noStrike"/>
          </a:p>
        </p:txBody>
      </p:sp>
      <p:sp>
        <p:nvSpPr>
          <p:cNvPr id="158" name="Google Shape;158;p7"/>
          <p:cNvSpPr/>
          <p:nvPr/>
        </p:nvSpPr>
        <p:spPr>
          <a:xfrm>
            <a:off x="6148626" y="7091363"/>
            <a:ext cx="7819549" cy="605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450"/>
              <a:buFont typeface="Montserrat Medium"/>
              <a:buNone/>
            </a:pPr>
            <a:r>
              <a:rPr b="0" i="0" lang="en-US" sz="14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Los registros de ejecución proporcionan información detallada para la resolución de problemas.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697825" y="1041083"/>
            <a:ext cx="7370326" cy="664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FFB393"/>
              </a:buClr>
              <a:buSzPts val="4150"/>
              <a:buFont typeface="Brygada 1918"/>
              <a:buNone/>
            </a:pPr>
            <a:r>
              <a:rPr b="1" i="0" lang="en-US" sz="4150" u="none" cap="none" strike="noStrike">
                <a:solidFill>
                  <a:srgbClr val="FFB393"/>
                </a:solidFill>
                <a:latin typeface="Brygada 1918"/>
                <a:ea typeface="Brygada 1918"/>
                <a:cs typeface="Brygada 1918"/>
                <a:sym typeface="Brygada 1918"/>
              </a:rPr>
              <a:t>Conclusión y próximos pasos</a:t>
            </a:r>
            <a:endParaRPr b="0" i="0" sz="4150" u="none" cap="none" strike="noStrike"/>
          </a:p>
        </p:txBody>
      </p:sp>
      <p:sp>
        <p:nvSpPr>
          <p:cNvPr id="166" name="Google Shape;166;p8"/>
          <p:cNvSpPr/>
          <p:nvPr/>
        </p:nvSpPr>
        <p:spPr>
          <a:xfrm>
            <a:off x="985480" y="2004774"/>
            <a:ext cx="22860" cy="5183624"/>
          </a:xfrm>
          <a:prstGeom prst="roundRect">
            <a:avLst>
              <a:gd fmla="val 130842" name="adj"/>
            </a:avLst>
          </a:prstGeom>
          <a:solidFill>
            <a:srgbClr val="662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1198364" y="2441972"/>
            <a:ext cx="697825" cy="22860"/>
          </a:xfrm>
          <a:prstGeom prst="roundRect">
            <a:avLst>
              <a:gd fmla="val 130842" name="adj"/>
            </a:avLst>
          </a:prstGeom>
          <a:solidFill>
            <a:srgbClr val="662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772597" y="2229088"/>
            <a:ext cx="448628" cy="448628"/>
          </a:xfrm>
          <a:prstGeom prst="roundRect">
            <a:avLst>
              <a:gd fmla="val 6667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917138" y="2293858"/>
            <a:ext cx="159544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500"/>
              <a:buFont typeface="Brygada 1918"/>
              <a:buNone/>
            </a:pPr>
            <a:r>
              <a:rPr b="1" i="0" lang="en-US" sz="25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1</a:t>
            </a:r>
            <a:endParaRPr b="0" i="0" sz="250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2093595" y="2204085"/>
            <a:ext cx="2658666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050"/>
              <a:buFont typeface="Brygada 1918"/>
              <a:buNone/>
            </a:pPr>
            <a:r>
              <a:rPr b="1" i="0" lang="en-US" sz="20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Resumen</a:t>
            </a:r>
            <a:endParaRPr b="0" i="0" sz="2050" u="none" cap="none" strike="noStrike"/>
          </a:p>
        </p:txBody>
      </p:sp>
      <p:sp>
        <p:nvSpPr>
          <p:cNvPr id="171" name="Google Shape;171;p8"/>
          <p:cNvSpPr/>
          <p:nvPr/>
        </p:nvSpPr>
        <p:spPr>
          <a:xfrm>
            <a:off x="2093595" y="2655927"/>
            <a:ext cx="63525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SSIS es una herramienta poderosa que simplifica la integración y transformación de datos de manera eficiente.</a:t>
            </a:r>
            <a:endParaRPr b="0" i="0" sz="1550" u="none" cap="none" strike="noStrike"/>
          </a:p>
        </p:txBody>
      </p:sp>
      <p:sp>
        <p:nvSpPr>
          <p:cNvPr id="172" name="Google Shape;172;p8"/>
          <p:cNvSpPr/>
          <p:nvPr/>
        </p:nvSpPr>
        <p:spPr>
          <a:xfrm>
            <a:off x="1198364" y="4129921"/>
            <a:ext cx="697825" cy="22860"/>
          </a:xfrm>
          <a:prstGeom prst="roundRect">
            <a:avLst>
              <a:gd fmla="val 130842" name="adj"/>
            </a:avLst>
          </a:prstGeom>
          <a:solidFill>
            <a:srgbClr val="662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772597" y="3917037"/>
            <a:ext cx="448628" cy="448628"/>
          </a:xfrm>
          <a:prstGeom prst="roundRect">
            <a:avLst>
              <a:gd fmla="val 6667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905947" y="3981807"/>
            <a:ext cx="18192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500"/>
              <a:buFont typeface="Brygada 1918"/>
              <a:buNone/>
            </a:pPr>
            <a:r>
              <a:rPr b="1" i="0" lang="en-US" sz="25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2</a:t>
            </a:r>
            <a:endParaRPr b="0" i="0" sz="2500" u="none" cap="none" strike="noStrike"/>
          </a:p>
        </p:txBody>
      </p:sp>
      <p:sp>
        <p:nvSpPr>
          <p:cNvPr id="175" name="Google Shape;175;p8"/>
          <p:cNvSpPr/>
          <p:nvPr/>
        </p:nvSpPr>
        <p:spPr>
          <a:xfrm>
            <a:off x="2093595" y="3892034"/>
            <a:ext cx="2658666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050"/>
              <a:buFont typeface="Brygada 1918"/>
              <a:buNone/>
            </a:pPr>
            <a:r>
              <a:rPr b="1" i="0" lang="en-US" sz="20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Próximos pasos</a:t>
            </a:r>
            <a:endParaRPr b="0" i="0" sz="2050" u="none" cap="none" strike="noStrike"/>
          </a:p>
        </p:txBody>
      </p:sp>
      <p:sp>
        <p:nvSpPr>
          <p:cNvPr id="176" name="Google Shape;176;p8"/>
          <p:cNvSpPr/>
          <p:nvPr/>
        </p:nvSpPr>
        <p:spPr>
          <a:xfrm>
            <a:off x="2093595" y="4343876"/>
            <a:ext cx="6352580" cy="957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Explorar más funcionalidades avanzadas, como la ejecución de scripts, la integración con Azure y las opciones de implementación.</a:t>
            </a:r>
            <a:endParaRPr b="0" i="0" sz="1550" u="none" cap="none" strike="noStrike"/>
          </a:p>
        </p:txBody>
      </p:sp>
      <p:sp>
        <p:nvSpPr>
          <p:cNvPr id="177" name="Google Shape;177;p8"/>
          <p:cNvSpPr/>
          <p:nvPr/>
        </p:nvSpPr>
        <p:spPr>
          <a:xfrm>
            <a:off x="1198364" y="6136957"/>
            <a:ext cx="697825" cy="22860"/>
          </a:xfrm>
          <a:prstGeom prst="roundRect">
            <a:avLst>
              <a:gd fmla="val 130842" name="adj"/>
            </a:avLst>
          </a:prstGeom>
          <a:solidFill>
            <a:srgbClr val="662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772597" y="5924074"/>
            <a:ext cx="448628" cy="448628"/>
          </a:xfrm>
          <a:prstGeom prst="roundRect">
            <a:avLst>
              <a:gd fmla="val 6667" name="adj"/>
            </a:avLst>
          </a:prstGeom>
          <a:solidFill>
            <a:srgbClr val="4D1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899517" y="5988844"/>
            <a:ext cx="19466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500"/>
              <a:buFont typeface="Brygada 1918"/>
              <a:buNone/>
            </a:pPr>
            <a:r>
              <a:rPr b="1" i="0" lang="en-US" sz="250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3</a:t>
            </a:r>
            <a:endParaRPr b="0" i="0" sz="2500" u="none" cap="none" strike="noStrike"/>
          </a:p>
        </p:txBody>
      </p:sp>
      <p:sp>
        <p:nvSpPr>
          <p:cNvPr id="180" name="Google Shape;180;p8"/>
          <p:cNvSpPr/>
          <p:nvPr/>
        </p:nvSpPr>
        <p:spPr>
          <a:xfrm>
            <a:off x="2093595" y="5899071"/>
            <a:ext cx="2683788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2050"/>
              <a:buFont typeface="Brygada 1918"/>
              <a:buNone/>
            </a:pPr>
            <a:r>
              <a:rPr b="1" i="0" lang="en-US" sz="2050" u="none" cap="none" strike="noStrike">
                <a:solidFill>
                  <a:srgbClr val="F4CAB8"/>
                </a:solidFill>
                <a:latin typeface="Brygada 1918"/>
                <a:ea typeface="Brygada 1918"/>
                <a:cs typeface="Brygada 1918"/>
                <a:sym typeface="Brygada 1918"/>
              </a:rPr>
              <a:t>Recursos adicionales</a:t>
            </a:r>
            <a:endParaRPr b="0" i="0" sz="2050" u="none" cap="none" strike="noStrike"/>
          </a:p>
        </p:txBody>
      </p:sp>
      <p:sp>
        <p:nvSpPr>
          <p:cNvPr id="181" name="Google Shape;181;p8"/>
          <p:cNvSpPr/>
          <p:nvPr/>
        </p:nvSpPr>
        <p:spPr>
          <a:xfrm>
            <a:off x="2093595" y="6350913"/>
            <a:ext cx="63525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4CAB8"/>
              </a:buClr>
              <a:buSzPts val="1550"/>
              <a:buFont typeface="Montserrat Medium"/>
              <a:buNone/>
            </a:pPr>
            <a:r>
              <a:rPr b="0" i="0" lang="en-US" sz="1550" u="none" cap="none" strike="noStrike">
                <a:solidFill>
                  <a:srgbClr val="F4CAB8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Consultar la documentación oficial de Microsoft y participar en comunidades de desarrolladores para aprender más.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2024-11-05T00:37:11Z</dcterms:created>
  <dc:creator>PptxGenJS</dc:creator>
</cp:coreProperties>
</file>