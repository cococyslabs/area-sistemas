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Instrument Sans SemiBold"/>
      <p:regular r:id="rId13"/>
      <p:bold r:id="rId14"/>
      <p:italic r:id="rId15"/>
      <p:boldItalic r:id="rId16"/>
    </p:embeddedFont>
    <p:embeddedFont>
      <p:font typeface="Instrument Sans Medium"/>
      <p:regular r:id="rId17"/>
      <p:bold r:id="rId18"/>
      <p:italic r:id="rId19"/>
      <p:boldItalic r:id="rId20"/>
    </p:embeddedFont>
    <p:embeddedFont>
      <p:font typeface="Instrument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olkp5iWlBI+UECeHbs+Eia9WY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strumentSansMedium-boldItalic.fntdata"/><Relationship Id="rId11" Type="http://schemas.openxmlformats.org/officeDocument/2006/relationships/slide" Target="slides/slide7.xml"/><Relationship Id="rId22" Type="http://schemas.openxmlformats.org/officeDocument/2006/relationships/font" Target="fonts/InstrumentSans-boldItalic.fntdata"/><Relationship Id="rId10" Type="http://schemas.openxmlformats.org/officeDocument/2006/relationships/slide" Target="slides/slide6.xml"/><Relationship Id="rId21" Type="http://schemas.openxmlformats.org/officeDocument/2006/relationships/font" Target="fonts/InstrumentSans-bold.fntdata"/><Relationship Id="rId13" Type="http://schemas.openxmlformats.org/officeDocument/2006/relationships/font" Target="fonts/InstrumentSansSemiBold-regular.fntdata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strumentSansSemiBold-italic.fntdata"/><Relationship Id="rId14" Type="http://schemas.openxmlformats.org/officeDocument/2006/relationships/font" Target="fonts/InstrumentSansSemiBold-bold.fntdata"/><Relationship Id="rId17" Type="http://schemas.openxmlformats.org/officeDocument/2006/relationships/font" Target="fonts/InstrumentSansMedium-regular.fntdata"/><Relationship Id="rId16" Type="http://schemas.openxmlformats.org/officeDocument/2006/relationships/font" Target="fonts/InstrumentSans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InstrumentSansMedium-italic.fntdata"/><Relationship Id="rId6" Type="http://schemas.openxmlformats.org/officeDocument/2006/relationships/slide" Target="slides/slide2.xml"/><Relationship Id="rId18" Type="http://schemas.openxmlformats.org/officeDocument/2006/relationships/font" Target="fonts/InstrumentSans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793790" y="1733193"/>
            <a:ext cx="7556421" cy="1956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6150"/>
              <a:buFont typeface="Instrument Sans SemiBold"/>
              <a:buNone/>
            </a:pPr>
            <a:r>
              <a:rPr b="1" i="0" lang="en-US" sz="6150" u="none" cap="none" strike="noStrike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Tipos de herramientas ETL</a:t>
            </a:r>
            <a:endParaRPr b="0" i="0" sz="6150" u="none" cap="none" strike="noStrike"/>
          </a:p>
        </p:txBody>
      </p:sp>
      <p:sp>
        <p:nvSpPr>
          <p:cNvPr id="50" name="Google Shape;50;p1"/>
          <p:cNvSpPr/>
          <p:nvPr/>
        </p:nvSpPr>
        <p:spPr>
          <a:xfrm>
            <a:off x="793790" y="4029789"/>
            <a:ext cx="75564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Las herramientas ETL (Extract, Transform, Load) son fundamentales para la integración y procesamiento eficiente de datos de múltiples fuentes. Estas herramientas permiten extraer, transformar y cargar datos de manera automatizada, facilitando el análisis y la generación de insights valiosos.</a:t>
            </a:r>
            <a:endParaRPr b="0" i="0" sz="1750" u="none" cap="none" strike="noStrike"/>
          </a:p>
        </p:txBody>
      </p:sp>
      <p:sp>
        <p:nvSpPr>
          <p:cNvPr id="51" name="Google Shape;51;p1"/>
          <p:cNvSpPr/>
          <p:nvPr/>
        </p:nvSpPr>
        <p:spPr>
          <a:xfrm>
            <a:off x="793790" y="6116360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410" y="6123980"/>
            <a:ext cx="347663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1270040" y="6099453"/>
            <a:ext cx="3806547" cy="39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"/>
              <a:buNone/>
            </a:pPr>
            <a:r>
              <a:rPr b="1" i="0" lang="en-US" sz="2200" u="none" cap="none" strike="noStrike">
                <a:solidFill>
                  <a:srgbClr val="5B5F7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por Seminario de Sistemas 2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/>
          <p:nvPr/>
        </p:nvSpPr>
        <p:spPr>
          <a:xfrm>
            <a:off x="793790" y="2358509"/>
            <a:ext cx="1029116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450"/>
              <a:buFont typeface="Instrument Sans SemiBold"/>
              <a:buNone/>
            </a:pPr>
            <a:r>
              <a:rPr b="1" i="0" lang="en-US" sz="4450" u="none" cap="none" strike="noStrike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Ejemplos de herramientas comerciales</a:t>
            </a:r>
            <a:endParaRPr b="0" i="0" sz="4450" u="none" cap="none" strike="noStrike"/>
          </a:p>
        </p:txBody>
      </p:sp>
      <p:sp>
        <p:nvSpPr>
          <p:cNvPr id="60" name="Google Shape;60;p2"/>
          <p:cNvSpPr/>
          <p:nvPr/>
        </p:nvSpPr>
        <p:spPr>
          <a:xfrm>
            <a:off x="793790" y="3634264"/>
            <a:ext cx="335232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Informatica PowerCenter</a:t>
            </a:r>
            <a:endParaRPr b="0" i="0" sz="220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Una de las soluciones ETL más completas y escalables del mercado, con capacidades avanzadas de integración de datos.</a:t>
            </a:r>
            <a:endParaRPr b="0" i="0" sz="175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IBM DataStage</a:t>
            </a:r>
            <a:endParaRPr b="0" i="0" sz="2200" u="none" cap="none" strike="noStrike"/>
          </a:p>
        </p:txBody>
      </p:sp>
      <p:sp>
        <p:nvSpPr>
          <p:cNvPr id="63" name="Google Shape;63;p2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Herramienta ETL robusta y flexible, con soporte para una amplia variedad de fuentes y destinos de datos.</a:t>
            </a:r>
            <a:endParaRPr b="0" i="0" sz="175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SAP Data Services</a:t>
            </a:r>
            <a:endParaRPr b="0" i="0" sz="2200" u="none" cap="none" strike="noStrike"/>
          </a:p>
        </p:txBody>
      </p:sp>
      <p:sp>
        <p:nvSpPr>
          <p:cNvPr id="65" name="Google Shape;65;p2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Solución integral de ETL y gestión de datos, con funcionalidades de limpieza, enriquecimiento y transformación de datos.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6263640" y="786646"/>
            <a:ext cx="7589520" cy="1387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350"/>
              <a:buFont typeface="Instrument Sans SemiBold"/>
              <a:buNone/>
            </a:pPr>
            <a:r>
              <a:rPr b="1" i="0" lang="en-US" sz="4350" u="none" cap="none" strike="noStrike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Ejemplos de herramientas Open Source</a:t>
            </a:r>
            <a:endParaRPr b="0" i="0" sz="4350" u="none" cap="none" strike="noStrike"/>
          </a:p>
        </p:txBody>
      </p:sp>
      <p:sp>
        <p:nvSpPr>
          <p:cNvPr id="73" name="Google Shape;73;p3"/>
          <p:cNvSpPr/>
          <p:nvPr/>
        </p:nvSpPr>
        <p:spPr>
          <a:xfrm>
            <a:off x="6263640" y="2507575"/>
            <a:ext cx="3683794" cy="2707838"/>
          </a:xfrm>
          <a:prstGeom prst="roundRect">
            <a:avLst>
              <a:gd fmla="val 3445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493312" y="2737247"/>
            <a:ext cx="3224451" cy="69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150"/>
              <a:buFont typeface="Instrument Sans SemiBold"/>
              <a:buNone/>
            </a:pPr>
            <a:r>
              <a:rPr b="1" i="0" lang="en-US" sz="21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Pentaho Data Integration (Kettle)</a:t>
            </a:r>
            <a:endParaRPr b="0" i="0" sz="2150" u="none" cap="none" strike="noStrike"/>
          </a:p>
        </p:txBody>
      </p:sp>
      <p:sp>
        <p:nvSpPr>
          <p:cNvPr id="75" name="Google Shape;75;p3"/>
          <p:cNvSpPr/>
          <p:nvPr/>
        </p:nvSpPr>
        <p:spPr>
          <a:xfrm>
            <a:off x="6493312" y="3564612"/>
            <a:ext cx="3224451" cy="142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00"/>
              <a:buFont typeface="Instrument Sans Medium"/>
              <a:buNone/>
            </a:pPr>
            <a:r>
              <a:rPr b="0" i="0" lang="en-US" sz="170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Herramienta ETL gratuita y de código abierto, con una amplia comunidad de desarrolladores y soporte.</a:t>
            </a:r>
            <a:endParaRPr b="0" i="0" sz="1700" u="none" cap="none" strike="noStrike"/>
          </a:p>
        </p:txBody>
      </p:sp>
      <p:sp>
        <p:nvSpPr>
          <p:cNvPr id="76" name="Google Shape;76;p3"/>
          <p:cNvSpPr/>
          <p:nvPr/>
        </p:nvSpPr>
        <p:spPr>
          <a:xfrm>
            <a:off x="10169485" y="2507575"/>
            <a:ext cx="3683794" cy="2707838"/>
          </a:xfrm>
          <a:prstGeom prst="roundRect">
            <a:avLst>
              <a:gd fmla="val 3445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10399157" y="2737247"/>
            <a:ext cx="2776180" cy="347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150"/>
              <a:buFont typeface="Instrument Sans SemiBold"/>
              <a:buNone/>
            </a:pPr>
            <a:r>
              <a:rPr b="1" i="0" lang="en-US" sz="21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Apache NiFi</a:t>
            </a:r>
            <a:endParaRPr b="0" i="0" sz="215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10399157" y="3217545"/>
            <a:ext cx="3224451" cy="1421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00"/>
              <a:buFont typeface="Instrument Sans Medium"/>
              <a:buNone/>
            </a:pPr>
            <a:r>
              <a:rPr b="0" i="0" lang="en-US" sz="170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Plataforma de flujo de datos que facilita la automatización y monitorización de procesos ETL.</a:t>
            </a:r>
            <a:endParaRPr b="0" i="0" sz="1700" u="none" cap="none" strike="noStrike"/>
          </a:p>
        </p:txBody>
      </p:sp>
      <p:sp>
        <p:nvSpPr>
          <p:cNvPr id="79" name="Google Shape;79;p3"/>
          <p:cNvSpPr/>
          <p:nvPr/>
        </p:nvSpPr>
        <p:spPr>
          <a:xfrm>
            <a:off x="6263640" y="5437465"/>
            <a:ext cx="3683794" cy="2005489"/>
          </a:xfrm>
          <a:prstGeom prst="roundRect">
            <a:avLst>
              <a:gd fmla="val 4651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493312" y="5667137"/>
            <a:ext cx="2776180" cy="347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150"/>
              <a:buFont typeface="Instrument Sans SemiBold"/>
              <a:buNone/>
            </a:pPr>
            <a:r>
              <a:rPr b="1" i="0" lang="en-US" sz="21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Talend Open Studio</a:t>
            </a:r>
            <a:endParaRPr b="0" i="0" sz="2150" u="none" cap="none" strike="noStrike"/>
          </a:p>
        </p:txBody>
      </p:sp>
      <p:sp>
        <p:nvSpPr>
          <p:cNvPr id="81" name="Google Shape;81;p3"/>
          <p:cNvSpPr/>
          <p:nvPr/>
        </p:nvSpPr>
        <p:spPr>
          <a:xfrm>
            <a:off x="6493312" y="6147435"/>
            <a:ext cx="3224451" cy="106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00"/>
              <a:buFont typeface="Instrument Sans Medium"/>
              <a:buNone/>
            </a:pPr>
            <a:r>
              <a:rPr b="0" i="0" lang="en-US" sz="170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Solución ETL de código abierto con soporte para una variedad de fuentes y destinos de datos.</a:t>
            </a:r>
            <a:endParaRPr b="0" i="0" sz="1700" u="none" cap="none" strike="noStrike"/>
          </a:p>
        </p:txBody>
      </p:sp>
      <p:sp>
        <p:nvSpPr>
          <p:cNvPr id="82" name="Google Shape;82;p3"/>
          <p:cNvSpPr/>
          <p:nvPr/>
        </p:nvSpPr>
        <p:spPr>
          <a:xfrm>
            <a:off x="10169485" y="5437465"/>
            <a:ext cx="3683794" cy="2005489"/>
          </a:xfrm>
          <a:prstGeom prst="roundRect">
            <a:avLst>
              <a:gd fmla="val 4651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0399157" y="5667137"/>
            <a:ext cx="2776180" cy="347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150"/>
              <a:buFont typeface="Instrument Sans SemiBold"/>
              <a:buNone/>
            </a:pPr>
            <a:r>
              <a:rPr b="1" i="0" lang="en-US" sz="21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Hitachi Pentaho</a:t>
            </a:r>
            <a:endParaRPr b="0" i="0" sz="21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10399157" y="6147435"/>
            <a:ext cx="3224451" cy="106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00"/>
              <a:buFont typeface="Instrument Sans Medium"/>
              <a:buNone/>
            </a:pPr>
            <a:r>
              <a:rPr b="0" i="0" lang="en-US" sz="170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Suite de software de código abierto para integración de datos, análisis y visualización.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6226135" y="1080849"/>
            <a:ext cx="7115413" cy="66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150"/>
              <a:buFont typeface="Instrument Sans SemiBold"/>
              <a:buNone/>
            </a:pPr>
            <a:r>
              <a:rPr b="1" i="0" lang="en-US" sz="4150" u="none" cap="none" strike="noStrike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Herramientas ETL en la nube</a:t>
            </a:r>
            <a:endParaRPr b="0" i="0" sz="4150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6531650" y="2058233"/>
            <a:ext cx="22860" cy="5090398"/>
          </a:xfrm>
          <a:prstGeom prst="roundRect">
            <a:avLst>
              <a:gd fmla="val 388338" name="adj"/>
            </a:avLst>
          </a:prstGeom>
          <a:solidFill>
            <a:srgbClr val="C8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6757988" y="2522339"/>
            <a:ext cx="739735" cy="22860"/>
          </a:xfrm>
          <a:prstGeom prst="roundRect">
            <a:avLst>
              <a:gd fmla="val 388338" name="adj"/>
            </a:avLst>
          </a:prstGeom>
          <a:solidFill>
            <a:srgbClr val="C8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305312" y="2296001"/>
            <a:ext cx="475536" cy="475536"/>
          </a:xfrm>
          <a:prstGeom prst="roundRect">
            <a:avLst>
              <a:gd fmla="val 18668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481643" y="2375178"/>
            <a:ext cx="122753" cy="317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450"/>
              <a:buFont typeface="Instrument Sans SemiBold"/>
              <a:buNone/>
            </a:pPr>
            <a:r>
              <a:rPr b="1" i="0" lang="en-US" sz="24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  <a:endParaRPr b="0" i="0" sz="245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7705487" y="2269569"/>
            <a:ext cx="2641997" cy="33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050"/>
              <a:buFont typeface="Instrument Sans SemiBold"/>
              <a:buNone/>
            </a:pPr>
            <a:r>
              <a:rPr b="1" i="0" lang="en-US" sz="20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Amazon Glue</a:t>
            </a:r>
            <a:endParaRPr b="0" i="0" sz="205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7705487" y="2726531"/>
            <a:ext cx="6185178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650"/>
              <a:buFont typeface="Instrument Sans Medium"/>
              <a:buNone/>
            </a:pPr>
            <a:r>
              <a:rPr b="0" i="0" lang="en-US" sz="16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Servicio de ETL serverless en la nube de AWS que simplifica y automatiza los procesos de integración de datos.</a:t>
            </a:r>
            <a:endParaRPr b="0" i="0" sz="165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6757988" y="4289584"/>
            <a:ext cx="739735" cy="22860"/>
          </a:xfrm>
          <a:prstGeom prst="roundRect">
            <a:avLst>
              <a:gd fmla="val 388338" name="adj"/>
            </a:avLst>
          </a:prstGeom>
          <a:solidFill>
            <a:srgbClr val="C8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305312" y="4063246"/>
            <a:ext cx="475536" cy="475536"/>
          </a:xfrm>
          <a:prstGeom prst="roundRect">
            <a:avLst>
              <a:gd fmla="val 18668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454735" y="4142423"/>
            <a:ext cx="176570" cy="317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450"/>
              <a:buFont typeface="Instrument Sans SemiBold"/>
              <a:buNone/>
            </a:pPr>
            <a:r>
              <a:rPr b="1" i="0" lang="en-US" sz="24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  <a:endParaRPr b="0" i="0" sz="2450" u="none" cap="none" strike="noStrike"/>
          </a:p>
        </p:txBody>
      </p:sp>
      <p:sp>
        <p:nvSpPr>
          <p:cNvPr id="101" name="Google Shape;101;p4"/>
          <p:cNvSpPr/>
          <p:nvPr/>
        </p:nvSpPr>
        <p:spPr>
          <a:xfrm>
            <a:off x="7705487" y="4036814"/>
            <a:ext cx="2863691" cy="33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050"/>
              <a:buFont typeface="Instrument Sans SemiBold"/>
              <a:buNone/>
            </a:pPr>
            <a:r>
              <a:rPr b="1" i="0" lang="en-US" sz="20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Google Cloud Dataflow</a:t>
            </a:r>
            <a:endParaRPr b="0" i="0" sz="205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7705487" y="4493776"/>
            <a:ext cx="6185178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650"/>
              <a:buFont typeface="Instrument Sans Medium"/>
              <a:buNone/>
            </a:pPr>
            <a:r>
              <a:rPr b="0" i="0" lang="en-US" sz="16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Plataforma de procesamiento de datos en tiempo real y por lotes de Google, compatible con herramientas ETL.</a:t>
            </a:r>
            <a:endParaRPr b="0" i="0" sz="165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6757988" y="6056828"/>
            <a:ext cx="739735" cy="22860"/>
          </a:xfrm>
          <a:prstGeom prst="roundRect">
            <a:avLst>
              <a:gd fmla="val 388338" name="adj"/>
            </a:avLst>
          </a:prstGeom>
          <a:solidFill>
            <a:srgbClr val="C8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6305312" y="5830491"/>
            <a:ext cx="475536" cy="475536"/>
          </a:xfrm>
          <a:prstGeom prst="roundRect">
            <a:avLst>
              <a:gd fmla="val 18668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451283" y="5909667"/>
            <a:ext cx="183594" cy="317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450"/>
              <a:buFont typeface="Instrument Sans SemiBold"/>
              <a:buNone/>
            </a:pPr>
            <a:r>
              <a:rPr b="1" i="0" lang="en-US" sz="24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</a:t>
            </a:r>
            <a:endParaRPr b="0" i="0" sz="2450" u="none" cap="none" strike="noStrike"/>
          </a:p>
        </p:txBody>
      </p:sp>
      <p:sp>
        <p:nvSpPr>
          <p:cNvPr id="106" name="Google Shape;106;p4"/>
          <p:cNvSpPr/>
          <p:nvPr/>
        </p:nvSpPr>
        <p:spPr>
          <a:xfrm>
            <a:off x="7705487" y="5804059"/>
            <a:ext cx="2641997" cy="33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050"/>
              <a:buFont typeface="Instrument Sans SemiBold"/>
              <a:buNone/>
            </a:pPr>
            <a:r>
              <a:rPr b="1" i="0" lang="en-US" sz="20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Azure Data Factory</a:t>
            </a:r>
            <a:endParaRPr b="0" i="0" sz="205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7705487" y="6261021"/>
            <a:ext cx="6185178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650"/>
              <a:buFont typeface="Instrument Sans Medium"/>
              <a:buNone/>
            </a:pPr>
            <a:r>
              <a:rPr b="0" i="0" lang="en-US" sz="16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Servicio de integración de datos en la nube de Microsoft, que permite crear flujos de trabajo de ETL y ELT.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782955" y="615315"/>
            <a:ext cx="7578090" cy="1398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400"/>
              <a:buFont typeface="Instrument Sans SemiBold"/>
              <a:buNone/>
            </a:pPr>
            <a:r>
              <a:rPr b="1" i="0" lang="en-US" sz="4400" u="none" cap="none" strike="noStrike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Criterios para seleccionar una herramienta ETL</a:t>
            </a:r>
            <a:endParaRPr b="0" i="0" sz="4400" u="none" cap="none" strike="noStrike"/>
          </a:p>
        </p:txBody>
      </p:sp>
      <p:sp>
        <p:nvSpPr>
          <p:cNvPr id="115" name="Google Shape;115;p5"/>
          <p:cNvSpPr/>
          <p:nvPr/>
        </p:nvSpPr>
        <p:spPr>
          <a:xfrm>
            <a:off x="782955" y="2600682"/>
            <a:ext cx="503277" cy="503277"/>
          </a:xfrm>
          <a:prstGeom prst="roundRect">
            <a:avLst>
              <a:gd fmla="val 18670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969645" y="2684502"/>
            <a:ext cx="129897" cy="33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600"/>
              <a:buFont typeface="Instrument Sans SemiBold"/>
              <a:buNone/>
            </a:pPr>
            <a:r>
              <a:rPr b="1" i="0" lang="en-US" sz="260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  <a:endParaRPr b="0" i="0" sz="2600" u="none" cap="none" strike="noStrike"/>
          </a:p>
        </p:txBody>
      </p:sp>
      <p:sp>
        <p:nvSpPr>
          <p:cNvPr id="117" name="Google Shape;117;p5"/>
          <p:cNvSpPr/>
          <p:nvPr/>
        </p:nvSpPr>
        <p:spPr>
          <a:xfrm>
            <a:off x="1509951" y="2600682"/>
            <a:ext cx="2796421" cy="349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Conectividad</a:t>
            </a:r>
            <a:endParaRPr b="0" i="0" sz="220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1509951" y="3084433"/>
            <a:ext cx="2950250" cy="1431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Capacidad de conectarse a múltiples fuentes y destinos de datos, tanto en local como en la nube.</a:t>
            </a:r>
            <a:endParaRPr b="0" i="0" sz="1750" u="none" cap="none" strike="noStrike"/>
          </a:p>
        </p:txBody>
      </p:sp>
      <p:sp>
        <p:nvSpPr>
          <p:cNvPr id="119" name="Google Shape;119;p5"/>
          <p:cNvSpPr/>
          <p:nvPr/>
        </p:nvSpPr>
        <p:spPr>
          <a:xfrm>
            <a:off x="4683919" y="2600682"/>
            <a:ext cx="503277" cy="503277"/>
          </a:xfrm>
          <a:prstGeom prst="roundRect">
            <a:avLst>
              <a:gd fmla="val 18670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842034" y="2684502"/>
            <a:ext cx="186928" cy="33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600"/>
              <a:buFont typeface="Instrument Sans SemiBold"/>
              <a:buNone/>
            </a:pPr>
            <a:r>
              <a:rPr b="1" i="0" lang="en-US" sz="260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  <a:endParaRPr b="0" i="0" sz="260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5410914" y="2600682"/>
            <a:ext cx="2950250" cy="699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Transformación de datos</a:t>
            </a:r>
            <a:endParaRPr b="0" i="0" sz="220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5410914" y="3434001"/>
            <a:ext cx="2950250" cy="1431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Funcionalidades avanzadas de limpieza, enriquecimiento y transformación de datos.</a:t>
            </a:r>
            <a:endParaRPr b="0" i="0" sz="1750" u="none" cap="none" strike="noStrike"/>
          </a:p>
        </p:txBody>
      </p:sp>
      <p:sp>
        <p:nvSpPr>
          <p:cNvPr id="123" name="Google Shape;123;p5"/>
          <p:cNvSpPr/>
          <p:nvPr/>
        </p:nvSpPr>
        <p:spPr>
          <a:xfrm>
            <a:off x="782955" y="5340906"/>
            <a:ext cx="503277" cy="503277"/>
          </a:xfrm>
          <a:prstGeom prst="roundRect">
            <a:avLst>
              <a:gd fmla="val 18670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937379" y="5424726"/>
            <a:ext cx="194310" cy="33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600"/>
              <a:buFont typeface="Instrument Sans SemiBold"/>
              <a:buNone/>
            </a:pPr>
            <a:r>
              <a:rPr b="1" i="0" lang="en-US" sz="260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</a:t>
            </a:r>
            <a:endParaRPr b="0" i="0" sz="260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1509951" y="5340906"/>
            <a:ext cx="2796421" cy="349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Escalabilidad</a:t>
            </a:r>
            <a:endParaRPr b="0" i="0" sz="220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1509951" y="5824657"/>
            <a:ext cx="2950250" cy="1789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Capacidad de procesar grandes volúmenes de datos a alta velocidad sin comprometer el rendimiento.</a:t>
            </a:r>
            <a:endParaRPr b="0" i="0" sz="17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4683919" y="5340906"/>
            <a:ext cx="503277" cy="503277"/>
          </a:xfrm>
          <a:prstGeom prst="roundRect">
            <a:avLst>
              <a:gd fmla="val 18670" name="adj"/>
            </a:avLst>
          </a:prstGeom>
          <a:solidFill>
            <a:srgbClr val="E2E3E9"/>
          </a:solidFill>
          <a:ln cap="flat" cmpd="sng" w="9525">
            <a:solidFill>
              <a:srgbClr val="C8C9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832390" y="5424726"/>
            <a:ext cx="206335" cy="33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600"/>
              <a:buFont typeface="Instrument Sans SemiBold"/>
              <a:buNone/>
            </a:pPr>
            <a:r>
              <a:rPr b="1" i="0" lang="en-US" sz="260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4</a:t>
            </a:r>
            <a:endParaRPr b="0" i="0" sz="260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5410914" y="5340906"/>
            <a:ext cx="2796421" cy="349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Facilidad de uso</a:t>
            </a:r>
            <a:endParaRPr b="0" i="0" sz="2200" u="none" cap="none" strike="noStrike"/>
          </a:p>
        </p:txBody>
      </p:sp>
      <p:sp>
        <p:nvSpPr>
          <p:cNvPr id="130" name="Google Shape;130;p5"/>
          <p:cNvSpPr/>
          <p:nvPr/>
        </p:nvSpPr>
        <p:spPr>
          <a:xfrm>
            <a:off x="5410914" y="5824657"/>
            <a:ext cx="2950250" cy="1431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Interfaz intuitiva y amigable que facilite la creación y gestión de flujos de trabajo ETL.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793790" y="345900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450"/>
              <a:buFont typeface="Instrument Sans SemiBold"/>
              <a:buNone/>
            </a:pPr>
            <a:r>
              <a:rPr b="1" i="0" lang="en-US" sz="4450" u="none" cap="none" strike="noStrike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Tendencias en ETL</a:t>
            </a:r>
            <a:endParaRPr b="0" i="0" sz="4450" u="none" cap="none" strike="noStrike"/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450794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793790" y="5301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ETL en la nube</a:t>
            </a:r>
            <a:endParaRPr b="0" i="0" sz="2200" u="none" cap="none" strike="noStrike"/>
          </a:p>
        </p:txBody>
      </p:sp>
      <p:sp>
        <p:nvSpPr>
          <p:cNvPr id="140" name="Google Shape;140;p6"/>
          <p:cNvSpPr/>
          <p:nvPr/>
        </p:nvSpPr>
        <p:spPr>
          <a:xfrm>
            <a:off x="793790" y="5792153"/>
            <a:ext cx="3005495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Migración de herramientas ETL a entornos cloud, brindando mayor escalabilidad y flexibilidad.</a:t>
            </a:r>
            <a:endParaRPr b="0" i="0" sz="1750" u="none" cap="none" strike="noStrike"/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9446" y="450794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4139446" y="5301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Automatización</a:t>
            </a:r>
            <a:endParaRPr b="0" i="0" sz="220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4139446" y="5792153"/>
            <a:ext cx="3005614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Incorporación de capacidades de automatización y orchestration en los flujos de trabajo ETL.</a:t>
            </a:r>
            <a:endParaRPr b="0" i="0" sz="1750" u="none" cap="none" strike="noStrike"/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85221" y="450794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7485221" y="5301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Big Data</a:t>
            </a:r>
            <a:endParaRPr b="0" i="0" sz="22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7485221" y="5792153"/>
            <a:ext cx="3005614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Integración de herramientas ETL con tecnologías de big data para procesar volúmenes masivos de datos.</a:t>
            </a:r>
            <a:endParaRPr b="0" i="0" sz="1750" u="none" cap="none" strike="noStrike"/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30997" y="4507944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10830997" y="5301734"/>
            <a:ext cx="3005614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Procesamiento en tiempo real</a:t>
            </a:r>
            <a:endParaRPr b="0" i="0" sz="220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10830997" y="6146483"/>
            <a:ext cx="3005614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Adopción de soluciones ETL capaces de procesar y analizar datos en tiempo real.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6259473" y="608290"/>
            <a:ext cx="7597854" cy="1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300"/>
              <a:buFont typeface="Instrument Sans SemiBold"/>
              <a:buNone/>
            </a:pPr>
            <a:r>
              <a:rPr b="1" i="0" lang="en-US" sz="4300" u="none" cap="none" strike="noStrike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Casos de uso de herramientas ETL</a:t>
            </a:r>
            <a:endParaRPr b="0" i="0" sz="4300" u="none" cap="none" strike="noStrike"/>
          </a:p>
        </p:txBody>
      </p:sp>
      <p:pic>
        <p:nvPicPr>
          <p:cNvPr descr="preencoded.png" id="157" name="Google Shape;15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9473" y="2319933"/>
            <a:ext cx="1104424" cy="176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7695128" y="2540794"/>
            <a:ext cx="2761178" cy="345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150"/>
              <a:buFont typeface="Instrument Sans SemiBold"/>
              <a:buNone/>
            </a:pPr>
            <a:r>
              <a:rPr b="1" i="0" lang="en-US" sz="21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Integración de datos</a:t>
            </a:r>
            <a:endParaRPr b="0" i="0" sz="215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7695128" y="3018353"/>
            <a:ext cx="6162199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00"/>
              <a:buFont typeface="Instrument Sans Medium"/>
              <a:buNone/>
            </a:pPr>
            <a:r>
              <a:rPr b="0" i="0" lang="en-US" sz="170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Consolidación de datos de múltiples fuentes en un almacén de datos centralizado.</a:t>
            </a:r>
            <a:endParaRPr b="0" i="0" sz="1700" u="none" cap="none" strike="noStrike"/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9473" y="4087058"/>
            <a:ext cx="1104424" cy="176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7695128" y="4307919"/>
            <a:ext cx="2761178" cy="345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150"/>
              <a:buFont typeface="Instrument Sans SemiBold"/>
              <a:buNone/>
            </a:pPr>
            <a:r>
              <a:rPr b="1" i="0" lang="en-US" sz="21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Análisis de datos</a:t>
            </a:r>
            <a:endParaRPr b="0" i="0" sz="2150" u="none" cap="none" strike="noStrike"/>
          </a:p>
        </p:txBody>
      </p:sp>
      <p:sp>
        <p:nvSpPr>
          <p:cNvPr id="162" name="Google Shape;162;p7"/>
          <p:cNvSpPr/>
          <p:nvPr/>
        </p:nvSpPr>
        <p:spPr>
          <a:xfrm>
            <a:off x="7695128" y="4785479"/>
            <a:ext cx="6162199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00"/>
              <a:buFont typeface="Instrument Sans Medium"/>
              <a:buNone/>
            </a:pPr>
            <a:r>
              <a:rPr b="0" i="0" lang="en-US" sz="170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Preparación y transformación de datos para alimentar informes y cuadros de mando.</a:t>
            </a:r>
            <a:endParaRPr b="0" i="0" sz="1700" u="none" cap="none" strike="noStrike"/>
          </a:p>
        </p:txBody>
      </p:sp>
      <p:pic>
        <p:nvPicPr>
          <p:cNvPr descr="preencoded.png" id="163" name="Google Shape;16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9473" y="5854184"/>
            <a:ext cx="1104424" cy="176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7695128" y="6075045"/>
            <a:ext cx="2761178" cy="345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2150"/>
              <a:buFont typeface="Instrument Sans SemiBold"/>
              <a:buNone/>
            </a:pPr>
            <a:r>
              <a:rPr b="1" i="0" lang="en-US" sz="2150" u="none" cap="none" strike="noStrike">
                <a:solidFill>
                  <a:srgbClr val="5B5F7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Migración de datos</a:t>
            </a:r>
            <a:endParaRPr b="0" i="0" sz="2150" u="none" cap="none" strike="noStrike"/>
          </a:p>
        </p:txBody>
      </p:sp>
      <p:sp>
        <p:nvSpPr>
          <p:cNvPr id="165" name="Google Shape;165;p7"/>
          <p:cNvSpPr/>
          <p:nvPr/>
        </p:nvSpPr>
        <p:spPr>
          <a:xfrm>
            <a:off x="7695128" y="6552605"/>
            <a:ext cx="6162199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00"/>
              <a:buFont typeface="Instrument Sans Medium"/>
              <a:buNone/>
            </a:pPr>
            <a:r>
              <a:rPr b="0" i="0" lang="en-US" sz="170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Extracción, transformación y carga de datos a nuevas plataformas o sistemas.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868428" y="3998450"/>
            <a:ext cx="9690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505468"/>
              </a:buClr>
              <a:buSzPts val="4450"/>
              <a:buFont typeface="Instrument Sans SemiBold"/>
              <a:buNone/>
            </a:pPr>
            <a:r>
              <a:rPr b="1" i="0" lang="en-US" sz="4450" u="none" cap="none" strike="noStrike">
                <a:solidFill>
                  <a:srgbClr val="50546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Conclusión y próximos pasos</a:t>
            </a:r>
            <a:endParaRPr b="0" i="0" sz="4450" u="none" cap="none" strike="noStrike"/>
          </a:p>
        </p:txBody>
      </p:sp>
      <p:sp>
        <p:nvSpPr>
          <p:cNvPr id="173" name="Google Shape;173;p8"/>
          <p:cNvSpPr/>
          <p:nvPr/>
        </p:nvSpPr>
        <p:spPr>
          <a:xfrm>
            <a:off x="793790" y="5331023"/>
            <a:ext cx="130428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B5F71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5B5F7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Las herramientas ETL desempeñan un papel fundamental en la integración y gestión de datos, permitiendo a las organizaciones extraer valor de sus activos de información. Al seleccionar la solución adecuada, las empresas pueden optimizar sus procesos de datos, impulsar la toma de decisiones basada en datos y adaptarse a las tendencias emergentes en el mundo del análisis y la integración de datos.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2024-11-05T00:36:09Z</dcterms:created>
  <dc:creator>PptxGenJS</dc:creator>
</cp:coreProperties>
</file>