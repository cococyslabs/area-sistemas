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10287000" cx="18288000"/>
  <p:notesSz cx="6858000" cy="9144000"/>
  <p:embeddedFontLst>
    <p:embeddedFont>
      <p:font typeface="Lobster"/>
      <p:regular r:id="rId31"/>
    </p:embeddedFont>
    <p:embeddedFont>
      <p:font typeface="Corbel"/>
      <p:regular r:id="rId32"/>
      <p:bold r:id="rId33"/>
      <p:italic r:id="rId34"/>
      <p:boldItalic r:id="rId35"/>
    </p:embeddedFont>
    <p:embeddedFont>
      <p:font typeface="Pacifico"/>
      <p:regular r:id="rId36"/>
    </p:embeddedFont>
    <p:embeddedFont>
      <p:font typeface="Open Sans"/>
      <p:regular r:id="rId37"/>
      <p:bold r:id="rId38"/>
      <p:italic r:id="rId39"/>
      <p:boldItalic r:id="rId40"/>
    </p:embeddedFont>
    <p:embeddedFont>
      <p:font typeface="Century Gothic"/>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5" roundtripDataSignature="AMtx7mgL4OgQiUeuG2dmDjMPMBHyeMrC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165E2D-3D91-4631-B8AC-E3FB307869EA}">
  <a:tblStyle styleId="{D1165E2D-3D91-4631-B8AC-E3FB307869EA}" styleName="Table_0">
    <a:wholeTbl>
      <a:tcTxStyle b="off" i="off">
        <a:font>
          <a:latin typeface="Corbel"/>
          <a:ea typeface="Corbel"/>
          <a:cs typeface="Corbe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B"/>
          </a:solidFill>
        </a:fill>
      </a:tcStyle>
    </a:wholeTbl>
    <a:band1H>
      <a:tcTxStyle/>
      <a:tcStyle>
        <a:fill>
          <a:solidFill>
            <a:srgbClr val="CCE2F8"/>
          </a:solidFill>
        </a:fill>
      </a:tcStyle>
    </a:band1H>
    <a:band2H>
      <a:tcTxStyle/>
    </a:band2H>
    <a:band1V>
      <a:tcTxStyle/>
      <a:tcStyle>
        <a:fill>
          <a:solidFill>
            <a:srgbClr val="CCE2F8"/>
          </a:solidFill>
        </a:fill>
      </a:tcStyle>
    </a:band1V>
    <a:band2V>
      <a:tcTxStyle/>
    </a:band2V>
    <a:lastCol>
      <a:tcTxStyle b="on" i="off">
        <a:font>
          <a:latin typeface="Corbel"/>
          <a:ea typeface="Corbel"/>
          <a:cs typeface="Corbel"/>
        </a:font>
        <a:schemeClr val="lt1"/>
      </a:tcTxStyle>
      <a:tcStyle>
        <a:fill>
          <a:solidFill>
            <a:schemeClr val="accent1"/>
          </a:solidFill>
        </a:fill>
      </a:tcStyle>
    </a:lastCol>
    <a:firstCol>
      <a:tcTxStyle b="on" i="off">
        <a:font>
          <a:latin typeface="Corbel"/>
          <a:ea typeface="Corbel"/>
          <a:cs typeface="Corbel"/>
        </a:font>
        <a:schemeClr val="lt1"/>
      </a:tcTxStyle>
      <a:tcStyle>
        <a:fill>
          <a:solidFill>
            <a:schemeClr val="accent1"/>
          </a:solidFill>
        </a:fill>
      </a:tcStyle>
    </a:firstCol>
    <a:lastRow>
      <a:tcTxStyle b="on" i="off">
        <a:font>
          <a:latin typeface="Corbel"/>
          <a:ea typeface="Corbel"/>
          <a:cs typeface="Corbe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rbel"/>
          <a:ea typeface="Corbel"/>
          <a:cs typeface="Corbe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3.xml"/><Relationship Id="rId42" Type="http://schemas.openxmlformats.org/officeDocument/2006/relationships/font" Target="fonts/CenturyGothic-bold.fntdata"/><Relationship Id="rId41" Type="http://schemas.openxmlformats.org/officeDocument/2006/relationships/font" Target="fonts/CenturyGothic-regular.fntdata"/><Relationship Id="rId22" Type="http://schemas.openxmlformats.org/officeDocument/2006/relationships/slide" Target="slides/slide15.xml"/><Relationship Id="rId44" Type="http://schemas.openxmlformats.org/officeDocument/2006/relationships/font" Target="fonts/CenturyGothic-boldItalic.fntdata"/><Relationship Id="rId21" Type="http://schemas.openxmlformats.org/officeDocument/2006/relationships/slide" Target="slides/slide14.xml"/><Relationship Id="rId43" Type="http://schemas.openxmlformats.org/officeDocument/2006/relationships/font" Target="fonts/CenturyGothic-italic.fntdata"/><Relationship Id="rId24" Type="http://schemas.openxmlformats.org/officeDocument/2006/relationships/slide" Target="slides/slide17.xml"/><Relationship Id="rId23" Type="http://schemas.openxmlformats.org/officeDocument/2006/relationships/slide" Target="slides/slide16.xml"/><Relationship Id="rId45" Type="http://customschemas.google.com/relationships/presentationmetadata" Target="meta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obster-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Corbel-bold.fntdata"/><Relationship Id="rId10" Type="http://schemas.openxmlformats.org/officeDocument/2006/relationships/slide" Target="slides/slide3.xml"/><Relationship Id="rId32" Type="http://schemas.openxmlformats.org/officeDocument/2006/relationships/font" Target="fonts/Corbel-regular.fntdata"/><Relationship Id="rId13" Type="http://schemas.openxmlformats.org/officeDocument/2006/relationships/slide" Target="slides/slide6.xml"/><Relationship Id="rId35" Type="http://schemas.openxmlformats.org/officeDocument/2006/relationships/font" Target="fonts/Corbel-boldItalic.fntdata"/><Relationship Id="rId12" Type="http://schemas.openxmlformats.org/officeDocument/2006/relationships/slide" Target="slides/slide5.xml"/><Relationship Id="rId34" Type="http://schemas.openxmlformats.org/officeDocument/2006/relationships/font" Target="fonts/Corbel-italic.fntdata"/><Relationship Id="rId15" Type="http://schemas.openxmlformats.org/officeDocument/2006/relationships/slide" Target="slides/slide8.xml"/><Relationship Id="rId37" Type="http://schemas.openxmlformats.org/officeDocument/2006/relationships/font" Target="fonts/OpenSans-regular.fntdata"/><Relationship Id="rId14" Type="http://schemas.openxmlformats.org/officeDocument/2006/relationships/slide" Target="slides/slide7.xml"/><Relationship Id="rId36" Type="http://schemas.openxmlformats.org/officeDocument/2006/relationships/font" Target="fonts/Pacifico-regular.fntdata"/><Relationship Id="rId17" Type="http://schemas.openxmlformats.org/officeDocument/2006/relationships/slide" Target="slides/slide10.xml"/><Relationship Id="rId39" Type="http://schemas.openxmlformats.org/officeDocument/2006/relationships/font" Target="fonts/OpenSans-italic.fntdata"/><Relationship Id="rId16" Type="http://schemas.openxmlformats.org/officeDocument/2006/relationships/slide" Target="slides/slide9.xml"/><Relationship Id="rId38" Type="http://schemas.openxmlformats.org/officeDocument/2006/relationships/font" Target="fonts/OpenSans-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4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5"/>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5"/>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25" name="Google Shape;25;p4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5"/>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 name="Shape 28"/>
        <p:cNvGrpSpPr/>
        <p:nvPr/>
      </p:nvGrpSpPr>
      <p:grpSpPr>
        <a:xfrm>
          <a:off x="0" y="0"/>
          <a:ext cx="0" cy="0"/>
          <a:chOff x="0" y="0"/>
          <a:chExt cx="0" cy="0"/>
        </a:xfrm>
      </p:grpSpPr>
      <p:grpSp>
        <p:nvGrpSpPr>
          <p:cNvPr id="29" name="Google Shape;29;p47"/>
          <p:cNvGrpSpPr/>
          <p:nvPr/>
        </p:nvGrpSpPr>
        <p:grpSpPr>
          <a:xfrm>
            <a:off x="819150" y="-7144"/>
            <a:ext cx="7522368" cy="10294145"/>
            <a:chOff x="2928938" y="-4763"/>
            <a:chExt cx="5014912" cy="6862763"/>
          </a:xfrm>
        </p:grpSpPr>
        <p:sp>
          <p:nvSpPr>
            <p:cNvPr id="30" name="Google Shape;30;p47"/>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1" name="Google Shape;31;p47"/>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2" name="Google Shape;32;p47"/>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33" name="Google Shape;33;p47"/>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34" name="Google Shape;34;p47"/>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35" name="Google Shape;35;p47"/>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6" name="Google Shape;36;p47"/>
          <p:cNvSpPr txBox="1"/>
          <p:nvPr>
            <p:ph type="ctrTitle"/>
          </p:nvPr>
        </p:nvSpPr>
        <p:spPr>
          <a:xfrm>
            <a:off x="4392602" y="2070103"/>
            <a:ext cx="12861933" cy="39242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9000"/>
              <a:buFont typeface="Corbel"/>
              <a:buNone/>
              <a:defRPr sz="9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7"/>
          <p:cNvSpPr txBox="1"/>
          <p:nvPr>
            <p:ph idx="1" type="subTitle"/>
          </p:nvPr>
        </p:nvSpPr>
        <p:spPr>
          <a:xfrm>
            <a:off x="6773066" y="5994401"/>
            <a:ext cx="10481468" cy="2082801"/>
          </a:xfrm>
          <a:prstGeom prst="rect">
            <a:avLst/>
          </a:prstGeom>
          <a:noFill/>
          <a:ln>
            <a:noFill/>
          </a:ln>
        </p:spPr>
        <p:txBody>
          <a:bodyPr anchorCtr="0" anchor="t" bIns="45700" lIns="91425" spcFirstLastPara="1" rIns="91425" wrap="square" tIns="45700">
            <a:normAutofit/>
          </a:bodyPr>
          <a:lstStyle>
            <a:lvl1pPr lvl="0" algn="r">
              <a:spcBef>
                <a:spcPts val="630"/>
              </a:spcBef>
              <a:spcAft>
                <a:spcPts val="0"/>
              </a:spcAft>
              <a:buSzPts val="4568"/>
              <a:buNone/>
              <a:defRPr sz="3150">
                <a:solidFill>
                  <a:schemeClr val="dk1"/>
                </a:solidFill>
              </a:defRPr>
            </a:lvl1pPr>
            <a:lvl2pPr lvl="1" algn="ctr">
              <a:spcBef>
                <a:spcPts val="900"/>
              </a:spcBef>
              <a:spcAft>
                <a:spcPts val="0"/>
              </a:spcAft>
              <a:buSzPts val="4350"/>
              <a:buNone/>
              <a:defRPr>
                <a:solidFill>
                  <a:srgbClr val="888888"/>
                </a:solidFill>
              </a:defRPr>
            </a:lvl2pPr>
            <a:lvl3pPr lvl="2" algn="ctr">
              <a:spcBef>
                <a:spcPts val="900"/>
              </a:spcBef>
              <a:spcAft>
                <a:spcPts val="0"/>
              </a:spcAft>
              <a:buSzPts val="3915"/>
              <a:buNone/>
              <a:defRPr>
                <a:solidFill>
                  <a:srgbClr val="888888"/>
                </a:solidFill>
              </a:defRPr>
            </a:lvl3pPr>
            <a:lvl4pPr lvl="3" algn="ctr">
              <a:spcBef>
                <a:spcPts val="900"/>
              </a:spcBef>
              <a:spcAft>
                <a:spcPts val="0"/>
              </a:spcAft>
              <a:buSzPts val="3480"/>
              <a:buNone/>
              <a:defRPr>
                <a:solidFill>
                  <a:srgbClr val="888888"/>
                </a:solidFill>
              </a:defRPr>
            </a:lvl4pPr>
            <a:lvl5pPr lvl="4" algn="ctr">
              <a:spcBef>
                <a:spcPts val="900"/>
              </a:spcBef>
              <a:spcAft>
                <a:spcPts val="0"/>
              </a:spcAft>
              <a:buSzPts val="3045"/>
              <a:buNone/>
              <a:defRPr>
                <a:solidFill>
                  <a:srgbClr val="888888"/>
                </a:solidFill>
              </a:defRPr>
            </a:lvl5pPr>
            <a:lvl6pPr lvl="5" algn="ctr">
              <a:spcBef>
                <a:spcPts val="900"/>
              </a:spcBef>
              <a:spcAft>
                <a:spcPts val="0"/>
              </a:spcAft>
              <a:buSzPts val="3045"/>
              <a:buNone/>
              <a:defRPr>
                <a:solidFill>
                  <a:srgbClr val="888888"/>
                </a:solidFill>
              </a:defRPr>
            </a:lvl6pPr>
            <a:lvl7pPr lvl="6" algn="ctr">
              <a:spcBef>
                <a:spcPts val="900"/>
              </a:spcBef>
              <a:spcAft>
                <a:spcPts val="0"/>
              </a:spcAft>
              <a:buSzPts val="3045"/>
              <a:buNone/>
              <a:defRPr>
                <a:solidFill>
                  <a:srgbClr val="888888"/>
                </a:solidFill>
              </a:defRPr>
            </a:lvl7pPr>
            <a:lvl8pPr lvl="7" algn="ctr">
              <a:spcBef>
                <a:spcPts val="900"/>
              </a:spcBef>
              <a:spcAft>
                <a:spcPts val="0"/>
              </a:spcAft>
              <a:buSzPts val="3045"/>
              <a:buNone/>
              <a:defRPr>
                <a:solidFill>
                  <a:srgbClr val="888888"/>
                </a:solidFill>
              </a:defRPr>
            </a:lvl8pPr>
            <a:lvl9pPr lvl="8" algn="ctr">
              <a:spcBef>
                <a:spcPts val="900"/>
              </a:spcBef>
              <a:spcAft>
                <a:spcPts val="900"/>
              </a:spcAft>
              <a:buSzPts val="3045"/>
              <a:buNone/>
              <a:defRPr>
                <a:solidFill>
                  <a:srgbClr val="888888"/>
                </a:solidFill>
              </a:defRPr>
            </a:lvl9pPr>
          </a:lstStyle>
          <a:p/>
        </p:txBody>
      </p:sp>
      <p:sp>
        <p:nvSpPr>
          <p:cNvPr id="38" name="Google Shape;38;p4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7"/>
          <p:cNvSpPr txBox="1"/>
          <p:nvPr>
            <p:ph idx="11" type="ftr"/>
          </p:nvPr>
        </p:nvSpPr>
        <p:spPr>
          <a:xfrm>
            <a:off x="7998618" y="8824913"/>
            <a:ext cx="64860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48"/>
          <p:cNvSpPr txBox="1"/>
          <p:nvPr>
            <p:ph type="title"/>
          </p:nvPr>
        </p:nvSpPr>
        <p:spPr>
          <a:xfrm>
            <a:off x="3858419" y="4000498"/>
            <a:ext cx="13396121" cy="3165573"/>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8"/>
          <p:cNvSpPr txBox="1"/>
          <p:nvPr>
            <p:ph idx="1" type="body"/>
          </p:nvPr>
        </p:nvSpPr>
        <p:spPr>
          <a:xfrm>
            <a:off x="3858417" y="7166072"/>
            <a:ext cx="13396122"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44" name="Google Shape;44;p4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49"/>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9"/>
          <p:cNvSpPr txBox="1"/>
          <p:nvPr>
            <p:ph idx="1" type="body"/>
          </p:nvPr>
        </p:nvSpPr>
        <p:spPr>
          <a:xfrm>
            <a:off x="2226469" y="4000499"/>
            <a:ext cx="7342583" cy="4686302"/>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0" name="Google Shape;50;p49"/>
          <p:cNvSpPr txBox="1"/>
          <p:nvPr>
            <p:ph idx="2" type="body"/>
          </p:nvPr>
        </p:nvSpPr>
        <p:spPr>
          <a:xfrm>
            <a:off x="9911951" y="4000500"/>
            <a:ext cx="7342584" cy="4686300"/>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1" name="Google Shape;51;p4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5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0"/>
          <p:cNvSpPr txBox="1"/>
          <p:nvPr>
            <p:ph idx="1" type="body"/>
          </p:nvPr>
        </p:nvSpPr>
        <p:spPr>
          <a:xfrm>
            <a:off x="2658269" y="3987800"/>
            <a:ext cx="6910782"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7" name="Google Shape;57;p50"/>
          <p:cNvSpPr txBox="1"/>
          <p:nvPr>
            <p:ph idx="2" type="body"/>
          </p:nvPr>
        </p:nvSpPr>
        <p:spPr>
          <a:xfrm>
            <a:off x="2226467"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8" name="Google Shape;58;p50"/>
          <p:cNvSpPr txBox="1"/>
          <p:nvPr>
            <p:ph idx="3" type="body"/>
          </p:nvPr>
        </p:nvSpPr>
        <p:spPr>
          <a:xfrm>
            <a:off x="10320731" y="4000500"/>
            <a:ext cx="6933806"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9" name="Google Shape;59;p50"/>
          <p:cNvSpPr txBox="1"/>
          <p:nvPr>
            <p:ph idx="4" type="body"/>
          </p:nvPr>
        </p:nvSpPr>
        <p:spPr>
          <a:xfrm>
            <a:off x="9911951"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60" name="Google Shape;60;p5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5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52"/>
          <p:cNvSpPr txBox="1"/>
          <p:nvPr>
            <p:ph type="title"/>
          </p:nvPr>
        </p:nvSpPr>
        <p:spPr>
          <a:xfrm>
            <a:off x="2226469" y="2400300"/>
            <a:ext cx="5323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2"/>
          <p:cNvSpPr txBox="1"/>
          <p:nvPr>
            <p:ph idx="1" type="body"/>
          </p:nvPr>
        </p:nvSpPr>
        <p:spPr>
          <a:xfrm>
            <a:off x="7893050" y="1028699"/>
            <a:ext cx="9361485" cy="7658102"/>
          </a:xfrm>
          <a:prstGeom prst="rect">
            <a:avLst/>
          </a:prstGeom>
          <a:noFill/>
          <a:ln>
            <a:noFill/>
          </a:ln>
        </p:spPr>
        <p:txBody>
          <a:bodyPr anchorCtr="0" anchor="ctr" bIns="45700" lIns="91425" spcFirstLastPara="1" rIns="91425" wrap="square" tIns="45700">
            <a:normAutofit/>
          </a:bodyPr>
          <a:lstStyle>
            <a:lvl1pPr indent="-504825" lvl="0" marL="457200" algn="l">
              <a:spcBef>
                <a:spcPts val="600"/>
              </a:spcBef>
              <a:spcAft>
                <a:spcPts val="0"/>
              </a:spcAft>
              <a:buSzPts val="4350"/>
              <a:buChar char="•"/>
              <a:defRPr sz="3000"/>
            </a:lvl1pPr>
            <a:lvl2pPr indent="-477202" lvl="1" marL="914400" algn="l">
              <a:spcBef>
                <a:spcPts val="900"/>
              </a:spcBef>
              <a:spcAft>
                <a:spcPts val="0"/>
              </a:spcAft>
              <a:buSzPts val="3915"/>
              <a:buChar char="•"/>
              <a:defRPr sz="2700"/>
            </a:lvl2pPr>
            <a:lvl3pPr indent="-449580" lvl="2" marL="1371600" algn="l">
              <a:spcBef>
                <a:spcPts val="900"/>
              </a:spcBef>
              <a:spcAft>
                <a:spcPts val="0"/>
              </a:spcAft>
              <a:buSzPts val="3480"/>
              <a:buChar char="•"/>
              <a:defRPr sz="2400"/>
            </a:lvl3pPr>
            <a:lvl4pPr indent="-421957" lvl="3" marL="1828800" algn="l">
              <a:spcBef>
                <a:spcPts val="900"/>
              </a:spcBef>
              <a:spcAft>
                <a:spcPts val="0"/>
              </a:spcAft>
              <a:buSzPts val="3045"/>
              <a:buChar char="•"/>
              <a:defRPr sz="2100"/>
            </a:lvl4pPr>
            <a:lvl5pPr indent="-421957" lvl="4" marL="2286000" algn="l">
              <a:spcBef>
                <a:spcPts val="900"/>
              </a:spcBef>
              <a:spcAft>
                <a:spcPts val="0"/>
              </a:spcAft>
              <a:buSzPts val="3045"/>
              <a:buChar char="•"/>
              <a:defRPr sz="2100"/>
            </a:lvl5pPr>
            <a:lvl6pPr indent="-421957" lvl="5" marL="2743200" algn="l">
              <a:spcBef>
                <a:spcPts val="900"/>
              </a:spcBef>
              <a:spcAft>
                <a:spcPts val="0"/>
              </a:spcAft>
              <a:buSzPts val="3045"/>
              <a:buChar char="•"/>
              <a:defRPr sz="2100"/>
            </a:lvl6pPr>
            <a:lvl7pPr indent="-421957" lvl="6" marL="3200400" algn="l">
              <a:spcBef>
                <a:spcPts val="900"/>
              </a:spcBef>
              <a:spcAft>
                <a:spcPts val="0"/>
              </a:spcAft>
              <a:buSzPts val="3045"/>
              <a:buChar char="•"/>
              <a:defRPr sz="2100"/>
            </a:lvl7pPr>
            <a:lvl8pPr indent="-421957" lvl="7" marL="3657600" algn="l">
              <a:spcBef>
                <a:spcPts val="900"/>
              </a:spcBef>
              <a:spcAft>
                <a:spcPts val="0"/>
              </a:spcAft>
              <a:buSzPts val="3045"/>
              <a:buChar char="•"/>
              <a:defRPr sz="2100"/>
            </a:lvl8pPr>
            <a:lvl9pPr indent="-421957" lvl="8" marL="4114800" algn="l">
              <a:spcBef>
                <a:spcPts val="900"/>
              </a:spcBef>
              <a:spcAft>
                <a:spcPts val="900"/>
              </a:spcAft>
              <a:buSzPts val="3045"/>
              <a:buChar char="•"/>
              <a:defRPr sz="2100"/>
            </a:lvl9pPr>
          </a:lstStyle>
          <a:p/>
        </p:txBody>
      </p:sp>
      <p:sp>
        <p:nvSpPr>
          <p:cNvPr id="71" name="Google Shape;71;p52"/>
          <p:cNvSpPr txBox="1"/>
          <p:nvPr>
            <p:ph idx="2" type="body"/>
          </p:nvPr>
        </p:nvSpPr>
        <p:spPr>
          <a:xfrm>
            <a:off x="2226469" y="4457700"/>
            <a:ext cx="5323682"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3480"/>
              <a:buNone/>
              <a:defRPr sz="24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2" name="Google Shape;72;p5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53"/>
          <p:cNvSpPr txBox="1"/>
          <p:nvPr>
            <p:ph type="title"/>
          </p:nvPr>
        </p:nvSpPr>
        <p:spPr>
          <a:xfrm>
            <a:off x="2224086" y="2628899"/>
            <a:ext cx="8139237"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200"/>
              <a:buFont typeface="Corbel"/>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3"/>
          <p:cNvSpPr/>
          <p:nvPr>
            <p:ph idx="2" type="pic"/>
          </p:nvPr>
        </p:nvSpPr>
        <p:spPr>
          <a:xfrm>
            <a:off x="11392023" y="1371600"/>
            <a:ext cx="4921461" cy="6858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53"/>
          <p:cNvSpPr txBox="1"/>
          <p:nvPr>
            <p:ph idx="1" type="body"/>
          </p:nvPr>
        </p:nvSpPr>
        <p:spPr>
          <a:xfrm>
            <a:off x="2224086" y="4686299"/>
            <a:ext cx="8139237"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540"/>
              </a:spcBef>
              <a:spcAft>
                <a:spcPts val="0"/>
              </a:spcAft>
              <a:buSzPts val="3915"/>
              <a:buNone/>
              <a:defRPr sz="27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9" name="Google Shape;79;p5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54"/>
          <p:cNvSpPr txBox="1"/>
          <p:nvPr>
            <p:ph type="title"/>
          </p:nvPr>
        </p:nvSpPr>
        <p:spPr>
          <a:xfrm>
            <a:off x="2226467" y="7099298"/>
            <a:ext cx="15028067" cy="85010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4"/>
          <p:cNvSpPr/>
          <p:nvPr>
            <p:ph idx="2" type="pic"/>
          </p:nvPr>
        </p:nvSpPr>
        <p:spPr>
          <a:xfrm>
            <a:off x="3579018" y="1398168"/>
            <a:ext cx="12338916" cy="4747464"/>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54"/>
          <p:cNvSpPr txBox="1"/>
          <p:nvPr>
            <p:ph idx="1" type="body"/>
          </p:nvPr>
        </p:nvSpPr>
        <p:spPr>
          <a:xfrm>
            <a:off x="2226467" y="7949405"/>
            <a:ext cx="15028067" cy="740568"/>
          </a:xfrm>
          <a:prstGeom prst="rect">
            <a:avLst/>
          </a:prstGeom>
          <a:noFill/>
          <a:ln>
            <a:noFill/>
          </a:ln>
        </p:spPr>
        <p:txBody>
          <a:bodyPr anchorCtr="0" anchor="ctr" bIns="45700" lIns="91425" spcFirstLastPara="1" rIns="91425" wrap="square" tIns="45700">
            <a:normAutofit/>
          </a:bodyPr>
          <a:lstStyle>
            <a:lvl1pPr indent="-228600" lvl="0" marL="457200" algn="ctr">
              <a:spcBef>
                <a:spcPts val="420"/>
              </a:spcBef>
              <a:spcAft>
                <a:spcPts val="0"/>
              </a:spcAft>
              <a:buSzPts val="3045"/>
              <a:buNone/>
              <a:defRPr sz="21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86" name="Google Shape;86;p5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55"/>
          <p:cNvSpPr txBox="1"/>
          <p:nvPr>
            <p:ph type="title"/>
          </p:nvPr>
        </p:nvSpPr>
        <p:spPr>
          <a:xfrm>
            <a:off x="2226469" y="1028700"/>
            <a:ext cx="15028067" cy="457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5"/>
          <p:cNvSpPr txBox="1"/>
          <p:nvPr>
            <p:ph idx="1" type="body"/>
          </p:nvPr>
        </p:nvSpPr>
        <p:spPr>
          <a:xfrm>
            <a:off x="2226469" y="6515100"/>
            <a:ext cx="15028070"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92" name="Google Shape;92;p5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56"/>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7" name="Google Shape;97;p56"/>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8" name="Google Shape;98;p56"/>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6"/>
          <p:cNvSpPr txBox="1"/>
          <p:nvPr>
            <p:ph idx="1" type="body"/>
          </p:nvPr>
        </p:nvSpPr>
        <p:spPr>
          <a:xfrm>
            <a:off x="3655217" y="5143499"/>
            <a:ext cx="12799223" cy="571500"/>
          </a:xfrm>
          <a:prstGeom prst="rect">
            <a:avLst/>
          </a:prstGeom>
          <a:noFill/>
          <a:ln>
            <a:noFill/>
          </a:ln>
        </p:spPr>
        <p:txBody>
          <a:bodyPr anchorCtr="0" anchor="ctr" bIns="45700" lIns="91425" spcFirstLastPara="1" rIns="91425" wrap="square" tIns="45700">
            <a:normAutofit/>
          </a:bodyPr>
          <a:lstStyle>
            <a:lvl1pPr indent="-228600" lvl="0" marL="457200" algn="l">
              <a:spcBef>
                <a:spcPts val="540"/>
              </a:spcBef>
              <a:spcAft>
                <a:spcPts val="0"/>
              </a:spcAft>
              <a:buSzPts val="3915"/>
              <a:buFont typeface="Corbel"/>
              <a:buNone/>
              <a:defRPr sz="2700"/>
            </a:lvl1pPr>
            <a:lvl2pPr indent="-228600" lvl="1" marL="914400" algn="l">
              <a:spcBef>
                <a:spcPts val="900"/>
              </a:spcBef>
              <a:spcAft>
                <a:spcPts val="0"/>
              </a:spcAft>
              <a:buSzPts val="4350"/>
              <a:buFont typeface="Corbel"/>
              <a:buNone/>
              <a:defRPr/>
            </a:lvl2pPr>
            <a:lvl3pPr indent="-228600" lvl="2" marL="1371600" algn="l">
              <a:spcBef>
                <a:spcPts val="900"/>
              </a:spcBef>
              <a:spcAft>
                <a:spcPts val="0"/>
              </a:spcAft>
              <a:buSzPts val="3915"/>
              <a:buFont typeface="Corbel"/>
              <a:buNone/>
              <a:defRPr/>
            </a:lvl3pPr>
            <a:lvl4pPr indent="-228600" lvl="3" marL="1828800" algn="l">
              <a:spcBef>
                <a:spcPts val="900"/>
              </a:spcBef>
              <a:spcAft>
                <a:spcPts val="0"/>
              </a:spcAft>
              <a:buSzPts val="3480"/>
              <a:buFont typeface="Corbel"/>
              <a:buNone/>
              <a:defRPr/>
            </a:lvl4pPr>
            <a:lvl5pPr indent="-228600" lvl="4" marL="2286000" algn="l">
              <a:spcBef>
                <a:spcPts val="900"/>
              </a:spcBef>
              <a:spcAft>
                <a:spcPts val="0"/>
              </a:spcAft>
              <a:buSzPts val="3045"/>
              <a:buFont typeface="Corbel"/>
              <a:buNone/>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00" name="Google Shape;100;p56"/>
          <p:cNvSpPr txBox="1"/>
          <p:nvPr>
            <p:ph idx="2" type="body"/>
          </p:nvPr>
        </p:nvSpPr>
        <p:spPr>
          <a:xfrm>
            <a:off x="2226467" y="6515100"/>
            <a:ext cx="15028067"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1" name="Google Shape;101;p5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57"/>
          <p:cNvSpPr txBox="1"/>
          <p:nvPr>
            <p:ph type="title"/>
          </p:nvPr>
        </p:nvSpPr>
        <p:spPr>
          <a:xfrm>
            <a:off x="2226470" y="4962872"/>
            <a:ext cx="15028064" cy="22032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7"/>
          <p:cNvSpPr txBox="1"/>
          <p:nvPr>
            <p:ph idx="1" type="body"/>
          </p:nvPr>
        </p:nvSpPr>
        <p:spPr>
          <a:xfrm>
            <a:off x="2226468" y="7166072"/>
            <a:ext cx="15028065"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7" name="Google Shape;107;p5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58"/>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2" name="Google Shape;112;p58"/>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3" name="Google Shape;113;p58"/>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8"/>
          <p:cNvSpPr txBox="1"/>
          <p:nvPr>
            <p:ph idx="1" type="body"/>
          </p:nvPr>
        </p:nvSpPr>
        <p:spPr>
          <a:xfrm>
            <a:off x="2226470" y="5829300"/>
            <a:ext cx="15028065" cy="1333500"/>
          </a:xfrm>
          <a:prstGeom prst="rect">
            <a:avLst/>
          </a:prstGeom>
          <a:noFill/>
          <a:ln>
            <a:noFill/>
          </a:ln>
        </p:spPr>
        <p:txBody>
          <a:bodyPr anchorCtr="0" anchor="b" bIns="45700" lIns="91425" spcFirstLastPara="1" rIns="91425" wrap="square" tIns="45700">
            <a:normAutofit/>
          </a:bodyPr>
          <a:lstStyle>
            <a:lvl1pPr indent="-228600" lvl="0" marL="457200" algn="r">
              <a:spcBef>
                <a:spcPts val="720"/>
              </a:spcBef>
              <a:spcAft>
                <a:spcPts val="0"/>
              </a:spcAft>
              <a:buSzPts val="5220"/>
              <a:buNone/>
              <a:defRPr b="0" sz="36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15" name="Google Shape;115;p58"/>
          <p:cNvSpPr txBox="1"/>
          <p:nvPr>
            <p:ph idx="2" type="body"/>
          </p:nvPr>
        </p:nvSpPr>
        <p:spPr>
          <a:xfrm>
            <a:off x="2226468" y="7162800"/>
            <a:ext cx="15028065" cy="1524000"/>
          </a:xfrm>
          <a:prstGeom prst="rect">
            <a:avLst/>
          </a:prstGeom>
          <a:noFill/>
          <a:ln>
            <a:noFill/>
          </a:ln>
        </p:spPr>
        <p:txBody>
          <a:bodyPr anchorCtr="0" anchor="t" bIns="45700" lIns="91425" spcFirstLastPara="1" rIns="91425" wrap="square" tIns="45700">
            <a:normAutofit/>
          </a:bodyPr>
          <a:lstStyle>
            <a:lvl1pPr indent="-228600" lvl="0" marL="457200" algn="r">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16" name="Google Shape;116;p5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59"/>
          <p:cNvSpPr txBox="1"/>
          <p:nvPr>
            <p:ph type="title"/>
          </p:nvPr>
        </p:nvSpPr>
        <p:spPr>
          <a:xfrm>
            <a:off x="2226470" y="1028701"/>
            <a:ext cx="15028068" cy="409098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9"/>
          <p:cNvSpPr txBox="1"/>
          <p:nvPr>
            <p:ph idx="1" type="body"/>
          </p:nvPr>
        </p:nvSpPr>
        <p:spPr>
          <a:xfrm>
            <a:off x="2226469" y="5257800"/>
            <a:ext cx="15028070" cy="1257300"/>
          </a:xfrm>
          <a:prstGeom prst="rect">
            <a:avLst/>
          </a:prstGeom>
          <a:noFill/>
          <a:ln>
            <a:noFill/>
          </a:ln>
        </p:spPr>
        <p:txBody>
          <a:bodyPr anchorCtr="0" anchor="b" bIns="45700" lIns="91425" spcFirstLastPara="1" rIns="91425" wrap="square" tIns="45700">
            <a:normAutofit/>
          </a:bodyPr>
          <a:lstStyle>
            <a:lvl1pPr indent="-228600" lvl="0" marL="457200" algn="l">
              <a:spcBef>
                <a:spcPts val="840"/>
              </a:spcBef>
              <a:spcAft>
                <a:spcPts val="0"/>
              </a:spcAft>
              <a:buSzPts val="6090"/>
              <a:buNone/>
              <a:defRPr b="0" sz="42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2" name="Google Shape;122;p59"/>
          <p:cNvSpPr txBox="1"/>
          <p:nvPr>
            <p:ph idx="2" type="body"/>
          </p:nvPr>
        </p:nvSpPr>
        <p:spPr>
          <a:xfrm>
            <a:off x="2226467" y="6515100"/>
            <a:ext cx="15028070" cy="2171700"/>
          </a:xfrm>
          <a:prstGeom prst="rect">
            <a:avLst/>
          </a:prstGeom>
          <a:noFill/>
          <a:ln>
            <a:noFill/>
          </a:ln>
        </p:spPr>
        <p:txBody>
          <a:bodyPr anchorCtr="0" anchor="t" bIns="45700" lIns="91425" spcFirstLastPara="1" rIns="91425" wrap="square" tIns="45700">
            <a:normAutofit/>
          </a:bodyPr>
          <a:lstStyle>
            <a:lvl1pPr indent="-228600" lvl="0" marL="457200" algn="l">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23" name="Google Shape;123;p5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6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60"/>
          <p:cNvSpPr txBox="1"/>
          <p:nvPr>
            <p:ph idx="1" type="body"/>
          </p:nvPr>
        </p:nvSpPr>
        <p:spPr>
          <a:xfrm rot="5400000">
            <a:off x="7397350" y="-1170385"/>
            <a:ext cx="4686302" cy="1502807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9" name="Google Shape;129;p6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6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6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61"/>
          <p:cNvSpPr txBox="1"/>
          <p:nvPr>
            <p:ph type="title"/>
          </p:nvPr>
        </p:nvSpPr>
        <p:spPr>
          <a:xfrm rot="5400000">
            <a:off x="12097710" y="3529973"/>
            <a:ext cx="7658100" cy="265555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61"/>
          <p:cNvSpPr txBox="1"/>
          <p:nvPr>
            <p:ph idx="1" type="body"/>
          </p:nvPr>
        </p:nvSpPr>
        <p:spPr>
          <a:xfrm rot="5400000">
            <a:off x="4412225" y="-1157057"/>
            <a:ext cx="7658100" cy="120296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35" name="Google Shape;135;p6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4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6"/>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54" name="Google Shape;154;p4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46"/>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lt1"/>
              </a:buClr>
              <a:buSzPts val="1500"/>
              <a:buFont typeface="Corbel"/>
              <a:buNone/>
              <a:defRPr/>
            </a:lvl1pPr>
            <a:lvl2pPr indent="0" lvl="1" marL="0" algn="r">
              <a:spcBef>
                <a:spcPts val="0"/>
              </a:spcBef>
              <a:spcAft>
                <a:spcPts val="0"/>
              </a:spcAft>
              <a:buClr>
                <a:schemeClr val="lt1"/>
              </a:buClr>
              <a:buSzPts val="1500"/>
              <a:buFont typeface="Corbel"/>
              <a:buNone/>
              <a:defRPr/>
            </a:lvl2pPr>
            <a:lvl3pPr indent="0" lvl="2" marL="0" algn="r">
              <a:spcBef>
                <a:spcPts val="0"/>
              </a:spcBef>
              <a:spcAft>
                <a:spcPts val="0"/>
              </a:spcAft>
              <a:buClr>
                <a:schemeClr val="lt1"/>
              </a:buClr>
              <a:buSzPts val="1500"/>
              <a:buFont typeface="Corbel"/>
              <a:buNone/>
              <a:defRPr/>
            </a:lvl3pPr>
            <a:lvl4pPr indent="0" lvl="3" marL="0" algn="r">
              <a:spcBef>
                <a:spcPts val="0"/>
              </a:spcBef>
              <a:spcAft>
                <a:spcPts val="0"/>
              </a:spcAft>
              <a:buClr>
                <a:schemeClr val="lt1"/>
              </a:buClr>
              <a:buSzPts val="1500"/>
              <a:buFont typeface="Corbel"/>
              <a:buNone/>
              <a:defRPr/>
            </a:lvl4pPr>
            <a:lvl5pPr indent="0" lvl="4" marL="0" algn="r">
              <a:spcBef>
                <a:spcPts val="0"/>
              </a:spcBef>
              <a:spcAft>
                <a:spcPts val="0"/>
              </a:spcAft>
              <a:buClr>
                <a:schemeClr val="lt1"/>
              </a:buClr>
              <a:buSzPts val="1500"/>
              <a:buFont typeface="Corbel"/>
              <a:buNone/>
              <a:defRPr/>
            </a:lvl5pPr>
            <a:lvl6pPr indent="0" lvl="5" marL="0" algn="r">
              <a:spcBef>
                <a:spcPts val="0"/>
              </a:spcBef>
              <a:spcAft>
                <a:spcPts val="0"/>
              </a:spcAft>
              <a:buClr>
                <a:schemeClr val="lt1"/>
              </a:buClr>
              <a:buSzPts val="1500"/>
              <a:buFont typeface="Corbel"/>
              <a:buNone/>
              <a:defRPr/>
            </a:lvl6pPr>
            <a:lvl7pPr indent="0" lvl="6" marL="0" algn="r">
              <a:spcBef>
                <a:spcPts val="0"/>
              </a:spcBef>
              <a:spcAft>
                <a:spcPts val="0"/>
              </a:spcAft>
              <a:buClr>
                <a:schemeClr val="lt1"/>
              </a:buClr>
              <a:buSzPts val="1500"/>
              <a:buFont typeface="Corbel"/>
              <a:buNone/>
              <a:defRPr/>
            </a:lvl7pPr>
            <a:lvl8pPr indent="0" lvl="7" marL="0" algn="r">
              <a:spcBef>
                <a:spcPts val="0"/>
              </a:spcBef>
              <a:spcAft>
                <a:spcPts val="0"/>
              </a:spcAft>
              <a:buClr>
                <a:schemeClr val="lt1"/>
              </a:buClr>
              <a:buSzPts val="1500"/>
              <a:buFont typeface="Corbel"/>
              <a:buNone/>
              <a:defRPr/>
            </a:lvl8pPr>
            <a:lvl9pPr indent="0" lvl="8" marL="0" algn="r">
              <a:spcBef>
                <a:spcPts val="0"/>
              </a:spcBef>
              <a:spcAft>
                <a:spcPts val="0"/>
              </a:spcAft>
              <a:buClr>
                <a:schemeClr val="lt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3.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8.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42"/>
          <p:cNvGrpSpPr/>
          <p:nvPr/>
        </p:nvGrpSpPr>
        <p:grpSpPr>
          <a:xfrm>
            <a:off x="226219" y="1"/>
            <a:ext cx="3655220" cy="10287002"/>
            <a:chOff x="1320800" y="0"/>
            <a:chExt cx="2436813" cy="6858001"/>
          </a:xfrm>
        </p:grpSpPr>
        <p:sp>
          <p:nvSpPr>
            <p:cNvPr id="7" name="Google Shape;7;p42"/>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42"/>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42"/>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42"/>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1" name="Google Shape;11;p42"/>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2" name="Google Shape;12;p42"/>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42"/>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6000"/>
              <a:buFont typeface="Corbel"/>
              <a:buNone/>
              <a:defRPr b="0" i="0" sz="6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42"/>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dk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dk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dk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dk1"/>
                </a:solidFill>
                <a:latin typeface="Corbel"/>
                <a:ea typeface="Corbel"/>
                <a:cs typeface="Corbel"/>
                <a:sym typeface="Corbel"/>
              </a:defRPr>
            </a:lvl9pPr>
          </a:lstStyle>
          <a:p/>
        </p:txBody>
      </p:sp>
      <p:sp>
        <p:nvSpPr>
          <p:cNvPr id="15" name="Google Shape;15;p4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4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4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1pPr>
            <a:lvl2pPr indent="0" lvl="1"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2pPr>
            <a:lvl3pPr indent="0" lvl="2"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3pPr>
            <a:lvl4pPr indent="0" lvl="3"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4pPr>
            <a:lvl5pPr indent="0" lvl="4"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5pPr>
            <a:lvl6pPr indent="0" lvl="5"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6pPr>
            <a:lvl7pPr indent="0" lvl="6"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7pPr>
            <a:lvl8pPr indent="0" lvl="7"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8pPr>
            <a:lvl9pPr indent="0" lvl="8"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8" name="Shape 138"/>
        <p:cNvGrpSpPr/>
        <p:nvPr/>
      </p:nvGrpSpPr>
      <p:grpSpPr>
        <a:xfrm>
          <a:off x="0" y="0"/>
          <a:ext cx="0" cy="0"/>
          <a:chOff x="0" y="0"/>
          <a:chExt cx="0" cy="0"/>
        </a:xfrm>
      </p:grpSpPr>
      <p:grpSp>
        <p:nvGrpSpPr>
          <p:cNvPr id="139" name="Google Shape;139;p44"/>
          <p:cNvGrpSpPr/>
          <p:nvPr/>
        </p:nvGrpSpPr>
        <p:grpSpPr>
          <a:xfrm>
            <a:off x="226219" y="1"/>
            <a:ext cx="3655220" cy="10287002"/>
            <a:chOff x="1320800" y="0"/>
            <a:chExt cx="2436813" cy="6858001"/>
          </a:xfrm>
        </p:grpSpPr>
        <p:sp>
          <p:nvSpPr>
            <p:cNvPr id="140" name="Google Shape;140;p44"/>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41" name="Google Shape;141;p44"/>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FEFEFE"/>
            </a:solidFill>
            <a:ln>
              <a:noFill/>
            </a:ln>
          </p:spPr>
        </p:sp>
        <p:sp>
          <p:nvSpPr>
            <p:cNvPr id="142" name="Google Shape;142;p44"/>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FEFEFE"/>
            </a:solidFill>
            <a:ln>
              <a:noFill/>
            </a:ln>
          </p:spPr>
        </p:sp>
        <p:sp>
          <p:nvSpPr>
            <p:cNvPr id="143" name="Google Shape;143;p44"/>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44" name="Google Shape;144;p44"/>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45" name="Google Shape;145;p44"/>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FEFEFE"/>
            </a:solidFill>
            <a:ln>
              <a:noFill/>
            </a:ln>
          </p:spPr>
        </p:sp>
      </p:grpSp>
      <p:sp>
        <p:nvSpPr>
          <p:cNvPr id="146" name="Google Shape;146;p44"/>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6000"/>
              <a:buFont typeface="Corbel"/>
              <a:buNone/>
              <a:defRPr b="0" i="0" sz="6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47" name="Google Shape;147;p44"/>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lt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lt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lt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lt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lt1"/>
                </a:solidFill>
                <a:latin typeface="Corbel"/>
                <a:ea typeface="Corbel"/>
                <a:cs typeface="Corbel"/>
                <a:sym typeface="Corbel"/>
              </a:defRPr>
            </a:lvl9pPr>
          </a:lstStyle>
          <a:p/>
        </p:txBody>
      </p:sp>
      <p:sp>
        <p:nvSpPr>
          <p:cNvPr id="148" name="Google Shape;148;p4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9" name="Google Shape;149;p4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0" name="Google Shape;150;p4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1pPr>
            <a:lvl2pPr indent="0" lvl="1"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2pPr>
            <a:lvl3pPr indent="0" lvl="2"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3pPr>
            <a:lvl4pPr indent="0" lvl="3"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4pPr>
            <a:lvl5pPr indent="0" lvl="4"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5pPr>
            <a:lvl6pPr indent="0" lvl="5"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6pPr>
            <a:lvl7pPr indent="0" lvl="6"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7pPr>
            <a:lvl8pPr indent="0" lvl="7"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8pPr>
            <a:lvl9pPr indent="0" lvl="8"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8.png"/><Relationship Id="rId7"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omputer and tablet with graphs and charts&#10;&#10;AI-generated content may be incorrect." id="161" name="Google Shape;161;p1"/>
          <p:cNvPicPr preferRelativeResize="0"/>
          <p:nvPr/>
        </p:nvPicPr>
        <p:blipFill rotWithShape="1">
          <a:blip r:embed="rId3">
            <a:alphaModFix/>
          </a:blip>
          <a:srcRect b="0" l="0" r="0" t="0"/>
          <a:stretch/>
        </p:blipFill>
        <p:spPr>
          <a:xfrm>
            <a:off x="10127482" y="5715865"/>
            <a:ext cx="8160517" cy="4571135"/>
          </a:xfrm>
          <a:prstGeom prst="rect">
            <a:avLst/>
          </a:prstGeom>
          <a:noFill/>
          <a:ln>
            <a:noFill/>
          </a:ln>
        </p:spPr>
      </p:pic>
      <p:sp>
        <p:nvSpPr>
          <p:cNvPr id="162" name="Google Shape;162;p1"/>
          <p:cNvSpPr txBox="1"/>
          <p:nvPr/>
        </p:nvSpPr>
        <p:spPr>
          <a:xfrm>
            <a:off x="809303" y="7107850"/>
            <a:ext cx="8588697"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Seminario de Sistemas 2</a:t>
            </a:r>
            <a:endParaRPr b="1" i="0" sz="5000" u="none" cap="none" strike="noStrike">
              <a:solidFill>
                <a:srgbClr val="131416"/>
              </a:solidFill>
              <a:latin typeface="Open Sans"/>
              <a:ea typeface="Open Sans"/>
              <a:cs typeface="Open Sans"/>
              <a:sym typeface="Open Sans"/>
            </a:endParaRPr>
          </a:p>
        </p:txBody>
      </p:sp>
      <p:sp>
        <p:nvSpPr>
          <p:cNvPr id="163" name="Google Shape;163;p1"/>
          <p:cNvSpPr txBox="1"/>
          <p:nvPr/>
        </p:nvSpPr>
        <p:spPr>
          <a:xfrm>
            <a:off x="2155441" y="1512847"/>
            <a:ext cx="15214600" cy="594624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Diseño y optimización de cubos multidimensionales</a:t>
            </a:r>
            <a:endParaRPr b="0" i="0" sz="1800" u="none" cap="none" strike="noStrike">
              <a:solidFill>
                <a:schemeClr val="dk1"/>
              </a:solidFill>
              <a:latin typeface="Corbel"/>
              <a:ea typeface="Corbel"/>
              <a:cs typeface="Corbel"/>
              <a:sym typeface="Corbel"/>
            </a:endParaRPr>
          </a:p>
        </p:txBody>
      </p:sp>
      <p:sp>
        <p:nvSpPr>
          <p:cNvPr id="164" name="Google Shape;164;p1"/>
          <p:cNvSpPr txBox="1"/>
          <p:nvPr/>
        </p:nvSpPr>
        <p:spPr>
          <a:xfrm>
            <a:off x="3146103" y="8185068"/>
            <a:ext cx="6981379" cy="1615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p:txBody>
      </p:sp>
      <p:pic>
        <p:nvPicPr>
          <p:cNvPr descr="A two logos with text&#10;&#10;AI-generated content may be incorrect." id="165" name="Google Shape;165;p1"/>
          <p:cNvPicPr preferRelativeResize="0"/>
          <p:nvPr/>
        </p:nvPicPr>
        <p:blipFill rotWithShape="1">
          <a:blip r:embed="rId4">
            <a:alphaModFix/>
          </a:blip>
          <a:srcRect b="0" l="0" r="0" t="0"/>
          <a:stretch/>
        </p:blipFill>
        <p:spPr>
          <a:xfrm>
            <a:off x="11315699" y="0"/>
            <a:ext cx="6972300" cy="1847850"/>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
          <p:cNvGrpSpPr/>
          <p:nvPr/>
        </p:nvGrpSpPr>
        <p:grpSpPr>
          <a:xfrm>
            <a:off x="1568377" y="5074884"/>
            <a:ext cx="6823455" cy="845385"/>
            <a:chOff x="0" y="-38655"/>
            <a:chExt cx="1964221" cy="359923"/>
          </a:xfrm>
        </p:grpSpPr>
        <p:sp>
          <p:nvSpPr>
            <p:cNvPr id="171" name="Google Shape;17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2" name="Google Shape;17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Definición de cubo multidimensional</a:t>
              </a:r>
              <a:endParaRPr sz="1800">
                <a:solidFill>
                  <a:schemeClr val="dk1"/>
                </a:solidFill>
                <a:latin typeface="Corbel"/>
                <a:ea typeface="Corbel"/>
                <a:cs typeface="Corbel"/>
                <a:sym typeface="Corbel"/>
              </a:endParaRPr>
            </a:p>
          </p:txBody>
        </p:sp>
      </p:grpSp>
      <p:sp>
        <p:nvSpPr>
          <p:cNvPr id="173" name="Google Shape;173;p2"/>
          <p:cNvSpPr/>
          <p:nvPr/>
        </p:nvSpPr>
        <p:spPr>
          <a:xfrm>
            <a:off x="1684278" y="523382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74" name="Google Shape;174;p2"/>
          <p:cNvGrpSpPr/>
          <p:nvPr/>
        </p:nvGrpSpPr>
        <p:grpSpPr>
          <a:xfrm>
            <a:off x="2713402" y="3863800"/>
            <a:ext cx="4115190" cy="1267162"/>
            <a:chOff x="0" y="-36600"/>
            <a:chExt cx="1083836" cy="409938"/>
          </a:xfrm>
        </p:grpSpPr>
        <p:sp>
          <p:nvSpPr>
            <p:cNvPr id="175" name="Google Shape;17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
            <p:cNvSpPr txBox="1"/>
            <p:nvPr/>
          </p:nvSpPr>
          <p:spPr>
            <a:xfrm>
              <a:off x="0" y="-366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orbel"/>
                <a:ea typeface="Corbel"/>
                <a:cs typeface="Corbel"/>
                <a:sym typeface="Corbel"/>
              </a:endParaRPr>
            </a:p>
          </p:txBody>
        </p:sp>
      </p:grpSp>
      <p:sp>
        <p:nvSpPr>
          <p:cNvPr id="177" name="Google Shape;177;p2"/>
          <p:cNvSpPr/>
          <p:nvPr/>
        </p:nvSpPr>
        <p:spPr>
          <a:xfrm>
            <a:off x="1760876" y="4052276"/>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
          <p:cNvSpPr txBox="1"/>
          <p:nvPr/>
        </p:nvSpPr>
        <p:spPr>
          <a:xfrm>
            <a:off x="2216562" y="442037"/>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79" name="Google Shape;179;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80" name="Google Shape;180;p2"/>
          <p:cNvGrpSpPr/>
          <p:nvPr/>
        </p:nvGrpSpPr>
        <p:grpSpPr>
          <a:xfrm>
            <a:off x="11739805" y="2798634"/>
            <a:ext cx="5353646" cy="1701145"/>
            <a:chOff x="0" y="-114300"/>
            <a:chExt cx="1410014" cy="448038"/>
          </a:xfrm>
        </p:grpSpPr>
        <p:sp>
          <p:nvSpPr>
            <p:cNvPr id="181" name="Google Shape;18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sz="1800">
                <a:solidFill>
                  <a:schemeClr val="dk1"/>
                </a:solidFill>
                <a:latin typeface="Corbel"/>
                <a:ea typeface="Corbel"/>
                <a:cs typeface="Corbel"/>
                <a:sym typeface="Corbel"/>
              </a:endParaRPr>
            </a:p>
          </p:txBody>
        </p:sp>
      </p:grpSp>
      <p:grpSp>
        <p:nvGrpSpPr>
          <p:cNvPr id="183" name="Google Shape;183;p2"/>
          <p:cNvGrpSpPr/>
          <p:nvPr/>
        </p:nvGrpSpPr>
        <p:grpSpPr>
          <a:xfrm>
            <a:off x="11739805" y="4598683"/>
            <a:ext cx="5353646" cy="1701145"/>
            <a:chOff x="0" y="-114300"/>
            <a:chExt cx="1410014" cy="448038"/>
          </a:xfrm>
        </p:grpSpPr>
        <p:sp>
          <p:nvSpPr>
            <p:cNvPr id="184" name="Google Shape;184;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5" name="Google Shape;185;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a:t>
              </a:r>
              <a:r>
                <a:rPr lang="en-US" sz="4499">
                  <a:solidFill>
                    <a:srgbClr val="000000"/>
                  </a:solidFill>
                  <a:latin typeface="Arial"/>
                  <a:ea typeface="Arial"/>
                  <a:cs typeface="Arial"/>
                  <a:sym typeface="Arial"/>
                </a:rPr>
                <a:t>Quiz</a:t>
              </a:r>
              <a:endParaRPr sz="1800">
                <a:solidFill>
                  <a:schemeClr val="dk1"/>
                </a:solidFill>
                <a:latin typeface="Corbel"/>
                <a:ea typeface="Corbel"/>
                <a:cs typeface="Corbel"/>
                <a:sym typeface="Corbel"/>
              </a:endParaRPr>
            </a:p>
          </p:txBody>
        </p:sp>
      </p:grpSp>
      <p:grpSp>
        <p:nvGrpSpPr>
          <p:cNvPr id="186" name="Google Shape;186;p2"/>
          <p:cNvGrpSpPr/>
          <p:nvPr/>
        </p:nvGrpSpPr>
        <p:grpSpPr>
          <a:xfrm>
            <a:off x="1452477" y="5810834"/>
            <a:ext cx="5095720" cy="845385"/>
            <a:chOff x="0" y="-38655"/>
            <a:chExt cx="1964221" cy="359923"/>
          </a:xfrm>
        </p:grpSpPr>
        <p:sp>
          <p:nvSpPr>
            <p:cNvPr id="187" name="Google Shape;18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8" name="Google Shape;18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Dimensiones y jerarquías</a:t>
              </a:r>
              <a:endParaRPr sz="1800">
                <a:solidFill>
                  <a:schemeClr val="dk1"/>
                </a:solidFill>
                <a:latin typeface="Corbel"/>
                <a:ea typeface="Corbel"/>
                <a:cs typeface="Corbel"/>
                <a:sym typeface="Corbel"/>
              </a:endParaRPr>
            </a:p>
          </p:txBody>
        </p:sp>
      </p:grpSp>
      <p:sp>
        <p:nvSpPr>
          <p:cNvPr id="189" name="Google Shape;189;p2"/>
          <p:cNvSpPr/>
          <p:nvPr/>
        </p:nvSpPr>
        <p:spPr>
          <a:xfrm>
            <a:off x="1568377" y="596977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0" name="Google Shape;190;p2"/>
          <p:cNvGrpSpPr/>
          <p:nvPr/>
        </p:nvGrpSpPr>
        <p:grpSpPr>
          <a:xfrm>
            <a:off x="1307518" y="6520243"/>
            <a:ext cx="4916301" cy="845385"/>
            <a:chOff x="0" y="-38655"/>
            <a:chExt cx="1964221" cy="359923"/>
          </a:xfrm>
        </p:grpSpPr>
        <p:sp>
          <p:nvSpPr>
            <p:cNvPr id="191" name="Google Shape;19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2" name="Google Shape;19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Medidas y agregaciones</a:t>
              </a:r>
              <a:endParaRPr sz="1800">
                <a:solidFill>
                  <a:schemeClr val="dk1"/>
                </a:solidFill>
                <a:latin typeface="Corbel"/>
                <a:ea typeface="Corbel"/>
                <a:cs typeface="Corbel"/>
                <a:sym typeface="Corbel"/>
              </a:endParaRPr>
            </a:p>
          </p:txBody>
        </p:sp>
      </p:grpSp>
      <p:sp>
        <p:nvSpPr>
          <p:cNvPr id="193" name="Google Shape;193;p2"/>
          <p:cNvSpPr/>
          <p:nvPr/>
        </p:nvSpPr>
        <p:spPr>
          <a:xfrm>
            <a:off x="1423418" y="66791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4" name="Google Shape;194;p2"/>
          <p:cNvGrpSpPr/>
          <p:nvPr/>
        </p:nvGrpSpPr>
        <p:grpSpPr>
          <a:xfrm>
            <a:off x="1191617" y="7247487"/>
            <a:ext cx="8616060" cy="845385"/>
            <a:chOff x="0" y="-38655"/>
            <a:chExt cx="1964221" cy="359923"/>
          </a:xfrm>
        </p:grpSpPr>
        <p:sp>
          <p:nvSpPr>
            <p:cNvPr id="195" name="Google Shape;1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Modelos Estrella, Copo de Nieve, Constelación</a:t>
              </a:r>
              <a:endParaRPr sz="1800">
                <a:solidFill>
                  <a:schemeClr val="dk1"/>
                </a:solidFill>
                <a:latin typeface="Corbel"/>
                <a:ea typeface="Corbel"/>
                <a:cs typeface="Corbel"/>
                <a:sym typeface="Corbel"/>
              </a:endParaRPr>
            </a:p>
          </p:txBody>
        </p:sp>
      </p:grpSp>
      <p:sp>
        <p:nvSpPr>
          <p:cNvPr id="197" name="Google Shape;197;p2"/>
          <p:cNvSpPr/>
          <p:nvPr/>
        </p:nvSpPr>
        <p:spPr>
          <a:xfrm>
            <a:off x="1307518" y="740642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8" name="Google Shape;198;p2"/>
          <p:cNvGrpSpPr/>
          <p:nvPr/>
        </p:nvGrpSpPr>
        <p:grpSpPr>
          <a:xfrm>
            <a:off x="1929160" y="7962643"/>
            <a:ext cx="7997703" cy="845385"/>
            <a:chOff x="0" y="-38655"/>
            <a:chExt cx="1964221" cy="359923"/>
          </a:xfrm>
        </p:grpSpPr>
        <p:sp>
          <p:nvSpPr>
            <p:cNvPr id="199" name="Google Shape;19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0" name="Google Shape;200;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Optimización de cubos multidimensionales</a:t>
              </a:r>
              <a:endParaRPr sz="1800">
                <a:solidFill>
                  <a:schemeClr val="dk1"/>
                </a:solidFill>
                <a:latin typeface="Corbel"/>
                <a:ea typeface="Corbel"/>
                <a:cs typeface="Corbel"/>
                <a:sym typeface="Corbel"/>
              </a:endParaRPr>
            </a:p>
          </p:txBody>
        </p:sp>
      </p:grpSp>
      <p:sp>
        <p:nvSpPr>
          <p:cNvPr id="201" name="Google Shape;201;p2"/>
          <p:cNvSpPr/>
          <p:nvPr/>
        </p:nvSpPr>
        <p:spPr>
          <a:xfrm>
            <a:off x="2045061" y="81215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5" name="Shape 205"/>
        <p:cNvGrpSpPr/>
        <p:nvPr/>
      </p:nvGrpSpPr>
      <p:grpSpPr>
        <a:xfrm>
          <a:off x="0" y="0"/>
          <a:ext cx="0" cy="0"/>
          <a:chOff x="0" y="0"/>
          <a:chExt cx="0" cy="0"/>
        </a:xfrm>
      </p:grpSpPr>
      <p:sp>
        <p:nvSpPr>
          <p:cNvPr id="206" name="Google Shape;206;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207" name="Google Shape;207;p22"/>
          <p:cNvGrpSpPr/>
          <p:nvPr/>
        </p:nvGrpSpPr>
        <p:grpSpPr>
          <a:xfrm flipH="1">
            <a:off x="9789314" y="0"/>
            <a:ext cx="7522369" cy="10294145"/>
            <a:chOff x="2928938" y="-4763"/>
            <a:chExt cx="5014912" cy="6862763"/>
          </a:xfrm>
        </p:grpSpPr>
        <p:sp>
          <p:nvSpPr>
            <p:cNvPr id="208" name="Google Shape;208;p2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09" name="Google Shape;209;p2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0" name="Google Shape;210;p2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1" name="Google Shape;211;p2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2" name="Google Shape;212;p2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3" name="Google Shape;213;p2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214" name="Google Shape;214;p22"/>
          <p:cNvSpPr txBox="1"/>
          <p:nvPr>
            <p:ph type="title"/>
          </p:nvPr>
        </p:nvSpPr>
        <p:spPr>
          <a:xfrm>
            <a:off x="1527286" y="1028700"/>
            <a:ext cx="11117738" cy="262889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6000"/>
              <a:buFont typeface="Impact"/>
              <a:buNone/>
            </a:pPr>
            <a:r>
              <a:rPr i="0" lang="en-US" u="none" cap="none" strike="noStrike">
                <a:latin typeface="Impact"/>
                <a:ea typeface="Impact"/>
                <a:cs typeface="Impact"/>
                <a:sym typeface="Impact"/>
              </a:rPr>
              <a:t>COMPETENCIA(S) QUE DESARROLLAREMOS</a:t>
            </a:r>
            <a:endParaRPr/>
          </a:p>
        </p:txBody>
      </p:sp>
      <p:sp>
        <p:nvSpPr>
          <p:cNvPr id="215" name="Google Shape;215;p22"/>
          <p:cNvSpPr txBox="1"/>
          <p:nvPr>
            <p:ph idx="1" type="body"/>
          </p:nvPr>
        </p:nvSpPr>
        <p:spPr>
          <a:xfrm>
            <a:off x="1527285" y="4000497"/>
            <a:ext cx="10865404" cy="5792431"/>
          </a:xfrm>
          <a:prstGeom prst="rect">
            <a:avLst/>
          </a:prstGeom>
          <a:noFill/>
          <a:ln>
            <a:noFill/>
          </a:ln>
        </p:spPr>
        <p:txBody>
          <a:bodyPr anchorCtr="0" anchor="t" bIns="45700" lIns="91425" spcFirstLastPara="1" rIns="91425" wrap="square" tIns="45700">
            <a:noAutofit/>
          </a:bodyPr>
          <a:lstStyle/>
          <a:p>
            <a:pPr indent="-441960" lvl="0" marL="428625" rtl="0" algn="l">
              <a:spcBef>
                <a:spcPts val="0"/>
              </a:spcBef>
              <a:spcAft>
                <a:spcPts val="0"/>
              </a:spcAft>
              <a:buSzPts val="6960"/>
              <a:buChar char="•"/>
            </a:pPr>
            <a:r>
              <a:rPr lang="en-US" sz="4800">
                <a:latin typeface="Open Sans"/>
                <a:ea typeface="Open Sans"/>
                <a:cs typeface="Open Sans"/>
                <a:sym typeface="Open Sans"/>
              </a:rPr>
              <a:t>D</a:t>
            </a:r>
            <a:r>
              <a:rPr i="0" lang="en-US" sz="4800" u="none" cap="none" strike="noStrike">
                <a:latin typeface="Open Sans"/>
                <a:ea typeface="Open Sans"/>
                <a:cs typeface="Open Sans"/>
                <a:sym typeface="Open Sans"/>
              </a:rPr>
              <a:t>iseña modelos de análisis multidimensional y cubos OLAP utilizando herramientas como Power BI y Excel para representar datos y facilitar la toma de decisiones en contextos empresariales.</a:t>
            </a:r>
            <a:endParaRPr sz="48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 name="Shape 219"/>
        <p:cNvGrpSpPr/>
        <p:nvPr/>
      </p:nvGrpSpPr>
      <p:grpSpPr>
        <a:xfrm>
          <a:off x="0" y="0"/>
          <a:ext cx="0" cy="0"/>
          <a:chOff x="0" y="0"/>
          <a:chExt cx="0" cy="0"/>
        </a:xfrm>
      </p:grpSpPr>
      <p:sp>
        <p:nvSpPr>
          <p:cNvPr id="220" name="Google Shape;220;p2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21" name="Google Shape;221;p2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Definición de cubo multidimensional</a:t>
            </a:r>
            <a:endParaRPr/>
          </a:p>
        </p:txBody>
      </p:sp>
      <p:sp>
        <p:nvSpPr>
          <p:cNvPr id="222" name="Google Shape;222;p2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23" name="Google Shape;223;p2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4" name="Google Shape;224;p2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5" name="Google Shape;225;p2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6" name="Google Shape;226;p2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7" name="Google Shape;227;p2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8" name="Google Shape;228;p2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9" name="Google Shape;229;p2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Un cubo es una estructura multidimensional que </a:t>
            </a:r>
            <a:r>
              <a:rPr b="1" lang="en-US" sz="4400">
                <a:latin typeface="Open Sans"/>
                <a:ea typeface="Open Sans"/>
                <a:cs typeface="Open Sans"/>
                <a:sym typeface="Open Sans"/>
              </a:rPr>
              <a:t>contiene información</a:t>
            </a:r>
            <a:r>
              <a:rPr lang="en-US" sz="4400">
                <a:latin typeface="Open Sans"/>
                <a:ea typeface="Open Sans"/>
                <a:cs typeface="Open Sans"/>
                <a:sym typeface="Open Sans"/>
              </a:rPr>
              <a:t> con fines analíticos; sus componentes principales son </a:t>
            </a:r>
            <a:r>
              <a:rPr b="1" lang="en-US" sz="4400">
                <a:latin typeface="Open Sans"/>
                <a:ea typeface="Open Sans"/>
                <a:cs typeface="Open Sans"/>
                <a:sym typeface="Open Sans"/>
              </a:rPr>
              <a:t>las dimensiones y las medidas</a:t>
            </a:r>
            <a:r>
              <a:rPr lang="en-US" sz="4400">
                <a:latin typeface="Open Sans"/>
                <a:ea typeface="Open Sans"/>
                <a:cs typeface="Open Sans"/>
                <a:sym typeface="Open Sans"/>
              </a:rPr>
              <a:t>. Las dimensiones definen la estructura del cubo que se utiliza para </a:t>
            </a:r>
            <a:r>
              <a:rPr b="1" lang="en-US" sz="4400">
                <a:latin typeface="Open Sans"/>
                <a:ea typeface="Open Sans"/>
                <a:cs typeface="Open Sans"/>
                <a:sym typeface="Open Sans"/>
              </a:rPr>
              <a:t>segmentar y dividir los datos</a:t>
            </a:r>
            <a:r>
              <a:rPr lang="en-US" sz="4400">
                <a:latin typeface="Open Sans"/>
                <a:ea typeface="Open Sans"/>
                <a:cs typeface="Open Sans"/>
                <a:sym typeface="Open Sans"/>
              </a:rPr>
              <a:t>, y las medidas proporcionan </a:t>
            </a:r>
            <a:r>
              <a:rPr b="1" lang="en-US" sz="4400">
                <a:latin typeface="Open Sans"/>
                <a:ea typeface="Open Sans"/>
                <a:cs typeface="Open Sans"/>
                <a:sym typeface="Open Sans"/>
              </a:rPr>
              <a:t>valores numéricos</a:t>
            </a:r>
            <a:r>
              <a:rPr lang="en-US" sz="4400">
                <a:latin typeface="Open Sans"/>
                <a:ea typeface="Open Sans"/>
                <a:cs typeface="Open Sans"/>
                <a:sym typeface="Open Sans"/>
              </a:rPr>
              <a:t> agregados importantes para el usuario final.</a:t>
            </a:r>
            <a:endParaRPr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 name="Shape 233"/>
        <p:cNvGrpSpPr/>
        <p:nvPr/>
      </p:nvGrpSpPr>
      <p:grpSpPr>
        <a:xfrm>
          <a:off x="0" y="0"/>
          <a:ext cx="0" cy="0"/>
          <a:chOff x="0" y="0"/>
          <a:chExt cx="0" cy="0"/>
        </a:xfrm>
      </p:grpSpPr>
      <p:sp>
        <p:nvSpPr>
          <p:cNvPr id="234" name="Google Shape;234;p2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35" name="Google Shape;235;p2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Definición de cubo multidimensional</a:t>
            </a:r>
            <a:endParaRPr/>
          </a:p>
        </p:txBody>
      </p:sp>
      <p:sp>
        <p:nvSpPr>
          <p:cNvPr id="236" name="Google Shape;236;p2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7" name="Google Shape;237;p2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8" name="Google Shape;238;p2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9" name="Google Shape;239;p2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0" name="Google Shape;240;p2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1" name="Google Shape;241;p2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2" name="Google Shape;242;p2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3" name="Google Shape;243;p2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Autofit/>
          </a:bodyPr>
          <a:lstStyle/>
          <a:p>
            <a:pPr indent="-428625" lvl="0" marL="428625" rtl="0" algn="l">
              <a:spcBef>
                <a:spcPts val="0"/>
              </a:spcBef>
              <a:spcAft>
                <a:spcPts val="0"/>
              </a:spcAft>
              <a:buSzPts val="5800"/>
              <a:buChar char="•"/>
            </a:pPr>
            <a:r>
              <a:rPr lang="en-US" sz="4000">
                <a:latin typeface="Open Sans"/>
                <a:ea typeface="Open Sans"/>
                <a:cs typeface="Open Sans"/>
                <a:sym typeface="Open Sans"/>
              </a:rPr>
              <a:t>Como estructura lógica, un cubo permite a una </a:t>
            </a:r>
            <a:r>
              <a:rPr b="1" lang="en-US" sz="4000">
                <a:latin typeface="Open Sans"/>
                <a:ea typeface="Open Sans"/>
                <a:cs typeface="Open Sans"/>
                <a:sym typeface="Open Sans"/>
              </a:rPr>
              <a:t>aplicación cliente </a:t>
            </a:r>
            <a:r>
              <a:rPr lang="en-US" sz="4000">
                <a:latin typeface="Open Sans"/>
                <a:ea typeface="Open Sans"/>
                <a:cs typeface="Open Sans"/>
                <a:sym typeface="Open Sans"/>
              </a:rPr>
              <a:t>recuperar valores, de medidas, como si estuvieran almacenados en las celdas del cubo; las celdas se definen para cada posible valor resumido. Las celdas del cubo se definen por la intersección de miembros de dimensión y contienen los valores agregados de las medidas en esa intersección concreta.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25"/>
          <p:cNvSpPr/>
          <p:nvPr/>
        </p:nvSpPr>
        <p:spPr>
          <a:xfrm>
            <a:off x="11604459" y="1"/>
            <a:ext cx="6683541"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49" name="Google Shape;249;p25"/>
          <p:cNvSpPr txBox="1"/>
          <p:nvPr>
            <p:ph type="title"/>
          </p:nvPr>
        </p:nvSpPr>
        <p:spPr>
          <a:xfrm>
            <a:off x="13757088" y="1611588"/>
            <a:ext cx="3665149" cy="656694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4700"/>
              <a:buFont typeface="Impact"/>
              <a:buNone/>
            </a:pPr>
            <a:r>
              <a:rPr i="0" lang="en-US" sz="4700" u="none" cap="none" strike="noStrike">
                <a:solidFill>
                  <a:srgbClr val="000000"/>
                </a:solidFill>
                <a:latin typeface="Impact"/>
                <a:ea typeface="Impact"/>
                <a:cs typeface="Impact"/>
                <a:sym typeface="Impact"/>
              </a:rPr>
              <a:t>Componentes de los cubos</a:t>
            </a:r>
            <a:endParaRPr sz="4700">
              <a:solidFill>
                <a:srgbClr val="000000"/>
              </a:solidFill>
            </a:endParaRPr>
          </a:p>
        </p:txBody>
      </p:sp>
      <p:sp>
        <p:nvSpPr>
          <p:cNvPr id="250" name="Google Shape;250;p25"/>
          <p:cNvSpPr/>
          <p:nvPr/>
        </p:nvSpPr>
        <p:spPr>
          <a:xfrm flipH="1" rot="10800000">
            <a:off x="0" y="0"/>
            <a:ext cx="13548150" cy="10287000"/>
          </a:xfrm>
          <a:custGeom>
            <a:rect b="b" l="l" r="r" t="t"/>
            <a:pathLst>
              <a:path extrusionOk="0" h="6858000" w="9032100">
                <a:moveTo>
                  <a:pt x="7891921" y="1602751"/>
                </a:moveTo>
                <a:lnTo>
                  <a:pt x="9032100" y="0"/>
                </a:lnTo>
                <a:lnTo>
                  <a:pt x="7880182" y="0"/>
                </a:lnTo>
                <a:lnTo>
                  <a:pt x="7880182" y="1528762"/>
                </a:lnTo>
                <a:close/>
                <a:moveTo>
                  <a:pt x="7880182" y="6858000"/>
                </a:moveTo>
                <a:lnTo>
                  <a:pt x="8725712" y="6858000"/>
                </a:lnTo>
                <a:lnTo>
                  <a:pt x="7891921" y="1602751"/>
                </a:lnTo>
                <a:lnTo>
                  <a:pt x="7880182" y="1619252"/>
                </a:lnTo>
                <a:close/>
                <a:moveTo>
                  <a:pt x="0" y="6858000"/>
                </a:moveTo>
                <a:lnTo>
                  <a:pt x="7880181" y="6858000"/>
                </a:lnTo>
                <a:lnTo>
                  <a:pt x="7880181" y="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grpSp>
        <p:nvGrpSpPr>
          <p:cNvPr id="251" name="Google Shape;251;p25"/>
          <p:cNvGrpSpPr/>
          <p:nvPr/>
        </p:nvGrpSpPr>
        <p:grpSpPr>
          <a:xfrm>
            <a:off x="11914000" y="0"/>
            <a:ext cx="3655220" cy="10287002"/>
            <a:chOff x="1320800" y="0"/>
            <a:chExt cx="2436813" cy="6858001"/>
          </a:xfrm>
        </p:grpSpPr>
        <p:sp>
          <p:nvSpPr>
            <p:cNvPr id="252" name="Google Shape;252;p25"/>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3" name="Google Shape;253;p25"/>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4" name="Google Shape;254;p25"/>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5" name="Google Shape;255;p25"/>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6" name="Google Shape;256;p25"/>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7" name="Google Shape;257;p25"/>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aphicFrame>
        <p:nvGraphicFramePr>
          <p:cNvPr id="258" name="Google Shape;258;p25"/>
          <p:cNvGraphicFramePr/>
          <p:nvPr/>
        </p:nvGraphicFramePr>
        <p:xfrm>
          <a:off x="75021" y="191800"/>
          <a:ext cx="3000000" cy="3000000"/>
        </p:xfrm>
        <a:graphic>
          <a:graphicData uri="http://schemas.openxmlformats.org/drawingml/2006/table">
            <a:tbl>
              <a:tblPr bandRow="1" firstRow="1">
                <a:noFill/>
                <a:tableStyleId>{D1165E2D-3D91-4631-B8AC-E3FB307869EA}</a:tableStyleId>
              </a:tblPr>
              <a:tblGrid>
                <a:gridCol w="3800900"/>
                <a:gridCol w="8113100"/>
              </a:tblGrid>
              <a:tr h="414600">
                <a:tc>
                  <a:txBody>
                    <a:bodyPr/>
                    <a:lstStyle/>
                    <a:p>
                      <a:pPr indent="0" lvl="0" marL="0" marR="0" rtl="0" algn="l">
                        <a:spcBef>
                          <a:spcPts val="0"/>
                        </a:spcBef>
                        <a:spcAft>
                          <a:spcPts val="0"/>
                        </a:spcAft>
                        <a:buNone/>
                      </a:pPr>
                      <a:r>
                        <a:rPr lang="en-US" sz="2800" u="none" cap="none" strike="noStrike"/>
                        <a:t>Elemento</a:t>
                      </a:r>
                      <a:endParaRPr/>
                    </a:p>
                  </a:txBody>
                  <a:tcPr marT="47125" marB="47125" marR="94225" marL="94225"/>
                </a:tc>
                <a:tc>
                  <a:txBody>
                    <a:bodyPr/>
                    <a:lstStyle/>
                    <a:p>
                      <a:pPr indent="0" lvl="0" marL="0" marR="0" rtl="0" algn="l">
                        <a:spcBef>
                          <a:spcPts val="0"/>
                        </a:spcBef>
                        <a:spcAft>
                          <a:spcPts val="0"/>
                        </a:spcAft>
                        <a:buNone/>
                      </a:pPr>
                      <a:r>
                        <a:rPr lang="en-US" sz="2800"/>
                        <a:t>Descripción</a:t>
                      </a:r>
                      <a:endParaRPr/>
                    </a:p>
                  </a:txBody>
                  <a:tcPr marT="47125" marB="47125" marR="94225" marL="94225"/>
                </a:tc>
              </a:tr>
              <a:tr h="697300">
                <a:tc>
                  <a:txBody>
                    <a:bodyPr/>
                    <a:lstStyle/>
                    <a:p>
                      <a:pPr indent="0" lvl="0" marL="0" marR="0" rtl="0" algn="l">
                        <a:spcBef>
                          <a:spcPts val="0"/>
                        </a:spcBef>
                        <a:spcAft>
                          <a:spcPts val="0"/>
                        </a:spcAft>
                        <a:buNone/>
                      </a:pPr>
                      <a:r>
                        <a:rPr lang="en-US" sz="2800"/>
                        <a:t>Dimensiones</a:t>
                      </a:r>
                      <a:endParaRPr/>
                    </a:p>
                  </a:txBody>
                  <a:tcPr marT="47125" marB="47125" marR="94225" marL="94225"/>
                </a:tc>
                <a:tc>
                  <a:txBody>
                    <a:bodyPr/>
                    <a:lstStyle/>
                    <a:p>
                      <a:pPr indent="0" lvl="0" marL="0" marR="0" rtl="0" algn="l">
                        <a:spcBef>
                          <a:spcPts val="0"/>
                        </a:spcBef>
                        <a:spcAft>
                          <a:spcPts val="0"/>
                        </a:spcAft>
                        <a:buNone/>
                      </a:pPr>
                      <a:r>
                        <a:rPr lang="en-US" sz="2800"/>
                        <a:t>Son los ejes por los que se desea analizar la información. Ej.: tiempo, producto, cliente, región.</a:t>
                      </a:r>
                      <a:endParaRPr/>
                    </a:p>
                  </a:txBody>
                  <a:tcPr marT="47125" marB="47125" marR="94225" marL="94225"/>
                </a:tc>
              </a:tr>
              <a:tr h="697300">
                <a:tc>
                  <a:txBody>
                    <a:bodyPr/>
                    <a:lstStyle/>
                    <a:p>
                      <a:pPr indent="0" lvl="0" marL="0" marR="0" rtl="0" algn="l">
                        <a:spcBef>
                          <a:spcPts val="0"/>
                        </a:spcBef>
                        <a:spcAft>
                          <a:spcPts val="0"/>
                        </a:spcAft>
                        <a:buNone/>
                      </a:pPr>
                      <a:r>
                        <a:rPr lang="en-US" sz="2800"/>
                        <a:t>Medida y grupos de medida</a:t>
                      </a:r>
                      <a:endParaRPr/>
                    </a:p>
                  </a:txBody>
                  <a:tcPr marT="47125" marB="47125" marR="94225" marL="94225"/>
                </a:tc>
                <a:tc>
                  <a:txBody>
                    <a:bodyPr/>
                    <a:lstStyle/>
                    <a:p>
                      <a:pPr indent="0" lvl="0" marL="0" marR="0" rtl="0" algn="l">
                        <a:spcBef>
                          <a:spcPts val="0"/>
                        </a:spcBef>
                        <a:spcAft>
                          <a:spcPts val="0"/>
                        </a:spcAft>
                        <a:buNone/>
                      </a:pPr>
                      <a:r>
                        <a:rPr lang="en-US" sz="2800"/>
                        <a:t>Son los datos cuantitativos que se analizan (ej. ventas, costos, unidades). Se agrupan en temas comunes.</a:t>
                      </a:r>
                      <a:endParaRPr/>
                    </a:p>
                  </a:txBody>
                  <a:tcPr marT="47125" marB="47125" marR="94225" marL="94225"/>
                </a:tc>
              </a:tr>
              <a:tr h="697300">
                <a:tc>
                  <a:txBody>
                    <a:bodyPr/>
                    <a:lstStyle/>
                    <a:p>
                      <a:pPr indent="0" lvl="0" marL="0" marR="0" rtl="0" algn="l">
                        <a:spcBef>
                          <a:spcPts val="0"/>
                        </a:spcBef>
                        <a:spcAft>
                          <a:spcPts val="0"/>
                        </a:spcAft>
                        <a:buNone/>
                      </a:pPr>
                      <a:r>
                        <a:rPr lang="en-US" sz="2800"/>
                        <a:t>Particiones</a:t>
                      </a:r>
                      <a:endParaRPr/>
                    </a:p>
                  </a:txBody>
                  <a:tcPr marT="47125" marB="47125" marR="94225" marL="94225"/>
                </a:tc>
                <a:tc>
                  <a:txBody>
                    <a:bodyPr/>
                    <a:lstStyle/>
                    <a:p>
                      <a:pPr indent="0" lvl="0" marL="0" marR="0" rtl="0" algn="l">
                        <a:spcBef>
                          <a:spcPts val="0"/>
                        </a:spcBef>
                        <a:spcAft>
                          <a:spcPts val="0"/>
                        </a:spcAft>
                        <a:buNone/>
                      </a:pPr>
                      <a:r>
                        <a:rPr lang="en-US" sz="2800"/>
                        <a:t>Dividen grandes volúmenes de datos en partes más pequeñas para mejorar el rendimiento del análisis.</a:t>
                      </a:r>
                      <a:endParaRPr/>
                    </a:p>
                  </a:txBody>
                  <a:tcPr marT="47125" marB="47125" marR="94225" marL="94225"/>
                </a:tc>
              </a:tr>
              <a:tr h="697300">
                <a:tc>
                  <a:txBody>
                    <a:bodyPr/>
                    <a:lstStyle/>
                    <a:p>
                      <a:pPr indent="0" lvl="0" marL="0" marR="0" rtl="0" algn="l">
                        <a:spcBef>
                          <a:spcPts val="0"/>
                        </a:spcBef>
                        <a:spcAft>
                          <a:spcPts val="0"/>
                        </a:spcAft>
                        <a:buNone/>
                      </a:pPr>
                      <a:r>
                        <a:rPr lang="en-US" sz="2800"/>
                        <a:t>Perspectivas</a:t>
                      </a:r>
                      <a:endParaRPr/>
                    </a:p>
                  </a:txBody>
                  <a:tcPr marT="47125" marB="47125" marR="94225" marL="94225"/>
                </a:tc>
                <a:tc>
                  <a:txBody>
                    <a:bodyPr/>
                    <a:lstStyle/>
                    <a:p>
                      <a:pPr indent="0" lvl="0" marL="0" marR="0" rtl="0" algn="l">
                        <a:spcBef>
                          <a:spcPts val="0"/>
                        </a:spcBef>
                        <a:spcAft>
                          <a:spcPts val="0"/>
                        </a:spcAft>
                        <a:buNone/>
                      </a:pPr>
                      <a:r>
                        <a:rPr lang="en-US" sz="2800"/>
                        <a:t>Son vistas personalizadas del cubo que muestran solo la información relevante para un tipo de usuario.</a:t>
                      </a:r>
                      <a:endParaRPr/>
                    </a:p>
                  </a:txBody>
                  <a:tcPr marT="47125" marB="47125" marR="94225" marL="94225"/>
                </a:tc>
              </a:tr>
              <a:tr h="697300">
                <a:tc>
                  <a:txBody>
                    <a:bodyPr/>
                    <a:lstStyle/>
                    <a:p>
                      <a:pPr indent="0" lvl="0" marL="0" marR="0" rtl="0" algn="l">
                        <a:spcBef>
                          <a:spcPts val="0"/>
                        </a:spcBef>
                        <a:spcAft>
                          <a:spcPts val="0"/>
                        </a:spcAft>
                        <a:buNone/>
                      </a:pPr>
                      <a:r>
                        <a:rPr lang="en-US" sz="2800"/>
                        <a:t>Jerarquías</a:t>
                      </a:r>
                      <a:endParaRPr/>
                    </a:p>
                  </a:txBody>
                  <a:tcPr marT="47125" marB="47125" marR="94225" marL="94225"/>
                </a:tc>
                <a:tc>
                  <a:txBody>
                    <a:bodyPr/>
                    <a:lstStyle/>
                    <a:p>
                      <a:pPr indent="0" lvl="0" marL="0" marR="0" rtl="0" algn="l">
                        <a:spcBef>
                          <a:spcPts val="0"/>
                        </a:spcBef>
                        <a:spcAft>
                          <a:spcPts val="0"/>
                        </a:spcAft>
                        <a:buNone/>
                      </a:pPr>
                      <a:r>
                        <a:rPr lang="en-US" sz="2800"/>
                        <a:t>Estructuras dentro de una dimensión que permiten el análisis en distintos niveles. Ej.: año → trimestre → mes.</a:t>
                      </a:r>
                      <a:endParaRPr/>
                    </a:p>
                  </a:txBody>
                  <a:tcPr marT="47125" marB="47125" marR="94225" marL="94225"/>
                </a:tc>
              </a:tr>
              <a:tr h="697300">
                <a:tc>
                  <a:txBody>
                    <a:bodyPr/>
                    <a:lstStyle/>
                    <a:p>
                      <a:pPr indent="0" lvl="0" marL="0" marR="0" rtl="0" algn="l">
                        <a:spcBef>
                          <a:spcPts val="0"/>
                        </a:spcBef>
                        <a:spcAft>
                          <a:spcPts val="0"/>
                        </a:spcAft>
                        <a:buNone/>
                      </a:pPr>
                      <a:r>
                        <a:rPr lang="en-US" sz="2800"/>
                        <a:t>Acciones</a:t>
                      </a:r>
                      <a:endParaRPr/>
                    </a:p>
                  </a:txBody>
                  <a:tcPr marT="47125" marB="47125" marR="94225" marL="94225"/>
                </a:tc>
                <a:tc>
                  <a:txBody>
                    <a:bodyPr/>
                    <a:lstStyle/>
                    <a:p>
                      <a:pPr indent="0" lvl="0" marL="0" marR="0" rtl="0" algn="l">
                        <a:spcBef>
                          <a:spcPts val="0"/>
                        </a:spcBef>
                        <a:spcAft>
                          <a:spcPts val="0"/>
                        </a:spcAft>
                        <a:buNone/>
                      </a:pPr>
                      <a:r>
                        <a:rPr lang="en-US" sz="2800"/>
                        <a:t>Comportamientos definidos que se activan al interactuar con el cubo, como abrir un informe o un enlace.</a:t>
                      </a:r>
                      <a:endParaRPr/>
                    </a:p>
                  </a:txBody>
                  <a:tcPr marT="47125" marB="47125" marR="94225" marL="94225"/>
                </a:tc>
              </a:tr>
              <a:tr h="697300">
                <a:tc>
                  <a:txBody>
                    <a:bodyPr/>
                    <a:lstStyle/>
                    <a:p>
                      <a:pPr indent="0" lvl="0" marL="0" marR="0" rtl="0" algn="l">
                        <a:spcBef>
                          <a:spcPts val="0"/>
                        </a:spcBef>
                        <a:spcAft>
                          <a:spcPts val="0"/>
                        </a:spcAft>
                        <a:buNone/>
                      </a:pPr>
                      <a:r>
                        <a:rPr lang="en-US" sz="2800"/>
                        <a:t>Indicadores clave de rendimiento (KPI)</a:t>
                      </a:r>
                      <a:endParaRPr/>
                    </a:p>
                  </a:txBody>
                  <a:tcPr marT="47125" marB="47125" marR="94225" marL="94225"/>
                </a:tc>
                <a:tc>
                  <a:txBody>
                    <a:bodyPr/>
                    <a:lstStyle/>
                    <a:p>
                      <a:pPr indent="0" lvl="0" marL="0" marR="0" rtl="0" algn="l">
                        <a:spcBef>
                          <a:spcPts val="0"/>
                        </a:spcBef>
                        <a:spcAft>
                          <a:spcPts val="0"/>
                        </a:spcAft>
                        <a:buNone/>
                      </a:pPr>
                      <a:r>
                        <a:rPr lang="en-US" sz="2800"/>
                        <a:t>Métricas predefinidas para evaluar el desempeño, como metas de ventas o niveles de satisfacción.</a:t>
                      </a:r>
                      <a:endParaRPr/>
                    </a:p>
                  </a:txBody>
                  <a:tcPr marT="47125" marB="47125" marR="94225" marL="94225"/>
                </a:tc>
              </a:tr>
              <a:tr h="697300">
                <a:tc>
                  <a:txBody>
                    <a:bodyPr/>
                    <a:lstStyle/>
                    <a:p>
                      <a:pPr indent="0" lvl="0" marL="0" marR="0" rtl="0" algn="l">
                        <a:spcBef>
                          <a:spcPts val="0"/>
                        </a:spcBef>
                        <a:spcAft>
                          <a:spcPts val="0"/>
                        </a:spcAft>
                        <a:buNone/>
                      </a:pPr>
                      <a:r>
                        <a:rPr lang="en-US" sz="2800"/>
                        <a:t>Cálculos</a:t>
                      </a:r>
                      <a:endParaRPr/>
                    </a:p>
                  </a:txBody>
                  <a:tcPr marT="47125" marB="47125" marR="94225" marL="94225"/>
                </a:tc>
                <a:tc>
                  <a:txBody>
                    <a:bodyPr/>
                    <a:lstStyle/>
                    <a:p>
                      <a:pPr indent="0" lvl="0" marL="0" marR="0" rtl="0" algn="l">
                        <a:spcBef>
                          <a:spcPts val="0"/>
                        </a:spcBef>
                        <a:spcAft>
                          <a:spcPts val="0"/>
                        </a:spcAft>
                        <a:buNone/>
                      </a:pPr>
                      <a:r>
                        <a:rPr lang="en-US" sz="2800"/>
                        <a:t>Medidas calculadas sobre otras, como porcentajes o tasas de crecimiento. Se definen dentro del cubo.</a:t>
                      </a:r>
                      <a:endParaRPr/>
                    </a:p>
                  </a:txBody>
                  <a:tcPr marT="47125" marB="47125" marR="94225" marL="94225"/>
                </a:tc>
              </a:tr>
              <a:tr h="697300">
                <a:tc>
                  <a:txBody>
                    <a:bodyPr/>
                    <a:lstStyle/>
                    <a:p>
                      <a:pPr indent="0" lvl="0" marL="0" marR="0" rtl="0" algn="l">
                        <a:spcBef>
                          <a:spcPts val="0"/>
                        </a:spcBef>
                        <a:spcAft>
                          <a:spcPts val="0"/>
                        </a:spcAft>
                        <a:buNone/>
                      </a:pPr>
                      <a:r>
                        <a:rPr lang="en-US" sz="2800"/>
                        <a:t>Traducciones</a:t>
                      </a:r>
                      <a:endParaRPr/>
                    </a:p>
                  </a:txBody>
                  <a:tcPr marT="47125" marB="47125" marR="94225" marL="94225"/>
                </a:tc>
                <a:tc>
                  <a:txBody>
                    <a:bodyPr/>
                    <a:lstStyle/>
                    <a:p>
                      <a:pPr indent="0" lvl="0" marL="0" marR="0" rtl="0" algn="l">
                        <a:spcBef>
                          <a:spcPts val="0"/>
                        </a:spcBef>
                        <a:spcAft>
                          <a:spcPts val="0"/>
                        </a:spcAft>
                        <a:buNone/>
                      </a:pPr>
                      <a:r>
                        <a:rPr lang="en-US" sz="2800"/>
                        <a:t>Permiten mostrar los nombres de elementos del cubo en distintos idiomas para usuarios internacionales.</a:t>
                      </a:r>
                      <a:endParaRPr/>
                    </a:p>
                  </a:txBody>
                  <a:tcPr marT="47125" marB="47125" marR="94225" marL="94225"/>
                </a:tc>
              </a:tr>
            </a:tbl>
          </a:graphicData>
        </a:graphic>
      </p:graphicFrame>
    </p:spTree>
  </p:cSld>
  <p:clrMapOvr>
    <a:masterClrMapping/>
  </p:clrMapOvr>
  <mc:AlternateContent>
    <mc:Choice Requires="p14">
      <p:transition spd="slow" p14:dur="1300">
        <p14:pan dir="u"/>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p26"/>
          <p:cNvSpPr/>
          <p:nvPr/>
        </p:nvSpPr>
        <p:spPr>
          <a:xfrm>
            <a:off x="11604459" y="1"/>
            <a:ext cx="6683541"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4" name="Google Shape;264;p26"/>
          <p:cNvSpPr txBox="1"/>
          <p:nvPr>
            <p:ph type="title"/>
          </p:nvPr>
        </p:nvSpPr>
        <p:spPr>
          <a:xfrm>
            <a:off x="13757088" y="1611588"/>
            <a:ext cx="3665149" cy="656694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4700"/>
              <a:buFont typeface="Impact"/>
              <a:buNone/>
            </a:pPr>
            <a:r>
              <a:rPr i="0" lang="en-US" sz="4700" u="none" cap="none" strike="noStrike">
                <a:solidFill>
                  <a:srgbClr val="000000"/>
                </a:solidFill>
                <a:latin typeface="Impact"/>
                <a:ea typeface="Impact"/>
                <a:cs typeface="Impact"/>
                <a:sym typeface="Impact"/>
              </a:rPr>
              <a:t>Componentes de los cubos</a:t>
            </a:r>
            <a:endParaRPr sz="4700">
              <a:solidFill>
                <a:srgbClr val="000000"/>
              </a:solidFill>
            </a:endParaRPr>
          </a:p>
        </p:txBody>
      </p:sp>
      <p:sp>
        <p:nvSpPr>
          <p:cNvPr id="265" name="Google Shape;265;p26"/>
          <p:cNvSpPr/>
          <p:nvPr/>
        </p:nvSpPr>
        <p:spPr>
          <a:xfrm flipH="1" rot="10800000">
            <a:off x="0" y="0"/>
            <a:ext cx="13548150" cy="10287000"/>
          </a:xfrm>
          <a:custGeom>
            <a:rect b="b" l="l" r="r" t="t"/>
            <a:pathLst>
              <a:path extrusionOk="0" h="6858000" w="9032100">
                <a:moveTo>
                  <a:pt x="7891921" y="1602751"/>
                </a:moveTo>
                <a:lnTo>
                  <a:pt x="9032100" y="0"/>
                </a:lnTo>
                <a:lnTo>
                  <a:pt x="7880182" y="0"/>
                </a:lnTo>
                <a:lnTo>
                  <a:pt x="7880182" y="1528762"/>
                </a:lnTo>
                <a:close/>
                <a:moveTo>
                  <a:pt x="7880182" y="6858000"/>
                </a:moveTo>
                <a:lnTo>
                  <a:pt x="8725712" y="6858000"/>
                </a:lnTo>
                <a:lnTo>
                  <a:pt x="7891921" y="1602751"/>
                </a:lnTo>
                <a:lnTo>
                  <a:pt x="7880182" y="1619252"/>
                </a:lnTo>
                <a:close/>
                <a:moveTo>
                  <a:pt x="0" y="6858000"/>
                </a:moveTo>
                <a:lnTo>
                  <a:pt x="7880181" y="6858000"/>
                </a:lnTo>
                <a:lnTo>
                  <a:pt x="7880181" y="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grpSp>
        <p:nvGrpSpPr>
          <p:cNvPr id="266" name="Google Shape;266;p26"/>
          <p:cNvGrpSpPr/>
          <p:nvPr/>
        </p:nvGrpSpPr>
        <p:grpSpPr>
          <a:xfrm>
            <a:off x="11914000" y="0"/>
            <a:ext cx="3655220" cy="10287002"/>
            <a:chOff x="1320800" y="0"/>
            <a:chExt cx="2436813" cy="6858001"/>
          </a:xfrm>
        </p:grpSpPr>
        <p:sp>
          <p:nvSpPr>
            <p:cNvPr id="267" name="Google Shape;267;p26"/>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8" name="Google Shape;268;p26"/>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9" name="Google Shape;269;p26"/>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0" name="Google Shape;270;p26"/>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1" name="Google Shape;271;p26"/>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2" name="Google Shape;272;p26"/>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pic>
        <p:nvPicPr>
          <p:cNvPr id="273" name="Google Shape;273;p26"/>
          <p:cNvPicPr preferRelativeResize="0"/>
          <p:nvPr>
            <p:ph idx="1" type="body"/>
          </p:nvPr>
        </p:nvPicPr>
        <p:blipFill rotWithShape="1">
          <a:blip r:embed="rId4">
            <a:alphaModFix/>
          </a:blip>
          <a:srcRect b="0" l="0" r="0" t="0"/>
          <a:stretch/>
        </p:blipFill>
        <p:spPr>
          <a:xfrm>
            <a:off x="135311" y="1843194"/>
            <a:ext cx="11469148" cy="72293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27"/>
          <p:cNvSpPr/>
          <p:nvPr/>
        </p:nvSpPr>
        <p:spPr>
          <a:xfrm>
            <a:off x="11604459" y="1"/>
            <a:ext cx="6683541"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79" name="Google Shape;279;p27"/>
          <p:cNvSpPr txBox="1"/>
          <p:nvPr>
            <p:ph type="title"/>
          </p:nvPr>
        </p:nvSpPr>
        <p:spPr>
          <a:xfrm>
            <a:off x="13757088" y="1611588"/>
            <a:ext cx="3665149" cy="656694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4700"/>
              <a:buFont typeface="Impact"/>
              <a:buNone/>
            </a:pPr>
            <a:r>
              <a:rPr i="0" lang="en-US" sz="4700" u="none" cap="none" strike="noStrike">
                <a:solidFill>
                  <a:srgbClr val="000000"/>
                </a:solidFill>
                <a:latin typeface="Impact"/>
                <a:ea typeface="Impact"/>
                <a:cs typeface="Impact"/>
                <a:sym typeface="Impact"/>
              </a:rPr>
              <a:t>Componentes de los cubos</a:t>
            </a:r>
            <a:endParaRPr sz="4700">
              <a:solidFill>
                <a:srgbClr val="000000"/>
              </a:solidFill>
            </a:endParaRPr>
          </a:p>
        </p:txBody>
      </p:sp>
      <p:sp>
        <p:nvSpPr>
          <p:cNvPr id="280" name="Google Shape;280;p27"/>
          <p:cNvSpPr/>
          <p:nvPr/>
        </p:nvSpPr>
        <p:spPr>
          <a:xfrm flipH="1" rot="10800000">
            <a:off x="0" y="0"/>
            <a:ext cx="13548150" cy="10287000"/>
          </a:xfrm>
          <a:custGeom>
            <a:rect b="b" l="l" r="r" t="t"/>
            <a:pathLst>
              <a:path extrusionOk="0" h="6858000" w="9032100">
                <a:moveTo>
                  <a:pt x="7891921" y="1602751"/>
                </a:moveTo>
                <a:lnTo>
                  <a:pt x="9032100" y="0"/>
                </a:lnTo>
                <a:lnTo>
                  <a:pt x="7880182" y="0"/>
                </a:lnTo>
                <a:lnTo>
                  <a:pt x="7880182" y="1528762"/>
                </a:lnTo>
                <a:close/>
                <a:moveTo>
                  <a:pt x="7880182" y="6858000"/>
                </a:moveTo>
                <a:lnTo>
                  <a:pt x="8725712" y="6858000"/>
                </a:lnTo>
                <a:lnTo>
                  <a:pt x="7891921" y="1602751"/>
                </a:lnTo>
                <a:lnTo>
                  <a:pt x="7880182" y="1619252"/>
                </a:lnTo>
                <a:close/>
                <a:moveTo>
                  <a:pt x="0" y="6858000"/>
                </a:moveTo>
                <a:lnTo>
                  <a:pt x="7880181" y="6858000"/>
                </a:lnTo>
                <a:lnTo>
                  <a:pt x="7880181" y="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grpSp>
        <p:nvGrpSpPr>
          <p:cNvPr id="281" name="Google Shape;281;p27"/>
          <p:cNvGrpSpPr/>
          <p:nvPr/>
        </p:nvGrpSpPr>
        <p:grpSpPr>
          <a:xfrm>
            <a:off x="11914000" y="0"/>
            <a:ext cx="3655220" cy="10287002"/>
            <a:chOff x="1320800" y="0"/>
            <a:chExt cx="2436813" cy="6858001"/>
          </a:xfrm>
        </p:grpSpPr>
        <p:sp>
          <p:nvSpPr>
            <p:cNvPr id="282" name="Google Shape;282;p27"/>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3" name="Google Shape;283;p27"/>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4" name="Google Shape;284;p27"/>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5" name="Google Shape;285;p27"/>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6" name="Google Shape;286;p27"/>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87" name="Google Shape;287;p27"/>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pic>
        <p:nvPicPr>
          <p:cNvPr descr="A diagram of a cube with numbers and names&#10;&#10;AI-generated content may be incorrect." id="288" name="Google Shape;288;p27"/>
          <p:cNvPicPr preferRelativeResize="0"/>
          <p:nvPr>
            <p:ph idx="1" type="body"/>
          </p:nvPr>
        </p:nvPicPr>
        <p:blipFill rotWithShape="1">
          <a:blip r:embed="rId4">
            <a:alphaModFix/>
          </a:blip>
          <a:srcRect b="0" l="0" r="0" t="0"/>
          <a:stretch/>
        </p:blipFill>
        <p:spPr>
          <a:xfrm>
            <a:off x="865763" y="1260725"/>
            <a:ext cx="10397685" cy="84510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8"/>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Modelos/Esquema BI</a:t>
            </a:r>
            <a:endParaRPr/>
          </a:p>
        </p:txBody>
      </p:sp>
      <p:sp>
        <p:nvSpPr>
          <p:cNvPr id="294" name="Google Shape;294;p28"/>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Los modelos o esquemas son los cuales permiten diseñar de manera adecuada (depende de las necesidades) los almacenes de datos y de manera sencilla obtener un orden y estructura efectiva para estos datos,</a:t>
            </a:r>
            <a:endParaRPr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8" name="Shape 298"/>
        <p:cNvGrpSpPr/>
        <p:nvPr/>
      </p:nvGrpSpPr>
      <p:grpSpPr>
        <a:xfrm>
          <a:off x="0" y="0"/>
          <a:ext cx="0" cy="0"/>
          <a:chOff x="0" y="0"/>
          <a:chExt cx="0" cy="0"/>
        </a:xfrm>
      </p:grpSpPr>
      <p:grpSp>
        <p:nvGrpSpPr>
          <p:cNvPr id="299" name="Google Shape;299;p29"/>
          <p:cNvGrpSpPr/>
          <p:nvPr/>
        </p:nvGrpSpPr>
        <p:grpSpPr>
          <a:xfrm>
            <a:off x="226218" y="0"/>
            <a:ext cx="3655219" cy="10287002"/>
            <a:chOff x="1320800" y="0"/>
            <a:chExt cx="2436813" cy="6858001"/>
          </a:xfrm>
        </p:grpSpPr>
        <p:sp>
          <p:nvSpPr>
            <p:cNvPr id="300" name="Google Shape;300;p2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1" name="Google Shape;301;p2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2" name="Google Shape;302;p2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3" name="Google Shape;303;p2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4" name="Google Shape;304;p2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5" name="Google Shape;305;p2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06" name="Google Shape;306;p29"/>
          <p:cNvGrpSpPr/>
          <p:nvPr/>
        </p:nvGrpSpPr>
        <p:grpSpPr>
          <a:xfrm>
            <a:off x="226218" y="0"/>
            <a:ext cx="3655219" cy="10287002"/>
            <a:chOff x="1320800" y="0"/>
            <a:chExt cx="2436813" cy="6858001"/>
          </a:xfrm>
        </p:grpSpPr>
        <p:sp>
          <p:nvSpPr>
            <p:cNvPr id="307" name="Google Shape;307;p2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8" name="Google Shape;308;p2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09" name="Google Shape;309;p2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0" name="Google Shape;310;p2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1" name="Google Shape;311;p2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12" name="Google Shape;312;p2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sp>
        <p:nvSpPr>
          <p:cNvPr id="313" name="Google Shape;313;p29"/>
          <p:cNvSpPr/>
          <p:nvPr/>
        </p:nvSpPr>
        <p:spPr>
          <a:xfrm>
            <a:off x="1194099" y="482601"/>
            <a:ext cx="16611301" cy="9321799"/>
          </a:xfrm>
          <a:custGeom>
            <a:rect b="b" l="l" r="r" t="t"/>
            <a:pathLst>
              <a:path extrusionOk="0" h="6214533" w="11074201">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14" name="Google Shape;314;p29"/>
          <p:cNvSpPr txBox="1"/>
          <p:nvPr>
            <p:ph type="title"/>
          </p:nvPr>
        </p:nvSpPr>
        <p:spPr>
          <a:xfrm>
            <a:off x="5943598" y="1028700"/>
            <a:ext cx="11018837" cy="2120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Modelos/Esquema BI</a:t>
            </a:r>
            <a:endParaRPr/>
          </a:p>
        </p:txBody>
      </p:sp>
      <p:grpSp>
        <p:nvGrpSpPr>
          <p:cNvPr id="315" name="Google Shape;315;p29"/>
          <p:cNvGrpSpPr/>
          <p:nvPr/>
        </p:nvGrpSpPr>
        <p:grpSpPr>
          <a:xfrm>
            <a:off x="5765800" y="3354361"/>
            <a:ext cx="11488734" cy="5051476"/>
            <a:chOff x="0" y="280962"/>
            <a:chExt cx="11488734" cy="5051476"/>
          </a:xfrm>
        </p:grpSpPr>
        <p:sp>
          <p:nvSpPr>
            <p:cNvPr id="316" name="Google Shape;316;p29"/>
            <p:cNvSpPr/>
            <p:nvPr/>
          </p:nvSpPr>
          <p:spPr>
            <a:xfrm>
              <a:off x="0" y="280962"/>
              <a:ext cx="11488734" cy="1559025"/>
            </a:xfrm>
            <a:prstGeom prst="roundRect">
              <a:avLst>
                <a:gd fmla="val 16667" name="adj"/>
              </a:avLst>
            </a:prstGeom>
            <a:gradFill>
              <a:gsLst>
                <a:gs pos="0">
                  <a:srgbClr val="8BC763"/>
                </a:gs>
                <a:gs pos="100000">
                  <a:srgbClr val="70AC44"/>
                </a:gs>
              </a:gsLst>
              <a:path path="circle">
                <a:fillToRect r="100%" t="100%"/>
              </a:path>
              <a:tileRect b="-100%" l="-100%"/>
            </a:gradFill>
            <a:ln>
              <a:noFill/>
            </a:ln>
            <a:effectLst>
              <a:outerShdw blurRad="38100" rotWithShape="0" dir="5400000" dist="25400">
                <a:srgbClr val="000000">
                  <a:alpha val="6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9"/>
            <p:cNvSpPr txBox="1"/>
            <p:nvPr/>
          </p:nvSpPr>
          <p:spPr>
            <a:xfrm>
              <a:off x="76105" y="357067"/>
              <a:ext cx="11336524" cy="1406815"/>
            </a:xfrm>
            <a:prstGeom prst="rect">
              <a:avLst/>
            </a:prstGeom>
            <a:noFill/>
            <a:ln>
              <a:noFill/>
            </a:ln>
          </p:spPr>
          <p:txBody>
            <a:bodyPr anchorCtr="0" anchor="ctr" bIns="247650" lIns="247650" spcFirstLastPara="1" rIns="247650" wrap="square" tIns="247650">
              <a:noAutofit/>
            </a:bodyPr>
            <a:lstStyle/>
            <a:p>
              <a:pPr indent="0" lvl="0" marL="0" marR="0" rtl="0" algn="l">
                <a:lnSpc>
                  <a:spcPct val="90000"/>
                </a:lnSpc>
                <a:spcBef>
                  <a:spcPts val="0"/>
                </a:spcBef>
                <a:spcAft>
                  <a:spcPts val="0"/>
                </a:spcAft>
                <a:buClr>
                  <a:schemeClr val="lt1"/>
                </a:buClr>
                <a:buSzPts val="6500"/>
                <a:buFont typeface="Corbel"/>
                <a:buNone/>
              </a:pPr>
              <a:r>
                <a:rPr lang="en-US" sz="6500">
                  <a:solidFill>
                    <a:schemeClr val="lt1"/>
                  </a:solidFill>
                  <a:latin typeface="Corbel"/>
                  <a:ea typeface="Corbel"/>
                  <a:cs typeface="Corbel"/>
                  <a:sym typeface="Corbel"/>
                </a:rPr>
                <a:t>Modelo Estrella</a:t>
              </a:r>
              <a:endParaRPr sz="6500">
                <a:solidFill>
                  <a:schemeClr val="lt1"/>
                </a:solidFill>
                <a:latin typeface="Corbel"/>
                <a:ea typeface="Corbel"/>
                <a:cs typeface="Corbel"/>
                <a:sym typeface="Corbel"/>
              </a:endParaRPr>
            </a:p>
          </p:txBody>
        </p:sp>
        <p:sp>
          <p:nvSpPr>
            <p:cNvPr id="318" name="Google Shape;318;p29"/>
            <p:cNvSpPr/>
            <p:nvPr/>
          </p:nvSpPr>
          <p:spPr>
            <a:xfrm>
              <a:off x="0" y="2027188"/>
              <a:ext cx="11488734" cy="1559025"/>
            </a:xfrm>
            <a:prstGeom prst="roundRect">
              <a:avLst>
                <a:gd fmla="val 16667" name="adj"/>
              </a:avLst>
            </a:prstGeom>
            <a:gradFill>
              <a:gsLst>
                <a:gs pos="0">
                  <a:srgbClr val="E2A456"/>
                </a:gs>
                <a:gs pos="100000">
                  <a:srgbClr val="CF8C2C"/>
                </a:gs>
              </a:gsLst>
              <a:path path="circle">
                <a:fillToRect r="100%" t="100%"/>
              </a:path>
              <a:tileRect b="-100%" l="-100%"/>
            </a:gradFill>
            <a:ln>
              <a:noFill/>
            </a:ln>
            <a:effectLst>
              <a:outerShdw blurRad="38100" rotWithShape="0" dir="5400000" dist="25400">
                <a:srgbClr val="000000">
                  <a:alpha val="6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9"/>
            <p:cNvSpPr txBox="1"/>
            <p:nvPr/>
          </p:nvSpPr>
          <p:spPr>
            <a:xfrm>
              <a:off x="76105" y="2103293"/>
              <a:ext cx="11336524" cy="1406815"/>
            </a:xfrm>
            <a:prstGeom prst="rect">
              <a:avLst/>
            </a:prstGeom>
            <a:noFill/>
            <a:ln>
              <a:noFill/>
            </a:ln>
          </p:spPr>
          <p:txBody>
            <a:bodyPr anchorCtr="0" anchor="ctr" bIns="247650" lIns="247650" spcFirstLastPara="1" rIns="247650" wrap="square" tIns="247650">
              <a:noAutofit/>
            </a:bodyPr>
            <a:lstStyle/>
            <a:p>
              <a:pPr indent="0" lvl="0" marL="0" marR="0" rtl="0" algn="l">
                <a:lnSpc>
                  <a:spcPct val="90000"/>
                </a:lnSpc>
                <a:spcBef>
                  <a:spcPts val="0"/>
                </a:spcBef>
                <a:spcAft>
                  <a:spcPts val="0"/>
                </a:spcAft>
                <a:buClr>
                  <a:schemeClr val="lt1"/>
                </a:buClr>
                <a:buSzPts val="6500"/>
                <a:buFont typeface="Corbel"/>
                <a:buNone/>
              </a:pPr>
              <a:r>
                <a:rPr lang="en-US" sz="6500">
                  <a:solidFill>
                    <a:schemeClr val="lt1"/>
                  </a:solidFill>
                  <a:latin typeface="Corbel"/>
                  <a:ea typeface="Corbel"/>
                  <a:cs typeface="Corbel"/>
                  <a:sym typeface="Corbel"/>
                </a:rPr>
                <a:t>Modelo Copo de nieve</a:t>
              </a:r>
              <a:endParaRPr sz="6500">
                <a:solidFill>
                  <a:schemeClr val="lt1"/>
                </a:solidFill>
                <a:latin typeface="Corbel"/>
                <a:ea typeface="Corbel"/>
                <a:cs typeface="Corbel"/>
                <a:sym typeface="Corbel"/>
              </a:endParaRPr>
            </a:p>
          </p:txBody>
        </p:sp>
        <p:sp>
          <p:nvSpPr>
            <p:cNvPr id="320" name="Google Shape;320;p29"/>
            <p:cNvSpPr/>
            <p:nvPr/>
          </p:nvSpPr>
          <p:spPr>
            <a:xfrm>
              <a:off x="0" y="3773413"/>
              <a:ext cx="11488734" cy="1559025"/>
            </a:xfrm>
            <a:prstGeom prst="roundRect">
              <a:avLst>
                <a:gd fmla="val 16667" name="adj"/>
              </a:avLst>
            </a:prstGeom>
            <a:gradFill>
              <a:gsLst>
                <a:gs pos="0">
                  <a:srgbClr val="D85D53"/>
                </a:gs>
                <a:gs pos="100000">
                  <a:srgbClr val="BC3E31"/>
                </a:gs>
              </a:gsLst>
              <a:path path="circle">
                <a:fillToRect r="100%" t="100%"/>
              </a:path>
              <a:tileRect b="-100%" l="-100%"/>
            </a:gradFill>
            <a:ln>
              <a:noFill/>
            </a:ln>
            <a:effectLst>
              <a:outerShdw blurRad="38100" rotWithShape="0" dir="5400000" dist="25400">
                <a:srgbClr val="000000">
                  <a:alpha val="6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9"/>
            <p:cNvSpPr txBox="1"/>
            <p:nvPr/>
          </p:nvSpPr>
          <p:spPr>
            <a:xfrm>
              <a:off x="76105" y="3849518"/>
              <a:ext cx="11336524" cy="1406815"/>
            </a:xfrm>
            <a:prstGeom prst="rect">
              <a:avLst/>
            </a:prstGeom>
            <a:noFill/>
            <a:ln>
              <a:noFill/>
            </a:ln>
          </p:spPr>
          <p:txBody>
            <a:bodyPr anchorCtr="0" anchor="ctr" bIns="247650" lIns="247650" spcFirstLastPara="1" rIns="247650" wrap="square" tIns="247650">
              <a:noAutofit/>
            </a:bodyPr>
            <a:lstStyle/>
            <a:p>
              <a:pPr indent="0" lvl="0" marL="0" marR="0" rtl="0" algn="l">
                <a:lnSpc>
                  <a:spcPct val="90000"/>
                </a:lnSpc>
                <a:spcBef>
                  <a:spcPts val="0"/>
                </a:spcBef>
                <a:spcAft>
                  <a:spcPts val="0"/>
                </a:spcAft>
                <a:buClr>
                  <a:schemeClr val="lt1"/>
                </a:buClr>
                <a:buSzPts val="6500"/>
                <a:buFont typeface="Corbel"/>
                <a:buNone/>
              </a:pPr>
              <a:r>
                <a:rPr lang="en-US" sz="6500">
                  <a:solidFill>
                    <a:schemeClr val="lt1"/>
                  </a:solidFill>
                  <a:latin typeface="Corbel"/>
                  <a:ea typeface="Corbel"/>
                  <a:cs typeface="Corbel"/>
                  <a:sym typeface="Corbel"/>
                </a:rPr>
                <a:t>Modelo Constelación</a:t>
              </a:r>
              <a:endParaRPr sz="65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Esquema Estrella</a:t>
            </a:r>
            <a:endParaRPr/>
          </a:p>
        </p:txBody>
      </p:sp>
      <p:sp>
        <p:nvSpPr>
          <p:cNvPr id="327" name="Google Shape;327;p30"/>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lang="en-US"/>
              <a:t>Un </a:t>
            </a:r>
            <a:r>
              <a:rPr b="1" lang="en-US"/>
              <a:t>esquema en estrella </a:t>
            </a:r>
            <a:r>
              <a:rPr lang="en-US"/>
              <a:t>es una forma de organizar los datos en una base de datos, especialmente en los almacenes de datos, para hacer más fácil y rápido su análisis. En el centro, hay una tabla principal llamada </a:t>
            </a:r>
            <a:r>
              <a:rPr b="1" lang="en-US"/>
              <a:t>tabla de hechos</a:t>
            </a:r>
            <a:r>
              <a:rPr lang="en-US"/>
              <a:t>, que contiene datos medibles como las ventas o los ingresos. A su alrededor están las tablas de dimensiones, que añaden detalles como nombres de productos, información sobre clientes o fechas. Esta disposición forma una estrella.</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Esquema Estrella</a:t>
            </a:r>
            <a:endParaRPr/>
          </a:p>
        </p:txBody>
      </p:sp>
      <p:sp>
        <p:nvSpPr>
          <p:cNvPr id="333" name="Google Shape;333;p31"/>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b="1" lang="en-US"/>
              <a:t>Tablas de dimensiones de un nivel</a:t>
            </a:r>
            <a:r>
              <a:rPr lang="en-US"/>
              <a:t>: Las tablas de dimensiones se conectan directamente a la tabla de hechos sin capas adicionales. </a:t>
            </a:r>
            <a:endParaRPr/>
          </a:p>
          <a:p>
            <a:pPr indent="-428625" lvl="0" marL="428625" rtl="0" algn="l">
              <a:spcBef>
                <a:spcPts val="1620"/>
              </a:spcBef>
              <a:spcAft>
                <a:spcPts val="0"/>
              </a:spcAft>
              <a:buSzPts val="5220"/>
              <a:buChar char="•"/>
            </a:pPr>
            <a:r>
              <a:rPr b="1" lang="en-US"/>
              <a:t>Diseño desnormalizado</a:t>
            </a:r>
            <a:r>
              <a:rPr lang="en-US"/>
              <a:t>: En un esquema en estrella, los datos relacionados se almacenan juntos en una tabla utilizando un enfoque desnormalizado. </a:t>
            </a:r>
            <a:endParaRPr/>
          </a:p>
          <a:p>
            <a:pPr indent="-428625" lvl="0" marL="428625" rtl="0" algn="l">
              <a:spcBef>
                <a:spcPts val="1620"/>
              </a:spcBef>
              <a:spcAft>
                <a:spcPts val="0"/>
              </a:spcAft>
              <a:buSzPts val="5220"/>
              <a:buChar char="•"/>
            </a:pPr>
            <a:r>
              <a:rPr b="1" lang="en-US"/>
              <a:t>Común en el almacenamiento de datos</a:t>
            </a:r>
            <a:r>
              <a:rPr lang="en-US"/>
              <a:t>: El esquema en estrella se utiliza para un análisis rápido.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7" name="Shape 337"/>
        <p:cNvGrpSpPr/>
        <p:nvPr/>
      </p:nvGrpSpPr>
      <p:grpSpPr>
        <a:xfrm>
          <a:off x="0" y="0"/>
          <a:ext cx="0" cy="0"/>
          <a:chOff x="0" y="0"/>
          <a:chExt cx="0" cy="0"/>
        </a:xfrm>
      </p:grpSpPr>
      <p:grpSp>
        <p:nvGrpSpPr>
          <p:cNvPr id="338" name="Google Shape;338;p32"/>
          <p:cNvGrpSpPr/>
          <p:nvPr/>
        </p:nvGrpSpPr>
        <p:grpSpPr>
          <a:xfrm>
            <a:off x="226218" y="0"/>
            <a:ext cx="3655219" cy="10287002"/>
            <a:chOff x="1320800" y="0"/>
            <a:chExt cx="2436813" cy="6858001"/>
          </a:xfrm>
        </p:grpSpPr>
        <p:sp>
          <p:nvSpPr>
            <p:cNvPr id="339" name="Google Shape;339;p32"/>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0" name="Google Shape;340;p32"/>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1" name="Google Shape;341;p32"/>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2" name="Google Shape;342;p32"/>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3" name="Google Shape;343;p32"/>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4" name="Google Shape;344;p32"/>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45" name="Google Shape;345;p32"/>
          <p:cNvGrpSpPr/>
          <p:nvPr/>
        </p:nvGrpSpPr>
        <p:grpSpPr>
          <a:xfrm>
            <a:off x="226218" y="0"/>
            <a:ext cx="3655219" cy="10287002"/>
            <a:chOff x="1320800" y="0"/>
            <a:chExt cx="2436813" cy="6858001"/>
          </a:xfrm>
        </p:grpSpPr>
        <p:sp>
          <p:nvSpPr>
            <p:cNvPr id="346" name="Google Shape;346;p32"/>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7" name="Google Shape;347;p32"/>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8" name="Google Shape;348;p32"/>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9" name="Google Shape;349;p32"/>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0" name="Google Shape;350;p32"/>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1" name="Google Shape;351;p32"/>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sp>
        <p:nvSpPr>
          <p:cNvPr id="352" name="Google Shape;352;p32"/>
          <p:cNvSpPr/>
          <p:nvPr/>
        </p:nvSpPr>
        <p:spPr>
          <a:xfrm>
            <a:off x="1194099" y="482601"/>
            <a:ext cx="16611301" cy="9321799"/>
          </a:xfrm>
          <a:custGeom>
            <a:rect b="b" l="l" r="r" t="t"/>
            <a:pathLst>
              <a:path extrusionOk="0" h="6214533" w="11074201">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pic>
        <p:nvPicPr>
          <p:cNvPr descr="Hefesto | Estrella | Dario Bernabeu eLearning" id="353" name="Google Shape;353;p32"/>
          <p:cNvPicPr preferRelativeResize="0"/>
          <p:nvPr>
            <p:ph idx="1" type="body"/>
          </p:nvPr>
        </p:nvPicPr>
        <p:blipFill rotWithShape="1">
          <a:blip r:embed="rId4">
            <a:alphaModFix/>
          </a:blip>
          <a:srcRect b="0" l="0" r="0" t="0"/>
          <a:stretch/>
        </p:blipFill>
        <p:spPr>
          <a:xfrm>
            <a:off x="3419892" y="1563198"/>
            <a:ext cx="13420308" cy="7146313"/>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3"/>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Esquema Copo de nieve</a:t>
            </a:r>
            <a:endParaRPr/>
          </a:p>
        </p:txBody>
      </p:sp>
      <p:sp>
        <p:nvSpPr>
          <p:cNvPr id="359" name="Google Shape;359;p33"/>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lang="en-US"/>
              <a:t>Un </a:t>
            </a:r>
            <a:r>
              <a:rPr b="1" lang="en-US"/>
              <a:t>esquema de copo de nieve </a:t>
            </a:r>
            <a:r>
              <a:rPr lang="en-US"/>
              <a:t>es otra forma de organizar los datos. En este esquema, las tablas de dimensiones se dividen en </a:t>
            </a:r>
            <a:r>
              <a:rPr b="1" lang="en-US"/>
              <a:t>subdimensiones</a:t>
            </a:r>
            <a:r>
              <a:rPr lang="en-US"/>
              <a:t> más pequeñas para mantener los datos más organizados y detallados, como copos de nieve en un gran lago.</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Esquema Copo de nieve</a:t>
            </a:r>
            <a:endParaRPr/>
          </a:p>
        </p:txBody>
      </p:sp>
      <p:sp>
        <p:nvSpPr>
          <p:cNvPr id="365" name="Google Shape;365;p34"/>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fontScale="92500"/>
          </a:bodyPr>
          <a:lstStyle/>
          <a:p>
            <a:pPr indent="-428625" lvl="0" marL="428625" rtl="0" algn="l">
              <a:spcBef>
                <a:spcPts val="0"/>
              </a:spcBef>
              <a:spcAft>
                <a:spcPts val="0"/>
              </a:spcAft>
              <a:buSzPct val="145000"/>
              <a:buChar char="•"/>
            </a:pPr>
            <a:r>
              <a:rPr b="1" lang="en-US"/>
              <a:t>Tablas de dimensiones de varios niveles</a:t>
            </a:r>
            <a:r>
              <a:rPr lang="en-US"/>
              <a:t>: Podemos descomponer nuestras tablas de dimensiones en tablas más pequeñas y específicas. </a:t>
            </a:r>
            <a:endParaRPr/>
          </a:p>
          <a:p>
            <a:pPr indent="-428625" lvl="0" marL="428625" rtl="0" algn="l">
              <a:spcBef>
                <a:spcPts val="1566"/>
              </a:spcBef>
              <a:spcAft>
                <a:spcPts val="0"/>
              </a:spcAft>
              <a:buSzPct val="145000"/>
              <a:buChar char="•"/>
            </a:pPr>
            <a:r>
              <a:rPr b="1" lang="en-US"/>
              <a:t>Normalización para la eficiencia del almacenamiento</a:t>
            </a:r>
            <a:r>
              <a:rPr lang="en-US"/>
              <a:t>: A diferencia del esquema en estrella, el esquema en copo de nieve permite un diseño normalizado, con lo que se evita la duplicación de datos.</a:t>
            </a:r>
            <a:endParaRPr/>
          </a:p>
          <a:p>
            <a:pPr indent="-428625" lvl="0" marL="428625" rtl="0" algn="l">
              <a:spcBef>
                <a:spcPts val="1566"/>
              </a:spcBef>
              <a:spcAft>
                <a:spcPts val="0"/>
              </a:spcAft>
              <a:buSzPct val="145000"/>
              <a:buChar char="•"/>
            </a:pPr>
            <a:r>
              <a:rPr b="1" lang="en-US"/>
              <a:t>Idoneidad para entornos de datos complejos</a:t>
            </a:r>
            <a:r>
              <a:rPr lang="en-US"/>
              <a:t>: El esquema copo de nieve funciona mejor en entornos de datos complejos porque utiliza tablas de varios niveles para manejar relaciones intrincadas y estructuras de datos jerárquicas.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9" name="Shape 369"/>
        <p:cNvGrpSpPr/>
        <p:nvPr/>
      </p:nvGrpSpPr>
      <p:grpSpPr>
        <a:xfrm>
          <a:off x="0" y="0"/>
          <a:ext cx="0" cy="0"/>
          <a:chOff x="0" y="0"/>
          <a:chExt cx="0" cy="0"/>
        </a:xfrm>
      </p:grpSpPr>
      <p:grpSp>
        <p:nvGrpSpPr>
          <p:cNvPr id="370" name="Google Shape;370;p35"/>
          <p:cNvGrpSpPr/>
          <p:nvPr/>
        </p:nvGrpSpPr>
        <p:grpSpPr>
          <a:xfrm>
            <a:off x="226218" y="0"/>
            <a:ext cx="3655219" cy="10287002"/>
            <a:chOff x="1320800" y="0"/>
            <a:chExt cx="2436813" cy="6858001"/>
          </a:xfrm>
        </p:grpSpPr>
        <p:sp>
          <p:nvSpPr>
            <p:cNvPr id="371" name="Google Shape;371;p35"/>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2" name="Google Shape;372;p35"/>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3" name="Google Shape;373;p35"/>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4" name="Google Shape;374;p35"/>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5" name="Google Shape;375;p35"/>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6" name="Google Shape;376;p35"/>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77" name="Google Shape;377;p35"/>
          <p:cNvGrpSpPr/>
          <p:nvPr/>
        </p:nvGrpSpPr>
        <p:grpSpPr>
          <a:xfrm>
            <a:off x="226218" y="0"/>
            <a:ext cx="3655219" cy="10287002"/>
            <a:chOff x="1320800" y="0"/>
            <a:chExt cx="2436813" cy="6858001"/>
          </a:xfrm>
        </p:grpSpPr>
        <p:sp>
          <p:nvSpPr>
            <p:cNvPr id="378" name="Google Shape;378;p35"/>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9" name="Google Shape;379;p35"/>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0" name="Google Shape;380;p35"/>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1" name="Google Shape;381;p35"/>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2" name="Google Shape;382;p35"/>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3" name="Google Shape;383;p35"/>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sp>
        <p:nvSpPr>
          <p:cNvPr id="384" name="Google Shape;384;p35"/>
          <p:cNvSpPr/>
          <p:nvPr/>
        </p:nvSpPr>
        <p:spPr>
          <a:xfrm>
            <a:off x="1194099" y="482601"/>
            <a:ext cx="16611301" cy="9321799"/>
          </a:xfrm>
          <a:custGeom>
            <a:rect b="b" l="l" r="r" t="t"/>
            <a:pathLst>
              <a:path extrusionOk="0" h="6214533" w="11074201">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pic>
        <p:nvPicPr>
          <p:cNvPr descr="Hefesto | Copo de Nieve | Dario Bernabeu eLearning" id="385" name="Google Shape;385;p35"/>
          <p:cNvPicPr preferRelativeResize="0"/>
          <p:nvPr>
            <p:ph idx="1" type="body"/>
          </p:nvPr>
        </p:nvPicPr>
        <p:blipFill rotWithShape="1">
          <a:blip r:embed="rId4">
            <a:alphaModFix/>
          </a:blip>
          <a:srcRect b="0" l="0" r="0" t="0"/>
          <a:stretch/>
        </p:blipFill>
        <p:spPr>
          <a:xfrm>
            <a:off x="3419892" y="2989106"/>
            <a:ext cx="13420308" cy="4294497"/>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Esquema Constelación</a:t>
            </a:r>
            <a:endParaRPr/>
          </a:p>
        </p:txBody>
      </p:sp>
      <p:sp>
        <p:nvSpPr>
          <p:cNvPr id="391" name="Google Shape;391;p36"/>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lang="en-US"/>
              <a:t>El </a:t>
            </a:r>
            <a:r>
              <a:rPr b="1" lang="en-US"/>
              <a:t>esquema de constelación </a:t>
            </a:r>
            <a:r>
              <a:rPr lang="en-US"/>
              <a:t>de hechos es un diseño de base de datos multidimensional que contiene múltiples tablas de hechos compartiendo algunas dimensiones comunes. Permite analizar diferentes procesos del negocio que están relacionados, pero no son iguales (por ejemplo: ventas, envíos, devoluciones).</a:t>
            </a:r>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Esquema Constelación</a:t>
            </a:r>
            <a:endParaRPr/>
          </a:p>
        </p:txBody>
      </p:sp>
      <p:sp>
        <p:nvSpPr>
          <p:cNvPr id="397" name="Google Shape;397;p37"/>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p>
            <a:pPr indent="-428625" lvl="0" marL="428625" rtl="0" algn="l">
              <a:spcBef>
                <a:spcPts val="0"/>
              </a:spcBef>
              <a:spcAft>
                <a:spcPts val="0"/>
              </a:spcAft>
              <a:buSzPts val="5220"/>
              <a:buChar char="•"/>
            </a:pPr>
            <a:r>
              <a:rPr lang="en-US"/>
              <a:t>Puede tener dimensiones desnormalizadas (como estrella) o normalizadas (como copo de nieve), o una combinación de ambas.</a:t>
            </a:r>
            <a:endParaRPr/>
          </a:p>
          <a:p>
            <a:pPr indent="-428625" lvl="0" marL="428625" rtl="0" algn="l">
              <a:spcBef>
                <a:spcPts val="1620"/>
              </a:spcBef>
              <a:spcAft>
                <a:spcPts val="0"/>
              </a:spcAft>
              <a:buSzPts val="5220"/>
              <a:buChar char="•"/>
            </a:pPr>
            <a:r>
              <a:rPr lang="en-US"/>
              <a:t>Su principal característica distintiva es la presencia de múltiples hechos y dimensiones compartidas.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1" name="Shape 401"/>
        <p:cNvGrpSpPr/>
        <p:nvPr/>
      </p:nvGrpSpPr>
      <p:grpSpPr>
        <a:xfrm>
          <a:off x="0" y="0"/>
          <a:ext cx="0" cy="0"/>
          <a:chOff x="0" y="0"/>
          <a:chExt cx="0" cy="0"/>
        </a:xfrm>
      </p:grpSpPr>
      <p:grpSp>
        <p:nvGrpSpPr>
          <p:cNvPr id="402" name="Google Shape;402;p38"/>
          <p:cNvGrpSpPr/>
          <p:nvPr/>
        </p:nvGrpSpPr>
        <p:grpSpPr>
          <a:xfrm>
            <a:off x="226218" y="0"/>
            <a:ext cx="3655219" cy="10287002"/>
            <a:chOff x="1320800" y="0"/>
            <a:chExt cx="2436813" cy="6858001"/>
          </a:xfrm>
        </p:grpSpPr>
        <p:sp>
          <p:nvSpPr>
            <p:cNvPr id="403" name="Google Shape;403;p38"/>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4" name="Google Shape;404;p38"/>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5" name="Google Shape;405;p38"/>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6" name="Google Shape;406;p38"/>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7" name="Google Shape;407;p38"/>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8" name="Google Shape;408;p38"/>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09" name="Google Shape;409;p38"/>
          <p:cNvGrpSpPr/>
          <p:nvPr/>
        </p:nvGrpSpPr>
        <p:grpSpPr>
          <a:xfrm>
            <a:off x="226218" y="0"/>
            <a:ext cx="3655219" cy="10287002"/>
            <a:chOff x="1320800" y="0"/>
            <a:chExt cx="2436813" cy="6858001"/>
          </a:xfrm>
        </p:grpSpPr>
        <p:sp>
          <p:nvSpPr>
            <p:cNvPr id="410" name="Google Shape;410;p38"/>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1" name="Google Shape;411;p38"/>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2" name="Google Shape;412;p38"/>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3" name="Google Shape;413;p38"/>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4" name="Google Shape;414;p38"/>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5" name="Google Shape;415;p38"/>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sp>
        <p:nvSpPr>
          <p:cNvPr id="416" name="Google Shape;416;p38"/>
          <p:cNvSpPr/>
          <p:nvPr/>
        </p:nvSpPr>
        <p:spPr>
          <a:xfrm>
            <a:off x="1194099" y="482601"/>
            <a:ext cx="16611301" cy="9321799"/>
          </a:xfrm>
          <a:custGeom>
            <a:rect b="b" l="l" r="r" t="t"/>
            <a:pathLst>
              <a:path extrusionOk="0" h="6214533" w="11074201">
                <a:moveTo>
                  <a:pt x="815396" y="0"/>
                </a:moveTo>
                <a:lnTo>
                  <a:pt x="11074201" y="0"/>
                </a:lnTo>
                <a:lnTo>
                  <a:pt x="11074201" y="6214533"/>
                </a:lnTo>
                <a:lnTo>
                  <a:pt x="1498193" y="6214533"/>
                </a:lnTo>
                <a:lnTo>
                  <a:pt x="0" y="4992543"/>
                </a:lnTo>
                <a:cubicBezTo>
                  <a:pt x="141071" y="4106831"/>
                  <a:pt x="287521" y="3221118"/>
                  <a:pt x="433971" y="2335405"/>
                </a:cubicBezTo>
                <a:close/>
              </a:path>
            </a:pathLst>
          </a:custGeom>
          <a:solidFill>
            <a:srgbClr val="FFFFFF"/>
          </a:solidFill>
          <a:ln cap="flat" cmpd="sng" w="381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pic>
        <p:nvPicPr>
          <p:cNvPr descr="Hefesto | Constelación | Dario Bernabeu eLearning" id="417" name="Google Shape;417;p38"/>
          <p:cNvPicPr preferRelativeResize="0"/>
          <p:nvPr>
            <p:ph idx="1" type="body"/>
          </p:nvPr>
        </p:nvPicPr>
        <p:blipFill rotWithShape="1">
          <a:blip r:embed="rId4">
            <a:alphaModFix/>
          </a:blip>
          <a:srcRect b="0" l="0" r="0" t="0"/>
          <a:stretch/>
        </p:blipFill>
        <p:spPr>
          <a:xfrm>
            <a:off x="3419892" y="1647075"/>
            <a:ext cx="13420308" cy="6978559"/>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21" name="Shape 421"/>
        <p:cNvGrpSpPr/>
        <p:nvPr/>
      </p:nvGrpSpPr>
      <p:grpSpPr>
        <a:xfrm>
          <a:off x="0" y="0"/>
          <a:ext cx="0" cy="0"/>
          <a:chOff x="0" y="0"/>
          <a:chExt cx="0" cy="0"/>
        </a:xfrm>
      </p:grpSpPr>
      <p:sp>
        <p:nvSpPr>
          <p:cNvPr id="422" name="Google Shape;422;p39"/>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23" name="Google Shape;423;p39"/>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24" name="Google Shape;424;p39"/>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i="0" lang="en-US" sz="5600" u="none" cap="none" strike="noStrike">
                <a:solidFill>
                  <a:srgbClr val="FFFFFF"/>
                </a:solidFill>
                <a:latin typeface="Impact"/>
                <a:ea typeface="Impact"/>
                <a:cs typeface="Impact"/>
                <a:sym typeface="Impact"/>
              </a:rPr>
              <a:t>CONCEPTOS CLAVE APRENDIDOS </a:t>
            </a:r>
            <a:endParaRPr sz="5600">
              <a:solidFill>
                <a:srgbClr val="FFFFFF"/>
              </a:solidFill>
            </a:endParaRPr>
          </a:p>
        </p:txBody>
      </p:sp>
      <p:grpSp>
        <p:nvGrpSpPr>
          <p:cNvPr id="425" name="Google Shape;425;p39"/>
          <p:cNvGrpSpPr/>
          <p:nvPr/>
        </p:nvGrpSpPr>
        <p:grpSpPr>
          <a:xfrm>
            <a:off x="4972938" y="0"/>
            <a:ext cx="3655219" cy="10287002"/>
            <a:chOff x="1320800" y="0"/>
            <a:chExt cx="2436813" cy="6858001"/>
          </a:xfrm>
        </p:grpSpPr>
        <p:sp>
          <p:nvSpPr>
            <p:cNvPr id="426" name="Google Shape;426;p39"/>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7" name="Google Shape;427;p39"/>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8" name="Google Shape;428;p39"/>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9" name="Google Shape;429;p39"/>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0" name="Google Shape;430;p39"/>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1" name="Google Shape;431;p39"/>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32" name="Google Shape;432;p39"/>
          <p:cNvGrpSpPr/>
          <p:nvPr/>
        </p:nvGrpSpPr>
        <p:grpSpPr>
          <a:xfrm>
            <a:off x="7515225" y="1120380"/>
            <a:ext cx="9739312" cy="8359640"/>
            <a:chOff x="0" y="91681"/>
            <a:chExt cx="9739312" cy="8359640"/>
          </a:xfrm>
        </p:grpSpPr>
        <p:sp>
          <p:nvSpPr>
            <p:cNvPr id="433" name="Google Shape;433;p39"/>
            <p:cNvSpPr/>
            <p:nvPr/>
          </p:nvSpPr>
          <p:spPr>
            <a:xfrm>
              <a:off x="0" y="91681"/>
              <a:ext cx="9739312" cy="1618936"/>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9"/>
            <p:cNvSpPr txBox="1"/>
            <p:nvPr/>
          </p:nvSpPr>
          <p:spPr>
            <a:xfrm>
              <a:off x="79030" y="170711"/>
              <a:ext cx="9581252" cy="1460876"/>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Open Sans"/>
                <a:buNone/>
              </a:pPr>
              <a:r>
                <a:rPr lang="en-US" sz="2300">
                  <a:solidFill>
                    <a:schemeClr val="lt1"/>
                  </a:solidFill>
                  <a:latin typeface="Open Sans"/>
                  <a:ea typeface="Open Sans"/>
                  <a:cs typeface="Open Sans"/>
                  <a:sym typeface="Open Sans"/>
                </a:rPr>
                <a:t>Un cubo es una estructura multidimensional que </a:t>
              </a:r>
              <a:r>
                <a:rPr b="1" lang="en-US" sz="2300">
                  <a:solidFill>
                    <a:schemeClr val="lt1"/>
                  </a:solidFill>
                  <a:latin typeface="Open Sans"/>
                  <a:ea typeface="Open Sans"/>
                  <a:cs typeface="Open Sans"/>
                  <a:sym typeface="Open Sans"/>
                </a:rPr>
                <a:t>contiene información</a:t>
              </a:r>
              <a:r>
                <a:rPr lang="en-US" sz="2300">
                  <a:solidFill>
                    <a:schemeClr val="lt1"/>
                  </a:solidFill>
                  <a:latin typeface="Open Sans"/>
                  <a:ea typeface="Open Sans"/>
                  <a:cs typeface="Open Sans"/>
                  <a:sym typeface="Open Sans"/>
                </a:rPr>
                <a:t> con fines analíticos</a:t>
              </a:r>
              <a:endParaRPr sz="2300">
                <a:solidFill>
                  <a:schemeClr val="lt1"/>
                </a:solidFill>
                <a:latin typeface="Corbel"/>
                <a:ea typeface="Corbel"/>
                <a:cs typeface="Corbel"/>
                <a:sym typeface="Corbel"/>
              </a:endParaRPr>
            </a:p>
          </p:txBody>
        </p:sp>
        <p:sp>
          <p:nvSpPr>
            <p:cNvPr id="435" name="Google Shape;435;p39"/>
            <p:cNvSpPr/>
            <p:nvPr/>
          </p:nvSpPr>
          <p:spPr>
            <a:xfrm>
              <a:off x="0" y="1776857"/>
              <a:ext cx="9739312" cy="1618936"/>
            </a:xfrm>
            <a:prstGeom prst="roundRect">
              <a:avLst>
                <a:gd fmla="val 16667" name="adj"/>
              </a:avLst>
            </a:prstGeom>
            <a:solidFill>
              <a:srgbClr val="9FCA49"/>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9"/>
            <p:cNvSpPr txBox="1"/>
            <p:nvPr/>
          </p:nvSpPr>
          <p:spPr>
            <a:xfrm>
              <a:off x="79030" y="1855887"/>
              <a:ext cx="9581252" cy="1460876"/>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Open Sans"/>
                <a:buNone/>
              </a:pPr>
              <a:r>
                <a:rPr lang="en-US" sz="2300">
                  <a:solidFill>
                    <a:schemeClr val="lt1"/>
                  </a:solidFill>
                  <a:latin typeface="Open Sans"/>
                  <a:ea typeface="Open Sans"/>
                  <a:cs typeface="Open Sans"/>
                  <a:sym typeface="Open Sans"/>
                </a:rPr>
                <a:t>Como estructura lógica, un cubo permite a una </a:t>
              </a:r>
              <a:r>
                <a:rPr b="1" lang="en-US" sz="2300">
                  <a:solidFill>
                    <a:schemeClr val="lt1"/>
                  </a:solidFill>
                  <a:latin typeface="Open Sans"/>
                  <a:ea typeface="Open Sans"/>
                  <a:cs typeface="Open Sans"/>
                  <a:sym typeface="Open Sans"/>
                </a:rPr>
                <a:t>aplicación cliente </a:t>
              </a:r>
              <a:r>
                <a:rPr lang="en-US" sz="2300">
                  <a:solidFill>
                    <a:schemeClr val="lt1"/>
                  </a:solidFill>
                  <a:latin typeface="Open Sans"/>
                  <a:ea typeface="Open Sans"/>
                  <a:cs typeface="Open Sans"/>
                  <a:sym typeface="Open Sans"/>
                </a:rPr>
                <a:t>recuperar valores, de medidas, como si estuvieran almacenados en las celdas del cubo</a:t>
              </a:r>
              <a:endParaRPr sz="2300">
                <a:solidFill>
                  <a:schemeClr val="lt1"/>
                </a:solidFill>
                <a:latin typeface="Corbel"/>
                <a:ea typeface="Corbel"/>
                <a:cs typeface="Corbel"/>
                <a:sym typeface="Corbel"/>
              </a:endParaRPr>
            </a:p>
          </p:txBody>
        </p:sp>
        <p:sp>
          <p:nvSpPr>
            <p:cNvPr id="437" name="Google Shape;437;p39"/>
            <p:cNvSpPr/>
            <p:nvPr/>
          </p:nvSpPr>
          <p:spPr>
            <a:xfrm>
              <a:off x="0" y="3462033"/>
              <a:ext cx="9739312" cy="1618936"/>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9"/>
            <p:cNvSpPr txBox="1"/>
            <p:nvPr/>
          </p:nvSpPr>
          <p:spPr>
            <a:xfrm>
              <a:off x="79030" y="3541063"/>
              <a:ext cx="9581252" cy="1460876"/>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Un </a:t>
              </a:r>
              <a:r>
                <a:rPr b="1" lang="en-US" sz="2300">
                  <a:solidFill>
                    <a:schemeClr val="lt1"/>
                  </a:solidFill>
                  <a:latin typeface="Corbel"/>
                  <a:ea typeface="Corbel"/>
                  <a:cs typeface="Corbel"/>
                  <a:sym typeface="Corbel"/>
                </a:rPr>
                <a:t>esquema en estrella </a:t>
              </a:r>
              <a:r>
                <a:rPr lang="en-US" sz="2300">
                  <a:solidFill>
                    <a:schemeClr val="lt1"/>
                  </a:solidFill>
                  <a:latin typeface="Corbel"/>
                  <a:ea typeface="Corbel"/>
                  <a:cs typeface="Corbel"/>
                  <a:sym typeface="Corbel"/>
                </a:rPr>
                <a:t>es una forma de organizar los datos en una base de datos, especialmente en los almacenes de datos, para hacer más fácil y rápido su análisis. </a:t>
              </a:r>
              <a:endParaRPr sz="2300">
                <a:solidFill>
                  <a:schemeClr val="lt1"/>
                </a:solidFill>
                <a:latin typeface="Corbel"/>
                <a:ea typeface="Corbel"/>
                <a:cs typeface="Corbel"/>
                <a:sym typeface="Corbel"/>
              </a:endParaRPr>
            </a:p>
          </p:txBody>
        </p:sp>
        <p:sp>
          <p:nvSpPr>
            <p:cNvPr id="439" name="Google Shape;439;p39"/>
            <p:cNvSpPr/>
            <p:nvPr/>
          </p:nvSpPr>
          <p:spPr>
            <a:xfrm>
              <a:off x="0" y="5147209"/>
              <a:ext cx="9739312" cy="1618936"/>
            </a:xfrm>
            <a:prstGeom prst="roundRect">
              <a:avLst>
                <a:gd fmla="val 16667" name="adj"/>
              </a:avLst>
            </a:prstGeom>
            <a:solidFill>
              <a:srgbClr val="D9BF41"/>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9"/>
            <p:cNvSpPr txBox="1"/>
            <p:nvPr/>
          </p:nvSpPr>
          <p:spPr>
            <a:xfrm>
              <a:off x="79030" y="5226239"/>
              <a:ext cx="9581252" cy="1460876"/>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Un </a:t>
              </a:r>
              <a:r>
                <a:rPr b="1" lang="en-US" sz="2300">
                  <a:solidFill>
                    <a:schemeClr val="lt1"/>
                  </a:solidFill>
                  <a:latin typeface="Corbel"/>
                  <a:ea typeface="Corbel"/>
                  <a:cs typeface="Corbel"/>
                  <a:sym typeface="Corbel"/>
                </a:rPr>
                <a:t>esquema de copo de nieve </a:t>
              </a:r>
              <a:r>
                <a:rPr lang="en-US" sz="2300">
                  <a:solidFill>
                    <a:schemeClr val="lt1"/>
                  </a:solidFill>
                  <a:latin typeface="Corbel"/>
                  <a:ea typeface="Corbel"/>
                  <a:cs typeface="Corbel"/>
                  <a:sym typeface="Corbel"/>
                </a:rPr>
                <a:t>es otra forma de organizar los datos. En este esquema, las tablas de dimensiones se dividen en </a:t>
              </a:r>
              <a:r>
                <a:rPr b="1" lang="en-US" sz="2300">
                  <a:solidFill>
                    <a:schemeClr val="lt1"/>
                  </a:solidFill>
                  <a:latin typeface="Corbel"/>
                  <a:ea typeface="Corbel"/>
                  <a:cs typeface="Corbel"/>
                  <a:sym typeface="Corbel"/>
                </a:rPr>
                <a:t>subdimensiones</a:t>
              </a:r>
              <a:r>
                <a:rPr lang="en-US" sz="2300">
                  <a:solidFill>
                    <a:schemeClr val="lt1"/>
                  </a:solidFill>
                  <a:latin typeface="Corbel"/>
                  <a:ea typeface="Corbel"/>
                  <a:cs typeface="Corbel"/>
                  <a:sym typeface="Corbel"/>
                </a:rPr>
                <a:t> más pequeñas para mantener los datos más organizados y detallados, como copos de nieve en un gran lago.</a:t>
              </a:r>
              <a:endParaRPr sz="2300">
                <a:solidFill>
                  <a:schemeClr val="lt1"/>
                </a:solidFill>
                <a:latin typeface="Corbel"/>
                <a:ea typeface="Corbel"/>
                <a:cs typeface="Corbel"/>
                <a:sym typeface="Corbel"/>
              </a:endParaRPr>
            </a:p>
          </p:txBody>
        </p:sp>
        <p:sp>
          <p:nvSpPr>
            <p:cNvPr id="441" name="Google Shape;441;p39"/>
            <p:cNvSpPr/>
            <p:nvPr/>
          </p:nvSpPr>
          <p:spPr>
            <a:xfrm>
              <a:off x="0" y="6832385"/>
              <a:ext cx="9739312" cy="1618936"/>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9"/>
            <p:cNvSpPr txBox="1"/>
            <p:nvPr/>
          </p:nvSpPr>
          <p:spPr>
            <a:xfrm>
              <a:off x="79030" y="6911415"/>
              <a:ext cx="9581252" cy="1460876"/>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Clr>
                  <a:schemeClr val="lt1"/>
                </a:buClr>
                <a:buSzPts val="2300"/>
                <a:buFont typeface="Corbel"/>
                <a:buNone/>
              </a:pPr>
              <a:r>
                <a:rPr lang="en-US" sz="2300">
                  <a:solidFill>
                    <a:schemeClr val="lt1"/>
                  </a:solidFill>
                  <a:latin typeface="Corbel"/>
                  <a:ea typeface="Corbel"/>
                  <a:cs typeface="Corbel"/>
                  <a:sym typeface="Corbel"/>
                </a:rPr>
                <a:t>El </a:t>
              </a:r>
              <a:r>
                <a:rPr b="1" lang="en-US" sz="2300">
                  <a:solidFill>
                    <a:schemeClr val="lt1"/>
                  </a:solidFill>
                  <a:latin typeface="Corbel"/>
                  <a:ea typeface="Corbel"/>
                  <a:cs typeface="Corbel"/>
                  <a:sym typeface="Corbel"/>
                </a:rPr>
                <a:t>esquema de constelación </a:t>
              </a:r>
              <a:r>
                <a:rPr lang="en-US" sz="2300">
                  <a:solidFill>
                    <a:schemeClr val="lt1"/>
                  </a:solidFill>
                  <a:latin typeface="Corbel"/>
                  <a:ea typeface="Corbel"/>
                  <a:cs typeface="Corbel"/>
                  <a:sym typeface="Corbel"/>
                </a:rPr>
                <a:t>de hechos es un diseño de base de datos multidimensional que contiene múltiples tablas de hechos compartiendo algunas dimensiones comunes. </a:t>
              </a:r>
              <a:endParaRPr sz="23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46" name="Shape 446"/>
        <p:cNvGrpSpPr/>
        <p:nvPr/>
      </p:nvGrpSpPr>
      <p:grpSpPr>
        <a:xfrm>
          <a:off x="0" y="0"/>
          <a:ext cx="0" cy="0"/>
          <a:chOff x="0" y="0"/>
          <a:chExt cx="0" cy="0"/>
        </a:xfrm>
      </p:grpSpPr>
      <p:sp>
        <p:nvSpPr>
          <p:cNvPr id="447" name="Google Shape;447;p40"/>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48" name="Google Shape;448;p40"/>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49" name="Google Shape;449;p40"/>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VALOR y ACTITUD</a:t>
            </a:r>
            <a:endParaRPr>
              <a:solidFill>
                <a:srgbClr val="FFFFFF"/>
              </a:solidFill>
            </a:endParaRPr>
          </a:p>
        </p:txBody>
      </p:sp>
      <p:grpSp>
        <p:nvGrpSpPr>
          <p:cNvPr id="450" name="Google Shape;450;p40"/>
          <p:cNvGrpSpPr/>
          <p:nvPr/>
        </p:nvGrpSpPr>
        <p:grpSpPr>
          <a:xfrm>
            <a:off x="4972938" y="0"/>
            <a:ext cx="3655219" cy="10287002"/>
            <a:chOff x="1320800" y="0"/>
            <a:chExt cx="2436813" cy="6858001"/>
          </a:xfrm>
        </p:grpSpPr>
        <p:sp>
          <p:nvSpPr>
            <p:cNvPr id="451" name="Google Shape;451;p40"/>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2" name="Google Shape;452;p40"/>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3" name="Google Shape;453;p40"/>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4" name="Google Shape;454;p40"/>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5" name="Google Shape;455;p40"/>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6" name="Google Shape;456;p40"/>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57" name="Google Shape;457;p40"/>
          <p:cNvGrpSpPr/>
          <p:nvPr/>
        </p:nvGrpSpPr>
        <p:grpSpPr>
          <a:xfrm>
            <a:off x="7515225" y="1537492"/>
            <a:ext cx="9739312" cy="6640515"/>
            <a:chOff x="0" y="508792"/>
            <a:chExt cx="9739312" cy="6640515"/>
          </a:xfrm>
        </p:grpSpPr>
        <p:sp>
          <p:nvSpPr>
            <p:cNvPr id="458" name="Google Shape;458;p40"/>
            <p:cNvSpPr/>
            <p:nvPr/>
          </p:nvSpPr>
          <p:spPr>
            <a:xfrm>
              <a:off x="0" y="818752"/>
              <a:ext cx="9739312" cy="1488374"/>
            </a:xfrm>
            <a:prstGeom prst="rect">
              <a:avLst/>
            </a:prstGeom>
            <a:solidFill>
              <a:schemeClr val="lt1">
                <a:alpha val="89803"/>
              </a:schemeClr>
            </a:solidFill>
            <a:ln cap="rnd"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0"/>
            <p:cNvSpPr txBox="1"/>
            <p:nvPr/>
          </p:nvSpPr>
          <p:spPr>
            <a:xfrm>
              <a:off x="0" y="818752"/>
              <a:ext cx="9739312" cy="1488374"/>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fortalece al construir modelos jerárquicos con dimensiones y medidas, donde cada elemento debe ocupar un lugar específico en la estructura.</a:t>
              </a:r>
              <a:endParaRPr b="0" i="0" sz="2100" u="none" cap="none" strike="noStrike">
                <a:solidFill>
                  <a:schemeClr val="dk1"/>
                </a:solidFill>
                <a:latin typeface="Corbel"/>
                <a:ea typeface="Corbel"/>
                <a:cs typeface="Corbel"/>
                <a:sym typeface="Corbel"/>
              </a:endParaRPr>
            </a:p>
          </p:txBody>
        </p:sp>
        <p:sp>
          <p:nvSpPr>
            <p:cNvPr id="460" name="Google Shape;460;p40"/>
            <p:cNvSpPr/>
            <p:nvPr/>
          </p:nvSpPr>
          <p:spPr>
            <a:xfrm>
              <a:off x="486965" y="508792"/>
              <a:ext cx="6817518" cy="61992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0"/>
            <p:cNvSpPr txBox="1"/>
            <p:nvPr/>
          </p:nvSpPr>
          <p:spPr>
            <a:xfrm>
              <a:off x="517227" y="539054"/>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Organización</a:t>
              </a:r>
              <a:endParaRPr sz="2100">
                <a:solidFill>
                  <a:schemeClr val="lt1"/>
                </a:solidFill>
                <a:latin typeface="Corbel"/>
                <a:ea typeface="Corbel"/>
                <a:cs typeface="Corbel"/>
                <a:sym typeface="Corbel"/>
              </a:endParaRPr>
            </a:p>
          </p:txBody>
        </p:sp>
        <p:sp>
          <p:nvSpPr>
            <p:cNvPr id="462" name="Google Shape;462;p40"/>
            <p:cNvSpPr/>
            <p:nvPr/>
          </p:nvSpPr>
          <p:spPr>
            <a:xfrm>
              <a:off x="0" y="2730487"/>
              <a:ext cx="9739312" cy="1190700"/>
            </a:xfrm>
            <a:prstGeom prst="rect">
              <a:avLst/>
            </a:prstGeom>
            <a:solidFill>
              <a:schemeClr val="lt1">
                <a:alpha val="89803"/>
              </a:schemeClr>
            </a:solidFill>
            <a:ln cap="rnd" cmpd="sng" w="15875">
              <a:solidFill>
                <a:srgbClr val="ABC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txBox="1"/>
            <p:nvPr/>
          </p:nvSpPr>
          <p:spPr>
            <a:xfrm>
              <a:off x="0" y="2730487"/>
              <a:ext cx="9739312" cy="1190700"/>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aplica al enseñar que un mal diseño de cubos impacta directamente en la calidad de las decisiones empresariales basadas en esos datos.</a:t>
              </a:r>
              <a:endParaRPr b="0" i="0" sz="2100" u="none" cap="none" strike="noStrike">
                <a:solidFill>
                  <a:schemeClr val="dk1"/>
                </a:solidFill>
                <a:latin typeface="Corbel"/>
                <a:ea typeface="Corbel"/>
                <a:cs typeface="Corbel"/>
                <a:sym typeface="Corbel"/>
              </a:endParaRPr>
            </a:p>
          </p:txBody>
        </p:sp>
        <p:sp>
          <p:nvSpPr>
            <p:cNvPr id="464" name="Google Shape;464;p40"/>
            <p:cNvSpPr/>
            <p:nvPr/>
          </p:nvSpPr>
          <p:spPr>
            <a:xfrm>
              <a:off x="486965" y="2420527"/>
              <a:ext cx="6817518" cy="619920"/>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0"/>
            <p:cNvSpPr txBox="1"/>
            <p:nvPr/>
          </p:nvSpPr>
          <p:spPr>
            <a:xfrm>
              <a:off x="517227" y="2450789"/>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Responsabilidad</a:t>
              </a:r>
              <a:endParaRPr sz="2100">
                <a:solidFill>
                  <a:schemeClr val="lt1"/>
                </a:solidFill>
                <a:latin typeface="Corbel"/>
                <a:ea typeface="Corbel"/>
                <a:cs typeface="Corbel"/>
                <a:sym typeface="Corbel"/>
              </a:endParaRPr>
            </a:p>
          </p:txBody>
        </p:sp>
        <p:sp>
          <p:nvSpPr>
            <p:cNvPr id="466" name="Google Shape;466;p40"/>
            <p:cNvSpPr/>
            <p:nvPr/>
          </p:nvSpPr>
          <p:spPr>
            <a:xfrm>
              <a:off x="0" y="4344547"/>
              <a:ext cx="9739312" cy="1190700"/>
            </a:xfrm>
            <a:prstGeom prst="rect">
              <a:avLst/>
            </a:prstGeom>
            <a:solidFill>
              <a:schemeClr val="lt1">
                <a:alpha val="89803"/>
              </a:schemeClr>
            </a:solidFill>
            <a:ln cap="rnd" cmpd="sng" w="15875">
              <a:solidFill>
                <a:srgbClr val="D7C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0"/>
            <p:cNvSpPr txBox="1"/>
            <p:nvPr/>
          </p:nvSpPr>
          <p:spPr>
            <a:xfrm>
              <a:off x="0" y="4344547"/>
              <a:ext cx="9739312" cy="1190700"/>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promueve al seguir paso a paso el modelado multidimensional (estrella, copo de nieve, constelación), exigiendo precisión y constancia.</a:t>
              </a:r>
              <a:endParaRPr b="0" i="0" sz="2100" u="none" cap="none" strike="noStrike">
                <a:solidFill>
                  <a:schemeClr val="dk1"/>
                </a:solidFill>
                <a:latin typeface="Corbel"/>
                <a:ea typeface="Corbel"/>
                <a:cs typeface="Corbel"/>
                <a:sym typeface="Corbel"/>
              </a:endParaRPr>
            </a:p>
          </p:txBody>
        </p:sp>
        <p:sp>
          <p:nvSpPr>
            <p:cNvPr id="468" name="Google Shape;468;p40"/>
            <p:cNvSpPr/>
            <p:nvPr/>
          </p:nvSpPr>
          <p:spPr>
            <a:xfrm>
              <a:off x="486965" y="4034587"/>
              <a:ext cx="6817518" cy="619920"/>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0"/>
            <p:cNvSpPr txBox="1"/>
            <p:nvPr/>
          </p:nvSpPr>
          <p:spPr>
            <a:xfrm>
              <a:off x="517227" y="4064849"/>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Disciplina</a:t>
              </a:r>
              <a:endParaRPr sz="2100">
                <a:solidFill>
                  <a:schemeClr val="lt1"/>
                </a:solidFill>
                <a:latin typeface="Corbel"/>
                <a:ea typeface="Corbel"/>
                <a:cs typeface="Corbel"/>
                <a:sym typeface="Corbel"/>
              </a:endParaRPr>
            </a:p>
          </p:txBody>
        </p:sp>
        <p:sp>
          <p:nvSpPr>
            <p:cNvPr id="470" name="Google Shape;470;p40"/>
            <p:cNvSpPr/>
            <p:nvPr/>
          </p:nvSpPr>
          <p:spPr>
            <a:xfrm>
              <a:off x="0" y="5958607"/>
              <a:ext cx="9739312" cy="1190700"/>
            </a:xfrm>
            <a:prstGeom prst="rect">
              <a:avLst/>
            </a:prstGeom>
            <a:solidFill>
              <a:schemeClr val="lt1">
                <a:alpha val="89803"/>
              </a:schemeClr>
            </a:solidFill>
            <a:ln cap="rnd" cmpd="sng" w="15875">
              <a:solidFill>
                <a:srgbClr val="E19C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0"/>
            <p:cNvSpPr txBox="1"/>
            <p:nvPr/>
          </p:nvSpPr>
          <p:spPr>
            <a:xfrm>
              <a:off x="0" y="5958607"/>
              <a:ext cx="9739312" cy="1190700"/>
            </a:xfrm>
            <a:prstGeom prst="rect">
              <a:avLst/>
            </a:prstGeom>
            <a:noFill/>
            <a:ln>
              <a:noFill/>
            </a:ln>
          </p:spPr>
          <p:txBody>
            <a:bodyPr anchorCtr="0" anchor="t" bIns="149350" lIns="755875" spcFirstLastPara="1" rIns="755875" wrap="square" tIns="437375">
              <a:noAutofit/>
            </a:bodyPr>
            <a:lstStyle/>
            <a:p>
              <a:pPr indent="-228600" lvl="1" marL="228600" marR="0" rtl="0" algn="l">
                <a:lnSpc>
                  <a:spcPct val="90000"/>
                </a:lnSpc>
                <a:spcBef>
                  <a:spcPts val="0"/>
                </a:spcBef>
                <a:spcAft>
                  <a:spcPts val="0"/>
                </a:spcAft>
                <a:buClr>
                  <a:schemeClr val="dk1"/>
                </a:buClr>
                <a:buSzPts val="2100"/>
                <a:buFont typeface="Corbel"/>
                <a:buChar char="•"/>
              </a:pPr>
              <a:r>
                <a:rPr b="0" i="0" lang="en-US" sz="2100" u="none" cap="none" strike="noStrike">
                  <a:solidFill>
                    <a:schemeClr val="dk1"/>
                  </a:solidFill>
                  <a:latin typeface="Corbel"/>
                  <a:ea typeface="Corbel"/>
                  <a:cs typeface="Corbel"/>
                  <a:sym typeface="Corbel"/>
                </a:rPr>
                <a:t>Se entrena al construir jerarquías y relaciones entre dimensiones, lo que implica visualizar estructuras complejas de datos de forma racional.</a:t>
              </a:r>
              <a:endParaRPr b="0" i="0" sz="2100" u="none" cap="none" strike="noStrike">
                <a:solidFill>
                  <a:schemeClr val="dk1"/>
                </a:solidFill>
                <a:latin typeface="Corbel"/>
                <a:ea typeface="Corbel"/>
                <a:cs typeface="Corbel"/>
                <a:sym typeface="Corbel"/>
              </a:endParaRPr>
            </a:p>
          </p:txBody>
        </p:sp>
        <p:sp>
          <p:nvSpPr>
            <p:cNvPr id="472" name="Google Shape;472;p40"/>
            <p:cNvSpPr/>
            <p:nvPr/>
          </p:nvSpPr>
          <p:spPr>
            <a:xfrm>
              <a:off x="486965" y="5648647"/>
              <a:ext cx="6817518" cy="61992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0"/>
            <p:cNvSpPr txBox="1"/>
            <p:nvPr/>
          </p:nvSpPr>
          <p:spPr>
            <a:xfrm>
              <a:off x="517227" y="5678909"/>
              <a:ext cx="6756994" cy="559396"/>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100"/>
                <a:buFont typeface="Corbel"/>
                <a:buNone/>
              </a:pPr>
              <a:r>
                <a:rPr lang="en-US" sz="2100">
                  <a:solidFill>
                    <a:schemeClr val="lt1"/>
                  </a:solidFill>
                  <a:latin typeface="Corbel"/>
                  <a:ea typeface="Corbel"/>
                  <a:cs typeface="Corbel"/>
                  <a:sym typeface="Corbel"/>
                </a:rPr>
                <a:t>Pensamiento lógico</a:t>
              </a:r>
              <a:endParaRPr sz="2100">
                <a:solidFill>
                  <a:schemeClr val="lt1"/>
                </a:solidFill>
                <a:latin typeface="Corbel"/>
                <a:ea typeface="Corbel"/>
                <a:cs typeface="Corbel"/>
                <a:sym typeface="Corbe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i="0" lang="en-US" sz="6000" u="none" cap="none" strike="noStrike">
                <a:solidFill>
                  <a:srgbClr val="131416"/>
                </a:solidFill>
                <a:latin typeface="Impact"/>
                <a:ea typeface="Impact"/>
                <a:cs typeface="Impact"/>
                <a:sym typeface="Impact"/>
              </a:rPr>
              <a:t>REFERENCIAS</a:t>
            </a:r>
            <a:endParaRPr/>
          </a:p>
        </p:txBody>
      </p:sp>
      <p:grpSp>
        <p:nvGrpSpPr>
          <p:cNvPr id="479" name="Google Shape;479;p41"/>
          <p:cNvGrpSpPr/>
          <p:nvPr/>
        </p:nvGrpSpPr>
        <p:grpSpPr>
          <a:xfrm>
            <a:off x="2226466" y="2822633"/>
            <a:ext cx="15028070" cy="7274319"/>
            <a:chOff x="0" y="5691"/>
            <a:chExt cx="15028070" cy="7274319"/>
          </a:xfrm>
        </p:grpSpPr>
        <p:sp>
          <p:nvSpPr>
            <p:cNvPr id="480" name="Google Shape;480;p41"/>
            <p:cNvSpPr/>
            <p:nvPr/>
          </p:nvSpPr>
          <p:spPr>
            <a:xfrm>
              <a:off x="0" y="5691"/>
              <a:ext cx="15028070" cy="1212386"/>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1"/>
            <p:cNvSpPr/>
            <p:nvPr/>
          </p:nvSpPr>
          <p:spPr>
            <a:xfrm>
              <a:off x="366746" y="278478"/>
              <a:ext cx="666812" cy="666812"/>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1"/>
            <p:cNvSpPr/>
            <p:nvPr/>
          </p:nvSpPr>
          <p:spPr>
            <a:xfrm>
              <a:off x="1400306" y="5691"/>
              <a:ext cx="13627763" cy="12123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1"/>
            <p:cNvSpPr txBox="1"/>
            <p:nvPr/>
          </p:nvSpPr>
          <p:spPr>
            <a:xfrm>
              <a:off x="1400306" y="5691"/>
              <a:ext cx="13627763" cy="1212386"/>
            </a:xfrm>
            <a:prstGeom prst="rect">
              <a:avLst/>
            </a:prstGeom>
            <a:noFill/>
            <a:ln>
              <a:noFill/>
            </a:ln>
          </p:spPr>
          <p:txBody>
            <a:bodyPr anchorCtr="0" anchor="ctr" bIns="128300" lIns="128300" spcFirstLastPara="1" rIns="128300" wrap="square" tIns="128300">
              <a:noAutofit/>
            </a:bodyPr>
            <a:lstStyle/>
            <a:p>
              <a:pPr indent="0" lvl="0" marL="0" marR="0" rtl="0" algn="l">
                <a:lnSpc>
                  <a:spcPct val="100000"/>
                </a:lnSpc>
                <a:spcBef>
                  <a:spcPts val="0"/>
                </a:spcBef>
                <a:spcAft>
                  <a:spcPts val="0"/>
                </a:spcAft>
                <a:buClr>
                  <a:schemeClr val="dk1"/>
                </a:buClr>
                <a:buSzPts val="1900"/>
                <a:buFont typeface="Corbel"/>
                <a:buNone/>
              </a:pPr>
              <a:r>
                <a:rPr b="0" i="1" lang="en-US" sz="1900">
                  <a:solidFill>
                    <a:schemeClr val="dk1"/>
                  </a:solidFill>
                  <a:latin typeface="Corbel"/>
                  <a:ea typeface="Corbel"/>
                  <a:cs typeface="Corbel"/>
                  <a:sym typeface="Corbel"/>
                </a:rPr>
                <a:t>IBM InfoSphere Data Architect</a:t>
              </a:r>
              <a:r>
                <a:rPr b="0" i="0" lang="en-US" sz="1900">
                  <a:solidFill>
                    <a:schemeClr val="dk1"/>
                  </a:solidFill>
                  <a:latin typeface="Corbel"/>
                  <a:ea typeface="Corbel"/>
                  <a:cs typeface="Corbel"/>
                  <a:sym typeface="Corbel"/>
                </a:rPr>
                <a:t>. (s. f.). https://www.ibm.com/docs/es/ida/9.1.2?topic=schemas-starflake</a:t>
              </a:r>
              <a:endParaRPr sz="1900">
                <a:solidFill>
                  <a:schemeClr val="dk1"/>
                </a:solidFill>
                <a:latin typeface="Corbel"/>
                <a:ea typeface="Corbel"/>
                <a:cs typeface="Corbel"/>
                <a:sym typeface="Corbel"/>
              </a:endParaRPr>
            </a:p>
          </p:txBody>
        </p:sp>
        <p:sp>
          <p:nvSpPr>
            <p:cNvPr id="484" name="Google Shape;484;p41"/>
            <p:cNvSpPr/>
            <p:nvPr/>
          </p:nvSpPr>
          <p:spPr>
            <a:xfrm>
              <a:off x="0" y="1521175"/>
              <a:ext cx="15028070" cy="1212386"/>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1"/>
            <p:cNvSpPr/>
            <p:nvPr/>
          </p:nvSpPr>
          <p:spPr>
            <a:xfrm>
              <a:off x="366746" y="1793962"/>
              <a:ext cx="666812" cy="666812"/>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1"/>
            <p:cNvSpPr/>
            <p:nvPr/>
          </p:nvSpPr>
          <p:spPr>
            <a:xfrm>
              <a:off x="1400306" y="1521175"/>
              <a:ext cx="13627763" cy="12123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1"/>
            <p:cNvSpPr txBox="1"/>
            <p:nvPr/>
          </p:nvSpPr>
          <p:spPr>
            <a:xfrm>
              <a:off x="1400306" y="1521175"/>
              <a:ext cx="13627763" cy="1212386"/>
            </a:xfrm>
            <a:prstGeom prst="rect">
              <a:avLst/>
            </a:prstGeom>
            <a:noFill/>
            <a:ln>
              <a:noFill/>
            </a:ln>
          </p:spPr>
          <p:txBody>
            <a:bodyPr anchorCtr="0" anchor="ctr" bIns="128300" lIns="128300" spcFirstLastPara="1" rIns="128300" wrap="square" tIns="128300">
              <a:noAutofit/>
            </a:bodyPr>
            <a:lstStyle/>
            <a:p>
              <a:pPr indent="0" lvl="0" marL="0" marR="0" rtl="0" algn="l">
                <a:lnSpc>
                  <a:spcPct val="100000"/>
                </a:lnSpc>
                <a:spcBef>
                  <a:spcPts val="0"/>
                </a:spcBef>
                <a:spcAft>
                  <a:spcPts val="0"/>
                </a:spcAft>
                <a:buClr>
                  <a:schemeClr val="dk1"/>
                </a:buClr>
                <a:buSzPts val="1900"/>
                <a:buFont typeface="Corbel"/>
                <a:buNone/>
              </a:pPr>
              <a:r>
                <a:rPr b="0" i="0" lang="en-US" sz="1900">
                  <a:solidFill>
                    <a:schemeClr val="dk1"/>
                  </a:solidFill>
                  <a:latin typeface="Corbel"/>
                  <a:ea typeface="Corbel"/>
                  <a:cs typeface="Corbel"/>
                  <a:sym typeface="Corbel"/>
                </a:rPr>
                <a:t>Jyothisuri. (s. f.). </a:t>
              </a:r>
              <a:r>
                <a:rPr b="0" i="1" lang="en-US" sz="1900">
                  <a:solidFill>
                    <a:schemeClr val="dk1"/>
                  </a:solidFill>
                  <a:latin typeface="Corbel"/>
                  <a:ea typeface="Corbel"/>
                  <a:cs typeface="Corbel"/>
                  <a:sym typeface="Corbel"/>
                </a:rPr>
                <a:t>Introducción a los cubos OLAP para análisis avanzados</a:t>
              </a:r>
              <a:r>
                <a:rPr b="0" i="0" lang="en-US" sz="1900">
                  <a:solidFill>
                    <a:schemeClr val="dk1"/>
                  </a:solidFill>
                  <a:latin typeface="Corbel"/>
                  <a:ea typeface="Corbel"/>
                  <a:cs typeface="Corbel"/>
                  <a:sym typeface="Corbel"/>
                </a:rPr>
                <a:t>. Microsoft Learn. https://learn.microsoft.com/es-es/system-center/scsm/olap-cubes-overview?view=sc-sm-2025</a:t>
              </a:r>
              <a:endParaRPr sz="1900">
                <a:solidFill>
                  <a:schemeClr val="dk1"/>
                </a:solidFill>
                <a:latin typeface="Corbel"/>
                <a:ea typeface="Corbel"/>
                <a:cs typeface="Corbel"/>
                <a:sym typeface="Corbel"/>
              </a:endParaRPr>
            </a:p>
          </p:txBody>
        </p:sp>
        <p:sp>
          <p:nvSpPr>
            <p:cNvPr id="488" name="Google Shape;488;p41"/>
            <p:cNvSpPr/>
            <p:nvPr/>
          </p:nvSpPr>
          <p:spPr>
            <a:xfrm>
              <a:off x="0" y="3036658"/>
              <a:ext cx="15028070" cy="1212386"/>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1"/>
            <p:cNvSpPr/>
            <p:nvPr/>
          </p:nvSpPr>
          <p:spPr>
            <a:xfrm>
              <a:off x="366746" y="3309445"/>
              <a:ext cx="666812" cy="666812"/>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1"/>
            <p:cNvSpPr/>
            <p:nvPr/>
          </p:nvSpPr>
          <p:spPr>
            <a:xfrm>
              <a:off x="1400306" y="3036658"/>
              <a:ext cx="13627763" cy="12123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1"/>
            <p:cNvSpPr txBox="1"/>
            <p:nvPr/>
          </p:nvSpPr>
          <p:spPr>
            <a:xfrm>
              <a:off x="1400306" y="3036658"/>
              <a:ext cx="13627763" cy="1212386"/>
            </a:xfrm>
            <a:prstGeom prst="rect">
              <a:avLst/>
            </a:prstGeom>
            <a:noFill/>
            <a:ln>
              <a:noFill/>
            </a:ln>
          </p:spPr>
          <p:txBody>
            <a:bodyPr anchorCtr="0" anchor="ctr" bIns="128300" lIns="128300" spcFirstLastPara="1" rIns="128300" wrap="square" tIns="128300">
              <a:noAutofit/>
            </a:bodyPr>
            <a:lstStyle/>
            <a:p>
              <a:pPr indent="0" lvl="0" marL="0" marR="0" rtl="0" algn="l">
                <a:lnSpc>
                  <a:spcPct val="100000"/>
                </a:lnSpc>
                <a:spcBef>
                  <a:spcPts val="0"/>
                </a:spcBef>
                <a:spcAft>
                  <a:spcPts val="0"/>
                </a:spcAft>
                <a:buClr>
                  <a:schemeClr val="dk1"/>
                </a:buClr>
                <a:buSzPts val="1900"/>
                <a:buFont typeface="Corbel"/>
                <a:buNone/>
              </a:pPr>
              <a:r>
                <a:rPr b="0" i="0" lang="en-US" sz="1900">
                  <a:solidFill>
                    <a:schemeClr val="dk1"/>
                  </a:solidFill>
                  <a:latin typeface="Corbel"/>
                  <a:ea typeface="Corbel"/>
                  <a:cs typeface="Corbel"/>
                  <a:sym typeface="Corbel"/>
                </a:rPr>
                <a:t>Kfollis. (s. f.-a). </a:t>
              </a:r>
              <a:r>
                <a:rPr b="0" i="1" lang="en-US" sz="1900">
                  <a:solidFill>
                    <a:schemeClr val="dk1"/>
                  </a:solidFill>
                  <a:latin typeface="Corbel"/>
                  <a:ea typeface="Corbel"/>
                  <a:cs typeface="Corbel"/>
                  <a:sym typeface="Corbel"/>
                </a:rPr>
                <a:t>Celdas de cubo (Analysis Services - Datos multidimensionales)</a:t>
              </a:r>
              <a:r>
                <a:rPr b="0" i="0" lang="en-US" sz="1900">
                  <a:solidFill>
                    <a:schemeClr val="dk1"/>
                  </a:solidFill>
                  <a:latin typeface="Corbel"/>
                  <a:ea typeface="Corbel"/>
                  <a:cs typeface="Corbel"/>
                  <a:sym typeface="Corbel"/>
                </a:rPr>
                <a:t>. Microsoft Learn. https://learn.microsoft.com/es-es/analysis-services/multidimensional-models-olap-logical-cube-objects/cube-cells-analysis-services-multidimensional-data?view=asallproducts-allversions</a:t>
              </a:r>
              <a:endParaRPr sz="1900">
                <a:solidFill>
                  <a:schemeClr val="dk1"/>
                </a:solidFill>
                <a:latin typeface="Corbel"/>
                <a:ea typeface="Corbel"/>
                <a:cs typeface="Corbel"/>
                <a:sym typeface="Corbel"/>
              </a:endParaRPr>
            </a:p>
          </p:txBody>
        </p:sp>
        <p:sp>
          <p:nvSpPr>
            <p:cNvPr id="492" name="Google Shape;492;p41"/>
            <p:cNvSpPr/>
            <p:nvPr/>
          </p:nvSpPr>
          <p:spPr>
            <a:xfrm>
              <a:off x="0" y="4552141"/>
              <a:ext cx="15028070" cy="1212386"/>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1"/>
            <p:cNvSpPr/>
            <p:nvPr/>
          </p:nvSpPr>
          <p:spPr>
            <a:xfrm>
              <a:off x="366746" y="4824928"/>
              <a:ext cx="666812" cy="666812"/>
            </a:xfrm>
            <a:prstGeom prst="rect">
              <a:avLst/>
            </a:prstGeom>
            <a:blipFill rotWithShape="1">
              <a:blip r:embed="rId6">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1"/>
            <p:cNvSpPr/>
            <p:nvPr/>
          </p:nvSpPr>
          <p:spPr>
            <a:xfrm>
              <a:off x="1400306" y="4552141"/>
              <a:ext cx="13627763" cy="12123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1"/>
            <p:cNvSpPr txBox="1"/>
            <p:nvPr/>
          </p:nvSpPr>
          <p:spPr>
            <a:xfrm>
              <a:off x="1400306" y="4552141"/>
              <a:ext cx="13627763" cy="1212386"/>
            </a:xfrm>
            <a:prstGeom prst="rect">
              <a:avLst/>
            </a:prstGeom>
            <a:noFill/>
            <a:ln>
              <a:noFill/>
            </a:ln>
          </p:spPr>
          <p:txBody>
            <a:bodyPr anchorCtr="0" anchor="ctr" bIns="128300" lIns="128300" spcFirstLastPara="1" rIns="128300" wrap="square" tIns="128300">
              <a:noAutofit/>
            </a:bodyPr>
            <a:lstStyle/>
            <a:p>
              <a:pPr indent="0" lvl="0" marL="0" marR="0" rtl="0" algn="l">
                <a:lnSpc>
                  <a:spcPct val="100000"/>
                </a:lnSpc>
                <a:spcBef>
                  <a:spcPts val="0"/>
                </a:spcBef>
                <a:spcAft>
                  <a:spcPts val="0"/>
                </a:spcAft>
                <a:buClr>
                  <a:schemeClr val="dk1"/>
                </a:buClr>
                <a:buSzPts val="1900"/>
                <a:buFont typeface="Corbel"/>
                <a:buNone/>
              </a:pPr>
              <a:r>
                <a:rPr b="0" i="0" lang="en-US" sz="1900">
                  <a:solidFill>
                    <a:schemeClr val="dk1"/>
                  </a:solidFill>
                  <a:latin typeface="Corbel"/>
                  <a:ea typeface="Corbel"/>
                  <a:cs typeface="Corbel"/>
                  <a:sym typeface="Corbel"/>
                </a:rPr>
                <a:t>Kfollis. (s. f.-b). </a:t>
              </a:r>
              <a:r>
                <a:rPr b="0" i="1" lang="en-US" sz="1900">
                  <a:solidFill>
                    <a:schemeClr val="dk1"/>
                  </a:solidFill>
                  <a:latin typeface="Corbel"/>
                  <a:ea typeface="Corbel"/>
                  <a:cs typeface="Corbel"/>
                  <a:sym typeface="Corbel"/>
                </a:rPr>
                <a:t>Cubos en modelos multidimensionales</a:t>
              </a:r>
              <a:r>
                <a:rPr b="0" i="0" lang="en-US" sz="1900">
                  <a:solidFill>
                    <a:schemeClr val="dk1"/>
                  </a:solidFill>
                  <a:latin typeface="Corbel"/>
                  <a:ea typeface="Corbel"/>
                  <a:cs typeface="Corbel"/>
                  <a:sym typeface="Corbel"/>
                </a:rPr>
                <a:t>. Microsoft Learn. https://learn.microsoft.com/es-es/analysis-services/multidimensional-models/cubes-in-multidimensional-models?view=asallproducts-allversions</a:t>
              </a:r>
              <a:endParaRPr sz="1900">
                <a:solidFill>
                  <a:schemeClr val="dk1"/>
                </a:solidFill>
                <a:latin typeface="Corbel"/>
                <a:ea typeface="Corbel"/>
                <a:cs typeface="Corbel"/>
                <a:sym typeface="Corbel"/>
              </a:endParaRPr>
            </a:p>
          </p:txBody>
        </p:sp>
        <p:sp>
          <p:nvSpPr>
            <p:cNvPr id="496" name="Google Shape;496;p41"/>
            <p:cNvSpPr/>
            <p:nvPr/>
          </p:nvSpPr>
          <p:spPr>
            <a:xfrm>
              <a:off x="0" y="6067624"/>
              <a:ext cx="15028070" cy="1212386"/>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1"/>
            <p:cNvSpPr/>
            <p:nvPr/>
          </p:nvSpPr>
          <p:spPr>
            <a:xfrm>
              <a:off x="366746" y="6340411"/>
              <a:ext cx="666812" cy="666812"/>
            </a:xfrm>
            <a:prstGeom prst="rect">
              <a:avLst/>
            </a:prstGeom>
            <a:blipFill rotWithShape="1">
              <a:blip r:embed="rId7">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1"/>
            <p:cNvSpPr/>
            <p:nvPr/>
          </p:nvSpPr>
          <p:spPr>
            <a:xfrm>
              <a:off x="1400306" y="6067624"/>
              <a:ext cx="13627763" cy="12123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1"/>
            <p:cNvSpPr txBox="1"/>
            <p:nvPr/>
          </p:nvSpPr>
          <p:spPr>
            <a:xfrm>
              <a:off x="1400306" y="6067624"/>
              <a:ext cx="13627763" cy="1212386"/>
            </a:xfrm>
            <a:prstGeom prst="rect">
              <a:avLst/>
            </a:prstGeom>
            <a:noFill/>
            <a:ln>
              <a:noFill/>
            </a:ln>
          </p:spPr>
          <p:txBody>
            <a:bodyPr anchorCtr="0" anchor="ctr" bIns="128300" lIns="128300" spcFirstLastPara="1" rIns="128300" wrap="square" tIns="128300">
              <a:noAutofit/>
            </a:bodyPr>
            <a:lstStyle/>
            <a:p>
              <a:pPr indent="0" lvl="0" marL="0" marR="0" rtl="0" algn="l">
                <a:lnSpc>
                  <a:spcPct val="100000"/>
                </a:lnSpc>
                <a:spcBef>
                  <a:spcPts val="0"/>
                </a:spcBef>
                <a:spcAft>
                  <a:spcPts val="0"/>
                </a:spcAft>
                <a:buClr>
                  <a:schemeClr val="dk1"/>
                </a:buClr>
                <a:buSzPts val="1900"/>
                <a:buFont typeface="Corbel"/>
                <a:buNone/>
              </a:pPr>
              <a:r>
                <a:rPr b="0" i="0" lang="en-US" sz="1900">
                  <a:solidFill>
                    <a:schemeClr val="dk1"/>
                  </a:solidFill>
                  <a:latin typeface="Corbel"/>
                  <a:ea typeface="Corbel"/>
                  <a:cs typeface="Corbel"/>
                  <a:sym typeface="Corbel"/>
                </a:rPr>
                <a:t>Shahid, A. (2024, 22 marzo). Star Schema vs. Snowflake Schema: 4 key Differences. </a:t>
              </a:r>
              <a:r>
                <a:rPr b="0" i="1" lang="en-US" sz="1900">
                  <a:solidFill>
                    <a:schemeClr val="dk1"/>
                  </a:solidFill>
                  <a:latin typeface="Corbel"/>
                  <a:ea typeface="Corbel"/>
                  <a:cs typeface="Corbel"/>
                  <a:sym typeface="Corbel"/>
                </a:rPr>
                <a:t>Astera</a:t>
              </a:r>
              <a:r>
                <a:rPr b="0" i="0" lang="en-US" sz="1900">
                  <a:solidFill>
                    <a:schemeClr val="dk1"/>
                  </a:solidFill>
                  <a:latin typeface="Corbel"/>
                  <a:ea typeface="Corbel"/>
                  <a:cs typeface="Corbel"/>
                  <a:sym typeface="Corbel"/>
                </a:rPr>
                <a:t>. https://www.astera.com/es/type/blog/star-schema-vs-snowflake-schema/</a:t>
              </a:r>
              <a:endParaRPr sz="19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9"/>
          <p:cNvSpPr txBox="1"/>
          <p:nvPr/>
        </p:nvSpPr>
        <p:spPr>
          <a:xfrm>
            <a:off x="4437795" y="3389104"/>
            <a:ext cx="8658900" cy="2928494"/>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orbel"/>
              <a:buNone/>
            </a:pPr>
            <a:r>
              <a:t/>
            </a:r>
            <a:endParaRPr i="0" sz="6099" u="none" cap="none" strike="noStrike">
              <a:solidFill>
                <a:srgbClr val="131416"/>
              </a:solidFill>
              <a:latin typeface="Impact"/>
              <a:ea typeface="Impact"/>
              <a:cs typeface="Impact"/>
              <a:sym typeface="Impact"/>
            </a:endParaRPr>
          </a:p>
        </p:txBody>
      </p:sp>
      <p:sp>
        <p:nvSpPr>
          <p:cNvPr id="505" name="Google Shape;505;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orbel"/>
              <a:ea typeface="Corbel"/>
              <a:cs typeface="Corbel"/>
              <a:sym typeface="Corbel"/>
            </a:endParaRPr>
          </a:p>
        </p:txBody>
      </p:sp>
      <p:sp>
        <p:nvSpPr>
          <p:cNvPr id="506" name="Google Shape;506;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07" name="Google Shape;507;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