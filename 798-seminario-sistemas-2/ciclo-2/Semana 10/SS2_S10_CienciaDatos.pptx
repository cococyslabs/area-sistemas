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10287000" cx="18288000"/>
  <p:notesSz cx="6858000" cy="9144000"/>
  <p:embeddedFontLst>
    <p:embeddedFont>
      <p:font typeface="Lobster"/>
      <p:regular r:id="rId28"/>
    </p:embeddedFont>
    <p:embeddedFont>
      <p:font typeface="Corbel"/>
      <p:regular r:id="rId29"/>
      <p:bold r:id="rId30"/>
      <p:italic r:id="rId31"/>
      <p:boldItalic r:id="rId32"/>
    </p:embeddedFont>
    <p:embeddedFont>
      <p:font typeface="Pacifico"/>
      <p:regular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j7jbVprY0dkECzlQKUuQhUkmBV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C78D1A-76ED-46B2-A2BD-263AB16BDA83}">
  <a:tblStyle styleId="{B3C78D1A-76ED-46B2-A2BD-263AB16BDA8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0F37B58-2F01-4AC2-8752-658E2DE75A07}" styleName="Table_1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/>
      <a:tcStyle>
        <a:fill>
          <a:solidFill>
            <a:srgbClr val="CCE2F8"/>
          </a:solidFill>
        </a:fill>
      </a:tcStyle>
    </a:band1H>
    <a:band2H>
      <a:tcTxStyle/>
    </a:band2H>
    <a:band1V>
      <a:tcTxStyle/>
      <a:tcStyle>
        <a:fill>
          <a:solidFill>
            <a:srgbClr val="CCE2F8"/>
          </a:solidFill>
        </a:fill>
      </a:tcStyle>
    </a:band1V>
    <a:band2V>
      <a:tcTxStyle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Lobster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Corbel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orbel-italic.fntdata"/><Relationship Id="rId30" Type="http://schemas.openxmlformats.org/officeDocument/2006/relationships/font" Target="fonts/Corbel-bold.fntdata"/><Relationship Id="rId11" Type="http://schemas.openxmlformats.org/officeDocument/2006/relationships/slide" Target="slides/slide4.xml"/><Relationship Id="rId33" Type="http://schemas.openxmlformats.org/officeDocument/2006/relationships/font" Target="fonts/Pacifico-regular.fntdata"/><Relationship Id="rId10" Type="http://schemas.openxmlformats.org/officeDocument/2006/relationships/slide" Target="slides/slide3.xml"/><Relationship Id="rId32" Type="http://schemas.openxmlformats.org/officeDocument/2006/relationships/font" Target="fonts/Corbel-boldItalic.fntdata"/><Relationship Id="rId13" Type="http://schemas.openxmlformats.org/officeDocument/2006/relationships/slide" Target="slides/slide6.xml"/><Relationship Id="rId35" Type="http://schemas.openxmlformats.org/officeDocument/2006/relationships/font" Target="fonts/OpenSans-bold.fntdata"/><Relationship Id="rId12" Type="http://schemas.openxmlformats.org/officeDocument/2006/relationships/slide" Target="slides/slide5.xml"/><Relationship Id="rId34" Type="http://schemas.openxmlformats.org/officeDocument/2006/relationships/font" Target="fonts/OpenSans-regular.fntdata"/><Relationship Id="rId15" Type="http://schemas.openxmlformats.org/officeDocument/2006/relationships/slide" Target="slides/slide8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7.xml"/><Relationship Id="rId36" Type="http://schemas.openxmlformats.org/officeDocument/2006/relationships/font" Target="fonts/OpenSans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4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16427785" y="8800697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/>
          <p:nvPr>
            <p:ph type="title"/>
          </p:nvPr>
        </p:nvSpPr>
        <p:spPr>
          <a:xfrm>
            <a:off x="2226469" y="2400300"/>
            <a:ext cx="532368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" type="body"/>
          </p:nvPr>
        </p:nvSpPr>
        <p:spPr>
          <a:xfrm>
            <a:off x="7893050" y="1028699"/>
            <a:ext cx="9361485" cy="7658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04825" lvl="0" marL="457200" algn="l">
              <a:spcBef>
                <a:spcPts val="600"/>
              </a:spcBef>
              <a:spcAft>
                <a:spcPts val="0"/>
              </a:spcAft>
              <a:buSzPts val="4350"/>
              <a:buChar char="•"/>
              <a:defRPr sz="3000"/>
            </a:lvl1pPr>
            <a:lvl2pPr indent="-477202" lvl="1" marL="914400" algn="l">
              <a:spcBef>
                <a:spcPts val="900"/>
              </a:spcBef>
              <a:spcAft>
                <a:spcPts val="0"/>
              </a:spcAft>
              <a:buSzPts val="3915"/>
              <a:buChar char="•"/>
              <a:defRPr sz="2700"/>
            </a:lvl2pPr>
            <a:lvl3pPr indent="-449580" lvl="2" marL="13716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3pPr>
            <a:lvl4pPr indent="-421957" lvl="3" marL="18288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4pPr>
            <a:lvl5pPr indent="-421957" lvl="4" marL="22860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5pPr>
            <a:lvl6pPr indent="-421957" lvl="5" marL="27432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6pPr>
            <a:lvl7pPr indent="-421957" lvl="6" marL="32004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7pPr>
            <a:lvl8pPr indent="-421957" lvl="7" marL="3657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8pPr>
            <a:lvl9pPr indent="-421957" lvl="8" marL="4114800" algn="l">
              <a:spcBef>
                <a:spcPts val="900"/>
              </a:spcBef>
              <a:spcAft>
                <a:spcPts val="900"/>
              </a:spcAft>
              <a:buSzPts val="3045"/>
              <a:buChar char="•"/>
              <a:defRPr sz="2100"/>
            </a:lvl9pPr>
          </a:lstStyle>
          <a:p/>
        </p:txBody>
      </p:sp>
      <p:sp>
        <p:nvSpPr>
          <p:cNvPr id="31" name="Google Shape;31;p38"/>
          <p:cNvSpPr txBox="1"/>
          <p:nvPr>
            <p:ph idx="2" type="body"/>
          </p:nvPr>
        </p:nvSpPr>
        <p:spPr>
          <a:xfrm>
            <a:off x="2226469" y="4457700"/>
            <a:ext cx="5323682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3480"/>
              <a:buNone/>
              <a:defRPr sz="24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32" name="Google Shape;32;p38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39"/>
          <p:cNvGrpSpPr/>
          <p:nvPr/>
        </p:nvGrpSpPr>
        <p:grpSpPr>
          <a:xfrm>
            <a:off x="819150" y="-7144"/>
            <a:ext cx="7522368" cy="10294145"/>
            <a:chOff x="2928938" y="-4763"/>
            <a:chExt cx="5014912" cy="6862763"/>
          </a:xfrm>
        </p:grpSpPr>
        <p:sp>
          <p:nvSpPr>
            <p:cNvPr id="37" name="Google Shape;37;p3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" name="Google Shape;38;p39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9" name="Google Shape;39;p39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0" name="Google Shape;40;p39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41" name="Google Shape;41;p39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42" name="Google Shape;42;p39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43" name="Google Shape;43;p39"/>
          <p:cNvSpPr txBox="1"/>
          <p:nvPr>
            <p:ph type="ctrTitle"/>
          </p:nvPr>
        </p:nvSpPr>
        <p:spPr>
          <a:xfrm>
            <a:off x="4392602" y="2070103"/>
            <a:ext cx="12861933" cy="3924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orbel"/>
              <a:buNone/>
              <a:defRPr sz="9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" type="subTitle"/>
          </p:nvPr>
        </p:nvSpPr>
        <p:spPr>
          <a:xfrm>
            <a:off x="6773066" y="5994401"/>
            <a:ext cx="10481468" cy="208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30"/>
              </a:spcBef>
              <a:spcAft>
                <a:spcPts val="0"/>
              </a:spcAft>
              <a:buSzPts val="4568"/>
              <a:buNone/>
              <a:defRPr sz="3150">
                <a:solidFill>
                  <a:schemeClr val="dk1"/>
                </a:solidFill>
              </a:defRPr>
            </a:lvl1pPr>
            <a:lvl2pPr lvl="1" algn="ctr">
              <a:spcBef>
                <a:spcPts val="900"/>
              </a:spcBef>
              <a:spcAft>
                <a:spcPts val="0"/>
              </a:spcAft>
              <a:buSzPts val="43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00"/>
              </a:spcBef>
              <a:spcAft>
                <a:spcPts val="0"/>
              </a:spcAft>
              <a:buSzPts val="3915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900"/>
              </a:spcBef>
              <a:spcAft>
                <a:spcPts val="0"/>
              </a:spcAft>
              <a:buSzPts val="348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9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900"/>
              </a:spcBef>
              <a:spcAft>
                <a:spcPts val="900"/>
              </a:spcAft>
              <a:buSzPts val="3045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39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1" type="ftr"/>
          </p:nvPr>
        </p:nvSpPr>
        <p:spPr>
          <a:xfrm>
            <a:off x="7998618" y="8824913"/>
            <a:ext cx="64860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0"/>
          <p:cNvSpPr txBox="1"/>
          <p:nvPr>
            <p:ph type="title"/>
          </p:nvPr>
        </p:nvSpPr>
        <p:spPr>
          <a:xfrm>
            <a:off x="3858419" y="4000498"/>
            <a:ext cx="13396121" cy="3165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sz="6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1" type="body"/>
          </p:nvPr>
        </p:nvSpPr>
        <p:spPr>
          <a:xfrm>
            <a:off x="3858417" y="7166072"/>
            <a:ext cx="13396122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2226469" y="4000499"/>
            <a:ext cx="7342583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9911951" y="4000500"/>
            <a:ext cx="7342584" cy="46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" type="body"/>
          </p:nvPr>
        </p:nvSpPr>
        <p:spPr>
          <a:xfrm>
            <a:off x="2658269" y="3987800"/>
            <a:ext cx="6910782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435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915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480"/>
              <a:buNone/>
              <a:defRPr b="1" sz="2400"/>
            </a:lvl9pPr>
          </a:lstStyle>
          <a:p/>
        </p:txBody>
      </p:sp>
      <p:sp>
        <p:nvSpPr>
          <p:cNvPr id="64" name="Google Shape;64;p42"/>
          <p:cNvSpPr txBox="1"/>
          <p:nvPr>
            <p:ph idx="2" type="body"/>
          </p:nvPr>
        </p:nvSpPr>
        <p:spPr>
          <a:xfrm>
            <a:off x="2226467" y="5003006"/>
            <a:ext cx="7342584" cy="368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65" name="Google Shape;65;p42"/>
          <p:cNvSpPr txBox="1"/>
          <p:nvPr>
            <p:ph idx="3" type="body"/>
          </p:nvPr>
        </p:nvSpPr>
        <p:spPr>
          <a:xfrm>
            <a:off x="10320731" y="4000500"/>
            <a:ext cx="6933806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4350"/>
              <a:buNone/>
              <a:defRPr b="1" sz="30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915"/>
              <a:buNone/>
              <a:defRPr b="1" sz="27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480"/>
              <a:buNone/>
              <a:defRPr b="1" sz="240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480"/>
              <a:buNone/>
              <a:defRPr b="1" sz="2400"/>
            </a:lvl9pPr>
          </a:lstStyle>
          <a:p/>
        </p:txBody>
      </p:sp>
      <p:sp>
        <p:nvSpPr>
          <p:cNvPr id="66" name="Google Shape;66;p42"/>
          <p:cNvSpPr txBox="1"/>
          <p:nvPr>
            <p:ph idx="4" type="body"/>
          </p:nvPr>
        </p:nvSpPr>
        <p:spPr>
          <a:xfrm>
            <a:off x="9911951" y="5003006"/>
            <a:ext cx="7342584" cy="3683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spcBef>
                <a:spcPts val="540"/>
              </a:spcBef>
              <a:spcAft>
                <a:spcPts val="0"/>
              </a:spcAft>
              <a:buSzPts val="3915"/>
              <a:buChar char="•"/>
              <a:defRPr sz="2700"/>
            </a:lvl1pPr>
            <a:lvl2pPr indent="-449580" lvl="1" marL="914400" algn="l">
              <a:spcBef>
                <a:spcPts val="900"/>
              </a:spcBef>
              <a:spcAft>
                <a:spcPts val="0"/>
              </a:spcAft>
              <a:buSzPts val="3480"/>
              <a:buChar char="•"/>
              <a:defRPr sz="2400"/>
            </a:lvl2pPr>
            <a:lvl3pPr indent="-421957" lvl="2" marL="1371600" algn="l">
              <a:spcBef>
                <a:spcPts val="900"/>
              </a:spcBef>
              <a:spcAft>
                <a:spcPts val="0"/>
              </a:spcAft>
              <a:buSzPts val="3045"/>
              <a:buChar char="•"/>
              <a:defRPr sz="2100"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 sz="1800"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 sz="1800"/>
            </a:lvl9pPr>
          </a:lstStyle>
          <a:p/>
        </p:txBody>
      </p:sp>
      <p:sp>
        <p:nvSpPr>
          <p:cNvPr id="67" name="Google Shape;67;p42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2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2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3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4"/>
          <p:cNvSpPr txBox="1"/>
          <p:nvPr>
            <p:ph type="title"/>
          </p:nvPr>
        </p:nvSpPr>
        <p:spPr>
          <a:xfrm>
            <a:off x="2224086" y="2628899"/>
            <a:ext cx="813923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rbel"/>
              <a:buNone/>
              <a:defRPr b="0"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/>
          <p:nvPr>
            <p:ph idx="2" type="pic"/>
          </p:nvPr>
        </p:nvSpPr>
        <p:spPr>
          <a:xfrm>
            <a:off x="11392023" y="1371600"/>
            <a:ext cx="4921461" cy="6858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4"/>
          <p:cNvSpPr txBox="1"/>
          <p:nvPr>
            <p:ph idx="1" type="body"/>
          </p:nvPr>
        </p:nvSpPr>
        <p:spPr>
          <a:xfrm>
            <a:off x="2224086" y="4686299"/>
            <a:ext cx="8139237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540"/>
              </a:spcBef>
              <a:spcAft>
                <a:spcPts val="0"/>
              </a:spcAft>
              <a:buSzPts val="3915"/>
              <a:buNone/>
              <a:defRPr sz="27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79" name="Google Shape;79;p44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5"/>
          <p:cNvSpPr txBox="1"/>
          <p:nvPr>
            <p:ph type="title"/>
          </p:nvPr>
        </p:nvSpPr>
        <p:spPr>
          <a:xfrm>
            <a:off x="2226467" y="7099298"/>
            <a:ext cx="15028067" cy="8501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5"/>
          <p:cNvSpPr/>
          <p:nvPr>
            <p:ph idx="2" type="pic"/>
          </p:nvPr>
        </p:nvSpPr>
        <p:spPr>
          <a:xfrm>
            <a:off x="3579018" y="1398168"/>
            <a:ext cx="12338916" cy="4747464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5"/>
          <p:cNvSpPr txBox="1"/>
          <p:nvPr>
            <p:ph idx="1" type="body"/>
          </p:nvPr>
        </p:nvSpPr>
        <p:spPr>
          <a:xfrm>
            <a:off x="2226467" y="7949405"/>
            <a:ext cx="15028067" cy="740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20"/>
              </a:spcBef>
              <a:spcAft>
                <a:spcPts val="0"/>
              </a:spcAft>
              <a:buSzPts val="3045"/>
              <a:buNone/>
              <a:defRPr sz="21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2610"/>
              <a:buNone/>
              <a:defRPr sz="1800"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2175"/>
              <a:buNone/>
              <a:defRPr sz="1500"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1958"/>
              <a:buNone/>
              <a:defRPr sz="1350"/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1958"/>
              <a:buNone/>
              <a:defRPr sz="1350"/>
            </a:lvl9pPr>
          </a:lstStyle>
          <a:p/>
        </p:txBody>
      </p:sp>
      <p:sp>
        <p:nvSpPr>
          <p:cNvPr id="86" name="Google Shape;86;p45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5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6"/>
          <p:cNvSpPr txBox="1"/>
          <p:nvPr>
            <p:ph type="title"/>
          </p:nvPr>
        </p:nvSpPr>
        <p:spPr>
          <a:xfrm>
            <a:off x="2226469" y="1028700"/>
            <a:ext cx="1502806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6"/>
          <p:cNvSpPr txBox="1"/>
          <p:nvPr>
            <p:ph idx="1" type="body"/>
          </p:nvPr>
        </p:nvSpPr>
        <p:spPr>
          <a:xfrm>
            <a:off x="2226469" y="6515100"/>
            <a:ext cx="1502807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2" name="Google Shape;92;p46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6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6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7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97" name="Google Shape;97;p47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98" name="Google Shape;98;p47"/>
          <p:cNvSpPr txBox="1"/>
          <p:nvPr>
            <p:ph type="title"/>
          </p:nvPr>
        </p:nvSpPr>
        <p:spPr>
          <a:xfrm>
            <a:off x="3312318" y="1028701"/>
            <a:ext cx="13485018" cy="411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7"/>
          <p:cNvSpPr txBox="1"/>
          <p:nvPr>
            <p:ph idx="1" type="body"/>
          </p:nvPr>
        </p:nvSpPr>
        <p:spPr>
          <a:xfrm>
            <a:off x="3655217" y="5143499"/>
            <a:ext cx="12799223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3915"/>
              <a:buFont typeface="Corbel"/>
              <a:buNone/>
              <a:defRPr sz="2700"/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4350"/>
              <a:buFont typeface="Corbel"/>
              <a:buNone/>
              <a:defRPr/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915"/>
              <a:buFont typeface="Corbel"/>
              <a:buNone/>
              <a:defRPr/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480"/>
              <a:buFont typeface="Corbel"/>
              <a:buNone/>
              <a:defRPr/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Font typeface="Corbel"/>
              <a:buNone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0" name="Google Shape;100;p47"/>
          <p:cNvSpPr txBox="1"/>
          <p:nvPr>
            <p:ph idx="2" type="body"/>
          </p:nvPr>
        </p:nvSpPr>
        <p:spPr>
          <a:xfrm>
            <a:off x="2226467" y="6515100"/>
            <a:ext cx="15028067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47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7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7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8"/>
          <p:cNvSpPr txBox="1"/>
          <p:nvPr>
            <p:ph type="title"/>
          </p:nvPr>
        </p:nvSpPr>
        <p:spPr>
          <a:xfrm>
            <a:off x="2226470" y="4962872"/>
            <a:ext cx="15028064" cy="220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8"/>
          <p:cNvSpPr txBox="1"/>
          <p:nvPr>
            <p:ph idx="1" type="body"/>
          </p:nvPr>
        </p:nvSpPr>
        <p:spPr>
          <a:xfrm>
            <a:off x="2226468" y="7166072"/>
            <a:ext cx="15028065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4350"/>
              <a:buNone/>
              <a:defRPr sz="3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48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8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8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9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2" name="Google Shape;112;p49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12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3" name="Google Shape;113;p49"/>
          <p:cNvSpPr txBox="1"/>
          <p:nvPr>
            <p:ph type="title"/>
          </p:nvPr>
        </p:nvSpPr>
        <p:spPr>
          <a:xfrm>
            <a:off x="3312318" y="1028701"/>
            <a:ext cx="13485018" cy="411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48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idx="1" type="body"/>
          </p:nvPr>
        </p:nvSpPr>
        <p:spPr>
          <a:xfrm>
            <a:off x="2226470" y="5829300"/>
            <a:ext cx="1502806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720"/>
              </a:spcBef>
              <a:spcAft>
                <a:spcPts val="0"/>
              </a:spcAft>
              <a:buSzPts val="5220"/>
              <a:buNone/>
              <a:defRPr b="0" sz="36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5" name="Google Shape;115;p49"/>
          <p:cNvSpPr txBox="1"/>
          <p:nvPr>
            <p:ph idx="2" type="body"/>
          </p:nvPr>
        </p:nvSpPr>
        <p:spPr>
          <a:xfrm>
            <a:off x="2226468" y="7162800"/>
            <a:ext cx="1502806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540"/>
              </a:spcBef>
              <a:spcAft>
                <a:spcPts val="0"/>
              </a:spcAft>
              <a:buSzPts val="391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49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9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9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0"/>
          <p:cNvSpPr txBox="1"/>
          <p:nvPr>
            <p:ph type="title"/>
          </p:nvPr>
        </p:nvSpPr>
        <p:spPr>
          <a:xfrm>
            <a:off x="2226470" y="1028701"/>
            <a:ext cx="15028068" cy="409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0"/>
          <p:cNvSpPr txBox="1"/>
          <p:nvPr>
            <p:ph idx="1" type="body"/>
          </p:nvPr>
        </p:nvSpPr>
        <p:spPr>
          <a:xfrm>
            <a:off x="2226469" y="5257800"/>
            <a:ext cx="1502807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6090"/>
              <a:buNone/>
              <a:defRPr b="0" sz="42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2" name="Google Shape;122;p50"/>
          <p:cNvSpPr txBox="1"/>
          <p:nvPr>
            <p:ph idx="2" type="body"/>
          </p:nvPr>
        </p:nvSpPr>
        <p:spPr>
          <a:xfrm>
            <a:off x="2226467" y="6515100"/>
            <a:ext cx="1502807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SzPts val="3915"/>
              <a:buNone/>
              <a:defRPr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900"/>
              </a:spcBef>
              <a:spcAft>
                <a:spcPts val="0"/>
              </a:spcAft>
              <a:buSzPts val="3915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900"/>
              </a:spcBef>
              <a:spcAft>
                <a:spcPts val="0"/>
              </a:spcAft>
              <a:buSzPts val="348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900"/>
              </a:spcBef>
              <a:spcAft>
                <a:spcPts val="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900"/>
              </a:spcBef>
              <a:spcAft>
                <a:spcPts val="900"/>
              </a:spcAft>
              <a:buSzPts val="3045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50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0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0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1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1"/>
          <p:cNvSpPr txBox="1"/>
          <p:nvPr>
            <p:ph idx="1" type="body"/>
          </p:nvPr>
        </p:nvSpPr>
        <p:spPr>
          <a:xfrm rot="5400000">
            <a:off x="7397350" y="-1170385"/>
            <a:ext cx="4686302" cy="15028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51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1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1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2"/>
          <p:cNvSpPr txBox="1"/>
          <p:nvPr>
            <p:ph type="title"/>
          </p:nvPr>
        </p:nvSpPr>
        <p:spPr>
          <a:xfrm rot="5400000">
            <a:off x="12097710" y="3529973"/>
            <a:ext cx="7658100" cy="2655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>
            <p:ph idx="1" type="body"/>
          </p:nvPr>
        </p:nvSpPr>
        <p:spPr>
          <a:xfrm rot="5400000">
            <a:off x="4412225" y="-1157057"/>
            <a:ext cx="7658100" cy="12029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5" name="Google Shape;135;p52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2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2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9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900"/>
              </a:spcBef>
              <a:spcAft>
                <a:spcPts val="9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7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2" type="sldNum"/>
          </p:nvPr>
        </p:nvSpPr>
        <p:spPr>
          <a:xfrm>
            <a:off x="16427785" y="8800697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3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7" name="Google Shape;7;p3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Google Shape;8;p3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9" name="Google Shape;9;p3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0" name="Google Shape;10;p3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1" name="Google Shape;11;p3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2" name="Google Shape;12;p3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3" name="Google Shape;13;p33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6007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504825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435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77202" lvl="2" marL="1371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915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449580" lvl="3" marL="18288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421957" lvl="4" marL="22860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421957" lvl="5" marL="27432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421957" lvl="6" marL="3200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421957" lvl="7" marL="3657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421957" lvl="8" marL="4114800" marR="0" rtl="0" algn="l">
              <a:spcBef>
                <a:spcPts val="900"/>
              </a:spcBef>
              <a:spcAft>
                <a:spcPts val="90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33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33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33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35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140" name="Google Shape;140;p3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1" name="Google Shape;141;p3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  <p:sp>
          <p:nvSpPr>
            <p:cNvPr id="142" name="Google Shape;142;p3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  <p:sp>
          <p:nvSpPr>
            <p:cNvPr id="143" name="Google Shape;143;p3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44" name="Google Shape;144;p3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45" name="Google Shape;145;p3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</p:sp>
      </p:grpSp>
      <p:sp>
        <p:nvSpPr>
          <p:cNvPr id="146" name="Google Shape;146;p35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0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7" name="Google Shape;147;p35"/>
          <p:cNvSpPr txBox="1"/>
          <p:nvPr>
            <p:ph idx="1" type="body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6007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Arial"/>
              <a:buChar char="•"/>
              <a:defRPr b="0" i="0" sz="3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504825" lvl="1" marL="914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4350"/>
              <a:buFont typeface="Arial"/>
              <a:buChar char="•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77202" lvl="2" marL="1371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915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449580" lvl="3" marL="18288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421957" lvl="4" marL="22860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421957" lvl="5" marL="27432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421957" lvl="6" marL="32004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421957" lvl="7" marL="3657600" marR="0" rtl="0" algn="l"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421957" lvl="8" marL="4114800" marR="0" rtl="0" algn="l">
              <a:spcBef>
                <a:spcPts val="900"/>
              </a:spcBef>
              <a:spcAft>
                <a:spcPts val="90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8" name="Google Shape;148;p35"/>
          <p:cNvSpPr txBox="1"/>
          <p:nvPr>
            <p:ph idx="10" type="dt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9" name="Google Shape;149;p35"/>
          <p:cNvSpPr txBox="1"/>
          <p:nvPr>
            <p:ph idx="11" type="ftr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0" name="Google Shape;150;p35"/>
          <p:cNvSpPr txBox="1"/>
          <p:nvPr>
            <p:ph idx="12" type="sldNum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b="0" i="0" sz="15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mputer and tablet with graphs and charts&#10;&#10;AI-generated content may be incorrect." id="161" name="Google Shape;16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482" y="5715865"/>
            <a:ext cx="8160517" cy="457113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"/>
          <p:cNvSpPr txBox="1"/>
          <p:nvPr/>
        </p:nvSpPr>
        <p:spPr>
          <a:xfrm>
            <a:off x="809303" y="7107850"/>
            <a:ext cx="858869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Open Sans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Seminario de Sistemas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155441" y="1512847"/>
            <a:ext cx="152146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9200"/>
              <a:buFont typeface="Open Sans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Visualización avanzada para ciencia de datos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3146103" y="8185068"/>
            <a:ext cx="6981379" cy="161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499"/>
              <a:buFont typeface="Open Sans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two logos with text&#10;&#10;AI-generated content may be incorrect." id="165" name="Google Shape;16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15699" y="0"/>
            <a:ext cx="697230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"/>
          <p:cNvGrpSpPr/>
          <p:nvPr/>
        </p:nvGrpSpPr>
        <p:grpSpPr>
          <a:xfrm>
            <a:off x="1568376" y="5074884"/>
            <a:ext cx="4429491" cy="845385"/>
            <a:chOff x="0" y="-38655"/>
            <a:chExt cx="1964221" cy="359923"/>
          </a:xfrm>
        </p:grpSpPr>
        <p:sp>
          <p:nvSpPr>
            <p:cNvPr id="171" name="Google Shape;17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2" name="Google Shape;172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Matplotlib y Seaborn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73" name="Google Shape;173;p2"/>
          <p:cNvSpPr/>
          <p:nvPr/>
        </p:nvSpPr>
        <p:spPr>
          <a:xfrm>
            <a:off x="1684278" y="523382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74" name="Google Shape;174;p2"/>
          <p:cNvGrpSpPr/>
          <p:nvPr/>
        </p:nvGrpSpPr>
        <p:grpSpPr>
          <a:xfrm>
            <a:off x="2713402" y="3863800"/>
            <a:ext cx="4115190" cy="1267162"/>
            <a:chOff x="0" y="-36600"/>
            <a:chExt cx="1083836" cy="409938"/>
          </a:xfrm>
        </p:grpSpPr>
        <p:sp>
          <p:nvSpPr>
            <p:cNvPr id="175" name="Google Shape;17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" name="Google Shape;176;p2"/>
            <p:cNvSpPr txBox="1"/>
            <p:nvPr/>
          </p:nvSpPr>
          <p:spPr>
            <a:xfrm>
              <a:off x="0" y="-366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77" name="Google Shape;177;p2"/>
          <p:cNvSpPr/>
          <p:nvPr/>
        </p:nvSpPr>
        <p:spPr>
          <a:xfrm>
            <a:off x="1760876" y="4052276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2216562" y="442037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Pacifico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800">
              <a:solidFill>
                <a:schemeClr val="dk1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000"/>
              <a:buFont typeface="Lobster"/>
              <a:buNone/>
            </a:pPr>
            <a:r>
              <a:rPr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80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80" name="Google Shape;180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81" name="Google Shape;181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2" name="Google Shape;182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3" name="Google Shape;183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84" name="Google Shape;184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5" name="Google Shape;185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</a:t>
              </a:r>
              <a:r>
                <a:rPr lang="en-US" sz="4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Quiz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6" name="Google Shape;186;p2"/>
          <p:cNvGrpSpPr/>
          <p:nvPr/>
        </p:nvGrpSpPr>
        <p:grpSpPr>
          <a:xfrm>
            <a:off x="1452477" y="5810834"/>
            <a:ext cx="5095719" cy="845385"/>
            <a:chOff x="0" y="-38655"/>
            <a:chExt cx="1964221" cy="359923"/>
          </a:xfrm>
        </p:grpSpPr>
        <p:sp>
          <p:nvSpPr>
            <p:cNvPr id="187" name="Google Shape;18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" name="Google Shape;188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Dashboards con subplots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89" name="Google Shape;189;p2"/>
          <p:cNvSpPr/>
          <p:nvPr/>
        </p:nvSpPr>
        <p:spPr>
          <a:xfrm>
            <a:off x="1568377" y="596977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0" name="Google Shape;190;p2"/>
          <p:cNvGrpSpPr/>
          <p:nvPr/>
        </p:nvGrpSpPr>
        <p:grpSpPr>
          <a:xfrm>
            <a:off x="1307518" y="6520243"/>
            <a:ext cx="4171735" cy="845385"/>
            <a:chOff x="0" y="-38655"/>
            <a:chExt cx="1964221" cy="359923"/>
          </a:xfrm>
        </p:grpSpPr>
        <p:sp>
          <p:nvSpPr>
            <p:cNvPr id="191" name="Google Shape;19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Gráficos estadísticos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3" name="Google Shape;193;p2"/>
          <p:cNvSpPr/>
          <p:nvPr/>
        </p:nvSpPr>
        <p:spPr>
          <a:xfrm>
            <a:off x="1423418" y="667917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4" name="Google Shape;194;p2"/>
          <p:cNvGrpSpPr/>
          <p:nvPr/>
        </p:nvGrpSpPr>
        <p:grpSpPr>
          <a:xfrm>
            <a:off x="1191617" y="7247487"/>
            <a:ext cx="7082227" cy="845385"/>
            <a:chOff x="0" y="-38655"/>
            <a:chExt cx="1964221" cy="359923"/>
          </a:xfrm>
        </p:grpSpPr>
        <p:sp>
          <p:nvSpPr>
            <p:cNvPr id="195" name="Google Shape;1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6" name="Google Shape;196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Rol del científico e ingeniero de datos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7" name="Google Shape;197;p2"/>
          <p:cNvSpPr/>
          <p:nvPr/>
        </p:nvSpPr>
        <p:spPr>
          <a:xfrm>
            <a:off x="1307518" y="740642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8" name="Google Shape;198;p2"/>
          <p:cNvGrpSpPr/>
          <p:nvPr/>
        </p:nvGrpSpPr>
        <p:grpSpPr>
          <a:xfrm>
            <a:off x="1929162" y="7962643"/>
            <a:ext cx="4899430" cy="845385"/>
            <a:chOff x="0" y="-38655"/>
            <a:chExt cx="1964221" cy="359923"/>
          </a:xfrm>
        </p:grpSpPr>
        <p:sp>
          <p:nvSpPr>
            <p:cNvPr id="199" name="Google Shape;19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CRISP-DM y Scikit-learn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01" name="Google Shape;201;p2"/>
          <p:cNvSpPr/>
          <p:nvPr/>
        </p:nvSpPr>
        <p:spPr>
          <a:xfrm>
            <a:off x="2045061" y="812157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2" name="Google Shape;202;p2"/>
          <p:cNvGrpSpPr/>
          <p:nvPr/>
        </p:nvGrpSpPr>
        <p:grpSpPr>
          <a:xfrm>
            <a:off x="2859872" y="8671673"/>
            <a:ext cx="4137006" cy="845385"/>
            <a:chOff x="0" y="-38655"/>
            <a:chExt cx="1964221" cy="359923"/>
          </a:xfrm>
        </p:grpSpPr>
        <p:sp>
          <p:nvSpPr>
            <p:cNvPr id="203" name="Google Shape;20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4" name="Google Shape;204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Modelo de regresión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05" name="Google Shape;205;p2"/>
          <p:cNvSpPr/>
          <p:nvPr/>
        </p:nvSpPr>
        <p:spPr>
          <a:xfrm>
            <a:off x="2975771" y="883060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6" name="Google Shape;206;p2"/>
          <p:cNvGrpSpPr/>
          <p:nvPr/>
        </p:nvGrpSpPr>
        <p:grpSpPr>
          <a:xfrm>
            <a:off x="3801955" y="9428873"/>
            <a:ext cx="5548521" cy="845385"/>
            <a:chOff x="0" y="-38655"/>
            <a:chExt cx="1964221" cy="359923"/>
          </a:xfrm>
        </p:grpSpPr>
        <p:sp>
          <p:nvSpPr>
            <p:cNvPr id="207" name="Google Shape;20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8" name="Google Shape;208;p2"/>
            <p:cNvSpPr txBox="1"/>
            <p:nvPr/>
          </p:nvSpPr>
          <p:spPr>
            <a:xfrm>
              <a:off x="0" y="-38655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Clasificación y Bag of Words</a:t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09" name="Google Shape;209;p2"/>
          <p:cNvSpPr/>
          <p:nvPr/>
        </p:nvSpPr>
        <p:spPr>
          <a:xfrm>
            <a:off x="3917855" y="958780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15" name="Google Shape;215;p22"/>
          <p:cNvGrpSpPr/>
          <p:nvPr/>
        </p:nvGrpSpPr>
        <p:grpSpPr>
          <a:xfrm flipH="1">
            <a:off x="9789314" y="0"/>
            <a:ext cx="7522369" cy="10294145"/>
            <a:chOff x="2928938" y="-4763"/>
            <a:chExt cx="5014912" cy="6862763"/>
          </a:xfrm>
        </p:grpSpPr>
        <p:sp>
          <p:nvSpPr>
            <p:cNvPr id="216" name="Google Shape;216;p2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22" name="Google Shape;222;p22"/>
          <p:cNvSpPr txBox="1"/>
          <p:nvPr>
            <p:ph type="title"/>
          </p:nvPr>
        </p:nvSpPr>
        <p:spPr>
          <a:xfrm>
            <a:off x="1527286" y="1028700"/>
            <a:ext cx="11117738" cy="2628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mpact"/>
              <a:buNone/>
            </a:pPr>
            <a:r>
              <a:rPr i="0" lang="en-US" u="none" cap="none" strike="noStrike"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/>
          </a:p>
        </p:txBody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1527285" y="4000497"/>
            <a:ext cx="10865404" cy="5792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1960" lvl="0" marL="428625" rtl="0" algn="l">
              <a:spcBef>
                <a:spcPts val="0"/>
              </a:spcBef>
              <a:spcAft>
                <a:spcPts val="0"/>
              </a:spcAft>
              <a:buSzPts val="6960"/>
              <a:buChar char="•"/>
            </a:pPr>
            <a:r>
              <a:rPr lang="en-US" sz="4800">
                <a:latin typeface="Open Sans"/>
                <a:ea typeface="Open Sans"/>
                <a:cs typeface="Open Sans"/>
                <a:sym typeface="Open Sans"/>
              </a:rPr>
              <a:t>Construye modelos predictivos y análisis de sentimientos usando bibliotecas Python como Scikit-learn y NLTK siguiendo la metodología CRISP-DM para resolver problemas reales a partir de datos estructurados/textuales </a:t>
            </a:r>
            <a:endParaRPr sz="4800"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 txBox="1"/>
          <p:nvPr>
            <p:ph type="title"/>
          </p:nvPr>
        </p:nvSpPr>
        <p:spPr>
          <a:xfrm>
            <a:off x="12054062" y="927777"/>
            <a:ext cx="4921505" cy="22178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rbel"/>
              <a:buNone/>
            </a:pPr>
            <a:r>
              <a:rPr lang="en-US" sz="4200"/>
              <a:t>Tablas de instalación</a:t>
            </a:r>
            <a:endParaRPr/>
          </a:p>
        </p:txBody>
      </p:sp>
      <p:sp>
        <p:nvSpPr>
          <p:cNvPr id="229" name="Google Shape;229;p6"/>
          <p:cNvSpPr txBox="1"/>
          <p:nvPr>
            <p:ph idx="1" type="body"/>
          </p:nvPr>
        </p:nvSpPr>
        <p:spPr>
          <a:xfrm>
            <a:off x="12054062" y="3374231"/>
            <a:ext cx="4921506" cy="5312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28625" lvl="0" marL="428625" rtl="0" algn="l">
              <a:spcBef>
                <a:spcPts val="0"/>
              </a:spcBef>
              <a:spcAft>
                <a:spcPts val="0"/>
              </a:spcAft>
              <a:buSzPts val="3915"/>
              <a:buChar char="•"/>
            </a:pPr>
            <a:r>
              <a:rPr lang="en-US" sz="2700"/>
              <a:t>Local pip</a:t>
            </a:r>
            <a:endParaRPr/>
          </a:p>
          <a:p>
            <a:pPr indent="-428625" lvl="0" marL="428625" rtl="0" algn="l">
              <a:spcBef>
                <a:spcPts val="1440"/>
              </a:spcBef>
              <a:spcAft>
                <a:spcPts val="0"/>
              </a:spcAft>
              <a:buSzPts val="3915"/>
              <a:buChar char="•"/>
            </a:pPr>
            <a:r>
              <a:rPr lang="en-US" sz="2700"/>
              <a:t>Conda</a:t>
            </a:r>
            <a:endParaRPr/>
          </a:p>
        </p:txBody>
      </p:sp>
      <p:graphicFrame>
        <p:nvGraphicFramePr>
          <p:cNvPr id="230" name="Google Shape;230;p6"/>
          <p:cNvGraphicFramePr/>
          <p:nvPr/>
        </p:nvGraphicFramePr>
        <p:xfrm>
          <a:off x="1652590" y="311654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3F3F3F"/>
                </a:solidFill>
                <a:tableStyleId>{B3C78D1A-76ED-46B2-A2BD-263AB16BDA83}</a:tableStyleId>
              </a:tblPr>
              <a:tblGrid>
                <a:gridCol w="2207975"/>
                <a:gridCol w="3311025"/>
                <a:gridCol w="3649575"/>
              </a:tblGrid>
              <a:tr h="74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chemeClr val="lt1"/>
                          </a:solidFill>
                        </a:rPr>
                        <a:t>Librería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cap="none">
                          <a:solidFill>
                            <a:schemeClr val="lt1"/>
                          </a:solidFill>
                        </a:rPr>
                        <a:t>Comando con pip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cap="none">
                          <a:solidFill>
                            <a:schemeClr val="lt1"/>
                          </a:solidFill>
                        </a:rPr>
                        <a:t>Comando con conda</a:t>
                      </a:r>
                      <a:endParaRPr b="1" sz="2400" cap="none">
                        <a:solidFill>
                          <a:schemeClr val="lt1"/>
                        </a:solidFill>
                      </a:endParaRPr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  <a:tr h="74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cap="none">
                          <a:solidFill>
                            <a:schemeClr val="lt1"/>
                          </a:solidFill>
                        </a:rPr>
                        <a:t>Pandas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cap="none">
                          <a:solidFill>
                            <a:schemeClr val="lt1"/>
                          </a:solidFill>
                        </a:rPr>
                        <a:t>pip install pandas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cap="none">
                          <a:solidFill>
                            <a:schemeClr val="lt1"/>
                          </a:solidFill>
                        </a:rPr>
                        <a:t>conda install pandas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  <a:tr h="74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cap="none">
                          <a:solidFill>
                            <a:schemeClr val="lt1"/>
                          </a:solidFill>
                        </a:rPr>
                        <a:t>NumPy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cap="none">
                          <a:solidFill>
                            <a:schemeClr val="lt1"/>
                          </a:solidFill>
                        </a:rPr>
                        <a:t>pip install numpy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cap="none">
                          <a:solidFill>
                            <a:schemeClr val="lt1"/>
                          </a:solidFill>
                        </a:rPr>
                        <a:t>conda install numpy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  <a:tr h="74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cap="none">
                          <a:solidFill>
                            <a:schemeClr val="lt1"/>
                          </a:solidFill>
                        </a:rPr>
                        <a:t>Matplotlib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cap="none">
                          <a:solidFill>
                            <a:schemeClr val="lt1"/>
                          </a:solidFill>
                        </a:rPr>
                        <a:t>pip install matplotlib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cap="none">
                          <a:solidFill>
                            <a:schemeClr val="lt1"/>
                          </a:solidFill>
                        </a:rPr>
                        <a:t>conda install matplotlib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  <a:tr h="111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cap="none">
                          <a:solidFill>
                            <a:schemeClr val="lt1"/>
                          </a:solidFill>
                        </a:rPr>
                        <a:t>NLTK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cap="none">
                          <a:solidFill>
                            <a:schemeClr val="lt1"/>
                          </a:solidFill>
                        </a:rPr>
                        <a:t>pip install nltk</a:t>
                      </a:r>
                      <a:endParaRPr/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cap="none">
                          <a:solidFill>
                            <a:schemeClr val="lt1"/>
                          </a:solidFill>
                        </a:rPr>
                        <a:t>conda install -c anaconda nltk</a:t>
                      </a:r>
                      <a:endParaRPr sz="2400" cap="none">
                        <a:solidFill>
                          <a:schemeClr val="lt1"/>
                        </a:solidFill>
                      </a:endParaRPr>
                    </a:p>
                  </a:txBody>
                  <a:tcPr marT="157275" marB="157275" marR="157275" marL="204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type="title"/>
          </p:nvPr>
        </p:nvSpPr>
        <p:spPr>
          <a:xfrm>
            <a:off x="9854936" y="927777"/>
            <a:ext cx="7120632" cy="22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orbel"/>
              <a:buNone/>
            </a:pPr>
            <a:r>
              <a:rPr lang="en-US" sz="5400">
                <a:solidFill>
                  <a:srgbClr val="FFFFFF"/>
                </a:solidFill>
              </a:rPr>
              <a:t>PANDAS</a:t>
            </a:r>
            <a:endParaRPr/>
          </a:p>
        </p:txBody>
      </p:sp>
      <p:pic>
        <p:nvPicPr>
          <p:cNvPr descr="pandas (software) - Wikipedia" id="236" name="Google Shape;236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8483" y="3738489"/>
            <a:ext cx="6953375" cy="2816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3"/>
          <p:cNvGrpSpPr/>
          <p:nvPr/>
        </p:nvGrpSpPr>
        <p:grpSpPr>
          <a:xfrm>
            <a:off x="9855995" y="3374232"/>
            <a:ext cx="7119937" cy="5312567"/>
            <a:chOff x="0" y="0"/>
            <a:chExt cx="7119937" cy="5312567"/>
          </a:xfrm>
        </p:grpSpPr>
        <p:sp>
          <p:nvSpPr>
            <p:cNvPr id="238" name="Google Shape;238;p23"/>
            <p:cNvSpPr/>
            <p:nvPr/>
          </p:nvSpPr>
          <p:spPr>
            <a:xfrm>
              <a:off x="0" y="0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E19D3C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28008" y="28008"/>
              <a:ext cx="4338587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1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¿Qué es?</a:t>
              </a:r>
              <a:b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Una herramienta poderosa para el análisis y manipulación de datos.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409396" y="1089076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DE873B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3"/>
            <p:cNvSpPr txBox="1"/>
            <p:nvPr/>
          </p:nvSpPr>
          <p:spPr>
            <a:xfrm>
              <a:off x="437404" y="1117084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1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¿Qué puede hacer?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818792" y="2178152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DB713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3"/>
            <p:cNvSpPr txBox="1"/>
            <p:nvPr/>
          </p:nvSpPr>
          <p:spPr>
            <a:xfrm>
              <a:off x="846800" y="2206160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Trabajar con estructuras Series y DataFrame.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1228189" y="3267229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D85C3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3"/>
            <p:cNvSpPr txBox="1"/>
            <p:nvPr/>
          </p:nvSpPr>
          <p:spPr>
            <a:xfrm>
              <a:off x="1256197" y="3295237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Leer y escribir archivos CSV, Excel, JSON, etc.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1637585" y="4356305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D54839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1665593" y="4384313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Filtrar, agrupar, limpiar y transformar datos.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4860781" y="698602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4DECD">
                <a:alpha val="89803"/>
              </a:srgbClr>
            </a:solidFill>
            <a:ln cap="rnd" cmpd="sng" w="15875">
              <a:solidFill>
                <a:srgbClr val="F4DE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3"/>
            <p:cNvSpPr txBox="1"/>
            <p:nvPr/>
          </p:nvSpPr>
          <p:spPr>
            <a:xfrm>
              <a:off x="5000634" y="698602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5270178" y="1787679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1D7CC">
                <a:alpha val="89803"/>
              </a:srgbClr>
            </a:solidFill>
            <a:ln cap="rnd" cmpd="sng" w="15875">
              <a:solidFill>
                <a:srgbClr val="F1D7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5410031" y="1787679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5679574" y="2860817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0D1CC">
                <a:alpha val="89803"/>
              </a:srgbClr>
            </a:solidFill>
            <a:ln cap="rnd" cmpd="sng" w="15875">
              <a:solidFill>
                <a:srgbClr val="F0D1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5819427" y="2860817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6088971" y="3960519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ECDCC">
                <a:alpha val="89803"/>
              </a:srgbClr>
            </a:solidFill>
            <a:ln cap="rnd" cmpd="sng" w="15875">
              <a:solidFill>
                <a:srgbClr val="EECD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3"/>
            <p:cNvSpPr txBox="1"/>
            <p:nvPr/>
          </p:nvSpPr>
          <p:spPr>
            <a:xfrm>
              <a:off x="6228824" y="3960519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title"/>
          </p:nvPr>
        </p:nvSpPr>
        <p:spPr>
          <a:xfrm>
            <a:off x="9672638" y="927777"/>
            <a:ext cx="6898478" cy="22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i="1" lang="en-US"/>
              <a:t>Dato:</a:t>
            </a:r>
            <a:endParaRPr/>
          </a:p>
        </p:txBody>
      </p:sp>
      <p:pic>
        <p:nvPicPr>
          <p:cNvPr descr="A panda eating on the ground" id="261" name="Google Shape;261;p24"/>
          <p:cNvPicPr preferRelativeResize="0"/>
          <p:nvPr/>
        </p:nvPicPr>
        <p:blipFill rotWithShape="1">
          <a:blip r:embed="rId3">
            <a:alphaModFix/>
          </a:blip>
          <a:srcRect b="-1" l="16402" r="24209" t="0"/>
          <a:stretch/>
        </p:blipFill>
        <p:spPr>
          <a:xfrm>
            <a:off x="-8395" y="15"/>
            <a:ext cx="9152396" cy="1028698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>
            <p:ph idx="1" type="body"/>
          </p:nvPr>
        </p:nvSpPr>
        <p:spPr>
          <a:xfrm>
            <a:off x="9672638" y="3374231"/>
            <a:ext cx="6898479" cy="5312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28625" lvl="0" marL="428625" rtl="0" algn="l"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/>
              <a:t>Pandas fue creada por Wes McKinney en 2008 porque necesitaba algo mejor que Excel para análisis financiero.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"/>
          <p:cNvSpPr txBox="1"/>
          <p:nvPr>
            <p:ph type="title"/>
          </p:nvPr>
        </p:nvSpPr>
        <p:spPr>
          <a:xfrm>
            <a:off x="1279995" y="1702022"/>
            <a:ext cx="4114965" cy="6382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Funciones</a:t>
            </a:r>
            <a:endParaRPr/>
          </a:p>
        </p:txBody>
      </p:sp>
      <p:graphicFrame>
        <p:nvGraphicFramePr>
          <p:cNvPr id="268" name="Google Shape;268;p7"/>
          <p:cNvGraphicFramePr/>
          <p:nvPr/>
        </p:nvGraphicFramePr>
        <p:xfrm>
          <a:off x="6993284" y="20970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{20F37B58-2F01-4AC2-8752-658E2DE75A07}</a:tableStyleId>
              </a:tblPr>
              <a:tblGrid>
                <a:gridCol w="4639450"/>
                <a:gridCol w="5399675"/>
              </a:tblGrid>
              <a:tr h="55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Función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Descripción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  <a:tr h="55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pd.read_csv("archivo.csv")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Leer archivos CSV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  <a:tr h="55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df.head()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Ver primeras filas del DataFrame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  <a:tr h="55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df.info()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Información general del DataFrame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  <a:tr h="55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df.describe()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Estadísticas descriptivas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  <a:tr h="55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df["columna"].value_counts()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Contar valores únicos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  <a:tr h="55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df.dropna()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Eliminar filas con datos nulos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  <a:tr h="55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df.fillna(valor)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Rellenar datos nulos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  <a:tr h="55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df.groupby("columna").mean()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Agrupar y calcular promedio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  <a:tr h="50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df.sort_values("columna")</a:t>
                      </a:r>
                      <a:endParaRPr/>
                    </a:p>
                  </a:txBody>
                  <a:tcPr marT="64450" marB="64450" marR="128875" marL="12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Ordenar por columna</a:t>
                      </a:r>
                      <a:endParaRPr/>
                    </a:p>
                  </a:txBody>
                  <a:tcPr marT="64450" marB="64450" marR="128875" marL="128875" anchor="ctr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"/>
          <p:cNvSpPr txBox="1"/>
          <p:nvPr>
            <p:ph type="title"/>
          </p:nvPr>
        </p:nvSpPr>
        <p:spPr>
          <a:xfrm>
            <a:off x="9854936" y="927777"/>
            <a:ext cx="7120632" cy="22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orbel"/>
              <a:buNone/>
            </a:pPr>
            <a:r>
              <a:rPr lang="en-US" sz="5400">
                <a:solidFill>
                  <a:srgbClr val="FFFFFF"/>
                </a:solidFill>
              </a:rPr>
              <a:t>NUMPY</a:t>
            </a:r>
            <a:endParaRPr/>
          </a:p>
        </p:txBody>
      </p:sp>
      <p:pic>
        <p:nvPicPr>
          <p:cNvPr descr="NumPy: The most use python Library in Data Science | by Nimra Shahzadi |  Medium" id="274" name="Google Shape;274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8483" y="3755873"/>
            <a:ext cx="6953375" cy="2781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p3"/>
          <p:cNvGrpSpPr/>
          <p:nvPr/>
        </p:nvGrpSpPr>
        <p:grpSpPr>
          <a:xfrm>
            <a:off x="9855995" y="3374232"/>
            <a:ext cx="7119937" cy="5312567"/>
            <a:chOff x="0" y="0"/>
            <a:chExt cx="7119937" cy="5312567"/>
          </a:xfrm>
        </p:grpSpPr>
        <p:sp>
          <p:nvSpPr>
            <p:cNvPr id="276" name="Google Shape;276;p3"/>
            <p:cNvSpPr/>
            <p:nvPr/>
          </p:nvSpPr>
          <p:spPr>
            <a:xfrm>
              <a:off x="0" y="0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"/>
            <p:cNvSpPr txBox="1"/>
            <p:nvPr/>
          </p:nvSpPr>
          <p:spPr>
            <a:xfrm>
              <a:off x="28008" y="28008"/>
              <a:ext cx="4338587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1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¿Qué es?</a:t>
              </a:r>
              <a:b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Una librería fundamental para el cálculo numérico en Python.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09396" y="1089076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E19D3C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"/>
            <p:cNvSpPr txBox="1"/>
            <p:nvPr/>
          </p:nvSpPr>
          <p:spPr>
            <a:xfrm>
              <a:off x="437404" y="1117084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1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¿Qué puede hacer?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818792" y="2178152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D54839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"/>
            <p:cNvSpPr txBox="1"/>
            <p:nvPr/>
          </p:nvSpPr>
          <p:spPr>
            <a:xfrm>
              <a:off x="846800" y="2206160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Crear y manipular arrays multidimensionales.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1228189" y="3267229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D64487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"/>
            <p:cNvSpPr txBox="1"/>
            <p:nvPr/>
          </p:nvSpPr>
          <p:spPr>
            <a:xfrm>
              <a:off x="1256197" y="3295237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Realizar operaciones matemáticas y estadísticas rápidas.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1637585" y="4356305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A465DF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"/>
            <p:cNvSpPr txBox="1"/>
            <p:nvPr/>
          </p:nvSpPr>
          <p:spPr>
            <a:xfrm>
              <a:off x="1665593" y="4384313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Funciones para álgebra lineal, transformadas de Fourier, etc.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4860781" y="698602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7E9CF">
                <a:alpha val="89803"/>
              </a:srgbClr>
            </a:solidFill>
            <a:ln cap="rnd" cmpd="sng" w="15875">
              <a:solidFill>
                <a:srgbClr val="D7E9C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"/>
            <p:cNvSpPr txBox="1"/>
            <p:nvPr/>
          </p:nvSpPr>
          <p:spPr>
            <a:xfrm>
              <a:off x="5000634" y="698602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5270178" y="1787679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4DECD">
                <a:alpha val="89803"/>
              </a:srgbClr>
            </a:solidFill>
            <a:ln cap="rnd" cmpd="sng" w="15875">
              <a:solidFill>
                <a:srgbClr val="F4DE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"/>
            <p:cNvSpPr txBox="1"/>
            <p:nvPr/>
          </p:nvSpPr>
          <p:spPr>
            <a:xfrm>
              <a:off x="5410031" y="1787679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5679574" y="2860817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0CECD">
                <a:alpha val="89803"/>
              </a:srgbClr>
            </a:solidFill>
            <a:ln cap="rnd" cmpd="sng" w="15875">
              <a:solidFill>
                <a:srgbClr val="F0CE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"/>
            <p:cNvSpPr txBox="1"/>
            <p:nvPr/>
          </p:nvSpPr>
          <p:spPr>
            <a:xfrm>
              <a:off x="5819427" y="2860817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6088971" y="3960519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FCED9">
                <a:alpha val="89803"/>
              </a:srgbClr>
            </a:solidFill>
            <a:ln cap="rnd" cmpd="sng" w="15875">
              <a:solidFill>
                <a:srgbClr val="EFCED9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"/>
            <p:cNvSpPr txBox="1"/>
            <p:nvPr/>
          </p:nvSpPr>
          <p:spPr>
            <a:xfrm>
              <a:off x="6228824" y="3960519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type="title"/>
          </p:nvPr>
        </p:nvSpPr>
        <p:spPr>
          <a:xfrm>
            <a:off x="9672638" y="927777"/>
            <a:ext cx="6898478" cy="22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i="1" lang="en-US"/>
              <a:t>Dato:</a:t>
            </a:r>
            <a:endParaRPr/>
          </a:p>
        </p:txBody>
      </p:sp>
      <p:pic>
        <p:nvPicPr>
          <p:cNvPr descr="Giant panda eating grass" id="299" name="Google Shape;299;p25"/>
          <p:cNvPicPr preferRelativeResize="0"/>
          <p:nvPr/>
        </p:nvPicPr>
        <p:blipFill rotWithShape="1">
          <a:blip r:embed="rId3">
            <a:alphaModFix/>
          </a:blip>
          <a:srcRect b="-1" l="19684" r="20926" t="0"/>
          <a:stretch/>
        </p:blipFill>
        <p:spPr>
          <a:xfrm>
            <a:off x="-8395" y="15"/>
            <a:ext cx="9152396" cy="1028698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>
            <p:ph idx="1" type="body"/>
          </p:nvPr>
        </p:nvSpPr>
        <p:spPr>
          <a:xfrm>
            <a:off x="9672638" y="3374231"/>
            <a:ext cx="6898479" cy="5312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28625" lvl="0" marL="428625" rtl="0" algn="l"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/>
              <a:t>Muchas funciones de Pandas están construidas sobre NumPy.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 txBox="1"/>
          <p:nvPr>
            <p:ph type="title"/>
          </p:nvPr>
        </p:nvSpPr>
        <p:spPr>
          <a:xfrm>
            <a:off x="1279995" y="1702022"/>
            <a:ext cx="4114965" cy="6382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Funciones</a:t>
            </a:r>
            <a:endParaRPr/>
          </a:p>
        </p:txBody>
      </p:sp>
      <p:graphicFrame>
        <p:nvGraphicFramePr>
          <p:cNvPr id="306" name="Google Shape;306;p8"/>
          <p:cNvGraphicFramePr/>
          <p:nvPr/>
        </p:nvGraphicFramePr>
        <p:xfrm>
          <a:off x="6993284" y="20020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{20F37B58-2F01-4AC2-8752-658E2DE75A07}</a:tableStyleId>
              </a:tblPr>
              <a:tblGrid>
                <a:gridCol w="5051550"/>
                <a:gridCol w="4987575"/>
              </a:tblGrid>
              <a:tr h="66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Función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Descripción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np.array(lista)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Crear un arreglo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np.mean(arreglo)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Promedio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np.median(arreglo)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Mediana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np.std(arreglo)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Desviación estándar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np.sum(arreglo)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Suma total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np.arange(inicio, fin, paso)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Crear rango de valores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</a:tr>
              <a:tr h="112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np.reshape(arreglo, (filas, columnas))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0"/>
                        <a:buFont typeface="Corbel"/>
                        <a:buNone/>
                      </a:pPr>
                      <a:r>
                        <a:rPr b="0" lang="en-US" sz="3000" u="none" strike="noStrike"/>
                        <a:t>Cambiar forma del arreglo</a:t>
                      </a:r>
                      <a:endParaRPr b="0" i="0" sz="30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800" marB="76800" marR="153600" marL="153600" anchor="ctr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"/>
          <p:cNvSpPr txBox="1"/>
          <p:nvPr>
            <p:ph type="title"/>
          </p:nvPr>
        </p:nvSpPr>
        <p:spPr>
          <a:xfrm>
            <a:off x="9854936" y="927777"/>
            <a:ext cx="7120632" cy="22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orbel"/>
              <a:buNone/>
            </a:pPr>
            <a:r>
              <a:rPr lang="en-US" sz="5400">
                <a:solidFill>
                  <a:srgbClr val="FFFFFF"/>
                </a:solidFill>
              </a:rPr>
              <a:t>MATPLOTLIB</a:t>
            </a:r>
            <a:endParaRPr/>
          </a:p>
        </p:txBody>
      </p:sp>
      <p:pic>
        <p:nvPicPr>
          <p:cNvPr descr="Matplotlib Python. So in this blog we will learn how to… | by Padmashree  Jha | Medium" id="312" name="Google Shape;312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8483" y="4312144"/>
            <a:ext cx="6953375" cy="16688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4"/>
          <p:cNvGrpSpPr/>
          <p:nvPr/>
        </p:nvGrpSpPr>
        <p:grpSpPr>
          <a:xfrm>
            <a:off x="9855995" y="3374232"/>
            <a:ext cx="7119937" cy="5312567"/>
            <a:chOff x="0" y="0"/>
            <a:chExt cx="7119937" cy="5312567"/>
          </a:xfrm>
        </p:grpSpPr>
        <p:sp>
          <p:nvSpPr>
            <p:cNvPr id="314" name="Google Shape;314;p4"/>
            <p:cNvSpPr/>
            <p:nvPr/>
          </p:nvSpPr>
          <p:spPr>
            <a:xfrm>
              <a:off x="0" y="0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D54839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"/>
            <p:cNvSpPr txBox="1"/>
            <p:nvPr/>
          </p:nvSpPr>
          <p:spPr>
            <a:xfrm>
              <a:off x="28008" y="28008"/>
              <a:ext cx="4338587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1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¿Qué es?</a:t>
              </a:r>
              <a:b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Librería para crear gráficos y visualizaciones.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409396" y="1089076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8ED53C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"/>
            <p:cNvSpPr txBox="1"/>
            <p:nvPr/>
          </p:nvSpPr>
          <p:spPr>
            <a:xfrm>
              <a:off x="437404" y="1117084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1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¿Qué puede hacer?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818792" y="2178152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3FD5B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"/>
            <p:cNvSpPr txBox="1"/>
            <p:nvPr/>
          </p:nvSpPr>
          <p:spPr>
            <a:xfrm>
              <a:off x="846800" y="2206160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Graficar datos: líneas, barras, histogramas, dispersión, etc.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1228189" y="3267229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5F42D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"/>
            <p:cNvSpPr txBox="1"/>
            <p:nvPr/>
          </p:nvSpPr>
          <p:spPr>
            <a:xfrm>
              <a:off x="1256197" y="3295237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Personalizar gráficos: títulos, etiquetas, colores, etc.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1637585" y="4356305"/>
              <a:ext cx="5482352" cy="956262"/>
            </a:xfrm>
            <a:prstGeom prst="roundRect">
              <a:avLst>
                <a:gd fmla="val 10000" name="adj"/>
              </a:avLst>
            </a:prstGeom>
            <a:solidFill>
              <a:srgbClr val="D5458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"/>
            <p:cNvSpPr txBox="1"/>
            <p:nvPr/>
          </p:nvSpPr>
          <p:spPr>
            <a:xfrm>
              <a:off x="1665593" y="4384313"/>
              <a:ext cx="4395369" cy="900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Integración con Pandas y NumPy.</a:t>
              </a: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4860781" y="698602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0CECD">
                <a:alpha val="89803"/>
              </a:srgbClr>
            </a:solidFill>
            <a:ln cap="rnd" cmpd="sng" w="15875">
              <a:solidFill>
                <a:srgbClr val="F0CE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"/>
            <p:cNvSpPr txBox="1"/>
            <p:nvPr/>
          </p:nvSpPr>
          <p:spPr>
            <a:xfrm>
              <a:off x="5000634" y="698602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5270178" y="1787679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0EFCD">
                <a:alpha val="89803"/>
              </a:srgbClr>
            </a:solidFill>
            <a:ln cap="rnd" cmpd="sng" w="15875">
              <a:solidFill>
                <a:srgbClr val="D0EF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"/>
            <p:cNvSpPr txBox="1"/>
            <p:nvPr/>
          </p:nvSpPr>
          <p:spPr>
            <a:xfrm>
              <a:off x="5410031" y="1787679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5679574" y="2860817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DD4EF">
                <a:alpha val="89803"/>
              </a:srgbClr>
            </a:solidFill>
            <a:ln cap="rnd" cmpd="sng" w="15875">
              <a:solidFill>
                <a:srgbClr val="CDD4E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"/>
            <p:cNvSpPr txBox="1"/>
            <p:nvPr/>
          </p:nvSpPr>
          <p:spPr>
            <a:xfrm>
              <a:off x="5819427" y="2860817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6088971" y="3960519"/>
              <a:ext cx="621570" cy="62157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FCDD8">
                <a:alpha val="89803"/>
              </a:srgbClr>
            </a:solidFill>
            <a:ln cap="rnd" cmpd="sng" w="15875">
              <a:solidFill>
                <a:srgbClr val="EFCDD8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"/>
            <p:cNvSpPr txBox="1"/>
            <p:nvPr/>
          </p:nvSpPr>
          <p:spPr>
            <a:xfrm>
              <a:off x="6228824" y="3960519"/>
              <a:ext cx="341864" cy="467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orbe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6"/>
          <p:cNvSpPr txBox="1"/>
          <p:nvPr>
            <p:ph type="title"/>
          </p:nvPr>
        </p:nvSpPr>
        <p:spPr>
          <a:xfrm>
            <a:off x="4000500" y="3492501"/>
            <a:ext cx="10287000" cy="2051844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137150" spcFirstLastPara="1" rIns="137150" wrap="square" tIns="68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i="1" lang="en-US" sz="7200"/>
              <a:t>Dato:</a:t>
            </a:r>
            <a:endParaRPr sz="7200"/>
          </a:p>
        </p:txBody>
      </p:sp>
      <p:sp>
        <p:nvSpPr>
          <p:cNvPr id="337" name="Google Shape;337;p26"/>
          <p:cNvSpPr txBox="1"/>
          <p:nvPr>
            <p:ph idx="1" type="body"/>
          </p:nvPr>
        </p:nvSpPr>
        <p:spPr>
          <a:xfrm>
            <a:off x="4000502" y="5403058"/>
            <a:ext cx="10286999" cy="1429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350"/>
              <a:buNone/>
            </a:pPr>
            <a:r>
              <a:rPr lang="en-US" sz="3000" cap="none"/>
              <a:t>AUNQUE ES BÁSICA, SE PUEDE COMBINAR CON SEABORN O PLOTLY PARA GRÁFICOS MÁS AVANZADOS.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"/>
          <p:cNvSpPr txBox="1"/>
          <p:nvPr>
            <p:ph type="title"/>
          </p:nvPr>
        </p:nvSpPr>
        <p:spPr>
          <a:xfrm>
            <a:off x="1279995" y="1702022"/>
            <a:ext cx="4114965" cy="6382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Funciones</a:t>
            </a:r>
            <a:endParaRPr/>
          </a:p>
        </p:txBody>
      </p:sp>
      <p:graphicFrame>
        <p:nvGraphicFramePr>
          <p:cNvPr id="343" name="Google Shape;343;p27"/>
          <p:cNvGraphicFramePr/>
          <p:nvPr/>
        </p:nvGraphicFramePr>
        <p:xfrm>
          <a:off x="6993284" y="17322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{20F37B58-2F01-4AC2-8752-658E2DE75A07}</a:tableStyleId>
              </a:tblPr>
              <a:tblGrid>
                <a:gridCol w="4942850"/>
                <a:gridCol w="5096275"/>
              </a:tblGrid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Función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Descripción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plt.plot(x, y)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Gráfico de línea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plt.bar(categorías, valores)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Gráfico de barras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plt.barh(...)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Gráfico de barras horizontal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plt.scatter(x, y)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Gráfico de dispersión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plt.hist(datos)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Histograma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plt.boxplot(datos)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Boxplot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plt.title("Título")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Título del gráfico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plt.xlabel("Etiqueta X")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Etiqueta eje X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plt.ylabel("Etiqueta Y")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Etiqueta eje Y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/>
                    </a:p>
                  </a:txBody>
                  <a:tcPr marT="121425" marB="121425" marR="114550" marL="1578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cap="none">
                          <a:solidFill>
                            <a:schemeClr val="dk1"/>
                          </a:solidFill>
                        </a:rPr>
                        <a:t>Mostrar gráfico</a:t>
                      </a:r>
                      <a:endParaRPr/>
                    </a:p>
                  </a:txBody>
                  <a:tcPr marT="121425" marB="121425" marR="114550" marL="157850" anchor="ctr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"/>
          <p:cNvSpPr txBox="1"/>
          <p:nvPr>
            <p:ph type="title"/>
          </p:nvPr>
        </p:nvSpPr>
        <p:spPr>
          <a:xfrm>
            <a:off x="9854936" y="927777"/>
            <a:ext cx="7120632" cy="22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orbel"/>
              <a:buNone/>
            </a:pPr>
            <a:r>
              <a:rPr lang="en-US" sz="5400">
                <a:solidFill>
                  <a:srgbClr val="FFFFFF"/>
                </a:solidFill>
              </a:rPr>
              <a:t>NLTK</a:t>
            </a:r>
            <a:endParaRPr/>
          </a:p>
        </p:txBody>
      </p:sp>
      <p:pic>
        <p:nvPicPr>
          <p:cNvPr descr="Introduction to NLTK library in Python | by Uzair Adamjee | Python in Plain  English" id="349" name="Google Shape;34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959" y="1720718"/>
            <a:ext cx="6298419" cy="68516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5"/>
          <p:cNvGrpSpPr/>
          <p:nvPr/>
        </p:nvGrpSpPr>
        <p:grpSpPr>
          <a:xfrm>
            <a:off x="9855995" y="3374232"/>
            <a:ext cx="4746624" cy="3541711"/>
            <a:chOff x="0" y="0"/>
            <a:chExt cx="4746624" cy="3541711"/>
          </a:xfrm>
        </p:grpSpPr>
        <p:sp>
          <p:nvSpPr>
            <p:cNvPr id="351" name="Google Shape;351;p5"/>
            <p:cNvSpPr/>
            <p:nvPr/>
          </p:nvSpPr>
          <p:spPr>
            <a:xfrm>
              <a:off x="0" y="0"/>
              <a:ext cx="3654901" cy="637508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5"/>
            <p:cNvSpPr txBox="1"/>
            <p:nvPr/>
          </p:nvSpPr>
          <p:spPr>
            <a:xfrm>
              <a:off x="18672" y="18672"/>
              <a:ext cx="2892391" cy="600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orbel"/>
                <a:buNone/>
              </a:pPr>
              <a:r>
                <a:rPr b="1" i="0" lang="en-US" sz="1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¿Qué es?</a:t>
              </a:r>
              <a:br>
                <a:rPr b="0" i="0" lang="en-US" sz="1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r>
                <a:rPr b="0" i="0" lang="en-US" sz="1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Un conjunto de herramientas para el procesamiento de lenguaje natural.</a:t>
              </a:r>
              <a:endParaRPr sz="13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272930" y="726050"/>
              <a:ext cx="3654901" cy="637508"/>
            </a:xfrm>
            <a:prstGeom prst="roundRect">
              <a:avLst>
                <a:gd fmla="val 10000" name="adj"/>
              </a:avLst>
            </a:prstGeom>
            <a:solidFill>
              <a:srgbClr val="9FCA49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5"/>
            <p:cNvSpPr txBox="1"/>
            <p:nvPr/>
          </p:nvSpPr>
          <p:spPr>
            <a:xfrm>
              <a:off x="291602" y="744722"/>
              <a:ext cx="2930246" cy="600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orbel"/>
                <a:buNone/>
              </a:pPr>
              <a:r>
                <a:rPr b="1" i="0" lang="en-US" sz="1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¿Qué puede hacer?</a:t>
              </a:r>
              <a:endParaRPr sz="13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545861" y="1452101"/>
              <a:ext cx="3654901" cy="637508"/>
            </a:xfrm>
            <a:prstGeom prst="roundRect">
              <a:avLst>
                <a:gd fmla="val 10000" name="adj"/>
              </a:avLst>
            </a:prstGeom>
            <a:solidFill>
              <a:srgbClr val="C6D24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 txBox="1"/>
            <p:nvPr/>
          </p:nvSpPr>
          <p:spPr>
            <a:xfrm>
              <a:off x="564533" y="1470773"/>
              <a:ext cx="2930246" cy="600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orbel"/>
                <a:buNone/>
              </a:pPr>
              <a:r>
                <a:rPr b="0" i="0" lang="en-US" sz="1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Tokenización, lematización, y eliminación de stopwords.</a:t>
              </a:r>
              <a:endParaRPr sz="13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818792" y="2178152"/>
              <a:ext cx="3654901" cy="637508"/>
            </a:xfrm>
            <a:prstGeom prst="roundRect">
              <a:avLst>
                <a:gd fmla="val 10000" name="adj"/>
              </a:avLst>
            </a:prstGeom>
            <a:solidFill>
              <a:srgbClr val="D9BF41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 txBox="1"/>
            <p:nvPr/>
          </p:nvSpPr>
          <p:spPr>
            <a:xfrm>
              <a:off x="837464" y="2196824"/>
              <a:ext cx="2930246" cy="600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orbel"/>
                <a:buNone/>
              </a:pPr>
              <a:r>
                <a:rPr b="0" i="0" lang="en-US" sz="1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Análisis sintáctico y semántico.</a:t>
              </a:r>
              <a:endParaRPr sz="13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1091723" y="2904203"/>
              <a:ext cx="3654901" cy="637508"/>
            </a:xfrm>
            <a:prstGeom prst="roundRect">
              <a:avLst>
                <a:gd fmla="val 10000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 txBox="1"/>
            <p:nvPr/>
          </p:nvSpPr>
          <p:spPr>
            <a:xfrm>
              <a:off x="1110395" y="2922875"/>
              <a:ext cx="2930246" cy="6001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49525" spcFirstLastPara="1" rIns="49525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orbel"/>
                <a:buNone/>
              </a:pPr>
              <a:r>
                <a:rPr b="0" i="0" lang="en-US" sz="13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Carga de corpus y datasets para NLP.</a:t>
              </a:r>
              <a:endParaRPr sz="13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3240520" y="465735"/>
              <a:ext cx="414380" cy="41438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7E9CF">
                <a:alpha val="89803"/>
              </a:srgbClr>
            </a:solidFill>
            <a:ln cap="rnd" cmpd="sng" w="15875">
              <a:solidFill>
                <a:srgbClr val="D7E9CF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 txBox="1"/>
            <p:nvPr/>
          </p:nvSpPr>
          <p:spPr>
            <a:xfrm>
              <a:off x="3333755" y="465735"/>
              <a:ext cx="227910" cy="311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3513451" y="1191786"/>
              <a:ext cx="414380" cy="41438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3ECCD">
                <a:alpha val="89803"/>
              </a:srgbClr>
            </a:solidFill>
            <a:ln cap="rnd" cmpd="sng" w="15875">
              <a:solidFill>
                <a:srgbClr val="E3ECCD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 txBox="1"/>
            <p:nvPr/>
          </p:nvSpPr>
          <p:spPr>
            <a:xfrm>
              <a:off x="3606686" y="1191786"/>
              <a:ext cx="227910" cy="311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3786382" y="1907211"/>
              <a:ext cx="414380" cy="41438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0EACC">
                <a:alpha val="89803"/>
              </a:srgbClr>
            </a:solidFill>
            <a:ln cap="rnd" cmpd="sng" w="15875">
              <a:solidFill>
                <a:srgbClr val="F0EA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 txBox="1"/>
            <p:nvPr/>
          </p:nvSpPr>
          <p:spPr>
            <a:xfrm>
              <a:off x="3879617" y="1907211"/>
              <a:ext cx="227910" cy="311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4059313" y="2640346"/>
              <a:ext cx="414380" cy="41438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F3DCCC">
                <a:alpha val="89803"/>
              </a:srgbClr>
            </a:solidFill>
            <a:ln cap="rnd" cmpd="sng" w="15875">
              <a:solidFill>
                <a:srgbClr val="F3DC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5"/>
            <p:cNvSpPr txBox="1"/>
            <p:nvPr/>
          </p:nvSpPr>
          <p:spPr>
            <a:xfrm>
              <a:off x="4152548" y="2640346"/>
              <a:ext cx="227910" cy="311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"/>
          <p:cNvSpPr txBox="1"/>
          <p:nvPr>
            <p:ph type="title"/>
          </p:nvPr>
        </p:nvSpPr>
        <p:spPr>
          <a:xfrm>
            <a:off x="4000500" y="3492501"/>
            <a:ext cx="10287000" cy="2051844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137150" spcFirstLastPara="1" rIns="137150" wrap="square" tIns="68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i="1" lang="en-US" sz="7200"/>
              <a:t>Dato:</a:t>
            </a:r>
            <a:endParaRPr sz="7200"/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4000502" y="5403058"/>
            <a:ext cx="10286999" cy="1429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350"/>
              <a:buNone/>
            </a:pPr>
            <a:r>
              <a:rPr lang="en-US" sz="3000" cap="none"/>
              <a:t>NLTK TIENE MÁS DE 50 CORPORA (COLECCIONES DE TEXTO) DISPONIBLES PARA ANÁLISIS.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 txBox="1"/>
          <p:nvPr>
            <p:ph type="title"/>
          </p:nvPr>
        </p:nvSpPr>
        <p:spPr>
          <a:xfrm>
            <a:off x="1279995" y="1702022"/>
            <a:ext cx="4114965" cy="6382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Funciones</a:t>
            </a:r>
            <a:endParaRPr/>
          </a:p>
        </p:txBody>
      </p:sp>
      <p:graphicFrame>
        <p:nvGraphicFramePr>
          <p:cNvPr id="380" name="Google Shape;380;p29"/>
          <p:cNvGraphicFramePr/>
          <p:nvPr/>
        </p:nvGraphicFramePr>
        <p:xfrm>
          <a:off x="6993284" y="2131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{20F37B58-2F01-4AC2-8752-658E2DE75A07}</a:tableStyleId>
              </a:tblPr>
              <a:tblGrid>
                <a:gridCol w="6397750"/>
                <a:gridCol w="3641375"/>
              </a:tblGrid>
              <a:tr h="5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Función</a:t>
                      </a:r>
                      <a:endParaRPr/>
                    </a:p>
                  </a:txBody>
                  <a:tcPr marT="58700" marB="58700" marR="117375" marL="1173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Descripción</a:t>
                      </a:r>
                      <a:endParaRPr/>
                    </a:p>
                  </a:txBody>
                  <a:tcPr marT="58700" marB="58700" marR="117375" marL="117375" anchor="ctr"/>
                </a:tc>
              </a:tr>
              <a:tr h="5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word_tokenize(texto)</a:t>
                      </a:r>
                      <a:endParaRPr/>
                    </a:p>
                  </a:txBody>
                  <a:tcPr marT="58700" marB="58700" marR="117375" marL="1173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Tokenización</a:t>
                      </a:r>
                      <a:endParaRPr/>
                    </a:p>
                  </a:txBody>
                  <a:tcPr marT="58700" marB="58700" marR="117375" marL="117375" anchor="ctr"/>
                </a:tc>
              </a:tr>
              <a:tr h="5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nltk.FreqDist(tokens)</a:t>
                      </a:r>
                      <a:endParaRPr/>
                    </a:p>
                  </a:txBody>
                  <a:tcPr marT="58700" marB="58700" marR="117375" marL="1173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Frecuencia de palabras</a:t>
                      </a:r>
                      <a:endParaRPr/>
                    </a:p>
                  </a:txBody>
                  <a:tcPr marT="58700" marB="58700" marR="117375" marL="117375" anchor="ctr"/>
                </a:tc>
              </a:tr>
              <a:tr h="5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stopwords.words('english')</a:t>
                      </a:r>
                      <a:endParaRPr/>
                    </a:p>
                  </a:txBody>
                  <a:tcPr marT="58700" marB="58700" marR="117375" marL="1173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Lista de stopwords</a:t>
                      </a:r>
                      <a:endParaRPr/>
                    </a:p>
                  </a:txBody>
                  <a:tcPr marT="58700" marB="58700" marR="117375" marL="117375" anchor="ctr"/>
                </a:tc>
              </a:tr>
              <a:tr h="5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PorterStemmer().stem(palabra)</a:t>
                      </a:r>
                      <a:endParaRPr/>
                    </a:p>
                  </a:txBody>
                  <a:tcPr marT="58700" marB="58700" marR="117375" marL="1173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Stemming</a:t>
                      </a:r>
                      <a:endParaRPr/>
                    </a:p>
                  </a:txBody>
                  <a:tcPr marT="58700" marB="58700" marR="117375" marL="117375" anchor="ctr"/>
                </a:tc>
              </a:tr>
              <a:tr h="5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WordNetLemmatizer().lemmatize(palabra)</a:t>
                      </a:r>
                      <a:endParaRPr/>
                    </a:p>
                  </a:txBody>
                  <a:tcPr marT="58700" marB="58700" marR="117375" marL="1173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Lemmatización</a:t>
                      </a:r>
                      <a:endParaRPr/>
                    </a:p>
                  </a:txBody>
                  <a:tcPr marT="58700" marB="58700" marR="117375" marL="117375" anchor="ctr"/>
                </a:tc>
              </a:tr>
              <a:tr h="53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nltk.sent_tokenize(texto)</a:t>
                      </a:r>
                      <a:endParaRPr/>
                    </a:p>
                  </a:txBody>
                  <a:tcPr marT="58700" marB="58700" marR="117375" marL="1173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Separar por oraciones</a:t>
                      </a:r>
                      <a:endParaRPr/>
                    </a:p>
                  </a:txBody>
                  <a:tcPr marT="58700" marB="58700" marR="117375" marL="117375" anchor="ctr"/>
                </a:tc>
              </a:tr>
              <a:tr h="8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ne_chunk(pos_tag(tokens))</a:t>
                      </a:r>
                      <a:endParaRPr/>
                    </a:p>
                  </a:txBody>
                  <a:tcPr marT="58700" marB="58700" marR="117375" marL="1173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Entidades nombradas (NER)</a:t>
                      </a:r>
                      <a:endParaRPr/>
                    </a:p>
                  </a:txBody>
                  <a:tcPr marT="58700" marB="58700" marR="117375" marL="117375" anchor="ctr"/>
                </a:tc>
              </a:tr>
              <a:tr h="8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SentimentIntensityAnalyzer().polarity_scores(texto)</a:t>
                      </a:r>
                      <a:endParaRPr/>
                    </a:p>
                  </a:txBody>
                  <a:tcPr marT="58700" marB="58700" marR="117375" marL="1173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Análisis de sentimientos</a:t>
                      </a:r>
                      <a:endParaRPr/>
                    </a:p>
                  </a:txBody>
                  <a:tcPr marT="58700" marB="58700" marR="117375" marL="117375" anchor="ctr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6" name="Google Shape;386;p30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7" name="Google Shape;387;p30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Impact"/>
              <a:buNone/>
            </a:pPr>
            <a:r>
              <a:rPr i="0" lang="en-US" sz="56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5600">
              <a:solidFill>
                <a:srgbClr val="FFFFFF"/>
              </a:solidFill>
            </a:endParaRPr>
          </a:p>
        </p:txBody>
      </p:sp>
      <p:grpSp>
        <p:nvGrpSpPr>
          <p:cNvPr id="388" name="Google Shape;388;p30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389" name="Google Shape;389;p30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395" name="Google Shape;395;p30"/>
          <p:cNvGrpSpPr/>
          <p:nvPr/>
        </p:nvGrpSpPr>
        <p:grpSpPr>
          <a:xfrm>
            <a:off x="7515225" y="1816424"/>
            <a:ext cx="9739312" cy="7682850"/>
            <a:chOff x="0" y="787725"/>
            <a:chExt cx="9739312" cy="7682850"/>
          </a:xfrm>
        </p:grpSpPr>
        <p:sp>
          <p:nvSpPr>
            <p:cNvPr id="396" name="Google Shape;396;p30"/>
            <p:cNvSpPr/>
            <p:nvPr/>
          </p:nvSpPr>
          <p:spPr>
            <a:xfrm>
              <a:off x="0" y="787725"/>
              <a:ext cx="9739312" cy="247455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 txBox="1"/>
            <p:nvPr/>
          </p:nvSpPr>
          <p:spPr>
            <a:xfrm>
              <a:off x="120798" y="908523"/>
              <a:ext cx="9497716" cy="2232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500"/>
                <a:buFont typeface="Corbel"/>
                <a:buNone/>
              </a:pPr>
              <a:r>
                <a:rPr lang="en-US" sz="4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Pandas fue creada por Wes McKinney en 2008 porque necesitaba algo mejor que Excel para análisis financiero.</a:t>
              </a:r>
              <a:endParaRPr sz="4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0" y="3391875"/>
              <a:ext cx="9739312" cy="2474550"/>
            </a:xfrm>
            <a:prstGeom prst="roundRect">
              <a:avLst>
                <a:gd fmla="val 16667" name="adj"/>
              </a:avLst>
            </a:prstGeom>
            <a:solidFill>
              <a:srgbClr val="C6D24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 txBox="1"/>
            <p:nvPr/>
          </p:nvSpPr>
          <p:spPr>
            <a:xfrm>
              <a:off x="120798" y="3512673"/>
              <a:ext cx="9497716" cy="2232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500"/>
                <a:buFont typeface="Corbel"/>
                <a:buNone/>
              </a:pPr>
              <a:r>
                <a:rPr lang="en-US" sz="45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Muchas funciones de Pandas están construidas sobre NumPy.</a:t>
              </a:r>
              <a:endParaRPr sz="4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0" y="5996025"/>
              <a:ext cx="9739312" cy="2474550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0"/>
            <p:cNvSpPr txBox="1"/>
            <p:nvPr/>
          </p:nvSpPr>
          <p:spPr>
            <a:xfrm>
              <a:off x="120798" y="6116823"/>
              <a:ext cx="9497716" cy="2232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500"/>
                <a:buFont typeface="Corbel"/>
                <a:buNone/>
              </a:pPr>
              <a:r>
                <a:rPr lang="en-US" sz="4500" cap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NLTK TIENE MÁS DE 50 CORPORA (COLECCIONES DE TEXTO) DISPONIBLES PARA ANÁLISIS.</a:t>
              </a:r>
              <a:endParaRPr sz="45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7" name="Google Shape;407;p31"/>
          <p:cNvSpPr/>
          <p:nvPr/>
        </p:nvSpPr>
        <p:spPr>
          <a:xfrm flipH="1" rot="10800000">
            <a:off x="-1" y="-1"/>
            <a:ext cx="6605563" cy="10287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8" name="Google Shape;408;p31"/>
          <p:cNvSpPr txBox="1"/>
          <p:nvPr>
            <p:ph type="title"/>
          </p:nvPr>
        </p:nvSpPr>
        <p:spPr>
          <a:xfrm>
            <a:off x="802531" y="1028700"/>
            <a:ext cx="3959943" cy="76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VALOR y ACTITUD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409" name="Google Shape;409;p31"/>
          <p:cNvGrpSpPr/>
          <p:nvPr/>
        </p:nvGrpSpPr>
        <p:grpSpPr>
          <a:xfrm>
            <a:off x="4972938" y="0"/>
            <a:ext cx="3655219" cy="10287002"/>
            <a:chOff x="1320800" y="0"/>
            <a:chExt cx="2436813" cy="6858001"/>
          </a:xfrm>
        </p:grpSpPr>
        <p:sp>
          <p:nvSpPr>
            <p:cNvPr id="410" name="Google Shape;410;p3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416" name="Google Shape;416;p31"/>
          <p:cNvGrpSpPr/>
          <p:nvPr/>
        </p:nvGrpSpPr>
        <p:grpSpPr>
          <a:xfrm>
            <a:off x="7515225" y="1063169"/>
            <a:ext cx="9739312" cy="7589161"/>
            <a:chOff x="0" y="34469"/>
            <a:chExt cx="9739312" cy="7589161"/>
          </a:xfrm>
        </p:grpSpPr>
        <p:sp>
          <p:nvSpPr>
            <p:cNvPr id="417" name="Google Shape;417;p31"/>
            <p:cNvSpPr/>
            <p:nvPr/>
          </p:nvSpPr>
          <p:spPr>
            <a:xfrm>
              <a:off x="0" y="388709"/>
              <a:ext cx="9739312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1"/>
            <p:cNvSpPr txBox="1"/>
            <p:nvPr/>
          </p:nvSpPr>
          <p:spPr>
            <a:xfrm>
              <a:off x="0" y="388709"/>
              <a:ext cx="9739312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trabaja al construir modelos y analizar sus predicciones, evaluando si tienen sentido según el problema planteado.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486965" y="34469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1"/>
            <p:cNvSpPr txBox="1"/>
            <p:nvPr/>
          </p:nvSpPr>
          <p:spPr>
            <a:xfrm>
              <a:off x="521550" y="69054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Pensamiento crítico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0" y="2233349"/>
              <a:ext cx="9739312" cy="1701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ABCD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1"/>
            <p:cNvSpPr txBox="1"/>
            <p:nvPr/>
          </p:nvSpPr>
          <p:spPr>
            <a:xfrm>
              <a:off x="0" y="2233349"/>
              <a:ext cx="9739312" cy="17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aplica al trabajar con datos textuales de personas (sentimientos), cuidando no generar sesgos o interpretaciones erróneas.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486965" y="1879109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rgbClr val="ABCD48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1"/>
            <p:cNvSpPr txBox="1"/>
            <p:nvPr/>
          </p:nvSpPr>
          <p:spPr>
            <a:xfrm>
              <a:off x="521550" y="1913694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Ética en el manejo de datos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0" y="4418190"/>
              <a:ext cx="9739312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D7C9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1"/>
            <p:cNvSpPr txBox="1"/>
            <p:nvPr/>
          </p:nvSpPr>
          <p:spPr>
            <a:xfrm>
              <a:off x="0" y="4418190"/>
              <a:ext cx="9739312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desarrolla al aplicar CRISP-DM paso a paso, desde recolección hasta validación de resultados.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486965" y="4063949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rgbClr val="D7C94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1"/>
            <p:cNvSpPr txBox="1"/>
            <p:nvPr/>
          </p:nvSpPr>
          <p:spPr>
            <a:xfrm>
              <a:off x="521550" y="4098534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Disciplina analítica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0" y="6262830"/>
              <a:ext cx="9739312" cy="1360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E19C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1"/>
            <p:cNvSpPr txBox="1"/>
            <p:nvPr/>
          </p:nvSpPr>
          <p:spPr>
            <a:xfrm>
              <a:off x="0" y="6262830"/>
              <a:ext cx="9739312" cy="136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0675" lIns="755875" spcFirstLastPara="1" rIns="755875" wrap="square" tIns="4998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refuerza al probar distintos modelos y métricas hasta encontrar la solución más adecuada.</a:t>
              </a:r>
              <a:endPara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486965" y="5908590"/>
              <a:ext cx="6817518" cy="708480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1"/>
            <p:cNvSpPr txBox="1"/>
            <p:nvPr/>
          </p:nvSpPr>
          <p:spPr>
            <a:xfrm>
              <a:off x="521550" y="5943175"/>
              <a:ext cx="6748348" cy="639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7675" spcFirstLastPara="1" rIns="2576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orbel"/>
                <a:buNone/>
              </a:pPr>
              <a:r>
                <a:rPr lang="en-US" sz="2400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Persistencia investigativa</a:t>
              </a:r>
              <a:endParaRPr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2"/>
          <p:cNvSpPr txBox="1"/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00"/>
              <a:buFont typeface="Impact"/>
              <a:buNone/>
            </a:pPr>
            <a:r>
              <a:rPr i="0" lang="en-US" sz="60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/>
          </a:p>
        </p:txBody>
      </p:sp>
      <p:grpSp>
        <p:nvGrpSpPr>
          <p:cNvPr id="438" name="Google Shape;438;p32"/>
          <p:cNvGrpSpPr/>
          <p:nvPr/>
        </p:nvGrpSpPr>
        <p:grpSpPr>
          <a:xfrm>
            <a:off x="2226466" y="5273039"/>
            <a:ext cx="15028070" cy="1907177"/>
            <a:chOff x="0" y="2225039"/>
            <a:chExt cx="15028070" cy="1907177"/>
          </a:xfrm>
        </p:grpSpPr>
        <p:sp>
          <p:nvSpPr>
            <p:cNvPr id="439" name="Google Shape;439;p32"/>
            <p:cNvSpPr/>
            <p:nvPr/>
          </p:nvSpPr>
          <p:spPr>
            <a:xfrm>
              <a:off x="0" y="2225039"/>
              <a:ext cx="15028070" cy="1907177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576921" y="2654154"/>
              <a:ext cx="1048947" cy="104894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2202789" y="2225039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2"/>
            <p:cNvSpPr txBox="1"/>
            <p:nvPr/>
          </p:nvSpPr>
          <p:spPr>
            <a:xfrm>
              <a:off x="2202789" y="2225039"/>
              <a:ext cx="12825280" cy="190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1825" lIns="201825" spcFirstLastPara="1" rIns="201825" wrap="square" tIns="20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orbel"/>
                <a:buNone/>
              </a:pPr>
              <a:r>
                <a:rPr i="1"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Python 3.13 documentation</a:t>
              </a:r>
              <a:r>
                <a:rPr lang="en-US" sz="200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. (s. f.). Python Documentation. https://docs.python.org/3/</a:t>
              </a:r>
              <a:endParaRPr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"/>
          <p:cNvSpPr txBox="1"/>
          <p:nvPr/>
        </p:nvSpPr>
        <p:spPr>
          <a:xfrm>
            <a:off x="4437795" y="3389104"/>
            <a:ext cx="8658900" cy="2928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99"/>
              <a:buFont typeface="Impact"/>
              <a:buNone/>
            </a:pPr>
            <a:r>
              <a:rPr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99"/>
              <a:buFont typeface="Corbel"/>
              <a:buNone/>
            </a:pPr>
            <a:r>
              <a:t/>
            </a:r>
            <a:endParaRPr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48" name="Google Shape;448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0" name="Google Shape;45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