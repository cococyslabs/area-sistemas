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10287000" cx="18288000"/>
  <p:notesSz cx="6858000" cy="9144000"/>
  <p:embeddedFontLst>
    <p:embeddedFont>
      <p:font typeface="Lobster"/>
      <p:regular r:id="rId47"/>
    </p:embeddedFont>
    <p:embeddedFont>
      <p:font typeface="Corbel"/>
      <p:regular r:id="rId48"/>
      <p:bold r:id="rId49"/>
      <p:italic r:id="rId50"/>
      <p:boldItalic r:id="rId51"/>
    </p:embeddedFont>
    <p:embeddedFont>
      <p:font typeface="Pacifico"/>
      <p:regular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jrMVkpHCjODfNB8IW+RNmQTPEz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37EC2D-552D-4AED-A61F-151307E2DBA6}">
  <a:tblStyle styleId="{BD37EC2D-552D-4AED-A61F-151307E2DBA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Corbel-regular.fntdata"/><Relationship Id="rId47" Type="http://schemas.openxmlformats.org/officeDocument/2006/relationships/font" Target="fonts/Lobster-regular.fntdata"/><Relationship Id="rId49" Type="http://schemas.openxmlformats.org/officeDocument/2006/relationships/font" Target="fonts/Corbel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boldItalic.fntdata"/><Relationship Id="rId50" Type="http://schemas.openxmlformats.org/officeDocument/2006/relationships/font" Target="fonts/Corbel-italic.fntdata"/><Relationship Id="rId53" Type="http://schemas.openxmlformats.org/officeDocument/2006/relationships/font" Target="fonts/OpenSans-regular.fntdata"/><Relationship Id="rId52" Type="http://schemas.openxmlformats.org/officeDocument/2006/relationships/font" Target="fonts/Pacifico-regular.fntdata"/><Relationship Id="rId11" Type="http://schemas.openxmlformats.org/officeDocument/2006/relationships/slide" Target="slides/slide4.xml"/><Relationship Id="rId55" Type="http://schemas.openxmlformats.org/officeDocument/2006/relationships/font" Target="fonts/OpenSans-italic.fntdata"/><Relationship Id="rId10" Type="http://schemas.openxmlformats.org/officeDocument/2006/relationships/slide" Target="slides/slide3.xml"/><Relationship Id="rId54" Type="http://schemas.openxmlformats.org/officeDocument/2006/relationships/font" Target="fonts/OpenSans-bold.fntdata"/><Relationship Id="rId13" Type="http://schemas.openxmlformats.org/officeDocument/2006/relationships/slide" Target="slides/slide6.xml"/><Relationship Id="rId57" Type="http://customschemas.google.com/relationships/presentationmetadata" Target="metadata"/><Relationship Id="rId12" Type="http://schemas.openxmlformats.org/officeDocument/2006/relationships/slide" Target="slides/slide5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7" name="Google Shape;77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8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8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5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8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8"/>
          <p:cNvSpPr txBox="1"/>
          <p:nvPr>
            <p:ph idx="12" type="sldNum"/>
          </p:nvPr>
        </p:nvSpPr>
        <p:spPr>
          <a:xfrm>
            <a:off x="16427785" y="8800697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sa">
  <p:cSld name="Mesa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0"/>
          <p:cNvPicPr preferRelativeResize="0"/>
          <p:nvPr/>
        </p:nvPicPr>
        <p:blipFill rotWithShape="1">
          <a:blip r:embed="rId2">
            <a:alphaModFix/>
          </a:blip>
          <a:srcRect b="0" l="18883" r="46636" t="18052"/>
          <a:stretch/>
        </p:blipFill>
        <p:spPr>
          <a:xfrm rot="5400000">
            <a:off x="14330644" y="-1428465"/>
            <a:ext cx="2528892" cy="538582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0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2" type="sldNum"/>
          </p:nvPr>
        </p:nvSpPr>
        <p:spPr>
          <a:xfrm>
            <a:off x="1371601" y="9369381"/>
            <a:ext cx="946598" cy="444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y tabla del título 1">
  <p:cSld name="Contenido y tabla del título 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1"/>
          <p:cNvPicPr preferRelativeResize="0"/>
          <p:nvPr/>
        </p:nvPicPr>
        <p:blipFill rotWithShape="1">
          <a:blip r:embed="rId2">
            <a:alphaModFix/>
          </a:blip>
          <a:srcRect b="26760" l="0" r="55824" t="0"/>
          <a:stretch/>
        </p:blipFill>
        <p:spPr>
          <a:xfrm>
            <a:off x="13844588" y="2752860"/>
            <a:ext cx="4443413" cy="753414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1"/>
          <p:cNvSpPr/>
          <p:nvPr/>
        </p:nvSpPr>
        <p:spPr>
          <a:xfrm>
            <a:off x="6665120" y="2752860"/>
            <a:ext cx="10501313" cy="64197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5" name="Google Shape;35;p61"/>
          <p:cNvPicPr preferRelativeResize="0"/>
          <p:nvPr/>
        </p:nvPicPr>
        <p:blipFill rotWithShape="1">
          <a:blip r:embed="rId2">
            <a:alphaModFix/>
          </a:blip>
          <a:srcRect b="10346" l="0" r="75060" t="60903"/>
          <a:stretch/>
        </p:blipFill>
        <p:spPr>
          <a:xfrm rot="-5400000">
            <a:off x="224476" y="-224479"/>
            <a:ext cx="2508563" cy="295751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1"/>
          <p:cNvSpPr txBox="1"/>
          <p:nvPr>
            <p:ph type="title"/>
          </p:nvPr>
        </p:nvSpPr>
        <p:spPr>
          <a:xfrm>
            <a:off x="1371599" y="547687"/>
            <a:ext cx="15544803" cy="240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" type="body"/>
          </p:nvPr>
        </p:nvSpPr>
        <p:spPr>
          <a:xfrm>
            <a:off x="1371599" y="3033375"/>
            <a:ext cx="4948520" cy="5872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spcBef>
                <a:spcPts val="0"/>
              </a:spcBef>
              <a:spcAft>
                <a:spcPts val="0"/>
              </a:spcAft>
              <a:buSzPts val="4350"/>
              <a:buChar char="•"/>
              <a:defRPr b="0" sz="3000"/>
            </a:lvl1pPr>
            <a:lvl2pPr indent="-477202" lvl="1" marL="914400" algn="l">
              <a:spcBef>
                <a:spcPts val="1800"/>
              </a:spcBef>
              <a:spcAft>
                <a:spcPts val="0"/>
              </a:spcAft>
              <a:buSzPts val="3915"/>
              <a:buChar char="•"/>
              <a:defRPr b="0" sz="2700"/>
            </a:lvl2pPr>
            <a:lvl3pPr indent="-449580" lvl="2" marL="1371600" algn="l">
              <a:spcBef>
                <a:spcPts val="1800"/>
              </a:spcBef>
              <a:spcAft>
                <a:spcPts val="0"/>
              </a:spcAft>
              <a:buSzPts val="3480"/>
              <a:buChar char="•"/>
              <a:defRPr b="0" sz="2400"/>
            </a:lvl3pPr>
            <a:lvl4pPr indent="-421957" lvl="3" marL="1828800" algn="l">
              <a:spcBef>
                <a:spcPts val="1800"/>
              </a:spcBef>
              <a:spcAft>
                <a:spcPts val="0"/>
              </a:spcAft>
              <a:buSzPts val="3045"/>
              <a:buChar char="•"/>
              <a:defRPr b="0" sz="2100"/>
            </a:lvl4pPr>
            <a:lvl5pPr indent="-421957" lvl="4" marL="2286000" algn="l">
              <a:spcBef>
                <a:spcPts val="1800"/>
              </a:spcBef>
              <a:spcAft>
                <a:spcPts val="0"/>
              </a:spcAft>
              <a:buSzPts val="3045"/>
              <a:buChar char="•"/>
              <a:defRPr b="0" sz="2100"/>
            </a:lvl5pPr>
            <a:lvl6pPr indent="-394335" lvl="5" marL="2743200" algn="l">
              <a:spcBef>
                <a:spcPts val="18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2" type="sldNum"/>
          </p:nvPr>
        </p:nvSpPr>
        <p:spPr>
          <a:xfrm>
            <a:off x="1371601" y="9369381"/>
            <a:ext cx="946598" cy="444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ntenidos 2">
  <p:cSld name="Título y dos contenidos 2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2"/>
          <p:cNvPicPr preferRelativeResize="0"/>
          <p:nvPr/>
        </p:nvPicPr>
        <p:blipFill rotWithShape="1">
          <a:blip r:embed="rId2">
            <a:alphaModFix/>
          </a:blip>
          <a:srcRect b="44471" l="1980" r="61027" t="40714"/>
          <a:stretch/>
        </p:blipFill>
        <p:spPr>
          <a:xfrm flipH="1">
            <a:off x="-40245" y="8925060"/>
            <a:ext cx="3770282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2"/>
          <p:cNvPicPr preferRelativeResize="0"/>
          <p:nvPr/>
        </p:nvPicPr>
        <p:blipFill rotWithShape="1">
          <a:blip r:embed="rId3">
            <a:alphaModFix/>
          </a:blip>
          <a:srcRect b="0" l="18883" r="46636" t="18052"/>
          <a:stretch/>
        </p:blipFill>
        <p:spPr>
          <a:xfrm rot="5400000">
            <a:off x="14330644" y="-1428465"/>
            <a:ext cx="2528892" cy="53858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2"/>
          <p:cNvSpPr txBox="1"/>
          <p:nvPr>
            <p:ph type="title"/>
          </p:nvPr>
        </p:nvSpPr>
        <p:spPr>
          <a:xfrm>
            <a:off x="1371598" y="547688"/>
            <a:ext cx="15659102" cy="2425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2"/>
          <p:cNvSpPr txBox="1"/>
          <p:nvPr>
            <p:ph idx="1" type="body"/>
          </p:nvPr>
        </p:nvSpPr>
        <p:spPr>
          <a:xfrm>
            <a:off x="1371599" y="3033375"/>
            <a:ext cx="4965194" cy="5620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spcBef>
                <a:spcPts val="0"/>
              </a:spcBef>
              <a:spcAft>
                <a:spcPts val="0"/>
              </a:spcAft>
              <a:buSzPts val="4350"/>
              <a:buChar char="•"/>
              <a:defRPr b="1" sz="3000"/>
            </a:lvl1pPr>
            <a:lvl2pPr indent="-477202" lvl="1" marL="914400" algn="l">
              <a:spcBef>
                <a:spcPts val="1800"/>
              </a:spcBef>
              <a:spcAft>
                <a:spcPts val="0"/>
              </a:spcAft>
              <a:buSzPts val="3915"/>
              <a:buChar char="•"/>
              <a:defRPr b="1" sz="2700"/>
            </a:lvl2pPr>
            <a:lvl3pPr indent="-449580" lvl="2" marL="1371600" algn="l">
              <a:spcBef>
                <a:spcPts val="1800"/>
              </a:spcBef>
              <a:spcAft>
                <a:spcPts val="0"/>
              </a:spcAft>
              <a:buSzPts val="3480"/>
              <a:buChar char="•"/>
              <a:defRPr b="1" sz="2400"/>
            </a:lvl3pPr>
            <a:lvl4pPr indent="-421957" lvl="3" marL="1828800" algn="l">
              <a:spcBef>
                <a:spcPts val="1800"/>
              </a:spcBef>
              <a:spcAft>
                <a:spcPts val="0"/>
              </a:spcAft>
              <a:buSzPts val="3045"/>
              <a:buChar char="•"/>
              <a:defRPr b="1" sz="2100"/>
            </a:lvl4pPr>
            <a:lvl5pPr indent="-421957" lvl="4" marL="2286000" algn="l">
              <a:spcBef>
                <a:spcPts val="1800"/>
              </a:spcBef>
              <a:spcAft>
                <a:spcPts val="0"/>
              </a:spcAft>
              <a:buSzPts val="3045"/>
              <a:buChar char="•"/>
              <a:defRPr b="1" sz="2100"/>
            </a:lvl5pPr>
            <a:lvl6pPr indent="-394335" lvl="5" marL="2743200" algn="l">
              <a:spcBef>
                <a:spcPts val="18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2" type="body"/>
          </p:nvPr>
        </p:nvSpPr>
        <p:spPr>
          <a:xfrm>
            <a:off x="6903466" y="3027180"/>
            <a:ext cx="10127234" cy="5620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spcBef>
                <a:spcPts val="0"/>
              </a:spcBef>
              <a:spcAft>
                <a:spcPts val="0"/>
              </a:spcAft>
              <a:buSzPts val="4350"/>
              <a:buChar char="•"/>
              <a:defRPr sz="3000"/>
            </a:lvl1pPr>
            <a:lvl2pPr indent="-477202" lvl="1" marL="914400" algn="l">
              <a:spcBef>
                <a:spcPts val="1800"/>
              </a:spcBef>
              <a:spcAft>
                <a:spcPts val="0"/>
              </a:spcAft>
              <a:buSzPts val="3915"/>
              <a:buChar char="•"/>
              <a:defRPr sz="2700"/>
            </a:lvl2pPr>
            <a:lvl3pPr indent="-449580" lvl="2" marL="1371600" algn="l">
              <a:spcBef>
                <a:spcPts val="1800"/>
              </a:spcBef>
              <a:spcAft>
                <a:spcPts val="0"/>
              </a:spcAft>
              <a:buSzPts val="3480"/>
              <a:buChar char="•"/>
              <a:defRPr sz="2400"/>
            </a:lvl3pPr>
            <a:lvl4pPr indent="-421957" lvl="3" marL="1828800" algn="l">
              <a:spcBef>
                <a:spcPts val="1800"/>
              </a:spcBef>
              <a:spcAft>
                <a:spcPts val="0"/>
              </a:spcAft>
              <a:buSzPts val="3045"/>
              <a:buChar char="•"/>
              <a:defRPr sz="2100"/>
            </a:lvl4pPr>
            <a:lvl5pPr indent="-421957" lvl="4" marL="2286000" algn="l">
              <a:spcBef>
                <a:spcPts val="1800"/>
              </a:spcBef>
              <a:spcAft>
                <a:spcPts val="0"/>
              </a:spcAft>
              <a:buSzPts val="3045"/>
              <a:buChar char="•"/>
              <a:defRPr sz="2100"/>
            </a:lvl5pPr>
            <a:lvl6pPr indent="-394335" lvl="5" marL="2743200" algn="l">
              <a:spcBef>
                <a:spcPts val="18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5" name="Google Shape;45;p62"/>
          <p:cNvSpPr txBox="1"/>
          <p:nvPr>
            <p:ph idx="12" type="sldNum"/>
          </p:nvPr>
        </p:nvSpPr>
        <p:spPr>
          <a:xfrm>
            <a:off x="1371601" y="9369381"/>
            <a:ext cx="946598" cy="444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>
  <p:cSld name="Título y contenido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3"/>
          <p:cNvPicPr preferRelativeResize="0"/>
          <p:nvPr/>
        </p:nvPicPr>
        <p:blipFill rotWithShape="1">
          <a:blip r:embed="rId2">
            <a:alphaModFix/>
          </a:blip>
          <a:srcRect b="0" l="45239" r="0" t="0"/>
          <a:stretch/>
        </p:blipFill>
        <p:spPr>
          <a:xfrm flipH="1">
            <a:off x="13703121" y="0"/>
            <a:ext cx="4584879" cy="10287000"/>
          </a:xfrm>
          <a:custGeom>
            <a:rect b="b" l="l" r="r" t="t"/>
            <a:pathLst>
              <a:path extrusionOk="0" h="6858000" w="4284372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8" name="Google Shape;48;p63"/>
          <p:cNvPicPr preferRelativeResize="0"/>
          <p:nvPr/>
        </p:nvPicPr>
        <p:blipFill rotWithShape="1">
          <a:blip r:embed="rId3">
            <a:alphaModFix/>
          </a:blip>
          <a:srcRect b="2329" l="0" r="0" t="0"/>
          <a:stretch/>
        </p:blipFill>
        <p:spPr>
          <a:xfrm>
            <a:off x="11715750" y="4537710"/>
            <a:ext cx="6572250" cy="574929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3"/>
          <p:cNvSpPr txBox="1"/>
          <p:nvPr>
            <p:ph type="title"/>
          </p:nvPr>
        </p:nvSpPr>
        <p:spPr>
          <a:xfrm>
            <a:off x="1371599" y="547688"/>
            <a:ext cx="10910456" cy="246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3"/>
          <p:cNvSpPr txBox="1"/>
          <p:nvPr>
            <p:ph idx="1" type="body"/>
          </p:nvPr>
        </p:nvSpPr>
        <p:spPr>
          <a:xfrm>
            <a:off x="1371599" y="3017045"/>
            <a:ext cx="10910457" cy="6233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spcBef>
                <a:spcPts val="0"/>
              </a:spcBef>
              <a:spcAft>
                <a:spcPts val="0"/>
              </a:spcAft>
              <a:buSzPts val="4350"/>
              <a:buChar char="•"/>
              <a:defRPr sz="3000"/>
            </a:lvl1pPr>
            <a:lvl2pPr indent="-477202" lvl="1" marL="914400" algn="l">
              <a:spcBef>
                <a:spcPts val="1800"/>
              </a:spcBef>
              <a:spcAft>
                <a:spcPts val="0"/>
              </a:spcAft>
              <a:buSzPts val="3915"/>
              <a:buChar char="•"/>
              <a:defRPr sz="2700"/>
            </a:lvl2pPr>
            <a:lvl3pPr indent="-449580" lvl="2" marL="1371600" algn="l">
              <a:spcBef>
                <a:spcPts val="1800"/>
              </a:spcBef>
              <a:spcAft>
                <a:spcPts val="0"/>
              </a:spcAft>
              <a:buSzPts val="3480"/>
              <a:buChar char="•"/>
              <a:defRPr sz="2400"/>
            </a:lvl3pPr>
            <a:lvl4pPr indent="-421957" lvl="3" marL="1828800" algn="l">
              <a:spcBef>
                <a:spcPts val="1800"/>
              </a:spcBef>
              <a:spcAft>
                <a:spcPts val="0"/>
              </a:spcAft>
              <a:buSzPts val="3045"/>
              <a:buChar char="•"/>
              <a:defRPr sz="2100"/>
            </a:lvl4pPr>
            <a:lvl5pPr indent="-421957" lvl="4" marL="2286000" algn="l">
              <a:spcBef>
                <a:spcPts val="1800"/>
              </a:spcBef>
              <a:spcAft>
                <a:spcPts val="0"/>
              </a:spcAft>
              <a:buSzPts val="3045"/>
              <a:buChar char="•"/>
              <a:defRPr sz="2100"/>
            </a:lvl5pPr>
            <a:lvl6pPr indent="-394335" lvl="5" marL="2743200" algn="l">
              <a:spcBef>
                <a:spcPts val="18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2" type="sldNum"/>
          </p:nvPr>
        </p:nvSpPr>
        <p:spPr>
          <a:xfrm>
            <a:off x="1371601" y="9369381"/>
            <a:ext cx="946598" cy="444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4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54" name="Google Shape;54;p64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Google Shape;55;p64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56" name="Google Shape;56;p64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57" name="Google Shape;57;p64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58" name="Google Shape;58;p64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59" name="Google Shape;59;p64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60" name="Google Shape;60;p64"/>
          <p:cNvSpPr txBox="1"/>
          <p:nvPr>
            <p:ph type="ctrTitle"/>
          </p:nvPr>
        </p:nvSpPr>
        <p:spPr>
          <a:xfrm>
            <a:off x="4392602" y="2070103"/>
            <a:ext cx="12861933" cy="3924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orbel"/>
              <a:buNone/>
              <a:defRPr sz="9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4"/>
          <p:cNvSpPr txBox="1"/>
          <p:nvPr>
            <p:ph idx="1" type="subTitle"/>
          </p:nvPr>
        </p:nvSpPr>
        <p:spPr>
          <a:xfrm>
            <a:off x="6773066" y="5994401"/>
            <a:ext cx="10481468" cy="20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30"/>
              </a:spcBef>
              <a:spcAft>
                <a:spcPts val="0"/>
              </a:spcAft>
              <a:buSzPts val="4568"/>
              <a:buNone/>
              <a:defRPr sz="3150">
                <a:solidFill>
                  <a:schemeClr val="dk1"/>
                </a:solidFill>
              </a:defRPr>
            </a:lvl1pPr>
            <a:lvl2pPr lvl="1" algn="ctr">
              <a:spcBef>
                <a:spcPts val="900"/>
              </a:spcBef>
              <a:spcAft>
                <a:spcPts val="0"/>
              </a:spcAft>
              <a:buSzPts val="4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00"/>
              </a:spcBef>
              <a:spcAft>
                <a:spcPts val="0"/>
              </a:spcAft>
              <a:buSzPts val="3915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9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900"/>
              </a:spcBef>
              <a:spcAft>
                <a:spcPts val="900"/>
              </a:spcAft>
              <a:buSzPts val="3045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2" name="Google Shape;62;p64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4"/>
          <p:cNvSpPr txBox="1"/>
          <p:nvPr>
            <p:ph idx="11" type="ftr"/>
          </p:nvPr>
        </p:nvSpPr>
        <p:spPr>
          <a:xfrm>
            <a:off x="7998618" y="8824913"/>
            <a:ext cx="64860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4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5"/>
          <p:cNvSpPr txBox="1"/>
          <p:nvPr>
            <p:ph type="title"/>
          </p:nvPr>
        </p:nvSpPr>
        <p:spPr>
          <a:xfrm>
            <a:off x="3858419" y="4000498"/>
            <a:ext cx="13396121" cy="3165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sz="6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" type="body"/>
          </p:nvPr>
        </p:nvSpPr>
        <p:spPr>
          <a:xfrm>
            <a:off x="3858417" y="7166072"/>
            <a:ext cx="13396122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8" name="Google Shape;68;p6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6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" type="body"/>
          </p:nvPr>
        </p:nvSpPr>
        <p:spPr>
          <a:xfrm>
            <a:off x="2226469" y="4000499"/>
            <a:ext cx="7342583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74" name="Google Shape;74;p66"/>
          <p:cNvSpPr txBox="1"/>
          <p:nvPr>
            <p:ph idx="2" type="body"/>
          </p:nvPr>
        </p:nvSpPr>
        <p:spPr>
          <a:xfrm>
            <a:off x="9911951" y="4000500"/>
            <a:ext cx="7342584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75" name="Google Shape;75;p6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6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7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7"/>
          <p:cNvSpPr txBox="1"/>
          <p:nvPr>
            <p:ph idx="1" type="body"/>
          </p:nvPr>
        </p:nvSpPr>
        <p:spPr>
          <a:xfrm>
            <a:off x="2658269" y="3987800"/>
            <a:ext cx="6910782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480"/>
              <a:buNone/>
              <a:defRPr b="1" sz="2400"/>
            </a:lvl9pPr>
          </a:lstStyle>
          <a:p/>
        </p:txBody>
      </p:sp>
      <p:sp>
        <p:nvSpPr>
          <p:cNvPr id="81" name="Google Shape;81;p67"/>
          <p:cNvSpPr txBox="1"/>
          <p:nvPr>
            <p:ph idx="2" type="body"/>
          </p:nvPr>
        </p:nvSpPr>
        <p:spPr>
          <a:xfrm>
            <a:off x="2226467" y="5003006"/>
            <a:ext cx="7342584" cy="368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82" name="Google Shape;82;p67"/>
          <p:cNvSpPr txBox="1"/>
          <p:nvPr>
            <p:ph idx="3" type="body"/>
          </p:nvPr>
        </p:nvSpPr>
        <p:spPr>
          <a:xfrm>
            <a:off x="10320731" y="4000500"/>
            <a:ext cx="6933806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480"/>
              <a:buNone/>
              <a:defRPr b="1" sz="2400"/>
            </a:lvl9pPr>
          </a:lstStyle>
          <a:p/>
        </p:txBody>
      </p:sp>
      <p:sp>
        <p:nvSpPr>
          <p:cNvPr id="83" name="Google Shape;83;p67"/>
          <p:cNvSpPr txBox="1"/>
          <p:nvPr>
            <p:ph idx="4" type="body"/>
          </p:nvPr>
        </p:nvSpPr>
        <p:spPr>
          <a:xfrm>
            <a:off x="9911951" y="5003006"/>
            <a:ext cx="7342584" cy="368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84" name="Google Shape;84;p6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7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8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8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8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9"/>
          <p:cNvSpPr txBox="1"/>
          <p:nvPr>
            <p:ph type="title"/>
          </p:nvPr>
        </p:nvSpPr>
        <p:spPr>
          <a:xfrm>
            <a:off x="2226469" y="2400300"/>
            <a:ext cx="532368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9"/>
          <p:cNvSpPr txBox="1"/>
          <p:nvPr>
            <p:ph idx="1" type="body"/>
          </p:nvPr>
        </p:nvSpPr>
        <p:spPr>
          <a:xfrm>
            <a:off x="7893050" y="1028699"/>
            <a:ext cx="9361485" cy="7658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spcBef>
                <a:spcPts val="600"/>
              </a:spcBef>
              <a:spcAft>
                <a:spcPts val="0"/>
              </a:spcAft>
              <a:buSzPts val="4350"/>
              <a:buChar char="•"/>
              <a:defRPr sz="3000"/>
            </a:lvl1pPr>
            <a:lvl2pPr indent="-477202" lvl="1" marL="914400" algn="l">
              <a:spcBef>
                <a:spcPts val="900"/>
              </a:spcBef>
              <a:spcAft>
                <a:spcPts val="0"/>
              </a:spcAft>
              <a:buSzPts val="3915"/>
              <a:buChar char="•"/>
              <a:defRPr sz="2700"/>
            </a:lvl2pPr>
            <a:lvl3pPr indent="-449580" lvl="2" marL="13716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3pPr>
            <a:lvl4pPr indent="-421957" lvl="3" marL="18288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4pPr>
            <a:lvl5pPr indent="-421957" lvl="4" marL="22860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5pPr>
            <a:lvl6pPr indent="-421957" lvl="5" marL="27432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6pPr>
            <a:lvl7pPr indent="-421957" lvl="6" marL="32004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7pPr>
            <a:lvl8pPr indent="-421957" lvl="7" marL="3657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8pPr>
            <a:lvl9pPr indent="-421957" lvl="8" marL="4114800" algn="l">
              <a:spcBef>
                <a:spcPts val="900"/>
              </a:spcBef>
              <a:spcAft>
                <a:spcPts val="900"/>
              </a:spcAft>
              <a:buSzPts val="3045"/>
              <a:buChar char="•"/>
              <a:defRPr sz="2100"/>
            </a:lvl9pPr>
          </a:lstStyle>
          <a:p/>
        </p:txBody>
      </p:sp>
      <p:sp>
        <p:nvSpPr>
          <p:cNvPr id="95" name="Google Shape;95;p69"/>
          <p:cNvSpPr txBox="1"/>
          <p:nvPr>
            <p:ph idx="2" type="body"/>
          </p:nvPr>
        </p:nvSpPr>
        <p:spPr>
          <a:xfrm>
            <a:off x="2226469" y="4457700"/>
            <a:ext cx="532368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3480"/>
              <a:buNone/>
              <a:defRPr sz="24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96" name="Google Shape;96;p69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9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9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0"/>
          <p:cNvSpPr txBox="1"/>
          <p:nvPr>
            <p:ph type="title"/>
          </p:nvPr>
        </p:nvSpPr>
        <p:spPr>
          <a:xfrm>
            <a:off x="2224086" y="2628899"/>
            <a:ext cx="813923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rbel"/>
              <a:buNone/>
              <a:defRPr b="0"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0"/>
          <p:cNvSpPr/>
          <p:nvPr>
            <p:ph idx="2" type="pic"/>
          </p:nvPr>
        </p:nvSpPr>
        <p:spPr>
          <a:xfrm>
            <a:off x="11392023" y="1371600"/>
            <a:ext cx="4921461" cy="6858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0"/>
          <p:cNvSpPr txBox="1"/>
          <p:nvPr>
            <p:ph idx="1" type="body"/>
          </p:nvPr>
        </p:nvSpPr>
        <p:spPr>
          <a:xfrm>
            <a:off x="2224086" y="4686299"/>
            <a:ext cx="8139237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540"/>
              </a:spcBef>
              <a:spcAft>
                <a:spcPts val="0"/>
              </a:spcAft>
              <a:buSzPts val="3915"/>
              <a:buNone/>
              <a:defRPr sz="27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103" name="Google Shape;103;p70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0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0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1"/>
          <p:cNvSpPr txBox="1"/>
          <p:nvPr>
            <p:ph type="title"/>
          </p:nvPr>
        </p:nvSpPr>
        <p:spPr>
          <a:xfrm>
            <a:off x="2226467" y="7099298"/>
            <a:ext cx="15028067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71"/>
          <p:cNvSpPr/>
          <p:nvPr>
            <p:ph idx="2" type="pic"/>
          </p:nvPr>
        </p:nvSpPr>
        <p:spPr>
          <a:xfrm>
            <a:off x="3579018" y="1398168"/>
            <a:ext cx="12338916" cy="4747464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1"/>
          <p:cNvSpPr txBox="1"/>
          <p:nvPr>
            <p:ph idx="1" type="body"/>
          </p:nvPr>
        </p:nvSpPr>
        <p:spPr>
          <a:xfrm>
            <a:off x="2226467" y="7949405"/>
            <a:ext cx="15028067" cy="740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20"/>
              </a:spcBef>
              <a:spcAft>
                <a:spcPts val="0"/>
              </a:spcAft>
              <a:buSzPts val="3045"/>
              <a:buNone/>
              <a:defRPr sz="21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110" name="Google Shape;110;p71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1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1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2"/>
          <p:cNvSpPr txBox="1"/>
          <p:nvPr>
            <p:ph type="title"/>
          </p:nvPr>
        </p:nvSpPr>
        <p:spPr>
          <a:xfrm>
            <a:off x="2226469" y="1028700"/>
            <a:ext cx="1502806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72"/>
          <p:cNvSpPr txBox="1"/>
          <p:nvPr>
            <p:ph idx="1" type="body"/>
          </p:nvPr>
        </p:nvSpPr>
        <p:spPr>
          <a:xfrm>
            <a:off x="2226469" y="6515100"/>
            <a:ext cx="150280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72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2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2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21" name="Google Shape;121;p73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22" name="Google Shape;122;p73"/>
          <p:cNvSpPr txBox="1"/>
          <p:nvPr>
            <p:ph type="title"/>
          </p:nvPr>
        </p:nvSpPr>
        <p:spPr>
          <a:xfrm>
            <a:off x="3312318" y="1028701"/>
            <a:ext cx="13485018" cy="411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3"/>
          <p:cNvSpPr txBox="1"/>
          <p:nvPr>
            <p:ph idx="1" type="body"/>
          </p:nvPr>
        </p:nvSpPr>
        <p:spPr>
          <a:xfrm>
            <a:off x="3655217" y="5143499"/>
            <a:ext cx="1279922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3915"/>
              <a:buFont typeface="Corbel"/>
              <a:buNone/>
              <a:defRPr sz="27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Font typeface="Corbel"/>
              <a:buNone/>
              <a:defRPr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Font typeface="Corbel"/>
              <a:buNone/>
              <a:defRPr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Font typeface="Corbel"/>
              <a:buNone/>
              <a:defRPr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Font typeface="Corbel"/>
              <a:buNone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73"/>
          <p:cNvSpPr txBox="1"/>
          <p:nvPr>
            <p:ph idx="2" type="body"/>
          </p:nvPr>
        </p:nvSpPr>
        <p:spPr>
          <a:xfrm>
            <a:off x="2226467" y="6515100"/>
            <a:ext cx="15028067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5" name="Google Shape;125;p73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3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3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4"/>
          <p:cNvSpPr txBox="1"/>
          <p:nvPr>
            <p:ph type="title"/>
          </p:nvPr>
        </p:nvSpPr>
        <p:spPr>
          <a:xfrm>
            <a:off x="2226470" y="4962872"/>
            <a:ext cx="15028064" cy="220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74"/>
          <p:cNvSpPr txBox="1"/>
          <p:nvPr>
            <p:ph idx="1" type="body"/>
          </p:nvPr>
        </p:nvSpPr>
        <p:spPr>
          <a:xfrm>
            <a:off x="2226468" y="7166072"/>
            <a:ext cx="15028065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74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4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4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5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36" name="Google Shape;136;p75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37" name="Google Shape;137;p75"/>
          <p:cNvSpPr txBox="1"/>
          <p:nvPr>
            <p:ph type="title"/>
          </p:nvPr>
        </p:nvSpPr>
        <p:spPr>
          <a:xfrm>
            <a:off x="3312318" y="1028701"/>
            <a:ext cx="13485018" cy="411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5"/>
          <p:cNvSpPr txBox="1"/>
          <p:nvPr>
            <p:ph idx="1" type="body"/>
          </p:nvPr>
        </p:nvSpPr>
        <p:spPr>
          <a:xfrm>
            <a:off x="2226470" y="5829300"/>
            <a:ext cx="1502806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720"/>
              </a:spcBef>
              <a:spcAft>
                <a:spcPts val="0"/>
              </a:spcAft>
              <a:buSzPts val="5220"/>
              <a:buNone/>
              <a:defRPr b="0" sz="36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75"/>
          <p:cNvSpPr txBox="1"/>
          <p:nvPr>
            <p:ph idx="2" type="body"/>
          </p:nvPr>
        </p:nvSpPr>
        <p:spPr>
          <a:xfrm>
            <a:off x="2226468" y="7162800"/>
            <a:ext cx="1502806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540"/>
              </a:spcBef>
              <a:spcAft>
                <a:spcPts val="0"/>
              </a:spcAft>
              <a:buSzPts val="391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0" name="Google Shape;140;p7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6"/>
          <p:cNvSpPr txBox="1"/>
          <p:nvPr>
            <p:ph type="title"/>
          </p:nvPr>
        </p:nvSpPr>
        <p:spPr>
          <a:xfrm>
            <a:off x="2226470" y="1028701"/>
            <a:ext cx="15028068" cy="409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6"/>
          <p:cNvSpPr txBox="1"/>
          <p:nvPr>
            <p:ph idx="1" type="body"/>
          </p:nvPr>
        </p:nvSpPr>
        <p:spPr>
          <a:xfrm>
            <a:off x="2226469" y="5257800"/>
            <a:ext cx="1502807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6" name="Google Shape;146;p76"/>
          <p:cNvSpPr txBox="1"/>
          <p:nvPr>
            <p:ph idx="2" type="body"/>
          </p:nvPr>
        </p:nvSpPr>
        <p:spPr>
          <a:xfrm>
            <a:off x="2226467" y="6515100"/>
            <a:ext cx="150280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391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p7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7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6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7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77"/>
          <p:cNvSpPr txBox="1"/>
          <p:nvPr>
            <p:ph idx="1" type="body"/>
          </p:nvPr>
        </p:nvSpPr>
        <p:spPr>
          <a:xfrm rot="5400000">
            <a:off x="7397350" y="-1170385"/>
            <a:ext cx="4686302" cy="15028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53" name="Google Shape;153;p7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7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7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8"/>
          <p:cNvSpPr txBox="1"/>
          <p:nvPr>
            <p:ph type="title"/>
          </p:nvPr>
        </p:nvSpPr>
        <p:spPr>
          <a:xfrm rot="5400000">
            <a:off x="12097710" y="3529973"/>
            <a:ext cx="7658100" cy="2655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8"/>
          <p:cNvSpPr txBox="1"/>
          <p:nvPr>
            <p:ph idx="1" type="body"/>
          </p:nvPr>
        </p:nvSpPr>
        <p:spPr>
          <a:xfrm rot="5400000">
            <a:off x="4412225" y="-1157057"/>
            <a:ext cx="7658100" cy="12029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59" name="Google Shape;159;p7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78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78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9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9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78" name="Google Shape;178;p59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59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59"/>
          <p:cNvSpPr txBox="1"/>
          <p:nvPr>
            <p:ph idx="12" type="sldNum"/>
          </p:nvPr>
        </p:nvSpPr>
        <p:spPr>
          <a:xfrm>
            <a:off x="16427785" y="8800697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23" Type="http://schemas.openxmlformats.org/officeDocument/2006/relationships/theme" Target="../theme/theme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55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7" name="Google Shape;7;p5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Google Shape;8;p5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9" name="Google Shape;9;p5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Google Shape;10;p5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1" name="Google Shape;11;p5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2" name="Google Shape;12;p5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3" name="Google Shape;13;p55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5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5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5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57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164" name="Google Shape;164;p57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5" name="Google Shape;165;p57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  <p:sp>
          <p:nvSpPr>
            <p:cNvPr id="166" name="Google Shape;166;p57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  <p:sp>
          <p:nvSpPr>
            <p:cNvPr id="167" name="Google Shape;167;p57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68" name="Google Shape;168;p57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9" name="Google Shape;169;p57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</p:grpSp>
      <p:sp>
        <p:nvSpPr>
          <p:cNvPr id="170" name="Google Shape;170;p57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1" name="Google Shape;171;p57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2" name="Google Shape;172;p5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3" name="Google Shape;173;p5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4" name="Google Shape;174;p57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and tablet with graphs and charts&#10;&#10;AI-generated content may be incorrect." id="185" name="Google Shape;1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482" y="5715865"/>
            <a:ext cx="8160517" cy="457113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"/>
          <p:cNvSpPr txBox="1"/>
          <p:nvPr/>
        </p:nvSpPr>
        <p:spPr>
          <a:xfrm>
            <a:off x="809303" y="7107850"/>
            <a:ext cx="858869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Open Sans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Seminario de Sistemas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2155441" y="1512847"/>
            <a:ext cx="152146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9200"/>
              <a:buFont typeface="Open Sans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Big Query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3146103" y="8185068"/>
            <a:ext cx="6981379" cy="161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two logos with text&#10;&#10;AI-generated content may be incorrect." id="189" name="Google Shape;1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5699" y="0"/>
            <a:ext cx="69723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"/>
          <p:cNvGrpSpPr/>
          <p:nvPr/>
        </p:nvGrpSpPr>
        <p:grpSpPr>
          <a:xfrm>
            <a:off x="1568376" y="5074884"/>
            <a:ext cx="4115191" cy="845385"/>
            <a:chOff x="0" y="-38655"/>
            <a:chExt cx="1964221" cy="359923"/>
          </a:xfrm>
        </p:grpSpPr>
        <p:sp>
          <p:nvSpPr>
            <p:cNvPr id="195" name="Google Shape;1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6" name="Google Shape;196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¿Qué es BigQuery?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7" name="Google Shape;197;p2"/>
          <p:cNvSpPr/>
          <p:nvPr/>
        </p:nvSpPr>
        <p:spPr>
          <a:xfrm>
            <a:off x="1684278" y="523382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8" name="Google Shape;198;p2"/>
          <p:cNvGrpSpPr/>
          <p:nvPr/>
        </p:nvGrpSpPr>
        <p:grpSpPr>
          <a:xfrm>
            <a:off x="2713402" y="3863800"/>
            <a:ext cx="4115190" cy="1267162"/>
            <a:chOff x="0" y="-36600"/>
            <a:chExt cx="1083836" cy="409938"/>
          </a:xfrm>
        </p:grpSpPr>
        <p:sp>
          <p:nvSpPr>
            <p:cNvPr id="199" name="Google Shape;1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2"/>
            <p:cNvSpPr txBox="1"/>
            <p:nvPr/>
          </p:nvSpPr>
          <p:spPr>
            <a:xfrm>
              <a:off x="0" y="-366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01" name="Google Shape;201;p2"/>
          <p:cNvSpPr/>
          <p:nvPr/>
        </p:nvSpPr>
        <p:spPr>
          <a:xfrm>
            <a:off x="1760876" y="4052276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2"/>
          <p:cNvSpPr txBox="1"/>
          <p:nvPr/>
        </p:nvSpPr>
        <p:spPr>
          <a:xfrm>
            <a:off x="2216562" y="442037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Pacifico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800">
              <a:solidFill>
                <a:schemeClr val="dk1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203" name="Google Shape;20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Lobster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8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204" name="Google Shape;20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205" name="Google Shape;20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6" name="Google Shape;20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07" name="Google Shape;20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208" name="Google Shape;20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lang="en-US" sz="4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Quiz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10" name="Google Shape;210;p2"/>
          <p:cNvGrpSpPr/>
          <p:nvPr/>
        </p:nvGrpSpPr>
        <p:grpSpPr>
          <a:xfrm>
            <a:off x="1452476" y="5810834"/>
            <a:ext cx="6218323" cy="845385"/>
            <a:chOff x="0" y="-38655"/>
            <a:chExt cx="1964221" cy="359923"/>
          </a:xfrm>
        </p:grpSpPr>
        <p:sp>
          <p:nvSpPr>
            <p:cNvPr id="211" name="Google Shape;2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Arquitectura, precios y permisos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3" name="Google Shape;213;p2"/>
          <p:cNvSpPr/>
          <p:nvPr/>
        </p:nvSpPr>
        <p:spPr>
          <a:xfrm>
            <a:off x="1568377" y="596977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14" name="Google Shape;214;p2"/>
          <p:cNvGrpSpPr/>
          <p:nvPr/>
        </p:nvGrpSpPr>
        <p:grpSpPr>
          <a:xfrm>
            <a:off x="1307518" y="6520243"/>
            <a:ext cx="6363281" cy="845385"/>
            <a:chOff x="0" y="-38655"/>
            <a:chExt cx="1964221" cy="359923"/>
          </a:xfrm>
        </p:grpSpPr>
        <p:sp>
          <p:nvSpPr>
            <p:cNvPr id="215" name="Google Shape;21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6" name="Google Shape;216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Aplicación del gobierno de datos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7" name="Google Shape;217;p2"/>
          <p:cNvSpPr/>
          <p:nvPr/>
        </p:nvSpPr>
        <p:spPr>
          <a:xfrm>
            <a:off x="1423418" y="667917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18" name="Google Shape;218;p2"/>
          <p:cNvGrpSpPr/>
          <p:nvPr/>
        </p:nvGrpSpPr>
        <p:grpSpPr>
          <a:xfrm>
            <a:off x="1191618" y="7247487"/>
            <a:ext cx="5202991" cy="845385"/>
            <a:chOff x="0" y="-38655"/>
            <a:chExt cx="1964221" cy="359923"/>
          </a:xfrm>
        </p:grpSpPr>
        <p:sp>
          <p:nvSpPr>
            <p:cNvPr id="219" name="Google Shape;21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0" name="Google Shape;220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Optimización de consultas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21" name="Google Shape;221;p2"/>
          <p:cNvSpPr/>
          <p:nvPr/>
        </p:nvSpPr>
        <p:spPr>
          <a:xfrm>
            <a:off x="1307518" y="740642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22" name="Google Shape;222;p2"/>
          <p:cNvGrpSpPr/>
          <p:nvPr/>
        </p:nvGrpSpPr>
        <p:grpSpPr>
          <a:xfrm>
            <a:off x="1929162" y="7962643"/>
            <a:ext cx="5843238" cy="845385"/>
            <a:chOff x="0" y="-38655"/>
            <a:chExt cx="1964221" cy="359923"/>
          </a:xfrm>
        </p:grpSpPr>
        <p:sp>
          <p:nvSpPr>
            <p:cNvPr id="223" name="Google Shape;2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4" name="Google Shape;224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Tablas materializadas y vistas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25" name="Google Shape;225;p2"/>
          <p:cNvSpPr/>
          <p:nvPr/>
        </p:nvSpPr>
        <p:spPr>
          <a:xfrm>
            <a:off x="2045061" y="812157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26" name="Google Shape;226;p2"/>
          <p:cNvGrpSpPr/>
          <p:nvPr/>
        </p:nvGrpSpPr>
        <p:grpSpPr>
          <a:xfrm>
            <a:off x="2957862" y="8729323"/>
            <a:ext cx="2998438" cy="845385"/>
            <a:chOff x="0" y="-38655"/>
            <a:chExt cx="1964221" cy="359923"/>
          </a:xfrm>
        </p:grpSpPr>
        <p:sp>
          <p:nvSpPr>
            <p:cNvPr id="227" name="Google Shape;22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8" name="Google Shape;228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BigQuery ML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29" name="Google Shape;229;p2"/>
          <p:cNvSpPr/>
          <p:nvPr/>
        </p:nvSpPr>
        <p:spPr>
          <a:xfrm>
            <a:off x="3073761" y="888825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30" name="Google Shape;230;p2"/>
          <p:cNvGrpSpPr/>
          <p:nvPr/>
        </p:nvGrpSpPr>
        <p:grpSpPr>
          <a:xfrm>
            <a:off x="3906972" y="9422270"/>
            <a:ext cx="6964227" cy="845385"/>
            <a:chOff x="0" y="-38655"/>
            <a:chExt cx="1964221" cy="359923"/>
          </a:xfrm>
        </p:grpSpPr>
        <p:sp>
          <p:nvSpPr>
            <p:cNvPr id="231" name="Google Shape;2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2" name="Google Shape;232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Exportación a herramientas externas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33" name="Google Shape;233;p2"/>
          <p:cNvSpPr/>
          <p:nvPr/>
        </p:nvSpPr>
        <p:spPr>
          <a:xfrm>
            <a:off x="4022872" y="958120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39" name="Google Shape;239;p22"/>
          <p:cNvGrpSpPr/>
          <p:nvPr/>
        </p:nvGrpSpPr>
        <p:grpSpPr>
          <a:xfrm flipH="1">
            <a:off x="9789314" y="0"/>
            <a:ext cx="7522369" cy="10294145"/>
            <a:chOff x="2928938" y="-4763"/>
            <a:chExt cx="5014912" cy="6862763"/>
          </a:xfrm>
        </p:grpSpPr>
        <p:sp>
          <p:nvSpPr>
            <p:cNvPr id="240" name="Google Shape;240;p2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46" name="Google Shape;246;p22"/>
          <p:cNvSpPr txBox="1"/>
          <p:nvPr>
            <p:ph type="title"/>
          </p:nvPr>
        </p:nvSpPr>
        <p:spPr>
          <a:xfrm>
            <a:off x="1527286" y="1028700"/>
            <a:ext cx="11117738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/>
          </a:p>
        </p:txBody>
      </p:sp>
      <p:sp>
        <p:nvSpPr>
          <p:cNvPr id="247" name="Google Shape;247;p22"/>
          <p:cNvSpPr txBox="1"/>
          <p:nvPr>
            <p:ph idx="1" type="body"/>
          </p:nvPr>
        </p:nvSpPr>
        <p:spPr>
          <a:xfrm>
            <a:off x="1527285" y="4000497"/>
            <a:ext cx="10865404" cy="5792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1960" lvl="0" marL="428625" rtl="0" algn="l">
              <a:spcBef>
                <a:spcPts val="0"/>
              </a:spcBef>
              <a:spcAft>
                <a:spcPts val="0"/>
              </a:spcAft>
              <a:buSzPts val="6960"/>
              <a:buChar char="•"/>
            </a:pPr>
            <a:r>
              <a:rPr lang="en-US" sz="4800">
                <a:latin typeface="Open Sans"/>
                <a:ea typeface="Open Sans"/>
                <a:cs typeface="Open Sans"/>
                <a:sym typeface="Open Sans"/>
              </a:rPr>
              <a:t>Administra proyectos de análisis de datos en la nube con herramientas como BigQuery y Google Cloud Platform aplicando principios de gobierno de datos, seguridad y control de acceso </a:t>
            </a:r>
            <a:endParaRPr sz="4800"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"/>
          <p:cNvSpPr txBox="1"/>
          <p:nvPr>
            <p:ph type="title"/>
          </p:nvPr>
        </p:nvSpPr>
        <p:spPr>
          <a:xfrm>
            <a:off x="1712120" y="927777"/>
            <a:ext cx="14858997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Introducción a BigQuery</a:t>
            </a:r>
            <a:endParaRPr/>
          </a:p>
        </p:txBody>
      </p:sp>
      <p:grpSp>
        <p:nvGrpSpPr>
          <p:cNvPr id="253" name="Google Shape;253;p3"/>
          <p:cNvGrpSpPr/>
          <p:nvPr/>
        </p:nvGrpSpPr>
        <p:grpSpPr>
          <a:xfrm>
            <a:off x="1712117" y="4534964"/>
            <a:ext cx="14858999" cy="3629660"/>
            <a:chOff x="0" y="873807"/>
            <a:chExt cx="14858999" cy="3629660"/>
          </a:xfrm>
        </p:grpSpPr>
        <p:sp>
          <p:nvSpPr>
            <p:cNvPr id="254" name="Google Shape;254;p3"/>
            <p:cNvSpPr/>
            <p:nvPr/>
          </p:nvSpPr>
          <p:spPr>
            <a:xfrm>
              <a:off x="0" y="873807"/>
              <a:ext cx="14858999" cy="1613182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487987" y="1236773"/>
              <a:ext cx="887250" cy="88725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1863225" y="873807"/>
              <a:ext cx="12995773" cy="161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"/>
            <p:cNvSpPr txBox="1"/>
            <p:nvPr/>
          </p:nvSpPr>
          <p:spPr>
            <a:xfrm>
              <a:off x="1863225" y="873807"/>
              <a:ext cx="12995773" cy="161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725" lIns="170725" spcFirstLastPara="1" rIns="170725" wrap="square" tIns="170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b="0" i="0"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Servicio de </a:t>
              </a:r>
              <a:r>
                <a:rPr b="1" i="0"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almacenamiento y análisis de datos en la nube</a:t>
              </a:r>
              <a:r>
                <a:rPr b="0" i="0"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 provisto por Google Cloud.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0" y="2890285"/>
              <a:ext cx="14858999" cy="1613182"/>
            </a:xfrm>
            <a:prstGeom prst="roundRect">
              <a:avLst>
                <a:gd fmla="val 10000" name="adj"/>
              </a:avLst>
            </a:prstGeom>
            <a:solidFill>
              <a:srgbClr val="E19D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87987" y="3253251"/>
              <a:ext cx="887250" cy="8872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1863225" y="2890285"/>
              <a:ext cx="12995773" cy="161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"/>
            <p:cNvSpPr txBox="1"/>
            <p:nvPr/>
          </p:nvSpPr>
          <p:spPr>
            <a:xfrm>
              <a:off x="1863225" y="2890285"/>
              <a:ext cx="12995773" cy="161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0725" lIns="170725" spcFirstLastPara="1" rIns="170725" wrap="square" tIns="170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b="0" i="0"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Diseñado para trabajar con grandes volúmenes de datos de manera rápida y escalable (data warehousing).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"/>
          <p:cNvSpPr txBox="1"/>
          <p:nvPr>
            <p:ph type="title"/>
          </p:nvPr>
        </p:nvSpPr>
        <p:spPr>
          <a:xfrm>
            <a:off x="1712120" y="927777"/>
            <a:ext cx="14858997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Características principales:</a:t>
            </a:r>
            <a:endParaRPr/>
          </a:p>
        </p:txBody>
      </p:sp>
      <p:grpSp>
        <p:nvGrpSpPr>
          <p:cNvPr id="267" name="Google Shape;267;p4"/>
          <p:cNvGrpSpPr/>
          <p:nvPr/>
        </p:nvGrpSpPr>
        <p:grpSpPr>
          <a:xfrm>
            <a:off x="1712117" y="3661157"/>
            <a:ext cx="14858998" cy="5377274"/>
            <a:chOff x="0" y="0"/>
            <a:chExt cx="14858998" cy="5377274"/>
          </a:xfrm>
        </p:grpSpPr>
        <p:sp>
          <p:nvSpPr>
            <p:cNvPr id="268" name="Google Shape;268;p4"/>
            <p:cNvSpPr/>
            <p:nvPr/>
          </p:nvSpPr>
          <p:spPr>
            <a:xfrm>
              <a:off x="0" y="0"/>
              <a:ext cx="11887199" cy="11830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BC763"/>
                </a:gs>
                <a:gs pos="100000">
                  <a:srgbClr val="70AC44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"/>
            <p:cNvSpPr txBox="1"/>
            <p:nvPr/>
          </p:nvSpPr>
          <p:spPr>
            <a:xfrm>
              <a:off x="34649" y="34649"/>
              <a:ext cx="10510685" cy="111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orbel"/>
                <a:buNone/>
              </a:pPr>
              <a:r>
                <a:rPr b="0" i="0" lang="en-US" sz="3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Sin necesidad de administrar infraestructura.</a:t>
              </a:r>
              <a:endParaRPr sz="3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995552" y="1398091"/>
              <a:ext cx="11887199" cy="11830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B1D05D"/>
                </a:gs>
                <a:gs pos="100000">
                  <a:srgbClr val="98B73C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1030201" y="1432740"/>
              <a:ext cx="10053397" cy="111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orbel"/>
                <a:buNone/>
              </a:pPr>
              <a:r>
                <a:rPr b="0" i="0" lang="en-US" sz="3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SQL estándar.</a:t>
              </a:r>
              <a:endParaRPr sz="3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1976246" y="2796183"/>
              <a:ext cx="11887199" cy="11830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DACC59"/>
                </a:gs>
                <a:gs pos="100000">
                  <a:srgbClr val="C2B535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 txBox="1"/>
            <p:nvPr/>
          </p:nvSpPr>
          <p:spPr>
            <a:xfrm>
              <a:off x="2010895" y="2830832"/>
              <a:ext cx="10068256" cy="111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orbel"/>
                <a:buNone/>
              </a:pPr>
              <a:r>
                <a:rPr b="0" i="0" lang="en-US" sz="3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Escalabilidad automática.</a:t>
              </a:r>
              <a:endParaRPr sz="3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2971799" y="4194274"/>
              <a:ext cx="11887199" cy="11830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E2A356"/>
                </a:gs>
                <a:gs pos="100000">
                  <a:srgbClr val="CF8B2D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 txBox="1"/>
            <p:nvPr/>
          </p:nvSpPr>
          <p:spPr>
            <a:xfrm>
              <a:off x="3006448" y="4228923"/>
              <a:ext cx="10053397" cy="1113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orbel"/>
                <a:buNone/>
              </a:pPr>
              <a:r>
                <a:rPr b="0" i="0" lang="en-US" sz="31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Alta velocidad de procesamiento gracias a su arquitectura columnar y paralelismo masivo.</a:t>
              </a:r>
              <a:endParaRPr sz="3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11118248" y="906070"/>
              <a:ext cx="768950" cy="76895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7E9CF">
                <a:alpha val="89803"/>
              </a:srgbClr>
            </a:solidFill>
            <a:ln cap="rnd" cmpd="sng" w="9525">
              <a:solidFill>
                <a:srgbClr val="D7E9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 txBox="1"/>
            <p:nvPr/>
          </p:nvSpPr>
          <p:spPr>
            <a:xfrm>
              <a:off x="11291262" y="906070"/>
              <a:ext cx="422922" cy="57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orbel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12113801" y="2304162"/>
              <a:ext cx="768950" cy="76895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BEECD">
                <a:alpha val="89803"/>
              </a:srgbClr>
            </a:solidFill>
            <a:ln cap="rnd" cmpd="sng" w="9525">
              <a:solidFill>
                <a:srgbClr val="EBEE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"/>
            <p:cNvSpPr txBox="1"/>
            <p:nvPr/>
          </p:nvSpPr>
          <p:spPr>
            <a:xfrm>
              <a:off x="12286815" y="2304162"/>
              <a:ext cx="422922" cy="57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orbel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13094495" y="3702253"/>
              <a:ext cx="768950" cy="76895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3DCCC">
                <a:alpha val="89803"/>
              </a:srgbClr>
            </a:solidFill>
            <a:ln cap="rnd" cmpd="sng" w="9525">
              <a:solidFill>
                <a:srgbClr val="F3DC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 txBox="1"/>
            <p:nvPr/>
          </p:nvSpPr>
          <p:spPr>
            <a:xfrm>
              <a:off x="13267509" y="3702253"/>
              <a:ext cx="422922" cy="578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orbel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"/>
          <p:cNvSpPr txBox="1"/>
          <p:nvPr>
            <p:ph type="title"/>
          </p:nvPr>
        </p:nvSpPr>
        <p:spPr>
          <a:xfrm>
            <a:off x="1712120" y="927777"/>
            <a:ext cx="14858997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b="1" lang="en-US"/>
              <a:t>Arquitectura de BigQuery</a:t>
            </a:r>
            <a:br>
              <a:rPr b="1" lang="en-US"/>
            </a:br>
            <a:endParaRPr/>
          </a:p>
        </p:txBody>
      </p:sp>
      <p:grpSp>
        <p:nvGrpSpPr>
          <p:cNvPr id="287" name="Google Shape;287;p5"/>
          <p:cNvGrpSpPr/>
          <p:nvPr/>
        </p:nvGrpSpPr>
        <p:grpSpPr>
          <a:xfrm>
            <a:off x="1712117" y="3662985"/>
            <a:ext cx="14858999" cy="5373618"/>
            <a:chOff x="0" y="1828"/>
            <a:chExt cx="14858999" cy="5373618"/>
          </a:xfrm>
        </p:grpSpPr>
        <p:sp>
          <p:nvSpPr>
            <p:cNvPr id="288" name="Google Shape;288;p5"/>
            <p:cNvSpPr/>
            <p:nvPr/>
          </p:nvSpPr>
          <p:spPr>
            <a:xfrm>
              <a:off x="0" y="4410530"/>
              <a:ext cx="14858999" cy="964916"/>
            </a:xfrm>
            <a:prstGeom prst="rect">
              <a:avLst/>
            </a:prstGeom>
            <a:gradFill>
              <a:gsLst>
                <a:gs pos="0">
                  <a:srgbClr val="8BC763"/>
                </a:gs>
                <a:gs pos="100000">
                  <a:srgbClr val="70AC44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5"/>
            <p:cNvSpPr txBox="1"/>
            <p:nvPr/>
          </p:nvSpPr>
          <p:spPr>
            <a:xfrm>
              <a:off x="0" y="4410530"/>
              <a:ext cx="14858999" cy="964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3350" lIns="213350" spcFirstLastPara="1" rIns="213350" wrap="square" tIns="213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Almacenamiento desacoplado</a:t>
              </a: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: los datos se almacenan por separado del procesamiento.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0" name="Google Shape;290;p5"/>
            <p:cNvSpPr/>
            <p:nvPr/>
          </p:nvSpPr>
          <p:spPr>
            <a:xfrm rot="10800000">
              <a:off x="0" y="2940963"/>
              <a:ext cx="14858999" cy="1484041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gradFill>
              <a:gsLst>
                <a:gs pos="0">
                  <a:srgbClr val="E2A456"/>
                </a:gs>
                <a:gs pos="100000">
                  <a:srgbClr val="CF8C2C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5"/>
            <p:cNvSpPr txBox="1"/>
            <p:nvPr/>
          </p:nvSpPr>
          <p:spPr>
            <a:xfrm>
              <a:off x="0" y="2940963"/>
              <a:ext cx="14858999" cy="964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3350" lIns="213350" spcFirstLastPara="1" rIns="213350" wrap="square" tIns="213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Query Engine (Dremel)</a:t>
              </a: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: motor distribuido que procesa consultas de forma paralela.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2" name="Google Shape;292;p5"/>
            <p:cNvSpPr/>
            <p:nvPr/>
          </p:nvSpPr>
          <p:spPr>
            <a:xfrm rot="10800000">
              <a:off x="0" y="1471395"/>
              <a:ext cx="14858999" cy="1484041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gradFill>
              <a:gsLst>
                <a:gs pos="0">
                  <a:srgbClr val="D85D53"/>
                </a:gs>
                <a:gs pos="100000">
                  <a:srgbClr val="BC3E31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5"/>
            <p:cNvSpPr txBox="1"/>
            <p:nvPr/>
          </p:nvSpPr>
          <p:spPr>
            <a:xfrm>
              <a:off x="0" y="1471395"/>
              <a:ext cx="14858999" cy="964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3350" lIns="213350" spcFirstLastPara="1" rIns="213350" wrap="square" tIns="213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Frontend</a:t>
              </a: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: donde se ejecutan las consultas (UI, CLI, API).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4" name="Google Shape;294;p5"/>
            <p:cNvSpPr/>
            <p:nvPr/>
          </p:nvSpPr>
          <p:spPr>
            <a:xfrm rot="10800000">
              <a:off x="0" y="1828"/>
              <a:ext cx="14858999" cy="1484041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gradFill>
              <a:gsLst>
                <a:gs pos="0">
                  <a:srgbClr val="D95A91"/>
                </a:gs>
                <a:gs pos="100000">
                  <a:srgbClr val="C23676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5"/>
            <p:cNvSpPr txBox="1"/>
            <p:nvPr/>
          </p:nvSpPr>
          <p:spPr>
            <a:xfrm>
              <a:off x="0" y="1828"/>
              <a:ext cx="14858999" cy="964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3350" lIns="213350" spcFirstLastPara="1" rIns="213350" wrap="square" tIns="213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lang="en-US" sz="30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Componentes clave:</a:t>
              </a:r>
              <a:endParaRPr sz="3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Buenas prácticas de optimización</a:t>
            </a:r>
            <a:endParaRPr/>
          </a:p>
        </p:txBody>
      </p:sp>
      <p:grpSp>
        <p:nvGrpSpPr>
          <p:cNvPr id="301" name="Google Shape;301;p23"/>
          <p:cNvGrpSpPr/>
          <p:nvPr/>
        </p:nvGrpSpPr>
        <p:grpSpPr>
          <a:xfrm>
            <a:off x="1385318" y="3085402"/>
            <a:ext cx="15531078" cy="5756401"/>
            <a:chOff x="0" y="70739"/>
            <a:chExt cx="15531078" cy="5756401"/>
          </a:xfrm>
        </p:grpSpPr>
        <p:sp>
          <p:nvSpPr>
            <p:cNvPr id="302" name="Google Shape;302;p23"/>
            <p:cNvSpPr/>
            <p:nvPr/>
          </p:nvSpPr>
          <p:spPr>
            <a:xfrm>
              <a:off x="0" y="454499"/>
              <a:ext cx="15531078" cy="655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776553" y="70739"/>
              <a:ext cx="10871754" cy="76752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814020" y="108206"/>
              <a:ext cx="10796820" cy="69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orbel"/>
                <a:buNone/>
              </a:pPr>
              <a:r>
                <a:rPr lang="en-US" sz="2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Usar índices correctamente</a:t>
              </a:r>
              <a:endParaRPr sz="2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0" y="1633859"/>
              <a:ext cx="15531078" cy="655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776553" y="1250099"/>
              <a:ext cx="10871754" cy="76752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814020" y="1287566"/>
              <a:ext cx="10796820" cy="69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orbel"/>
                <a:buNone/>
              </a:pPr>
              <a:r>
                <a:rPr lang="en-US" sz="2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Evitar SELECT *</a:t>
              </a:r>
              <a:endParaRPr sz="2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0" y="2813220"/>
              <a:ext cx="15531078" cy="655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776553" y="2429460"/>
              <a:ext cx="10871754" cy="76752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814020" y="2466927"/>
              <a:ext cx="10796820" cy="69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orbel"/>
                <a:buNone/>
              </a:pPr>
              <a:r>
                <a:rPr lang="en-US" sz="2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Escribir filtros WHERE primero</a:t>
              </a:r>
              <a:endParaRPr sz="2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0" y="3992580"/>
              <a:ext cx="15531078" cy="655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776553" y="3608820"/>
              <a:ext cx="10871754" cy="76752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814020" y="3646287"/>
              <a:ext cx="10796820" cy="69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orbel"/>
                <a:buNone/>
              </a:pPr>
              <a:r>
                <a:rPr lang="en-US" sz="2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Normalizar subconsultas</a:t>
              </a:r>
              <a:endParaRPr sz="2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0" y="5171940"/>
              <a:ext cx="15531078" cy="655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776553" y="4788180"/>
              <a:ext cx="10871754" cy="76752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814020" y="4825647"/>
              <a:ext cx="10796820" cy="692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orbel"/>
                <a:buNone/>
              </a:pPr>
              <a:r>
                <a:rPr lang="en-US" sz="26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Limitar resultados (LIMIT)</a:t>
              </a:r>
              <a:endParaRPr sz="2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 txBox="1"/>
          <p:nvPr>
            <p:ph type="title"/>
          </p:nvPr>
        </p:nvSpPr>
        <p:spPr>
          <a:xfrm>
            <a:off x="1371599" y="547688"/>
            <a:ext cx="15544803" cy="240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Carga de Datos</a:t>
            </a:r>
            <a:endParaRPr/>
          </a:p>
        </p:txBody>
      </p:sp>
      <p:pic>
        <p:nvPicPr>
          <p:cNvPr descr="A red folder with white border&#10;&#10;AI-generated content may be incorrect." id="322" name="Google Shape;322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1" y="3881441"/>
            <a:ext cx="4948238" cy="41767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24"/>
          <p:cNvGrpSpPr/>
          <p:nvPr/>
        </p:nvGrpSpPr>
        <p:grpSpPr>
          <a:xfrm>
            <a:off x="6903245" y="3029450"/>
            <a:ext cx="10013156" cy="5892595"/>
            <a:chOff x="0" y="2880"/>
            <a:chExt cx="10013156" cy="5892595"/>
          </a:xfrm>
        </p:grpSpPr>
        <p:cxnSp>
          <p:nvCxnSpPr>
            <p:cNvPr id="324" name="Google Shape;324;p24"/>
            <p:cNvCxnSpPr/>
            <p:nvPr/>
          </p:nvCxnSpPr>
          <p:spPr>
            <a:xfrm>
              <a:off x="0" y="2880"/>
              <a:ext cx="10013156" cy="0"/>
            </a:xfrm>
            <a:prstGeom prst="straightConnector1">
              <a:avLst/>
            </a:prstGeom>
            <a:solidFill>
              <a:srgbClr val="E19D3C"/>
            </a:solidFill>
            <a:ln cap="rnd" cmpd="sng" w="15875">
              <a:solidFill>
                <a:srgbClr val="E19D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5" name="Google Shape;325;p24"/>
            <p:cNvSpPr/>
            <p:nvPr/>
          </p:nvSpPr>
          <p:spPr>
            <a:xfrm>
              <a:off x="0" y="2880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4"/>
            <p:cNvSpPr txBox="1"/>
            <p:nvPr/>
          </p:nvSpPr>
          <p:spPr>
            <a:xfrm>
              <a:off x="0" y="2880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550" lIns="209550" spcFirstLastPara="1" rIns="209550" wrap="square" tIns="2095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500"/>
                <a:buFont typeface="Corbel"/>
                <a:buNone/>
              </a:pPr>
              <a:r>
                <a:rPr lang="en-US" sz="5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Manual (archivos CSV, JSON, Avro)</a:t>
              </a:r>
              <a:endParaRPr sz="5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7" name="Google Shape;327;p24"/>
            <p:cNvCxnSpPr/>
            <p:nvPr/>
          </p:nvCxnSpPr>
          <p:spPr>
            <a:xfrm>
              <a:off x="0" y="1967078"/>
              <a:ext cx="10013156" cy="0"/>
            </a:xfrm>
            <a:prstGeom prst="straightConnector1">
              <a:avLst/>
            </a:prstGeom>
            <a:solidFill>
              <a:srgbClr val="E19D3C"/>
            </a:solidFill>
            <a:ln cap="rnd" cmpd="sng" w="15875">
              <a:solidFill>
                <a:srgbClr val="E19D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8" name="Google Shape;328;p24"/>
            <p:cNvSpPr/>
            <p:nvPr/>
          </p:nvSpPr>
          <p:spPr>
            <a:xfrm>
              <a:off x="0" y="1967078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4"/>
            <p:cNvSpPr txBox="1"/>
            <p:nvPr/>
          </p:nvSpPr>
          <p:spPr>
            <a:xfrm>
              <a:off x="0" y="1967078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550" lIns="209550" spcFirstLastPara="1" rIns="209550" wrap="square" tIns="2095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500"/>
                <a:buFont typeface="Corbel"/>
                <a:buNone/>
              </a:pPr>
              <a:r>
                <a:rPr lang="en-US" sz="5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Desde Cloud Storage</a:t>
              </a:r>
              <a:endParaRPr sz="5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30" name="Google Shape;330;p24"/>
            <p:cNvCxnSpPr/>
            <p:nvPr/>
          </p:nvCxnSpPr>
          <p:spPr>
            <a:xfrm>
              <a:off x="0" y="3931277"/>
              <a:ext cx="10013156" cy="0"/>
            </a:xfrm>
            <a:prstGeom prst="straightConnector1">
              <a:avLst/>
            </a:prstGeom>
            <a:solidFill>
              <a:srgbClr val="E19D3C"/>
            </a:solidFill>
            <a:ln cap="rnd" cmpd="sng" w="15875">
              <a:solidFill>
                <a:srgbClr val="E19D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1" name="Google Shape;331;p24"/>
            <p:cNvSpPr/>
            <p:nvPr/>
          </p:nvSpPr>
          <p:spPr>
            <a:xfrm>
              <a:off x="0" y="3931277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4"/>
            <p:cNvSpPr txBox="1"/>
            <p:nvPr/>
          </p:nvSpPr>
          <p:spPr>
            <a:xfrm>
              <a:off x="0" y="3931277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550" lIns="209550" spcFirstLastPara="1" rIns="209550" wrap="square" tIns="2095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500"/>
                <a:buFont typeface="Corbel"/>
                <a:buNone/>
              </a:pPr>
              <a:r>
                <a:rPr lang="en-US" sz="5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Conectores (ETL, federados)</a:t>
              </a:r>
              <a:endParaRPr sz="5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"/>
          <p:cNvSpPr txBox="1"/>
          <p:nvPr>
            <p:ph type="title"/>
          </p:nvPr>
        </p:nvSpPr>
        <p:spPr>
          <a:xfrm>
            <a:off x="1371598" y="547688"/>
            <a:ext cx="15659102" cy="2425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Conectores Federados</a:t>
            </a:r>
            <a:endParaRPr/>
          </a:p>
        </p:txBody>
      </p:sp>
      <p:pic>
        <p:nvPicPr>
          <p:cNvPr descr="A diagram of a network&#10;&#10;AI-generated content may be incorrect." id="338" name="Google Shape;338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4252781"/>
            <a:ext cx="4964907" cy="31816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25"/>
          <p:cNvGrpSpPr/>
          <p:nvPr/>
        </p:nvGrpSpPr>
        <p:grpSpPr>
          <a:xfrm>
            <a:off x="6903466" y="3523934"/>
            <a:ext cx="10127234" cy="4627261"/>
            <a:chOff x="0" y="496754"/>
            <a:chExt cx="10127234" cy="4627261"/>
          </a:xfrm>
        </p:grpSpPr>
        <p:sp>
          <p:nvSpPr>
            <p:cNvPr id="340" name="Google Shape;340;p25"/>
            <p:cNvSpPr/>
            <p:nvPr/>
          </p:nvSpPr>
          <p:spPr>
            <a:xfrm>
              <a:off x="0" y="496754"/>
              <a:ext cx="10127234" cy="225459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5"/>
            <p:cNvSpPr txBox="1"/>
            <p:nvPr/>
          </p:nvSpPr>
          <p:spPr>
            <a:xfrm>
              <a:off x="110060" y="606814"/>
              <a:ext cx="9907114" cy="2034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200" lIns="156200" spcFirstLastPara="1" rIns="156200" wrap="square" tIns="15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100"/>
                <a:buFont typeface="Corbel"/>
                <a:buNone/>
              </a:pPr>
              <a:r>
                <a:rPr lang="en-US" sz="4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Consultar datos que NO están almacenados directamente en BigQuery, pero leerlos como si fueran tablas normales.</a:t>
              </a:r>
              <a:endParaRPr sz="4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0" y="2869425"/>
              <a:ext cx="10127234" cy="225459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5"/>
            <p:cNvSpPr txBox="1"/>
            <p:nvPr/>
          </p:nvSpPr>
          <p:spPr>
            <a:xfrm>
              <a:off x="110060" y="2979485"/>
              <a:ext cx="9907114" cy="2034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200" lIns="156200" spcFirstLastPara="1" rIns="156200" wrap="square" tIns="15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100"/>
                <a:buFont typeface="Corbel"/>
                <a:buNone/>
              </a:pPr>
              <a:r>
                <a:rPr lang="en-US" sz="4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BigQuery usa "conectores federados" para acceder a esos datos remotos sin tener que importarlos.</a:t>
              </a:r>
              <a:endParaRPr sz="4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"/>
          <p:cNvSpPr txBox="1"/>
          <p:nvPr>
            <p:ph type="title"/>
          </p:nvPr>
        </p:nvSpPr>
        <p:spPr>
          <a:xfrm>
            <a:off x="1371598" y="547688"/>
            <a:ext cx="15659102" cy="2425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Vistas en SQL</a:t>
            </a:r>
            <a:endParaRPr/>
          </a:p>
        </p:txBody>
      </p:sp>
      <p:pic>
        <p:nvPicPr>
          <p:cNvPr descr="A diagram of a computer&#10;&#10;AI-generated content may be incorrect." id="349" name="Google Shape;349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3158761"/>
            <a:ext cx="4964907" cy="53696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6"/>
          <p:cNvGrpSpPr/>
          <p:nvPr/>
        </p:nvGrpSpPr>
        <p:grpSpPr>
          <a:xfrm>
            <a:off x="6903466" y="3027180"/>
            <a:ext cx="10127234" cy="5620768"/>
            <a:chOff x="0" y="0"/>
            <a:chExt cx="10127234" cy="5620768"/>
          </a:xfrm>
        </p:grpSpPr>
        <p:cxnSp>
          <p:nvCxnSpPr>
            <p:cNvPr id="351" name="Google Shape;351;p26"/>
            <p:cNvCxnSpPr/>
            <p:nvPr/>
          </p:nvCxnSpPr>
          <p:spPr>
            <a:xfrm>
              <a:off x="0" y="0"/>
              <a:ext cx="10127234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2" name="Google Shape;352;p26"/>
            <p:cNvSpPr/>
            <p:nvPr/>
          </p:nvSpPr>
          <p:spPr>
            <a:xfrm>
              <a:off x="0" y="0"/>
              <a:ext cx="10127234" cy="2810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6"/>
            <p:cNvSpPr txBox="1"/>
            <p:nvPr/>
          </p:nvSpPr>
          <p:spPr>
            <a:xfrm>
              <a:off x="0" y="0"/>
              <a:ext cx="10127234" cy="2810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5250" lIns="175250" spcFirstLastPara="1" rIns="175250" wrap="square" tIns="17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600"/>
                <a:buFont typeface="Corbel"/>
                <a:buNone/>
              </a:pPr>
              <a:r>
                <a:rPr lang="en-US" sz="46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Tabla virtual que representa los resultados de una consulta, como si fuera una tabla real. </a:t>
              </a:r>
              <a:endParaRPr sz="4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54" name="Google Shape;354;p26"/>
            <p:cNvCxnSpPr/>
            <p:nvPr/>
          </p:nvCxnSpPr>
          <p:spPr>
            <a:xfrm>
              <a:off x="0" y="2810384"/>
              <a:ext cx="10127234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" name="Google Shape;355;p26"/>
            <p:cNvSpPr/>
            <p:nvPr/>
          </p:nvSpPr>
          <p:spPr>
            <a:xfrm>
              <a:off x="0" y="2810384"/>
              <a:ext cx="10127234" cy="2810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6"/>
            <p:cNvSpPr txBox="1"/>
            <p:nvPr/>
          </p:nvSpPr>
          <p:spPr>
            <a:xfrm>
              <a:off x="0" y="2810384"/>
              <a:ext cx="10127234" cy="2810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5250" lIns="175250" spcFirstLastPara="1" rIns="175250" wrap="square" tIns="17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600"/>
                <a:buFont typeface="Corbel"/>
                <a:buNone/>
              </a:pPr>
              <a:r>
                <a:rPr lang="en-US" sz="46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No almacena datos, sino que se basa en la consulta original para generar datos dinámicamente cuando se accede a ella. </a:t>
              </a:r>
              <a:endParaRPr sz="46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Tablas Materializadas</a:t>
            </a:r>
            <a:endParaRPr/>
          </a:p>
        </p:txBody>
      </p:sp>
      <p:grpSp>
        <p:nvGrpSpPr>
          <p:cNvPr id="362" name="Google Shape;362;p27"/>
          <p:cNvGrpSpPr/>
          <p:nvPr/>
        </p:nvGrpSpPr>
        <p:grpSpPr>
          <a:xfrm>
            <a:off x="1385318" y="4346186"/>
            <a:ext cx="15531077" cy="3234832"/>
            <a:chOff x="0" y="1331523"/>
            <a:chExt cx="15531077" cy="3234832"/>
          </a:xfrm>
        </p:grpSpPr>
        <p:sp>
          <p:nvSpPr>
            <p:cNvPr id="363" name="Google Shape;363;p27"/>
            <p:cNvSpPr/>
            <p:nvPr/>
          </p:nvSpPr>
          <p:spPr>
            <a:xfrm>
              <a:off x="0" y="1331523"/>
              <a:ext cx="4368115" cy="2773753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485346" y="1792602"/>
              <a:ext cx="4368115" cy="277375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7"/>
            <p:cNvSpPr txBox="1"/>
            <p:nvPr/>
          </p:nvSpPr>
          <p:spPr>
            <a:xfrm>
              <a:off x="566586" y="1873842"/>
              <a:ext cx="4205635" cy="2611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¿Qué son?</a:t>
              </a:r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5338808" y="1331523"/>
              <a:ext cx="4368115" cy="2773753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5824154" y="1792602"/>
              <a:ext cx="4368115" cy="277375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7"/>
            <p:cNvSpPr txBox="1"/>
            <p:nvPr/>
          </p:nvSpPr>
          <p:spPr>
            <a:xfrm>
              <a:off x="5905394" y="1873842"/>
              <a:ext cx="4205635" cy="2611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rPr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Es una tabla que almacena físicamente los resultados de una consulta SELECT. </a:t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10677616" y="1331523"/>
              <a:ext cx="4368115" cy="2773753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11162962" y="1792602"/>
              <a:ext cx="4368115" cy="277375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7"/>
            <p:cNvSpPr txBox="1"/>
            <p:nvPr/>
          </p:nvSpPr>
          <p:spPr>
            <a:xfrm>
              <a:off x="11244202" y="1873842"/>
              <a:ext cx="4205635" cy="2611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Esto permite una recuperación de datos más rápida al evitar el cálculo repetido de la consulta cada vez que se necesita, ofreciendo un rendimiento mejorado para consultas complejas y de uso frecuente. </a:t>
              </a:r>
              <a:endParaRPr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¿Qué es BigQuery ML?</a:t>
            </a:r>
            <a:endParaRPr/>
          </a:p>
        </p:txBody>
      </p:sp>
      <p:grpSp>
        <p:nvGrpSpPr>
          <p:cNvPr id="377" name="Google Shape;377;p28"/>
          <p:cNvGrpSpPr/>
          <p:nvPr/>
        </p:nvGrpSpPr>
        <p:grpSpPr>
          <a:xfrm>
            <a:off x="1387213" y="3499570"/>
            <a:ext cx="15527286" cy="4928065"/>
            <a:chOff x="1895" y="484907"/>
            <a:chExt cx="15527286" cy="4928065"/>
          </a:xfrm>
        </p:grpSpPr>
        <p:sp>
          <p:nvSpPr>
            <p:cNvPr id="378" name="Google Shape;378;p28"/>
            <p:cNvSpPr/>
            <p:nvPr/>
          </p:nvSpPr>
          <p:spPr>
            <a:xfrm>
              <a:off x="1895" y="484907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741290" y="1187332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8"/>
            <p:cNvSpPr txBox="1"/>
            <p:nvPr/>
          </p:nvSpPr>
          <p:spPr>
            <a:xfrm>
              <a:off x="865055" y="1311097"/>
              <a:ext cx="6407021" cy="3978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8100" lIns="198100" spcFirstLastPara="1" rIns="198100" wrap="square" tIns="19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Corbel"/>
                <a:buNone/>
              </a:pPr>
              <a:r>
                <a:rPr lang="en-US" sz="52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Permite crear modelos de Machine Learning directamente en SQL.</a:t>
              </a:r>
              <a:endParaRPr sz="5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8135236" y="484907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8"/>
            <p:cNvSpPr/>
            <p:nvPr/>
          </p:nvSpPr>
          <p:spPr>
            <a:xfrm>
              <a:off x="8874630" y="1187332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8"/>
            <p:cNvSpPr txBox="1"/>
            <p:nvPr/>
          </p:nvSpPr>
          <p:spPr>
            <a:xfrm>
              <a:off x="8998395" y="1311097"/>
              <a:ext cx="6407021" cy="3978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8100" lIns="198100" spcFirstLastPara="1" rIns="198100" wrap="square" tIns="19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Corbel"/>
                <a:buNone/>
              </a:pPr>
              <a:r>
                <a:rPr lang="en-US" sz="52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No se necesita mover datos a otro servicio.</a:t>
              </a:r>
              <a:endParaRPr sz="5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Modelos en BigQuery ML</a:t>
            </a:r>
            <a:endParaRPr/>
          </a:p>
        </p:txBody>
      </p:sp>
      <p:grpSp>
        <p:nvGrpSpPr>
          <p:cNvPr id="389" name="Google Shape;389;p29"/>
          <p:cNvGrpSpPr/>
          <p:nvPr/>
        </p:nvGrpSpPr>
        <p:grpSpPr>
          <a:xfrm>
            <a:off x="1385318" y="3058943"/>
            <a:ext cx="15531078" cy="5809320"/>
            <a:chOff x="0" y="44280"/>
            <a:chExt cx="15531078" cy="5809320"/>
          </a:xfrm>
        </p:grpSpPr>
        <p:sp>
          <p:nvSpPr>
            <p:cNvPr id="390" name="Google Shape;390;p29"/>
            <p:cNvSpPr/>
            <p:nvPr/>
          </p:nvSpPr>
          <p:spPr>
            <a:xfrm>
              <a:off x="0" y="531360"/>
              <a:ext cx="15531078" cy="831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776553" y="44280"/>
              <a:ext cx="10871754" cy="97416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 txBox="1"/>
            <p:nvPr/>
          </p:nvSpPr>
          <p:spPr>
            <a:xfrm>
              <a:off x="824108" y="91835"/>
              <a:ext cx="10776644" cy="8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orbel"/>
                <a:buNone/>
              </a:pPr>
              <a:r>
                <a:rPr lang="en-US" sz="33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Regresión lineal</a:t>
              </a:r>
              <a:endParaRPr sz="33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0" y="2028240"/>
              <a:ext cx="15531078" cy="831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776553" y="1541160"/>
              <a:ext cx="10871754" cy="97416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 txBox="1"/>
            <p:nvPr/>
          </p:nvSpPr>
          <p:spPr>
            <a:xfrm>
              <a:off x="824108" y="1588715"/>
              <a:ext cx="10776644" cy="8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orbel"/>
                <a:buNone/>
              </a:pPr>
              <a:r>
                <a:rPr lang="en-US" sz="33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Clasificación logística</a:t>
              </a:r>
              <a:endParaRPr sz="33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0" y="3525120"/>
              <a:ext cx="15531078" cy="831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776553" y="3038040"/>
              <a:ext cx="10871754" cy="97416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 txBox="1"/>
            <p:nvPr/>
          </p:nvSpPr>
          <p:spPr>
            <a:xfrm>
              <a:off x="824108" y="3085595"/>
              <a:ext cx="10776644" cy="8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orbel"/>
                <a:buNone/>
              </a:pPr>
              <a:r>
                <a:rPr lang="en-US" sz="33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Clustering (K-Means)</a:t>
              </a:r>
              <a:endParaRPr sz="33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0" y="5022000"/>
              <a:ext cx="15531078" cy="831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776553" y="4534920"/>
              <a:ext cx="10871754" cy="97416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9"/>
            <p:cNvSpPr txBox="1"/>
            <p:nvPr/>
          </p:nvSpPr>
          <p:spPr>
            <a:xfrm>
              <a:off x="824108" y="4582475"/>
              <a:ext cx="10776644" cy="879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10925" spcFirstLastPara="1" rIns="4109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300"/>
                <a:buFont typeface="Corbel"/>
                <a:buNone/>
              </a:pPr>
              <a:r>
                <a:rPr lang="en-US" sz="33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Series de tiempo (ARIMA+)</a:t>
              </a:r>
              <a:endParaRPr sz="33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0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Regresión Lineal (Linear Regression)</a:t>
            </a:r>
            <a:endParaRPr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1385318" y="3973068"/>
            <a:ext cx="15531078" cy="3981069"/>
            <a:chOff x="0" y="958405"/>
            <a:chExt cx="15531078" cy="3981069"/>
          </a:xfrm>
        </p:grpSpPr>
        <p:sp>
          <p:nvSpPr>
            <p:cNvPr id="408" name="Google Shape;408;p30"/>
            <p:cNvSpPr/>
            <p:nvPr/>
          </p:nvSpPr>
          <p:spPr>
            <a:xfrm>
              <a:off x="0" y="958405"/>
              <a:ext cx="15531078" cy="1769364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535232" y="1356512"/>
              <a:ext cx="973150" cy="97315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2043615" y="958405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 txBox="1"/>
            <p:nvPr/>
          </p:nvSpPr>
          <p:spPr>
            <a:xfrm>
              <a:off x="2043615" y="958405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7250" lIns="187250" spcFirstLastPara="1" rIns="187250" wrap="square" tIns="187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¿Qué hace?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0" y="3170110"/>
              <a:ext cx="15531078" cy="1769364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535232" y="3568217"/>
              <a:ext cx="973150" cy="9731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2043615" y="3170110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 txBox="1"/>
            <p:nvPr/>
          </p:nvSpPr>
          <p:spPr>
            <a:xfrm>
              <a:off x="2043615" y="3170110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7250" lIns="187250" spcFirstLastPara="1" rIns="187250" wrap="square" tIns="187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Predice un valor numérico continuo basado en uno o más atributos (features).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Ejemplos:</a:t>
            </a:r>
            <a:endParaRPr/>
          </a:p>
        </p:txBody>
      </p:sp>
      <p:grpSp>
        <p:nvGrpSpPr>
          <p:cNvPr id="421" name="Google Shape;421;p31"/>
          <p:cNvGrpSpPr/>
          <p:nvPr/>
        </p:nvGrpSpPr>
        <p:grpSpPr>
          <a:xfrm>
            <a:off x="1385318" y="3973068"/>
            <a:ext cx="15531078" cy="3981069"/>
            <a:chOff x="0" y="958405"/>
            <a:chExt cx="15531078" cy="3981069"/>
          </a:xfrm>
        </p:grpSpPr>
        <p:sp>
          <p:nvSpPr>
            <p:cNvPr id="422" name="Google Shape;422;p31"/>
            <p:cNvSpPr/>
            <p:nvPr/>
          </p:nvSpPr>
          <p:spPr>
            <a:xfrm>
              <a:off x="0" y="958405"/>
              <a:ext cx="15531078" cy="1769364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535232" y="1356512"/>
              <a:ext cx="973150" cy="97315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2043615" y="958405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1"/>
            <p:cNvSpPr txBox="1"/>
            <p:nvPr/>
          </p:nvSpPr>
          <p:spPr>
            <a:xfrm>
              <a:off x="2043615" y="958405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7250" lIns="187250" spcFirstLastPara="1" rIns="187250" wrap="square" tIns="187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Predecir precio de una casa según tamaño y ubicación.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0" y="3170110"/>
              <a:ext cx="15531078" cy="1769364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535232" y="3568217"/>
              <a:ext cx="973150" cy="9731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2043615" y="3170110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1"/>
            <p:cNvSpPr txBox="1"/>
            <p:nvPr/>
          </p:nvSpPr>
          <p:spPr>
            <a:xfrm>
              <a:off x="2043615" y="3170110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7250" lIns="187250" spcFirstLastPara="1" rIns="187250" wrap="square" tIns="187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Predecir ingresos basados en edad y nivel educativo.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Conceptos básicos:</a:t>
            </a:r>
            <a:endParaRPr/>
          </a:p>
        </p:txBody>
      </p:sp>
      <p:grpSp>
        <p:nvGrpSpPr>
          <p:cNvPr id="435" name="Google Shape;435;p32"/>
          <p:cNvGrpSpPr/>
          <p:nvPr/>
        </p:nvGrpSpPr>
        <p:grpSpPr>
          <a:xfrm>
            <a:off x="1385318" y="3015382"/>
            <a:ext cx="15531078" cy="5896440"/>
            <a:chOff x="0" y="719"/>
            <a:chExt cx="15531078" cy="5896440"/>
          </a:xfrm>
        </p:grpSpPr>
        <p:sp>
          <p:nvSpPr>
            <p:cNvPr id="436" name="Google Shape;436;p32"/>
            <p:cNvSpPr/>
            <p:nvPr/>
          </p:nvSpPr>
          <p:spPr>
            <a:xfrm>
              <a:off x="0" y="719"/>
              <a:ext cx="15531078" cy="1684697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2"/>
            <p:cNvSpPr/>
            <p:nvPr/>
          </p:nvSpPr>
          <p:spPr>
            <a:xfrm>
              <a:off x="509620" y="379776"/>
              <a:ext cx="926583" cy="92658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2"/>
            <p:cNvSpPr/>
            <p:nvPr/>
          </p:nvSpPr>
          <p:spPr>
            <a:xfrm>
              <a:off x="1945825" y="719"/>
              <a:ext cx="13585252" cy="1684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2"/>
            <p:cNvSpPr txBox="1"/>
            <p:nvPr/>
          </p:nvSpPr>
          <p:spPr>
            <a:xfrm>
              <a:off x="1945825" y="719"/>
              <a:ext cx="13585252" cy="1684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8275" lIns="178275" spcFirstLastPara="1" rIns="178275" wrap="square" tIns="178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Busca una línea recta (o hiperplano) que minimice el error (mínimos cuadrados).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0" y="2106591"/>
              <a:ext cx="15531078" cy="1684697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509620" y="2485648"/>
              <a:ext cx="926583" cy="92658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1945825" y="2106591"/>
              <a:ext cx="13585252" cy="1684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2"/>
            <p:cNvSpPr txBox="1"/>
            <p:nvPr/>
          </p:nvSpPr>
          <p:spPr>
            <a:xfrm>
              <a:off x="1945825" y="2106591"/>
              <a:ext cx="13585252" cy="1684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8275" lIns="178275" spcFirstLastPara="1" rIns="178275" wrap="square" tIns="178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El modelo es de la forma: y=β0​+β1​x1​+β2​x2​+⋯+ϵ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4" name="Google Shape;444;p32"/>
            <p:cNvSpPr/>
            <p:nvPr/>
          </p:nvSpPr>
          <p:spPr>
            <a:xfrm>
              <a:off x="0" y="4212462"/>
              <a:ext cx="15531078" cy="1684697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509620" y="4591519"/>
              <a:ext cx="926583" cy="92658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1945825" y="4212462"/>
              <a:ext cx="13585252" cy="1684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2"/>
            <p:cNvSpPr txBox="1"/>
            <p:nvPr/>
          </p:nvSpPr>
          <p:spPr>
            <a:xfrm>
              <a:off x="1945825" y="4212462"/>
              <a:ext cx="13585252" cy="1684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8275" lIns="178275" spcFirstLastPara="1" rIns="178275" wrap="square" tIns="178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Métrica principal: RMSE (Root Mean Squared Error)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3"/>
          <p:cNvSpPr txBox="1"/>
          <p:nvPr>
            <p:ph type="title"/>
          </p:nvPr>
        </p:nvSpPr>
        <p:spPr>
          <a:xfrm>
            <a:off x="1371599" y="547688"/>
            <a:ext cx="15544803" cy="240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Comando en BigQuery</a:t>
            </a:r>
            <a:endParaRPr/>
          </a:p>
        </p:txBody>
      </p:sp>
      <p:pic>
        <p:nvPicPr>
          <p:cNvPr descr="A computer screen with colorful text&#10;&#10;AI-generated content may be incorrect." id="453" name="Google Shape;453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1" y="4318117"/>
            <a:ext cx="4948238" cy="3303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33"/>
          <p:cNvGrpSpPr/>
          <p:nvPr/>
        </p:nvGrpSpPr>
        <p:grpSpPr>
          <a:xfrm>
            <a:off x="6903245" y="3029450"/>
            <a:ext cx="10013156" cy="5892595"/>
            <a:chOff x="0" y="2880"/>
            <a:chExt cx="10013156" cy="5892595"/>
          </a:xfrm>
        </p:grpSpPr>
        <p:cxnSp>
          <p:nvCxnSpPr>
            <p:cNvPr id="455" name="Google Shape;455;p33"/>
            <p:cNvCxnSpPr/>
            <p:nvPr/>
          </p:nvCxnSpPr>
          <p:spPr>
            <a:xfrm>
              <a:off x="0" y="2880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6" name="Google Shape;456;p33"/>
            <p:cNvSpPr/>
            <p:nvPr/>
          </p:nvSpPr>
          <p:spPr>
            <a:xfrm>
              <a:off x="0" y="2880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3"/>
            <p:cNvSpPr txBox="1"/>
            <p:nvPr/>
          </p:nvSpPr>
          <p:spPr>
            <a:xfrm>
              <a:off x="0" y="2880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4300" lIns="194300" spcFirstLastPara="1" rIns="194300" wrap="square" tIns="19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100"/>
                <a:buFont typeface="Corbel"/>
                <a:buNone/>
              </a:pPr>
              <a:r>
                <a:rPr lang="en-US" sz="5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CREATE MODEL my_model</a:t>
              </a:r>
              <a:endParaRPr/>
            </a:p>
          </p:txBody>
        </p:sp>
        <p:cxnSp>
          <p:nvCxnSpPr>
            <p:cNvPr id="458" name="Google Shape;458;p33"/>
            <p:cNvCxnSpPr/>
            <p:nvPr/>
          </p:nvCxnSpPr>
          <p:spPr>
            <a:xfrm>
              <a:off x="0" y="1967078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59" name="Google Shape;459;p33"/>
            <p:cNvSpPr/>
            <p:nvPr/>
          </p:nvSpPr>
          <p:spPr>
            <a:xfrm>
              <a:off x="0" y="1967078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3"/>
            <p:cNvSpPr txBox="1"/>
            <p:nvPr/>
          </p:nvSpPr>
          <p:spPr>
            <a:xfrm>
              <a:off x="0" y="1967078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4300" lIns="194300" spcFirstLastPara="1" rIns="194300" wrap="square" tIns="19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100"/>
                <a:buFont typeface="Corbel"/>
                <a:buNone/>
              </a:pPr>
              <a:r>
                <a:rPr lang="en-US" sz="5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OPTIONS(model_type='linear_reg') AS</a:t>
              </a:r>
              <a:endParaRPr/>
            </a:p>
          </p:txBody>
        </p:sp>
        <p:cxnSp>
          <p:nvCxnSpPr>
            <p:cNvPr id="461" name="Google Shape;461;p33"/>
            <p:cNvCxnSpPr/>
            <p:nvPr/>
          </p:nvCxnSpPr>
          <p:spPr>
            <a:xfrm>
              <a:off x="0" y="3931277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2" name="Google Shape;462;p33"/>
            <p:cNvSpPr/>
            <p:nvPr/>
          </p:nvSpPr>
          <p:spPr>
            <a:xfrm>
              <a:off x="0" y="3931277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3"/>
            <p:cNvSpPr txBox="1"/>
            <p:nvPr/>
          </p:nvSpPr>
          <p:spPr>
            <a:xfrm>
              <a:off x="0" y="3931277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4300" lIns="194300" spcFirstLastPara="1" rIns="194300" wrap="square" tIns="19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100"/>
                <a:buFont typeface="Corbel"/>
                <a:buNone/>
              </a:pPr>
              <a:r>
                <a:rPr lang="en-US" sz="5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SELECT * FROM my_data;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4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Clasificación Logística (Logistic Regression)</a:t>
            </a:r>
            <a:endParaRPr/>
          </a:p>
        </p:txBody>
      </p:sp>
      <p:grpSp>
        <p:nvGrpSpPr>
          <p:cNvPr id="469" name="Google Shape;469;p34"/>
          <p:cNvGrpSpPr/>
          <p:nvPr/>
        </p:nvGrpSpPr>
        <p:grpSpPr>
          <a:xfrm>
            <a:off x="1385318" y="3653599"/>
            <a:ext cx="10354052" cy="2654047"/>
            <a:chOff x="0" y="638936"/>
            <a:chExt cx="10354052" cy="2654047"/>
          </a:xfrm>
        </p:grpSpPr>
        <p:sp>
          <p:nvSpPr>
            <p:cNvPr id="470" name="Google Shape;470;p34"/>
            <p:cNvSpPr/>
            <p:nvPr/>
          </p:nvSpPr>
          <p:spPr>
            <a:xfrm>
              <a:off x="0" y="638936"/>
              <a:ext cx="10354052" cy="1179576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356821" y="904341"/>
              <a:ext cx="648766" cy="64876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1362410" y="638936"/>
              <a:ext cx="8991641" cy="1179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4"/>
            <p:cNvSpPr txBox="1"/>
            <p:nvPr/>
          </p:nvSpPr>
          <p:spPr>
            <a:xfrm>
              <a:off x="1362410" y="638936"/>
              <a:ext cx="8991641" cy="1179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¿Qué hace?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0" y="2113407"/>
              <a:ext cx="10354052" cy="1179576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4"/>
            <p:cNvSpPr/>
            <p:nvPr/>
          </p:nvSpPr>
          <p:spPr>
            <a:xfrm>
              <a:off x="356821" y="2378811"/>
              <a:ext cx="648766" cy="64876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1362410" y="2113407"/>
              <a:ext cx="8991641" cy="1179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4"/>
            <p:cNvSpPr txBox="1"/>
            <p:nvPr/>
          </p:nvSpPr>
          <p:spPr>
            <a:xfrm>
              <a:off x="1362410" y="2113407"/>
              <a:ext cx="8991641" cy="1179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Predice categorías (por ejemplo: "sí" o "no", "compra" o "no compra").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Ejemplos:</a:t>
            </a:r>
            <a:endParaRPr/>
          </a:p>
        </p:txBody>
      </p:sp>
      <p:grpSp>
        <p:nvGrpSpPr>
          <p:cNvPr id="483" name="Google Shape;483;p35"/>
          <p:cNvGrpSpPr/>
          <p:nvPr/>
        </p:nvGrpSpPr>
        <p:grpSpPr>
          <a:xfrm>
            <a:off x="1387213" y="3499570"/>
            <a:ext cx="15527286" cy="4928065"/>
            <a:chOff x="1895" y="484907"/>
            <a:chExt cx="15527286" cy="4928065"/>
          </a:xfrm>
        </p:grpSpPr>
        <p:sp>
          <p:nvSpPr>
            <p:cNvPr id="484" name="Google Shape;484;p35"/>
            <p:cNvSpPr/>
            <p:nvPr/>
          </p:nvSpPr>
          <p:spPr>
            <a:xfrm>
              <a:off x="1895" y="484907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741290" y="1187332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5"/>
            <p:cNvSpPr txBox="1"/>
            <p:nvPr/>
          </p:nvSpPr>
          <p:spPr>
            <a:xfrm>
              <a:off x="865055" y="1311097"/>
              <a:ext cx="6407021" cy="3978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6200" lIns="236200" spcFirstLastPara="1" rIns="236200" wrap="square" tIns="23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00"/>
                <a:buFont typeface="Corbel"/>
                <a:buNone/>
              </a:pPr>
              <a:r>
                <a:rPr lang="en-US" sz="62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Clasificar correos como spam o no spam.</a:t>
              </a:r>
              <a:endParaRPr sz="6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8135236" y="484907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5"/>
            <p:cNvSpPr/>
            <p:nvPr/>
          </p:nvSpPr>
          <p:spPr>
            <a:xfrm>
              <a:off x="8874630" y="1187332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5"/>
            <p:cNvSpPr txBox="1"/>
            <p:nvPr/>
          </p:nvSpPr>
          <p:spPr>
            <a:xfrm>
              <a:off x="8998395" y="1311097"/>
              <a:ext cx="6407021" cy="3978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6200" lIns="236200" spcFirstLastPara="1" rIns="236200" wrap="square" tIns="23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00"/>
                <a:buFont typeface="Corbel"/>
                <a:buNone/>
              </a:pPr>
              <a:r>
                <a:rPr lang="en-US" sz="62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Predecir si un cliente abandonará el servicio.</a:t>
              </a:r>
              <a:endParaRPr sz="6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6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Conceptos básicos:</a:t>
            </a:r>
            <a:endParaRPr/>
          </a:p>
        </p:txBody>
      </p:sp>
      <p:grpSp>
        <p:nvGrpSpPr>
          <p:cNvPr id="495" name="Google Shape;495;p36"/>
          <p:cNvGrpSpPr/>
          <p:nvPr/>
        </p:nvGrpSpPr>
        <p:grpSpPr>
          <a:xfrm>
            <a:off x="4698614" y="3016582"/>
            <a:ext cx="3727458" cy="3928080"/>
            <a:chOff x="3313296" y="1919"/>
            <a:chExt cx="3727458" cy="3928080"/>
          </a:xfrm>
        </p:grpSpPr>
        <p:sp>
          <p:nvSpPr>
            <p:cNvPr id="496" name="Google Shape;496;p36"/>
            <p:cNvSpPr/>
            <p:nvPr/>
          </p:nvSpPr>
          <p:spPr>
            <a:xfrm>
              <a:off x="3313296" y="1919"/>
              <a:ext cx="3727458" cy="1267122"/>
            </a:xfrm>
            <a:prstGeom prst="roundRect">
              <a:avLst>
                <a:gd fmla="val 16667" name="adj"/>
              </a:avLst>
            </a:prstGeom>
            <a:solidFill>
              <a:srgbClr val="E19D3C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6"/>
            <p:cNvSpPr txBox="1"/>
            <p:nvPr/>
          </p:nvSpPr>
          <p:spPr>
            <a:xfrm>
              <a:off x="3375152" y="63775"/>
              <a:ext cx="3603746" cy="114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00" lIns="87625" spcFirstLastPara="1" rIns="87625" wrap="square" tIns="4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orbel"/>
                <a:buNone/>
              </a:pPr>
              <a:r>
                <a:rPr lang="en-US" sz="2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Modelo que estima la probabilidad de pertenecer a una clase.</a:t>
              </a:r>
              <a:endParaRPr sz="2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3313296" y="1332398"/>
              <a:ext cx="3727458" cy="1267122"/>
            </a:xfrm>
            <a:prstGeom prst="roundRect">
              <a:avLst>
                <a:gd fmla="val 16667" name="adj"/>
              </a:avLst>
            </a:prstGeom>
            <a:solidFill>
              <a:srgbClr val="E19D3C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6"/>
            <p:cNvSpPr txBox="1"/>
            <p:nvPr/>
          </p:nvSpPr>
          <p:spPr>
            <a:xfrm>
              <a:off x="3375152" y="1394254"/>
              <a:ext cx="3603746" cy="114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00" lIns="87625" spcFirstLastPara="1" rIns="87625" wrap="square" tIns="4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orbel"/>
                <a:buNone/>
              </a:pPr>
              <a:r>
                <a:rPr lang="en-US" sz="2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Usa la función sigmoide: P(Y=1)=1/(1+e</a:t>
              </a:r>
              <a:r>
                <a:rPr baseline="30000" lang="en-US" sz="2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−(β0​+β1​x1​+…)</a:t>
              </a:r>
              <a:r>
                <a:rPr lang="en-US" sz="2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)</a:t>
              </a:r>
              <a:endParaRPr sz="2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3313296" y="2662877"/>
              <a:ext cx="3727458" cy="1267122"/>
            </a:xfrm>
            <a:prstGeom prst="roundRect">
              <a:avLst>
                <a:gd fmla="val 16667" name="adj"/>
              </a:avLst>
            </a:prstGeom>
            <a:solidFill>
              <a:srgbClr val="E19D3C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6"/>
            <p:cNvSpPr txBox="1"/>
            <p:nvPr/>
          </p:nvSpPr>
          <p:spPr>
            <a:xfrm>
              <a:off x="3375152" y="2724733"/>
              <a:ext cx="3603746" cy="114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00" lIns="87625" spcFirstLastPara="1" rIns="87625" wrap="square" tIns="4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orbel"/>
                <a:buNone/>
              </a:pPr>
              <a:r>
                <a:rPr lang="en-US" sz="2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Métricas: Accuracy, Precision, Recall, AUC.</a:t>
              </a:r>
              <a:endParaRPr sz="2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7"/>
          <p:cNvSpPr txBox="1"/>
          <p:nvPr>
            <p:ph type="title"/>
          </p:nvPr>
        </p:nvSpPr>
        <p:spPr>
          <a:xfrm>
            <a:off x="1371599" y="547688"/>
            <a:ext cx="15544803" cy="240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Comando en BigQuery</a:t>
            </a:r>
            <a:endParaRPr/>
          </a:p>
        </p:txBody>
      </p:sp>
      <p:pic>
        <p:nvPicPr>
          <p:cNvPr descr="A computer screen with colorful text&#10;&#10;AI-generated content may be incorrect." id="507" name="Google Shape;507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1" y="4318117"/>
            <a:ext cx="4948238" cy="3303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8" name="Google Shape;508;p37"/>
          <p:cNvGrpSpPr/>
          <p:nvPr/>
        </p:nvGrpSpPr>
        <p:grpSpPr>
          <a:xfrm>
            <a:off x="6903245" y="3029450"/>
            <a:ext cx="10013156" cy="5892595"/>
            <a:chOff x="0" y="2880"/>
            <a:chExt cx="10013156" cy="5892595"/>
          </a:xfrm>
        </p:grpSpPr>
        <p:cxnSp>
          <p:nvCxnSpPr>
            <p:cNvPr id="509" name="Google Shape;509;p37"/>
            <p:cNvCxnSpPr/>
            <p:nvPr/>
          </p:nvCxnSpPr>
          <p:spPr>
            <a:xfrm>
              <a:off x="0" y="2880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0" name="Google Shape;510;p37"/>
            <p:cNvSpPr/>
            <p:nvPr/>
          </p:nvSpPr>
          <p:spPr>
            <a:xfrm>
              <a:off x="0" y="2880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7"/>
            <p:cNvSpPr txBox="1"/>
            <p:nvPr/>
          </p:nvSpPr>
          <p:spPr>
            <a:xfrm>
              <a:off x="0" y="2880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6675" lIns="186675" spcFirstLastPara="1" rIns="186675" wrap="square" tIns="18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900"/>
                <a:buFont typeface="Corbel"/>
                <a:buNone/>
              </a:pPr>
              <a:r>
                <a:rPr lang="en-US" sz="49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CREATE MODEL my_model</a:t>
              </a:r>
              <a:endParaRPr/>
            </a:p>
          </p:txBody>
        </p:sp>
        <p:cxnSp>
          <p:nvCxnSpPr>
            <p:cNvPr id="512" name="Google Shape;512;p37"/>
            <p:cNvCxnSpPr/>
            <p:nvPr/>
          </p:nvCxnSpPr>
          <p:spPr>
            <a:xfrm>
              <a:off x="0" y="1967078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3" name="Google Shape;513;p37"/>
            <p:cNvSpPr/>
            <p:nvPr/>
          </p:nvSpPr>
          <p:spPr>
            <a:xfrm>
              <a:off x="0" y="1967078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7"/>
            <p:cNvSpPr txBox="1"/>
            <p:nvPr/>
          </p:nvSpPr>
          <p:spPr>
            <a:xfrm>
              <a:off x="0" y="1967078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6675" lIns="186675" spcFirstLastPara="1" rIns="186675" wrap="square" tIns="18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900"/>
                <a:buFont typeface="Corbel"/>
                <a:buNone/>
              </a:pPr>
              <a:r>
                <a:rPr lang="en-US" sz="49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OPTIONS(model_type='logistic_reg') AS</a:t>
              </a:r>
              <a:endParaRPr/>
            </a:p>
          </p:txBody>
        </p:sp>
        <p:cxnSp>
          <p:nvCxnSpPr>
            <p:cNvPr id="515" name="Google Shape;515;p37"/>
            <p:cNvCxnSpPr/>
            <p:nvPr/>
          </p:nvCxnSpPr>
          <p:spPr>
            <a:xfrm>
              <a:off x="0" y="3931277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6" name="Google Shape;516;p37"/>
            <p:cNvSpPr/>
            <p:nvPr/>
          </p:nvSpPr>
          <p:spPr>
            <a:xfrm>
              <a:off x="0" y="3931277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7"/>
            <p:cNvSpPr txBox="1"/>
            <p:nvPr/>
          </p:nvSpPr>
          <p:spPr>
            <a:xfrm>
              <a:off x="0" y="3931277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6675" lIns="186675" spcFirstLastPara="1" rIns="186675" wrap="square" tIns="18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900"/>
                <a:buFont typeface="Corbel"/>
                <a:buNone/>
              </a:pPr>
              <a:r>
                <a:rPr lang="en-US" sz="49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SELECT * FROM my_data;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Clustering (K-Means Clustering)</a:t>
            </a:r>
            <a:endParaRPr/>
          </a:p>
        </p:txBody>
      </p:sp>
      <p:grpSp>
        <p:nvGrpSpPr>
          <p:cNvPr id="523" name="Google Shape;523;p38"/>
          <p:cNvGrpSpPr/>
          <p:nvPr/>
        </p:nvGrpSpPr>
        <p:grpSpPr>
          <a:xfrm>
            <a:off x="1385318" y="3973068"/>
            <a:ext cx="15531078" cy="3981069"/>
            <a:chOff x="0" y="958405"/>
            <a:chExt cx="15531078" cy="3981069"/>
          </a:xfrm>
        </p:grpSpPr>
        <p:sp>
          <p:nvSpPr>
            <p:cNvPr id="524" name="Google Shape;524;p38"/>
            <p:cNvSpPr/>
            <p:nvPr/>
          </p:nvSpPr>
          <p:spPr>
            <a:xfrm>
              <a:off x="0" y="958405"/>
              <a:ext cx="15531078" cy="1769364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535232" y="1356512"/>
              <a:ext cx="973150" cy="97315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2043615" y="958405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8"/>
            <p:cNvSpPr txBox="1"/>
            <p:nvPr/>
          </p:nvSpPr>
          <p:spPr>
            <a:xfrm>
              <a:off x="2043615" y="958405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7250" lIns="187250" spcFirstLastPara="1" rIns="187250" wrap="square" tIns="187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¿Qué hace?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0" y="3170110"/>
              <a:ext cx="15531078" cy="1769364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535232" y="3568217"/>
              <a:ext cx="973150" cy="9731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2043615" y="3170110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8"/>
            <p:cNvSpPr txBox="1"/>
            <p:nvPr/>
          </p:nvSpPr>
          <p:spPr>
            <a:xfrm>
              <a:off x="2043615" y="3170110"/>
              <a:ext cx="13487462" cy="1769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7250" lIns="187250" spcFirstLastPara="1" rIns="187250" wrap="square" tIns="187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Agrupa automáticamente los datos en clusters o grupos sin etiquetar.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9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Ejemplos:</a:t>
            </a:r>
            <a:endParaRPr/>
          </a:p>
        </p:txBody>
      </p:sp>
      <p:grpSp>
        <p:nvGrpSpPr>
          <p:cNvPr id="537" name="Google Shape;537;p39"/>
          <p:cNvGrpSpPr/>
          <p:nvPr/>
        </p:nvGrpSpPr>
        <p:grpSpPr>
          <a:xfrm>
            <a:off x="1387213" y="3499570"/>
            <a:ext cx="15527286" cy="4928065"/>
            <a:chOff x="1895" y="484907"/>
            <a:chExt cx="15527286" cy="4928065"/>
          </a:xfrm>
        </p:grpSpPr>
        <p:sp>
          <p:nvSpPr>
            <p:cNvPr id="538" name="Google Shape;538;p39"/>
            <p:cNvSpPr/>
            <p:nvPr/>
          </p:nvSpPr>
          <p:spPr>
            <a:xfrm>
              <a:off x="1895" y="484907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741290" y="1187332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9"/>
            <p:cNvSpPr txBox="1"/>
            <p:nvPr/>
          </p:nvSpPr>
          <p:spPr>
            <a:xfrm>
              <a:off x="865055" y="1311097"/>
              <a:ext cx="6407021" cy="3978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6200" lIns="236200" spcFirstLastPara="1" rIns="236200" wrap="square" tIns="23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00"/>
                <a:buFont typeface="Corbel"/>
                <a:buNone/>
              </a:pPr>
              <a:r>
                <a:rPr lang="en-US" sz="62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Segmentar clientes en grupos según comportamiento.</a:t>
              </a:r>
              <a:endParaRPr sz="6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8135236" y="484907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8874630" y="1187332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9"/>
            <p:cNvSpPr txBox="1"/>
            <p:nvPr/>
          </p:nvSpPr>
          <p:spPr>
            <a:xfrm>
              <a:off x="8998395" y="1311097"/>
              <a:ext cx="6407021" cy="3978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6200" lIns="236200" spcFirstLastPara="1" rIns="236200" wrap="square" tIns="23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00"/>
                <a:buFont typeface="Corbel"/>
                <a:buNone/>
              </a:pPr>
              <a:r>
                <a:rPr lang="en-US" sz="62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Agrupar productos similares.</a:t>
              </a:r>
              <a:endParaRPr sz="6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0"/>
          <p:cNvSpPr txBox="1"/>
          <p:nvPr>
            <p:ph type="title"/>
          </p:nvPr>
        </p:nvSpPr>
        <p:spPr>
          <a:xfrm>
            <a:off x="1371599" y="547688"/>
            <a:ext cx="10910456" cy="246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Conceptos básicos:</a:t>
            </a:r>
            <a:endParaRPr/>
          </a:p>
        </p:txBody>
      </p:sp>
      <p:grpSp>
        <p:nvGrpSpPr>
          <p:cNvPr id="549" name="Google Shape;549;p40"/>
          <p:cNvGrpSpPr/>
          <p:nvPr/>
        </p:nvGrpSpPr>
        <p:grpSpPr>
          <a:xfrm>
            <a:off x="2153657" y="3018416"/>
            <a:ext cx="9346340" cy="6230893"/>
            <a:chOff x="782058" y="1371"/>
            <a:chExt cx="9346340" cy="6230893"/>
          </a:xfrm>
        </p:grpSpPr>
        <p:sp>
          <p:nvSpPr>
            <p:cNvPr id="550" name="Google Shape;550;p40"/>
            <p:cNvSpPr/>
            <p:nvPr/>
          </p:nvSpPr>
          <p:spPr>
            <a:xfrm>
              <a:off x="782058" y="1371"/>
              <a:ext cx="3894308" cy="2336585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BC763"/>
                </a:gs>
                <a:gs pos="100000">
                  <a:srgbClr val="70AC44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0"/>
            <p:cNvSpPr txBox="1"/>
            <p:nvPr/>
          </p:nvSpPr>
          <p:spPr>
            <a:xfrm>
              <a:off x="850494" y="69807"/>
              <a:ext cx="3757436" cy="2199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525" lIns="129525" spcFirstLastPara="1" rIns="129525" wrap="square" tIns="12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orbel"/>
                <a:buNone/>
              </a:pPr>
              <a:r>
                <a:rPr lang="en-US" sz="3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No supervisado: no necesita etiquetas.</a:t>
              </a:r>
              <a:endParaRPr sz="3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5019065" y="686769"/>
              <a:ext cx="825593" cy="965788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C6E0BA"/>
                </a:gs>
                <a:gs pos="100000">
                  <a:srgbClr val="A7C798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0"/>
            <p:cNvSpPr txBox="1"/>
            <p:nvPr/>
          </p:nvSpPr>
          <p:spPr>
            <a:xfrm>
              <a:off x="5019065" y="879927"/>
              <a:ext cx="577915" cy="579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orbel"/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4" name="Google Shape;554;p40"/>
            <p:cNvSpPr/>
            <p:nvPr/>
          </p:nvSpPr>
          <p:spPr>
            <a:xfrm>
              <a:off x="6234090" y="1371"/>
              <a:ext cx="3894308" cy="2336585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BC763"/>
                </a:gs>
                <a:gs pos="100000">
                  <a:srgbClr val="70AC44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0"/>
            <p:cNvSpPr txBox="1"/>
            <p:nvPr/>
          </p:nvSpPr>
          <p:spPr>
            <a:xfrm>
              <a:off x="6302526" y="69807"/>
              <a:ext cx="3757436" cy="2199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525" lIns="129525" spcFirstLastPara="1" rIns="129525" wrap="square" tIns="12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orbel"/>
                <a:buNone/>
              </a:pPr>
              <a:r>
                <a:rPr lang="en-US" sz="3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Busca centroides y asigna puntos al centro más cercano.</a:t>
              </a:r>
              <a:endParaRPr sz="3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6" name="Google Shape;556;p40"/>
            <p:cNvSpPr/>
            <p:nvPr/>
          </p:nvSpPr>
          <p:spPr>
            <a:xfrm rot="5400000">
              <a:off x="7768447" y="2610557"/>
              <a:ext cx="825593" cy="965788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C6E0BA"/>
                </a:gs>
                <a:gs pos="100000">
                  <a:srgbClr val="A7C798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0"/>
            <p:cNvSpPr txBox="1"/>
            <p:nvPr/>
          </p:nvSpPr>
          <p:spPr>
            <a:xfrm>
              <a:off x="7891508" y="2680654"/>
              <a:ext cx="579472" cy="577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orbel"/>
                <a:buNone/>
              </a:pPr>
              <a:r>
                <a:t/>
              </a:r>
              <a:endParaRPr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8" name="Google Shape;558;p40"/>
            <p:cNvSpPr/>
            <p:nvPr/>
          </p:nvSpPr>
          <p:spPr>
            <a:xfrm>
              <a:off x="6234090" y="3895679"/>
              <a:ext cx="3894308" cy="2336585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8BC763"/>
                </a:gs>
                <a:gs pos="100000">
                  <a:srgbClr val="70AC44"/>
                </a:gs>
              </a:gsLst>
              <a:path path="circle">
                <a:fillToRect b="0%" l="0%" r="100%" t="100%"/>
              </a:path>
              <a:tileRect b="-100%" l="-100%" r="0%" t="0%"/>
            </a:gra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0"/>
            <p:cNvSpPr txBox="1"/>
            <p:nvPr/>
          </p:nvSpPr>
          <p:spPr>
            <a:xfrm>
              <a:off x="6302526" y="3964115"/>
              <a:ext cx="3757436" cy="2199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525" lIns="129525" spcFirstLastPara="1" rIns="129525" wrap="square" tIns="12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orbel"/>
                <a:buNone/>
              </a:pPr>
              <a:r>
                <a:rPr lang="en-US" sz="3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Parámetro principal: k = número de clusters.</a:t>
              </a:r>
              <a:endParaRPr sz="3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1"/>
          <p:cNvSpPr txBox="1"/>
          <p:nvPr>
            <p:ph type="title"/>
          </p:nvPr>
        </p:nvSpPr>
        <p:spPr>
          <a:xfrm>
            <a:off x="1371599" y="547688"/>
            <a:ext cx="15544803" cy="240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Comando en BigQuery</a:t>
            </a:r>
            <a:endParaRPr/>
          </a:p>
        </p:txBody>
      </p:sp>
      <p:pic>
        <p:nvPicPr>
          <p:cNvPr descr="A computer screen with colorful text&#10;&#10;AI-generated content may be incorrect." id="565" name="Google Shape;565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1" y="4318117"/>
            <a:ext cx="4948238" cy="3303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6" name="Google Shape;566;p41"/>
          <p:cNvGrpSpPr/>
          <p:nvPr/>
        </p:nvGrpSpPr>
        <p:grpSpPr>
          <a:xfrm>
            <a:off x="6903245" y="3028490"/>
            <a:ext cx="6675437" cy="3928396"/>
            <a:chOff x="0" y="1920"/>
            <a:chExt cx="6675437" cy="3928396"/>
          </a:xfrm>
        </p:grpSpPr>
        <p:cxnSp>
          <p:nvCxnSpPr>
            <p:cNvPr id="567" name="Google Shape;567;p41"/>
            <p:cNvCxnSpPr/>
            <p:nvPr/>
          </p:nvCxnSpPr>
          <p:spPr>
            <a:xfrm>
              <a:off x="0" y="1920"/>
              <a:ext cx="6675437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8" name="Google Shape;568;p41"/>
            <p:cNvSpPr/>
            <p:nvPr/>
          </p:nvSpPr>
          <p:spPr>
            <a:xfrm>
              <a:off x="0" y="1920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1"/>
            <p:cNvSpPr txBox="1"/>
            <p:nvPr/>
          </p:nvSpPr>
          <p:spPr>
            <a:xfrm>
              <a:off x="0" y="1920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orbel"/>
                <a:buNone/>
              </a:pPr>
              <a:r>
                <a:rPr lang="en-US" sz="36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CREATE MODEL my_model</a:t>
              </a:r>
              <a:endParaRPr/>
            </a:p>
          </p:txBody>
        </p:sp>
        <p:cxnSp>
          <p:nvCxnSpPr>
            <p:cNvPr id="570" name="Google Shape;570;p41"/>
            <p:cNvCxnSpPr/>
            <p:nvPr/>
          </p:nvCxnSpPr>
          <p:spPr>
            <a:xfrm>
              <a:off x="0" y="1311385"/>
              <a:ext cx="6675437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1" name="Google Shape;571;p41"/>
            <p:cNvSpPr/>
            <p:nvPr/>
          </p:nvSpPr>
          <p:spPr>
            <a:xfrm>
              <a:off x="0" y="1311385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1"/>
            <p:cNvSpPr txBox="1"/>
            <p:nvPr/>
          </p:nvSpPr>
          <p:spPr>
            <a:xfrm>
              <a:off x="0" y="1311385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orbel"/>
                <a:buNone/>
              </a:pPr>
              <a:r>
                <a:rPr lang="en-US" sz="36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OPTIONS(model_type='kmeans', num_clusters=3) AS</a:t>
              </a:r>
              <a:endParaRPr/>
            </a:p>
          </p:txBody>
        </p:sp>
        <p:cxnSp>
          <p:nvCxnSpPr>
            <p:cNvPr id="573" name="Google Shape;573;p41"/>
            <p:cNvCxnSpPr/>
            <p:nvPr/>
          </p:nvCxnSpPr>
          <p:spPr>
            <a:xfrm>
              <a:off x="0" y="2620851"/>
              <a:ext cx="6675437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4" name="Google Shape;574;p41"/>
            <p:cNvSpPr/>
            <p:nvPr/>
          </p:nvSpPr>
          <p:spPr>
            <a:xfrm>
              <a:off x="0" y="2620851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1"/>
            <p:cNvSpPr txBox="1"/>
            <p:nvPr/>
          </p:nvSpPr>
          <p:spPr>
            <a:xfrm>
              <a:off x="0" y="2620851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orbel"/>
                <a:buNone/>
              </a:pPr>
              <a:r>
                <a:rPr lang="en-US" sz="36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SELECT * FROM my_data;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2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Modelos de Series de Tiempo (ARIMA_PLUS, AUTO_ARIMA)</a:t>
            </a:r>
            <a:endParaRPr/>
          </a:p>
        </p:txBody>
      </p:sp>
      <p:grpSp>
        <p:nvGrpSpPr>
          <p:cNvPr id="581" name="Google Shape;581;p42"/>
          <p:cNvGrpSpPr/>
          <p:nvPr/>
        </p:nvGrpSpPr>
        <p:grpSpPr>
          <a:xfrm>
            <a:off x="1386581" y="3337934"/>
            <a:ext cx="10351524" cy="3285376"/>
            <a:chOff x="1263" y="323271"/>
            <a:chExt cx="10351524" cy="3285376"/>
          </a:xfrm>
        </p:grpSpPr>
        <p:sp>
          <p:nvSpPr>
            <p:cNvPr id="582" name="Google Shape;582;p42"/>
            <p:cNvSpPr/>
            <p:nvPr/>
          </p:nvSpPr>
          <p:spPr>
            <a:xfrm>
              <a:off x="1263" y="323271"/>
              <a:ext cx="4436367" cy="2817093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2"/>
            <p:cNvSpPr/>
            <p:nvPr/>
          </p:nvSpPr>
          <p:spPr>
            <a:xfrm>
              <a:off x="494193" y="791554"/>
              <a:ext cx="4436367" cy="281709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2"/>
            <p:cNvSpPr txBox="1"/>
            <p:nvPr/>
          </p:nvSpPr>
          <p:spPr>
            <a:xfrm>
              <a:off x="576703" y="874064"/>
              <a:ext cx="4271347" cy="26520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0000" lIns="160000" spcFirstLastPara="1" rIns="160000" wrap="square" tIns="16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Corbel"/>
                <a:buNone/>
              </a:pPr>
              <a:r>
                <a:rPr lang="en-US" sz="42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¿Qué hace?</a:t>
              </a:r>
              <a:endParaRPr sz="4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5" name="Google Shape;585;p42"/>
            <p:cNvSpPr/>
            <p:nvPr/>
          </p:nvSpPr>
          <p:spPr>
            <a:xfrm>
              <a:off x="5423490" y="323271"/>
              <a:ext cx="4436367" cy="2817093"/>
            </a:xfrm>
            <a:prstGeom prst="roundRect">
              <a:avLst>
                <a:gd fmla="val 10000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2"/>
            <p:cNvSpPr/>
            <p:nvPr/>
          </p:nvSpPr>
          <p:spPr>
            <a:xfrm>
              <a:off x="5916420" y="791554"/>
              <a:ext cx="4436367" cy="281709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2"/>
            <p:cNvSpPr txBox="1"/>
            <p:nvPr/>
          </p:nvSpPr>
          <p:spPr>
            <a:xfrm>
              <a:off x="5998930" y="874064"/>
              <a:ext cx="4271347" cy="26520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0000" lIns="160000" spcFirstLastPara="1" rIns="160000" wrap="square" tIns="16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200"/>
                <a:buFont typeface="Corbel"/>
                <a:buNone/>
              </a:pPr>
              <a:r>
                <a:rPr lang="en-US" sz="42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Predice valores futuros basados en series de tiempo pasadas.</a:t>
              </a:r>
              <a:endParaRPr sz="4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3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Ejemplos:</a:t>
            </a:r>
            <a:endParaRPr/>
          </a:p>
        </p:txBody>
      </p:sp>
      <p:grpSp>
        <p:nvGrpSpPr>
          <p:cNvPr id="593" name="Google Shape;593;p43"/>
          <p:cNvGrpSpPr/>
          <p:nvPr/>
        </p:nvGrpSpPr>
        <p:grpSpPr>
          <a:xfrm>
            <a:off x="1387213" y="3499570"/>
            <a:ext cx="15527286" cy="4928065"/>
            <a:chOff x="1895" y="484907"/>
            <a:chExt cx="15527286" cy="4928065"/>
          </a:xfrm>
        </p:grpSpPr>
        <p:sp>
          <p:nvSpPr>
            <p:cNvPr id="594" name="Google Shape;594;p43"/>
            <p:cNvSpPr/>
            <p:nvPr/>
          </p:nvSpPr>
          <p:spPr>
            <a:xfrm>
              <a:off x="1895" y="484907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3"/>
            <p:cNvSpPr/>
            <p:nvPr/>
          </p:nvSpPr>
          <p:spPr>
            <a:xfrm>
              <a:off x="741290" y="1187332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3"/>
            <p:cNvSpPr txBox="1"/>
            <p:nvPr/>
          </p:nvSpPr>
          <p:spPr>
            <a:xfrm>
              <a:off x="865055" y="1311097"/>
              <a:ext cx="6407021" cy="3978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7650" lIns="247650" spcFirstLastPara="1" rIns="247650" wrap="square" tIns="247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500"/>
                <a:buFont typeface="Corbel"/>
                <a:buNone/>
              </a:pPr>
              <a:r>
                <a:rPr lang="en-US" sz="6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Predicción de ventas por mes.</a:t>
              </a:r>
              <a:endParaRPr sz="6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7" name="Google Shape;597;p43"/>
            <p:cNvSpPr/>
            <p:nvPr/>
          </p:nvSpPr>
          <p:spPr>
            <a:xfrm>
              <a:off x="8135236" y="484907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3"/>
            <p:cNvSpPr/>
            <p:nvPr/>
          </p:nvSpPr>
          <p:spPr>
            <a:xfrm>
              <a:off x="8874630" y="1187332"/>
              <a:ext cx="6654551" cy="422564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3"/>
            <p:cNvSpPr txBox="1"/>
            <p:nvPr/>
          </p:nvSpPr>
          <p:spPr>
            <a:xfrm>
              <a:off x="8998395" y="1311097"/>
              <a:ext cx="6407021" cy="3978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7650" lIns="247650" spcFirstLastPara="1" rIns="247650" wrap="square" tIns="247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500"/>
                <a:buFont typeface="Corbel"/>
                <a:buNone/>
              </a:pPr>
              <a:r>
                <a:rPr lang="en-US" sz="6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Forecast de tráfico en un sitio web.</a:t>
              </a:r>
              <a:endParaRPr sz="6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4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Conceptos básicos:</a:t>
            </a:r>
            <a:endParaRPr/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5318" y="3437955"/>
            <a:ext cx="10354052" cy="3085335"/>
            <a:chOff x="0" y="423292"/>
            <a:chExt cx="10354052" cy="3085335"/>
          </a:xfrm>
        </p:grpSpPr>
        <p:sp>
          <p:nvSpPr>
            <p:cNvPr id="606" name="Google Shape;606;p44"/>
            <p:cNvSpPr/>
            <p:nvPr/>
          </p:nvSpPr>
          <p:spPr>
            <a:xfrm>
              <a:off x="0" y="762772"/>
              <a:ext cx="10354052" cy="579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4"/>
            <p:cNvSpPr/>
            <p:nvPr/>
          </p:nvSpPr>
          <p:spPr>
            <a:xfrm>
              <a:off x="517702" y="423292"/>
              <a:ext cx="7247836" cy="67896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4"/>
            <p:cNvSpPr txBox="1"/>
            <p:nvPr/>
          </p:nvSpPr>
          <p:spPr>
            <a:xfrm>
              <a:off x="550846" y="456436"/>
              <a:ext cx="7181548" cy="612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3950" spcFirstLastPara="1" rIns="273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None/>
              </a:pPr>
              <a:r>
                <a:rPr b="1" i="0" lang="en-US" sz="23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ARIMA</a:t>
              </a:r>
              <a:r>
                <a:rPr b="0" i="0" lang="en-US" sz="23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: AutoRegressive Integrated Moving Average.</a:t>
              </a:r>
              <a:endParaRPr sz="23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09" name="Google Shape;609;p44"/>
            <p:cNvSpPr/>
            <p:nvPr/>
          </p:nvSpPr>
          <p:spPr>
            <a:xfrm>
              <a:off x="0" y="1806052"/>
              <a:ext cx="10354052" cy="170257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4"/>
            <p:cNvSpPr txBox="1"/>
            <p:nvPr/>
          </p:nvSpPr>
          <p:spPr>
            <a:xfrm>
              <a:off x="0" y="1806052"/>
              <a:ext cx="10354052" cy="1702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3575" lIns="803575" spcFirstLastPara="1" rIns="803575" wrap="square" tIns="4790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Char char="•"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Tendencia</a:t>
              </a:r>
              <a:endParaRPr b="0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Char char="•"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Estacionalidad</a:t>
              </a:r>
              <a:endParaRPr b="0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Char char="•"/>
              </a:pPr>
              <a:r>
                <a:rPr b="0" i="0" lang="en-US" sz="23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Ruido</a:t>
              </a:r>
              <a:endParaRPr b="0" i="0" sz="23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11" name="Google Shape;611;p44"/>
            <p:cNvSpPr/>
            <p:nvPr/>
          </p:nvSpPr>
          <p:spPr>
            <a:xfrm>
              <a:off x="517702" y="1466572"/>
              <a:ext cx="7247836" cy="67896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4"/>
            <p:cNvSpPr txBox="1"/>
            <p:nvPr/>
          </p:nvSpPr>
          <p:spPr>
            <a:xfrm>
              <a:off x="550846" y="1499716"/>
              <a:ext cx="7181548" cy="612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3950" spcFirstLastPara="1" rIns="273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orbel"/>
                <a:buNone/>
              </a:pPr>
              <a:r>
                <a:rPr b="0" i="0" lang="en-US" sz="23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Considera:</a:t>
              </a:r>
              <a:endParaRPr sz="23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5"/>
          <p:cNvSpPr txBox="1"/>
          <p:nvPr>
            <p:ph type="title"/>
          </p:nvPr>
        </p:nvSpPr>
        <p:spPr>
          <a:xfrm>
            <a:off x="1371599" y="547688"/>
            <a:ext cx="15544803" cy="240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Conceptos básicos:</a:t>
            </a:r>
            <a:endParaRPr/>
          </a:p>
        </p:txBody>
      </p:sp>
      <p:grpSp>
        <p:nvGrpSpPr>
          <p:cNvPr id="618" name="Google Shape;618;p45"/>
          <p:cNvGrpSpPr/>
          <p:nvPr/>
        </p:nvGrpSpPr>
        <p:grpSpPr>
          <a:xfrm>
            <a:off x="3558796" y="2952881"/>
            <a:ext cx="6675436" cy="3932236"/>
            <a:chOff x="0" y="0"/>
            <a:chExt cx="6675436" cy="3932236"/>
          </a:xfrm>
        </p:grpSpPr>
        <p:sp>
          <p:nvSpPr>
            <p:cNvPr id="619" name="Google Shape;619;p45"/>
            <p:cNvSpPr/>
            <p:nvPr/>
          </p:nvSpPr>
          <p:spPr>
            <a:xfrm>
              <a:off x="0" y="0"/>
              <a:ext cx="5674121" cy="1179671"/>
            </a:xfrm>
            <a:prstGeom prst="roundRect">
              <a:avLst>
                <a:gd fmla="val 10000" name="adj"/>
              </a:avLst>
            </a:prstGeom>
            <a:solidFill>
              <a:srgbClr val="E19D3C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5"/>
            <p:cNvSpPr txBox="1"/>
            <p:nvPr/>
          </p:nvSpPr>
          <p:spPr>
            <a:xfrm>
              <a:off x="34551" y="34551"/>
              <a:ext cx="4401165" cy="1110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orbel"/>
                <a:buNone/>
              </a:pPr>
              <a:r>
                <a:rPr b="0" i="0" lang="en-US" sz="2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En BigQuery ML:</a:t>
              </a:r>
              <a:endParaRPr sz="2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500657" y="1376282"/>
              <a:ext cx="5674121" cy="1179671"/>
            </a:xfrm>
            <a:prstGeom prst="roundRect">
              <a:avLst>
                <a:gd fmla="val 10000" name="adj"/>
              </a:avLst>
            </a:prstGeom>
            <a:solidFill>
              <a:srgbClr val="E19D3C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5"/>
            <p:cNvSpPr txBox="1"/>
            <p:nvPr/>
          </p:nvSpPr>
          <p:spPr>
            <a:xfrm>
              <a:off x="535208" y="1410833"/>
              <a:ext cx="4337575" cy="1110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orbel"/>
                <a:buNone/>
              </a:pPr>
              <a:r>
                <a:rPr b="0" i="0" lang="en-US" sz="2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ARIMA_PLUS: puedes configurar manualmente los parámetros.</a:t>
              </a:r>
              <a:endParaRPr sz="2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23" name="Google Shape;623;p45"/>
            <p:cNvSpPr/>
            <p:nvPr/>
          </p:nvSpPr>
          <p:spPr>
            <a:xfrm>
              <a:off x="1001315" y="2752565"/>
              <a:ext cx="5674121" cy="1179671"/>
            </a:xfrm>
            <a:prstGeom prst="roundRect">
              <a:avLst>
                <a:gd fmla="val 10000" name="adj"/>
              </a:avLst>
            </a:prstGeom>
            <a:solidFill>
              <a:srgbClr val="E19D3C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5"/>
            <p:cNvSpPr txBox="1"/>
            <p:nvPr/>
          </p:nvSpPr>
          <p:spPr>
            <a:xfrm>
              <a:off x="1035866" y="2787116"/>
              <a:ext cx="4337575" cy="1110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orbel"/>
                <a:buNone/>
              </a:pPr>
              <a:r>
                <a:rPr b="0" i="0" lang="en-US" sz="22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AUTO_ARIMA: BigQuery selecciona automáticamente el mejor modelo.</a:t>
              </a:r>
              <a:endParaRPr sz="2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25" name="Google Shape;625;p45"/>
            <p:cNvSpPr/>
            <p:nvPr/>
          </p:nvSpPr>
          <p:spPr>
            <a:xfrm>
              <a:off x="4907335" y="894583"/>
              <a:ext cx="766786" cy="76678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4DECD">
                <a:alpha val="89803"/>
              </a:srgbClr>
            </a:solidFill>
            <a:ln cap="rnd" cmpd="sng" w="15875">
              <a:solidFill>
                <a:srgbClr val="F4DE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5"/>
            <p:cNvSpPr txBox="1"/>
            <p:nvPr/>
          </p:nvSpPr>
          <p:spPr>
            <a:xfrm>
              <a:off x="5079862" y="894583"/>
              <a:ext cx="421732" cy="577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orbel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27" name="Google Shape;627;p45"/>
            <p:cNvSpPr/>
            <p:nvPr/>
          </p:nvSpPr>
          <p:spPr>
            <a:xfrm>
              <a:off x="5407993" y="2263002"/>
              <a:ext cx="766786" cy="76678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4DECD">
                <a:alpha val="89803"/>
              </a:srgbClr>
            </a:solidFill>
            <a:ln cap="rnd" cmpd="sng" w="15875">
              <a:solidFill>
                <a:srgbClr val="F4DE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5"/>
            <p:cNvSpPr txBox="1"/>
            <p:nvPr/>
          </p:nvSpPr>
          <p:spPr>
            <a:xfrm>
              <a:off x="5580520" y="2263002"/>
              <a:ext cx="421732" cy="577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Corbel"/>
                <a:buNone/>
              </a:pPr>
              <a:r>
                <a:t/>
              </a:r>
              <a:endParaRPr sz="3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6"/>
          <p:cNvSpPr txBox="1"/>
          <p:nvPr>
            <p:ph type="title"/>
          </p:nvPr>
        </p:nvSpPr>
        <p:spPr>
          <a:xfrm>
            <a:off x="1371599" y="547688"/>
            <a:ext cx="15544803" cy="240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Comando en BigQuery</a:t>
            </a:r>
            <a:endParaRPr/>
          </a:p>
        </p:txBody>
      </p:sp>
      <p:pic>
        <p:nvPicPr>
          <p:cNvPr descr="A computer screen with colorful text&#10;&#10;AI-generated content may be incorrect." id="634" name="Google Shape;634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1" y="4318117"/>
            <a:ext cx="4948238" cy="3303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5" name="Google Shape;635;p46"/>
          <p:cNvGrpSpPr/>
          <p:nvPr/>
        </p:nvGrpSpPr>
        <p:grpSpPr>
          <a:xfrm>
            <a:off x="6903245" y="3028490"/>
            <a:ext cx="6675437" cy="3928396"/>
            <a:chOff x="0" y="1920"/>
            <a:chExt cx="6675437" cy="3928396"/>
          </a:xfrm>
        </p:grpSpPr>
        <p:cxnSp>
          <p:nvCxnSpPr>
            <p:cNvPr id="636" name="Google Shape;636;p46"/>
            <p:cNvCxnSpPr/>
            <p:nvPr/>
          </p:nvCxnSpPr>
          <p:spPr>
            <a:xfrm>
              <a:off x="0" y="1920"/>
              <a:ext cx="6675437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7" name="Google Shape;637;p46"/>
            <p:cNvSpPr/>
            <p:nvPr/>
          </p:nvSpPr>
          <p:spPr>
            <a:xfrm>
              <a:off x="0" y="1920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6"/>
            <p:cNvSpPr txBox="1"/>
            <p:nvPr/>
          </p:nvSpPr>
          <p:spPr>
            <a:xfrm>
              <a:off x="0" y="1920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orbel"/>
                <a:buNone/>
              </a:pPr>
              <a:r>
                <a:rPr lang="en-US" sz="3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CREATE MODEL my_model</a:t>
              </a:r>
              <a:endParaRPr/>
            </a:p>
          </p:txBody>
        </p:sp>
        <p:cxnSp>
          <p:nvCxnSpPr>
            <p:cNvPr id="639" name="Google Shape;639;p46"/>
            <p:cNvCxnSpPr/>
            <p:nvPr/>
          </p:nvCxnSpPr>
          <p:spPr>
            <a:xfrm>
              <a:off x="0" y="1311385"/>
              <a:ext cx="6675437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0" name="Google Shape;640;p46"/>
            <p:cNvSpPr/>
            <p:nvPr/>
          </p:nvSpPr>
          <p:spPr>
            <a:xfrm>
              <a:off x="0" y="1311385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6"/>
            <p:cNvSpPr txBox="1"/>
            <p:nvPr/>
          </p:nvSpPr>
          <p:spPr>
            <a:xfrm>
              <a:off x="0" y="1311385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orbel"/>
                <a:buNone/>
              </a:pPr>
              <a:r>
                <a:rPr lang="en-US" sz="3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OPTIONS(model_type='ARIMA_PLUS') AS</a:t>
              </a:r>
              <a:endParaRPr sz="3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642" name="Google Shape;642;p46"/>
            <p:cNvCxnSpPr/>
            <p:nvPr/>
          </p:nvCxnSpPr>
          <p:spPr>
            <a:xfrm>
              <a:off x="0" y="2620851"/>
              <a:ext cx="6675437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3" name="Google Shape;643;p46"/>
            <p:cNvSpPr/>
            <p:nvPr/>
          </p:nvSpPr>
          <p:spPr>
            <a:xfrm>
              <a:off x="0" y="2620851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6"/>
            <p:cNvSpPr txBox="1"/>
            <p:nvPr/>
          </p:nvSpPr>
          <p:spPr>
            <a:xfrm>
              <a:off x="0" y="2620851"/>
              <a:ext cx="6675437" cy="1309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Corbel"/>
                <a:buNone/>
              </a:pPr>
              <a:r>
                <a:rPr lang="en-US" sz="31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SELECT * FROM my_data;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Redes Neuronales Profundas (DNN — Deep Neural Networks)</a:t>
            </a:r>
            <a:endParaRPr/>
          </a:p>
        </p:txBody>
      </p:sp>
      <p:grpSp>
        <p:nvGrpSpPr>
          <p:cNvPr id="650" name="Google Shape;650;p47"/>
          <p:cNvGrpSpPr/>
          <p:nvPr/>
        </p:nvGrpSpPr>
        <p:grpSpPr>
          <a:xfrm>
            <a:off x="1385318" y="3653599"/>
            <a:ext cx="10354052" cy="2654047"/>
            <a:chOff x="0" y="638936"/>
            <a:chExt cx="10354052" cy="2654047"/>
          </a:xfrm>
        </p:grpSpPr>
        <p:sp>
          <p:nvSpPr>
            <p:cNvPr id="651" name="Google Shape;651;p47"/>
            <p:cNvSpPr/>
            <p:nvPr/>
          </p:nvSpPr>
          <p:spPr>
            <a:xfrm>
              <a:off x="0" y="638936"/>
              <a:ext cx="10354052" cy="1179576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7"/>
            <p:cNvSpPr/>
            <p:nvPr/>
          </p:nvSpPr>
          <p:spPr>
            <a:xfrm>
              <a:off x="356821" y="904341"/>
              <a:ext cx="648766" cy="64876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7"/>
            <p:cNvSpPr/>
            <p:nvPr/>
          </p:nvSpPr>
          <p:spPr>
            <a:xfrm>
              <a:off x="1362410" y="638936"/>
              <a:ext cx="8991641" cy="1179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7"/>
            <p:cNvSpPr txBox="1"/>
            <p:nvPr/>
          </p:nvSpPr>
          <p:spPr>
            <a:xfrm>
              <a:off x="1362410" y="638936"/>
              <a:ext cx="8991641" cy="1179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b="1"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¿Qué hace?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5" name="Google Shape;655;p47"/>
            <p:cNvSpPr/>
            <p:nvPr/>
          </p:nvSpPr>
          <p:spPr>
            <a:xfrm>
              <a:off x="0" y="2113407"/>
              <a:ext cx="10354052" cy="1179576"/>
            </a:xfrm>
            <a:prstGeom prst="roundRect">
              <a:avLst>
                <a:gd fmla="val 10000" name="adj"/>
              </a:avLst>
            </a:prstGeom>
            <a:solidFill>
              <a:srgbClr val="D7E9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7"/>
            <p:cNvSpPr/>
            <p:nvPr/>
          </p:nvSpPr>
          <p:spPr>
            <a:xfrm>
              <a:off x="356821" y="2378811"/>
              <a:ext cx="648766" cy="64876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7"/>
            <p:cNvSpPr/>
            <p:nvPr/>
          </p:nvSpPr>
          <p:spPr>
            <a:xfrm>
              <a:off x="1362410" y="2113407"/>
              <a:ext cx="8991641" cy="1179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7"/>
            <p:cNvSpPr txBox="1"/>
            <p:nvPr/>
          </p:nvSpPr>
          <p:spPr>
            <a:xfrm>
              <a:off x="1362410" y="2113407"/>
              <a:ext cx="8991641" cy="1179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Modela relaciones </a:t>
              </a:r>
              <a:r>
                <a:rPr b="1"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más complejas</a:t>
              </a: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 usando capas de nodos (neuronas artificiales).</a:t>
              </a:r>
              <a:endParaRPr sz="2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8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Ejemplos:</a:t>
            </a:r>
            <a:endParaRPr/>
          </a:p>
        </p:txBody>
      </p:sp>
      <p:grpSp>
        <p:nvGrpSpPr>
          <p:cNvPr id="664" name="Google Shape;664;p48"/>
          <p:cNvGrpSpPr/>
          <p:nvPr/>
        </p:nvGrpSpPr>
        <p:grpSpPr>
          <a:xfrm>
            <a:off x="1386581" y="3337934"/>
            <a:ext cx="10351524" cy="3285376"/>
            <a:chOff x="1263" y="323271"/>
            <a:chExt cx="10351524" cy="3285376"/>
          </a:xfrm>
        </p:grpSpPr>
        <p:sp>
          <p:nvSpPr>
            <p:cNvPr id="665" name="Google Shape;665;p48"/>
            <p:cNvSpPr/>
            <p:nvPr/>
          </p:nvSpPr>
          <p:spPr>
            <a:xfrm>
              <a:off x="1263" y="323271"/>
              <a:ext cx="4436367" cy="2817093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494193" y="791554"/>
              <a:ext cx="4436367" cy="281709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8"/>
            <p:cNvSpPr txBox="1"/>
            <p:nvPr/>
          </p:nvSpPr>
          <p:spPr>
            <a:xfrm>
              <a:off x="576703" y="874064"/>
              <a:ext cx="4271347" cy="26520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525" lIns="129525" spcFirstLastPara="1" rIns="129525" wrap="square" tIns="12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Corbel"/>
                <a:buNone/>
              </a:pPr>
              <a:r>
                <a:rPr lang="en-US" sz="34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Reconocer patrones de compra complejos.</a:t>
              </a:r>
              <a:endParaRPr sz="3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5423490" y="323271"/>
              <a:ext cx="4436367" cy="2817093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8"/>
            <p:cNvSpPr/>
            <p:nvPr/>
          </p:nvSpPr>
          <p:spPr>
            <a:xfrm>
              <a:off x="5916420" y="791554"/>
              <a:ext cx="4436367" cy="281709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8"/>
            <p:cNvSpPr txBox="1"/>
            <p:nvPr/>
          </p:nvSpPr>
          <p:spPr>
            <a:xfrm>
              <a:off x="5998930" y="874064"/>
              <a:ext cx="4271347" cy="26520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525" lIns="129525" spcFirstLastPara="1" rIns="129525" wrap="square" tIns="12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Corbel"/>
                <a:buNone/>
              </a:pPr>
              <a:r>
                <a:rPr lang="en-US" sz="34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Predecir puntuaciones basadas en múltiples interacciones.</a:t>
              </a:r>
              <a:endParaRPr sz="3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9"/>
          <p:cNvSpPr txBox="1"/>
          <p:nvPr>
            <p:ph type="title"/>
          </p:nvPr>
        </p:nvSpPr>
        <p:spPr>
          <a:xfrm>
            <a:off x="1385318" y="876716"/>
            <a:ext cx="15531078" cy="1814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Conceptos básicos:</a:t>
            </a:r>
            <a:endParaRPr/>
          </a:p>
        </p:txBody>
      </p:sp>
      <p:grpSp>
        <p:nvGrpSpPr>
          <p:cNvPr id="676" name="Google Shape;676;p49"/>
          <p:cNvGrpSpPr/>
          <p:nvPr/>
        </p:nvGrpSpPr>
        <p:grpSpPr>
          <a:xfrm>
            <a:off x="1385318" y="3424950"/>
            <a:ext cx="10354052" cy="3111345"/>
            <a:chOff x="0" y="410287"/>
            <a:chExt cx="10354052" cy="3111345"/>
          </a:xfrm>
        </p:grpSpPr>
        <p:sp>
          <p:nvSpPr>
            <p:cNvPr id="677" name="Google Shape;677;p49"/>
            <p:cNvSpPr/>
            <p:nvPr/>
          </p:nvSpPr>
          <p:spPr>
            <a:xfrm>
              <a:off x="0" y="690727"/>
              <a:ext cx="10354052" cy="478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517702" y="410287"/>
              <a:ext cx="7247836" cy="56088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9"/>
            <p:cNvSpPr txBox="1"/>
            <p:nvPr/>
          </p:nvSpPr>
          <p:spPr>
            <a:xfrm>
              <a:off x="545082" y="437667"/>
              <a:ext cx="7193076" cy="506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3950" spcFirstLastPara="1" rIns="273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None/>
              </a:pPr>
              <a:r>
                <a:rPr lang="en-US" sz="19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Capas ocultas de neuronas conectadas.</a:t>
              </a:r>
              <a:endParaRPr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0" name="Google Shape;680;p49"/>
            <p:cNvSpPr/>
            <p:nvPr/>
          </p:nvSpPr>
          <p:spPr>
            <a:xfrm>
              <a:off x="0" y="1552567"/>
              <a:ext cx="10354052" cy="478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9"/>
            <p:cNvSpPr/>
            <p:nvPr/>
          </p:nvSpPr>
          <p:spPr>
            <a:xfrm>
              <a:off x="517702" y="1272127"/>
              <a:ext cx="7247836" cy="56088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9"/>
            <p:cNvSpPr txBox="1"/>
            <p:nvPr/>
          </p:nvSpPr>
          <p:spPr>
            <a:xfrm>
              <a:off x="545082" y="1299507"/>
              <a:ext cx="7193076" cy="506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3950" spcFirstLastPara="1" rIns="273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None/>
              </a:pPr>
              <a:r>
                <a:rPr lang="en-US" sz="19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Necesita mucha más información y ajuste (hiperparámetros).</a:t>
              </a:r>
              <a:endParaRPr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3" name="Google Shape;683;p49"/>
            <p:cNvSpPr/>
            <p:nvPr/>
          </p:nvSpPr>
          <p:spPr>
            <a:xfrm>
              <a:off x="0" y="2414407"/>
              <a:ext cx="10354052" cy="110722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2FAC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9"/>
            <p:cNvSpPr txBox="1"/>
            <p:nvPr/>
          </p:nvSpPr>
          <p:spPr>
            <a:xfrm>
              <a:off x="0" y="2414407"/>
              <a:ext cx="10354052" cy="1107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5125" lIns="803575" spcFirstLastPara="1" rIns="803575" wrap="square" tIns="3957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Problemas de regresión</a:t>
              </a:r>
              <a:endPara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Char char="•"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Problemas de clasificación</a:t>
              </a:r>
              <a:endPara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5" name="Google Shape;685;p49"/>
            <p:cNvSpPr/>
            <p:nvPr/>
          </p:nvSpPr>
          <p:spPr>
            <a:xfrm>
              <a:off x="517702" y="2133967"/>
              <a:ext cx="7247836" cy="560880"/>
            </a:xfrm>
            <a:prstGeom prst="roundRect">
              <a:avLst>
                <a:gd fmla="val 16667" name="adj"/>
              </a:avLst>
            </a:prstGeom>
            <a:solidFill>
              <a:srgbClr val="2FACEA"/>
            </a:solidFill>
            <a:ln cap="rnd" cmpd="sng" w="222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9"/>
            <p:cNvSpPr txBox="1"/>
            <p:nvPr/>
          </p:nvSpPr>
          <p:spPr>
            <a:xfrm>
              <a:off x="545082" y="2161347"/>
              <a:ext cx="7193076" cy="506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3950" spcFirstLastPara="1" rIns="273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rbel"/>
                <a:buNone/>
              </a:pPr>
              <a:r>
                <a:rPr lang="en-US" sz="19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Puede resolver tanto:</a:t>
              </a:r>
              <a:endParaRPr sz="19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0"/>
          <p:cNvSpPr txBox="1"/>
          <p:nvPr>
            <p:ph type="title"/>
          </p:nvPr>
        </p:nvSpPr>
        <p:spPr>
          <a:xfrm>
            <a:off x="1371599" y="547688"/>
            <a:ext cx="15544803" cy="2405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Comando en BigQuery</a:t>
            </a:r>
            <a:endParaRPr/>
          </a:p>
        </p:txBody>
      </p:sp>
      <p:pic>
        <p:nvPicPr>
          <p:cNvPr descr="A computer screen with colorful text&#10;&#10;AI-generated content may be incorrect." id="692" name="Google Shape;692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1" y="4318117"/>
            <a:ext cx="4948238" cy="3303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3" name="Google Shape;693;p50"/>
          <p:cNvGrpSpPr/>
          <p:nvPr/>
        </p:nvGrpSpPr>
        <p:grpSpPr>
          <a:xfrm>
            <a:off x="6903245" y="3029450"/>
            <a:ext cx="10013156" cy="5892595"/>
            <a:chOff x="0" y="2880"/>
            <a:chExt cx="10013156" cy="5892595"/>
          </a:xfrm>
        </p:grpSpPr>
        <p:cxnSp>
          <p:nvCxnSpPr>
            <p:cNvPr id="694" name="Google Shape;694;p50"/>
            <p:cNvCxnSpPr/>
            <p:nvPr/>
          </p:nvCxnSpPr>
          <p:spPr>
            <a:xfrm>
              <a:off x="0" y="2880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5" name="Google Shape;695;p50"/>
            <p:cNvSpPr/>
            <p:nvPr/>
          </p:nvSpPr>
          <p:spPr>
            <a:xfrm>
              <a:off x="0" y="2880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50"/>
            <p:cNvSpPr txBox="1"/>
            <p:nvPr/>
          </p:nvSpPr>
          <p:spPr>
            <a:xfrm>
              <a:off x="0" y="2880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9050" lIns="179050" spcFirstLastPara="1" rIns="179050" wrap="square" tIns="17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700"/>
                <a:buFont typeface="Corbel"/>
                <a:buNone/>
              </a:pPr>
              <a:r>
                <a:rPr lang="en-US" sz="47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CREATE MODEL my_model</a:t>
              </a:r>
              <a:endParaRPr/>
            </a:p>
          </p:txBody>
        </p:sp>
        <p:cxnSp>
          <p:nvCxnSpPr>
            <p:cNvPr id="697" name="Google Shape;697;p50"/>
            <p:cNvCxnSpPr/>
            <p:nvPr/>
          </p:nvCxnSpPr>
          <p:spPr>
            <a:xfrm>
              <a:off x="0" y="1967078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8" name="Google Shape;698;p50"/>
            <p:cNvSpPr/>
            <p:nvPr/>
          </p:nvSpPr>
          <p:spPr>
            <a:xfrm>
              <a:off x="0" y="1967078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50"/>
            <p:cNvSpPr txBox="1"/>
            <p:nvPr/>
          </p:nvSpPr>
          <p:spPr>
            <a:xfrm>
              <a:off x="0" y="1967078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9050" lIns="179050" spcFirstLastPara="1" rIns="179050" wrap="square" tIns="17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700"/>
                <a:buFont typeface="Corbel"/>
                <a:buNone/>
              </a:pPr>
              <a:r>
                <a:rPr lang="en-US" sz="47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OPTIONS(model_type='dnn_classifier', hidden_units=[128,64,32]) AS</a:t>
              </a:r>
              <a:endParaRPr/>
            </a:p>
          </p:txBody>
        </p:sp>
        <p:cxnSp>
          <p:nvCxnSpPr>
            <p:cNvPr id="700" name="Google Shape;700;p50"/>
            <p:cNvCxnSpPr/>
            <p:nvPr/>
          </p:nvCxnSpPr>
          <p:spPr>
            <a:xfrm>
              <a:off x="0" y="3931277"/>
              <a:ext cx="10013156" cy="0"/>
            </a:xfrm>
            <a:prstGeom prst="straightConnector1">
              <a:avLst/>
            </a:prstGeom>
            <a:solidFill>
              <a:schemeClr val="accent2"/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1" name="Google Shape;701;p50"/>
            <p:cNvSpPr/>
            <p:nvPr/>
          </p:nvSpPr>
          <p:spPr>
            <a:xfrm>
              <a:off x="0" y="3931277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50"/>
            <p:cNvSpPr txBox="1"/>
            <p:nvPr/>
          </p:nvSpPr>
          <p:spPr>
            <a:xfrm>
              <a:off x="0" y="3931277"/>
              <a:ext cx="10013156" cy="1964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9050" lIns="179050" spcFirstLastPara="1" rIns="179050" wrap="square" tIns="17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700"/>
                <a:buFont typeface="Corbel"/>
                <a:buNone/>
              </a:pPr>
              <a:r>
                <a:rPr lang="en-US" sz="47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SELECT * FROM my_data;</a:t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1"/>
          <p:cNvSpPr txBox="1"/>
          <p:nvPr>
            <p:ph type="title"/>
          </p:nvPr>
        </p:nvSpPr>
        <p:spPr>
          <a:xfrm>
            <a:off x="1371599" y="547688"/>
            <a:ext cx="10910456" cy="246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</a:pPr>
            <a:r>
              <a:rPr lang="en-US"/>
              <a:t>Resumen</a:t>
            </a:r>
            <a:endParaRPr/>
          </a:p>
        </p:txBody>
      </p:sp>
      <p:graphicFrame>
        <p:nvGraphicFramePr>
          <p:cNvPr id="708" name="Google Shape;708;p51"/>
          <p:cNvGraphicFramePr/>
          <p:nvPr/>
        </p:nvGraphicFramePr>
        <p:xfrm>
          <a:off x="1734293" y="301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{BD37EC2D-552D-4AED-A61F-151307E2DBA6}</a:tableStyleId>
              </a:tblPr>
              <a:tblGrid>
                <a:gridCol w="3499250"/>
                <a:gridCol w="3704400"/>
                <a:gridCol w="2981425"/>
              </a:tblGrid>
              <a:tr h="103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Modelo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Uso Principal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Supervisado/No Supervisado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Regresión Lineal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Predicción de valores continuos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Supervisado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Clasificación Logística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Clasificación binaria/multiclase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Supervisado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Clustering (K-Means)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Agrupación automática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No Supervisado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ARIMA+ (Series de tiempo)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Predicción de valores futuros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Supervisado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Redes Neuronales (DNN)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Patrones complejos, predicción avanzada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/>
                        <a:t>Supervisado</a:t>
                      </a:r>
                      <a:endParaRPr/>
                    </a:p>
                  </a:txBody>
                  <a:tcPr marT="69275" marB="69275" marR="138525" marL="138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4" name="Google Shape;714;p52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5" name="Google Shape;715;p52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Impact"/>
              <a:buNone/>
            </a:pPr>
            <a:r>
              <a:rPr i="0" lang="en-US" sz="5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5600">
              <a:solidFill>
                <a:srgbClr val="FFFFFF"/>
              </a:solidFill>
            </a:endParaRPr>
          </a:p>
        </p:txBody>
      </p:sp>
      <p:grpSp>
        <p:nvGrpSpPr>
          <p:cNvPr id="716" name="Google Shape;716;p52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717" name="Google Shape;717;p52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8" name="Google Shape;718;p52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9" name="Google Shape;719;p52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0" name="Google Shape;720;p52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1" name="Google Shape;721;p52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2" name="Google Shape;722;p52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723" name="Google Shape;723;p52"/>
          <p:cNvGrpSpPr/>
          <p:nvPr/>
        </p:nvGrpSpPr>
        <p:grpSpPr>
          <a:xfrm>
            <a:off x="7515225" y="1110599"/>
            <a:ext cx="9739312" cy="9094500"/>
            <a:chOff x="0" y="81900"/>
            <a:chExt cx="9739312" cy="9094500"/>
          </a:xfrm>
        </p:grpSpPr>
        <p:sp>
          <p:nvSpPr>
            <p:cNvPr id="724" name="Google Shape;724;p52"/>
            <p:cNvSpPr/>
            <p:nvPr/>
          </p:nvSpPr>
          <p:spPr>
            <a:xfrm>
              <a:off x="0" y="81900"/>
              <a:ext cx="9739312" cy="29835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52"/>
            <p:cNvSpPr txBox="1"/>
            <p:nvPr/>
          </p:nvSpPr>
          <p:spPr>
            <a:xfrm>
              <a:off x="145642" y="227542"/>
              <a:ext cx="9448028" cy="2692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b="0" i="0"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Servicio de </a:t>
              </a:r>
              <a:r>
                <a:rPr b="1" i="0"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almacenamiento y análisis de datos en la nube</a:t>
              </a:r>
              <a:r>
                <a:rPr b="0" i="0"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provisto por Google Cloud.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6" name="Google Shape;726;p52"/>
            <p:cNvSpPr/>
            <p:nvPr/>
          </p:nvSpPr>
          <p:spPr>
            <a:xfrm>
              <a:off x="0" y="3137400"/>
              <a:ext cx="9739312" cy="2983500"/>
            </a:xfrm>
            <a:prstGeom prst="roundRect">
              <a:avLst>
                <a:gd fmla="val 16667" name="adj"/>
              </a:avLst>
            </a:prstGeom>
            <a:solidFill>
              <a:srgbClr val="C6D24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52"/>
            <p:cNvSpPr txBox="1"/>
            <p:nvPr/>
          </p:nvSpPr>
          <p:spPr>
            <a:xfrm>
              <a:off x="145642" y="3283042"/>
              <a:ext cx="9448028" cy="2692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Componentes clave: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b="1"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Frontend</a:t>
              </a:r>
              <a:r>
                <a:rPr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: donde se ejecutan las consultas (UI, CLI, API).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b="1"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Query Engine (Dremel)</a:t>
              </a:r>
              <a:r>
                <a:rPr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: motor distribuido que procesa consultas de forma paralela.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b="1"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Almacenamiento desacoplado</a:t>
              </a:r>
              <a:r>
                <a:rPr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: los datos se almacenan por separado del procesamiento.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8" name="Google Shape;728;p52"/>
            <p:cNvSpPr/>
            <p:nvPr/>
          </p:nvSpPr>
          <p:spPr>
            <a:xfrm>
              <a:off x="0" y="6192900"/>
              <a:ext cx="9739312" cy="298350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52"/>
            <p:cNvSpPr txBox="1"/>
            <p:nvPr/>
          </p:nvSpPr>
          <p:spPr>
            <a:xfrm>
              <a:off x="145642" y="6338542"/>
              <a:ext cx="9448028" cy="2692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Regresión lineal </a:t>
              </a:r>
              <a:b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Clasificación logística </a:t>
              </a:r>
              <a:b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Clustering (K-Means) </a:t>
              </a:r>
              <a:b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lang="en-US" sz="25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Series de tiempo (ARIMA+)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5" name="Google Shape;735;p53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6" name="Google Shape;736;p53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VALOR y ACTITUD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737" name="Google Shape;737;p53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738" name="Google Shape;738;p5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39" name="Google Shape;739;p5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0" name="Google Shape;740;p5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1" name="Google Shape;741;p5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2" name="Google Shape;742;p5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3" name="Google Shape;743;p5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744" name="Google Shape;744;p53"/>
          <p:cNvGrpSpPr/>
          <p:nvPr/>
        </p:nvGrpSpPr>
        <p:grpSpPr>
          <a:xfrm>
            <a:off x="7515225" y="1082249"/>
            <a:ext cx="9739312" cy="7551001"/>
            <a:chOff x="0" y="53549"/>
            <a:chExt cx="9739312" cy="7551001"/>
          </a:xfrm>
        </p:grpSpPr>
        <p:sp>
          <p:nvSpPr>
            <p:cNvPr id="745" name="Google Shape;745;p53"/>
            <p:cNvSpPr/>
            <p:nvPr/>
          </p:nvSpPr>
          <p:spPr>
            <a:xfrm>
              <a:off x="0" y="422549"/>
              <a:ext cx="9739312" cy="14175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53"/>
            <p:cNvSpPr txBox="1"/>
            <p:nvPr/>
          </p:nvSpPr>
          <p:spPr>
            <a:xfrm>
              <a:off x="0" y="422549"/>
              <a:ext cx="9739312" cy="14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800" lIns="755875" spcFirstLastPara="1" rIns="755875" wrap="square" tIns="5207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Char char="•"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trabaja al utilizar BigQuery ML para crear modelos predictivos directamente desde SQL en la nube.</a:t>
              </a:r>
              <a:endParaRPr b="0" i="0" sz="2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7" name="Google Shape;747;p53"/>
            <p:cNvSpPr/>
            <p:nvPr/>
          </p:nvSpPr>
          <p:spPr>
            <a:xfrm>
              <a:off x="486965" y="53549"/>
              <a:ext cx="6817518" cy="7380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53"/>
            <p:cNvSpPr txBox="1"/>
            <p:nvPr/>
          </p:nvSpPr>
          <p:spPr>
            <a:xfrm>
              <a:off x="522991" y="89575"/>
              <a:ext cx="6745466" cy="66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Innovación aplicada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9" name="Google Shape;749;p53"/>
            <p:cNvSpPr/>
            <p:nvPr/>
          </p:nvSpPr>
          <p:spPr>
            <a:xfrm>
              <a:off x="0" y="2344050"/>
              <a:ext cx="9739312" cy="14175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ABCD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53"/>
            <p:cNvSpPr txBox="1"/>
            <p:nvPr/>
          </p:nvSpPr>
          <p:spPr>
            <a:xfrm>
              <a:off x="0" y="2344050"/>
              <a:ext cx="9739312" cy="14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800" lIns="755875" spcFirstLastPara="1" rIns="755875" wrap="square" tIns="5207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Char char="•"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aplica al evaluar los resultados de los modelos y reflexionar sobre su aplicabilidad y limitaciones.</a:t>
              </a:r>
              <a:endParaRPr b="0" i="0" sz="2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1" name="Google Shape;751;p53"/>
            <p:cNvSpPr/>
            <p:nvPr/>
          </p:nvSpPr>
          <p:spPr>
            <a:xfrm>
              <a:off x="486965" y="1975050"/>
              <a:ext cx="6817518" cy="738000"/>
            </a:xfrm>
            <a:prstGeom prst="roundRect">
              <a:avLst>
                <a:gd fmla="val 16667" name="adj"/>
              </a:avLst>
            </a:prstGeom>
            <a:solidFill>
              <a:srgbClr val="ABCD48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53"/>
            <p:cNvSpPr txBox="1"/>
            <p:nvPr/>
          </p:nvSpPr>
          <p:spPr>
            <a:xfrm>
              <a:off x="522991" y="2011076"/>
              <a:ext cx="6745466" cy="66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Pensamiento crítico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3" name="Google Shape;753;p53"/>
            <p:cNvSpPr/>
            <p:nvPr/>
          </p:nvSpPr>
          <p:spPr>
            <a:xfrm>
              <a:off x="0" y="4265550"/>
              <a:ext cx="9739312" cy="14175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D7C9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53"/>
            <p:cNvSpPr txBox="1"/>
            <p:nvPr/>
          </p:nvSpPr>
          <p:spPr>
            <a:xfrm>
              <a:off x="0" y="4265550"/>
              <a:ext cx="9739312" cy="14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800" lIns="755875" spcFirstLastPara="1" rIns="755875" wrap="square" tIns="5207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Char char="•"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exige para optimizar consultas, crear vistas materializadas y configurar correctamente el pipeline de datos.</a:t>
              </a:r>
              <a:endParaRPr b="0" i="0" sz="2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5" name="Google Shape;755;p53"/>
            <p:cNvSpPr/>
            <p:nvPr/>
          </p:nvSpPr>
          <p:spPr>
            <a:xfrm>
              <a:off x="486965" y="3896550"/>
              <a:ext cx="6817518" cy="738000"/>
            </a:xfrm>
            <a:prstGeom prst="roundRect">
              <a:avLst>
                <a:gd fmla="val 16667" name="adj"/>
              </a:avLst>
            </a:prstGeom>
            <a:solidFill>
              <a:srgbClr val="D7C94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53"/>
            <p:cNvSpPr txBox="1"/>
            <p:nvPr/>
          </p:nvSpPr>
          <p:spPr>
            <a:xfrm>
              <a:off x="522991" y="3932576"/>
              <a:ext cx="6745466" cy="66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Rigor técnico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7" name="Google Shape;757;p53"/>
            <p:cNvSpPr/>
            <p:nvPr/>
          </p:nvSpPr>
          <p:spPr>
            <a:xfrm>
              <a:off x="0" y="6187050"/>
              <a:ext cx="9739312" cy="14175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E19C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53"/>
            <p:cNvSpPr txBox="1"/>
            <p:nvPr/>
          </p:nvSpPr>
          <p:spPr>
            <a:xfrm>
              <a:off x="0" y="6187050"/>
              <a:ext cx="9739312" cy="14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800" lIns="755875" spcFirstLastPara="1" rIns="755875" wrap="square" tIns="5207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orbel"/>
                <a:buChar char="•"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fortalece al entregar un modelo y análisis final que puede influir en decisiones reales o simuladas dentro del proyecto.</a:t>
              </a:r>
              <a:endParaRPr b="0" i="0" sz="2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9" name="Google Shape;759;p53"/>
            <p:cNvSpPr/>
            <p:nvPr/>
          </p:nvSpPr>
          <p:spPr>
            <a:xfrm>
              <a:off x="486965" y="5818050"/>
              <a:ext cx="6817518" cy="73800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53"/>
            <p:cNvSpPr txBox="1"/>
            <p:nvPr/>
          </p:nvSpPr>
          <p:spPr>
            <a:xfrm>
              <a:off x="522991" y="5854076"/>
              <a:ext cx="6745466" cy="665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orbel"/>
                <a:buNone/>
              </a:pPr>
              <a:r>
                <a:rPr lang="en-US" sz="2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Responsabilidad</a:t>
              </a:r>
              <a:endParaRPr sz="2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4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00"/>
              <a:buFont typeface="Impact"/>
              <a:buNone/>
            </a:pPr>
            <a:r>
              <a:rPr i="0" lang="en-US" sz="6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/>
          </a:p>
        </p:txBody>
      </p:sp>
      <p:grpSp>
        <p:nvGrpSpPr>
          <p:cNvPr id="766" name="Google Shape;766;p54"/>
          <p:cNvGrpSpPr/>
          <p:nvPr/>
        </p:nvGrpSpPr>
        <p:grpSpPr>
          <a:xfrm>
            <a:off x="2226466" y="4081054"/>
            <a:ext cx="15028070" cy="4291148"/>
            <a:chOff x="0" y="1033054"/>
            <a:chExt cx="15028070" cy="4291148"/>
          </a:xfrm>
        </p:grpSpPr>
        <p:sp>
          <p:nvSpPr>
            <p:cNvPr id="767" name="Google Shape;767;p54"/>
            <p:cNvSpPr/>
            <p:nvPr/>
          </p:nvSpPr>
          <p:spPr>
            <a:xfrm>
              <a:off x="0" y="1033054"/>
              <a:ext cx="15028070" cy="1907177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54"/>
            <p:cNvSpPr/>
            <p:nvPr/>
          </p:nvSpPr>
          <p:spPr>
            <a:xfrm>
              <a:off x="576921" y="1462169"/>
              <a:ext cx="1048947" cy="104894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54"/>
            <p:cNvSpPr/>
            <p:nvPr/>
          </p:nvSpPr>
          <p:spPr>
            <a:xfrm>
              <a:off x="2202789" y="1033054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54"/>
            <p:cNvSpPr txBox="1"/>
            <p:nvPr/>
          </p:nvSpPr>
          <p:spPr>
            <a:xfrm>
              <a:off x="2202789" y="1033054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825" lIns="201825" spcFirstLastPara="1" rIns="201825" wrap="square" tIns="20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rPr i="1"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BigQuery documentation  |  Google Cloud</a:t>
              </a:r>
              <a:r>
                <a:rPr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. (s. f.). Google Cloud. https://cloud.google.com/bigquery/docs</a:t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71" name="Google Shape;771;p54"/>
            <p:cNvSpPr/>
            <p:nvPr/>
          </p:nvSpPr>
          <p:spPr>
            <a:xfrm>
              <a:off x="0" y="3417025"/>
              <a:ext cx="15028070" cy="1907177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54"/>
            <p:cNvSpPr/>
            <p:nvPr/>
          </p:nvSpPr>
          <p:spPr>
            <a:xfrm>
              <a:off x="576921" y="3846140"/>
              <a:ext cx="1048947" cy="104894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54"/>
            <p:cNvSpPr/>
            <p:nvPr/>
          </p:nvSpPr>
          <p:spPr>
            <a:xfrm>
              <a:off x="2202789" y="3417025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54"/>
            <p:cNvSpPr txBox="1"/>
            <p:nvPr/>
          </p:nvSpPr>
          <p:spPr>
            <a:xfrm>
              <a:off x="2202789" y="3417025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825" lIns="201825" spcFirstLastPara="1" rIns="201825" wrap="square" tIns="20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rPr i="1"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Introduction to AI and ML in BigQuery</a:t>
              </a:r>
              <a:r>
                <a:rPr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. (s. f.). Google Cloud. https://cloud.google.com/bigquery/docs/bqml-introduction</a:t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"/>
          <p:cNvSpPr txBox="1"/>
          <p:nvPr/>
        </p:nvSpPr>
        <p:spPr>
          <a:xfrm>
            <a:off x="4437795" y="3389104"/>
            <a:ext cx="8658900" cy="2928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9"/>
              <a:buFont typeface="Impact"/>
              <a:buNone/>
            </a:pPr>
            <a:r>
              <a:rPr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9"/>
              <a:buFont typeface="Corbel"/>
              <a:buNone/>
            </a:pPr>
            <a:r>
              <a:t/>
            </a:r>
            <a:endParaRPr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80" name="Google Shape;780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1" name="Google Shape;781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2" name="Google Shape;782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