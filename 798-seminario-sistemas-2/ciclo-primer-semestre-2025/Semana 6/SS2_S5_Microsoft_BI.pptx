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Lobster"/>
      <p:regular r:id="rId19"/>
    </p:embeddedFont>
    <p:embeddedFont>
      <p:font typeface="Corbel"/>
      <p:regular r:id="rId20"/>
      <p:bold r:id="rId21"/>
      <p:italic r:id="rId22"/>
      <p:boldItalic r:id="rId23"/>
    </p:embeddedFont>
    <p:embeddedFont>
      <p:font typeface="Pacifico"/>
      <p:regular r:id="rId24"/>
    </p:embeddedFont>
    <p:embeddedFont>
      <p:font typeface="Open Sans"/>
      <p:regular r:id="rId25"/>
      <p:bold r:id="rId26"/>
      <p:italic r:id="rId27"/>
      <p:boldItalic r:id="rId28"/>
    </p:embeddedFon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w7BMUzw0/ldNG+V+4cnNJjQ5O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22" Type="http://schemas.openxmlformats.org/officeDocument/2006/relationships/font" Target="fonts/Corbel-italic.fntdata"/><Relationship Id="rId21" Type="http://schemas.openxmlformats.org/officeDocument/2006/relationships/font" Target="fonts/Corbel-bold.fntdata"/><Relationship Id="rId24" Type="http://schemas.openxmlformats.org/officeDocument/2006/relationships/font" Target="fonts/Pacifico-regular.fntdata"/><Relationship Id="rId23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obs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30" name="Google Shape;30;p3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Google Shape;31;p3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2" name="Google Shape;32;p3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3" name="Google Shape;33;p3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34" name="Google Shape;34;p3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35" name="Google Shape;35;p3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6" name="Google Shape;36;p38"/>
          <p:cNvSpPr txBox="1"/>
          <p:nvPr>
            <p:ph type="ctrTitle"/>
          </p:nvPr>
        </p:nvSpPr>
        <p:spPr>
          <a:xfrm>
            <a:off x="4392602" y="2070103"/>
            <a:ext cx="12861933" cy="3924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bel"/>
              <a:buNone/>
              <a:defRPr sz="9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" type="subTitle"/>
          </p:nvPr>
        </p:nvSpPr>
        <p:spPr>
          <a:xfrm>
            <a:off x="6773066" y="5994401"/>
            <a:ext cx="10481468" cy="20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30"/>
              </a:spcBef>
              <a:spcAft>
                <a:spcPts val="0"/>
              </a:spcAft>
              <a:buSzPts val="4568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4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391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304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7998618" y="8824913"/>
            <a:ext cx="64860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3858419" y="4000498"/>
            <a:ext cx="13396121" cy="3165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sz="6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3858417" y="7166072"/>
            <a:ext cx="1339612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2226469" y="4000499"/>
            <a:ext cx="7342583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9911951" y="4000500"/>
            <a:ext cx="7342584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2658269" y="3987800"/>
            <a:ext cx="6910782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2226467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8" name="Google Shape;58;p41"/>
          <p:cNvSpPr txBox="1"/>
          <p:nvPr>
            <p:ph idx="3" type="body"/>
          </p:nvPr>
        </p:nvSpPr>
        <p:spPr>
          <a:xfrm>
            <a:off x="10320731" y="4000500"/>
            <a:ext cx="693380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59" name="Google Shape;59;p41"/>
          <p:cNvSpPr txBox="1"/>
          <p:nvPr>
            <p:ph idx="4" type="body"/>
          </p:nvPr>
        </p:nvSpPr>
        <p:spPr>
          <a:xfrm>
            <a:off x="9911951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60" name="Google Shape;60;p4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2226469" y="2400300"/>
            <a:ext cx="532368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>
            <a:off x="7893050" y="1028699"/>
            <a:ext cx="9361485" cy="7658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60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spcBef>
                <a:spcPts val="9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421957" lvl="5" marL="27432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6pPr>
            <a:lvl7pPr indent="-421957" lvl="6" marL="32004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7pPr>
            <a:lvl8pPr indent="-421957" lvl="7" marL="3657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8pPr>
            <a:lvl9pPr indent="-421957" lvl="8" marL="4114800" algn="l">
              <a:spcBef>
                <a:spcPts val="900"/>
              </a:spcBef>
              <a:spcAft>
                <a:spcPts val="900"/>
              </a:spcAft>
              <a:buSzPts val="3045"/>
              <a:buChar char="•"/>
              <a:defRPr sz="2100"/>
            </a:lvl9pPr>
          </a:lstStyle>
          <a:p/>
        </p:txBody>
      </p:sp>
      <p:sp>
        <p:nvSpPr>
          <p:cNvPr id="71" name="Google Shape;71;p43"/>
          <p:cNvSpPr txBox="1"/>
          <p:nvPr>
            <p:ph idx="2" type="body"/>
          </p:nvPr>
        </p:nvSpPr>
        <p:spPr>
          <a:xfrm>
            <a:off x="2226469" y="4457700"/>
            <a:ext cx="532368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3480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 txBox="1"/>
          <p:nvPr>
            <p:ph type="title"/>
          </p:nvPr>
        </p:nvSpPr>
        <p:spPr>
          <a:xfrm>
            <a:off x="2224086" y="2628899"/>
            <a:ext cx="81392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  <a:defRPr b="0"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/>
          <p:nvPr>
            <p:ph idx="2" type="pic"/>
          </p:nvPr>
        </p:nvSpPr>
        <p:spPr>
          <a:xfrm>
            <a:off x="11392023" y="1371600"/>
            <a:ext cx="4921461" cy="6858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4"/>
          <p:cNvSpPr txBox="1"/>
          <p:nvPr>
            <p:ph idx="1" type="body"/>
          </p:nvPr>
        </p:nvSpPr>
        <p:spPr>
          <a:xfrm>
            <a:off x="2224086" y="4686299"/>
            <a:ext cx="813923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40"/>
              </a:spcBef>
              <a:spcAft>
                <a:spcPts val="0"/>
              </a:spcAft>
              <a:buSzPts val="3915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79" name="Google Shape;79;p4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 txBox="1"/>
          <p:nvPr>
            <p:ph type="title"/>
          </p:nvPr>
        </p:nvSpPr>
        <p:spPr>
          <a:xfrm>
            <a:off x="2226467" y="7099298"/>
            <a:ext cx="15028067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/>
          <p:nvPr>
            <p:ph idx="2" type="pic"/>
          </p:nvPr>
        </p:nvSpPr>
        <p:spPr>
          <a:xfrm>
            <a:off x="3579018" y="1398168"/>
            <a:ext cx="12338916" cy="4747464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5"/>
          <p:cNvSpPr txBox="1"/>
          <p:nvPr>
            <p:ph idx="1" type="body"/>
          </p:nvPr>
        </p:nvSpPr>
        <p:spPr>
          <a:xfrm>
            <a:off x="2226467" y="7949405"/>
            <a:ext cx="15028067" cy="740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20"/>
              </a:spcBef>
              <a:spcAft>
                <a:spcPts val="0"/>
              </a:spcAft>
              <a:buSzPts val="3045"/>
              <a:buNone/>
              <a:defRPr sz="21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86" name="Google Shape;86;p4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6"/>
          <p:cNvSpPr txBox="1"/>
          <p:nvPr>
            <p:ph type="title"/>
          </p:nvPr>
        </p:nvSpPr>
        <p:spPr>
          <a:xfrm>
            <a:off x="2226469" y="1028700"/>
            <a:ext cx="150280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" type="body"/>
          </p:nvPr>
        </p:nvSpPr>
        <p:spPr>
          <a:xfrm>
            <a:off x="2226469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4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7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7" name="Google Shape;97;p47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98" name="Google Shape;98;p47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" type="body"/>
          </p:nvPr>
        </p:nvSpPr>
        <p:spPr>
          <a:xfrm>
            <a:off x="3655217" y="5143499"/>
            <a:ext cx="1279922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Font typeface="Corbel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Font typeface="Corbel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Font typeface="Corbel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Font typeface="Corbel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Font typeface="Corbel"/>
              <a:buNone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2" type="body"/>
          </p:nvPr>
        </p:nvSpPr>
        <p:spPr>
          <a:xfrm>
            <a:off x="2226467" y="6515100"/>
            <a:ext cx="15028067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4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 txBox="1"/>
          <p:nvPr>
            <p:ph type="title"/>
          </p:nvPr>
        </p:nvSpPr>
        <p:spPr>
          <a:xfrm>
            <a:off x="2226470" y="4962872"/>
            <a:ext cx="15028064" cy="22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" type="body"/>
          </p:nvPr>
        </p:nvSpPr>
        <p:spPr>
          <a:xfrm>
            <a:off x="2226468" y="7166072"/>
            <a:ext cx="15028065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4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9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2" name="Google Shape;112;p49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3" name="Google Shape;113;p49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2226470" y="5829300"/>
            <a:ext cx="1502806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720"/>
              </a:spcBef>
              <a:spcAft>
                <a:spcPts val="0"/>
              </a:spcAft>
              <a:buSzPts val="5220"/>
              <a:buNone/>
              <a:defRPr b="0" sz="36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2" type="body"/>
          </p:nvPr>
        </p:nvSpPr>
        <p:spPr>
          <a:xfrm>
            <a:off x="2226468" y="7162800"/>
            <a:ext cx="1502806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4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0"/>
          <p:cNvSpPr txBox="1"/>
          <p:nvPr>
            <p:ph type="title"/>
          </p:nvPr>
        </p:nvSpPr>
        <p:spPr>
          <a:xfrm>
            <a:off x="2226470" y="1028701"/>
            <a:ext cx="15028068" cy="409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>
            <p:ph idx="1" type="body"/>
          </p:nvPr>
        </p:nvSpPr>
        <p:spPr>
          <a:xfrm>
            <a:off x="2226469" y="5257800"/>
            <a:ext cx="1502807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2" type="body"/>
          </p:nvPr>
        </p:nvSpPr>
        <p:spPr>
          <a:xfrm>
            <a:off x="2226467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5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1"/>
          <p:cNvSpPr txBox="1"/>
          <p:nvPr>
            <p:ph idx="1" type="body"/>
          </p:nvPr>
        </p:nvSpPr>
        <p:spPr>
          <a:xfrm rot="5400000">
            <a:off x="7397350" y="-1170385"/>
            <a:ext cx="4686302" cy="1502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2"/>
          <p:cNvSpPr txBox="1"/>
          <p:nvPr>
            <p:ph type="title"/>
          </p:nvPr>
        </p:nvSpPr>
        <p:spPr>
          <a:xfrm rot="5400000">
            <a:off x="12097710" y="3529973"/>
            <a:ext cx="7658100" cy="2655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" type="body"/>
          </p:nvPr>
        </p:nvSpPr>
        <p:spPr>
          <a:xfrm rot="5400000">
            <a:off x="4412225" y="-1157057"/>
            <a:ext cx="7658100" cy="12029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3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7" name="Google Shape;7;p3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3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3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3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3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3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33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3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3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5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140" name="Google Shape;140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1" name="Google Shape;141;p3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2" name="Google Shape;142;p3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3" name="Google Shape;143;p3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44" name="Google Shape;144;p3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45" name="Google Shape;145;p3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</p:grpSp>
      <p:sp>
        <p:nvSpPr>
          <p:cNvPr id="146" name="Google Shape;146;p35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8" name="Google Shape;148;p3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and tablet with graphs and charts&#10;&#10;AI-generated content may be incorrect." id="161" name="Google Shape;1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482" y="5715865"/>
            <a:ext cx="8160517" cy="457113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809303" y="7107850"/>
            <a:ext cx="858869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155441" y="1512847"/>
            <a:ext cx="152146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Bases modernas y arquitectura Microsoft BI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3146103" y="8185068"/>
            <a:ext cx="6981379" cy="161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two logos with text&#10;&#10;AI-generated content may be incorrect." id="165" name="Google Shape;1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5699" y="0"/>
            <a:ext cx="69723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"/>
          <p:cNvGrpSpPr/>
          <p:nvPr/>
        </p:nvGrpSpPr>
        <p:grpSpPr>
          <a:xfrm>
            <a:off x="1568376" y="5074884"/>
            <a:ext cx="4030103" cy="845385"/>
            <a:chOff x="0" y="-38655"/>
            <a:chExt cx="1964221" cy="359923"/>
          </a:xfrm>
        </p:grpSpPr>
        <p:sp>
          <p:nvSpPr>
            <p:cNvPr id="171" name="Google Shape;17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SSIS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3" name="Google Shape;173;p2"/>
          <p:cNvSpPr/>
          <p:nvPr/>
        </p:nvSpPr>
        <p:spPr>
          <a:xfrm>
            <a:off x="1684278" y="523382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2713402" y="3863800"/>
            <a:ext cx="4115190" cy="1267162"/>
            <a:chOff x="0" y="-36600"/>
            <a:chExt cx="1083836" cy="409938"/>
          </a:xfrm>
        </p:grpSpPr>
        <p:sp>
          <p:nvSpPr>
            <p:cNvPr id="175" name="Google Shape;17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0" y="-366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1760876" y="4052276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2216562" y="442037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800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8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80" name="Google Shape;180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81" name="Google Shape;18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1452477" y="5810834"/>
            <a:ext cx="6718129" cy="845385"/>
            <a:chOff x="0" y="-38655"/>
            <a:chExt cx="1964221" cy="359923"/>
          </a:xfrm>
        </p:grpSpPr>
        <p:sp>
          <p:nvSpPr>
            <p:cNvPr id="187" name="Google Shape;18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Virtualización y federación de datos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9" name="Google Shape;189;p2"/>
          <p:cNvSpPr/>
          <p:nvPr/>
        </p:nvSpPr>
        <p:spPr>
          <a:xfrm>
            <a:off x="1568377" y="596977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0" name="Google Shape;190;p2"/>
          <p:cNvGrpSpPr/>
          <p:nvPr/>
        </p:nvGrpSpPr>
        <p:grpSpPr>
          <a:xfrm>
            <a:off x="1307519" y="6520243"/>
            <a:ext cx="5087090" cy="845385"/>
            <a:chOff x="0" y="-38655"/>
            <a:chExt cx="1964221" cy="359923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IAAS, PAAS, SAAS en BI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3" name="Google Shape;193;p2"/>
          <p:cNvSpPr/>
          <p:nvPr/>
        </p:nvSpPr>
        <p:spPr>
          <a:xfrm>
            <a:off x="1423418" y="66791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4" name="Google Shape;194;p2"/>
          <p:cNvGrpSpPr/>
          <p:nvPr/>
        </p:nvGrpSpPr>
        <p:grpSpPr>
          <a:xfrm>
            <a:off x="1191618" y="7247487"/>
            <a:ext cx="4406862" cy="845385"/>
            <a:chOff x="0" y="-38655"/>
            <a:chExt cx="1964221" cy="359923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 en la nube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1307518" y="74064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>
            <a:off x="1929162" y="7962643"/>
            <a:ext cx="5356542" cy="845385"/>
            <a:chOff x="0" y="-38655"/>
            <a:chExt cx="1964221" cy="359923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Nubes híbridas y monitoreo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2045061" y="81215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7" name="Google Shape;207;p22"/>
          <p:cNvGrpSpPr/>
          <p:nvPr/>
        </p:nvGrpSpPr>
        <p:grpSpPr>
          <a:xfrm flipH="1">
            <a:off x="9789314" y="0"/>
            <a:ext cx="7522369" cy="10294145"/>
            <a:chOff x="2928938" y="-4763"/>
            <a:chExt cx="5014912" cy="6862763"/>
          </a:xfrm>
        </p:grpSpPr>
        <p:sp>
          <p:nvSpPr>
            <p:cNvPr id="208" name="Google Shape;208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4" name="Google Shape;214;p22"/>
          <p:cNvSpPr txBox="1"/>
          <p:nvPr>
            <p:ph type="title"/>
          </p:nvPr>
        </p:nvSpPr>
        <p:spPr>
          <a:xfrm>
            <a:off x="1527286" y="1028700"/>
            <a:ext cx="11117738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1527285" y="4000497"/>
            <a:ext cx="10865404" cy="5792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960" lvl="0" marL="428625" rtl="0" algn="l">
              <a:spcBef>
                <a:spcPts val="0"/>
              </a:spcBef>
              <a:spcAft>
                <a:spcPts val="0"/>
              </a:spcAft>
              <a:buSzPts val="6960"/>
              <a:buChar char="•"/>
            </a:pPr>
            <a:r>
              <a:rPr lang="en-US" sz="4800">
                <a:latin typeface="Open Sans"/>
                <a:ea typeface="Open Sans"/>
                <a:cs typeface="Open Sans"/>
                <a:sym typeface="Open Sans"/>
              </a:rPr>
              <a:t>Integra soluciones BI con bases de datos modernas y servicios en la nube usando tecnologías como SSMS, SSAS y servicios IAAS/PAAS considerando aspectos de seguridad, virtualización y arquitectura de datos distribuida </a:t>
            </a:r>
            <a:endParaRPr sz="4800"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1" name="Google Shape;221;p23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¿Qué es SSIS?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ts val="638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Es una herramienta de Microsoft para la integración de datos y automatización de flujos de trabajo en SQL Server.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24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Instalación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Requisitos previos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SQL Server y SQL Server Management Studio (SSMS) instalados.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Visual Studio (preferiblemente versión 2019 o superior).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Instalación del complemento "SQL Server Data Tools (SSDT)" para habilitar SSIS en Visual Studio.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9" name="Google Shape;249;p25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Instalación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Pasos de instalación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Abrir Visual Studio Installer y buscar "Data Storage and Processing".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Asegurarse de seleccionar "SQL Server Integration Services".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Completar la instalación y reiniciar Visual Studio.</a:t>
            </a:r>
            <a:endParaRPr/>
          </a:p>
          <a:p>
            <a:pPr indent="-428625" lvl="1" marL="1114425" rtl="0" algn="l"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Validar la instalación creando un nuevo proyecto SSIS.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3" name="Google Shape;263;p26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Fuentes y destinos de datos en SSIS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65" name="Google Shape;265;p26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266" name="Google Shape;266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72" name="Google Shape;272;p26"/>
          <p:cNvGrpSpPr/>
          <p:nvPr/>
        </p:nvGrpSpPr>
        <p:grpSpPr>
          <a:xfrm>
            <a:off x="7515225" y="1029634"/>
            <a:ext cx="9739312" cy="7656230"/>
            <a:chOff x="0" y="934"/>
            <a:chExt cx="9739312" cy="7656230"/>
          </a:xfrm>
        </p:grpSpPr>
        <p:sp>
          <p:nvSpPr>
            <p:cNvPr id="273" name="Google Shape;273;p26"/>
            <p:cNvSpPr/>
            <p:nvPr/>
          </p:nvSpPr>
          <p:spPr>
            <a:xfrm>
              <a:off x="0" y="934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61717" y="493121"/>
              <a:ext cx="1203121" cy="120312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2526556" y="934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2526556" y="934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Fuentes de datos (Data Sources)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909246" y="934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 txBox="1"/>
            <p:nvPr/>
          </p:nvSpPr>
          <p:spPr>
            <a:xfrm>
              <a:off x="6909246" y="934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SQL Server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Oracle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MySQL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Archivos (CSV, Excel, XML, JSON)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Servicios Web (API, OData)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0" y="2735302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61717" y="3227489"/>
              <a:ext cx="1203121" cy="120312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526556" y="2735302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 txBox="1"/>
            <p:nvPr/>
          </p:nvSpPr>
          <p:spPr>
            <a:xfrm>
              <a:off x="2526556" y="2735302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Destinos de datos (Data Destinations)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909246" y="2735302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6"/>
            <p:cNvSpPr txBox="1"/>
            <p:nvPr/>
          </p:nvSpPr>
          <p:spPr>
            <a:xfrm>
              <a:off x="6909246" y="2735302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Bases de datos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Archivos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Cubos OLAP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Aplicaciones externas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0" y="5469670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661717" y="5961857"/>
              <a:ext cx="1203121" cy="120312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526556" y="5469670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6"/>
            <p:cNvSpPr txBox="1"/>
            <p:nvPr/>
          </p:nvSpPr>
          <p:spPr>
            <a:xfrm>
              <a:off x="2526556" y="5469670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Configuración de conexiones: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6909246" y="5469670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6"/>
            <p:cNvSpPr txBox="1"/>
            <p:nvPr/>
          </p:nvSpPr>
          <p:spPr>
            <a:xfrm>
              <a:off x="6909246" y="5469670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definen en la pestaña Connection Managers dentro de SSIS.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lang="en-US" sz="1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pueden reutilizar en diferentes tareas del flujo de datos.</a:t>
              </a:r>
              <a:endParaRPr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6" name="Google Shape;296;p29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7" name="Google Shape;297;p29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mpact"/>
              <a:buNone/>
            </a:pPr>
            <a:r>
              <a:rPr i="0" lang="en-US" sz="3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Transformaciones comunes</a:t>
            </a:r>
            <a:endParaRPr sz="3800">
              <a:solidFill>
                <a:srgbClr val="FFFFFF"/>
              </a:solidFill>
            </a:endParaRPr>
          </a:p>
        </p:txBody>
      </p:sp>
      <p:grpSp>
        <p:nvGrpSpPr>
          <p:cNvPr id="298" name="Google Shape;298;p29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299" name="Google Shape;299;p29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05" name="Google Shape;305;p29"/>
          <p:cNvGrpSpPr/>
          <p:nvPr/>
        </p:nvGrpSpPr>
        <p:grpSpPr>
          <a:xfrm>
            <a:off x="7515225" y="1066485"/>
            <a:ext cx="9739312" cy="7582528"/>
            <a:chOff x="0" y="37785"/>
            <a:chExt cx="9739312" cy="7582528"/>
          </a:xfrm>
        </p:grpSpPr>
        <p:sp>
          <p:nvSpPr>
            <p:cNvPr id="306" name="Google Shape;306;p29"/>
            <p:cNvSpPr/>
            <p:nvPr/>
          </p:nvSpPr>
          <p:spPr>
            <a:xfrm>
              <a:off x="0" y="37785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9"/>
            <p:cNvSpPr txBox="1"/>
            <p:nvPr/>
          </p:nvSpPr>
          <p:spPr>
            <a:xfrm>
              <a:off x="58177" y="95962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Transformaciones comunes: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0" y="1315940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E19D3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 txBox="1"/>
            <p:nvPr/>
          </p:nvSpPr>
          <p:spPr>
            <a:xfrm>
              <a:off x="58177" y="1374117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Derived Column: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Agregar o modificar columnas en tiempo de ejecución.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0" y="2594095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D5483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9"/>
            <p:cNvSpPr txBox="1"/>
            <p:nvPr/>
          </p:nvSpPr>
          <p:spPr>
            <a:xfrm>
              <a:off x="58177" y="2652272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Data Conversion: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Convertir tipos de datos.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0" y="3872250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D6448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9"/>
            <p:cNvSpPr txBox="1"/>
            <p:nvPr/>
          </p:nvSpPr>
          <p:spPr>
            <a:xfrm>
              <a:off x="58177" y="3930427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Aggregate: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Agrupar datos (SUM, COUNT, AVG).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0" y="5150404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A465D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9"/>
            <p:cNvSpPr txBox="1"/>
            <p:nvPr/>
          </p:nvSpPr>
          <p:spPr>
            <a:xfrm>
              <a:off x="58177" y="5208581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Sort: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Ordenar registros.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0" y="6428559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9"/>
            <p:cNvSpPr txBox="1"/>
            <p:nvPr/>
          </p:nvSpPr>
          <p:spPr>
            <a:xfrm>
              <a:off x="58177" y="6486736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Lookup: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Buscar valores en otra tabla y combinar datos.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3" name="Google Shape;323;p30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4" name="Google Shape;324;p30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i="0" lang="en-US" sz="5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5600">
              <a:solidFill>
                <a:srgbClr val="FFFFFF"/>
              </a:solidFill>
            </a:endParaRPr>
          </a:p>
        </p:txBody>
      </p:sp>
      <p:grpSp>
        <p:nvGrpSpPr>
          <p:cNvPr id="325" name="Google Shape;325;p30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326" name="Google Shape;326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32" name="Google Shape;332;p30"/>
          <p:cNvGrpSpPr/>
          <p:nvPr/>
        </p:nvGrpSpPr>
        <p:grpSpPr>
          <a:xfrm>
            <a:off x="7515225" y="1090221"/>
            <a:ext cx="9739312" cy="8419957"/>
            <a:chOff x="0" y="61522"/>
            <a:chExt cx="9739312" cy="8419957"/>
          </a:xfrm>
        </p:grpSpPr>
        <p:sp>
          <p:nvSpPr>
            <p:cNvPr id="333" name="Google Shape;333;p30"/>
            <p:cNvSpPr/>
            <p:nvPr/>
          </p:nvSpPr>
          <p:spPr>
            <a:xfrm>
              <a:off x="0" y="61522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 txBox="1"/>
            <p:nvPr/>
          </p:nvSpPr>
          <p:spPr>
            <a:xfrm>
              <a:off x="135041" y="196563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Open Sans"/>
                <a:buNone/>
              </a:pPr>
              <a:r>
                <a:rPr lang="en-US" sz="21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Es una herramienta de Microsoft para la integración de datos y automatización de flujos de trabajo en SQL Server.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0" y="2888335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 txBox="1"/>
            <p:nvPr/>
          </p:nvSpPr>
          <p:spPr>
            <a:xfrm>
              <a:off x="135041" y="3023376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SQL Server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Oracle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MySQL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Archivos (CSV, Excel, XML, JSON)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Servicios Web (API, OData)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0" y="5715147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 txBox="1"/>
            <p:nvPr/>
          </p:nvSpPr>
          <p:spPr>
            <a:xfrm>
              <a:off x="135041" y="5850188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Transformaciones comunes: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Derived Column:</a:t>
              </a: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Agregar o modificar columnas en tiempo de ejecución.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Data Conversion:</a:t>
              </a: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Convertir tipos de datos.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Aggregate:</a:t>
              </a: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Agrupar datos (SUM, COUNT, AVG).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Sort:</a:t>
              </a: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Ordenar registros.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Lookup:</a:t>
              </a:r>
              <a:r>
                <a:rPr lang="en-US" sz="2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Buscar valores en otra tabla y combinar datos.</a:t>
              </a:r>
              <a:endParaRPr sz="2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4" name="Google Shape;344;p31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5" name="Google Shape;345;p31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46" name="Google Shape;346;p31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347" name="Google Shape;347;p3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53" name="Google Shape;353;p31"/>
          <p:cNvGrpSpPr/>
          <p:nvPr/>
        </p:nvGrpSpPr>
        <p:grpSpPr>
          <a:xfrm>
            <a:off x="7515225" y="1063169"/>
            <a:ext cx="9739312" cy="7589160"/>
            <a:chOff x="0" y="34469"/>
            <a:chExt cx="9739312" cy="7589160"/>
          </a:xfrm>
        </p:grpSpPr>
        <p:sp>
          <p:nvSpPr>
            <p:cNvPr id="354" name="Google Shape;354;p31"/>
            <p:cNvSpPr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 txBox="1"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refuerza al discutir buenas prácticas para proteger datos en la nube y configurar servicios BI de manera segura.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486965" y="3446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1"/>
            <p:cNvSpPr txBox="1"/>
            <p:nvPr/>
          </p:nvSpPr>
          <p:spPr>
            <a:xfrm>
              <a:off x="521550" y="6905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Seguridad y ética profesional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0" y="223334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1"/>
            <p:cNvSpPr txBox="1"/>
            <p:nvPr/>
          </p:nvSpPr>
          <p:spPr>
            <a:xfrm>
              <a:off x="0" y="223334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trabaja al implementar virtualización, control de acceso y monitoreo en arquitecturas BI reales.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486965" y="1879110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1"/>
            <p:cNvSpPr txBox="1"/>
            <p:nvPr/>
          </p:nvSpPr>
          <p:spPr>
            <a:xfrm>
              <a:off x="521550" y="1913695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Responsabilidad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0" y="407798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0" y="407798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aplica al evaluar las diferencias y relaciones entre SSIS, SSAS y SSRS como componentes de una solución integrada.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486965" y="372374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1"/>
            <p:cNvSpPr txBox="1"/>
            <p:nvPr/>
          </p:nvSpPr>
          <p:spPr>
            <a:xfrm>
              <a:off x="521550" y="375833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Pensamiento analítico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0" y="5922629"/>
              <a:ext cx="9739312" cy="1701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1"/>
            <p:cNvSpPr txBox="1"/>
            <p:nvPr/>
          </p:nvSpPr>
          <p:spPr>
            <a:xfrm>
              <a:off x="0" y="5922629"/>
              <a:ext cx="9739312" cy="17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promueve al usar herramientas modernas y modelos de nube híbrida para ampliar el alcance de las soluciones empresariales.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486965" y="5568390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1"/>
            <p:cNvSpPr txBox="1"/>
            <p:nvPr/>
          </p:nvSpPr>
          <p:spPr>
            <a:xfrm>
              <a:off x="521550" y="5602975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Innovación tecnológica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Font typeface="Impact"/>
              <a:buNone/>
            </a:pPr>
            <a:r>
              <a:rPr i="0" lang="en-US" sz="6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grpSp>
        <p:nvGrpSpPr>
          <p:cNvPr id="375" name="Google Shape;375;p32"/>
          <p:cNvGrpSpPr/>
          <p:nvPr/>
        </p:nvGrpSpPr>
        <p:grpSpPr>
          <a:xfrm>
            <a:off x="2226466" y="4081054"/>
            <a:ext cx="15028070" cy="4291148"/>
            <a:chOff x="0" y="1033054"/>
            <a:chExt cx="15028070" cy="4291148"/>
          </a:xfrm>
        </p:grpSpPr>
        <p:sp>
          <p:nvSpPr>
            <p:cNvPr id="376" name="Google Shape;376;p32"/>
            <p:cNvSpPr/>
            <p:nvPr/>
          </p:nvSpPr>
          <p:spPr>
            <a:xfrm>
              <a:off x="0" y="1033054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576921" y="1462169"/>
              <a:ext cx="1048947" cy="10489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2"/>
            <p:cNvSpPr txBox="1"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Chugugrace. (s. f.). SQL Server Integration Services - SQL Server Integration Services (SSIS). Microsoft Learn. https://learn.microsoft.com/es-es/sql/integration-services/sql-server-integration-services?view=sql-server-ver17</a:t>
              </a:r>
              <a:endParaRPr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0" y="3417025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576921" y="3846140"/>
              <a:ext cx="1048947" cy="10489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2"/>
            <p:cNvSpPr txBox="1"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i="1"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SQL Server Integration Services Projects 2022 - Visual Studio Marketplace</a:t>
              </a: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. (s. f.). https://marketplace.visualstudio.com/items?itemName=SSIS.MicrosoftDataToolsIntegrationServices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437795" y="3389104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Corbel"/>
              <a:buNone/>
            </a:pPr>
            <a:r>
              <a:t/>
            </a:r>
            <a:endParaRPr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