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10287000" cx="18288000"/>
  <p:notesSz cx="6858000" cy="9144000"/>
  <p:embeddedFontLst>
    <p:embeddedFont>
      <p:font typeface="Play"/>
      <p:regular r:id="rId20"/>
      <p:bold r:id="rId21"/>
    </p:embeddedFont>
    <p:embeddedFont>
      <p:font typeface="Open Sans"/>
      <p:bold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4" roundtripDataSignature="AMtx7mgneL5SSDEzw5omtFvMqVO3AQnH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regular.fntdata"/><Relationship Id="rId11" Type="http://schemas.openxmlformats.org/officeDocument/2006/relationships/slide" Target="slides/slide6.xml"/><Relationship Id="rId22" Type="http://schemas.openxmlformats.org/officeDocument/2006/relationships/font" Target="fonts/OpenSans-bold.fntdata"/><Relationship Id="rId10" Type="http://schemas.openxmlformats.org/officeDocument/2006/relationships/slide" Target="slides/slide5.xml"/><Relationship Id="rId21" Type="http://schemas.openxmlformats.org/officeDocument/2006/relationships/font" Target="fonts/Play-bold.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1792288" y="612775"/>
            <a:ext cx="5486400" cy="4114800"/>
          </a:xfrm>
          <a:prstGeom prst="rect">
            <a:avLst/>
          </a:prstGeom>
          <a:noFill/>
          <a:ln>
            <a:noFill/>
          </a:ln>
        </p:spPr>
      </p:sp>
      <p:sp>
        <p:nvSpPr>
          <p:cNvPr id="64" name="Google Shape;64;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12541309" y="6021878"/>
            <a:ext cx="4160184" cy="411480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1063303" y="7865776"/>
            <a:ext cx="6467475"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Teoría de Sistemas 2</a:t>
            </a:r>
            <a:endParaRPr/>
          </a:p>
          <a:p>
            <a:pPr indent="0" lvl="0" marL="0" marR="0" rtl="0" algn="ctr">
              <a:lnSpc>
                <a:spcPct val="140000"/>
              </a:lnSpc>
              <a:spcBef>
                <a:spcPts val="0"/>
              </a:spcBef>
              <a:spcAft>
                <a:spcPts val="0"/>
              </a:spcAft>
              <a:buNone/>
            </a:pPr>
            <a:r>
              <a:t/>
            </a:r>
            <a:endParaRPr b="1" i="0" sz="5000" u="none" cap="none" strike="noStrike">
              <a:solidFill>
                <a:srgbClr val="131416"/>
              </a:solidFill>
              <a:latin typeface="Open Sans"/>
              <a:ea typeface="Open Sans"/>
              <a:cs typeface="Open Sans"/>
              <a:sym typeface="Open Sans"/>
            </a:endParaRPr>
          </a:p>
        </p:txBody>
      </p:sp>
      <p:sp>
        <p:nvSpPr>
          <p:cNvPr id="87" name="Google Shape;87;p1"/>
          <p:cNvSpPr txBox="1"/>
          <p:nvPr/>
        </p:nvSpPr>
        <p:spPr>
          <a:xfrm>
            <a:off x="269140" y="3141906"/>
            <a:ext cx="17749719" cy="31953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Sistemas para la entrega de valor y proyectos</a:t>
            </a:r>
            <a:endParaRPr/>
          </a:p>
        </p:txBody>
      </p:sp>
      <p:sp>
        <p:nvSpPr>
          <p:cNvPr id="88" name="Google Shape;88;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9" name="Google Shape;89;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90" name="Google Shape;90;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
        <p:nvSpPr>
          <p:cNvPr id="91" name="Google Shape;91;p1"/>
          <p:cNvSpPr txBox="1"/>
          <p:nvPr/>
        </p:nvSpPr>
        <p:spPr>
          <a:xfrm>
            <a:off x="12979082" y="7426039"/>
            <a:ext cx="3284637" cy="173672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Puedes usar el </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diseño que desees</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conserva la estructura</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base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2"/>
          <p:cNvGrpSpPr/>
          <p:nvPr/>
        </p:nvGrpSpPr>
        <p:grpSpPr>
          <a:xfrm>
            <a:off x="176619" y="4391489"/>
            <a:ext cx="12118639" cy="1203215"/>
            <a:chOff x="0" y="-76200"/>
            <a:chExt cx="5159516" cy="512270"/>
          </a:xfrm>
        </p:grpSpPr>
        <p:sp>
          <p:nvSpPr>
            <p:cNvPr id="97" name="Google Shape;97;p2"/>
            <p:cNvSpPr/>
            <p:nvPr/>
          </p:nvSpPr>
          <p:spPr>
            <a:xfrm>
              <a:off x="0" y="0"/>
              <a:ext cx="5159516" cy="436070"/>
            </a:xfrm>
            <a:custGeom>
              <a:rect b="b" l="l" r="r" t="t"/>
              <a:pathLst>
                <a:path extrusionOk="0" h="436070" w="5159516">
                  <a:moveTo>
                    <a:pt x="4956316" y="0"/>
                  </a:moveTo>
                  <a:lnTo>
                    <a:pt x="0" y="0"/>
                  </a:lnTo>
                  <a:lnTo>
                    <a:pt x="0" y="436070"/>
                  </a:lnTo>
                  <a:lnTo>
                    <a:pt x="4956316" y="436070"/>
                  </a:lnTo>
                  <a:lnTo>
                    <a:pt x="5159516" y="218035"/>
                  </a:lnTo>
                  <a:lnTo>
                    <a:pt x="4956316" y="0"/>
                  </a:lnTo>
                  <a:close/>
                </a:path>
              </a:pathLst>
            </a:custGeom>
            <a:solidFill>
              <a:srgbClr val="FFFFFF"/>
            </a:solidFill>
            <a:ln>
              <a:noFill/>
            </a:ln>
          </p:spPr>
        </p:sp>
        <p:sp>
          <p:nvSpPr>
            <p:cNvPr id="98" name="Google Shape;98;p2"/>
            <p:cNvSpPr txBox="1"/>
            <p:nvPr/>
          </p:nvSpPr>
          <p:spPr>
            <a:xfrm>
              <a:off x="0" y="-76200"/>
              <a:ext cx="5045216" cy="51227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Definiendo el alcance general del proyecto</a:t>
              </a:r>
              <a:endParaRPr/>
            </a:p>
          </p:txBody>
        </p:sp>
      </p:grpSp>
      <p:sp>
        <p:nvSpPr>
          <p:cNvPr id="99" name="Google Shape;99;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00" name="Google Shape;100;p2"/>
          <p:cNvGrpSpPr/>
          <p:nvPr/>
        </p:nvGrpSpPr>
        <p:grpSpPr>
          <a:xfrm>
            <a:off x="1866989" y="3013983"/>
            <a:ext cx="4115190" cy="1556484"/>
            <a:chOff x="0" y="-76200"/>
            <a:chExt cx="1083836" cy="409938"/>
          </a:xfrm>
        </p:grpSpPr>
        <p:sp>
          <p:nvSpPr>
            <p:cNvPr id="101" name="Google Shape;101;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2" name="Google Shape;102;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3" name="Google Shape;103;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4" name="Google Shape;104;p2"/>
          <p:cNvGrpSpPr/>
          <p:nvPr/>
        </p:nvGrpSpPr>
        <p:grpSpPr>
          <a:xfrm>
            <a:off x="651754" y="-320617"/>
            <a:ext cx="6140237" cy="3052280"/>
            <a:chOff x="0" y="-95250"/>
            <a:chExt cx="8186982" cy="4069708"/>
          </a:xfrm>
        </p:grpSpPr>
        <p:sp>
          <p:nvSpPr>
            <p:cNvPr id="105" name="Google Shape;105;p2"/>
            <p:cNvSpPr txBox="1"/>
            <p:nvPr/>
          </p:nvSpPr>
          <p:spPr>
            <a:xfrm>
              <a:off x="0" y="986783"/>
              <a:ext cx="8186982"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6" name="Google Shape;106;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7" name="Google Shape;107;p2"/>
          <p:cNvSpPr txBox="1"/>
          <p:nvPr/>
        </p:nvSpPr>
        <p:spPr>
          <a:xfrm>
            <a:off x="11131715" y="78516"/>
            <a:ext cx="8416862" cy="579709"/>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08" name="Google Shape;108;p2"/>
          <p:cNvGrpSpPr/>
          <p:nvPr/>
        </p:nvGrpSpPr>
        <p:grpSpPr>
          <a:xfrm>
            <a:off x="-637186" y="5502292"/>
            <a:ext cx="12661175" cy="845385"/>
            <a:chOff x="0" y="-76200"/>
            <a:chExt cx="5390501" cy="359923"/>
          </a:xfrm>
        </p:grpSpPr>
        <p:sp>
          <p:nvSpPr>
            <p:cNvPr id="109" name="Google Shape;109;p2"/>
            <p:cNvSpPr/>
            <p:nvPr/>
          </p:nvSpPr>
          <p:spPr>
            <a:xfrm>
              <a:off x="0" y="0"/>
              <a:ext cx="5390501" cy="283723"/>
            </a:xfrm>
            <a:custGeom>
              <a:rect b="b" l="l" r="r" t="t"/>
              <a:pathLst>
                <a:path extrusionOk="0" h="283723" w="5390501">
                  <a:moveTo>
                    <a:pt x="5187301" y="0"/>
                  </a:moveTo>
                  <a:lnTo>
                    <a:pt x="0" y="0"/>
                  </a:lnTo>
                  <a:lnTo>
                    <a:pt x="0" y="283723"/>
                  </a:lnTo>
                  <a:lnTo>
                    <a:pt x="5187301" y="283723"/>
                  </a:lnTo>
                  <a:lnTo>
                    <a:pt x="5390501" y="141862"/>
                  </a:lnTo>
                  <a:lnTo>
                    <a:pt x="5187301" y="0"/>
                  </a:lnTo>
                  <a:close/>
                </a:path>
              </a:pathLst>
            </a:custGeom>
            <a:solidFill>
              <a:srgbClr val="FFFFFF"/>
            </a:solidFill>
            <a:ln>
              <a:noFill/>
            </a:ln>
          </p:spPr>
        </p:sp>
        <p:sp>
          <p:nvSpPr>
            <p:cNvPr id="110" name="Google Shape;110;p2"/>
            <p:cNvSpPr txBox="1"/>
            <p:nvPr/>
          </p:nvSpPr>
          <p:spPr>
            <a:xfrm>
              <a:off x="0" y="-76200"/>
              <a:ext cx="527620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Introducción a la definición del alcance</a:t>
              </a:r>
              <a:endParaRPr/>
            </a:p>
          </p:txBody>
        </p:sp>
      </p:grpSp>
      <p:sp>
        <p:nvSpPr>
          <p:cNvPr id="111" name="Google Shape;111;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2" name="Google Shape;112;p2"/>
          <p:cNvSpPr/>
          <p:nvPr/>
        </p:nvSpPr>
        <p:spPr>
          <a:xfrm>
            <a:off x="12295257" y="5240436"/>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5">
              <a:alphaModFix/>
            </a:blip>
            <a:stretch>
              <a:fillRect b="0" l="0" r="0" t="0"/>
            </a:stretch>
          </a:blipFill>
          <a:ln>
            <a:noFill/>
          </a:ln>
        </p:spPr>
      </p:sp>
      <p:sp>
        <p:nvSpPr>
          <p:cNvPr id="113" name="Google Shape;113;p2"/>
          <p:cNvSpPr txBox="1"/>
          <p:nvPr/>
        </p:nvSpPr>
        <p:spPr>
          <a:xfrm>
            <a:off x="12894273" y="6169705"/>
            <a:ext cx="3428436" cy="2730118"/>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Colocaras todos los recordatorios como lo sean, cortos, entregas, horarios de calificación. Colocaras, link de video y link o codigo de quizziz si lo amerita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19" name="Google Shape;119;p3"/>
          <p:cNvSpPr txBox="1"/>
          <p:nvPr/>
        </p:nvSpPr>
        <p:spPr>
          <a:xfrm>
            <a:off x="1367785" y="2926462"/>
            <a:ext cx="16920215" cy="31718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500" u="none" cap="none" strike="noStrike">
                <a:solidFill>
                  <a:srgbClr val="131416"/>
                </a:solidFill>
                <a:latin typeface="Open Sans"/>
                <a:ea typeface="Open Sans"/>
                <a:cs typeface="Open Sans"/>
                <a:sym typeface="Open Sans"/>
              </a:rPr>
              <a:t>Define requisitos y objetivos de proyectos tecnológicos mediante métodos de recolección y análisis de información para establecer el alcance y éxito del proyecto en entornos organizacionales.</a:t>
            </a:r>
            <a:endParaRPr/>
          </a:p>
        </p:txBody>
      </p:sp>
      <p:sp>
        <p:nvSpPr>
          <p:cNvPr id="120" name="Google Shape;120;p3"/>
          <p:cNvSpPr/>
          <p:nvPr/>
        </p:nvSpPr>
        <p:spPr>
          <a:xfrm>
            <a:off x="12632832" y="5711002"/>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21" name="Google Shape;121;p3"/>
          <p:cNvSpPr txBox="1"/>
          <p:nvPr/>
        </p:nvSpPr>
        <p:spPr>
          <a:xfrm>
            <a:off x="13231848" y="6905163"/>
            <a:ext cx="3428436" cy="3121463"/>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En el programa del curso encontraras la competencia o competencias que debe cumplir el curso que estas impartiendo.</a:t>
            </a:r>
            <a:endParaRPr/>
          </a:p>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Colocala(s) en este apartado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txBox="1"/>
          <p:nvPr/>
        </p:nvSpPr>
        <p:spPr>
          <a:xfrm>
            <a:off x="1515812" y="3747209"/>
            <a:ext cx="12625499" cy="783443"/>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None/>
            </a:pPr>
            <a:r>
              <a:rPr b="0" i="0" lang="en-US" sz="3925" u="none" cap="none" strike="noStrike">
                <a:solidFill>
                  <a:srgbClr val="131416"/>
                </a:solidFill>
                <a:latin typeface="Arial"/>
                <a:ea typeface="Arial"/>
                <a:cs typeface="Arial"/>
                <a:sym typeface="Arial"/>
              </a:rPr>
              <a:t>Introducción a la Definición del Alcance</a:t>
            </a:r>
            <a:endParaRPr/>
          </a:p>
        </p:txBody>
      </p:sp>
      <p:sp>
        <p:nvSpPr>
          <p:cNvPr id="127" name="Google Shape;127;p4"/>
          <p:cNvSpPr txBox="1"/>
          <p:nvPr/>
        </p:nvSpPr>
        <p:spPr>
          <a:xfrm>
            <a:off x="1374889" y="654364"/>
            <a:ext cx="16698774" cy="2479976"/>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GESTIÓN DE PROYECTOS</a:t>
            </a:r>
            <a:endParaRPr/>
          </a:p>
          <a:p>
            <a:pPr indent="0" lvl="0" marL="0" marR="0" rtl="0" algn="just">
              <a:lnSpc>
                <a:spcPct val="112986"/>
              </a:lnSpc>
              <a:spcBef>
                <a:spcPts val="0"/>
              </a:spcBef>
              <a:spcAft>
                <a:spcPts val="0"/>
              </a:spcAft>
              <a:buNone/>
            </a:pPr>
            <a:r>
              <a:rPr b="0" i="0" lang="en-US" sz="5398" u="none" cap="none" strike="noStrike">
                <a:solidFill>
                  <a:srgbClr val="131416"/>
                </a:solidFill>
                <a:latin typeface="Arial"/>
                <a:ea typeface="Arial"/>
                <a:cs typeface="Arial"/>
                <a:sym typeface="Arial"/>
              </a:rPr>
              <a:t>PARA INGENIEROS EN CIENCIAS Y SISTEMAS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nvSpPr>
        <p:spPr>
          <a:xfrm>
            <a:off x="1028700" y="914400"/>
            <a:ext cx="7427707" cy="4497765"/>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En un proyecto de ingeniería, el alcance se refiere a los límites y expectativas del trabajo a realizar. Define qué es lo que se entregará y, lo que es igualmente importante, lo que no se entregará. El alcance es la guía que asegura que todo el equipo del proyecto tenga una comprensión clara de lo que se espera cumplir al finalizar.</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33" name="Google Shape;133;p5"/>
          <p:cNvSpPr txBox="1"/>
          <p:nvPr/>
        </p:nvSpPr>
        <p:spPr>
          <a:xfrm>
            <a:off x="6572818" y="5297865"/>
            <a:ext cx="10705532" cy="3993436"/>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¿Por qué es importante?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Evita la “creep” del alcance, es decir, el aumento no planificado de características que puede desbalancear tiempo y costos.</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Asegura la alineación entre los interesados (stakeholders) y los miembros del equipo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Componentes Clave del Alcance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39" name="Google Shape;139;p6"/>
          <p:cNvSpPr txBox="1"/>
          <p:nvPr/>
        </p:nvSpPr>
        <p:spPr>
          <a:xfrm>
            <a:off x="2300344" y="2020040"/>
            <a:ext cx="13666877" cy="601075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Objetivos del proyecto: Los resultados generales que el proyecto debe alcanzar.</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Entregables: Productos, servicios o resultados específicos que se producirán durante 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Criterios de éxito: Los parámetros con los que se medirá si los entregables cumplen con los requisitos.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Restricciones y supuestos: Factores externos que limitan o afectan el proyecto (presupuesto, regulaciones, etc.).</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Métodos para Identificar Requerimientos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5" name="Google Shape;145;p7"/>
          <p:cNvSpPr txBox="1"/>
          <p:nvPr/>
        </p:nvSpPr>
        <p:spPr>
          <a:xfrm>
            <a:off x="2300344" y="2020040"/>
            <a:ext cx="13666877" cy="550642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Entrevistas con interesados: Recoger información directa de los stakeholders clave.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Grupos focales: Discusiones guiadas con un grupo representativo de usuarios o interesados.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Análisis de documentos: Revisión de requisitos previos, reportes o contratos.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Observación directa: Comprender cómo se realiza el trabajo actual en el entorno real.</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8"/>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Herramientas de Recolección de Información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1" name="Google Shape;151;p8"/>
          <p:cNvSpPr txBox="1"/>
          <p:nvPr/>
        </p:nvSpPr>
        <p:spPr>
          <a:xfrm>
            <a:off x="2300344" y="2020040"/>
            <a:ext cx="13666877" cy="3993436"/>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Brainstorming: Lluvia de ideas con el equipo o interesados.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Encuestas y cuestionarios: Recolectar información cuantitativa y cualitativa.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Análisis de prototipos: Uso de modelos preliminares para validar requerimientos.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Mapas mentales: Herramienta gráfica para organizar y priorizar ideas.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9"/>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Diferencia entre Objetivos y Metas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7" name="Google Shape;157;p9"/>
          <p:cNvSpPr txBox="1"/>
          <p:nvPr/>
        </p:nvSpPr>
        <p:spPr>
          <a:xfrm>
            <a:off x="2300344" y="2020040"/>
            <a:ext cx="13666877" cy="500209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La principal diferencia es que los objetivos son más generales y a largo plazo, mientras que las metas son pasos concretos y medibles hacia esos objetivos.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Objetivos: Son declaraciones amplias y cualitativas que definen el propósito general del proyecto. Ejemplo: “Desarrollar una aplicación móvil para gestionar inventarios.”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Metas: Son más específicas, cuantificables y de corto plazo. Ejemplo: “Implementar la primera versión de la aplicación en 3 meses.”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nvSpPr>
        <p:spPr>
          <a:xfrm>
            <a:off x="825249" y="1592571"/>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Impacto en el alcance: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3" name="Google Shape;163;p10"/>
          <p:cNvSpPr txBox="1"/>
          <p:nvPr/>
        </p:nvSpPr>
        <p:spPr>
          <a:xfrm>
            <a:off x="2170287" y="3557227"/>
            <a:ext cx="13666877" cy="3489107"/>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Expectativas: Los interesados clave pueden tener diferentes expectativas sobre los entregables, lo que afecta cómo se define el alcance.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Involucramiento: Interesados con mayor influencia pueden requerir ajustes constantes en el alcance para reflejar cambios en sus prioridades o expectativas.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1"/>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Análisis de Interesados y su Impacto en el Alcance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9" name="Google Shape;169;p11"/>
          <p:cNvSpPr txBox="1"/>
          <p:nvPr/>
        </p:nvSpPr>
        <p:spPr>
          <a:xfrm>
            <a:off x="2300344" y="2020040"/>
            <a:ext cx="13666877"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El análisis de interesados se refiere a identificar quiénes tienen interés o serán afectados por el proyecto, y cómo pueden influir en el éxito del mismo.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0" name="Google Shape;170;p11"/>
          <p:cNvSpPr txBox="1"/>
          <p:nvPr/>
        </p:nvSpPr>
        <p:spPr>
          <a:xfrm>
            <a:off x="1028700" y="4389836"/>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Clasificación de los interesados: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1" name="Google Shape;171;p11"/>
          <p:cNvSpPr txBox="1"/>
          <p:nvPr/>
        </p:nvSpPr>
        <p:spPr>
          <a:xfrm>
            <a:off x="2300344" y="5495476"/>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Internos: Miembros del equipo, gerencia, etc.</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Externos: Clientes, proveedores, reguladores.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2"/>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NOMBRE DEL VALOR Y/O ACTITUD</a:t>
            </a:r>
            <a:endParaRPr/>
          </a:p>
        </p:txBody>
      </p:sp>
      <p:sp>
        <p:nvSpPr>
          <p:cNvPr id="177" name="Google Shape;177;p12"/>
          <p:cNvSpPr txBox="1"/>
          <p:nvPr/>
        </p:nvSpPr>
        <p:spPr>
          <a:xfrm>
            <a:off x="1871436" y="5019675"/>
            <a:ext cx="14775300" cy="37914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6737" u="none" cap="none" strike="noStrike">
                <a:solidFill>
                  <a:srgbClr val="131416"/>
                </a:solidFill>
                <a:latin typeface="Arial"/>
                <a:ea typeface="Arial"/>
                <a:cs typeface="Arial"/>
                <a:sym typeface="Arial"/>
              </a:rPr>
              <a:t>Flexibilidad y trabajo en equipo: </a:t>
            </a:r>
            <a:endParaRPr b="0" i="0" sz="6737" u="none" cap="none" strike="noStrike">
              <a:solidFill>
                <a:srgbClr val="131416"/>
              </a:solidFill>
              <a:latin typeface="Arial"/>
              <a:ea typeface="Arial"/>
              <a:cs typeface="Arial"/>
              <a:sym typeface="Arial"/>
            </a:endParaRPr>
          </a:p>
          <a:p>
            <a:pPr indent="0" lvl="0" marL="0" marR="0" rtl="0" algn="ctr">
              <a:lnSpc>
                <a:spcPct val="140002"/>
              </a:lnSpc>
              <a:spcBef>
                <a:spcPts val="0"/>
              </a:spcBef>
              <a:spcAft>
                <a:spcPts val="0"/>
              </a:spcAft>
              <a:buNone/>
            </a:pPr>
            <a:r>
              <a:rPr lang="en-US" sz="4000">
                <a:solidFill>
                  <a:srgbClr val="131416"/>
                </a:solidFill>
              </a:rPr>
              <a:t>En metodologías ágiles se necesita adaptarse al cambio y colaborar con otros. Este valor se aplica al reconocer que no siempre tendremos control total del entorno del proyecto.</a:t>
            </a:r>
            <a:endParaRPr sz="4000">
              <a:solidFill>
                <a:srgbClr val="13141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3"/>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183" name="Google Shape;183;p13"/>
          <p:cNvSpPr txBox="1"/>
          <p:nvPr/>
        </p:nvSpPr>
        <p:spPr>
          <a:xfrm>
            <a:off x="3113305" y="3145310"/>
            <a:ext cx="13737320" cy="4406224"/>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PMBOK® Guide – Sixth Edition. Project Management Institute (PMI).</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Kerzner, H. (2017). Project Management: A Systems Approach to Planning, Scheduling, and Controlling.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https://www.scrum.org/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https://www.tutorialspoint.com/project_management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4"/>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189" name="Google Shape;189;p14"/>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190" name="Google Shape;190;p14"/>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191" name="Google Shape;191;p14"/>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