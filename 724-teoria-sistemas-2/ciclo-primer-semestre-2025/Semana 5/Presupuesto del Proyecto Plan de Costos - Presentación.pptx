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10287000" cx="18288000"/>
  <p:notesSz cx="6858000" cy="9144000"/>
  <p:embeddedFontLst>
    <p:embeddedFont>
      <p:font typeface="Play"/>
      <p:regular r:id="rId23"/>
      <p:bold r:id="rId24"/>
    </p:embeddedFont>
    <p:embeddedFont>
      <p:font typeface="Open Sans"/>
      <p:bold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hs58ipXAwHNtrvSmF4ylUdAFxs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lay-bold.fntdata"/><Relationship Id="rId23" Type="http://schemas.openxmlformats.org/officeDocument/2006/relationships/font" Target="fonts/Pla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Italic.fntdata"/><Relationship Id="rId25" Type="http://schemas.openxmlformats.org/officeDocument/2006/relationships/font" Target="fonts/OpenSans-bold.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7"/>
          <p:cNvSpPr/>
          <p:nvPr>
            <p:ph idx="2" type="pic"/>
          </p:nvPr>
        </p:nvSpPr>
        <p:spPr>
          <a:xfrm>
            <a:off x="1792288" y="612775"/>
            <a:ext cx="5486400" cy="4114800"/>
          </a:xfrm>
          <a:prstGeom prst="rect">
            <a:avLst/>
          </a:prstGeom>
          <a:noFill/>
          <a:ln>
            <a:noFill/>
          </a:ln>
        </p:spPr>
      </p:sp>
      <p:sp>
        <p:nvSpPr>
          <p:cNvPr id="64" name="Google Shape;64;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12541309" y="6021878"/>
            <a:ext cx="4160184" cy="4114800"/>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1063303" y="7865776"/>
            <a:ext cx="6467475"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Teoría de Sistemas 2</a:t>
            </a:r>
            <a:endParaRPr/>
          </a:p>
          <a:p>
            <a:pPr indent="0" lvl="0" marL="0" marR="0" rtl="0" algn="ctr">
              <a:lnSpc>
                <a:spcPct val="140000"/>
              </a:lnSpc>
              <a:spcBef>
                <a:spcPts val="0"/>
              </a:spcBef>
              <a:spcAft>
                <a:spcPts val="0"/>
              </a:spcAft>
              <a:buNone/>
            </a:pPr>
            <a:r>
              <a:t/>
            </a:r>
            <a:endParaRPr b="1" i="0" sz="5000" u="none" cap="none" strike="noStrike">
              <a:solidFill>
                <a:srgbClr val="131416"/>
              </a:solidFill>
              <a:latin typeface="Open Sans"/>
              <a:ea typeface="Open Sans"/>
              <a:cs typeface="Open Sans"/>
              <a:sym typeface="Open Sans"/>
            </a:endParaRPr>
          </a:p>
        </p:txBody>
      </p:sp>
      <p:sp>
        <p:nvSpPr>
          <p:cNvPr id="87" name="Google Shape;87;p1"/>
          <p:cNvSpPr txBox="1"/>
          <p:nvPr/>
        </p:nvSpPr>
        <p:spPr>
          <a:xfrm>
            <a:off x="0" y="3141906"/>
            <a:ext cx="18288000" cy="3398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Presupuesto del </a:t>
            </a:r>
            <a:endParaRPr b="1" sz="9200">
              <a:solidFill>
                <a:srgbClr val="131416"/>
              </a:solidFill>
              <a:latin typeface="Open Sans"/>
              <a:ea typeface="Open Sans"/>
              <a:cs typeface="Open Sans"/>
              <a:sym typeface="Open Sans"/>
            </a:endParaRPr>
          </a:p>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 Plan de costos</a:t>
            </a:r>
            <a:endParaRPr/>
          </a:p>
        </p:txBody>
      </p:sp>
      <p:sp>
        <p:nvSpPr>
          <p:cNvPr id="88" name="Google Shape;88;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89" name="Google Shape;89;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90" name="Google Shape;90;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
        <p:nvSpPr>
          <p:cNvPr id="91" name="Google Shape;91;p1"/>
          <p:cNvSpPr txBox="1"/>
          <p:nvPr/>
        </p:nvSpPr>
        <p:spPr>
          <a:xfrm>
            <a:off x="12979082" y="7426039"/>
            <a:ext cx="3284637" cy="173672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Puedes usar el </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diseño que desees</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conserva la estructura</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base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p2"/>
          <p:cNvGrpSpPr/>
          <p:nvPr/>
        </p:nvGrpSpPr>
        <p:grpSpPr>
          <a:xfrm>
            <a:off x="1866989" y="4452403"/>
            <a:ext cx="12118639" cy="1203215"/>
            <a:chOff x="0" y="-76200"/>
            <a:chExt cx="5159516" cy="512270"/>
          </a:xfrm>
        </p:grpSpPr>
        <p:sp>
          <p:nvSpPr>
            <p:cNvPr id="97" name="Google Shape;97;p2"/>
            <p:cNvSpPr/>
            <p:nvPr/>
          </p:nvSpPr>
          <p:spPr>
            <a:xfrm>
              <a:off x="0" y="0"/>
              <a:ext cx="5159516" cy="436070"/>
            </a:xfrm>
            <a:custGeom>
              <a:rect b="b" l="l" r="r" t="t"/>
              <a:pathLst>
                <a:path extrusionOk="0" h="436070" w="5159516">
                  <a:moveTo>
                    <a:pt x="4956316" y="0"/>
                  </a:moveTo>
                  <a:lnTo>
                    <a:pt x="0" y="0"/>
                  </a:lnTo>
                  <a:lnTo>
                    <a:pt x="0" y="436070"/>
                  </a:lnTo>
                  <a:lnTo>
                    <a:pt x="4956316" y="436070"/>
                  </a:lnTo>
                  <a:lnTo>
                    <a:pt x="5159516" y="218035"/>
                  </a:lnTo>
                  <a:lnTo>
                    <a:pt x="4956316" y="0"/>
                  </a:lnTo>
                  <a:close/>
                </a:path>
              </a:pathLst>
            </a:custGeom>
            <a:solidFill>
              <a:srgbClr val="FFFFFF"/>
            </a:solidFill>
            <a:ln>
              <a:noFill/>
            </a:ln>
          </p:spPr>
        </p:sp>
        <p:sp>
          <p:nvSpPr>
            <p:cNvPr id="98" name="Google Shape;98;p2"/>
            <p:cNvSpPr txBox="1"/>
            <p:nvPr/>
          </p:nvSpPr>
          <p:spPr>
            <a:xfrm>
              <a:off x="0" y="-76200"/>
              <a:ext cx="5045216" cy="51227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Componentes del presupuesto de un proyecto</a:t>
              </a:r>
              <a:endParaRPr/>
            </a:p>
          </p:txBody>
        </p:sp>
      </p:grpSp>
      <p:sp>
        <p:nvSpPr>
          <p:cNvPr id="99" name="Google Shape;99;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00" name="Google Shape;100;p2"/>
          <p:cNvGrpSpPr/>
          <p:nvPr/>
        </p:nvGrpSpPr>
        <p:grpSpPr>
          <a:xfrm>
            <a:off x="1866989" y="3013983"/>
            <a:ext cx="4115190" cy="1556484"/>
            <a:chOff x="0" y="-76200"/>
            <a:chExt cx="1083836" cy="409938"/>
          </a:xfrm>
        </p:grpSpPr>
        <p:sp>
          <p:nvSpPr>
            <p:cNvPr id="101" name="Google Shape;101;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2" name="Google Shape;102;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3" name="Google Shape;103;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4" name="Google Shape;104;p2"/>
          <p:cNvGrpSpPr/>
          <p:nvPr/>
        </p:nvGrpSpPr>
        <p:grpSpPr>
          <a:xfrm>
            <a:off x="651754" y="-320617"/>
            <a:ext cx="6140237" cy="3052280"/>
            <a:chOff x="0" y="-95250"/>
            <a:chExt cx="8186982" cy="4069708"/>
          </a:xfrm>
        </p:grpSpPr>
        <p:sp>
          <p:nvSpPr>
            <p:cNvPr id="105" name="Google Shape;105;p2"/>
            <p:cNvSpPr txBox="1"/>
            <p:nvPr/>
          </p:nvSpPr>
          <p:spPr>
            <a:xfrm>
              <a:off x="0" y="986783"/>
              <a:ext cx="8186982"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6" name="Google Shape;106;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7" name="Google Shape;107;p2"/>
          <p:cNvSpPr txBox="1"/>
          <p:nvPr/>
        </p:nvSpPr>
        <p:spPr>
          <a:xfrm>
            <a:off x="11131715" y="78516"/>
            <a:ext cx="8416862" cy="579709"/>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08" name="Google Shape;108;p2"/>
          <p:cNvGrpSpPr/>
          <p:nvPr/>
        </p:nvGrpSpPr>
        <p:grpSpPr>
          <a:xfrm>
            <a:off x="1866989" y="5610989"/>
            <a:ext cx="12661175" cy="845385"/>
            <a:chOff x="0" y="-76200"/>
            <a:chExt cx="5390501" cy="359923"/>
          </a:xfrm>
        </p:grpSpPr>
        <p:sp>
          <p:nvSpPr>
            <p:cNvPr id="109" name="Google Shape;109;p2"/>
            <p:cNvSpPr/>
            <p:nvPr/>
          </p:nvSpPr>
          <p:spPr>
            <a:xfrm>
              <a:off x="0" y="0"/>
              <a:ext cx="5390501" cy="283723"/>
            </a:xfrm>
            <a:custGeom>
              <a:rect b="b" l="l" r="r" t="t"/>
              <a:pathLst>
                <a:path extrusionOk="0" h="283723" w="5390501">
                  <a:moveTo>
                    <a:pt x="5187301" y="0"/>
                  </a:moveTo>
                  <a:lnTo>
                    <a:pt x="0" y="0"/>
                  </a:lnTo>
                  <a:lnTo>
                    <a:pt x="0" y="283723"/>
                  </a:lnTo>
                  <a:lnTo>
                    <a:pt x="5187301" y="283723"/>
                  </a:lnTo>
                  <a:lnTo>
                    <a:pt x="5390501" y="141862"/>
                  </a:lnTo>
                  <a:lnTo>
                    <a:pt x="5187301" y="0"/>
                  </a:lnTo>
                  <a:close/>
                </a:path>
              </a:pathLst>
            </a:custGeom>
            <a:solidFill>
              <a:srgbClr val="FFFFFF"/>
            </a:solidFill>
            <a:ln>
              <a:noFill/>
            </a:ln>
          </p:spPr>
        </p:sp>
        <p:sp>
          <p:nvSpPr>
            <p:cNvPr id="110" name="Google Shape;110;p2"/>
            <p:cNvSpPr txBox="1"/>
            <p:nvPr/>
          </p:nvSpPr>
          <p:spPr>
            <a:xfrm>
              <a:off x="0" y="-76200"/>
              <a:ext cx="527620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Tipos de costos (directos, indirectos, fijos, variables)</a:t>
              </a:r>
              <a:endParaRPr/>
            </a:p>
          </p:txBody>
        </p:sp>
      </p:grpSp>
      <p:sp>
        <p:nvSpPr>
          <p:cNvPr id="111" name="Google Shape;111;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2" name="Google Shape;112;p2"/>
          <p:cNvSpPr/>
          <p:nvPr/>
        </p:nvSpPr>
        <p:spPr>
          <a:xfrm>
            <a:off x="13026912" y="1241242"/>
            <a:ext cx="4626468" cy="4575998"/>
          </a:xfrm>
          <a:custGeom>
            <a:rect b="b" l="l" r="r" t="t"/>
            <a:pathLst>
              <a:path extrusionOk="0" h="4575998" w="4626468">
                <a:moveTo>
                  <a:pt x="0" y="0"/>
                </a:moveTo>
                <a:lnTo>
                  <a:pt x="4626468" y="0"/>
                </a:lnTo>
                <a:lnTo>
                  <a:pt x="4626468" y="4575997"/>
                </a:lnTo>
                <a:lnTo>
                  <a:pt x="0" y="4575997"/>
                </a:lnTo>
                <a:lnTo>
                  <a:pt x="0" y="0"/>
                </a:lnTo>
                <a:close/>
              </a:path>
            </a:pathLst>
          </a:custGeom>
          <a:blipFill rotWithShape="1">
            <a:blip r:embed="rId5">
              <a:alphaModFix/>
            </a:blip>
            <a:stretch>
              <a:fillRect b="0" l="0" r="0" t="0"/>
            </a:stretch>
          </a:blipFill>
          <a:ln>
            <a:noFill/>
          </a:ln>
        </p:spPr>
      </p:sp>
      <p:sp>
        <p:nvSpPr>
          <p:cNvPr id="113" name="Google Shape;113;p2"/>
          <p:cNvSpPr txBox="1"/>
          <p:nvPr/>
        </p:nvSpPr>
        <p:spPr>
          <a:xfrm>
            <a:off x="13625929" y="2413382"/>
            <a:ext cx="3428436" cy="2730118"/>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Colocaras todos los recordatorios como lo sean, cortos, entregas, horarios de calificación. Colocaras, link de video y link o codigo de quizziz si lo amerita </a:t>
            </a:r>
            <a:endParaRPr/>
          </a:p>
        </p:txBody>
      </p:sp>
      <p:grpSp>
        <p:nvGrpSpPr>
          <p:cNvPr id="114" name="Google Shape;114;p2"/>
          <p:cNvGrpSpPr/>
          <p:nvPr/>
        </p:nvGrpSpPr>
        <p:grpSpPr>
          <a:xfrm>
            <a:off x="1866989" y="6472659"/>
            <a:ext cx="12118639" cy="1203215"/>
            <a:chOff x="0" y="-76200"/>
            <a:chExt cx="5159516" cy="512270"/>
          </a:xfrm>
        </p:grpSpPr>
        <p:sp>
          <p:nvSpPr>
            <p:cNvPr id="115" name="Google Shape;115;p2"/>
            <p:cNvSpPr/>
            <p:nvPr/>
          </p:nvSpPr>
          <p:spPr>
            <a:xfrm>
              <a:off x="0" y="0"/>
              <a:ext cx="5159516" cy="436070"/>
            </a:xfrm>
            <a:custGeom>
              <a:rect b="b" l="l" r="r" t="t"/>
              <a:pathLst>
                <a:path extrusionOk="0" h="436070" w="5159516">
                  <a:moveTo>
                    <a:pt x="4956316" y="0"/>
                  </a:moveTo>
                  <a:lnTo>
                    <a:pt x="0" y="0"/>
                  </a:lnTo>
                  <a:lnTo>
                    <a:pt x="0" y="436070"/>
                  </a:lnTo>
                  <a:lnTo>
                    <a:pt x="4956316" y="436070"/>
                  </a:lnTo>
                  <a:lnTo>
                    <a:pt x="5159516" y="218035"/>
                  </a:lnTo>
                  <a:lnTo>
                    <a:pt x="4956316" y="0"/>
                  </a:lnTo>
                  <a:close/>
                </a:path>
              </a:pathLst>
            </a:custGeom>
            <a:solidFill>
              <a:srgbClr val="FFFFFF"/>
            </a:solidFill>
            <a:ln>
              <a:noFill/>
            </a:ln>
          </p:spPr>
        </p:sp>
        <p:sp>
          <p:nvSpPr>
            <p:cNvPr id="116" name="Google Shape;116;p2"/>
            <p:cNvSpPr txBox="1"/>
            <p:nvPr/>
          </p:nvSpPr>
          <p:spPr>
            <a:xfrm>
              <a:off x="0" y="-76200"/>
              <a:ext cx="5045216" cy="51227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Estimación de recursos necesarios</a:t>
              </a:r>
              <a:endParaRPr/>
            </a:p>
          </p:txBody>
        </p:sp>
      </p:grpSp>
      <p:sp>
        <p:nvSpPr>
          <p:cNvPr id="117" name="Google Shape;117;p2"/>
          <p:cNvSpPr/>
          <p:nvPr/>
        </p:nvSpPr>
        <p:spPr>
          <a:xfrm>
            <a:off x="878654" y="6793036"/>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18" name="Google Shape;118;p2"/>
          <p:cNvGrpSpPr/>
          <p:nvPr/>
        </p:nvGrpSpPr>
        <p:grpSpPr>
          <a:xfrm>
            <a:off x="1866989" y="7496897"/>
            <a:ext cx="12661175" cy="1363379"/>
            <a:chOff x="0" y="-76200"/>
            <a:chExt cx="5390501" cy="580459"/>
          </a:xfrm>
        </p:grpSpPr>
        <p:sp>
          <p:nvSpPr>
            <p:cNvPr id="119" name="Google Shape;119;p2"/>
            <p:cNvSpPr/>
            <p:nvPr/>
          </p:nvSpPr>
          <p:spPr>
            <a:xfrm>
              <a:off x="0" y="0"/>
              <a:ext cx="5390501" cy="504259"/>
            </a:xfrm>
            <a:custGeom>
              <a:rect b="b" l="l" r="r" t="t"/>
              <a:pathLst>
                <a:path extrusionOk="0" h="504259" w="5390501">
                  <a:moveTo>
                    <a:pt x="5187301" y="0"/>
                  </a:moveTo>
                  <a:lnTo>
                    <a:pt x="0" y="0"/>
                  </a:lnTo>
                  <a:lnTo>
                    <a:pt x="0" y="504259"/>
                  </a:lnTo>
                  <a:lnTo>
                    <a:pt x="5187301" y="504259"/>
                  </a:lnTo>
                  <a:lnTo>
                    <a:pt x="5390501" y="252130"/>
                  </a:lnTo>
                  <a:lnTo>
                    <a:pt x="5187301" y="0"/>
                  </a:lnTo>
                  <a:close/>
                </a:path>
              </a:pathLst>
            </a:custGeom>
            <a:solidFill>
              <a:srgbClr val="FFFFFF"/>
            </a:solidFill>
            <a:ln>
              <a:noFill/>
            </a:ln>
          </p:spPr>
        </p:sp>
        <p:sp>
          <p:nvSpPr>
            <p:cNvPr id="120" name="Google Shape;120;p2"/>
            <p:cNvSpPr txBox="1"/>
            <p:nvPr/>
          </p:nvSpPr>
          <p:spPr>
            <a:xfrm>
              <a:off x="0" y="-76200"/>
              <a:ext cx="5276201"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Técnicas para calcular costos (estimación análoga, paramétrica)</a:t>
              </a:r>
              <a:endParaRPr/>
            </a:p>
          </p:txBody>
        </p:sp>
      </p:grpSp>
      <p:sp>
        <p:nvSpPr>
          <p:cNvPr id="121" name="Google Shape;121;p2"/>
          <p:cNvSpPr/>
          <p:nvPr/>
        </p:nvSpPr>
        <p:spPr>
          <a:xfrm>
            <a:off x="878654" y="767587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27" name="Google Shape;127;p3"/>
          <p:cNvSpPr txBox="1"/>
          <p:nvPr/>
        </p:nvSpPr>
        <p:spPr>
          <a:xfrm>
            <a:off x="1367785" y="2926462"/>
            <a:ext cx="16920215" cy="31718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500" u="none" cap="none" strike="noStrike">
                <a:solidFill>
                  <a:srgbClr val="131416"/>
                </a:solidFill>
                <a:latin typeface="Open Sans"/>
                <a:ea typeface="Open Sans"/>
                <a:cs typeface="Open Sans"/>
                <a:sym typeface="Open Sans"/>
              </a:rPr>
              <a:t>Integra principios de calidad, eficiencia y control de tiempos mediante el uso de cronogramas, presupuestos y simuladores para mejorar el desempeño y cumplimiento de los objetivos de proyectos de TI </a:t>
            </a:r>
            <a:endParaRPr/>
          </a:p>
        </p:txBody>
      </p:sp>
      <p:sp>
        <p:nvSpPr>
          <p:cNvPr id="128" name="Google Shape;128;p3"/>
          <p:cNvSpPr/>
          <p:nvPr/>
        </p:nvSpPr>
        <p:spPr>
          <a:xfrm>
            <a:off x="12632832" y="5711002"/>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29" name="Google Shape;129;p3"/>
          <p:cNvSpPr txBox="1"/>
          <p:nvPr/>
        </p:nvSpPr>
        <p:spPr>
          <a:xfrm>
            <a:off x="13231848" y="6905163"/>
            <a:ext cx="3428436" cy="3121463"/>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En el programa del curso encontraras la competencia o competencias que debe cumplir el curso que estas impartiendo.</a:t>
            </a:r>
            <a:endParaRPr/>
          </a:p>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Colocala(s) en este apartado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nvSpPr>
        <p:spPr>
          <a:xfrm>
            <a:off x="1133670" y="2624761"/>
            <a:ext cx="15722478" cy="5566198"/>
          </a:xfrm>
          <a:prstGeom prst="rect">
            <a:avLst/>
          </a:prstGeom>
          <a:noFill/>
          <a:ln>
            <a:noFill/>
          </a:ln>
        </p:spPr>
        <p:txBody>
          <a:bodyPr anchorCtr="0" anchor="t" bIns="0" lIns="0" spcFirstLastPara="1" rIns="0" wrap="square" tIns="0">
            <a:spAutoFit/>
          </a:bodyPr>
          <a:lstStyle/>
          <a:p>
            <a:pPr indent="0" lvl="0" marL="0" marR="0" rtl="0" algn="l">
              <a:lnSpc>
                <a:spcPct val="173040"/>
              </a:lnSpc>
              <a:spcBef>
                <a:spcPts val="0"/>
              </a:spcBef>
              <a:spcAft>
                <a:spcPts val="0"/>
              </a:spcAft>
              <a:buNone/>
            </a:pPr>
            <a:r>
              <a:rPr b="0" i="0" lang="en-US" sz="2526" u="none" cap="none" strike="noStrike">
                <a:solidFill>
                  <a:srgbClr val="131416"/>
                </a:solidFill>
                <a:latin typeface="Arial"/>
                <a:ea typeface="Arial"/>
                <a:cs typeface="Arial"/>
                <a:sym typeface="Arial"/>
              </a:rPr>
              <a:t>¿Qué es el presupuesto del proyecto?</a:t>
            </a:r>
            <a:endParaRPr/>
          </a:p>
          <a:p>
            <a:pPr indent="0" lvl="0" marL="0" marR="0" rtl="0" algn="l">
              <a:lnSpc>
                <a:spcPct val="173040"/>
              </a:lnSpc>
              <a:spcBef>
                <a:spcPts val="0"/>
              </a:spcBef>
              <a:spcAft>
                <a:spcPts val="0"/>
              </a:spcAft>
              <a:buNone/>
            </a:pPr>
            <a:r>
              <a:t/>
            </a:r>
            <a:endParaRPr b="0" i="0" sz="2526" u="none" cap="none" strike="noStrike">
              <a:solidFill>
                <a:srgbClr val="131416"/>
              </a:solidFill>
              <a:latin typeface="Arial"/>
              <a:ea typeface="Arial"/>
              <a:cs typeface="Arial"/>
              <a:sym typeface="Arial"/>
            </a:endParaRPr>
          </a:p>
          <a:p>
            <a:pPr indent="0" lvl="0" marL="0" marR="0" rtl="0" algn="l">
              <a:lnSpc>
                <a:spcPct val="173040"/>
              </a:lnSpc>
              <a:spcBef>
                <a:spcPts val="0"/>
              </a:spcBef>
              <a:spcAft>
                <a:spcPts val="0"/>
              </a:spcAft>
              <a:buNone/>
            </a:pPr>
            <a:r>
              <a:rPr b="0" i="0" lang="en-US" sz="2526" u="none" cap="none" strike="noStrike">
                <a:solidFill>
                  <a:srgbClr val="131416"/>
                </a:solidFill>
                <a:latin typeface="Arial"/>
                <a:ea typeface="Arial"/>
                <a:cs typeface="Arial"/>
                <a:sym typeface="Arial"/>
              </a:rPr>
              <a:t>El presupuesto del proyecto es una estimación detallada de los costos que implica ejecutar un proyecto. Incluye todos los recursos necesarios (humanos, materiales, tecnología, etc.) y ayuda a asegurar que el proyecto se pueda completar dentro de los límites financieros establecidos.</a:t>
            </a:r>
            <a:endParaRPr/>
          </a:p>
          <a:p>
            <a:pPr indent="0" lvl="0" marL="0" marR="0" rtl="0" algn="l">
              <a:lnSpc>
                <a:spcPct val="173040"/>
              </a:lnSpc>
              <a:spcBef>
                <a:spcPts val="0"/>
              </a:spcBef>
              <a:spcAft>
                <a:spcPts val="0"/>
              </a:spcAft>
              <a:buNone/>
            </a:pPr>
            <a:r>
              <a:t/>
            </a:r>
            <a:endParaRPr b="0" i="0" sz="2526" u="none" cap="none" strike="noStrike">
              <a:solidFill>
                <a:srgbClr val="131416"/>
              </a:solidFill>
              <a:latin typeface="Arial"/>
              <a:ea typeface="Arial"/>
              <a:cs typeface="Arial"/>
              <a:sym typeface="Arial"/>
            </a:endParaRPr>
          </a:p>
          <a:p>
            <a:pPr indent="0" lvl="0" marL="0" marR="0" rtl="0" algn="l">
              <a:lnSpc>
                <a:spcPct val="173040"/>
              </a:lnSpc>
              <a:spcBef>
                <a:spcPts val="0"/>
              </a:spcBef>
              <a:spcAft>
                <a:spcPts val="0"/>
              </a:spcAft>
              <a:buNone/>
            </a:pPr>
            <a:r>
              <a:rPr b="0" i="0" lang="en-US" sz="2526" u="none" cap="none" strike="noStrike">
                <a:solidFill>
                  <a:srgbClr val="131416"/>
                </a:solidFill>
                <a:latin typeface="Arial"/>
                <a:ea typeface="Arial"/>
                <a:cs typeface="Arial"/>
                <a:sym typeface="Arial"/>
              </a:rPr>
              <a:t>El presupuesto es una herramienta fundamental para planificar, ejecutar y controlar los costos del proyecto de manera eficiente. Si no controlan los costos adecuadamente, el proyecto puede fracasar aunque se logre cumplir con los objetivos técnicos.</a:t>
            </a:r>
            <a:endParaRPr/>
          </a:p>
          <a:p>
            <a:pPr indent="0" lvl="0" marL="0" marR="0" rtl="0" algn="l">
              <a:lnSpc>
                <a:spcPct val="207284"/>
              </a:lnSpc>
              <a:spcBef>
                <a:spcPts val="0"/>
              </a:spcBef>
              <a:spcAft>
                <a:spcPts val="0"/>
              </a:spcAft>
              <a:buNone/>
            </a:pPr>
            <a:r>
              <a:t/>
            </a:r>
            <a:endParaRPr b="0" i="0" sz="2526" u="none" cap="none" strike="noStrike">
              <a:solidFill>
                <a:srgbClr val="131416"/>
              </a:solidFill>
              <a:latin typeface="Arial"/>
              <a:ea typeface="Arial"/>
              <a:cs typeface="Arial"/>
              <a:sym typeface="Arial"/>
            </a:endParaRPr>
          </a:p>
        </p:txBody>
      </p:sp>
      <p:sp>
        <p:nvSpPr>
          <p:cNvPr id="135" name="Google Shape;135;p4"/>
          <p:cNvSpPr txBox="1"/>
          <p:nvPr/>
        </p:nvSpPr>
        <p:spPr>
          <a:xfrm>
            <a:off x="1374889" y="654364"/>
            <a:ext cx="16698774" cy="2381614"/>
          </a:xfrm>
          <a:prstGeom prst="rect">
            <a:avLst/>
          </a:prstGeom>
          <a:noFill/>
          <a:ln>
            <a:noFill/>
          </a:ln>
        </p:spPr>
        <p:txBody>
          <a:bodyPr anchorCtr="0" anchor="t" bIns="0" lIns="0" spcFirstLastPara="1" rIns="0" wrap="square" tIns="0">
            <a:spAutoFit/>
          </a:bodyPr>
          <a:lstStyle/>
          <a:p>
            <a:pPr indent="0" lvl="0" marL="0" marR="0" rtl="0" algn="just">
              <a:lnSpc>
                <a:spcPct val="112986"/>
              </a:lnSpc>
              <a:spcBef>
                <a:spcPts val="0"/>
              </a:spcBef>
              <a:spcAft>
                <a:spcPts val="0"/>
              </a:spcAft>
              <a:buNone/>
            </a:pPr>
            <a:r>
              <a:rPr b="0" i="0" lang="en-US" sz="5398" u="none" cap="none" strike="noStrike">
                <a:solidFill>
                  <a:srgbClr val="131416"/>
                </a:solidFill>
                <a:latin typeface="Arial"/>
                <a:ea typeface="Arial"/>
                <a:cs typeface="Arial"/>
                <a:sym typeface="Arial"/>
              </a:rPr>
              <a:t>PRESUPUESTO DEL PROYECTO: PLAN DE COSTOS</a:t>
            </a:r>
            <a:endParaRPr/>
          </a:p>
          <a:p>
            <a:pPr indent="0" lvl="0" marL="0" marR="0" rtl="0" algn="just">
              <a:lnSpc>
                <a:spcPct val="112986"/>
              </a:lnSpc>
              <a:spcBef>
                <a:spcPts val="0"/>
              </a:spcBef>
              <a:spcAft>
                <a:spcPts val="0"/>
              </a:spcAft>
              <a:buNone/>
            </a:pPr>
            <a:r>
              <a:t/>
            </a:r>
            <a:endParaRPr b="0" i="0" sz="5398" u="none" cap="none" strike="noStrike">
              <a:solidFill>
                <a:srgbClr val="131416"/>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nvSpPr>
        <p:spPr>
          <a:xfrm>
            <a:off x="1028700" y="914400"/>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Componentes del Presupuesto de un Proyecto</a:t>
            </a:r>
            <a:endParaRPr/>
          </a:p>
        </p:txBody>
      </p:sp>
      <p:sp>
        <p:nvSpPr>
          <p:cNvPr id="141" name="Google Shape;141;p5"/>
          <p:cNvSpPr txBox="1"/>
          <p:nvPr/>
        </p:nvSpPr>
        <p:spPr>
          <a:xfrm>
            <a:off x="2310562" y="2720816"/>
            <a:ext cx="13666877" cy="1004538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Costos de Recursos Humanos: Salarios y compensaciones del personal involucrado.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Costos de Materiales: Todos los insumos físicos que se necesitarán.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Costos de Equipamiento y Tecnología: Compra, alquiler o mantenimiento de equipos necesarios.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Costos de Administración: Gastos generales de la administración del proyecto (electricidad, alquiler de oficinas, etc.).</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Costos de Servicios: Servicios externos como consultoría, capacitación, mantenimiento.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Reserva para Contingencias: Una parte del presupuesto destinada a cubrir imprevistos.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42" name="Google Shape;142;p5"/>
          <p:cNvSpPr txBox="1"/>
          <p:nvPr/>
        </p:nvSpPr>
        <p:spPr>
          <a:xfrm>
            <a:off x="1028700" y="1551091"/>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PARA CREAR UN PRESUPUESTO DE PROYECTO SÓLIDO, DEBEN INCLUIR:</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Tipos de Costos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48" name="Google Shape;148;p6"/>
          <p:cNvSpPr txBox="1"/>
          <p:nvPr/>
        </p:nvSpPr>
        <p:spPr>
          <a:xfrm>
            <a:off x="2307153" y="2020040"/>
            <a:ext cx="13660067" cy="7015968"/>
          </a:xfrm>
          <a:prstGeom prst="rect">
            <a:avLst/>
          </a:prstGeom>
          <a:noFill/>
          <a:ln>
            <a:noFill/>
          </a:ln>
        </p:spPr>
        <p:txBody>
          <a:bodyPr anchorCtr="0" anchor="t" bIns="0" lIns="0" spcFirstLastPara="1" rIns="0" wrap="square" tIns="0">
            <a:spAutoFit/>
          </a:bodyPr>
          <a:lstStyle/>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Es importante distinguir entre los diferentes tipos de costos que encontraremos en un proyecto:</a:t>
            </a:r>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Costos Directos: Son aquellos que se pueden asignar directamente al proyecto. Ejemplo: el salario de los desarrolladores de software.</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Costos Indirectos: Son costos que no están directamente relacionados con el proyecto, pero son necesarios para su funcionamiento. Ejemplo: costos de electricidad en la oficina.</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Costos Fijos: Son costos que no cambian con el volumen de trabajo. Ejemplo: el alquiler de una oficina.</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Costos Variables: Son aquellos que fluctúan en función del uso o producción. Ejemplo: costos de materiales que varían según la cantidad de productos fabricados.</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7"/>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Estimación de Recursos Necesarios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54" name="Google Shape;154;p7"/>
          <p:cNvSpPr txBox="1"/>
          <p:nvPr/>
        </p:nvSpPr>
        <p:spPr>
          <a:xfrm>
            <a:off x="1870835" y="2133068"/>
            <a:ext cx="13666877" cy="601075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Antes de hacer un presupuesto, deben estimar los recursos que serán necesarios, como: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Recursos Humanos: ¿Cuántas personas necesitan y por cuánto tiempo?</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Tecnología y Equipos: ¿Qué hardware, software o maquinaria será necesaria?</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Materiales: ¿Qué materiales físicos serán necesarios y en qué cantidad?</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Por ejemplo, en un proyecto de desarrollo de software, estimarían cuántos desarrolladores, diseñadores y probadores serán necesarios, así como las licencias de software que tendrán que adquirir.</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8"/>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Técnicas para Calcular Costos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0" name="Google Shape;160;p8"/>
          <p:cNvSpPr txBox="1"/>
          <p:nvPr/>
        </p:nvSpPr>
        <p:spPr>
          <a:xfrm>
            <a:off x="2310562" y="1754605"/>
            <a:ext cx="13666877" cy="8532395"/>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Existen varias técnicas para estimar costos, aquí algunas de las más comunes: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Estimación Análoga: Se basa en comparar el proyecto actual con proyectos similares realizados previamente. Es rápida, pero puede ser menos precisa.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Si han desarrollado un sistema similar antes, usan ese costo como referencia.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Estimación Paramétrica: Usa modelos matemáticos para calcular los costos. Se basa en la relación entre variables del proyecto (por ejemplo, costo por línea de código).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Si saben que desarrollar una aplicación similar cuesta $100 por función, multiplican eso por el número de funciones estimadas.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Estimación Ascendente (Bottom-up): Se hace una estimación de costos para cada tarea pequeña y luego se suman. Es la más precisa, pero también la más laboriosa.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9"/>
          <p:cNvSpPr txBox="1"/>
          <p:nvPr/>
        </p:nvSpPr>
        <p:spPr>
          <a:xfrm>
            <a:off x="825249" y="1592571"/>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Herramientas para la Elaboración de Presupuestos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6" name="Google Shape;166;p9"/>
          <p:cNvSpPr txBox="1"/>
          <p:nvPr/>
        </p:nvSpPr>
        <p:spPr>
          <a:xfrm>
            <a:off x="1155578" y="2874922"/>
            <a:ext cx="13666877" cy="8028066"/>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Hoy en día, contamos con herramientas tecnológicas que facilitan la creación de presupuestos. Algunas opciones incluyen: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Microsoft Excel: Herramienta básica, pero poderosa para gestionar y controlar costos.</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Microsoft Project: Permite una planificación más estructurada del presupuesto.</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Software ERP: Algunos sistemas empresariales de planificación de recursos (como SAP) integran funcionalidades para presupuestos de proyectos.</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Trello o Asana: Aunque son herramientas de gestión de proyectos, pueden usarse para hacer un seguimiento simple de costos.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0"/>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Control y Seguimiento del Presupuesto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2" name="Google Shape;172;p10"/>
          <p:cNvSpPr txBox="1"/>
          <p:nvPr/>
        </p:nvSpPr>
        <p:spPr>
          <a:xfrm>
            <a:off x="2170287" y="3089632"/>
            <a:ext cx="13666877" cy="6515080"/>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UNA VEZ QUE SE HA DEFINIDO EL PRESUPUESTO, ES CRUCIAL HACER UN SEGUIMIENTO CONTINUO PARA ASEGURARSE DE QUE LOS COSTOS REALES NO EXCEDAN LO PLANIFICADO. ESTO SE HACE A TRAVÉS DE: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249378" lvl="1" marL="498755" marR="0" rtl="0" algn="l">
              <a:lnSpc>
                <a:spcPct val="172987"/>
              </a:lnSpc>
              <a:spcBef>
                <a:spcPts val="0"/>
              </a:spcBef>
              <a:spcAft>
                <a:spcPts val="0"/>
              </a:spcAft>
              <a:buClr>
                <a:srgbClr val="131416"/>
              </a:buClr>
              <a:buSzPts val="2310"/>
              <a:buFont typeface="Arial"/>
              <a:buAutoNum type="arabicPeriod"/>
            </a:pPr>
            <a:r>
              <a:rPr b="0" i="0" lang="en-US" sz="2310" u="none" cap="none" strike="noStrike">
                <a:solidFill>
                  <a:srgbClr val="131416"/>
                </a:solidFill>
                <a:latin typeface="Arial"/>
                <a:ea typeface="Arial"/>
                <a:cs typeface="Arial"/>
                <a:sym typeface="Arial"/>
              </a:rPr>
              <a:t>Revisión de costos periódica: Monitorear gastos en cada fase del proyecto.</a:t>
            </a:r>
            <a:endParaRPr/>
          </a:p>
          <a:p>
            <a:pPr indent="-249378" lvl="1" marL="498755" marR="0" rtl="0" algn="l">
              <a:lnSpc>
                <a:spcPct val="172987"/>
              </a:lnSpc>
              <a:spcBef>
                <a:spcPts val="0"/>
              </a:spcBef>
              <a:spcAft>
                <a:spcPts val="0"/>
              </a:spcAft>
              <a:buClr>
                <a:srgbClr val="131416"/>
              </a:buClr>
              <a:buSzPts val="2310"/>
              <a:buFont typeface="Arial"/>
              <a:buAutoNum type="arabicPeriod"/>
            </a:pPr>
            <a:r>
              <a:rPr b="0" i="0" lang="en-US" sz="2310" u="none" cap="none" strike="noStrike">
                <a:solidFill>
                  <a:srgbClr val="131416"/>
                </a:solidFill>
                <a:latin typeface="Arial"/>
                <a:ea typeface="Arial"/>
                <a:cs typeface="Arial"/>
                <a:sym typeface="Arial"/>
              </a:rPr>
              <a:t>Informe de desviación de costos: Comparar los costos reales con los presupuestados y detectar cualquier diferencia.</a:t>
            </a:r>
            <a:endParaRPr/>
          </a:p>
          <a:p>
            <a:pPr indent="-249378" lvl="1" marL="498755" marR="0" rtl="0" algn="l">
              <a:lnSpc>
                <a:spcPct val="172987"/>
              </a:lnSpc>
              <a:spcBef>
                <a:spcPts val="0"/>
              </a:spcBef>
              <a:spcAft>
                <a:spcPts val="0"/>
              </a:spcAft>
              <a:buClr>
                <a:srgbClr val="131416"/>
              </a:buClr>
              <a:buSzPts val="2310"/>
              <a:buFont typeface="Arial"/>
              <a:buAutoNum type="arabicPeriod"/>
            </a:pPr>
            <a:r>
              <a:rPr b="0" i="0" lang="en-US" sz="2310" u="none" cap="none" strike="noStrike">
                <a:solidFill>
                  <a:srgbClr val="131416"/>
                </a:solidFill>
                <a:latin typeface="Arial"/>
                <a:ea typeface="Arial"/>
                <a:cs typeface="Arial"/>
                <a:sym typeface="Arial"/>
              </a:rPr>
              <a:t>Ajustes correctivos: Si detectan que los costos están aumentando más de lo previsto, es esencial hacer ajustes, como reducir el alcance o reasignar recursos.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1"/>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Ejercicio Práctico: Elaboración de un Presupuesto Simple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8" name="Google Shape;178;p11"/>
          <p:cNvSpPr txBox="1"/>
          <p:nvPr/>
        </p:nvSpPr>
        <p:spPr>
          <a:xfrm>
            <a:off x="2039102" y="3690027"/>
            <a:ext cx="13666877" cy="2984778"/>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Vamos a realizar un ejercicio práctico. Imaginen que deben desarrollar una aplicación web para una pequeña empresa que gestiona inventarios. Dividiremos el proyecto en fases y asignaremos un presupuesto preliminar:</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2"/>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Fase de Planificación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4" name="Google Shape;184;p12"/>
          <p:cNvSpPr txBox="1"/>
          <p:nvPr/>
        </p:nvSpPr>
        <p:spPr>
          <a:xfrm>
            <a:off x="2031437" y="2084858"/>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Costo: Reuniones, análisis de requerimientos, etc.</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$1,000 por 2 semanas de reuniones.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5" name="Google Shape;185;p12"/>
          <p:cNvSpPr txBox="1"/>
          <p:nvPr/>
        </p:nvSpPr>
        <p:spPr>
          <a:xfrm>
            <a:off x="1028700" y="5241725"/>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Fase de Desarrollo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6" name="Google Shape;186;p12"/>
          <p:cNvSpPr txBox="1"/>
          <p:nvPr/>
        </p:nvSpPr>
        <p:spPr>
          <a:xfrm>
            <a:off x="2031437" y="6495682"/>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Costo: Salarios del equipo de desarrollo (3 desarrolladores).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$10,000 por 2 meses de trabajo.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3"/>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Fase de Pruebas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92" name="Google Shape;192;p13"/>
          <p:cNvSpPr txBox="1"/>
          <p:nvPr/>
        </p:nvSpPr>
        <p:spPr>
          <a:xfrm>
            <a:off x="2031437" y="2084858"/>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Costo: Pruebas de calidad, corrección de errores.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$2,000 por 1 mes de pruebas.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93" name="Google Shape;193;p13"/>
          <p:cNvSpPr txBox="1"/>
          <p:nvPr/>
        </p:nvSpPr>
        <p:spPr>
          <a:xfrm>
            <a:off x="1028700" y="5241725"/>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Fase de Implementación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94" name="Google Shape;194;p13"/>
          <p:cNvSpPr txBox="1"/>
          <p:nvPr/>
        </p:nvSpPr>
        <p:spPr>
          <a:xfrm>
            <a:off x="2031437" y="6495682"/>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Costo: Configuración del servidor, capacitación al cliente.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$1,500 por configuración y capacitación.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4"/>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Conclusión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00" name="Google Shape;200;p14"/>
          <p:cNvSpPr txBox="1"/>
          <p:nvPr/>
        </p:nvSpPr>
        <p:spPr>
          <a:xfrm>
            <a:off x="2039102" y="3690027"/>
            <a:ext cx="13666877" cy="3993436"/>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El presupuesto de un proyecto es una herramienta esencial que ayuda a asegurar que el proyecto se ejecute dentro de los límites financieros definidos. Como futuros ingenieros, no solo deben enfocarse en los aspectos técnicos de un proyecto, sino también en gestionar los costos de manera efectiva. Un presupuesto sólido, combinado con un seguimiento adecuado, es clave para el éxito de cualquier proyecto.</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5"/>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NOMBRE DEL VALOR Y/O ACTITUD</a:t>
            </a:r>
            <a:endParaRPr/>
          </a:p>
        </p:txBody>
      </p:sp>
      <p:sp>
        <p:nvSpPr>
          <p:cNvPr id="206" name="Google Shape;206;p15"/>
          <p:cNvSpPr txBox="1"/>
          <p:nvPr/>
        </p:nvSpPr>
        <p:spPr>
          <a:xfrm>
            <a:off x="1871436" y="5019675"/>
            <a:ext cx="14775300" cy="43764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6737" u="none" cap="none" strike="noStrike">
                <a:solidFill>
                  <a:srgbClr val="131416"/>
                </a:solidFill>
                <a:latin typeface="Arial"/>
                <a:ea typeface="Arial"/>
                <a:cs typeface="Arial"/>
                <a:sym typeface="Arial"/>
              </a:rPr>
              <a:t>Prudencia: </a:t>
            </a:r>
            <a:endParaRPr b="0" i="0" sz="6737" u="none" cap="none" strike="noStrike">
              <a:solidFill>
                <a:srgbClr val="131416"/>
              </a:solidFill>
              <a:latin typeface="Arial"/>
              <a:ea typeface="Arial"/>
              <a:cs typeface="Arial"/>
              <a:sym typeface="Arial"/>
            </a:endParaRPr>
          </a:p>
          <a:p>
            <a:pPr indent="0" lvl="0" marL="0" marR="0" rtl="0" algn="ctr">
              <a:lnSpc>
                <a:spcPct val="140002"/>
              </a:lnSpc>
              <a:spcBef>
                <a:spcPts val="0"/>
              </a:spcBef>
              <a:spcAft>
                <a:spcPts val="0"/>
              </a:spcAft>
              <a:buNone/>
            </a:pPr>
            <a:r>
              <a:rPr lang="en-US" sz="5000">
                <a:solidFill>
                  <a:srgbClr val="131416"/>
                </a:solidFill>
              </a:rPr>
              <a:t>Anticiparse a los problemas requiere reflexión, evaluación realista y toma de decisiones responsables para evitar consecuencias graves.</a:t>
            </a:r>
            <a:endParaRPr sz="5000">
              <a:solidFill>
                <a:srgbClr val="131416"/>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6"/>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212" name="Google Shape;212;p16"/>
          <p:cNvSpPr txBox="1"/>
          <p:nvPr/>
        </p:nvSpPr>
        <p:spPr>
          <a:xfrm>
            <a:off x="3113305" y="3145310"/>
            <a:ext cx="13737320" cy="4406224"/>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PMBOK® Guide – Sixth Edition. Project Management Institute (PMI).</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Kerzner, H. (2017). Project Management: A Systems Approach to Planning, Scheduling, and Controlling.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https://www.scrum.org/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https://www.tutorialspoint.com/project_management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7"/>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218" name="Google Shape;218;p17"/>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219" name="Google Shape;219;p17"/>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20" name="Google Shape;220;p17"/>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