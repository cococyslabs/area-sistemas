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10287000" cx="18288000"/>
  <p:notesSz cx="6858000" cy="9144000"/>
  <p:embeddedFontLst>
    <p:embeddedFont>
      <p:font typeface="Play"/>
      <p:regular r:id="rId20"/>
      <p:bold r:id="rId21"/>
    </p:embeddedFont>
    <p:embeddedFont>
      <p:font typeface="Open Sans"/>
      <p:bold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4" roundtripDataSignature="AMtx7mg4VCe6RCQV48NATtM0zcnIt5f1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regular.fntdata"/><Relationship Id="rId11" Type="http://schemas.openxmlformats.org/officeDocument/2006/relationships/slide" Target="slides/slide6.xml"/><Relationship Id="rId22" Type="http://schemas.openxmlformats.org/officeDocument/2006/relationships/font" Target="fonts/OpenSans-bold.fntdata"/><Relationship Id="rId10" Type="http://schemas.openxmlformats.org/officeDocument/2006/relationships/slide" Target="slides/slide5.xml"/><Relationship Id="rId21" Type="http://schemas.openxmlformats.org/officeDocument/2006/relationships/font" Target="fonts/Play-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12541309" y="6021878"/>
            <a:ext cx="4160184" cy="4114800"/>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7" name="Google Shape;87;p1"/>
          <p:cNvSpPr txBox="1"/>
          <p:nvPr/>
        </p:nvSpPr>
        <p:spPr>
          <a:xfrm>
            <a:off x="269140" y="3141906"/>
            <a:ext cx="17749719"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Sistemas para la entrega de valor y proyectos</a:t>
            </a:r>
            <a:endParaRPr/>
          </a:p>
        </p:txBody>
      </p:sp>
      <p:sp>
        <p:nvSpPr>
          <p:cNvPr id="88" name="Google Shape;88;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9" name="Google Shape;89;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90" name="Google Shape;90;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
        <p:nvSpPr>
          <p:cNvPr id="91" name="Google Shape;91;p1"/>
          <p:cNvSpPr txBox="1"/>
          <p:nvPr/>
        </p:nvSpPr>
        <p:spPr>
          <a:xfrm>
            <a:off x="12979082" y="7426039"/>
            <a:ext cx="3284637" cy="17367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Puedes usar el </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diseño que desees</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conserva la estructura</a:t>
            </a:r>
            <a:endParaRPr/>
          </a:p>
          <a:p>
            <a:pPr indent="0" lvl="0" marL="0" marR="0" rtl="0" algn="ctr">
              <a:lnSpc>
                <a:spcPct val="140016"/>
              </a:lnSpc>
              <a:spcBef>
                <a:spcPts val="0"/>
              </a:spcBef>
              <a:spcAft>
                <a:spcPts val="0"/>
              </a:spcAft>
              <a:buNone/>
            </a:pPr>
            <a:r>
              <a:rPr b="0" i="0" lang="en-US" sz="2499" u="none" cap="none" strike="noStrike">
                <a:solidFill>
                  <a:srgbClr val="000000"/>
                </a:solidFill>
                <a:latin typeface="Open Sans"/>
                <a:ea typeface="Open Sans"/>
                <a:cs typeface="Open Sans"/>
                <a:sym typeface="Open Sans"/>
              </a:rPr>
              <a:t>base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1866989" y="4452403"/>
            <a:ext cx="12118639" cy="1203215"/>
            <a:chOff x="0" y="-76200"/>
            <a:chExt cx="5159516" cy="512270"/>
          </a:xfrm>
        </p:grpSpPr>
        <p:sp>
          <p:nvSpPr>
            <p:cNvPr id="97" name="Google Shape;97;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98" name="Google Shape;98;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Componentes clave del alcance</a:t>
              </a:r>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4" name="Google Shape;104;p2"/>
          <p:cNvGrpSpPr/>
          <p:nvPr/>
        </p:nvGrpSpPr>
        <p:grpSpPr>
          <a:xfrm>
            <a:off x="651749" y="-320617"/>
            <a:ext cx="7456051" cy="3120467"/>
            <a:chOff x="-6" y="-95250"/>
            <a:chExt cx="9941400" cy="4160623"/>
          </a:xfrm>
        </p:grpSpPr>
        <p:sp>
          <p:nvSpPr>
            <p:cNvPr id="105" name="Google Shape;105;p2"/>
            <p:cNvSpPr txBox="1"/>
            <p:nvPr/>
          </p:nvSpPr>
          <p:spPr>
            <a:xfrm>
              <a:off x="-6" y="986773"/>
              <a:ext cx="99414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6" name="Google Shape;106;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8" name="Google Shape;108;p2"/>
          <p:cNvGrpSpPr/>
          <p:nvPr/>
        </p:nvGrpSpPr>
        <p:grpSpPr>
          <a:xfrm>
            <a:off x="1866989" y="5610989"/>
            <a:ext cx="12661175" cy="845385"/>
            <a:chOff x="0" y="-76200"/>
            <a:chExt cx="5390501" cy="359923"/>
          </a:xfrm>
        </p:grpSpPr>
        <p:sp>
          <p:nvSpPr>
            <p:cNvPr id="109" name="Google Shape;109;p2"/>
            <p:cNvSpPr/>
            <p:nvPr/>
          </p:nvSpPr>
          <p:spPr>
            <a:xfrm>
              <a:off x="0" y="0"/>
              <a:ext cx="5390501" cy="283723"/>
            </a:xfrm>
            <a:custGeom>
              <a:rect b="b" l="l" r="r" t="t"/>
              <a:pathLst>
                <a:path extrusionOk="0" h="283723" w="5390501">
                  <a:moveTo>
                    <a:pt x="5187301" y="0"/>
                  </a:moveTo>
                  <a:lnTo>
                    <a:pt x="0" y="0"/>
                  </a:lnTo>
                  <a:lnTo>
                    <a:pt x="0" y="283723"/>
                  </a:lnTo>
                  <a:lnTo>
                    <a:pt x="5187301" y="283723"/>
                  </a:lnTo>
                  <a:lnTo>
                    <a:pt x="5390501" y="141862"/>
                  </a:lnTo>
                  <a:lnTo>
                    <a:pt x="5187301" y="0"/>
                  </a:lnTo>
                  <a:close/>
                </a:path>
              </a:pathLst>
            </a:custGeom>
            <a:solidFill>
              <a:srgbClr val="FFFFFF"/>
            </a:solidFill>
            <a:ln>
              <a:noFill/>
            </a:ln>
          </p:spPr>
        </p:sp>
        <p:sp>
          <p:nvSpPr>
            <p:cNvPr id="110" name="Google Shape;110;p2"/>
            <p:cNvSpPr txBox="1"/>
            <p:nvPr/>
          </p:nvSpPr>
          <p:spPr>
            <a:xfrm>
              <a:off x="0" y="-76200"/>
              <a:ext cx="527620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Análisis de interesados y su impacto en el alcance</a:t>
              </a:r>
              <a:endParaRPr/>
            </a:p>
          </p:txBody>
        </p:sp>
      </p:grpSp>
      <p:sp>
        <p:nvSpPr>
          <p:cNvPr id="111" name="Google Shape;111;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12" name="Google Shape;112;p2"/>
          <p:cNvSpPr/>
          <p:nvPr/>
        </p:nvSpPr>
        <p:spPr>
          <a:xfrm>
            <a:off x="13026912" y="1241242"/>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13" name="Google Shape;113;p2"/>
          <p:cNvSpPr txBox="1"/>
          <p:nvPr/>
        </p:nvSpPr>
        <p:spPr>
          <a:xfrm>
            <a:off x="13625929" y="2413382"/>
            <a:ext cx="3428436" cy="2730118"/>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a:p>
        </p:txBody>
      </p:sp>
      <p:grpSp>
        <p:nvGrpSpPr>
          <p:cNvPr id="114" name="Google Shape;114;p2"/>
          <p:cNvGrpSpPr/>
          <p:nvPr/>
        </p:nvGrpSpPr>
        <p:grpSpPr>
          <a:xfrm>
            <a:off x="1866989" y="6472659"/>
            <a:ext cx="12118639" cy="1203215"/>
            <a:chOff x="0" y="-76200"/>
            <a:chExt cx="5159516" cy="512270"/>
          </a:xfrm>
        </p:grpSpPr>
        <p:sp>
          <p:nvSpPr>
            <p:cNvPr id="115" name="Google Shape;115;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116" name="Google Shape;116;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Validación y control del alcance</a:t>
              </a:r>
              <a:endParaRPr/>
            </a:p>
          </p:txBody>
        </p:sp>
      </p:grpSp>
      <p:sp>
        <p:nvSpPr>
          <p:cNvPr id="117" name="Google Shape;117;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8" name="Google Shape;118;p2"/>
          <p:cNvGrpSpPr/>
          <p:nvPr/>
        </p:nvGrpSpPr>
        <p:grpSpPr>
          <a:xfrm>
            <a:off x="1866989" y="7496897"/>
            <a:ext cx="12661175" cy="845385"/>
            <a:chOff x="0" y="-76200"/>
            <a:chExt cx="5390501" cy="359923"/>
          </a:xfrm>
        </p:grpSpPr>
        <p:sp>
          <p:nvSpPr>
            <p:cNvPr id="119" name="Google Shape;119;p2"/>
            <p:cNvSpPr/>
            <p:nvPr/>
          </p:nvSpPr>
          <p:spPr>
            <a:xfrm>
              <a:off x="0" y="0"/>
              <a:ext cx="5390501" cy="283723"/>
            </a:xfrm>
            <a:custGeom>
              <a:rect b="b" l="l" r="r" t="t"/>
              <a:pathLst>
                <a:path extrusionOk="0" h="283723" w="5390501">
                  <a:moveTo>
                    <a:pt x="5187301" y="0"/>
                  </a:moveTo>
                  <a:lnTo>
                    <a:pt x="0" y="0"/>
                  </a:lnTo>
                  <a:lnTo>
                    <a:pt x="0" y="283723"/>
                  </a:lnTo>
                  <a:lnTo>
                    <a:pt x="5187301" y="283723"/>
                  </a:lnTo>
                  <a:lnTo>
                    <a:pt x="5390501" y="141862"/>
                  </a:lnTo>
                  <a:lnTo>
                    <a:pt x="5187301" y="0"/>
                  </a:lnTo>
                  <a:close/>
                </a:path>
              </a:pathLst>
            </a:custGeom>
            <a:solidFill>
              <a:srgbClr val="FFFFFF"/>
            </a:solidFill>
            <a:ln>
              <a:noFill/>
            </a:ln>
          </p:spPr>
        </p:sp>
        <p:sp>
          <p:nvSpPr>
            <p:cNvPr id="120" name="Google Shape;120;p2"/>
            <p:cNvSpPr txBox="1"/>
            <p:nvPr/>
          </p:nvSpPr>
          <p:spPr>
            <a:xfrm>
              <a:off x="0" y="-76200"/>
              <a:ext cx="527620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Propósito del acta de inicio</a:t>
              </a:r>
              <a:endParaRPr/>
            </a:p>
          </p:txBody>
        </p:sp>
      </p:grpSp>
      <p:sp>
        <p:nvSpPr>
          <p:cNvPr id="121" name="Google Shape;121;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7" name="Google Shape;127;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Define requisitos y objetivos de proyectos tecnológicos mediante métodos de recolección y análisis de información para establecer el alcance y éxito del proyecto en entornos organizacionales.</a:t>
            </a:r>
            <a:endParaRPr/>
          </a:p>
        </p:txBody>
      </p:sp>
      <p:sp>
        <p:nvSpPr>
          <p:cNvPr id="128" name="Google Shape;128;p3"/>
          <p:cNvSpPr/>
          <p:nvPr/>
        </p:nvSpPr>
        <p:spPr>
          <a:xfrm>
            <a:off x="12632832" y="5711002"/>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29" name="Google Shape;129;p3"/>
          <p:cNvSpPr txBox="1"/>
          <p:nvPr/>
        </p:nvSpPr>
        <p:spPr>
          <a:xfrm>
            <a:off x="13231848" y="6905163"/>
            <a:ext cx="3428436" cy="3121463"/>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En el programa del curso encontraras la competencia o competencias que debe cumplir el curso que estas impartiendo.</a:t>
            </a:r>
            <a:endParaRPr/>
          </a:p>
          <a:p>
            <a:pPr indent="0" lvl="0" marL="0" marR="0" rtl="0" algn="ctr">
              <a:lnSpc>
                <a:spcPct val="139982"/>
              </a:lnSpc>
              <a:spcBef>
                <a:spcPts val="0"/>
              </a:spcBef>
              <a:spcAft>
                <a:spcPts val="0"/>
              </a:spcAft>
              <a:buNone/>
            </a:pPr>
            <a:r>
              <a:rPr b="0" i="0" lang="en-US" sz="2241" u="none" cap="none" strike="noStrike">
                <a:solidFill>
                  <a:srgbClr val="131416"/>
                </a:solidFill>
                <a:latin typeface="Open Sans"/>
                <a:ea typeface="Open Sans"/>
                <a:cs typeface="Open Sans"/>
                <a:sym typeface="Open Sans"/>
              </a:rPr>
              <a:t>Colocala(s) en este apartado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nvSpPr>
        <p:spPr>
          <a:xfrm>
            <a:off x="1515812" y="3747209"/>
            <a:ext cx="12625499" cy="164069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None/>
            </a:pPr>
            <a:r>
              <a:rPr b="0" i="0" lang="en-US" sz="3925" u="none" cap="none" strike="noStrike">
                <a:solidFill>
                  <a:srgbClr val="131416"/>
                </a:solidFill>
                <a:latin typeface="Arial"/>
                <a:ea typeface="Arial"/>
                <a:cs typeface="Arial"/>
                <a:sym typeface="Arial"/>
              </a:rPr>
              <a:t>Propósito del Acta de Inicio</a:t>
            </a:r>
            <a:endParaRPr/>
          </a:p>
          <a:p>
            <a:pPr indent="0" lvl="0" marL="0" marR="0" rtl="0" algn="l">
              <a:lnSpc>
                <a:spcPct val="173025"/>
              </a:lnSpc>
              <a:spcBef>
                <a:spcPts val="0"/>
              </a:spcBef>
              <a:spcAft>
                <a:spcPts val="0"/>
              </a:spcAft>
              <a:buNone/>
            </a:pPr>
            <a:r>
              <a:t/>
            </a:r>
            <a:endParaRPr b="0" i="0" sz="3925" u="none" cap="none" strike="noStrike">
              <a:solidFill>
                <a:srgbClr val="131416"/>
              </a:solidFill>
              <a:latin typeface="Arial"/>
              <a:ea typeface="Arial"/>
              <a:cs typeface="Arial"/>
              <a:sym typeface="Arial"/>
            </a:endParaRPr>
          </a:p>
        </p:txBody>
      </p:sp>
      <p:sp>
        <p:nvSpPr>
          <p:cNvPr id="135" name="Google Shape;135;p4"/>
          <p:cNvSpPr txBox="1"/>
          <p:nvPr/>
        </p:nvSpPr>
        <p:spPr>
          <a:xfrm>
            <a:off x="1374889" y="654364"/>
            <a:ext cx="16698774" cy="2575226"/>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DESARROLLO DEL ACTA DE INICIO DEL PROYECTO</a:t>
            </a:r>
            <a:endParaRPr/>
          </a:p>
          <a:p>
            <a:pPr indent="0" lvl="0" marL="0" marR="0" rtl="0" algn="just">
              <a:lnSpc>
                <a:spcPct val="100016"/>
              </a:lnSpc>
              <a:spcBef>
                <a:spcPts val="0"/>
              </a:spcBef>
              <a:spcAft>
                <a:spcPts val="0"/>
              </a:spcAft>
              <a:buNone/>
            </a:pPr>
            <a:r>
              <a:t/>
            </a:r>
            <a:endParaRPr b="0" i="0" sz="6098" u="none" cap="none" strike="noStrike">
              <a:solidFill>
                <a:srgbClr val="13141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nvSpPr>
        <p:spPr>
          <a:xfrm>
            <a:off x="1028700" y="914400"/>
            <a:ext cx="742770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acta de inicio es un documento formal que autoriza el comienzo de un proyecto. En este se define por qué se realiza el proyecto y qué problemas o necesidades debe abordar.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1" name="Google Shape;141;p5"/>
          <p:cNvSpPr txBox="1"/>
          <p:nvPr/>
        </p:nvSpPr>
        <p:spPr>
          <a:xfrm>
            <a:off x="6572818" y="5297865"/>
            <a:ext cx="10705532" cy="500209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¿Por qué es importante?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Sirve como una referencia oficial que legitima el proyecto ante la organización y los interesados clave.</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Permite asignar recursos y establecer un compromiso claro de apoyo.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Proporciona dirección y contexto sobre el propósito y los objetivos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Componentes Esenciales del Acta de Inicio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7" name="Google Shape;147;p6"/>
          <p:cNvSpPr txBox="1"/>
          <p:nvPr/>
        </p:nvSpPr>
        <p:spPr>
          <a:xfrm>
            <a:off x="2300344" y="2020040"/>
            <a:ext cx="13666877" cy="903672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Justificación del Proyecto: Explica por qué el proyecto es necesario y cómo contribuye a los objetivos estratégicos de la organización.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Objetivos del Proyecto: Deben ser claros, medibles y alcanzables (SMART). Los objetivos indican qué se quiere lograr.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Alcance Preliminar: Define a grandes rasgos lo que se incluirá en el proyecto y, de manera implícita, lo que se excluye.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Cronograma Inicial: Un esbozo de las fases clave del proyecto y sus fechas tentativas.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Presupuesto Preliminar: Una estimación inicial del costo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Lista de Interesados: Identificación de las personas o entidades que tienen un interés en 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Componentes Esenciales del Acta de Inicio</a:t>
            </a:r>
            <a:endParaRPr/>
          </a:p>
        </p:txBody>
      </p:sp>
      <p:sp>
        <p:nvSpPr>
          <p:cNvPr id="153" name="Google Shape;153;p7"/>
          <p:cNvSpPr txBox="1"/>
          <p:nvPr/>
        </p:nvSpPr>
        <p:spPr>
          <a:xfrm>
            <a:off x="2307153" y="2020040"/>
            <a:ext cx="13660067" cy="2479271"/>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Riesgos Iniciales: Identificación de posibles riesgos que podrían afectar el éxito del proyecto.</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
        <p:nvSpPr>
          <p:cNvPr id="154" name="Google Shape;154;p7"/>
          <p:cNvSpPr txBox="1"/>
          <p:nvPr/>
        </p:nvSpPr>
        <p:spPr>
          <a:xfrm>
            <a:off x="706381" y="405075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Establecimiento de Objetivos Claros y Medibles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5" name="Google Shape;155;p7"/>
          <p:cNvSpPr txBox="1"/>
          <p:nvPr/>
        </p:nvSpPr>
        <p:spPr>
          <a:xfrm>
            <a:off x="1984833" y="5156391"/>
            <a:ext cx="13660067" cy="967038"/>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Los objetivos del proyecto deben ser específicos y medibles para que el equipo del proyecto pueda tener una guía clara sobre lo que deben lograr.</a:t>
            </a:r>
            <a:endParaRPr/>
          </a:p>
        </p:txBody>
      </p:sp>
      <p:sp>
        <p:nvSpPr>
          <p:cNvPr id="156" name="Google Shape;156;p7"/>
          <p:cNvSpPr txBox="1"/>
          <p:nvPr/>
        </p:nvSpPr>
        <p:spPr>
          <a:xfrm>
            <a:off x="1984833" y="6780654"/>
            <a:ext cx="13660067" cy="4495581"/>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SMART:</a:t>
            </a:r>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S (Specific): Específicos.</a:t>
            </a:r>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M (Measurable): Medibles.</a:t>
            </a:r>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A (Achievable): Alcanzables.</a:t>
            </a:r>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R (Relevant): Relevantes.</a:t>
            </a:r>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T (Time-bound): Limitados en el tiempo</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Establecimiento de Objetivos Claros y Medibles</a:t>
            </a:r>
            <a:endParaRPr/>
          </a:p>
        </p:txBody>
      </p:sp>
      <p:sp>
        <p:nvSpPr>
          <p:cNvPr id="162" name="Google Shape;162;p8"/>
          <p:cNvSpPr txBox="1"/>
          <p:nvPr/>
        </p:nvSpPr>
        <p:spPr>
          <a:xfrm>
            <a:off x="1870835" y="2133068"/>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Por ejemplo, en un proyecto de desarrollo de software, un objetivo claro sería: "Desarrollar una aplicación móvil que permita gestionar inventarios con una base de datos centralizada en 6 meses".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3" name="Google Shape;163;p8"/>
          <p:cNvSpPr txBox="1"/>
          <p:nvPr/>
        </p:nvSpPr>
        <p:spPr>
          <a:xfrm>
            <a:off x="729248" y="4028145"/>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Identificación de los Interesados Clave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4" name="Google Shape;164;p8"/>
          <p:cNvSpPr txBox="1"/>
          <p:nvPr/>
        </p:nvSpPr>
        <p:spPr>
          <a:xfrm>
            <a:off x="1571384" y="5246813"/>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Los interesados o stakeholders son las personas o entidades que pueden afectar o verse afectadas por el proyecto. Identificar a los interesados desde el principio es crucial para asegurar que sus necesidades y expectativas se tomen en cuenta.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5" name="Google Shape;165;p8"/>
          <p:cNvSpPr txBox="1"/>
          <p:nvPr/>
        </p:nvSpPr>
        <p:spPr>
          <a:xfrm>
            <a:off x="1571384" y="7139851"/>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Tipos de interesados: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Directos: Clientes, usuarios finales, equipo del proyecto.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Indirectos: Proveedores, reguladores, la alta gerencia.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nvSpPr>
        <p:spPr>
          <a:xfrm>
            <a:off x="1028700" y="914400"/>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 análisis temprano de los interesados ayuda a prever expectativas, resistencias y apoyos clave para 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1" name="Google Shape;171;p9"/>
          <p:cNvSpPr txBox="1"/>
          <p:nvPr/>
        </p:nvSpPr>
        <p:spPr>
          <a:xfrm>
            <a:off x="2310562" y="3059902"/>
            <a:ext cx="13666877" cy="6010751"/>
          </a:xfrm>
          <a:prstGeom prst="rect">
            <a:avLst/>
          </a:prstGeom>
          <a:noFill/>
          <a:ln>
            <a:noFill/>
          </a:ln>
        </p:spPr>
        <p:txBody>
          <a:bodyPr anchorCtr="0" anchor="t" bIns="0" lIns="0" spcFirstLastPara="1" rIns="0" wrap="square" tIns="0">
            <a:spAutoFit/>
          </a:bodyPr>
          <a:lstStyle/>
          <a:p>
            <a:pPr indent="0" lvl="0" marL="0" marR="0" rtl="0" algn="l">
              <a:lnSpc>
                <a:spcPct val="222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Alcance Preliminar del Proyecto</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alcance preliminar es una descripción general de lo que el proyecto abarcará. Aunque se desarrolla más detalladamente en las fases posteriores, en el acta de inicio es importante trazar una visión amplia del trabajo que se realizará.</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Define lo que se incluye en el proyecto, y también lo que no se incluirá (para evitar el "creep" del alcance).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Incluye una descripción general de los entregables y los criterios de éxito.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Aprobación Formal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7" name="Google Shape;177;p10"/>
          <p:cNvSpPr txBox="1"/>
          <p:nvPr/>
        </p:nvSpPr>
        <p:spPr>
          <a:xfrm>
            <a:off x="2170287" y="3557227"/>
            <a:ext cx="13666877" cy="550642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el acta de inicio está completa, debe ser aprobada formalmente por los interesados clave o el patrocinador del proyecto. Esta aprobación es lo que da la luz verde oficial para que el equipo pueda comenzar a trabajar en 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¿Qué implica la aprobación?</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compromiso con los recursos.</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La alineación con los objetivos estratégicos de la organización.</a:t>
            </a:r>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reconocimiento de que el proyecto tiene la autoridad para proceder.</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1"/>
          <p:cNvSpPr txBox="1"/>
          <p:nvPr/>
        </p:nvSpPr>
        <p:spPr>
          <a:xfrm>
            <a:off x="1028700" y="914400"/>
            <a:ext cx="15950051" cy="463134"/>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Aprobación Formal del Proyecto</a:t>
            </a:r>
            <a:endParaRPr/>
          </a:p>
        </p:txBody>
      </p:sp>
      <p:sp>
        <p:nvSpPr>
          <p:cNvPr id="183" name="Google Shape;183;p11"/>
          <p:cNvSpPr txBox="1"/>
          <p:nvPr/>
        </p:nvSpPr>
        <p:spPr>
          <a:xfrm>
            <a:off x="2300344" y="2020040"/>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La firma de los interesados clave en el acta de inicio es un paso crítico para asegurar que todos estén de acuerdo con los términos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4" name="Google Shape;184;p11"/>
          <p:cNvSpPr txBox="1"/>
          <p:nvPr/>
        </p:nvSpPr>
        <p:spPr>
          <a:xfrm>
            <a:off x="1028700" y="4389836"/>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Conclusión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5" name="Google Shape;185;p11"/>
          <p:cNvSpPr txBox="1"/>
          <p:nvPr/>
        </p:nvSpPr>
        <p:spPr>
          <a:xfrm>
            <a:off x="2300344" y="5495476"/>
            <a:ext cx="13666877" cy="298477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acta de inicio de un proyecto no es solo un documento formal, es la fundación sobre la que se construye todo el proyecto. Define su propósito, su dirección, y asegura el compromiso de los interesados clave. Una vez aprobado, se convierte en la guía para todo el equipo de proyecto a lo largo del ciclo de vida del mismo.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2"/>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191" name="Google Shape;191;p12"/>
          <p:cNvSpPr txBox="1"/>
          <p:nvPr/>
        </p:nvSpPr>
        <p:spPr>
          <a:xfrm>
            <a:off x="1871436" y="5019675"/>
            <a:ext cx="14775224" cy="1144522"/>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0" i="0" lang="en-US" sz="6737" u="none" cap="none" strike="noStrike">
                <a:solidFill>
                  <a:srgbClr val="131416"/>
                </a:solidFill>
                <a:latin typeface="Arial"/>
                <a:ea typeface="Arial"/>
                <a:cs typeface="Arial"/>
                <a:sym typeface="Arial"/>
              </a:rPr>
              <a:t>Responsabilidad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197" name="Google Shape;197;p13"/>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4"/>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03" name="Google Shape;203;p14"/>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04" name="Google Shape;204;p14"/>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05" name="Google Shape;205;p14"/>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