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10287000" cx="18288000"/>
  <p:notesSz cx="6858000" cy="9144000"/>
  <p:embeddedFontLst>
    <p:embeddedFont>
      <p:font typeface="Play"/>
      <p:regular r:id="rId22"/>
      <p:bold r:id="rId23"/>
    </p:embeddedFont>
    <p:embeddedFont>
      <p:font typeface="Open Sans"/>
      <p:bold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6" roundtripDataSignature="AMtx7mgEDZn8rUw89GmRFfx+XrhHg972f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Play-regular.fntdata"/><Relationship Id="rId21" Type="http://schemas.openxmlformats.org/officeDocument/2006/relationships/slide" Target="slides/slide16.xml"/><Relationship Id="rId24" Type="http://schemas.openxmlformats.org/officeDocument/2006/relationships/font" Target="fonts/OpenSans-bold.fntdata"/><Relationship Id="rId23" Type="http://schemas.openxmlformats.org/officeDocument/2006/relationships/font" Target="fonts/Play-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customschemas.google.com/relationships/presentationmetadata" Target="metadata"/><Relationship Id="rId25" Type="http://schemas.openxmlformats.org/officeDocument/2006/relationships/font" Target="fonts/OpenSans-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66bee1d17e_0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66bee1d17e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8"/>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5"/>
          <p:cNvSpPr/>
          <p:nvPr>
            <p:ph idx="2" type="pic"/>
          </p:nvPr>
        </p:nvSpPr>
        <p:spPr>
          <a:xfrm>
            <a:off x="1792288" y="612775"/>
            <a:ext cx="5486400" cy="4114800"/>
          </a:xfrm>
          <a:prstGeom prst="rect">
            <a:avLst/>
          </a:prstGeom>
          <a:noFill/>
          <a:ln>
            <a:noFill/>
          </a:ln>
        </p:spPr>
      </p:sp>
      <p:sp>
        <p:nvSpPr>
          <p:cNvPr id="64" name="Google Shape;64;p2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6"/>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g366bee1d17e_0_15"/>
          <p:cNvPicPr preferRelativeResize="0"/>
          <p:nvPr/>
        </p:nvPicPr>
        <p:blipFill>
          <a:blip r:embed="rId3">
            <a:alphaModFix/>
          </a:blip>
          <a:stretch>
            <a:fillRect/>
          </a:stretch>
        </p:blipFill>
        <p:spPr>
          <a:xfrm>
            <a:off x="0" y="0"/>
            <a:ext cx="18219825" cy="10287000"/>
          </a:xfrm>
          <a:prstGeom prst="rect">
            <a:avLst/>
          </a:prstGeom>
          <a:noFill/>
          <a:ln>
            <a:noFill/>
          </a:ln>
        </p:spPr>
      </p:pic>
      <p:sp>
        <p:nvSpPr>
          <p:cNvPr id="85" name="Google Shape;85;g366bee1d17e_0_15"/>
          <p:cNvSpPr txBox="1"/>
          <p:nvPr/>
        </p:nvSpPr>
        <p:spPr>
          <a:xfrm>
            <a:off x="284685" y="285750"/>
            <a:ext cx="5604000" cy="5625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a:t>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
          <p:cNvSpPr/>
          <p:nvPr/>
        </p:nvSpPr>
        <p:spPr>
          <a:xfrm>
            <a:off x="12541309" y="0"/>
            <a:ext cx="5746691" cy="171178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sp>
        <p:nvSpPr>
          <p:cNvPr id="91" name="Google Shape;91;p1"/>
          <p:cNvSpPr txBox="1"/>
          <p:nvPr/>
        </p:nvSpPr>
        <p:spPr>
          <a:xfrm>
            <a:off x="1063303" y="7865776"/>
            <a:ext cx="6467475" cy="174942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5000" u="none" cap="none" strike="noStrike">
                <a:solidFill>
                  <a:srgbClr val="131416"/>
                </a:solidFill>
                <a:latin typeface="Open Sans"/>
                <a:ea typeface="Open Sans"/>
                <a:cs typeface="Open Sans"/>
                <a:sym typeface="Open Sans"/>
              </a:rPr>
              <a:t>Teoría de Sistemas 2</a:t>
            </a:r>
            <a:endParaRPr/>
          </a:p>
          <a:p>
            <a:pPr indent="0" lvl="0" marL="0" marR="0" rtl="0" algn="ctr">
              <a:lnSpc>
                <a:spcPct val="140000"/>
              </a:lnSpc>
              <a:spcBef>
                <a:spcPts val="0"/>
              </a:spcBef>
              <a:spcAft>
                <a:spcPts val="0"/>
              </a:spcAft>
              <a:buNone/>
            </a:pPr>
            <a:r>
              <a:t/>
            </a:r>
            <a:endParaRPr b="1" i="0" sz="5000" u="none" cap="none" strike="noStrike">
              <a:solidFill>
                <a:srgbClr val="131416"/>
              </a:solidFill>
              <a:latin typeface="Open Sans"/>
              <a:ea typeface="Open Sans"/>
              <a:cs typeface="Open Sans"/>
              <a:sym typeface="Open Sans"/>
            </a:endParaRPr>
          </a:p>
        </p:txBody>
      </p:sp>
      <p:sp>
        <p:nvSpPr>
          <p:cNvPr id="92" name="Google Shape;92;p1"/>
          <p:cNvSpPr txBox="1"/>
          <p:nvPr/>
        </p:nvSpPr>
        <p:spPr>
          <a:xfrm>
            <a:off x="269140" y="3141906"/>
            <a:ext cx="17749719" cy="3195319"/>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9200" u="none" cap="none" strike="noStrike">
                <a:solidFill>
                  <a:srgbClr val="131416"/>
                </a:solidFill>
                <a:latin typeface="Open Sans"/>
                <a:ea typeface="Open Sans"/>
                <a:cs typeface="Open Sans"/>
                <a:sym typeface="Open Sans"/>
              </a:rPr>
              <a:t>Sistemas para la entrega de valor y proyectos</a:t>
            </a:r>
            <a:endParaRPr/>
          </a:p>
        </p:txBody>
      </p:sp>
      <p:sp>
        <p:nvSpPr>
          <p:cNvPr id="93" name="Google Shape;93;p1"/>
          <p:cNvSpPr txBox="1"/>
          <p:nvPr/>
        </p:nvSpPr>
        <p:spPr>
          <a:xfrm>
            <a:off x="1063303" y="8745251"/>
            <a:ext cx="6981379" cy="42227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1" i="0" lang="en-US" sz="2499" u="none" cap="none" strike="noStrike">
                <a:solidFill>
                  <a:srgbClr val="131416"/>
                </a:solidFill>
                <a:latin typeface="Open Sans"/>
                <a:ea typeface="Open Sans"/>
                <a:cs typeface="Open Sans"/>
                <a:sym typeface="Open Sans"/>
              </a:rPr>
              <a:t>Escuela de Ingenieria de Ciencias Y Sistemas</a:t>
            </a:r>
            <a:endParaRPr/>
          </a:p>
        </p:txBody>
      </p:sp>
      <p:sp>
        <p:nvSpPr>
          <p:cNvPr id="94" name="Google Shape;94;p1"/>
          <p:cNvSpPr txBox="1"/>
          <p:nvPr/>
        </p:nvSpPr>
        <p:spPr>
          <a:xfrm>
            <a:off x="1028700" y="9210675"/>
            <a:ext cx="3525292" cy="42227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1" i="0" lang="en-US" sz="2499" u="none" cap="none" strike="noStrike">
                <a:solidFill>
                  <a:srgbClr val="131416"/>
                </a:solidFill>
                <a:latin typeface="Open Sans"/>
                <a:ea typeface="Open Sans"/>
                <a:cs typeface="Open Sans"/>
                <a:sym typeface="Open Sans"/>
              </a:rPr>
              <a:t>Facultad de Ingenieria</a:t>
            </a:r>
            <a:endParaRPr/>
          </a:p>
        </p:txBody>
      </p:sp>
      <p:sp>
        <p:nvSpPr>
          <p:cNvPr id="95" name="Google Shape;95;p1"/>
          <p:cNvSpPr txBox="1"/>
          <p:nvPr/>
        </p:nvSpPr>
        <p:spPr>
          <a:xfrm>
            <a:off x="1028700" y="9585325"/>
            <a:ext cx="6407944" cy="42227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1" i="0" lang="en-US" sz="2499" u="none" cap="none" strike="noStrike">
                <a:solidFill>
                  <a:srgbClr val="131416"/>
                </a:solidFill>
                <a:latin typeface="Open Sans"/>
                <a:ea typeface="Open Sans"/>
                <a:cs typeface="Open Sans"/>
                <a:sym typeface="Open Sans"/>
              </a:rPr>
              <a:t>Universidad de San Carlos de Guatemala</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
          <p:cNvSpPr/>
          <p:nvPr/>
        </p:nvSpPr>
        <p:spPr>
          <a:xfrm>
            <a:off x="878654" y="4740441"/>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grpSp>
        <p:nvGrpSpPr>
          <p:cNvPr id="101" name="Google Shape;101;p2"/>
          <p:cNvGrpSpPr/>
          <p:nvPr/>
        </p:nvGrpSpPr>
        <p:grpSpPr>
          <a:xfrm>
            <a:off x="1866989" y="3013983"/>
            <a:ext cx="4115190" cy="1556484"/>
            <a:chOff x="0" y="-76200"/>
            <a:chExt cx="1083836" cy="409938"/>
          </a:xfrm>
        </p:grpSpPr>
        <p:sp>
          <p:nvSpPr>
            <p:cNvPr id="102" name="Google Shape;102;p2"/>
            <p:cNvSpPr/>
            <p:nvPr/>
          </p:nvSpPr>
          <p:spPr>
            <a:xfrm>
              <a:off x="0" y="0"/>
              <a:ext cx="1083836" cy="333738"/>
            </a:xfrm>
            <a:custGeom>
              <a:rect b="b" l="l" r="r" t="t"/>
              <a:pathLst>
                <a:path extrusionOk="0" h="333738" w="1083836">
                  <a:moveTo>
                    <a:pt x="880636" y="0"/>
                  </a:moveTo>
                  <a:lnTo>
                    <a:pt x="0" y="0"/>
                  </a:lnTo>
                  <a:lnTo>
                    <a:pt x="0" y="333738"/>
                  </a:lnTo>
                  <a:lnTo>
                    <a:pt x="880636" y="333738"/>
                  </a:lnTo>
                  <a:lnTo>
                    <a:pt x="1083836" y="166869"/>
                  </a:lnTo>
                  <a:lnTo>
                    <a:pt x="880636" y="0"/>
                  </a:lnTo>
                  <a:close/>
                </a:path>
              </a:pathLst>
            </a:custGeom>
            <a:solidFill>
              <a:srgbClr val="FFFFFF"/>
            </a:solidFill>
            <a:ln>
              <a:noFill/>
            </a:ln>
          </p:spPr>
        </p:sp>
        <p:sp>
          <p:nvSpPr>
            <p:cNvPr id="103" name="Google Shape;103;p2"/>
            <p:cNvSpPr txBox="1"/>
            <p:nvPr/>
          </p:nvSpPr>
          <p:spPr>
            <a:xfrm>
              <a:off x="0" y="-76200"/>
              <a:ext cx="969536" cy="409938"/>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RECORDATORIOS</a:t>
              </a:r>
              <a:endParaRPr/>
            </a:p>
          </p:txBody>
        </p:sp>
      </p:grpSp>
      <p:sp>
        <p:nvSpPr>
          <p:cNvPr id="104" name="Google Shape;104;p2"/>
          <p:cNvSpPr/>
          <p:nvPr/>
        </p:nvSpPr>
        <p:spPr>
          <a:xfrm>
            <a:off x="651754" y="3429735"/>
            <a:ext cx="753892" cy="872928"/>
          </a:xfrm>
          <a:custGeom>
            <a:rect b="b" l="l" r="r" t="t"/>
            <a:pathLst>
              <a:path extrusionOk="0" h="872928" w="753892">
                <a:moveTo>
                  <a:pt x="0" y="0"/>
                </a:moveTo>
                <a:lnTo>
                  <a:pt x="753892" y="0"/>
                </a:lnTo>
                <a:lnTo>
                  <a:pt x="753892" y="872927"/>
                </a:lnTo>
                <a:lnTo>
                  <a:pt x="0" y="872927"/>
                </a:lnTo>
                <a:lnTo>
                  <a:pt x="0" y="0"/>
                </a:lnTo>
                <a:close/>
              </a:path>
            </a:pathLst>
          </a:custGeom>
          <a:blipFill rotWithShape="1">
            <a:blip r:embed="rId4">
              <a:alphaModFix/>
            </a:blip>
            <a:stretch>
              <a:fillRect b="0" l="0" r="0" t="0"/>
            </a:stretch>
          </a:blipFill>
          <a:ln>
            <a:noFill/>
          </a:ln>
        </p:spPr>
      </p:sp>
      <p:grpSp>
        <p:nvGrpSpPr>
          <p:cNvPr id="105" name="Google Shape;105;p2"/>
          <p:cNvGrpSpPr/>
          <p:nvPr/>
        </p:nvGrpSpPr>
        <p:grpSpPr>
          <a:xfrm>
            <a:off x="651750" y="-320617"/>
            <a:ext cx="6838876" cy="3120467"/>
            <a:chOff x="-6" y="-95250"/>
            <a:chExt cx="9118500" cy="4160623"/>
          </a:xfrm>
        </p:grpSpPr>
        <p:sp>
          <p:nvSpPr>
            <p:cNvPr id="106" name="Google Shape;106;p2"/>
            <p:cNvSpPr txBox="1"/>
            <p:nvPr/>
          </p:nvSpPr>
          <p:spPr>
            <a:xfrm>
              <a:off x="-6" y="986773"/>
              <a:ext cx="9118500" cy="30786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5000" u="none" cap="none" strike="noStrike">
                  <a:solidFill>
                    <a:srgbClr val="131416"/>
                  </a:solidFill>
                  <a:latin typeface="Play"/>
                  <a:ea typeface="Play"/>
                  <a:cs typeface="Play"/>
                  <a:sym typeface="Play"/>
                </a:rPr>
                <a:t>Agenda</a:t>
              </a:r>
              <a:endParaRPr/>
            </a:p>
          </p:txBody>
        </p:sp>
        <p:sp>
          <p:nvSpPr>
            <p:cNvPr id="107" name="Google Shape;107;p2"/>
            <p:cNvSpPr txBox="1"/>
            <p:nvPr/>
          </p:nvSpPr>
          <p:spPr>
            <a:xfrm>
              <a:off x="0" y="-95250"/>
              <a:ext cx="8186982" cy="927435"/>
            </a:xfrm>
            <a:prstGeom prst="rect">
              <a:avLst/>
            </a:prstGeom>
            <a:noFill/>
            <a:ln>
              <a:noFill/>
            </a:ln>
          </p:spPr>
          <p:txBody>
            <a:bodyPr anchorCtr="0" anchor="t" bIns="0" lIns="0" spcFirstLastPara="1" rIns="0" wrap="square" tIns="0">
              <a:spAutoFit/>
            </a:bodyPr>
            <a:lstStyle/>
            <a:p>
              <a:pPr indent="0" lvl="0" marL="0" marR="0" rtl="0" algn="l">
                <a:lnSpc>
                  <a:spcPct val="318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8" name="Google Shape;108;p2"/>
          <p:cNvGrpSpPr/>
          <p:nvPr/>
        </p:nvGrpSpPr>
        <p:grpSpPr>
          <a:xfrm>
            <a:off x="1866989" y="4452402"/>
            <a:ext cx="12118671" cy="1203525"/>
            <a:chOff x="0" y="-76200"/>
            <a:chExt cx="5159516" cy="512400"/>
          </a:xfrm>
        </p:grpSpPr>
        <p:sp>
          <p:nvSpPr>
            <p:cNvPr id="109" name="Google Shape;109;p2"/>
            <p:cNvSpPr/>
            <p:nvPr/>
          </p:nvSpPr>
          <p:spPr>
            <a:xfrm>
              <a:off x="0" y="0"/>
              <a:ext cx="5159516" cy="436070"/>
            </a:xfrm>
            <a:custGeom>
              <a:rect b="b" l="l" r="r" t="t"/>
              <a:pathLst>
                <a:path extrusionOk="0" h="436070" w="5159516">
                  <a:moveTo>
                    <a:pt x="4956316" y="0"/>
                  </a:moveTo>
                  <a:lnTo>
                    <a:pt x="0" y="0"/>
                  </a:lnTo>
                  <a:lnTo>
                    <a:pt x="0" y="436070"/>
                  </a:lnTo>
                  <a:lnTo>
                    <a:pt x="4956316" y="436070"/>
                  </a:lnTo>
                  <a:lnTo>
                    <a:pt x="5159516" y="218035"/>
                  </a:lnTo>
                  <a:lnTo>
                    <a:pt x="4956316" y="0"/>
                  </a:lnTo>
                  <a:close/>
                </a:path>
              </a:pathLst>
            </a:custGeom>
            <a:solidFill>
              <a:srgbClr val="FFFFFF"/>
            </a:solidFill>
            <a:ln>
              <a:noFill/>
            </a:ln>
          </p:spPr>
        </p:sp>
        <p:sp>
          <p:nvSpPr>
            <p:cNvPr id="110" name="Google Shape;110;p2"/>
            <p:cNvSpPr txBox="1"/>
            <p:nvPr/>
          </p:nvSpPr>
          <p:spPr>
            <a:xfrm>
              <a:off x="0" y="-76200"/>
              <a:ext cx="5045100" cy="512400"/>
            </a:xfrm>
            <a:prstGeom prst="rect">
              <a:avLst/>
            </a:prstGeom>
            <a:noFill/>
            <a:ln>
              <a:noFill/>
            </a:ln>
          </p:spPr>
          <p:txBody>
            <a:bodyPr anchorCtr="0" anchor="ctr" bIns="50800" lIns="50800" spcFirstLastPara="1" rIns="50800" wrap="square" tIns="50800">
              <a:noAutofit/>
            </a:bodyPr>
            <a:lstStyle/>
            <a:p>
              <a:pPr indent="0" lvl="0" marL="0" marR="0" rtl="0" algn="l">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Importancia del cronograma en la gestión de proyectos</a:t>
              </a:r>
              <a:endParaRPr/>
            </a:p>
          </p:txBody>
        </p:sp>
      </p:grpSp>
      <p:sp>
        <p:nvSpPr>
          <p:cNvPr id="111" name="Google Shape;111;p2"/>
          <p:cNvSpPr txBox="1"/>
          <p:nvPr/>
        </p:nvSpPr>
        <p:spPr>
          <a:xfrm>
            <a:off x="11131715" y="78516"/>
            <a:ext cx="8416862" cy="579709"/>
          </a:xfrm>
          <a:prstGeom prst="rect">
            <a:avLst/>
          </a:prstGeom>
          <a:noFill/>
          <a:ln>
            <a:noFill/>
          </a:ln>
        </p:spPr>
        <p:txBody>
          <a:bodyPr anchorCtr="0" anchor="t" bIns="0" lIns="0" spcFirstLastPara="1" rIns="0" wrap="square" tIns="0">
            <a:spAutoFit/>
          </a:bodyPr>
          <a:lstStyle/>
          <a:p>
            <a:pPr indent="0" lvl="0" marL="0" marR="0" rtl="0" algn="l">
              <a:lnSpc>
                <a:spcPct val="256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2" name="Google Shape;112;p2"/>
          <p:cNvSpPr/>
          <p:nvPr/>
        </p:nvSpPr>
        <p:spPr>
          <a:xfrm>
            <a:off x="878654" y="5623280"/>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grpSp>
        <p:nvGrpSpPr>
          <p:cNvPr id="113" name="Google Shape;113;p2"/>
          <p:cNvGrpSpPr/>
          <p:nvPr/>
        </p:nvGrpSpPr>
        <p:grpSpPr>
          <a:xfrm>
            <a:off x="1866989" y="6472659"/>
            <a:ext cx="12118639" cy="1203215"/>
            <a:chOff x="0" y="-76200"/>
            <a:chExt cx="5159516" cy="512270"/>
          </a:xfrm>
        </p:grpSpPr>
        <p:sp>
          <p:nvSpPr>
            <p:cNvPr id="114" name="Google Shape;114;p2"/>
            <p:cNvSpPr/>
            <p:nvPr/>
          </p:nvSpPr>
          <p:spPr>
            <a:xfrm>
              <a:off x="0" y="0"/>
              <a:ext cx="5159516" cy="436070"/>
            </a:xfrm>
            <a:custGeom>
              <a:rect b="b" l="l" r="r" t="t"/>
              <a:pathLst>
                <a:path extrusionOk="0" h="436070" w="5159516">
                  <a:moveTo>
                    <a:pt x="4956316" y="0"/>
                  </a:moveTo>
                  <a:lnTo>
                    <a:pt x="0" y="0"/>
                  </a:lnTo>
                  <a:lnTo>
                    <a:pt x="0" y="436070"/>
                  </a:lnTo>
                  <a:lnTo>
                    <a:pt x="4956316" y="436070"/>
                  </a:lnTo>
                  <a:lnTo>
                    <a:pt x="5159516" y="218035"/>
                  </a:lnTo>
                  <a:lnTo>
                    <a:pt x="4956316" y="0"/>
                  </a:lnTo>
                  <a:close/>
                </a:path>
              </a:pathLst>
            </a:custGeom>
            <a:solidFill>
              <a:srgbClr val="FFFFFF"/>
            </a:solidFill>
            <a:ln>
              <a:noFill/>
            </a:ln>
          </p:spPr>
        </p:sp>
        <p:sp>
          <p:nvSpPr>
            <p:cNvPr id="115" name="Google Shape;115;p2"/>
            <p:cNvSpPr txBox="1"/>
            <p:nvPr/>
          </p:nvSpPr>
          <p:spPr>
            <a:xfrm>
              <a:off x="0" y="-76200"/>
              <a:ext cx="5045216" cy="512270"/>
            </a:xfrm>
            <a:prstGeom prst="rect">
              <a:avLst/>
            </a:prstGeom>
            <a:noFill/>
            <a:ln>
              <a:noFill/>
            </a:ln>
          </p:spPr>
          <p:txBody>
            <a:bodyPr anchorCtr="0" anchor="ctr" bIns="50800" lIns="50800" spcFirstLastPara="1" rIns="50800" wrap="square" tIns="50800">
              <a:noAutofit/>
            </a:bodyPr>
            <a:lstStyle/>
            <a:p>
              <a:pPr indent="0" lvl="0" marL="0" marR="0" rtl="0" algn="l">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Estimación de la duración de tareas</a:t>
              </a:r>
              <a:endParaRPr/>
            </a:p>
          </p:txBody>
        </p:sp>
      </p:grpSp>
      <p:sp>
        <p:nvSpPr>
          <p:cNvPr id="116" name="Google Shape;116;p2"/>
          <p:cNvSpPr/>
          <p:nvPr/>
        </p:nvSpPr>
        <p:spPr>
          <a:xfrm>
            <a:off x="878654" y="6793036"/>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grpSp>
        <p:nvGrpSpPr>
          <p:cNvPr id="117" name="Google Shape;117;p2"/>
          <p:cNvGrpSpPr/>
          <p:nvPr/>
        </p:nvGrpSpPr>
        <p:grpSpPr>
          <a:xfrm>
            <a:off x="1866989" y="7496897"/>
            <a:ext cx="12661175" cy="845385"/>
            <a:chOff x="0" y="-76200"/>
            <a:chExt cx="5390501" cy="359923"/>
          </a:xfrm>
        </p:grpSpPr>
        <p:sp>
          <p:nvSpPr>
            <p:cNvPr id="118" name="Google Shape;118;p2"/>
            <p:cNvSpPr/>
            <p:nvPr/>
          </p:nvSpPr>
          <p:spPr>
            <a:xfrm>
              <a:off x="0" y="0"/>
              <a:ext cx="5390501" cy="283723"/>
            </a:xfrm>
            <a:custGeom>
              <a:rect b="b" l="l" r="r" t="t"/>
              <a:pathLst>
                <a:path extrusionOk="0" h="283723" w="5390501">
                  <a:moveTo>
                    <a:pt x="5187301" y="0"/>
                  </a:moveTo>
                  <a:lnTo>
                    <a:pt x="0" y="0"/>
                  </a:lnTo>
                  <a:lnTo>
                    <a:pt x="0" y="283723"/>
                  </a:lnTo>
                  <a:lnTo>
                    <a:pt x="5187301" y="283723"/>
                  </a:lnTo>
                  <a:lnTo>
                    <a:pt x="5390501" y="141862"/>
                  </a:lnTo>
                  <a:lnTo>
                    <a:pt x="5187301" y="0"/>
                  </a:lnTo>
                  <a:close/>
                </a:path>
              </a:pathLst>
            </a:custGeom>
            <a:solidFill>
              <a:srgbClr val="FFFFFF"/>
            </a:solidFill>
            <a:ln>
              <a:noFill/>
            </a:ln>
          </p:spPr>
        </p:sp>
        <p:sp>
          <p:nvSpPr>
            <p:cNvPr id="119" name="Google Shape;119;p2"/>
            <p:cNvSpPr txBox="1"/>
            <p:nvPr/>
          </p:nvSpPr>
          <p:spPr>
            <a:xfrm>
              <a:off x="0" y="-76200"/>
              <a:ext cx="5276201" cy="359923"/>
            </a:xfrm>
            <a:prstGeom prst="rect">
              <a:avLst/>
            </a:prstGeom>
            <a:noFill/>
            <a:ln>
              <a:noFill/>
            </a:ln>
          </p:spPr>
          <p:txBody>
            <a:bodyPr anchorCtr="0" anchor="ctr" bIns="50800" lIns="50800" spcFirstLastPara="1" rIns="50800" wrap="square" tIns="50800">
              <a:noAutofit/>
            </a:bodyPr>
            <a:lstStyle/>
            <a:p>
              <a:pPr indent="0" lvl="0" marL="0" marR="0" rtl="0" algn="l">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Dependencias entre tareas (precedencia)</a:t>
              </a:r>
              <a:endParaRPr/>
            </a:p>
          </p:txBody>
        </p:sp>
      </p:grpSp>
      <p:grpSp>
        <p:nvGrpSpPr>
          <p:cNvPr id="120" name="Google Shape;120;p2"/>
          <p:cNvGrpSpPr/>
          <p:nvPr/>
        </p:nvGrpSpPr>
        <p:grpSpPr>
          <a:xfrm>
            <a:off x="1866989" y="5610988"/>
            <a:ext cx="12661209" cy="845568"/>
            <a:chOff x="0" y="-76200"/>
            <a:chExt cx="5390501" cy="360000"/>
          </a:xfrm>
        </p:grpSpPr>
        <p:sp>
          <p:nvSpPr>
            <p:cNvPr id="121" name="Google Shape;121;p2"/>
            <p:cNvSpPr/>
            <p:nvPr/>
          </p:nvSpPr>
          <p:spPr>
            <a:xfrm>
              <a:off x="0" y="0"/>
              <a:ext cx="5390501" cy="283723"/>
            </a:xfrm>
            <a:custGeom>
              <a:rect b="b" l="l" r="r" t="t"/>
              <a:pathLst>
                <a:path extrusionOk="0" h="283723" w="5390501">
                  <a:moveTo>
                    <a:pt x="5187301" y="0"/>
                  </a:moveTo>
                  <a:lnTo>
                    <a:pt x="0" y="0"/>
                  </a:lnTo>
                  <a:lnTo>
                    <a:pt x="0" y="283723"/>
                  </a:lnTo>
                  <a:lnTo>
                    <a:pt x="5187301" y="283723"/>
                  </a:lnTo>
                  <a:lnTo>
                    <a:pt x="5390501" y="141862"/>
                  </a:lnTo>
                  <a:lnTo>
                    <a:pt x="5187301" y="0"/>
                  </a:lnTo>
                  <a:close/>
                </a:path>
              </a:pathLst>
            </a:custGeom>
            <a:solidFill>
              <a:srgbClr val="FFFFFF"/>
            </a:solidFill>
            <a:ln>
              <a:noFill/>
            </a:ln>
          </p:spPr>
        </p:sp>
        <p:sp>
          <p:nvSpPr>
            <p:cNvPr id="122" name="Google Shape;122;p2"/>
            <p:cNvSpPr txBox="1"/>
            <p:nvPr/>
          </p:nvSpPr>
          <p:spPr>
            <a:xfrm>
              <a:off x="0" y="-76200"/>
              <a:ext cx="5276100" cy="360000"/>
            </a:xfrm>
            <a:prstGeom prst="rect">
              <a:avLst/>
            </a:prstGeom>
            <a:noFill/>
            <a:ln>
              <a:noFill/>
            </a:ln>
          </p:spPr>
          <p:txBody>
            <a:bodyPr anchorCtr="0" anchor="ctr" bIns="50800" lIns="50800" spcFirstLastPara="1" rIns="50800" wrap="square" tIns="50800">
              <a:noAutofit/>
            </a:bodyPr>
            <a:lstStyle/>
            <a:p>
              <a:pPr indent="0" lvl="0" marL="0" marR="0" rtl="0" algn="l">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Diagramas de Gantt y otros métodos visuales</a:t>
              </a:r>
              <a:endParaRPr/>
            </a:p>
          </p:txBody>
        </p:sp>
      </p:grpSp>
      <p:sp>
        <p:nvSpPr>
          <p:cNvPr id="123" name="Google Shape;123;p2"/>
          <p:cNvSpPr/>
          <p:nvPr/>
        </p:nvSpPr>
        <p:spPr>
          <a:xfrm>
            <a:off x="878654" y="7675875"/>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3"/>
          <p:cNvSpPr txBox="1"/>
          <p:nvPr/>
        </p:nvSpPr>
        <p:spPr>
          <a:xfrm>
            <a:off x="1374889" y="654364"/>
            <a:ext cx="13991174" cy="180102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None/>
            </a:pPr>
            <a:r>
              <a:rPr b="0" i="0" lang="en-US" sz="6098" u="none" cap="none" strike="noStrike">
                <a:solidFill>
                  <a:srgbClr val="131416"/>
                </a:solidFill>
                <a:latin typeface="Arial"/>
                <a:ea typeface="Arial"/>
                <a:cs typeface="Arial"/>
                <a:sym typeface="Arial"/>
              </a:rPr>
              <a:t>COMPETENCIA(S) QUE DESARROLLAREMOS</a:t>
            </a:r>
            <a:endParaRPr/>
          </a:p>
        </p:txBody>
      </p:sp>
      <p:sp>
        <p:nvSpPr>
          <p:cNvPr id="129" name="Google Shape;129;p3"/>
          <p:cNvSpPr txBox="1"/>
          <p:nvPr/>
        </p:nvSpPr>
        <p:spPr>
          <a:xfrm>
            <a:off x="1367785" y="2926462"/>
            <a:ext cx="16920215" cy="3171825"/>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i="0" lang="en-US" sz="4500" u="none" cap="none" strike="noStrike">
                <a:solidFill>
                  <a:srgbClr val="131416"/>
                </a:solidFill>
                <a:latin typeface="Open Sans"/>
                <a:ea typeface="Open Sans"/>
                <a:cs typeface="Open Sans"/>
                <a:sym typeface="Open Sans"/>
              </a:rPr>
              <a:t>Integra principios de calidad, eficiencia y control de tiempos mediante el uso de cronogramas, presupuestos y simuladores para mejorar el desempeño y cumplimiento de los objetivos de proyectos de TI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4"/>
          <p:cNvSpPr txBox="1"/>
          <p:nvPr/>
        </p:nvSpPr>
        <p:spPr>
          <a:xfrm>
            <a:off x="1133670" y="2558086"/>
            <a:ext cx="15722478" cy="6898493"/>
          </a:xfrm>
          <a:prstGeom prst="rect">
            <a:avLst/>
          </a:prstGeom>
          <a:noFill/>
          <a:ln>
            <a:noFill/>
          </a:ln>
        </p:spPr>
        <p:txBody>
          <a:bodyPr anchorCtr="0" anchor="t" bIns="0" lIns="0" spcFirstLastPara="1" rIns="0" wrap="square" tIns="0">
            <a:spAutoFit/>
          </a:bodyPr>
          <a:lstStyle/>
          <a:p>
            <a:pPr indent="0" lvl="0" marL="0" marR="0" rtl="0" algn="l">
              <a:lnSpc>
                <a:spcPct val="173070"/>
              </a:lnSpc>
              <a:spcBef>
                <a:spcPts val="0"/>
              </a:spcBef>
              <a:spcAft>
                <a:spcPts val="0"/>
              </a:spcAft>
              <a:buNone/>
            </a:pPr>
            <a:r>
              <a:rPr b="0" i="0" lang="en-US" sz="3925" u="none" cap="none" strike="noStrike">
                <a:solidFill>
                  <a:srgbClr val="131416"/>
                </a:solidFill>
                <a:latin typeface="Arial"/>
                <a:ea typeface="Arial"/>
                <a:cs typeface="Arial"/>
                <a:sym typeface="Arial"/>
              </a:rPr>
              <a:t>Introducción</a:t>
            </a:r>
            <a:endParaRPr/>
          </a:p>
          <a:p>
            <a:pPr indent="0" lvl="0" marL="0" marR="0" rtl="0" algn="l">
              <a:lnSpc>
                <a:spcPct val="173033"/>
              </a:lnSpc>
              <a:spcBef>
                <a:spcPts val="0"/>
              </a:spcBef>
              <a:spcAft>
                <a:spcPts val="0"/>
              </a:spcAft>
              <a:buNone/>
            </a:pPr>
            <a:r>
              <a:rPr b="0" i="0" lang="en-US" sz="3026" u="none" cap="none" strike="noStrike">
                <a:solidFill>
                  <a:srgbClr val="131416"/>
                </a:solidFill>
                <a:latin typeface="Arial"/>
                <a:ea typeface="Arial"/>
                <a:cs typeface="Arial"/>
                <a:sym typeface="Arial"/>
              </a:rPr>
              <a:t>En la gestión de proyectos, el cronograma actúa como una hoja de ruta que guía al equipo a lo largo de todo el proceso de ejecución. Un cronograma efectivo proporciona claridad sobre qué tareas deben realizarse, cuándo y en qué orden. Establecer un plan de tiempo detallado no solo ayuda a gestionar recursos, sino que también reduce el riesgo de retrasos y garantiza que el equipo esté alineado con los objetivos del proyecto. Al aprender a crear y gestionar cronogramas, los estudiantes de ingeniería podrán planificar proyectos complejos con mayor precisión y eficiencia.</a:t>
            </a:r>
            <a:endParaRPr/>
          </a:p>
          <a:p>
            <a:pPr indent="0" lvl="0" marL="0" marR="0" rtl="0" algn="l">
              <a:lnSpc>
                <a:spcPct val="224487"/>
              </a:lnSpc>
              <a:spcBef>
                <a:spcPts val="0"/>
              </a:spcBef>
              <a:spcAft>
                <a:spcPts val="0"/>
              </a:spcAft>
              <a:buNone/>
            </a:pPr>
            <a:r>
              <a:t/>
            </a:r>
            <a:endParaRPr b="0" i="0" sz="3026" u="none" cap="none" strike="noStrike">
              <a:solidFill>
                <a:srgbClr val="131416"/>
              </a:solidFill>
              <a:latin typeface="Arial"/>
              <a:ea typeface="Arial"/>
              <a:cs typeface="Arial"/>
              <a:sym typeface="Arial"/>
            </a:endParaRPr>
          </a:p>
        </p:txBody>
      </p:sp>
      <p:sp>
        <p:nvSpPr>
          <p:cNvPr id="135" name="Google Shape;135;p4"/>
          <p:cNvSpPr txBox="1"/>
          <p:nvPr/>
        </p:nvSpPr>
        <p:spPr>
          <a:xfrm>
            <a:off x="1374889" y="654364"/>
            <a:ext cx="16698774" cy="1610089"/>
          </a:xfrm>
          <a:prstGeom prst="rect">
            <a:avLst/>
          </a:prstGeom>
          <a:noFill/>
          <a:ln>
            <a:noFill/>
          </a:ln>
        </p:spPr>
        <p:txBody>
          <a:bodyPr anchorCtr="0" anchor="t" bIns="0" lIns="0" spcFirstLastPara="1" rIns="0" wrap="square" tIns="0">
            <a:spAutoFit/>
          </a:bodyPr>
          <a:lstStyle/>
          <a:p>
            <a:pPr indent="0" lvl="0" marL="0" marR="0" rtl="0" algn="just">
              <a:lnSpc>
                <a:spcPct val="112986"/>
              </a:lnSpc>
              <a:spcBef>
                <a:spcPts val="0"/>
              </a:spcBef>
              <a:spcAft>
                <a:spcPts val="0"/>
              </a:spcAft>
              <a:buNone/>
            </a:pPr>
            <a:r>
              <a:rPr b="0" i="0" lang="en-US" sz="5398" u="none" cap="none" strike="noStrike">
                <a:solidFill>
                  <a:srgbClr val="131416"/>
                </a:solidFill>
                <a:latin typeface="Arial"/>
                <a:ea typeface="Arial"/>
                <a:cs typeface="Arial"/>
                <a:sym typeface="Arial"/>
              </a:rPr>
              <a:t>1. CRONOGRAMA DE PROYECTO - PLAN DE TIEMPO​</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5"/>
          <p:cNvSpPr txBox="1"/>
          <p:nvPr/>
        </p:nvSpPr>
        <p:spPr>
          <a:xfrm>
            <a:off x="1028700" y="914400"/>
            <a:ext cx="15950051" cy="463134"/>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Descripción​​</a:t>
            </a:r>
            <a:endParaRPr/>
          </a:p>
        </p:txBody>
      </p:sp>
      <p:sp>
        <p:nvSpPr>
          <p:cNvPr id="141" name="Google Shape;141;p5"/>
          <p:cNvSpPr txBox="1"/>
          <p:nvPr/>
        </p:nvSpPr>
        <p:spPr>
          <a:xfrm>
            <a:off x="2310562" y="2720816"/>
            <a:ext cx="13666877" cy="7019408"/>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El cronograma de proyecto es una herramienta esencial en la gestión de proyectos que permite planificar y controlar el tiempo necesario para completar las tareas y actividades. En ingeniería, el tiempo es un recurso limitado y valioso, por lo que un cronograma bien estructurado es clave para asegurar que los proyectos se entreguen a tiempo y dentro de los plazos establecidos. En esta lectura, exploraremos la importancia del cronograma, los métodos visuales para representarlo, la estimación de la duración de tareas, las dependencias entre ellas, y técnicas de optimización de tiempos, como el fast-tracking y el crashing.​</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6"/>
          <p:cNvSpPr txBox="1"/>
          <p:nvPr/>
        </p:nvSpPr>
        <p:spPr>
          <a:xfrm>
            <a:off x="1028700" y="914400"/>
            <a:ext cx="15950051" cy="463134"/>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Resumen Ejecutivo​</a:t>
            </a:r>
            <a:endParaRPr/>
          </a:p>
        </p:txBody>
      </p:sp>
      <p:sp>
        <p:nvSpPr>
          <p:cNvPr id="147" name="Google Shape;147;p6"/>
          <p:cNvSpPr txBox="1"/>
          <p:nvPr/>
        </p:nvSpPr>
        <p:spPr>
          <a:xfrm>
            <a:off x="2307153" y="2020040"/>
            <a:ext cx="13660067" cy="3991503"/>
          </a:xfrm>
          <a:prstGeom prst="rect">
            <a:avLst/>
          </a:prstGeom>
          <a:noFill/>
          <a:ln>
            <a:noFill/>
          </a:ln>
        </p:spPr>
        <p:txBody>
          <a:bodyPr anchorCtr="0" anchor="t" bIns="0" lIns="0" spcFirstLastPara="1" rIns="0" wrap="square" tIns="0">
            <a:spAutoFit/>
          </a:bodyPr>
          <a:lstStyle/>
          <a:p>
            <a:pPr indent="0" lvl="0" marL="0" marR="0" rtl="0" algn="l">
              <a:lnSpc>
                <a:spcPct val="173050"/>
              </a:lnSpc>
              <a:spcBef>
                <a:spcPts val="0"/>
              </a:spcBef>
              <a:spcAft>
                <a:spcPts val="0"/>
              </a:spcAft>
              <a:buNone/>
            </a:pPr>
            <a:r>
              <a:rPr b="0" i="0" lang="en-US" sz="2308" u="none" cap="none" strike="noStrike">
                <a:solidFill>
                  <a:srgbClr val="131416"/>
                </a:solidFill>
                <a:latin typeface="Arial"/>
                <a:ea typeface="Arial"/>
                <a:cs typeface="Arial"/>
                <a:sym typeface="Arial"/>
              </a:rPr>
              <a:t>El cronograma de proyecto es un plan detallado que organiza las tareas en una secuencia lógica para garantizar que se completen en los plazos estipulados. Este documento proporciona una visión general de cómo se gestiona el tiempo en un proyecto, utilizando herramientas visuales como el diagrama de Gantt y software especializado como Project Libre. También se aborda la estimación de la duración de tareas, el manejo de dependencias entre actividades y las técnicas avanzadas para optimizar los tiempos. Un cronograma bien elaborado es clave para gestionar eficientemente los recursos y cumplir con los objetivos del proyecto.​</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7"/>
          <p:cNvSpPr txBox="1"/>
          <p:nvPr/>
        </p:nvSpPr>
        <p:spPr>
          <a:xfrm>
            <a:off x="1028700" y="914400"/>
            <a:ext cx="15950051" cy="463134"/>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Importancia del Cronograma en la Gestión de Proyectos​</a:t>
            </a:r>
            <a:endParaRPr/>
          </a:p>
        </p:txBody>
      </p:sp>
      <p:sp>
        <p:nvSpPr>
          <p:cNvPr id="153" name="Google Shape;153;p7"/>
          <p:cNvSpPr txBox="1"/>
          <p:nvPr/>
        </p:nvSpPr>
        <p:spPr>
          <a:xfrm>
            <a:off x="1870835" y="2133068"/>
            <a:ext cx="13666877" cy="500209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Planificar: Organiza el trabajo de manera eficiente, estableciendo qué tareas deben realizarse y en qué orden.​</a:t>
            </a:r>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Controlar: Ayuda a monitorear el progreso del proyecto y a tomar medidas correctivas si se detectan retrasos.​</a:t>
            </a:r>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Coordinar: Facilita la asignación de recursos, evitando la sobrecarga o inactividad de los equipos.​</a:t>
            </a:r>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Comunicar: Proporciona una herramienta clara y visual para que todos los interesados comprendan el estado actual del proyecto y los hitos importantes.​</a:t>
            </a:r>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8"/>
          <p:cNvSpPr txBox="1"/>
          <p:nvPr/>
        </p:nvSpPr>
        <p:spPr>
          <a:xfrm>
            <a:off x="1028700" y="914400"/>
            <a:ext cx="15950051" cy="463134"/>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Diagramas de Gantt y Otros Métodos Visuales</a:t>
            </a:r>
            <a:endParaRPr/>
          </a:p>
        </p:txBody>
      </p:sp>
      <p:sp>
        <p:nvSpPr>
          <p:cNvPr id="159" name="Google Shape;159;p8"/>
          <p:cNvSpPr txBox="1"/>
          <p:nvPr/>
        </p:nvSpPr>
        <p:spPr>
          <a:xfrm>
            <a:off x="2310562" y="3059902"/>
            <a:ext cx="13666877" cy="3993436"/>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Diagramas de red (PERT): Muestran las relaciones entre las tareas y ayudan a identificar el camino crítico del proyecto.​</a:t>
            </a:r>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a:t>
            </a:r>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Cronogramas de hitos: Se enfocan solo en las fechas clave o entregables importantes del proyecto.</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9"/>
          <p:cNvSpPr txBox="1"/>
          <p:nvPr/>
        </p:nvSpPr>
        <p:spPr>
          <a:xfrm>
            <a:off x="825249" y="1592571"/>
            <a:ext cx="15950051" cy="463134"/>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Estimación de la Duración de Tareas</a:t>
            </a:r>
            <a:endParaRPr/>
          </a:p>
        </p:txBody>
      </p:sp>
      <p:sp>
        <p:nvSpPr>
          <p:cNvPr id="165" name="Google Shape;165;p9"/>
          <p:cNvSpPr txBox="1"/>
          <p:nvPr/>
        </p:nvSpPr>
        <p:spPr>
          <a:xfrm>
            <a:off x="1155578" y="2874922"/>
            <a:ext cx="13666877" cy="7523737"/>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Juicio experto: Basado en la experiencia de los profesionales que han trabajado en proyectos similares.​</a:t>
            </a:r>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a:t>
            </a:r>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Estimación análoga: Utiliza datos históricos de proyectos anteriores para prever la duración de tareas similares.​</a:t>
            </a:r>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a:t>
            </a:r>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Estimación paramétrica: Se basa en cálculos matemáticos, donde la duración se deriva de la cantidad de trabajo requerido.​</a:t>
            </a:r>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Estas estimaciones deben tener en cuenta posibles retrasos, recursos disponibles y el esfuerzo necesario para completar cada tarea.</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0"/>
          <p:cNvSpPr txBox="1"/>
          <p:nvPr/>
        </p:nvSpPr>
        <p:spPr>
          <a:xfrm>
            <a:off x="1028700" y="914400"/>
            <a:ext cx="15950051" cy="463134"/>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Dependencias entre Tareas (Precedencia)</a:t>
            </a:r>
            <a:endParaRPr/>
          </a:p>
        </p:txBody>
      </p:sp>
      <p:sp>
        <p:nvSpPr>
          <p:cNvPr id="171" name="Google Shape;171;p10"/>
          <p:cNvSpPr txBox="1"/>
          <p:nvPr/>
        </p:nvSpPr>
        <p:spPr>
          <a:xfrm>
            <a:off x="2170287" y="3089632"/>
            <a:ext cx="13666877" cy="3993436"/>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Fin a Inicio (Finish to Start): Una tarea debe finalizar para que otra pueda comenzar.​</a:t>
            </a:r>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a:t>
            </a:r>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Inicio a Inicio (Start to Start): Dos tareas pueden comenzar al mismo tiempo.​</a:t>
            </a:r>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a:t>
            </a:r>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Fin a Fin (Finish to Finish): Dos tareas deben terminar al mismo tiempo.​</a:t>
            </a:r>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a:t>
            </a:r>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Inicio a Fin (Start to Finish): Una tarea debe comenzar para que otra pueda finalizar.​</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1"/>
          <p:cNvSpPr txBox="1"/>
          <p:nvPr/>
        </p:nvSpPr>
        <p:spPr>
          <a:xfrm>
            <a:off x="1028700" y="914400"/>
            <a:ext cx="15950051" cy="463134"/>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Técnicas de Optimización ​de Tiempos (Fast-Tracking, Crashing)</a:t>
            </a:r>
            <a:endParaRPr/>
          </a:p>
        </p:txBody>
      </p:sp>
      <p:sp>
        <p:nvSpPr>
          <p:cNvPr id="177" name="Google Shape;177;p11"/>
          <p:cNvSpPr txBox="1"/>
          <p:nvPr/>
        </p:nvSpPr>
        <p:spPr>
          <a:xfrm>
            <a:off x="2039102" y="3690027"/>
            <a:ext cx="13666877" cy="3489107"/>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1" i="0" lang="en-US" sz="2310" u="none" cap="none" strike="noStrike">
                <a:solidFill>
                  <a:srgbClr val="131416"/>
                </a:solidFill>
                <a:latin typeface="Arial"/>
                <a:ea typeface="Arial"/>
                <a:cs typeface="Arial"/>
                <a:sym typeface="Arial"/>
              </a:rPr>
              <a:t>Fast-Tracking:</a:t>
            </a:r>
            <a:r>
              <a:rPr b="0" i="0" lang="en-US" sz="2310" u="none" cap="none" strike="noStrike">
                <a:solidFill>
                  <a:srgbClr val="131416"/>
                </a:solidFill>
                <a:latin typeface="Arial"/>
                <a:ea typeface="Arial"/>
                <a:cs typeface="Arial"/>
                <a:sym typeface="Arial"/>
              </a:rPr>
              <a:t> Consiste en realizar tareas en paralelo, aunque normalmente se harían de manera secuencial. Esto puede aumentar el riesgo, pero reduce la duración del proyecto.​</a:t>
            </a:r>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a:t>
            </a:r>
            <a:endParaRPr/>
          </a:p>
          <a:p>
            <a:pPr indent="0" lvl="0" marL="0" marR="0" rtl="0" algn="l">
              <a:lnSpc>
                <a:spcPct val="172987"/>
              </a:lnSpc>
              <a:spcBef>
                <a:spcPts val="0"/>
              </a:spcBef>
              <a:spcAft>
                <a:spcPts val="0"/>
              </a:spcAft>
              <a:buNone/>
            </a:pPr>
            <a:r>
              <a:rPr b="1" i="0" lang="en-US" sz="2310" u="none" cap="none" strike="noStrike">
                <a:solidFill>
                  <a:srgbClr val="131416"/>
                </a:solidFill>
                <a:latin typeface="Arial"/>
                <a:ea typeface="Arial"/>
                <a:cs typeface="Arial"/>
                <a:sym typeface="Arial"/>
              </a:rPr>
              <a:t>Crashing:</a:t>
            </a:r>
            <a:r>
              <a:rPr b="0" i="0" lang="en-US" sz="2310" u="none" cap="none" strike="noStrike">
                <a:solidFill>
                  <a:srgbClr val="131416"/>
                </a:solidFill>
                <a:latin typeface="Arial"/>
                <a:ea typeface="Arial"/>
                <a:cs typeface="Arial"/>
                <a:sym typeface="Arial"/>
              </a:rPr>
              <a:t> Implica agregar más recursos a las tareas críticas para completarlas más rápido. Aunque esta técnica puede aumentar los costos, reduce el tiempo de ejecución.</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2"/>
          <p:cNvSpPr txBox="1"/>
          <p:nvPr/>
        </p:nvSpPr>
        <p:spPr>
          <a:xfrm>
            <a:off x="1028700" y="914400"/>
            <a:ext cx="15950051" cy="463134"/>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Uso de Software para la Creación de Cronogramas (Project Libre)​</a:t>
            </a:r>
            <a:endParaRPr/>
          </a:p>
        </p:txBody>
      </p:sp>
      <p:sp>
        <p:nvSpPr>
          <p:cNvPr id="183" name="Google Shape;183;p12"/>
          <p:cNvSpPr txBox="1"/>
          <p:nvPr/>
        </p:nvSpPr>
        <p:spPr>
          <a:xfrm>
            <a:off x="2048137" y="2507816"/>
            <a:ext cx="13666877" cy="3489107"/>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Creación de diagramas de Gantt: Proporciona una vista visual clara de las actividades y su secuencia.​​</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Gestión de recursos: Ayuda a asignar y optimizar el uso de recursos humanos y materiales.​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Monitoreo de hitos y entregables: Permite establecer puntos de control a lo largo del proyecto.</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3"/>
          <p:cNvSpPr txBox="1"/>
          <p:nvPr/>
        </p:nvSpPr>
        <p:spPr>
          <a:xfrm>
            <a:off x="2507390" y="1000125"/>
            <a:ext cx="13503315" cy="2052066"/>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None/>
            </a:pPr>
            <a:r>
              <a:rPr b="0" i="0" lang="en-US" sz="6900" u="none" cap="none" strike="noStrike">
                <a:solidFill>
                  <a:srgbClr val="131416"/>
                </a:solidFill>
                <a:latin typeface="Arial"/>
                <a:ea typeface="Arial"/>
                <a:cs typeface="Arial"/>
                <a:sym typeface="Arial"/>
              </a:rPr>
              <a:t>NOMBRE DEL VALOR Y/O ACTITUD</a:t>
            </a:r>
            <a:endParaRPr/>
          </a:p>
        </p:txBody>
      </p:sp>
      <p:sp>
        <p:nvSpPr>
          <p:cNvPr id="189" name="Google Shape;189;p13"/>
          <p:cNvSpPr txBox="1"/>
          <p:nvPr/>
        </p:nvSpPr>
        <p:spPr>
          <a:xfrm>
            <a:off x="1871436" y="5019675"/>
            <a:ext cx="14775224" cy="1144522"/>
          </a:xfrm>
          <a:prstGeom prst="rect">
            <a:avLst/>
          </a:prstGeom>
          <a:noFill/>
          <a:ln>
            <a:noFill/>
          </a:ln>
        </p:spPr>
        <p:txBody>
          <a:bodyPr anchorCtr="0" anchor="t" bIns="0" lIns="0" spcFirstLastPara="1" rIns="0" wrap="square" tIns="0">
            <a:spAutoFit/>
          </a:bodyPr>
          <a:lstStyle/>
          <a:p>
            <a:pPr indent="0" lvl="0" marL="0" marR="0" rtl="0" algn="ctr">
              <a:lnSpc>
                <a:spcPct val="140002"/>
              </a:lnSpc>
              <a:spcBef>
                <a:spcPts val="0"/>
              </a:spcBef>
              <a:spcAft>
                <a:spcPts val="0"/>
              </a:spcAft>
              <a:buNone/>
            </a:pPr>
            <a:r>
              <a:rPr b="0" i="0" lang="en-US" sz="6737" u="none" cap="none" strike="noStrike">
                <a:solidFill>
                  <a:srgbClr val="131416"/>
                </a:solidFill>
                <a:latin typeface="Arial"/>
                <a:ea typeface="Arial"/>
                <a:cs typeface="Arial"/>
                <a:sym typeface="Arial"/>
              </a:rPr>
              <a:t>Transparencia</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4"/>
          <p:cNvSpPr txBox="1"/>
          <p:nvPr/>
        </p:nvSpPr>
        <p:spPr>
          <a:xfrm>
            <a:off x="2507390" y="1000125"/>
            <a:ext cx="13503315" cy="1070991"/>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None/>
            </a:pPr>
            <a:r>
              <a:rPr b="0" i="0" lang="en-US" sz="6900" u="none" cap="none" strike="noStrike">
                <a:solidFill>
                  <a:srgbClr val="131416"/>
                </a:solidFill>
                <a:latin typeface="Arial"/>
                <a:ea typeface="Arial"/>
                <a:cs typeface="Arial"/>
                <a:sym typeface="Arial"/>
              </a:rPr>
              <a:t>REFERENCIAS </a:t>
            </a:r>
            <a:endParaRPr/>
          </a:p>
        </p:txBody>
      </p:sp>
      <p:sp>
        <p:nvSpPr>
          <p:cNvPr id="195" name="Google Shape;195;p14"/>
          <p:cNvSpPr txBox="1"/>
          <p:nvPr/>
        </p:nvSpPr>
        <p:spPr>
          <a:xfrm>
            <a:off x="3113305" y="3145310"/>
            <a:ext cx="13737320" cy="4406224"/>
          </a:xfrm>
          <a:prstGeom prst="rect">
            <a:avLst/>
          </a:prstGeom>
          <a:noFill/>
          <a:ln>
            <a:noFill/>
          </a:ln>
        </p:spPr>
        <p:txBody>
          <a:bodyPr anchorCtr="0" anchor="t" bIns="0" lIns="0" spcFirstLastPara="1" rIns="0" wrap="square" tIns="0">
            <a:spAutoFit/>
          </a:bodyPr>
          <a:lstStyle/>
          <a:p>
            <a:pPr indent="0" lvl="0" marL="0" marR="0" rtl="0" algn="just">
              <a:lnSpc>
                <a:spcPct val="140019"/>
              </a:lnSpc>
              <a:spcBef>
                <a:spcPts val="0"/>
              </a:spcBef>
              <a:spcAft>
                <a:spcPts val="0"/>
              </a:spcAft>
              <a:buNone/>
            </a:pPr>
            <a:r>
              <a:rPr b="0" i="0" lang="en-US" sz="3151" u="none" cap="none" strike="noStrike">
                <a:solidFill>
                  <a:srgbClr val="131416"/>
                </a:solidFill>
                <a:latin typeface="Arial"/>
                <a:ea typeface="Arial"/>
                <a:cs typeface="Arial"/>
                <a:sym typeface="Arial"/>
              </a:rPr>
              <a:t>PMBOK® Guide – Sixth Edition. Project Management Institute (PMI).</a:t>
            </a:r>
            <a:endParaRPr/>
          </a:p>
          <a:p>
            <a:pPr indent="0" lvl="0" marL="0" marR="0" rtl="0" algn="just">
              <a:lnSpc>
                <a:spcPct val="140019"/>
              </a:lnSpc>
              <a:spcBef>
                <a:spcPts val="0"/>
              </a:spcBef>
              <a:spcAft>
                <a:spcPts val="0"/>
              </a:spcAft>
              <a:buNone/>
            </a:pPr>
            <a:r>
              <a:t/>
            </a:r>
            <a:endParaRPr b="0" i="0" sz="3151" u="none" cap="none" strike="noStrike">
              <a:solidFill>
                <a:srgbClr val="131416"/>
              </a:solidFill>
              <a:latin typeface="Arial"/>
              <a:ea typeface="Arial"/>
              <a:cs typeface="Arial"/>
              <a:sym typeface="Arial"/>
            </a:endParaRPr>
          </a:p>
          <a:p>
            <a:pPr indent="0" lvl="0" marL="0" marR="0" rtl="0" algn="just">
              <a:lnSpc>
                <a:spcPct val="140019"/>
              </a:lnSpc>
              <a:spcBef>
                <a:spcPts val="0"/>
              </a:spcBef>
              <a:spcAft>
                <a:spcPts val="0"/>
              </a:spcAft>
              <a:buNone/>
            </a:pPr>
            <a:r>
              <a:rPr b="0" i="0" lang="en-US" sz="3151" u="none" cap="none" strike="noStrike">
                <a:solidFill>
                  <a:srgbClr val="131416"/>
                </a:solidFill>
                <a:latin typeface="Arial"/>
                <a:ea typeface="Arial"/>
                <a:cs typeface="Arial"/>
                <a:sym typeface="Arial"/>
              </a:rPr>
              <a:t>Kerzner, H. (2017). Project Management: A Systems Approach to Planning, Scheduling, and Controlling.</a:t>
            </a:r>
            <a:endParaRPr/>
          </a:p>
          <a:p>
            <a:pPr indent="0" lvl="0" marL="0" marR="0" rtl="0" algn="just">
              <a:lnSpc>
                <a:spcPct val="140019"/>
              </a:lnSpc>
              <a:spcBef>
                <a:spcPts val="0"/>
              </a:spcBef>
              <a:spcAft>
                <a:spcPts val="0"/>
              </a:spcAft>
              <a:buNone/>
            </a:pPr>
            <a:r>
              <a:t/>
            </a:r>
            <a:endParaRPr b="0" i="0" sz="3151" u="none" cap="none" strike="noStrike">
              <a:solidFill>
                <a:srgbClr val="131416"/>
              </a:solidFill>
              <a:latin typeface="Arial"/>
              <a:ea typeface="Arial"/>
              <a:cs typeface="Arial"/>
              <a:sym typeface="Arial"/>
            </a:endParaRPr>
          </a:p>
          <a:p>
            <a:pPr indent="0" lvl="0" marL="0" marR="0" rtl="0" algn="just">
              <a:lnSpc>
                <a:spcPct val="140019"/>
              </a:lnSpc>
              <a:spcBef>
                <a:spcPts val="0"/>
              </a:spcBef>
              <a:spcAft>
                <a:spcPts val="0"/>
              </a:spcAft>
              <a:buNone/>
            </a:pPr>
            <a:r>
              <a:rPr b="0" i="0" lang="en-US" sz="3151" u="none" cap="none" strike="noStrike">
                <a:solidFill>
                  <a:srgbClr val="131416"/>
                </a:solidFill>
                <a:latin typeface="Arial"/>
                <a:ea typeface="Arial"/>
                <a:cs typeface="Arial"/>
                <a:sym typeface="Arial"/>
              </a:rPr>
              <a:t>https://www.scrum.org/</a:t>
            </a:r>
            <a:endParaRPr/>
          </a:p>
          <a:p>
            <a:pPr indent="0" lvl="0" marL="0" marR="0" rtl="0" algn="just">
              <a:lnSpc>
                <a:spcPct val="140019"/>
              </a:lnSpc>
              <a:spcBef>
                <a:spcPts val="0"/>
              </a:spcBef>
              <a:spcAft>
                <a:spcPts val="0"/>
              </a:spcAft>
              <a:buNone/>
            </a:pPr>
            <a:r>
              <a:t/>
            </a:r>
            <a:endParaRPr b="0" i="0" sz="3151" u="none" cap="none" strike="noStrike">
              <a:solidFill>
                <a:srgbClr val="131416"/>
              </a:solidFill>
              <a:latin typeface="Arial"/>
              <a:ea typeface="Arial"/>
              <a:cs typeface="Arial"/>
              <a:sym typeface="Arial"/>
            </a:endParaRPr>
          </a:p>
          <a:p>
            <a:pPr indent="0" lvl="0" marL="0" marR="0" rtl="0" algn="just">
              <a:lnSpc>
                <a:spcPct val="140019"/>
              </a:lnSpc>
              <a:spcBef>
                <a:spcPts val="0"/>
              </a:spcBef>
              <a:spcAft>
                <a:spcPts val="0"/>
              </a:spcAft>
              <a:buNone/>
            </a:pPr>
            <a:r>
              <a:rPr b="0" i="0" lang="en-US" sz="3151" u="none" cap="none" strike="noStrike">
                <a:solidFill>
                  <a:srgbClr val="131416"/>
                </a:solidFill>
                <a:latin typeface="Arial"/>
                <a:ea typeface="Arial"/>
                <a:cs typeface="Arial"/>
                <a:sym typeface="Arial"/>
              </a:rPr>
              <a:t>https://www.tutorialspoint.com/project_management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5"/>
          <p:cNvSpPr txBox="1"/>
          <p:nvPr/>
        </p:nvSpPr>
        <p:spPr>
          <a:xfrm>
            <a:off x="4437795" y="3389104"/>
            <a:ext cx="8658828" cy="2495677"/>
          </a:xfrm>
          <a:prstGeom prst="rect">
            <a:avLst/>
          </a:prstGeom>
          <a:noFill/>
          <a:ln>
            <a:noFill/>
          </a:ln>
        </p:spPr>
        <p:txBody>
          <a:bodyPr anchorCtr="0" anchor="t" bIns="0" lIns="0" spcFirstLastPara="1" rIns="0" wrap="square" tIns="0">
            <a:spAutoFit/>
          </a:bodyPr>
          <a:lstStyle/>
          <a:p>
            <a:pPr indent="0" lvl="0" marL="0" marR="0" rtl="0" algn="just">
              <a:lnSpc>
                <a:spcPct val="104000"/>
              </a:lnSpc>
              <a:spcBef>
                <a:spcPts val="0"/>
              </a:spcBef>
              <a:spcAft>
                <a:spcPts val="0"/>
              </a:spcAft>
              <a:buNone/>
            </a:pPr>
            <a:r>
              <a:rPr b="0" i="0" lang="en-US" sz="6099" u="none" cap="none" strike="noStrike">
                <a:solidFill>
                  <a:srgbClr val="131416"/>
                </a:solidFill>
                <a:latin typeface="Arial"/>
                <a:ea typeface="Arial"/>
                <a:cs typeface="Arial"/>
                <a:sym typeface="Arial"/>
              </a:rPr>
              <a:t>¡GRACIAS POR SU  ATENCIÓN!</a:t>
            </a:r>
            <a:endParaRPr/>
          </a:p>
          <a:p>
            <a:pPr indent="0" lvl="0" marL="0" marR="0" rtl="0" algn="just">
              <a:lnSpc>
                <a:spcPct val="104000"/>
              </a:lnSpc>
              <a:spcBef>
                <a:spcPts val="0"/>
              </a:spcBef>
              <a:spcAft>
                <a:spcPts val="0"/>
              </a:spcAft>
              <a:buNone/>
            </a:pPr>
            <a:r>
              <a:t/>
            </a:r>
            <a:endParaRPr b="0" i="0" sz="6099" u="none" cap="none" strike="noStrike">
              <a:solidFill>
                <a:srgbClr val="131416"/>
              </a:solidFill>
              <a:latin typeface="Arial"/>
              <a:ea typeface="Arial"/>
              <a:cs typeface="Arial"/>
              <a:sym typeface="Arial"/>
            </a:endParaRPr>
          </a:p>
        </p:txBody>
      </p:sp>
      <p:sp>
        <p:nvSpPr>
          <p:cNvPr id="201" name="Google Shape;201;p15"/>
          <p:cNvSpPr txBox="1"/>
          <p:nvPr/>
        </p:nvSpPr>
        <p:spPr>
          <a:xfrm>
            <a:off x="5414714" y="5958103"/>
            <a:ext cx="6704991" cy="89852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None/>
            </a:pPr>
            <a:r>
              <a:rPr b="0" i="0" lang="en-US" sz="5000" u="none" cap="none" strike="noStrike">
                <a:solidFill>
                  <a:srgbClr val="131416"/>
                </a:solidFill>
                <a:latin typeface="Arial"/>
                <a:ea typeface="Arial"/>
                <a:cs typeface="Arial"/>
                <a:sym typeface="Arial"/>
              </a:rPr>
              <a:t>DUDAS</a:t>
            </a:r>
            <a:endParaRPr/>
          </a:p>
        </p:txBody>
      </p:sp>
      <p:sp>
        <p:nvSpPr>
          <p:cNvPr id="202" name="Google Shape;202;p15"/>
          <p:cNvSpPr/>
          <p:nvPr/>
        </p:nvSpPr>
        <p:spPr>
          <a:xfrm>
            <a:off x="13963751" y="1028700"/>
            <a:ext cx="2757268" cy="377097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sp>
      <p:sp>
        <p:nvSpPr>
          <p:cNvPr id="203" name="Google Shape;203;p15"/>
          <p:cNvSpPr txBox="1"/>
          <p:nvPr/>
        </p:nvSpPr>
        <p:spPr>
          <a:xfrm>
            <a:off x="2411098" y="7899735"/>
            <a:ext cx="13465804" cy="71945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None/>
            </a:pPr>
            <a:r>
              <a:rPr b="0" i="0" lang="en-US" sz="2000" u="none" cap="none" strike="noStrike">
                <a:solidFill>
                  <a:srgbClr val="131416"/>
                </a:solidFill>
                <a:latin typeface="Arial"/>
                <a:ea typeface="Arial"/>
                <a:cs typeface="Arial"/>
                <a:sym typeface="Arial"/>
              </a:rPr>
              <a:t>RECUERDA QUE TENEMOS NUESTRO FORO SEMANAL DONDE PUEDES CONSULTAR CUALQUIER DUDA QUE TE SURJA EN LA SEMANA</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