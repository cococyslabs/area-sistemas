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10287000" cx="18288000"/>
  <p:notesSz cx="6858000" cy="9144000"/>
  <p:embeddedFontLst>
    <p:embeddedFont>
      <p:font typeface="Play"/>
      <p:regular r:id="rId24"/>
      <p:bold r:id="rId25"/>
    </p:embeddedFont>
    <p:embeddedFont>
      <p:font typeface="Open Sans"/>
      <p:bold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ibmJAEphDf+Jtu3PQ7hxtvRsw1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lay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.fntdata"/><Relationship Id="rId25" Type="http://schemas.openxmlformats.org/officeDocument/2006/relationships/font" Target="fonts/Play-bold.fntdata"/><Relationship Id="rId28" Type="http://customschemas.google.com/relationships/presentationmetadata" Target="metadata"/><Relationship Id="rId27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1063303" y="7865776"/>
            <a:ext cx="6467475" cy="1749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Teoría de Sistemas 2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69140" y="3141906"/>
            <a:ext cx="17749719" cy="319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Sistemas para la entrega de valor y proyectos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9210675"/>
            <a:ext cx="3525292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5" name="Google Shape;95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96" name="Google Shape;96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7" name="Google Shape;97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98" name="Google Shape;98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9" name="Google Shape;99;p2"/>
          <p:cNvGrpSpPr/>
          <p:nvPr/>
        </p:nvGrpSpPr>
        <p:grpSpPr>
          <a:xfrm>
            <a:off x="651748" y="-320617"/>
            <a:ext cx="9515026" cy="3120467"/>
            <a:chOff x="-8" y="-95250"/>
            <a:chExt cx="12686700" cy="4160623"/>
          </a:xfrm>
        </p:grpSpPr>
        <p:sp>
          <p:nvSpPr>
            <p:cNvPr id="100" name="Google Shape;100;p2"/>
            <p:cNvSpPr txBox="1"/>
            <p:nvPr/>
          </p:nvSpPr>
          <p:spPr>
            <a:xfrm>
              <a:off x="-8" y="986773"/>
              <a:ext cx="126867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/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1866989" y="4452402"/>
            <a:ext cx="12118671" cy="1203525"/>
            <a:chOff x="0" y="-76200"/>
            <a:chExt cx="5159516" cy="512400"/>
          </a:xfrm>
        </p:grpSpPr>
        <p:sp>
          <p:nvSpPr>
            <p:cNvPr id="103" name="Google Shape;103;p2"/>
            <p:cNvSpPr/>
            <p:nvPr/>
          </p:nvSpPr>
          <p:spPr>
            <a:xfrm>
              <a:off x="0" y="0"/>
              <a:ext cx="5159516" cy="436070"/>
            </a:xfrm>
            <a:custGeom>
              <a:rect b="b" l="l" r="r" t="t"/>
              <a:pathLst>
                <a:path extrusionOk="0" h="436070" w="5159516">
                  <a:moveTo>
                    <a:pt x="4956316" y="0"/>
                  </a:moveTo>
                  <a:lnTo>
                    <a:pt x="0" y="0"/>
                  </a:lnTo>
                  <a:lnTo>
                    <a:pt x="0" y="436070"/>
                  </a:lnTo>
                  <a:lnTo>
                    <a:pt x="4956316" y="436070"/>
                  </a:lnTo>
                  <a:lnTo>
                    <a:pt x="5159516" y="218035"/>
                  </a:lnTo>
                  <a:lnTo>
                    <a:pt x="49563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4" name="Google Shape;104;p2"/>
            <p:cNvSpPr txBox="1"/>
            <p:nvPr/>
          </p:nvSpPr>
          <p:spPr>
            <a:xfrm>
              <a:off x="0" y="-76200"/>
              <a:ext cx="5045100" cy="51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Introducción a la EDT (WBS)</a:t>
              </a:r>
              <a:endParaRPr/>
            </a:p>
          </p:txBody>
        </p:sp>
      </p:grpSp>
      <p:sp>
        <p:nvSpPr>
          <p:cNvPr id="105" name="Google Shape;105;p2"/>
          <p:cNvSpPr txBox="1"/>
          <p:nvPr/>
        </p:nvSpPr>
        <p:spPr>
          <a:xfrm>
            <a:off x="11131715" y="78516"/>
            <a:ext cx="8416862" cy="579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6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7" name="Google Shape;107;p2"/>
          <p:cNvGrpSpPr/>
          <p:nvPr/>
        </p:nvGrpSpPr>
        <p:grpSpPr>
          <a:xfrm>
            <a:off x="1866989" y="6472659"/>
            <a:ext cx="12118639" cy="1203215"/>
            <a:chOff x="0" y="-76200"/>
            <a:chExt cx="5159516" cy="512270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5159516" cy="436070"/>
            </a:xfrm>
            <a:custGeom>
              <a:rect b="b" l="l" r="r" t="t"/>
              <a:pathLst>
                <a:path extrusionOk="0" h="436070" w="5159516">
                  <a:moveTo>
                    <a:pt x="4956316" y="0"/>
                  </a:moveTo>
                  <a:lnTo>
                    <a:pt x="0" y="0"/>
                  </a:lnTo>
                  <a:lnTo>
                    <a:pt x="0" y="436070"/>
                  </a:lnTo>
                  <a:lnTo>
                    <a:pt x="4956316" y="436070"/>
                  </a:lnTo>
                  <a:lnTo>
                    <a:pt x="5159516" y="218035"/>
                  </a:lnTo>
                  <a:lnTo>
                    <a:pt x="49563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9" name="Google Shape;109;p2"/>
            <p:cNvSpPr txBox="1"/>
            <p:nvPr/>
          </p:nvSpPr>
          <p:spPr>
            <a:xfrm>
              <a:off x="0" y="-76200"/>
              <a:ext cx="5045216" cy="512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Descomposición de tareas y entregables</a:t>
              </a:r>
              <a:endParaRPr/>
            </a:p>
          </p:txBody>
        </p:sp>
      </p:grpSp>
      <p:sp>
        <p:nvSpPr>
          <p:cNvPr id="110" name="Google Shape;110;p2"/>
          <p:cNvSpPr/>
          <p:nvPr/>
        </p:nvSpPr>
        <p:spPr>
          <a:xfrm>
            <a:off x="878654" y="6793036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1" name="Google Shape;111;p2"/>
          <p:cNvGrpSpPr/>
          <p:nvPr/>
        </p:nvGrpSpPr>
        <p:grpSpPr>
          <a:xfrm>
            <a:off x="1866989" y="7496897"/>
            <a:ext cx="12661175" cy="845385"/>
            <a:chOff x="0" y="-76200"/>
            <a:chExt cx="5390501" cy="359923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5390501" cy="283723"/>
            </a:xfrm>
            <a:custGeom>
              <a:rect b="b" l="l" r="r" t="t"/>
              <a:pathLst>
                <a:path extrusionOk="0" h="283723" w="5390501">
                  <a:moveTo>
                    <a:pt x="518730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5187301" y="283723"/>
                  </a:lnTo>
                  <a:lnTo>
                    <a:pt x="5390501" y="141862"/>
                  </a:lnTo>
                  <a:lnTo>
                    <a:pt x="51873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3" name="Google Shape;113;p2"/>
            <p:cNvSpPr txBox="1"/>
            <p:nvPr/>
          </p:nvSpPr>
          <p:spPr>
            <a:xfrm>
              <a:off x="0" y="-76200"/>
              <a:ext cx="527620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Niveles de la EDT</a:t>
              </a:r>
              <a:endParaRPr/>
            </a:p>
          </p:txBody>
        </p:sp>
      </p:grpSp>
      <p:grpSp>
        <p:nvGrpSpPr>
          <p:cNvPr id="114" name="Google Shape;114;p2"/>
          <p:cNvGrpSpPr/>
          <p:nvPr/>
        </p:nvGrpSpPr>
        <p:grpSpPr>
          <a:xfrm>
            <a:off x="1866989" y="5610988"/>
            <a:ext cx="12661209" cy="1363478"/>
            <a:chOff x="0" y="-76200"/>
            <a:chExt cx="5390501" cy="580500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5390501" cy="504259"/>
            </a:xfrm>
            <a:custGeom>
              <a:rect b="b" l="l" r="r" t="t"/>
              <a:pathLst>
                <a:path extrusionOk="0" h="504259" w="5390501">
                  <a:moveTo>
                    <a:pt x="5187301" y="0"/>
                  </a:moveTo>
                  <a:lnTo>
                    <a:pt x="0" y="0"/>
                  </a:lnTo>
                  <a:lnTo>
                    <a:pt x="0" y="504259"/>
                  </a:lnTo>
                  <a:lnTo>
                    <a:pt x="5187301" y="504259"/>
                  </a:lnTo>
                  <a:lnTo>
                    <a:pt x="5390501" y="252130"/>
                  </a:lnTo>
                  <a:lnTo>
                    <a:pt x="51873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6" name="Google Shape;116;p2"/>
            <p:cNvSpPr txBox="1"/>
            <p:nvPr/>
          </p:nvSpPr>
          <p:spPr>
            <a:xfrm>
              <a:off x="0" y="-76200"/>
              <a:ext cx="5276100" cy="5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"Componentes jerárquicos de la EDT</a:t>
              </a:r>
              <a:endParaRPr/>
            </a:p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"</a:t>
              </a:r>
              <a:endParaRPr/>
            </a:p>
          </p:txBody>
        </p:sp>
      </p:grpSp>
      <p:sp>
        <p:nvSpPr>
          <p:cNvPr id="117" name="Google Shape;117;p2"/>
          <p:cNvSpPr/>
          <p:nvPr/>
        </p:nvSpPr>
        <p:spPr>
          <a:xfrm>
            <a:off x="878654" y="767587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/>
          <p:nvPr/>
        </p:nvSpPr>
        <p:spPr>
          <a:xfrm>
            <a:off x="1374889" y="654364"/>
            <a:ext cx="13991174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1367785" y="2926462"/>
            <a:ext cx="16920215" cy="2371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integra estructura de desglose de trabajo (EDT) utilizando herramientas de planificación como Project Libre para organizar tareas y entregables en proyectos complejos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/>
          <p:nvPr/>
        </p:nvSpPr>
        <p:spPr>
          <a:xfrm>
            <a:off x="1028700" y="1826407"/>
            <a:ext cx="15722478" cy="6033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3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26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La Estructura de Desglose del Trabajo (EDT) es un documento que organiza y divide el trabajo total del proyecto en unidades o paquetes de trabajo más pequeños y manejables. Estos paquetes permiten asignar responsabilidades, medir el progreso y asegurar que nada se pase por alto.</a:t>
            </a:r>
            <a:endParaRPr/>
          </a:p>
          <a:p>
            <a:pPr indent="0" lvl="0" marL="0" marR="0" rtl="0" algn="just">
              <a:lnSpc>
                <a:spcPct val="173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26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3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26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El EDT es una representación jerárquica que facilita la organización del trabajo, y es esencial para gestionar proyectos complejos, como los de ingeniería en ciencias y sistemas.</a:t>
            </a:r>
            <a:endParaRPr/>
          </a:p>
          <a:p>
            <a:pPr indent="0" lvl="0" marL="0" marR="0" rtl="0" algn="l">
              <a:lnSpc>
                <a:spcPct val="2244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26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1374889" y="654364"/>
            <a:ext cx="16698774" cy="1708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¿QUÉ ES EL EDT?</a:t>
            </a:r>
            <a:endParaRPr/>
          </a:p>
          <a:p>
            <a:pPr indent="0" lvl="0" marL="0" marR="0" rtl="0" algn="just">
              <a:lnSpc>
                <a:spcPct val="10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8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/>
        </p:nvSpPr>
        <p:spPr>
          <a:xfrm>
            <a:off x="1408380" y="4279750"/>
            <a:ext cx="16698774" cy="2575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PASOS PARA DESARROLLAR UN EDT</a:t>
            </a:r>
            <a:endParaRPr/>
          </a:p>
          <a:p>
            <a:pPr indent="0" lvl="0" marL="0" marR="0" rtl="0" algn="l">
              <a:lnSpc>
                <a:spcPct val="10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8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/>
        </p:nvSpPr>
        <p:spPr>
          <a:xfrm>
            <a:off x="1028700" y="914400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1. Definir el objetivo del proyecto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2310562" y="2720816"/>
            <a:ext cx="13666877" cy="6010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Antes de crear el EDT, deben tener una comprensión clara de lo que el proyecto debe lograr. Esto debe estar reflejado en los objetivos del proyecto y el alcance previamente definidos.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Por ejemplo, si están desarrollando un sistema de software para gestionar inventarios, el objetivo sería "crear una solución eficiente para la gestión de inventarios en tiempo real".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/>
          <p:nvPr/>
        </p:nvSpPr>
        <p:spPr>
          <a:xfrm>
            <a:off x="1028700" y="914400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2. Identificar los entregables principales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2307153" y="2020040"/>
            <a:ext cx="13660067" cy="1471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El segundo paso es identificar los entregables o productos finales del proyecto. Los entregables son los resultados tangibles que se esperan al final de cada fase.</a:t>
            </a:r>
            <a:endParaRPr/>
          </a:p>
          <a:p>
            <a:pPr indent="0" lvl="0" marL="0" marR="0" rtl="0" algn="l">
              <a:lnSpc>
                <a:spcPct val="173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8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 txBox="1"/>
          <p:nvPr/>
        </p:nvSpPr>
        <p:spPr>
          <a:xfrm>
            <a:off x="2307153" y="3768620"/>
            <a:ext cx="12823657" cy="1471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Ejemplo: En un proyecto de desarrollo de software, los entregables principales pueden ser:</a:t>
            </a:r>
            <a:endParaRPr/>
          </a:p>
          <a:p>
            <a:pPr indent="0" lvl="0" marL="0" marR="0" rtl="0" algn="l">
              <a:lnSpc>
                <a:spcPct val="173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8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2307153" y="5382610"/>
            <a:ext cx="13099702" cy="3832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14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Diseño de la arquitectura del sistema</a:t>
            </a:r>
            <a:endParaRPr/>
          </a:p>
          <a:p>
            <a:pPr indent="0" lvl="0" marL="0" marR="0" rtl="0" algn="l">
              <a:lnSpc>
                <a:spcPct val="172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14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Desarrollo del backend</a:t>
            </a:r>
            <a:endParaRPr/>
          </a:p>
          <a:p>
            <a:pPr indent="0" lvl="0" marL="0" marR="0" rtl="0" algn="l">
              <a:lnSpc>
                <a:spcPct val="172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14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Desarrollo de la interfaz de usuario (UI)</a:t>
            </a:r>
            <a:endParaRPr/>
          </a:p>
          <a:p>
            <a:pPr indent="0" lvl="0" marL="0" marR="0" rtl="0" algn="l">
              <a:lnSpc>
                <a:spcPct val="172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14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Pruebas del sistema</a:t>
            </a:r>
            <a:endParaRPr/>
          </a:p>
          <a:p>
            <a:pPr indent="0" lvl="0" marL="0" marR="0" rtl="0" algn="l">
              <a:lnSpc>
                <a:spcPct val="172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14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Documentación del sistema</a:t>
            </a:r>
            <a:endParaRPr/>
          </a:p>
          <a:p>
            <a:pPr indent="0" lvl="0" marL="0" marR="0" rtl="0" algn="l">
              <a:lnSpc>
                <a:spcPct val="172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14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14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14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 txBox="1"/>
          <p:nvPr/>
        </p:nvSpPr>
        <p:spPr>
          <a:xfrm>
            <a:off x="1028700" y="914400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3. Dividir los entregables en tareas o actividades más pequeñas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8"/>
          <p:cNvSpPr txBox="1"/>
          <p:nvPr/>
        </p:nvSpPr>
        <p:spPr>
          <a:xfrm>
            <a:off x="1870835" y="2133068"/>
            <a:ext cx="13666877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Cada uno de los entregables principales debe desglosarse en tareas más pequeñas y detalladas. Aquí es donde entra el concepto de "paquetes de trabajo".</a:t>
            </a:r>
            <a:endParaRPr/>
          </a:p>
        </p:txBody>
      </p:sp>
      <p:sp>
        <p:nvSpPr>
          <p:cNvPr id="155" name="Google Shape;155;p8"/>
          <p:cNvSpPr txBox="1"/>
          <p:nvPr/>
        </p:nvSpPr>
        <p:spPr>
          <a:xfrm>
            <a:off x="1870835" y="3573993"/>
            <a:ext cx="13666877" cy="2984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Cada tarea debe ser lo suficientemente pequeña como para que sea fácil estimar el tiempo y los recursos necesarios para completarla.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Ejemplo: Si uno de los entregables es "Desarrollo del backend", pueden dividirlo en tareas como: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1870835" y="6273522"/>
            <a:ext cx="13666877" cy="3993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Configuración del servidor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Creación de la base de datos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Implementación de la API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Pruebas unitarias del backend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 txBox="1"/>
          <p:nvPr/>
        </p:nvSpPr>
        <p:spPr>
          <a:xfrm>
            <a:off x="1028700" y="914400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4. Organizar las tareas en una estructura jerárquica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2310562" y="3059902"/>
            <a:ext cx="13666877" cy="4497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Una vez que hayan identificado todas las tareas y sub-tareas, deben organizarlas en una estructura jerárquica. El nivel más alto de la jerarquía representa el proyecto completo, y cada nivel descendente representa tareas más específicas.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En un gráfico de EDT, cada nivel del proyecto se descompone en elementos más detallados, lo que facilita la visualización del trabajo que debe realizarse.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/>
          <p:nvPr/>
        </p:nvSpPr>
        <p:spPr>
          <a:xfrm>
            <a:off x="825249" y="1592571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5. Asignar responsabilidades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"/>
          <p:cNvSpPr txBox="1"/>
          <p:nvPr/>
        </p:nvSpPr>
        <p:spPr>
          <a:xfrm>
            <a:off x="2170287" y="3557227"/>
            <a:ext cx="13666877" cy="5506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Una vez que se ha desglosado el trabajo, es importante asignar responsabilidades. Cada paquete de trabajo debe tener una persona o equipo responsable. Esto facilita la supervisión y asegura que cada tarea tenga un "dueño".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Ejemplo: Si uno de los paquetes de trabajo es "Implementación de la API", este podría ser asignado al equipo de desarrollo de software.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 txBox="1"/>
          <p:nvPr/>
        </p:nvSpPr>
        <p:spPr>
          <a:xfrm>
            <a:off x="1028700" y="914400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6. Definir entregables y criterios de éxito para cada paquete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"/>
          <p:cNvSpPr txBox="1"/>
          <p:nvPr/>
        </p:nvSpPr>
        <p:spPr>
          <a:xfrm>
            <a:off x="1835842" y="1905538"/>
            <a:ext cx="13666877" cy="1976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Cada paquete de trabajo debe tener un resultado claro o un entregable, así como criterios de éxito que definan cómo sabrán si esa tarea está completa y cumple con los estándares necesarios.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1"/>
          <p:cNvSpPr txBox="1"/>
          <p:nvPr/>
        </p:nvSpPr>
        <p:spPr>
          <a:xfrm>
            <a:off x="1028700" y="4661104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7. Verificar la integridad del EDT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1835842" y="5652242"/>
            <a:ext cx="13666877" cy="2480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El último paso es asegurarse de que el EDT cubra todo el trabajo necesario para completar el proyecto. Un buen EDT debe cumplir con la regla del 100%, es decir, debe incluir el 100% del trabajo requerido para cumplir con los objetivos del proyecto, y no debe omitir ninguna tarea importante.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"/>
          <p:cNvSpPr txBox="1"/>
          <p:nvPr/>
        </p:nvSpPr>
        <p:spPr>
          <a:xfrm>
            <a:off x="1028700" y="914400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¿Por qué es importante el EDT?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2"/>
          <p:cNvSpPr txBox="1"/>
          <p:nvPr/>
        </p:nvSpPr>
        <p:spPr>
          <a:xfrm>
            <a:off x="1496757" y="1905538"/>
            <a:ext cx="13666877" cy="4497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AutoNum type="arabicPeriod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Claridad y enfoque: El EDT ayuda a mantener al equipo centrado en los entregables clave y evita que se agregue trabajo no planificado (conocido como "scope creep").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AutoNum type="arabicPeriod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Mejora de la gestión de recursos: Al descomponer el trabajo, es más fácil estimar el tiempo, los costos y los recursos necesarios.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AutoNum type="arabicPeriod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Seguimiento del progreso: Permite medir el avance del proyecto con más precisión, ya que cada tarea pequeña es más fácil de controlar.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AutoNum type="arabicPeriod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Asignación clara de responsabilidades: Asegura que cada tarea tenga un responsable directo, lo que facilita la gestión del equipo y la rendición de cuentas.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"/>
          <p:cNvSpPr txBox="1"/>
          <p:nvPr/>
        </p:nvSpPr>
        <p:spPr>
          <a:xfrm>
            <a:off x="1028700" y="914400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Ejemplo de un EDT en ingeniería de sistemas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3"/>
          <p:cNvSpPr txBox="1"/>
          <p:nvPr/>
        </p:nvSpPr>
        <p:spPr>
          <a:xfrm>
            <a:off x="2310562" y="4414769"/>
            <a:ext cx="13666877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Supongamos que estamos trabajando en el desarrollo de un sistema para gestionar inventarios. El EDT de alto nivel podría verse así: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"/>
          <p:cNvSpPr txBox="1"/>
          <p:nvPr/>
        </p:nvSpPr>
        <p:spPr>
          <a:xfrm>
            <a:off x="1168975" y="914400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Desarrollo del sistema de inventarios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4"/>
          <p:cNvSpPr txBox="1"/>
          <p:nvPr/>
        </p:nvSpPr>
        <p:spPr>
          <a:xfrm>
            <a:off x="2468801" y="1767563"/>
            <a:ext cx="13666877" cy="8028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1.1 Diseño del sistema</a:t>
            </a:r>
            <a:endParaRPr/>
          </a:p>
          <a:p>
            <a:pPr indent="-332503" lvl="2" marL="99751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⚬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1.1.1 Investigación de requisitos</a:t>
            </a:r>
            <a:endParaRPr/>
          </a:p>
          <a:p>
            <a:pPr indent="-332503" lvl="2" marL="99751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⚬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1.1.2 Creación del prototipo</a:t>
            </a:r>
            <a:endParaRPr/>
          </a:p>
          <a:p>
            <a:pPr indent="-332503" lvl="2" marL="99751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⚬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1.1.3 Revisión del diseño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1.2 Desarrollo del backend</a:t>
            </a:r>
            <a:endParaRPr/>
          </a:p>
          <a:p>
            <a:pPr indent="-332503" lvl="2" marL="99751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⚬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1.2.1 Configuración del servidor</a:t>
            </a:r>
            <a:endParaRPr/>
          </a:p>
          <a:p>
            <a:pPr indent="-332503" lvl="2" marL="99751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⚬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1.2.2 Creación de la base de datos</a:t>
            </a:r>
            <a:endParaRPr/>
          </a:p>
          <a:p>
            <a:pPr indent="-332503" lvl="2" marL="99751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⚬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1.2.3 Implementación de la API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1.3 Desarrollo de la interfaz de usuario</a:t>
            </a:r>
            <a:endParaRPr/>
          </a:p>
          <a:p>
            <a:pPr indent="-332503" lvl="2" marL="99751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⚬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1.3.1 Diseño de UI</a:t>
            </a:r>
            <a:endParaRPr/>
          </a:p>
          <a:p>
            <a:pPr indent="-332503" lvl="2" marL="99751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⚬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1.3.2 Desarrollo de la UI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1.4 Pruebas y validación</a:t>
            </a:r>
            <a:endParaRPr/>
          </a:p>
          <a:p>
            <a:pPr indent="-332503" lvl="2" marL="99751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⚬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1.4.1 Pruebas unitarias</a:t>
            </a:r>
            <a:endParaRPr/>
          </a:p>
          <a:p>
            <a:pPr indent="-332503" lvl="2" marL="99751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⚬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1.4.2 Pruebas de integración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1.5 Documentación del sistema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 txBox="1"/>
          <p:nvPr/>
        </p:nvSpPr>
        <p:spPr>
          <a:xfrm>
            <a:off x="1028700" y="914400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Conclusión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5"/>
          <p:cNvSpPr txBox="1"/>
          <p:nvPr/>
        </p:nvSpPr>
        <p:spPr>
          <a:xfrm>
            <a:off x="1926265" y="2538497"/>
            <a:ext cx="13666877" cy="4497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La Estructura de Desglose del Trabajo es la coluna vertebral de la planificación de cualquier proyecto. Desglosar el proyecto en tareas pequeñas y manejables permite una mejor asignación de recursos, un seguimiento más efectivo y, en última instancia, un mayor control sobre el éxito del proyecto.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Cuando desarrollen un proyecto, recuerden que el EDT no es solo un requisito formal; es una herramienta estratégica para asegurar que no se deje nada al azar y que cada tarea tenga un propósito y responsable claro.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NOMBRE DEL VALOR Y/O ACTITUD</a:t>
            </a:r>
            <a:endParaRPr/>
          </a:p>
        </p:txBody>
      </p:sp>
      <p:sp>
        <p:nvSpPr>
          <p:cNvPr id="206" name="Google Shape;206;p16"/>
          <p:cNvSpPr txBox="1"/>
          <p:nvPr/>
        </p:nvSpPr>
        <p:spPr>
          <a:xfrm>
            <a:off x="1871436" y="5019675"/>
            <a:ext cx="14775300" cy="40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37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Compromiso:</a:t>
            </a:r>
            <a:endParaRPr b="0" i="0" sz="6737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rgbClr val="131416"/>
                </a:solidFill>
              </a:rPr>
              <a:t>Cumplir con las fechas definidas requiere responsabilidad y disciplina. El compromiso asegura que cada tarea se ejecute en el tiempo acordado.</a:t>
            </a:r>
            <a:endParaRPr sz="4500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3113305" y="3145310"/>
            <a:ext cx="13737320" cy="4406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PMBOK® Guide – Sixth Edition. Project Management Institute (PMI).</a:t>
            </a:r>
            <a:endParaRPr/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Kerzner, H. (2017). Project Management: A Systems Approach to Planning, Scheduling, and Controlling.</a:t>
            </a:r>
            <a:endParaRPr/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https://www.scrum.org/</a:t>
            </a:r>
            <a:endParaRPr/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https://www.tutorialspoint.com/project_management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8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0" name="Google Shape;220;p18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