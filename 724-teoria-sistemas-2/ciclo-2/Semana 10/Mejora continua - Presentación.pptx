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embeddedFontLst>
    <p:embeddedFont>
      <p:font typeface="Play"/>
      <p:regular r:id="rId23"/>
      <p:bold r:id="rId24"/>
    </p:embeddedFont>
    <p:embeddedFont>
      <p:font typeface="Open Sans"/>
      <p:bold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7" roundtripDataSignature="AMtx7mglMoFrx/nmzpv0z0W24cqor7Ws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bold.fntdata"/><Relationship Id="rId23" Type="http://schemas.openxmlformats.org/officeDocument/2006/relationships/font" Target="fonts/Pl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boldItalic.fntdata"/><Relationship Id="rId25" Type="http://schemas.openxmlformats.org/officeDocument/2006/relationships/font" Target="fonts/OpenSans-bold.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7865776"/>
            <a:ext cx="6467475" cy="174942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Teoría de Sistemas 2</a:t>
            </a:r>
            <a:endParaRPr/>
          </a:p>
          <a:p>
            <a:pPr indent="0" lvl="0" marL="0" marR="0" rtl="0" algn="ctr">
              <a:lnSpc>
                <a:spcPct val="140000"/>
              </a:lnSpc>
              <a:spcBef>
                <a:spcPts val="0"/>
              </a:spcBef>
              <a:spcAft>
                <a:spcPts val="0"/>
              </a:spcAft>
              <a:buNone/>
            </a:pPr>
            <a:r>
              <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4324350" y="3141906"/>
            <a:ext cx="9639300"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Mejora continua</a:t>
            </a:r>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89" name="Google Shape;89;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866989" y="4452403"/>
            <a:ext cx="12118639" cy="1203215"/>
            <a:chOff x="0" y="-76200"/>
            <a:chExt cx="5159516" cy="512270"/>
          </a:xfrm>
        </p:grpSpPr>
        <p:sp>
          <p:nvSpPr>
            <p:cNvPr id="95" name="Google Shape;95;p2"/>
            <p:cNvSpPr/>
            <p:nvPr/>
          </p:nvSpPr>
          <p:spPr>
            <a:xfrm>
              <a:off x="0" y="0"/>
              <a:ext cx="5159516" cy="436070"/>
            </a:xfrm>
            <a:custGeom>
              <a:rect b="b" l="l" r="r" t="t"/>
              <a:pathLst>
                <a:path extrusionOk="0" h="436070" w="5159516">
                  <a:moveTo>
                    <a:pt x="4956316" y="0"/>
                  </a:moveTo>
                  <a:lnTo>
                    <a:pt x="0" y="0"/>
                  </a:lnTo>
                  <a:lnTo>
                    <a:pt x="0" y="436070"/>
                  </a:lnTo>
                  <a:lnTo>
                    <a:pt x="4956316" y="436070"/>
                  </a:lnTo>
                  <a:lnTo>
                    <a:pt x="5159516" y="218035"/>
                  </a:lnTo>
                  <a:lnTo>
                    <a:pt x="4956316" y="0"/>
                  </a:lnTo>
                  <a:close/>
                </a:path>
              </a:pathLst>
            </a:custGeom>
            <a:solidFill>
              <a:srgbClr val="FFFFFF"/>
            </a:solidFill>
            <a:ln>
              <a:noFill/>
            </a:ln>
          </p:spPr>
        </p:sp>
        <p:sp>
          <p:nvSpPr>
            <p:cNvPr id="96" name="Google Shape;96;p2"/>
            <p:cNvSpPr txBox="1"/>
            <p:nvPr/>
          </p:nvSpPr>
          <p:spPr>
            <a:xfrm>
              <a:off x="0" y="-76200"/>
              <a:ext cx="5045216" cy="512270"/>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Preparación de entregables finales del proyecto</a:t>
              </a:r>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2" name="Google Shape;102;p2"/>
          <p:cNvGrpSpPr/>
          <p:nvPr/>
        </p:nvGrpSpPr>
        <p:grpSpPr>
          <a:xfrm>
            <a:off x="651749" y="-320617"/>
            <a:ext cx="7842151" cy="3120467"/>
            <a:chOff x="-7" y="-95250"/>
            <a:chExt cx="10456200" cy="4160623"/>
          </a:xfrm>
        </p:grpSpPr>
        <p:sp>
          <p:nvSpPr>
            <p:cNvPr id="103" name="Google Shape;103;p2"/>
            <p:cNvSpPr txBox="1"/>
            <p:nvPr/>
          </p:nvSpPr>
          <p:spPr>
            <a:xfrm>
              <a:off x="-7" y="986773"/>
              <a:ext cx="104562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4" name="Google Shape;104;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5" name="Google Shape;105;p2"/>
          <p:cNvSpPr txBox="1"/>
          <p:nvPr/>
        </p:nvSpPr>
        <p:spPr>
          <a:xfrm>
            <a:off x="11131715" y="78516"/>
            <a:ext cx="8416862" cy="579709"/>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6" name="Google Shape;106;p2"/>
          <p:cNvGrpSpPr/>
          <p:nvPr/>
        </p:nvGrpSpPr>
        <p:grpSpPr>
          <a:xfrm>
            <a:off x="1866989" y="5610989"/>
            <a:ext cx="12661175" cy="1363379"/>
            <a:chOff x="0" y="-76200"/>
            <a:chExt cx="5390501" cy="580459"/>
          </a:xfrm>
        </p:grpSpPr>
        <p:sp>
          <p:nvSpPr>
            <p:cNvPr id="107" name="Google Shape;107;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08" name="Google Shape;108;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Validación y aceptación de los entregables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09" name="Google Shape;109;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0" name="Google Shape;110;p2"/>
          <p:cNvGrpSpPr/>
          <p:nvPr/>
        </p:nvGrpSpPr>
        <p:grpSpPr>
          <a:xfrm>
            <a:off x="1866989" y="6472659"/>
            <a:ext cx="12118639" cy="1363379"/>
            <a:chOff x="0" y="-76200"/>
            <a:chExt cx="5159516" cy="580459"/>
          </a:xfrm>
        </p:grpSpPr>
        <p:sp>
          <p:nvSpPr>
            <p:cNvPr id="111" name="Google Shape;111;p2"/>
            <p:cNvSpPr/>
            <p:nvPr/>
          </p:nvSpPr>
          <p:spPr>
            <a:xfrm>
              <a:off x="0" y="0"/>
              <a:ext cx="5159516" cy="504259"/>
            </a:xfrm>
            <a:custGeom>
              <a:rect b="b" l="l" r="r" t="t"/>
              <a:pathLst>
                <a:path extrusionOk="0" h="504259" w="5159516">
                  <a:moveTo>
                    <a:pt x="4956316" y="0"/>
                  </a:moveTo>
                  <a:lnTo>
                    <a:pt x="0" y="0"/>
                  </a:lnTo>
                  <a:lnTo>
                    <a:pt x="0" y="504259"/>
                  </a:lnTo>
                  <a:lnTo>
                    <a:pt x="4956316" y="504259"/>
                  </a:lnTo>
                  <a:lnTo>
                    <a:pt x="5159516" y="252130"/>
                  </a:lnTo>
                  <a:lnTo>
                    <a:pt x="4956316" y="0"/>
                  </a:lnTo>
                  <a:close/>
                </a:path>
              </a:pathLst>
            </a:custGeom>
            <a:solidFill>
              <a:srgbClr val="FFFFFF"/>
            </a:solidFill>
            <a:ln>
              <a:noFill/>
            </a:ln>
          </p:spPr>
        </p:sp>
        <p:sp>
          <p:nvSpPr>
            <p:cNvPr id="112" name="Google Shape;112;p2"/>
            <p:cNvSpPr txBox="1"/>
            <p:nvPr/>
          </p:nvSpPr>
          <p:spPr>
            <a:xfrm>
              <a:off x="0" y="-76200"/>
              <a:ext cx="5045216"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Revisión del cumplimiento de los objetivos del proyecto</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13" name="Google Shape;113;p2"/>
          <p:cNvSpPr/>
          <p:nvPr/>
        </p:nvSpPr>
        <p:spPr>
          <a:xfrm>
            <a:off x="878654" y="6793036"/>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14" name="Google Shape;114;p2"/>
          <p:cNvGrpSpPr/>
          <p:nvPr/>
        </p:nvGrpSpPr>
        <p:grpSpPr>
          <a:xfrm>
            <a:off x="1866989" y="7496897"/>
            <a:ext cx="12661175" cy="1363379"/>
            <a:chOff x="0" y="-76200"/>
            <a:chExt cx="5390501" cy="580459"/>
          </a:xfrm>
        </p:grpSpPr>
        <p:sp>
          <p:nvSpPr>
            <p:cNvPr id="115" name="Google Shape;115;p2"/>
            <p:cNvSpPr/>
            <p:nvPr/>
          </p:nvSpPr>
          <p:spPr>
            <a:xfrm>
              <a:off x="0" y="0"/>
              <a:ext cx="5390501" cy="504259"/>
            </a:xfrm>
            <a:custGeom>
              <a:rect b="b" l="l" r="r" t="t"/>
              <a:pathLst>
                <a:path extrusionOk="0" h="504259" w="5390501">
                  <a:moveTo>
                    <a:pt x="5187301" y="0"/>
                  </a:moveTo>
                  <a:lnTo>
                    <a:pt x="0" y="0"/>
                  </a:lnTo>
                  <a:lnTo>
                    <a:pt x="0" y="504259"/>
                  </a:lnTo>
                  <a:lnTo>
                    <a:pt x="5187301" y="504259"/>
                  </a:lnTo>
                  <a:lnTo>
                    <a:pt x="5390501" y="252130"/>
                  </a:lnTo>
                  <a:lnTo>
                    <a:pt x="5187301" y="0"/>
                  </a:lnTo>
                  <a:close/>
                </a:path>
              </a:pathLst>
            </a:custGeom>
            <a:solidFill>
              <a:srgbClr val="FFFFFF"/>
            </a:solidFill>
            <a:ln>
              <a:noFill/>
            </a:ln>
          </p:spPr>
        </p:sp>
        <p:sp>
          <p:nvSpPr>
            <p:cNvPr id="116" name="Google Shape;116;p2"/>
            <p:cNvSpPr txBox="1"/>
            <p:nvPr/>
          </p:nvSpPr>
          <p:spPr>
            <a:xfrm>
              <a:off x="0" y="-76200"/>
              <a:ext cx="5276201" cy="580459"/>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Documentación de lecciones aprendidas</a:t>
              </a:r>
              <a:endParaRPr/>
            </a:p>
            <a:p>
              <a:pPr indent="0" lvl="0" marL="0" marR="0" rtl="0" algn="l">
                <a:lnSpc>
                  <a:spcPct val="148017"/>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grpSp>
      <p:sp>
        <p:nvSpPr>
          <p:cNvPr id="117" name="Google Shape;117;p2"/>
          <p:cNvSpPr/>
          <p:nvPr/>
        </p:nvSpPr>
        <p:spPr>
          <a:xfrm>
            <a:off x="878654" y="767587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3" name="Google Shape;123;p3"/>
          <p:cNvSpPr txBox="1"/>
          <p:nvPr/>
        </p:nvSpPr>
        <p:spPr>
          <a:xfrm>
            <a:off x="1367785" y="2926462"/>
            <a:ext cx="16920215" cy="317182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500" u="none" cap="none" strike="noStrike">
                <a:solidFill>
                  <a:srgbClr val="131416"/>
                </a:solidFill>
                <a:latin typeface="Open Sans"/>
                <a:ea typeface="Open Sans"/>
                <a:cs typeface="Open Sans"/>
                <a:sym typeface="Open Sans"/>
              </a:rPr>
              <a:t>Integra principios de calidad, eficiencia y control de tiempos mediante el uso de cronogramas, presupuestos y simuladores para mejorar el desempeño y cumplimiento de los objetivos de proyectos de TI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nvSpPr>
        <p:spPr>
          <a:xfrm>
            <a:off x="1536822" y="2612993"/>
            <a:ext cx="15722478" cy="3908848"/>
          </a:xfrm>
          <a:prstGeom prst="rect">
            <a:avLst/>
          </a:prstGeom>
          <a:noFill/>
          <a:ln>
            <a:noFill/>
          </a:ln>
        </p:spPr>
        <p:txBody>
          <a:bodyPr anchorCtr="0" anchor="t" bIns="0" lIns="0" spcFirstLastPara="1" rIns="0" wrap="square" tIns="0">
            <a:spAutoFit/>
          </a:bodyPr>
          <a:lstStyle/>
          <a:p>
            <a:pPr indent="0" lvl="0" marL="0" marR="0" rtl="0" algn="l">
              <a:lnSpc>
                <a:spcPct val="173040"/>
              </a:lnSpc>
              <a:spcBef>
                <a:spcPts val="0"/>
              </a:spcBef>
              <a:spcAft>
                <a:spcPts val="0"/>
              </a:spcAft>
              <a:buNone/>
            </a:pPr>
            <a:r>
              <a:rPr b="0" i="0" lang="en-US" sz="2526" u="none" cap="none" strike="noStrike">
                <a:solidFill>
                  <a:srgbClr val="131416"/>
                </a:solidFill>
                <a:latin typeface="Arial"/>
                <a:ea typeface="Arial"/>
                <a:cs typeface="Arial"/>
                <a:sym typeface="Arial"/>
              </a:rPr>
              <a:t>La mejora continua implica un ciclo constante de evaluación y optimización de los procesos del proyecto. En cada proyecto que completamos, siempre hay algo que aprender, ajustar y mejorar para la próxima vez. La clave está en identificar las áreas de mejora, documentar las lecciones aprendidas y aplicar esas mejoras en futuros proyectos.</a:t>
            </a:r>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173040"/>
              </a:lnSpc>
              <a:spcBef>
                <a:spcPts val="0"/>
              </a:spcBef>
              <a:spcAft>
                <a:spcPts val="0"/>
              </a:spcAft>
              <a:buNone/>
            </a:pPr>
            <a:r>
              <a:t/>
            </a:r>
            <a:endParaRPr b="0" i="0" sz="2526" u="none" cap="none" strike="noStrike">
              <a:solidFill>
                <a:srgbClr val="131416"/>
              </a:solidFill>
              <a:latin typeface="Arial"/>
              <a:ea typeface="Arial"/>
              <a:cs typeface="Arial"/>
              <a:sym typeface="Arial"/>
            </a:endParaRPr>
          </a:p>
          <a:p>
            <a:pPr indent="0" lvl="0" marL="0" marR="0" rtl="0" algn="l">
              <a:lnSpc>
                <a:spcPct val="207284"/>
              </a:lnSpc>
              <a:spcBef>
                <a:spcPts val="0"/>
              </a:spcBef>
              <a:spcAft>
                <a:spcPts val="0"/>
              </a:spcAft>
              <a:buNone/>
            </a:pPr>
            <a:r>
              <a:t/>
            </a:r>
            <a:endParaRPr b="0" i="0" sz="2526" u="none" cap="none" strike="noStrike">
              <a:solidFill>
                <a:srgbClr val="131416"/>
              </a:solidFill>
              <a:latin typeface="Arial"/>
              <a:ea typeface="Arial"/>
              <a:cs typeface="Arial"/>
              <a:sym typeface="Arial"/>
            </a:endParaRPr>
          </a:p>
        </p:txBody>
      </p:sp>
      <p:sp>
        <p:nvSpPr>
          <p:cNvPr id="129" name="Google Shape;129;p4"/>
          <p:cNvSpPr txBox="1"/>
          <p:nvPr/>
        </p:nvSpPr>
        <p:spPr>
          <a:xfrm>
            <a:off x="1374889" y="654364"/>
            <a:ext cx="16698774" cy="2381614"/>
          </a:xfrm>
          <a:prstGeom prst="rect">
            <a:avLst/>
          </a:prstGeom>
          <a:noFill/>
          <a:ln>
            <a:noFill/>
          </a:ln>
        </p:spPr>
        <p:txBody>
          <a:bodyPr anchorCtr="0" anchor="t" bIns="0" lIns="0" spcFirstLastPara="1" rIns="0" wrap="square" tIns="0">
            <a:spAutoFit/>
          </a:bodyPr>
          <a:lstStyle/>
          <a:p>
            <a:pPr indent="0" lvl="0" marL="0" marR="0" rtl="0" algn="just">
              <a:lnSpc>
                <a:spcPct val="112986"/>
              </a:lnSpc>
              <a:spcBef>
                <a:spcPts val="0"/>
              </a:spcBef>
              <a:spcAft>
                <a:spcPts val="0"/>
              </a:spcAft>
              <a:buNone/>
            </a:pPr>
            <a:r>
              <a:rPr b="0" i="0" lang="en-US" sz="5398" u="none" cap="none" strike="noStrike">
                <a:solidFill>
                  <a:srgbClr val="131416"/>
                </a:solidFill>
                <a:latin typeface="Arial"/>
                <a:ea typeface="Arial"/>
                <a:cs typeface="Arial"/>
                <a:sym typeface="Arial"/>
              </a:rPr>
              <a:t>MEJORA CONTINUA EN PROYECTOS DE INGENIERÍA</a:t>
            </a:r>
            <a:endParaRPr/>
          </a:p>
          <a:p>
            <a:pPr indent="0" lvl="0" marL="0" marR="0" rtl="0" algn="just">
              <a:lnSpc>
                <a:spcPct val="112986"/>
              </a:lnSpc>
              <a:spcBef>
                <a:spcPts val="0"/>
              </a:spcBef>
              <a:spcAft>
                <a:spcPts val="0"/>
              </a:spcAft>
              <a:buNone/>
            </a:pPr>
            <a:r>
              <a:t/>
            </a:r>
            <a:endParaRPr b="0" i="0" sz="5398" u="none" cap="none" strike="noStrike">
              <a:solidFill>
                <a:srgbClr val="131416"/>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5"/>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Preparación de Entregables Finales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35" name="Google Shape;135;p5"/>
          <p:cNvSpPr txBox="1"/>
          <p:nvPr/>
        </p:nvSpPr>
        <p:spPr>
          <a:xfrm>
            <a:off x="1750722" y="2238892"/>
            <a:ext cx="13666877"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Al finalizar un proyecto, los entregables finales deben ser preparados con sumo cuidado. Un entregable es cualquier producto o resultado tangible que se entrega al cliente o usuario final.</a:t>
            </a:r>
            <a:endParaRPr/>
          </a:p>
        </p:txBody>
      </p:sp>
      <p:sp>
        <p:nvSpPr>
          <p:cNvPr id="136" name="Google Shape;136;p5"/>
          <p:cNvSpPr txBox="1"/>
          <p:nvPr/>
        </p:nvSpPr>
        <p:spPr>
          <a:xfrm>
            <a:off x="1873187" y="4228265"/>
            <a:ext cx="13666877" cy="399343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de entregables: En un proyecto de desarrollo de software, los entregables podrían incluir el código fuente final, la documentación técnica, manuales de usuario, y los resultados de las pruebas.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Consejo práctico: Asegúrense de que todos los entregables cumplan con los criterios de aceptación definidos al inicio del proyecto. Esto evitará rechazos o devoluciones por parte del cliente.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nvSpPr>
        <p:spPr>
          <a:xfrm>
            <a:off x="2313966" y="2271892"/>
            <a:ext cx="13660067" cy="1975193"/>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La validación de los entregables asegura que lo que se ha producido cumple con los requisitos del proyecto, y la aceptación formaliza que el cliente o los interesados están satisfechos con lo que se ha entregado.</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
        <p:nvSpPr>
          <p:cNvPr id="142" name="Google Shape;142;p6"/>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Validación y Aceptación de los Entregables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3" name="Google Shape;143;p6"/>
          <p:cNvSpPr txBox="1"/>
          <p:nvPr/>
        </p:nvSpPr>
        <p:spPr>
          <a:xfrm>
            <a:off x="2313966" y="4253197"/>
            <a:ext cx="13660067" cy="3991503"/>
          </a:xfrm>
          <a:prstGeom prst="rect">
            <a:avLst/>
          </a:prstGeom>
          <a:noFill/>
          <a:ln>
            <a:noFill/>
          </a:ln>
        </p:spPr>
        <p:txBody>
          <a:bodyPr anchorCtr="0" anchor="t" bIns="0" lIns="0" spcFirstLastPara="1" rIns="0" wrap="square" tIns="0">
            <a:spAutoFit/>
          </a:bodyPr>
          <a:lstStyle/>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Ejemplo: En un proyecto de desarrollo de software, esto podría incluir una reunión de revisión final con el cliente donde se demuestra que todas las funcionalidades solicitadas están presentes y funcionan como se esperaba.</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rPr b="0" i="0" lang="en-US" sz="2308" u="none" cap="none" strike="noStrike">
                <a:solidFill>
                  <a:srgbClr val="131416"/>
                </a:solidFill>
                <a:latin typeface="Arial"/>
                <a:ea typeface="Arial"/>
                <a:cs typeface="Arial"/>
                <a:sym typeface="Arial"/>
              </a:rPr>
              <a:t>Técnica: Utilicen pruebas finales, auditorías o revisiones por parte del cliente para validar que los entregables cumplen con los criterios acordados.</a:t>
            </a:r>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a:p>
            <a:pPr indent="0" lvl="0" marL="0" marR="0" rtl="0" algn="l">
              <a:lnSpc>
                <a:spcPct val="173050"/>
              </a:lnSpc>
              <a:spcBef>
                <a:spcPts val="0"/>
              </a:spcBef>
              <a:spcAft>
                <a:spcPts val="0"/>
              </a:spcAft>
              <a:buNone/>
            </a:pPr>
            <a:r>
              <a:t/>
            </a:r>
            <a:endParaRPr b="0" i="0" sz="2308" u="none" cap="none" strike="noStrike">
              <a:solidFill>
                <a:srgbClr val="13141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nvSpPr>
        <p:spPr>
          <a:xfrm>
            <a:off x="825249" y="1592571"/>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Revisión del Cumplimiento de los Objetivos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49" name="Google Shape;149;p7"/>
          <p:cNvSpPr txBox="1"/>
          <p:nvPr/>
        </p:nvSpPr>
        <p:spPr>
          <a:xfrm>
            <a:off x="2310562" y="2445734"/>
            <a:ext cx="13666877" cy="8028066"/>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Una vez que el proyecto ha sido completado, es necesario hacer una revisión completa para evaluar si se han cumplido los objetivos iniciales. Los objetivos pueden ser tanto técnicos (como la calidad del software desarrollado) como financieros (como no exceder el presupuesto).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Preguntas clave: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¿Se completaron todas las tareas a tiempo?</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¿Se mantuvo el proyecto dentro del presupuesto?</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¿Cumplió el proyecto con el alcance definido?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Si uno de los objetivos era desarrollar una aplicación de inventario en 3 meses con un presupuesto de $50,000, la revisión debe evaluar si el proyecto se terminó dentro de esos plazos y costos.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Documentación de Lecciones Aprendidas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5" name="Google Shape;155;p8"/>
          <p:cNvSpPr txBox="1"/>
          <p:nvPr/>
        </p:nvSpPr>
        <p:spPr>
          <a:xfrm>
            <a:off x="2021607" y="2377903"/>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Las lecciones aprendidas son uno de los aspectos más importantes de la mejora continua. Documentar lo que salió bien y lo que podría haberse hecho mejor es fundamental para futuros proyectos.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156" name="Google Shape;156;p8"/>
          <p:cNvSpPr txBox="1"/>
          <p:nvPr/>
        </p:nvSpPr>
        <p:spPr>
          <a:xfrm>
            <a:off x="880019" y="4344498"/>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de preguntas para documentar lecciones aprendidas: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57" name="Google Shape;157;p8"/>
          <p:cNvSpPr txBox="1"/>
          <p:nvPr/>
        </p:nvSpPr>
        <p:spPr>
          <a:xfrm>
            <a:off x="1872926" y="5808001"/>
            <a:ext cx="13666877" cy="348910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¿Qué funcionó bien en el proyecto y por qué?</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¿Qué problemas surgieron durante la ejecución?</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¿Cómo podríamos haber evitado esos problemas?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nvSpPr>
        <p:spPr>
          <a:xfrm>
            <a:off x="1671707" y="2920247"/>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Consejo: Involucren a todo el equipo del proyecto en la documentación de estas lecciones. Cada miembro puede aportar una perspectiva única sobre lo que funcionó y lo que no.</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163" name="Google Shape;163;p9"/>
          <p:cNvSpPr txBox="1"/>
          <p:nvPr/>
        </p:nvSpPr>
        <p:spPr>
          <a:xfrm>
            <a:off x="1671707" y="5692972"/>
            <a:ext cx="13666877" cy="197612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Ejemplo: En un proyecto de implementación de un sistema ERP, pueden haber aprendido que la falta de comunicación entre el equipo de desarrollo y el cliente retrasó el proyecto en la fase de pruebas.</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nvSpPr>
        <p:spPr>
          <a:xfrm>
            <a:off x="1028700" y="9144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Técnicas para el Análisis Retrospectivo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69" name="Google Shape;169;p10"/>
          <p:cNvSpPr txBox="1"/>
          <p:nvPr/>
        </p:nvSpPr>
        <p:spPr>
          <a:xfrm>
            <a:off x="2104027" y="1767563"/>
            <a:ext cx="15950051" cy="2984778"/>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El análisis retrospectivo se refiere a una revisión detallada de todo el proyecto, con el objetivo de identificar lo que puede mejorarse en el futuro.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1" i="0" lang="en-US" sz="2310" u="none" cap="none" strike="noStrike">
                <a:solidFill>
                  <a:srgbClr val="131416"/>
                </a:solidFill>
                <a:latin typeface="Arial"/>
                <a:ea typeface="Arial"/>
                <a:cs typeface="Arial"/>
                <a:sym typeface="Arial"/>
              </a:rPr>
              <a:t>Reunión de retrospectiva: Reúnen a todos los miembros del equipo para discutir lo que funcionó y lo que no. Este tipo de reunión es muy común en metodologías ágiles como Scrum.</a:t>
            </a:r>
            <a:endParaRPr/>
          </a:p>
          <a:p>
            <a:pPr indent="0" lvl="0" marL="0" marR="0" rtl="0" algn="l">
              <a:lnSpc>
                <a:spcPct val="172987"/>
              </a:lnSpc>
              <a:spcBef>
                <a:spcPts val="0"/>
              </a:spcBef>
              <a:spcAft>
                <a:spcPts val="0"/>
              </a:spcAft>
              <a:buNone/>
            </a:pPr>
            <a:r>
              <a:t/>
            </a:r>
            <a:endParaRPr b="1" i="0" sz="2310" u="none" cap="none" strike="noStrike">
              <a:solidFill>
                <a:srgbClr val="131416"/>
              </a:solidFill>
              <a:latin typeface="Arial"/>
              <a:ea typeface="Arial"/>
              <a:cs typeface="Arial"/>
              <a:sym typeface="Arial"/>
            </a:endParaRPr>
          </a:p>
        </p:txBody>
      </p:sp>
      <p:sp>
        <p:nvSpPr>
          <p:cNvPr id="170" name="Google Shape;170;p10"/>
          <p:cNvSpPr txBox="1"/>
          <p:nvPr/>
        </p:nvSpPr>
        <p:spPr>
          <a:xfrm>
            <a:off x="1028700" y="5029200"/>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Método de las 5 "P":</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1" name="Google Shape;171;p10"/>
          <p:cNvSpPr txBox="1"/>
          <p:nvPr/>
        </p:nvSpPr>
        <p:spPr>
          <a:xfrm>
            <a:off x="2104027" y="5882363"/>
            <a:ext cx="15950051" cy="2984778"/>
          </a:xfrm>
          <a:prstGeom prst="rect">
            <a:avLst/>
          </a:prstGeom>
          <a:noFill/>
          <a:ln>
            <a:noFill/>
          </a:ln>
        </p:spPr>
        <p:txBody>
          <a:bodyPr anchorCtr="0" anchor="t" bIns="0" lIns="0" spcFirstLastPara="1" rIns="0" wrap="square" tIns="0">
            <a:spAutoFit/>
          </a:bodyPr>
          <a:lstStyle/>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Producto: ¿El entregable cumplió con las expectativas?</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Proceso: ¿Se siguió el plan correctamente?</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Personas: ¿El equipo trabajó de manera efectiva?</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Planificación: ¿El cronograma y presupuesto fueron realistas?</a:t>
            </a:r>
            <a:endParaRPr/>
          </a:p>
          <a:p>
            <a:pPr indent="-249378" lvl="1" marL="498755" marR="0" rtl="0" algn="l">
              <a:lnSpc>
                <a:spcPct val="172987"/>
              </a:lnSpc>
              <a:spcBef>
                <a:spcPts val="0"/>
              </a:spcBef>
              <a:spcAft>
                <a:spcPts val="0"/>
              </a:spcAft>
              <a:buClr>
                <a:srgbClr val="131416"/>
              </a:buClr>
              <a:buSzPts val="2310"/>
              <a:buFont typeface="Arial"/>
              <a:buChar char="•"/>
            </a:pPr>
            <a:r>
              <a:rPr b="0" i="0" lang="en-US" sz="2310" u="none" cap="none" strike="noStrike">
                <a:solidFill>
                  <a:srgbClr val="131416"/>
                </a:solidFill>
                <a:latin typeface="Arial"/>
                <a:ea typeface="Arial"/>
                <a:cs typeface="Arial"/>
                <a:sym typeface="Arial"/>
              </a:rPr>
              <a:t>Progreso: ¿Se logró el avance esperado en cada etapa?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1"/>
          <p:cNvSpPr txBox="1"/>
          <p:nvPr/>
        </p:nvSpPr>
        <p:spPr>
          <a:xfrm>
            <a:off x="1615600" y="4644310"/>
            <a:ext cx="15950051" cy="500209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EN UN PROYECTO DE DESARROLLO DE SOFTWARE, PODRÍAN IDENTIFICAR QUE NO SE HIZO SUFICIENTE ÉNFASIS EN LAS PRUEBAS DE INTEGRACIÓN ANTES DE LA ENTREGA, LO QUE CAUSÓ RETRASOS. LA MEJORA PARA FUTUROS PROYECTOS SERÍA INCORPORAR MÁS FASES DE PRUEBAS.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Una vez que se ha completado el análisis retrospectivo, es fundamental identificar las áreas de mejora. Esto puede referirse a la gestión del equipo, el uso de recursos, la comunicación o incluso el control de calidad.</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7" name="Google Shape;177;p11"/>
          <p:cNvSpPr txBox="1"/>
          <p:nvPr/>
        </p:nvSpPr>
        <p:spPr>
          <a:xfrm>
            <a:off x="1028700" y="1039423"/>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Análisis Causa-Raíz: Identifica las causas subyacentes de los problemas que surgieron durante el proyecto para corregirlas en el futuro.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78" name="Google Shape;178;p11"/>
          <p:cNvSpPr txBox="1"/>
          <p:nvPr/>
        </p:nvSpPr>
        <p:spPr>
          <a:xfrm>
            <a:off x="1168975" y="2678897"/>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Identificación de Áreas de Mejora en la Gestión de Proyectos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2"/>
          <p:cNvSpPr txBox="1"/>
          <p:nvPr/>
        </p:nvSpPr>
        <p:spPr>
          <a:xfrm>
            <a:off x="633351" y="1044978"/>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Ejemplo Práctico: Aplicación de Mejora Continua en un Proyecto de Desarrollo de Software</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4" name="Google Shape;184;p12"/>
          <p:cNvSpPr txBox="1"/>
          <p:nvPr/>
        </p:nvSpPr>
        <p:spPr>
          <a:xfrm>
            <a:off x="1862413" y="2527961"/>
            <a:ext cx="13666877" cy="2480450"/>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Imaginemos que acaban de completar un proyecto de desarrollo de una aplicación móvil. Apliquemos las técnicas de mejora continua:</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5" name="Google Shape;185;p12"/>
          <p:cNvSpPr txBox="1"/>
          <p:nvPr/>
        </p:nvSpPr>
        <p:spPr>
          <a:xfrm>
            <a:off x="1862413" y="4040947"/>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Preparación de Entregables: Los entregables finales incluyen la aplicación completamente funcional, la documentación de usuario y el manual de instalación.</a:t>
            </a:r>
            <a:endParaRPr/>
          </a:p>
        </p:txBody>
      </p:sp>
      <p:sp>
        <p:nvSpPr>
          <p:cNvPr id="186" name="Google Shape;186;p12"/>
          <p:cNvSpPr txBox="1"/>
          <p:nvPr/>
        </p:nvSpPr>
        <p:spPr>
          <a:xfrm>
            <a:off x="1862413" y="5387047"/>
            <a:ext cx="15626315"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Validación: Se realiza una última sesión de pruebas con el cliente para asegurar que la aplicación cumple con todos los requisitos.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87" name="Google Shape;187;p12"/>
          <p:cNvSpPr txBox="1"/>
          <p:nvPr/>
        </p:nvSpPr>
        <p:spPr>
          <a:xfrm>
            <a:off x="1862413" y="6744539"/>
            <a:ext cx="15950051" cy="1471792"/>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Revisión del Cumplimiento de Objetivos: El proyecto se completó en 4 meses, pero se sobrepasó ligeramente el presupuesto debido a cambios de último minuto en las funcionalidades solicitadas.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nvSpPr>
        <p:spPr>
          <a:xfrm>
            <a:off x="1936806" y="1767563"/>
            <a:ext cx="13666877" cy="348910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Lecciones Aprendidas: Se identificó que la falta de una comunicación clara al inicio con el cliente causó retrasos en la fase de diseño. Para futuros proyectos, se recomendará hacer reuniones semanales de seguimiento con el cliente para evitar malentendidos.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93" name="Google Shape;193;p13"/>
          <p:cNvSpPr txBox="1"/>
          <p:nvPr/>
        </p:nvSpPr>
        <p:spPr>
          <a:xfrm>
            <a:off x="1936806" y="3879402"/>
            <a:ext cx="13666877" cy="348910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Lecciones Aprendidas: Se identificó que la falta de una comunicación clara al inicio con el cliente causó retrasos en la fase de diseño. Para futuros proyectos, se recomendará hacer reuniones semanales de seguimiento con el cliente para evitar malentendidos.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194" name="Google Shape;194;p13"/>
          <p:cNvSpPr txBox="1"/>
          <p:nvPr/>
        </p:nvSpPr>
        <p:spPr>
          <a:xfrm>
            <a:off x="1936806" y="5969190"/>
            <a:ext cx="13666877" cy="3489107"/>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Identificación de Áreas de Mejora: A partir de la retrospectiva, se decide implementar una fase de pruebas más robusta y mejorar la comunicación con el cliente en los primeros pasos del proyecto.</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4"/>
          <p:cNvSpPr txBox="1"/>
          <p:nvPr/>
        </p:nvSpPr>
        <p:spPr>
          <a:xfrm>
            <a:off x="633351" y="1044978"/>
            <a:ext cx="15950051" cy="967463"/>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Conclusión</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
        <p:nvSpPr>
          <p:cNvPr id="200" name="Google Shape;200;p14"/>
          <p:cNvSpPr txBox="1"/>
          <p:nvPr/>
        </p:nvSpPr>
        <p:spPr>
          <a:xfrm>
            <a:off x="1862413" y="2527961"/>
            <a:ext cx="13666877" cy="6010751"/>
          </a:xfrm>
          <a:prstGeom prst="rect">
            <a:avLst/>
          </a:prstGeom>
          <a:noFill/>
          <a:ln>
            <a:noFill/>
          </a:ln>
        </p:spPr>
        <p:txBody>
          <a:bodyPr anchorCtr="0" anchor="t" bIns="0" lIns="0" spcFirstLastPara="1" rIns="0" wrap="square" tIns="0">
            <a:spAutoFit/>
          </a:bodyPr>
          <a:lstStyle/>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La mejora continua es una práctica indispensable en la gestión de proyectos. Como futuros ingenieros en ciencias y sistemas, deben aprender a evaluar de forma constante los resultados de sus proyectos, aplicar técnicas para analizar los problemas y documentar las lecciones aprendidas. Esto les permitirá no solo entregar proyectos de mejor calidad, sino también mejorar como profesionales.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rPr b="0" i="0" lang="en-US" sz="2310" u="none" cap="none" strike="noStrike">
                <a:solidFill>
                  <a:srgbClr val="131416"/>
                </a:solidFill>
                <a:latin typeface="Arial"/>
                <a:ea typeface="Arial"/>
                <a:cs typeface="Arial"/>
                <a:sym typeface="Arial"/>
              </a:rPr>
              <a:t>Recuerden: Cada proyecto es una oportunidad para aprender y mejorar. La clave es reflexionar sobre lo que ha sucedido y hacer los ajustes necesarios para ser cada vez más eficientes.</a:t>
            </a:r>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a:p>
            <a:pPr indent="0" lvl="0" marL="0" marR="0" rtl="0" algn="l">
              <a:lnSpc>
                <a:spcPct val="172987"/>
              </a:lnSpc>
              <a:spcBef>
                <a:spcPts val="0"/>
              </a:spcBef>
              <a:spcAft>
                <a:spcPts val="0"/>
              </a:spcAft>
              <a:buNone/>
            </a:pPr>
            <a:r>
              <a:t/>
            </a:r>
            <a:endParaRPr b="0" i="0" sz="2310" u="none" cap="none" strike="noStrike">
              <a:solidFill>
                <a:srgbClr val="131416"/>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5"/>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NOMBRE DEL VALOR Y/O ACTITUD</a:t>
            </a:r>
            <a:endParaRPr/>
          </a:p>
        </p:txBody>
      </p:sp>
      <p:sp>
        <p:nvSpPr>
          <p:cNvPr id="206" name="Google Shape;206;p15"/>
          <p:cNvSpPr txBox="1"/>
          <p:nvPr/>
        </p:nvSpPr>
        <p:spPr>
          <a:xfrm>
            <a:off x="1871436" y="5019675"/>
            <a:ext cx="14775224" cy="1144522"/>
          </a:xfrm>
          <a:prstGeom prst="rect">
            <a:avLst/>
          </a:prstGeom>
          <a:noFill/>
          <a:ln>
            <a:noFill/>
          </a:ln>
        </p:spPr>
        <p:txBody>
          <a:bodyPr anchorCtr="0" anchor="t" bIns="0" lIns="0" spcFirstLastPara="1" rIns="0" wrap="square" tIns="0">
            <a:spAutoFit/>
          </a:bodyPr>
          <a:lstStyle/>
          <a:p>
            <a:pPr indent="0" lvl="0" marL="0" marR="0" rtl="0" algn="ctr">
              <a:lnSpc>
                <a:spcPct val="140002"/>
              </a:lnSpc>
              <a:spcBef>
                <a:spcPts val="0"/>
              </a:spcBef>
              <a:spcAft>
                <a:spcPts val="0"/>
              </a:spcAft>
              <a:buNone/>
            </a:pPr>
            <a:r>
              <a:rPr b="0" i="0" lang="en-US" sz="6737" u="none" cap="none" strike="noStrike">
                <a:solidFill>
                  <a:srgbClr val="131416"/>
                </a:solidFill>
                <a:latin typeface="Arial"/>
                <a:ea typeface="Arial"/>
                <a:cs typeface="Arial"/>
                <a:sym typeface="Arial"/>
              </a:rPr>
              <a:t>Toma de decisiones y resiliencia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212" name="Google Shape;212;p16"/>
          <p:cNvSpPr txBox="1"/>
          <p:nvPr/>
        </p:nvSpPr>
        <p:spPr>
          <a:xfrm>
            <a:off x="3113305" y="3145310"/>
            <a:ext cx="13737320" cy="44062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PMBOK® Guide – Sixth Edition. Project Management Institute (PMI).</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Kerzner, H. (2017). Project Management: A Systems Approach to Planning, Scheduling, and Controlling.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https://www.scrum.org/</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https://www.tutorialspoint.com/project_management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7"/>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18" name="Google Shape;218;p17"/>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19" name="Google Shape;219;p17"/>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20" name="Google Shape;220;p17"/>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