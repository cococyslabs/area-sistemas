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10287000" cx="18288000"/>
  <p:notesSz cx="6858000" cy="9144000"/>
  <p:embeddedFontLst>
    <p:embeddedFont>
      <p:font typeface="Play"/>
      <p:regular r:id="rId26"/>
      <p:bold r:id="rId27"/>
    </p:embeddedFont>
    <p:embeddedFont>
      <p:font typeface="Open Sans"/>
      <p:bold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0" roundtripDataSignature="AMtx7mgnbQhjZp3+IcNGbE1GcRaJEnQVy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lay-regular.fntdata"/><Relationship Id="rId25" Type="http://schemas.openxmlformats.org/officeDocument/2006/relationships/slide" Target="slides/slide20.xml"/><Relationship Id="rId28" Type="http://schemas.openxmlformats.org/officeDocument/2006/relationships/font" Target="fonts/OpenSans-bold.fntdata"/><Relationship Id="rId27" Type="http://schemas.openxmlformats.org/officeDocument/2006/relationships/font" Target="fonts/Play-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penSans-boldItalic.fntdata"/><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0"/>
          <p:cNvSpPr/>
          <p:nvPr>
            <p:ph idx="2" type="pic"/>
          </p:nvPr>
        </p:nvSpPr>
        <p:spPr>
          <a:xfrm>
            <a:off x="1792288" y="612775"/>
            <a:ext cx="5486400" cy="4114800"/>
          </a:xfrm>
          <a:prstGeom prst="rect">
            <a:avLst/>
          </a:prstGeom>
          <a:noFill/>
          <a:ln>
            <a:noFill/>
          </a:ln>
        </p:spPr>
      </p:sp>
      <p:sp>
        <p:nvSpPr>
          <p:cNvPr id="64" name="Google Shape;64;p3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85" name="Google Shape;85;p1"/>
          <p:cNvSpPr/>
          <p:nvPr/>
        </p:nvSpPr>
        <p:spPr>
          <a:xfrm>
            <a:off x="12541309" y="6021878"/>
            <a:ext cx="4160184" cy="4114800"/>
          </a:xfrm>
          <a:custGeom>
            <a:rect b="b" l="l" r="r" t="t"/>
            <a:pathLst>
              <a:path extrusionOk="0" h="4114800" w="4160184">
                <a:moveTo>
                  <a:pt x="0" y="0"/>
                </a:moveTo>
                <a:lnTo>
                  <a:pt x="4160184" y="0"/>
                </a:lnTo>
                <a:lnTo>
                  <a:pt x="4160184" y="4114800"/>
                </a:lnTo>
                <a:lnTo>
                  <a:pt x="0" y="4114800"/>
                </a:lnTo>
                <a:lnTo>
                  <a:pt x="0" y="0"/>
                </a:lnTo>
                <a:close/>
              </a:path>
            </a:pathLst>
          </a:custGeom>
          <a:blipFill rotWithShape="1">
            <a:blip r:embed="rId4">
              <a:alphaModFix/>
            </a:blip>
            <a:stretch>
              <a:fillRect b="0" l="0" r="0" t="0"/>
            </a:stretch>
          </a:blipFill>
          <a:ln>
            <a:noFill/>
          </a:ln>
        </p:spPr>
      </p:sp>
      <p:sp>
        <p:nvSpPr>
          <p:cNvPr id="86" name="Google Shape;86;p1"/>
          <p:cNvSpPr txBox="1"/>
          <p:nvPr/>
        </p:nvSpPr>
        <p:spPr>
          <a:xfrm>
            <a:off x="1063303" y="7865776"/>
            <a:ext cx="6467475" cy="17494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5000" u="none" cap="none" strike="noStrike">
                <a:solidFill>
                  <a:srgbClr val="131416"/>
                </a:solidFill>
                <a:latin typeface="Open Sans"/>
                <a:ea typeface="Open Sans"/>
                <a:cs typeface="Open Sans"/>
                <a:sym typeface="Open Sans"/>
              </a:rPr>
              <a:t>Teoría de Sistemas 2</a:t>
            </a:r>
            <a:endParaRPr/>
          </a:p>
          <a:p>
            <a:pPr indent="0" lvl="0" marL="0" marR="0" rtl="0" algn="ctr">
              <a:lnSpc>
                <a:spcPct val="140000"/>
              </a:lnSpc>
              <a:spcBef>
                <a:spcPts val="0"/>
              </a:spcBef>
              <a:spcAft>
                <a:spcPts val="0"/>
              </a:spcAft>
              <a:buNone/>
            </a:pPr>
            <a:r>
              <a:t/>
            </a:r>
            <a:endParaRPr b="1" i="0" sz="5000" u="none" cap="none" strike="noStrike">
              <a:solidFill>
                <a:srgbClr val="131416"/>
              </a:solidFill>
              <a:latin typeface="Open Sans"/>
              <a:ea typeface="Open Sans"/>
              <a:cs typeface="Open Sans"/>
              <a:sym typeface="Open Sans"/>
            </a:endParaRPr>
          </a:p>
        </p:txBody>
      </p:sp>
      <p:sp>
        <p:nvSpPr>
          <p:cNvPr id="87" name="Google Shape;87;p1"/>
          <p:cNvSpPr txBox="1"/>
          <p:nvPr/>
        </p:nvSpPr>
        <p:spPr>
          <a:xfrm>
            <a:off x="795338" y="3141906"/>
            <a:ext cx="16697325" cy="156654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9200" u="none" cap="none" strike="noStrike">
                <a:solidFill>
                  <a:srgbClr val="131416"/>
                </a:solidFill>
                <a:latin typeface="Open Sans"/>
                <a:ea typeface="Open Sans"/>
                <a:cs typeface="Open Sans"/>
                <a:sym typeface="Open Sans"/>
              </a:rPr>
              <a:t>Línea base de tiempo e hitos</a:t>
            </a:r>
            <a:endParaRPr/>
          </a:p>
        </p:txBody>
      </p:sp>
      <p:sp>
        <p:nvSpPr>
          <p:cNvPr id="88" name="Google Shape;88;p1"/>
          <p:cNvSpPr txBox="1"/>
          <p:nvPr/>
        </p:nvSpPr>
        <p:spPr>
          <a:xfrm>
            <a:off x="1063303" y="8745251"/>
            <a:ext cx="6981379"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Escuela de Ingenieria de Ciencias Y Sistemas</a:t>
            </a:r>
            <a:endParaRPr/>
          </a:p>
        </p:txBody>
      </p:sp>
      <p:sp>
        <p:nvSpPr>
          <p:cNvPr id="89" name="Google Shape;89;p1"/>
          <p:cNvSpPr txBox="1"/>
          <p:nvPr/>
        </p:nvSpPr>
        <p:spPr>
          <a:xfrm>
            <a:off x="1028700" y="9210675"/>
            <a:ext cx="3525292"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Facultad de Ingenieria</a:t>
            </a:r>
            <a:endParaRPr/>
          </a:p>
        </p:txBody>
      </p:sp>
      <p:sp>
        <p:nvSpPr>
          <p:cNvPr id="90" name="Google Shape;90;p1"/>
          <p:cNvSpPr txBox="1"/>
          <p:nvPr/>
        </p:nvSpPr>
        <p:spPr>
          <a:xfrm>
            <a:off x="1028700" y="9585325"/>
            <a:ext cx="6407944"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Universidad de San Carlos de Guatemala</a:t>
            </a:r>
            <a:endParaRPr/>
          </a:p>
        </p:txBody>
      </p:sp>
      <p:sp>
        <p:nvSpPr>
          <p:cNvPr id="91" name="Google Shape;91;p1"/>
          <p:cNvSpPr txBox="1"/>
          <p:nvPr/>
        </p:nvSpPr>
        <p:spPr>
          <a:xfrm>
            <a:off x="12979082" y="7426039"/>
            <a:ext cx="3284637" cy="173672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0" i="0" lang="en-US" sz="2499" u="none" cap="none" strike="noStrike">
                <a:solidFill>
                  <a:srgbClr val="000000"/>
                </a:solidFill>
                <a:latin typeface="Open Sans"/>
                <a:ea typeface="Open Sans"/>
                <a:cs typeface="Open Sans"/>
                <a:sym typeface="Open Sans"/>
              </a:rPr>
              <a:t>Puedes usar el </a:t>
            </a:r>
            <a:endParaRPr/>
          </a:p>
          <a:p>
            <a:pPr indent="0" lvl="0" marL="0" marR="0" rtl="0" algn="ctr">
              <a:lnSpc>
                <a:spcPct val="140016"/>
              </a:lnSpc>
              <a:spcBef>
                <a:spcPts val="0"/>
              </a:spcBef>
              <a:spcAft>
                <a:spcPts val="0"/>
              </a:spcAft>
              <a:buNone/>
            </a:pPr>
            <a:r>
              <a:rPr b="0" i="0" lang="en-US" sz="2499" u="none" cap="none" strike="noStrike">
                <a:solidFill>
                  <a:srgbClr val="000000"/>
                </a:solidFill>
                <a:latin typeface="Open Sans"/>
                <a:ea typeface="Open Sans"/>
                <a:cs typeface="Open Sans"/>
                <a:sym typeface="Open Sans"/>
              </a:rPr>
              <a:t>diseño que desees</a:t>
            </a:r>
            <a:endParaRPr/>
          </a:p>
          <a:p>
            <a:pPr indent="0" lvl="0" marL="0" marR="0" rtl="0" algn="ctr">
              <a:lnSpc>
                <a:spcPct val="140016"/>
              </a:lnSpc>
              <a:spcBef>
                <a:spcPts val="0"/>
              </a:spcBef>
              <a:spcAft>
                <a:spcPts val="0"/>
              </a:spcAft>
              <a:buNone/>
            </a:pPr>
            <a:r>
              <a:rPr b="0" i="0" lang="en-US" sz="2499" u="none" cap="none" strike="noStrike">
                <a:solidFill>
                  <a:srgbClr val="000000"/>
                </a:solidFill>
                <a:latin typeface="Open Sans"/>
                <a:ea typeface="Open Sans"/>
                <a:cs typeface="Open Sans"/>
                <a:sym typeface="Open Sans"/>
              </a:rPr>
              <a:t>conserva la estructura</a:t>
            </a:r>
            <a:endParaRPr/>
          </a:p>
          <a:p>
            <a:pPr indent="0" lvl="0" marL="0" marR="0" rtl="0" algn="ctr">
              <a:lnSpc>
                <a:spcPct val="140016"/>
              </a:lnSpc>
              <a:spcBef>
                <a:spcPts val="0"/>
              </a:spcBef>
              <a:spcAft>
                <a:spcPts val="0"/>
              </a:spcAft>
              <a:buNone/>
            </a:pPr>
            <a:r>
              <a:rPr b="0" i="0" lang="en-US" sz="2499" u="none" cap="none" strike="noStrike">
                <a:solidFill>
                  <a:srgbClr val="000000"/>
                </a:solidFill>
                <a:latin typeface="Open Sans"/>
                <a:ea typeface="Open Sans"/>
                <a:cs typeface="Open Sans"/>
                <a:sym typeface="Open Sans"/>
              </a:rPr>
              <a:t>base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grpSp>
        <p:nvGrpSpPr>
          <p:cNvPr id="96" name="Google Shape;96;p2"/>
          <p:cNvGrpSpPr/>
          <p:nvPr/>
        </p:nvGrpSpPr>
        <p:grpSpPr>
          <a:xfrm>
            <a:off x="1866989" y="4452403"/>
            <a:ext cx="12118639" cy="1363379"/>
            <a:chOff x="0" y="-76200"/>
            <a:chExt cx="5159516" cy="580459"/>
          </a:xfrm>
        </p:grpSpPr>
        <p:sp>
          <p:nvSpPr>
            <p:cNvPr id="97" name="Google Shape;97;p2"/>
            <p:cNvSpPr/>
            <p:nvPr/>
          </p:nvSpPr>
          <p:spPr>
            <a:xfrm>
              <a:off x="0" y="0"/>
              <a:ext cx="5159516" cy="504259"/>
            </a:xfrm>
            <a:custGeom>
              <a:rect b="b" l="l" r="r" t="t"/>
              <a:pathLst>
                <a:path extrusionOk="0" h="504259" w="5159516">
                  <a:moveTo>
                    <a:pt x="4956316" y="0"/>
                  </a:moveTo>
                  <a:lnTo>
                    <a:pt x="0" y="0"/>
                  </a:lnTo>
                  <a:lnTo>
                    <a:pt x="0" y="504259"/>
                  </a:lnTo>
                  <a:lnTo>
                    <a:pt x="4956316" y="504259"/>
                  </a:lnTo>
                  <a:lnTo>
                    <a:pt x="5159516" y="252130"/>
                  </a:lnTo>
                  <a:lnTo>
                    <a:pt x="4956316" y="0"/>
                  </a:lnTo>
                  <a:close/>
                </a:path>
              </a:pathLst>
            </a:custGeom>
            <a:solidFill>
              <a:srgbClr val="FFFFFF"/>
            </a:solidFill>
            <a:ln>
              <a:noFill/>
            </a:ln>
          </p:spPr>
        </p:sp>
        <p:sp>
          <p:nvSpPr>
            <p:cNvPr id="98" name="Google Shape;98;p2"/>
            <p:cNvSpPr txBox="1"/>
            <p:nvPr/>
          </p:nvSpPr>
          <p:spPr>
            <a:xfrm>
              <a:off x="0" y="-76200"/>
              <a:ext cx="5045216" cy="580459"/>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Definición de la línea base del proyecto</a:t>
              </a:r>
              <a:endParaRPr/>
            </a:p>
            <a:p>
              <a:pPr indent="0" lvl="0" marL="0" marR="0" rtl="0" algn="l">
                <a:lnSpc>
                  <a:spcPct val="148017"/>
                </a:lnSpc>
                <a:spcBef>
                  <a:spcPts val="0"/>
                </a:spcBef>
                <a:spcAft>
                  <a:spcPts val="0"/>
                </a:spcAft>
                <a:buNone/>
              </a:pPr>
              <a:r>
                <a:t/>
              </a:r>
              <a:endParaRPr b="0" i="0" sz="2799" u="none" cap="none" strike="noStrike">
                <a:solidFill>
                  <a:srgbClr val="000000"/>
                </a:solidFill>
                <a:latin typeface="Arial"/>
                <a:ea typeface="Arial"/>
                <a:cs typeface="Arial"/>
                <a:sym typeface="Arial"/>
              </a:endParaRPr>
            </a:p>
          </p:txBody>
        </p:sp>
      </p:grpSp>
      <p:sp>
        <p:nvSpPr>
          <p:cNvPr id="99" name="Google Shape;99;p2"/>
          <p:cNvSpPr/>
          <p:nvPr/>
        </p:nvSpPr>
        <p:spPr>
          <a:xfrm>
            <a:off x="878654" y="474044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grpSp>
        <p:nvGrpSpPr>
          <p:cNvPr id="100" name="Google Shape;100;p2"/>
          <p:cNvGrpSpPr/>
          <p:nvPr/>
        </p:nvGrpSpPr>
        <p:grpSpPr>
          <a:xfrm>
            <a:off x="1866989" y="3013983"/>
            <a:ext cx="4115190" cy="1556484"/>
            <a:chOff x="0" y="-76200"/>
            <a:chExt cx="1083836" cy="409938"/>
          </a:xfrm>
        </p:grpSpPr>
        <p:sp>
          <p:nvSpPr>
            <p:cNvPr id="101" name="Google Shape;101;p2"/>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sp>
        <p:sp>
          <p:nvSpPr>
            <p:cNvPr id="102" name="Google Shape;102;p2"/>
            <p:cNvSpPr txBox="1"/>
            <p:nvPr/>
          </p:nvSpPr>
          <p:spPr>
            <a:xfrm>
              <a:off x="0" y="-76200"/>
              <a:ext cx="969536" cy="409938"/>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RECORDATORIOS</a:t>
              </a:r>
              <a:endParaRPr/>
            </a:p>
          </p:txBody>
        </p:sp>
      </p:grpSp>
      <p:sp>
        <p:nvSpPr>
          <p:cNvPr id="103" name="Google Shape;103;p2"/>
          <p:cNvSpPr/>
          <p:nvPr/>
        </p:nvSpPr>
        <p:spPr>
          <a:xfrm>
            <a:off x="651754" y="342973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sp>
      <p:grpSp>
        <p:nvGrpSpPr>
          <p:cNvPr id="104" name="Google Shape;104;p2"/>
          <p:cNvGrpSpPr/>
          <p:nvPr/>
        </p:nvGrpSpPr>
        <p:grpSpPr>
          <a:xfrm>
            <a:off x="651754" y="-320617"/>
            <a:ext cx="6140237" cy="3052280"/>
            <a:chOff x="0" y="-95250"/>
            <a:chExt cx="8186982" cy="4069708"/>
          </a:xfrm>
        </p:grpSpPr>
        <p:sp>
          <p:nvSpPr>
            <p:cNvPr id="105" name="Google Shape;105;p2"/>
            <p:cNvSpPr txBox="1"/>
            <p:nvPr/>
          </p:nvSpPr>
          <p:spPr>
            <a:xfrm>
              <a:off x="0" y="986783"/>
              <a:ext cx="8186982" cy="2987675"/>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5000" u="none" cap="none" strike="noStrike">
                  <a:solidFill>
                    <a:srgbClr val="131416"/>
                  </a:solidFill>
                  <a:latin typeface="Play"/>
                  <a:ea typeface="Play"/>
                  <a:cs typeface="Play"/>
                  <a:sym typeface="Play"/>
                </a:rPr>
                <a:t>Agenda</a:t>
              </a:r>
              <a:endParaRPr/>
            </a:p>
          </p:txBody>
        </p:sp>
        <p:sp>
          <p:nvSpPr>
            <p:cNvPr id="106" name="Google Shape;106;p2"/>
            <p:cNvSpPr txBox="1"/>
            <p:nvPr/>
          </p:nvSpPr>
          <p:spPr>
            <a:xfrm>
              <a:off x="0" y="-95250"/>
              <a:ext cx="8186982" cy="927435"/>
            </a:xfrm>
            <a:prstGeom prst="rect">
              <a:avLst/>
            </a:prstGeom>
            <a:noFill/>
            <a:ln>
              <a:noFill/>
            </a:ln>
          </p:spPr>
          <p:txBody>
            <a:bodyPr anchorCtr="0" anchor="t" bIns="0" lIns="0" spcFirstLastPara="1" rIns="0" wrap="square" tIns="0">
              <a:spAutoFit/>
            </a:bodyPr>
            <a:lstStyle/>
            <a:p>
              <a:pPr indent="0" lvl="0" marL="0" marR="0" rtl="0" algn="l">
                <a:lnSpc>
                  <a:spcPct val="318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7" name="Google Shape;107;p2"/>
          <p:cNvSpPr txBox="1"/>
          <p:nvPr/>
        </p:nvSpPr>
        <p:spPr>
          <a:xfrm>
            <a:off x="11131715" y="78516"/>
            <a:ext cx="8416862" cy="579709"/>
          </a:xfrm>
          <a:prstGeom prst="rect">
            <a:avLst/>
          </a:prstGeom>
          <a:noFill/>
          <a:ln>
            <a:noFill/>
          </a:ln>
        </p:spPr>
        <p:txBody>
          <a:bodyPr anchorCtr="0" anchor="t" bIns="0" lIns="0" spcFirstLastPara="1" rIns="0" wrap="square" tIns="0">
            <a:spAutoFit/>
          </a:bodyPr>
          <a:lstStyle/>
          <a:p>
            <a:pPr indent="0" lvl="0" marL="0" marR="0" rtl="0" algn="l">
              <a:lnSpc>
                <a:spcPct val="256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108" name="Google Shape;108;p2"/>
          <p:cNvGrpSpPr/>
          <p:nvPr/>
        </p:nvGrpSpPr>
        <p:grpSpPr>
          <a:xfrm>
            <a:off x="1866989" y="5610989"/>
            <a:ext cx="12661175" cy="1363379"/>
            <a:chOff x="0" y="-76200"/>
            <a:chExt cx="5390501" cy="580459"/>
          </a:xfrm>
        </p:grpSpPr>
        <p:sp>
          <p:nvSpPr>
            <p:cNvPr id="109" name="Google Shape;109;p2"/>
            <p:cNvSpPr/>
            <p:nvPr/>
          </p:nvSpPr>
          <p:spPr>
            <a:xfrm>
              <a:off x="0" y="0"/>
              <a:ext cx="5390501" cy="504259"/>
            </a:xfrm>
            <a:custGeom>
              <a:rect b="b" l="l" r="r" t="t"/>
              <a:pathLst>
                <a:path extrusionOk="0" h="504259" w="5390501">
                  <a:moveTo>
                    <a:pt x="5187301" y="0"/>
                  </a:moveTo>
                  <a:lnTo>
                    <a:pt x="0" y="0"/>
                  </a:lnTo>
                  <a:lnTo>
                    <a:pt x="0" y="504259"/>
                  </a:lnTo>
                  <a:lnTo>
                    <a:pt x="5187301" y="504259"/>
                  </a:lnTo>
                  <a:lnTo>
                    <a:pt x="5390501" y="252130"/>
                  </a:lnTo>
                  <a:lnTo>
                    <a:pt x="5187301" y="0"/>
                  </a:lnTo>
                  <a:close/>
                </a:path>
              </a:pathLst>
            </a:custGeom>
            <a:solidFill>
              <a:srgbClr val="FFFFFF"/>
            </a:solidFill>
            <a:ln>
              <a:noFill/>
            </a:ln>
          </p:spPr>
        </p:sp>
        <p:sp>
          <p:nvSpPr>
            <p:cNvPr id="110" name="Google Shape;110;p2"/>
            <p:cNvSpPr txBox="1"/>
            <p:nvPr/>
          </p:nvSpPr>
          <p:spPr>
            <a:xfrm>
              <a:off x="0" y="-76200"/>
              <a:ext cx="5276201" cy="580459"/>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Importancia de los hitos en el seguimiento del proyecto</a:t>
              </a:r>
              <a:endParaRPr/>
            </a:p>
            <a:p>
              <a:pPr indent="0" lvl="0" marL="0" marR="0" rtl="0" algn="l">
                <a:lnSpc>
                  <a:spcPct val="148017"/>
                </a:lnSpc>
                <a:spcBef>
                  <a:spcPts val="0"/>
                </a:spcBef>
                <a:spcAft>
                  <a:spcPts val="0"/>
                </a:spcAft>
                <a:buNone/>
              </a:pPr>
              <a:r>
                <a:t/>
              </a:r>
              <a:endParaRPr b="0" i="0" sz="2799" u="none" cap="none" strike="noStrike">
                <a:solidFill>
                  <a:srgbClr val="000000"/>
                </a:solidFill>
                <a:latin typeface="Arial"/>
                <a:ea typeface="Arial"/>
                <a:cs typeface="Arial"/>
                <a:sym typeface="Arial"/>
              </a:endParaRPr>
            </a:p>
          </p:txBody>
        </p:sp>
      </p:grpSp>
      <p:sp>
        <p:nvSpPr>
          <p:cNvPr id="111" name="Google Shape;111;p2"/>
          <p:cNvSpPr/>
          <p:nvPr/>
        </p:nvSpPr>
        <p:spPr>
          <a:xfrm>
            <a:off x="878654" y="562328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12" name="Google Shape;112;p2"/>
          <p:cNvSpPr/>
          <p:nvPr/>
        </p:nvSpPr>
        <p:spPr>
          <a:xfrm>
            <a:off x="13026912" y="1241242"/>
            <a:ext cx="4626468" cy="4575998"/>
          </a:xfrm>
          <a:custGeom>
            <a:rect b="b" l="l" r="r" t="t"/>
            <a:pathLst>
              <a:path extrusionOk="0" h="4575998" w="4626468">
                <a:moveTo>
                  <a:pt x="0" y="0"/>
                </a:moveTo>
                <a:lnTo>
                  <a:pt x="4626468" y="0"/>
                </a:lnTo>
                <a:lnTo>
                  <a:pt x="4626468" y="4575997"/>
                </a:lnTo>
                <a:lnTo>
                  <a:pt x="0" y="4575997"/>
                </a:lnTo>
                <a:lnTo>
                  <a:pt x="0" y="0"/>
                </a:lnTo>
                <a:close/>
              </a:path>
            </a:pathLst>
          </a:custGeom>
          <a:blipFill rotWithShape="1">
            <a:blip r:embed="rId5">
              <a:alphaModFix/>
            </a:blip>
            <a:stretch>
              <a:fillRect b="0" l="0" r="0" t="0"/>
            </a:stretch>
          </a:blipFill>
          <a:ln>
            <a:noFill/>
          </a:ln>
        </p:spPr>
      </p:sp>
      <p:sp>
        <p:nvSpPr>
          <p:cNvPr id="113" name="Google Shape;113;p2"/>
          <p:cNvSpPr txBox="1"/>
          <p:nvPr/>
        </p:nvSpPr>
        <p:spPr>
          <a:xfrm>
            <a:off x="13625929" y="2413382"/>
            <a:ext cx="3428436" cy="2730118"/>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None/>
            </a:pPr>
            <a:r>
              <a:rPr b="0" i="0" lang="en-US" sz="2241" u="none" cap="none" strike="noStrike">
                <a:solidFill>
                  <a:srgbClr val="131416"/>
                </a:solidFill>
                <a:latin typeface="Open Sans"/>
                <a:ea typeface="Open Sans"/>
                <a:cs typeface="Open Sans"/>
                <a:sym typeface="Open Sans"/>
              </a:rPr>
              <a:t>Colocaras todos los recordatorios como lo sean, cortos, entregas, horarios de calificación. Colocaras, link de video y link o codigo de quizziz si lo amerita </a:t>
            </a:r>
            <a:endParaRPr/>
          </a:p>
        </p:txBody>
      </p:sp>
      <p:grpSp>
        <p:nvGrpSpPr>
          <p:cNvPr id="114" name="Google Shape;114;p2"/>
          <p:cNvGrpSpPr/>
          <p:nvPr/>
        </p:nvGrpSpPr>
        <p:grpSpPr>
          <a:xfrm>
            <a:off x="1866989" y="6472659"/>
            <a:ext cx="12118639" cy="1363379"/>
            <a:chOff x="0" y="-76200"/>
            <a:chExt cx="5159516" cy="580459"/>
          </a:xfrm>
        </p:grpSpPr>
        <p:sp>
          <p:nvSpPr>
            <p:cNvPr id="115" name="Google Shape;115;p2"/>
            <p:cNvSpPr/>
            <p:nvPr/>
          </p:nvSpPr>
          <p:spPr>
            <a:xfrm>
              <a:off x="0" y="0"/>
              <a:ext cx="5159516" cy="504259"/>
            </a:xfrm>
            <a:custGeom>
              <a:rect b="b" l="l" r="r" t="t"/>
              <a:pathLst>
                <a:path extrusionOk="0" h="504259" w="5159516">
                  <a:moveTo>
                    <a:pt x="4956316" y="0"/>
                  </a:moveTo>
                  <a:lnTo>
                    <a:pt x="0" y="0"/>
                  </a:lnTo>
                  <a:lnTo>
                    <a:pt x="0" y="504259"/>
                  </a:lnTo>
                  <a:lnTo>
                    <a:pt x="4956316" y="504259"/>
                  </a:lnTo>
                  <a:lnTo>
                    <a:pt x="5159516" y="252130"/>
                  </a:lnTo>
                  <a:lnTo>
                    <a:pt x="4956316" y="0"/>
                  </a:lnTo>
                  <a:close/>
                </a:path>
              </a:pathLst>
            </a:custGeom>
            <a:solidFill>
              <a:srgbClr val="FFFFFF"/>
            </a:solidFill>
            <a:ln>
              <a:noFill/>
            </a:ln>
          </p:spPr>
        </p:sp>
        <p:sp>
          <p:nvSpPr>
            <p:cNvPr id="116" name="Google Shape;116;p2"/>
            <p:cNvSpPr txBox="1"/>
            <p:nvPr/>
          </p:nvSpPr>
          <p:spPr>
            <a:xfrm>
              <a:off x="0" y="-76200"/>
              <a:ext cx="5045216" cy="580459"/>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Métodos para el monitoreo del progreso</a:t>
              </a:r>
              <a:endParaRPr/>
            </a:p>
            <a:p>
              <a:pPr indent="0" lvl="0" marL="0" marR="0" rtl="0" algn="l">
                <a:lnSpc>
                  <a:spcPct val="148017"/>
                </a:lnSpc>
                <a:spcBef>
                  <a:spcPts val="0"/>
                </a:spcBef>
                <a:spcAft>
                  <a:spcPts val="0"/>
                </a:spcAft>
                <a:buNone/>
              </a:pPr>
              <a:r>
                <a:t/>
              </a:r>
              <a:endParaRPr b="0" i="0" sz="2799" u="none" cap="none" strike="noStrike">
                <a:solidFill>
                  <a:srgbClr val="000000"/>
                </a:solidFill>
                <a:latin typeface="Arial"/>
                <a:ea typeface="Arial"/>
                <a:cs typeface="Arial"/>
                <a:sym typeface="Arial"/>
              </a:endParaRPr>
            </a:p>
          </p:txBody>
        </p:sp>
      </p:grpSp>
      <p:sp>
        <p:nvSpPr>
          <p:cNvPr id="117" name="Google Shape;117;p2"/>
          <p:cNvSpPr/>
          <p:nvPr/>
        </p:nvSpPr>
        <p:spPr>
          <a:xfrm>
            <a:off x="878654" y="6793036"/>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grpSp>
        <p:nvGrpSpPr>
          <p:cNvPr id="118" name="Google Shape;118;p2"/>
          <p:cNvGrpSpPr/>
          <p:nvPr/>
        </p:nvGrpSpPr>
        <p:grpSpPr>
          <a:xfrm>
            <a:off x="1866989" y="7496897"/>
            <a:ext cx="12661175" cy="1363379"/>
            <a:chOff x="0" y="-76200"/>
            <a:chExt cx="5390501" cy="580459"/>
          </a:xfrm>
        </p:grpSpPr>
        <p:sp>
          <p:nvSpPr>
            <p:cNvPr id="119" name="Google Shape;119;p2"/>
            <p:cNvSpPr/>
            <p:nvPr/>
          </p:nvSpPr>
          <p:spPr>
            <a:xfrm>
              <a:off x="0" y="0"/>
              <a:ext cx="5390501" cy="504259"/>
            </a:xfrm>
            <a:custGeom>
              <a:rect b="b" l="l" r="r" t="t"/>
              <a:pathLst>
                <a:path extrusionOk="0" h="504259" w="5390501">
                  <a:moveTo>
                    <a:pt x="5187301" y="0"/>
                  </a:moveTo>
                  <a:lnTo>
                    <a:pt x="0" y="0"/>
                  </a:lnTo>
                  <a:lnTo>
                    <a:pt x="0" y="504259"/>
                  </a:lnTo>
                  <a:lnTo>
                    <a:pt x="5187301" y="504259"/>
                  </a:lnTo>
                  <a:lnTo>
                    <a:pt x="5390501" y="252130"/>
                  </a:lnTo>
                  <a:lnTo>
                    <a:pt x="5187301" y="0"/>
                  </a:lnTo>
                  <a:close/>
                </a:path>
              </a:pathLst>
            </a:custGeom>
            <a:solidFill>
              <a:srgbClr val="FFFFFF"/>
            </a:solidFill>
            <a:ln>
              <a:noFill/>
            </a:ln>
          </p:spPr>
        </p:sp>
        <p:sp>
          <p:nvSpPr>
            <p:cNvPr id="120" name="Google Shape;120;p2"/>
            <p:cNvSpPr txBox="1"/>
            <p:nvPr/>
          </p:nvSpPr>
          <p:spPr>
            <a:xfrm>
              <a:off x="0" y="-76200"/>
              <a:ext cx="5276201" cy="580459"/>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Herramientas para el control del cronograma</a:t>
              </a:r>
              <a:endParaRPr/>
            </a:p>
            <a:p>
              <a:pPr indent="0" lvl="0" marL="0" marR="0" rtl="0" algn="l">
                <a:lnSpc>
                  <a:spcPct val="148017"/>
                </a:lnSpc>
                <a:spcBef>
                  <a:spcPts val="0"/>
                </a:spcBef>
                <a:spcAft>
                  <a:spcPts val="0"/>
                </a:spcAft>
                <a:buNone/>
              </a:pPr>
              <a:r>
                <a:t/>
              </a:r>
              <a:endParaRPr b="0" i="0" sz="2799" u="none" cap="none" strike="noStrike">
                <a:solidFill>
                  <a:srgbClr val="000000"/>
                </a:solidFill>
                <a:latin typeface="Arial"/>
                <a:ea typeface="Arial"/>
                <a:cs typeface="Arial"/>
                <a:sym typeface="Arial"/>
              </a:endParaRPr>
            </a:p>
          </p:txBody>
        </p:sp>
      </p:grpSp>
      <p:sp>
        <p:nvSpPr>
          <p:cNvPr id="121" name="Google Shape;121;p2"/>
          <p:cNvSpPr/>
          <p:nvPr/>
        </p:nvSpPr>
        <p:spPr>
          <a:xfrm>
            <a:off x="878654" y="7675875"/>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3"/>
          <p:cNvSpPr txBox="1"/>
          <p:nvPr/>
        </p:nvSpPr>
        <p:spPr>
          <a:xfrm>
            <a:off x="1374889" y="654364"/>
            <a:ext cx="13991174" cy="180102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None/>
            </a:pPr>
            <a:r>
              <a:rPr b="0" i="0" lang="en-US" sz="6098" u="none" cap="none" strike="noStrike">
                <a:solidFill>
                  <a:srgbClr val="131416"/>
                </a:solidFill>
                <a:latin typeface="Arial"/>
                <a:ea typeface="Arial"/>
                <a:cs typeface="Arial"/>
                <a:sym typeface="Arial"/>
              </a:rPr>
              <a:t>COMPETENCIA(S) QUE DESARROLLAREMOS</a:t>
            </a:r>
            <a:endParaRPr/>
          </a:p>
        </p:txBody>
      </p:sp>
      <p:sp>
        <p:nvSpPr>
          <p:cNvPr id="127" name="Google Shape;127;p3"/>
          <p:cNvSpPr txBox="1"/>
          <p:nvPr/>
        </p:nvSpPr>
        <p:spPr>
          <a:xfrm>
            <a:off x="1367785" y="2926462"/>
            <a:ext cx="16920215" cy="317182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4500" u="none" cap="none" strike="noStrike">
                <a:solidFill>
                  <a:srgbClr val="131416"/>
                </a:solidFill>
                <a:latin typeface="Open Sans"/>
                <a:ea typeface="Open Sans"/>
                <a:cs typeface="Open Sans"/>
                <a:sym typeface="Open Sans"/>
              </a:rPr>
              <a:t>Integra principios de calidad, eficiencia y control de tiempos mediante el uso de cronogramas, presupuestos y simuladores para mejorar el desempeño y cumplimiento de los objetivos de proyectos de TI </a:t>
            </a:r>
            <a:endParaRPr/>
          </a:p>
        </p:txBody>
      </p:sp>
      <p:sp>
        <p:nvSpPr>
          <p:cNvPr id="128" name="Google Shape;128;p3"/>
          <p:cNvSpPr/>
          <p:nvPr/>
        </p:nvSpPr>
        <p:spPr>
          <a:xfrm>
            <a:off x="12632832" y="5711002"/>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3">
              <a:alphaModFix/>
            </a:blip>
            <a:stretch>
              <a:fillRect b="0" l="0" r="0" t="0"/>
            </a:stretch>
          </a:blipFill>
          <a:ln>
            <a:noFill/>
          </a:ln>
        </p:spPr>
      </p:sp>
      <p:sp>
        <p:nvSpPr>
          <p:cNvPr id="129" name="Google Shape;129;p3"/>
          <p:cNvSpPr txBox="1"/>
          <p:nvPr/>
        </p:nvSpPr>
        <p:spPr>
          <a:xfrm>
            <a:off x="13231848" y="6905163"/>
            <a:ext cx="3428436" cy="3121463"/>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None/>
            </a:pPr>
            <a:r>
              <a:rPr b="0" i="0" lang="en-US" sz="2241" u="none" cap="none" strike="noStrike">
                <a:solidFill>
                  <a:srgbClr val="131416"/>
                </a:solidFill>
                <a:latin typeface="Open Sans"/>
                <a:ea typeface="Open Sans"/>
                <a:cs typeface="Open Sans"/>
                <a:sym typeface="Open Sans"/>
              </a:rPr>
              <a:t>En el programa del curso encontraras la competencia o competencias que debe cumplir el curso que estas impartiendo.</a:t>
            </a:r>
            <a:endParaRPr/>
          </a:p>
          <a:p>
            <a:pPr indent="0" lvl="0" marL="0" marR="0" rtl="0" algn="ctr">
              <a:lnSpc>
                <a:spcPct val="139982"/>
              </a:lnSpc>
              <a:spcBef>
                <a:spcPts val="0"/>
              </a:spcBef>
              <a:spcAft>
                <a:spcPts val="0"/>
              </a:spcAft>
              <a:buNone/>
            </a:pPr>
            <a:r>
              <a:rPr b="0" i="0" lang="en-US" sz="2241" u="none" cap="none" strike="noStrike">
                <a:solidFill>
                  <a:srgbClr val="131416"/>
                </a:solidFill>
                <a:latin typeface="Open Sans"/>
                <a:ea typeface="Open Sans"/>
                <a:cs typeface="Open Sans"/>
                <a:sym typeface="Open Sans"/>
              </a:rPr>
              <a:t>Colocala(s) en este apartado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4"/>
          <p:cNvSpPr txBox="1"/>
          <p:nvPr/>
        </p:nvSpPr>
        <p:spPr>
          <a:xfrm>
            <a:off x="1536822" y="2140629"/>
            <a:ext cx="15722478" cy="6671098"/>
          </a:xfrm>
          <a:prstGeom prst="rect">
            <a:avLst/>
          </a:prstGeom>
          <a:noFill/>
          <a:ln>
            <a:noFill/>
          </a:ln>
        </p:spPr>
        <p:txBody>
          <a:bodyPr anchorCtr="0" anchor="t" bIns="0" lIns="0" spcFirstLastPara="1" rIns="0" wrap="square" tIns="0">
            <a:spAutoFit/>
          </a:bodyPr>
          <a:lstStyle/>
          <a:p>
            <a:pPr indent="0" lvl="0" marL="0" marR="0" rtl="0" algn="l">
              <a:lnSpc>
                <a:spcPct val="173040"/>
              </a:lnSpc>
              <a:spcBef>
                <a:spcPts val="0"/>
              </a:spcBef>
              <a:spcAft>
                <a:spcPts val="0"/>
              </a:spcAft>
              <a:buNone/>
            </a:pPr>
            <a:r>
              <a:rPr b="0" i="0" lang="en-US" sz="2526" u="none" cap="none" strike="noStrike">
                <a:solidFill>
                  <a:srgbClr val="131416"/>
                </a:solidFill>
                <a:latin typeface="Arial"/>
                <a:ea typeface="Arial"/>
                <a:cs typeface="Arial"/>
                <a:sym typeface="Arial"/>
              </a:rPr>
              <a:t>¿Qué es la Línea Base del Proyecto?</a:t>
            </a:r>
            <a:endParaRPr/>
          </a:p>
          <a:p>
            <a:pPr indent="0" lvl="0" marL="0" marR="0" rtl="0" algn="l">
              <a:lnSpc>
                <a:spcPct val="173040"/>
              </a:lnSpc>
              <a:spcBef>
                <a:spcPts val="0"/>
              </a:spcBef>
              <a:spcAft>
                <a:spcPts val="0"/>
              </a:spcAft>
              <a:buNone/>
            </a:pPr>
            <a:r>
              <a:t/>
            </a:r>
            <a:endParaRPr b="0" i="0" sz="2526" u="none" cap="none" strike="noStrike">
              <a:solidFill>
                <a:srgbClr val="131416"/>
              </a:solidFill>
              <a:latin typeface="Arial"/>
              <a:ea typeface="Arial"/>
              <a:cs typeface="Arial"/>
              <a:sym typeface="Arial"/>
            </a:endParaRPr>
          </a:p>
          <a:p>
            <a:pPr indent="0" lvl="0" marL="0" marR="0" rtl="0" algn="l">
              <a:lnSpc>
                <a:spcPct val="173040"/>
              </a:lnSpc>
              <a:spcBef>
                <a:spcPts val="0"/>
              </a:spcBef>
              <a:spcAft>
                <a:spcPts val="0"/>
              </a:spcAft>
              <a:buNone/>
            </a:pPr>
            <a:r>
              <a:rPr b="0" i="0" lang="en-US" sz="2526" u="none" cap="none" strike="noStrike">
                <a:solidFill>
                  <a:srgbClr val="131416"/>
                </a:solidFill>
                <a:latin typeface="Arial"/>
                <a:ea typeface="Arial"/>
                <a:cs typeface="Arial"/>
                <a:sym typeface="Arial"/>
              </a:rPr>
              <a:t>La línea base del proyecto es la versión aprobada del cronograma, el presupuesto y el alcance del proyecto. Una vez que la línea base está establecida, sirve como un punto de referencia contra el cual se monitorea y mide el progreso real del proyecto.</a:t>
            </a:r>
            <a:endParaRPr/>
          </a:p>
          <a:p>
            <a:pPr indent="0" lvl="0" marL="0" marR="0" rtl="0" algn="l">
              <a:lnSpc>
                <a:spcPct val="173040"/>
              </a:lnSpc>
              <a:spcBef>
                <a:spcPts val="0"/>
              </a:spcBef>
              <a:spcAft>
                <a:spcPts val="0"/>
              </a:spcAft>
              <a:buNone/>
            </a:pPr>
            <a:r>
              <a:t/>
            </a:r>
            <a:endParaRPr b="0" i="0" sz="2526" u="none" cap="none" strike="noStrike">
              <a:solidFill>
                <a:srgbClr val="131416"/>
              </a:solidFill>
              <a:latin typeface="Arial"/>
              <a:ea typeface="Arial"/>
              <a:cs typeface="Arial"/>
              <a:sym typeface="Arial"/>
            </a:endParaRPr>
          </a:p>
          <a:p>
            <a:pPr indent="0" lvl="0" marL="0" marR="0" rtl="0" algn="l">
              <a:lnSpc>
                <a:spcPct val="173040"/>
              </a:lnSpc>
              <a:spcBef>
                <a:spcPts val="0"/>
              </a:spcBef>
              <a:spcAft>
                <a:spcPts val="0"/>
              </a:spcAft>
              <a:buNone/>
            </a:pPr>
            <a:r>
              <a:rPr b="0" i="0" lang="en-US" sz="2526" u="none" cap="none" strike="noStrike">
                <a:solidFill>
                  <a:srgbClr val="131416"/>
                </a:solidFill>
                <a:latin typeface="Arial"/>
                <a:ea typeface="Arial"/>
                <a:cs typeface="Arial"/>
                <a:sym typeface="Arial"/>
              </a:rPr>
              <a:t>Línea Base de Tiempo: Específicamente, es el cronograma aprobado que indica cuándo deben completarse las actividades y los entregables del proyecto. Incluye fechas de inicio y fin para cada tarea y define claramente los hitos.</a:t>
            </a:r>
            <a:endParaRPr/>
          </a:p>
          <a:p>
            <a:pPr indent="0" lvl="0" marL="0" marR="0" rtl="0" algn="l">
              <a:lnSpc>
                <a:spcPct val="173040"/>
              </a:lnSpc>
              <a:spcBef>
                <a:spcPts val="0"/>
              </a:spcBef>
              <a:spcAft>
                <a:spcPts val="0"/>
              </a:spcAft>
              <a:buNone/>
            </a:pPr>
            <a:r>
              <a:t/>
            </a:r>
            <a:endParaRPr b="0" i="0" sz="2526" u="none" cap="none" strike="noStrike">
              <a:solidFill>
                <a:srgbClr val="131416"/>
              </a:solidFill>
              <a:latin typeface="Arial"/>
              <a:ea typeface="Arial"/>
              <a:cs typeface="Arial"/>
              <a:sym typeface="Arial"/>
            </a:endParaRPr>
          </a:p>
          <a:p>
            <a:pPr indent="0" lvl="0" marL="0" marR="0" rtl="0" algn="l">
              <a:lnSpc>
                <a:spcPct val="173040"/>
              </a:lnSpc>
              <a:spcBef>
                <a:spcPts val="0"/>
              </a:spcBef>
              <a:spcAft>
                <a:spcPts val="0"/>
              </a:spcAft>
              <a:buNone/>
            </a:pPr>
            <a:r>
              <a:t/>
            </a:r>
            <a:endParaRPr b="0" i="0" sz="2526" u="none" cap="none" strike="noStrike">
              <a:solidFill>
                <a:srgbClr val="131416"/>
              </a:solidFill>
              <a:latin typeface="Arial"/>
              <a:ea typeface="Arial"/>
              <a:cs typeface="Arial"/>
              <a:sym typeface="Arial"/>
            </a:endParaRPr>
          </a:p>
          <a:p>
            <a:pPr indent="0" lvl="0" marL="0" marR="0" rtl="0" algn="l">
              <a:lnSpc>
                <a:spcPct val="207284"/>
              </a:lnSpc>
              <a:spcBef>
                <a:spcPts val="0"/>
              </a:spcBef>
              <a:spcAft>
                <a:spcPts val="0"/>
              </a:spcAft>
              <a:buNone/>
            </a:pPr>
            <a:r>
              <a:t/>
            </a:r>
            <a:endParaRPr b="0" i="0" sz="2526" u="none" cap="none" strike="noStrike">
              <a:solidFill>
                <a:srgbClr val="131416"/>
              </a:solidFill>
              <a:latin typeface="Arial"/>
              <a:ea typeface="Arial"/>
              <a:cs typeface="Arial"/>
              <a:sym typeface="Arial"/>
            </a:endParaRPr>
          </a:p>
        </p:txBody>
      </p:sp>
      <p:sp>
        <p:nvSpPr>
          <p:cNvPr id="135" name="Google Shape;135;p4"/>
          <p:cNvSpPr txBox="1"/>
          <p:nvPr/>
        </p:nvSpPr>
        <p:spPr>
          <a:xfrm>
            <a:off x="1374889" y="654364"/>
            <a:ext cx="16698774" cy="1610089"/>
          </a:xfrm>
          <a:prstGeom prst="rect">
            <a:avLst/>
          </a:prstGeom>
          <a:noFill/>
          <a:ln>
            <a:noFill/>
          </a:ln>
        </p:spPr>
        <p:txBody>
          <a:bodyPr anchorCtr="0" anchor="t" bIns="0" lIns="0" spcFirstLastPara="1" rIns="0" wrap="square" tIns="0">
            <a:spAutoFit/>
          </a:bodyPr>
          <a:lstStyle/>
          <a:p>
            <a:pPr indent="0" lvl="0" marL="0" marR="0" rtl="0" algn="just">
              <a:lnSpc>
                <a:spcPct val="112986"/>
              </a:lnSpc>
              <a:spcBef>
                <a:spcPts val="0"/>
              </a:spcBef>
              <a:spcAft>
                <a:spcPts val="0"/>
              </a:spcAft>
              <a:buNone/>
            </a:pPr>
            <a:r>
              <a:rPr b="0" i="0" lang="en-US" sz="5398" u="none" cap="none" strike="noStrike">
                <a:solidFill>
                  <a:srgbClr val="131416"/>
                </a:solidFill>
                <a:latin typeface="Arial"/>
                <a:ea typeface="Arial"/>
                <a:cs typeface="Arial"/>
                <a:sym typeface="Arial"/>
              </a:rPr>
              <a:t>LÍNEA BASE DE TIEMPO Y HITOS</a:t>
            </a:r>
            <a:endParaRPr/>
          </a:p>
          <a:p>
            <a:pPr indent="0" lvl="0" marL="0" marR="0" rtl="0" algn="just">
              <a:lnSpc>
                <a:spcPct val="112986"/>
              </a:lnSpc>
              <a:spcBef>
                <a:spcPts val="0"/>
              </a:spcBef>
              <a:spcAft>
                <a:spcPts val="0"/>
              </a:spcAft>
              <a:buNone/>
            </a:pPr>
            <a:r>
              <a:t/>
            </a:r>
            <a:endParaRPr b="0" i="0" sz="5398" u="none" cap="none" strike="noStrike">
              <a:solidFill>
                <a:srgbClr val="131416"/>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5"/>
          <p:cNvSpPr txBox="1"/>
          <p:nvPr/>
        </p:nvSpPr>
        <p:spPr>
          <a:xfrm>
            <a:off x="1028700" y="914400"/>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Importancia de los Hitos en el Seguimiento del Proyecto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41" name="Google Shape;141;p5"/>
          <p:cNvSpPr txBox="1"/>
          <p:nvPr/>
        </p:nvSpPr>
        <p:spPr>
          <a:xfrm>
            <a:off x="1750722" y="2238892"/>
            <a:ext cx="13666877" cy="7019408"/>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Un hito es un punto significativo o un evento clave dentro del proyecto, que marca el logro de una fase importante. A diferencia de las tareas normales, los hitos no tienen duración, son puntos de referencia para indicar el progreso.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Ejemplo de hitos: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249378" lvl="1" marL="498755" marR="0" rtl="0" algn="l">
              <a:lnSpc>
                <a:spcPct val="172987"/>
              </a:lnSpc>
              <a:spcBef>
                <a:spcPts val="0"/>
              </a:spcBef>
              <a:spcAft>
                <a:spcPts val="0"/>
              </a:spcAft>
              <a:buClr>
                <a:srgbClr val="131416"/>
              </a:buClr>
              <a:buSzPts val="2310"/>
              <a:buFont typeface="Arial"/>
              <a:buChar char="•"/>
            </a:pPr>
            <a:r>
              <a:rPr b="0" i="0" lang="en-US" sz="2310" u="none" cap="none" strike="noStrike">
                <a:solidFill>
                  <a:srgbClr val="131416"/>
                </a:solidFill>
                <a:latin typeface="Arial"/>
                <a:ea typeface="Arial"/>
                <a:cs typeface="Arial"/>
                <a:sym typeface="Arial"/>
              </a:rPr>
              <a:t>Inicio del proyecto: Cuando se da luz verde para comenzar.</a:t>
            </a:r>
            <a:endParaRPr/>
          </a:p>
          <a:p>
            <a:pPr indent="-249378" lvl="1" marL="498755" marR="0" rtl="0" algn="l">
              <a:lnSpc>
                <a:spcPct val="172987"/>
              </a:lnSpc>
              <a:spcBef>
                <a:spcPts val="0"/>
              </a:spcBef>
              <a:spcAft>
                <a:spcPts val="0"/>
              </a:spcAft>
              <a:buClr>
                <a:srgbClr val="131416"/>
              </a:buClr>
              <a:buSzPts val="2310"/>
              <a:buFont typeface="Arial"/>
              <a:buChar char="•"/>
            </a:pPr>
            <a:r>
              <a:rPr b="0" i="0" lang="en-US" sz="2310" u="none" cap="none" strike="noStrike">
                <a:solidFill>
                  <a:srgbClr val="131416"/>
                </a:solidFill>
                <a:latin typeface="Arial"/>
                <a:ea typeface="Arial"/>
                <a:cs typeface="Arial"/>
                <a:sym typeface="Arial"/>
              </a:rPr>
              <a:t>Finalización del diseño: Completar todos los diagramas y planos.</a:t>
            </a:r>
            <a:endParaRPr/>
          </a:p>
          <a:p>
            <a:pPr indent="-249378" lvl="1" marL="498755" marR="0" rtl="0" algn="l">
              <a:lnSpc>
                <a:spcPct val="172987"/>
              </a:lnSpc>
              <a:spcBef>
                <a:spcPts val="0"/>
              </a:spcBef>
              <a:spcAft>
                <a:spcPts val="0"/>
              </a:spcAft>
              <a:buClr>
                <a:srgbClr val="131416"/>
              </a:buClr>
              <a:buSzPts val="2310"/>
              <a:buFont typeface="Arial"/>
              <a:buChar char="•"/>
            </a:pPr>
            <a:r>
              <a:rPr b="0" i="0" lang="en-US" sz="2310" u="none" cap="none" strike="noStrike">
                <a:solidFill>
                  <a:srgbClr val="131416"/>
                </a:solidFill>
                <a:latin typeface="Arial"/>
                <a:ea typeface="Arial"/>
                <a:cs typeface="Arial"/>
                <a:sym typeface="Arial"/>
              </a:rPr>
              <a:t>Entrega del primer prototipo: El primer lanzamiento o prueba del software desarrollado.</a:t>
            </a:r>
            <a:endParaRPr/>
          </a:p>
          <a:p>
            <a:pPr indent="-249378" lvl="1" marL="498755" marR="0" rtl="0" algn="l">
              <a:lnSpc>
                <a:spcPct val="172987"/>
              </a:lnSpc>
              <a:spcBef>
                <a:spcPts val="0"/>
              </a:spcBef>
              <a:spcAft>
                <a:spcPts val="0"/>
              </a:spcAft>
              <a:buClr>
                <a:srgbClr val="131416"/>
              </a:buClr>
              <a:buSzPts val="2310"/>
              <a:buFont typeface="Arial"/>
              <a:buChar char="•"/>
            </a:pPr>
            <a:r>
              <a:rPr b="0" i="0" lang="en-US" sz="2310" u="none" cap="none" strike="noStrike">
                <a:solidFill>
                  <a:srgbClr val="131416"/>
                </a:solidFill>
                <a:latin typeface="Arial"/>
                <a:ea typeface="Arial"/>
                <a:cs typeface="Arial"/>
                <a:sym typeface="Arial"/>
              </a:rPr>
              <a:t>Cierre del proyecto: Cuando todos los entregables se han completado y el proyecto ha sido aceptado por el cliente.</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6"/>
          <p:cNvSpPr txBox="1"/>
          <p:nvPr/>
        </p:nvSpPr>
        <p:spPr>
          <a:xfrm>
            <a:off x="1028700" y="914400"/>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Los hitos ayudan a:</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47" name="Google Shape;147;p6"/>
          <p:cNvSpPr txBox="1"/>
          <p:nvPr/>
        </p:nvSpPr>
        <p:spPr>
          <a:xfrm>
            <a:off x="1666652" y="1920741"/>
            <a:ext cx="13660067" cy="3991503"/>
          </a:xfrm>
          <a:prstGeom prst="rect">
            <a:avLst/>
          </a:prstGeom>
          <a:noFill/>
          <a:ln>
            <a:noFill/>
          </a:ln>
        </p:spPr>
        <p:txBody>
          <a:bodyPr anchorCtr="0" anchor="t" bIns="0" lIns="0" spcFirstLastPara="1" rIns="0" wrap="square" tIns="0">
            <a:spAutoFit/>
          </a:bodyPr>
          <a:lstStyle/>
          <a:p>
            <a:pPr indent="0" lvl="0" marL="0" marR="0" rtl="0" algn="l">
              <a:lnSpc>
                <a:spcPct val="173050"/>
              </a:lnSpc>
              <a:spcBef>
                <a:spcPts val="0"/>
              </a:spcBef>
              <a:spcAft>
                <a:spcPts val="0"/>
              </a:spcAft>
              <a:buNone/>
            </a:pPr>
            <a:r>
              <a:rPr b="0" i="0" lang="en-US" sz="2308" u="none" cap="none" strike="noStrike">
                <a:solidFill>
                  <a:srgbClr val="131416"/>
                </a:solidFill>
                <a:latin typeface="Arial"/>
                <a:ea typeface="Arial"/>
                <a:cs typeface="Arial"/>
                <a:sym typeface="Arial"/>
              </a:rPr>
              <a:t>Monitorear el progreso y detectar desviaciones del plan.</a:t>
            </a:r>
            <a:endParaRPr/>
          </a:p>
          <a:p>
            <a:pPr indent="0" lvl="0" marL="0" marR="0" rtl="0" algn="l">
              <a:lnSpc>
                <a:spcPct val="173050"/>
              </a:lnSpc>
              <a:spcBef>
                <a:spcPts val="0"/>
              </a:spcBef>
              <a:spcAft>
                <a:spcPts val="0"/>
              </a:spcAft>
              <a:buNone/>
            </a:pPr>
            <a:r>
              <a:t/>
            </a:r>
            <a:endParaRPr b="0" i="0" sz="2308" u="none" cap="none" strike="noStrike">
              <a:solidFill>
                <a:srgbClr val="131416"/>
              </a:solidFill>
              <a:latin typeface="Arial"/>
              <a:ea typeface="Arial"/>
              <a:cs typeface="Arial"/>
              <a:sym typeface="Arial"/>
            </a:endParaRPr>
          </a:p>
          <a:p>
            <a:pPr indent="0" lvl="0" marL="0" marR="0" rtl="0" algn="l">
              <a:lnSpc>
                <a:spcPct val="173050"/>
              </a:lnSpc>
              <a:spcBef>
                <a:spcPts val="0"/>
              </a:spcBef>
              <a:spcAft>
                <a:spcPts val="0"/>
              </a:spcAft>
              <a:buNone/>
            </a:pPr>
            <a:r>
              <a:rPr b="0" i="0" lang="en-US" sz="2308" u="none" cap="none" strike="noStrike">
                <a:solidFill>
                  <a:srgbClr val="131416"/>
                </a:solidFill>
                <a:latin typeface="Arial"/>
                <a:ea typeface="Arial"/>
                <a:cs typeface="Arial"/>
                <a:sym typeface="Arial"/>
              </a:rPr>
              <a:t>Motivar al equipo, al marcar logros importantes.</a:t>
            </a:r>
            <a:endParaRPr/>
          </a:p>
          <a:p>
            <a:pPr indent="0" lvl="0" marL="0" marR="0" rtl="0" algn="l">
              <a:lnSpc>
                <a:spcPct val="173050"/>
              </a:lnSpc>
              <a:spcBef>
                <a:spcPts val="0"/>
              </a:spcBef>
              <a:spcAft>
                <a:spcPts val="0"/>
              </a:spcAft>
              <a:buNone/>
            </a:pPr>
            <a:r>
              <a:t/>
            </a:r>
            <a:endParaRPr b="0" i="0" sz="2308" u="none" cap="none" strike="noStrike">
              <a:solidFill>
                <a:srgbClr val="131416"/>
              </a:solidFill>
              <a:latin typeface="Arial"/>
              <a:ea typeface="Arial"/>
              <a:cs typeface="Arial"/>
              <a:sym typeface="Arial"/>
            </a:endParaRPr>
          </a:p>
          <a:p>
            <a:pPr indent="0" lvl="0" marL="0" marR="0" rtl="0" algn="l">
              <a:lnSpc>
                <a:spcPct val="173050"/>
              </a:lnSpc>
              <a:spcBef>
                <a:spcPts val="0"/>
              </a:spcBef>
              <a:spcAft>
                <a:spcPts val="0"/>
              </a:spcAft>
              <a:buNone/>
            </a:pPr>
            <a:r>
              <a:rPr b="0" i="0" lang="en-US" sz="2308" u="none" cap="none" strike="noStrike">
                <a:solidFill>
                  <a:srgbClr val="131416"/>
                </a:solidFill>
                <a:latin typeface="Arial"/>
                <a:ea typeface="Arial"/>
                <a:cs typeface="Arial"/>
                <a:sym typeface="Arial"/>
              </a:rPr>
              <a:t>Comunicar el avance del proyecto a los interesados clave.</a:t>
            </a:r>
            <a:endParaRPr/>
          </a:p>
          <a:p>
            <a:pPr indent="0" lvl="0" marL="0" marR="0" rtl="0" algn="l">
              <a:lnSpc>
                <a:spcPct val="173050"/>
              </a:lnSpc>
              <a:spcBef>
                <a:spcPts val="0"/>
              </a:spcBef>
              <a:spcAft>
                <a:spcPts val="0"/>
              </a:spcAft>
              <a:buNone/>
            </a:pPr>
            <a:r>
              <a:t/>
            </a:r>
            <a:endParaRPr b="0" i="0" sz="2308" u="none" cap="none" strike="noStrike">
              <a:solidFill>
                <a:srgbClr val="131416"/>
              </a:solidFill>
              <a:latin typeface="Arial"/>
              <a:ea typeface="Arial"/>
              <a:cs typeface="Arial"/>
              <a:sym typeface="Arial"/>
            </a:endParaRPr>
          </a:p>
          <a:p>
            <a:pPr indent="0" lvl="0" marL="0" marR="0" rtl="0" algn="l">
              <a:lnSpc>
                <a:spcPct val="173050"/>
              </a:lnSpc>
              <a:spcBef>
                <a:spcPts val="0"/>
              </a:spcBef>
              <a:spcAft>
                <a:spcPts val="0"/>
              </a:spcAft>
              <a:buNone/>
            </a:pPr>
            <a:r>
              <a:t/>
            </a:r>
            <a:endParaRPr b="0" i="0" sz="2308" u="none" cap="none" strike="noStrike">
              <a:solidFill>
                <a:srgbClr val="131416"/>
              </a:solidFill>
              <a:latin typeface="Arial"/>
              <a:ea typeface="Arial"/>
              <a:cs typeface="Arial"/>
              <a:sym typeface="Arial"/>
            </a:endParaRPr>
          </a:p>
          <a:p>
            <a:pPr indent="0" lvl="0" marL="0" marR="0" rtl="0" algn="l">
              <a:lnSpc>
                <a:spcPct val="173050"/>
              </a:lnSpc>
              <a:spcBef>
                <a:spcPts val="0"/>
              </a:spcBef>
              <a:spcAft>
                <a:spcPts val="0"/>
              </a:spcAft>
              <a:buNone/>
            </a:pPr>
            <a:r>
              <a:t/>
            </a:r>
            <a:endParaRPr b="0" i="0" sz="2308" u="none" cap="none" strike="noStrike">
              <a:solidFill>
                <a:srgbClr val="131416"/>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7"/>
          <p:cNvSpPr txBox="1"/>
          <p:nvPr/>
        </p:nvSpPr>
        <p:spPr>
          <a:xfrm>
            <a:off x="1028700" y="914400"/>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Métodos para el Monitoreo del Progreso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53" name="Google Shape;153;p7"/>
          <p:cNvSpPr txBox="1"/>
          <p:nvPr/>
        </p:nvSpPr>
        <p:spPr>
          <a:xfrm>
            <a:off x="1870835" y="2133068"/>
            <a:ext cx="13666877" cy="1471792"/>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Para asegurarse de que el proyecto avanza de acuerdo al plan, deben monitorear y controlar el progreso continuamente. Algunas técnicas que pueden usar son:</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54" name="Google Shape;154;p7"/>
          <p:cNvSpPr txBox="1"/>
          <p:nvPr/>
        </p:nvSpPr>
        <p:spPr>
          <a:xfrm>
            <a:off x="847106" y="4357335"/>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Revisión del progreso con la línea base: Comparar el cronograma planificado con el progreso real.</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55" name="Google Shape;155;p7"/>
          <p:cNvSpPr txBox="1"/>
          <p:nvPr/>
        </p:nvSpPr>
        <p:spPr>
          <a:xfrm>
            <a:off x="1689241" y="5576004"/>
            <a:ext cx="13666877" cy="1976121"/>
          </a:xfrm>
          <a:prstGeom prst="rect">
            <a:avLst/>
          </a:prstGeom>
          <a:noFill/>
          <a:ln>
            <a:noFill/>
          </a:ln>
        </p:spPr>
        <p:txBody>
          <a:bodyPr anchorCtr="0" anchor="t" bIns="0" lIns="0" spcFirstLastPara="1" rIns="0" wrap="square" tIns="0">
            <a:spAutoFit/>
          </a:bodyPr>
          <a:lstStyle/>
          <a:p>
            <a:pPr indent="-249378" lvl="1" marL="498755" marR="0" rtl="0" algn="l">
              <a:lnSpc>
                <a:spcPct val="172987"/>
              </a:lnSpc>
              <a:spcBef>
                <a:spcPts val="0"/>
              </a:spcBef>
              <a:spcAft>
                <a:spcPts val="0"/>
              </a:spcAft>
              <a:buClr>
                <a:srgbClr val="131416"/>
              </a:buClr>
              <a:buSzPts val="2310"/>
              <a:buFont typeface="Arial"/>
              <a:buChar char="•"/>
            </a:pPr>
            <a:r>
              <a:rPr b="0" i="0" lang="en-US" sz="2310" u="none" cap="none" strike="noStrike">
                <a:solidFill>
                  <a:srgbClr val="131416"/>
                </a:solidFill>
                <a:latin typeface="Arial"/>
                <a:ea typeface="Arial"/>
                <a:cs typeface="Arial"/>
                <a:sym typeface="Arial"/>
              </a:rPr>
              <a:t>Ejemplo: Si una tarea está prevista para completarse en 10 días y ya han pasado 15 días, es una señal clara de que hay un retraso.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8"/>
          <p:cNvSpPr txBox="1"/>
          <p:nvPr/>
        </p:nvSpPr>
        <p:spPr>
          <a:xfrm>
            <a:off x="1028700" y="914400"/>
            <a:ext cx="15950051" cy="1976121"/>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Método del Valor Ganado (EVM - Earned Value Management): Este es un enfoque avanzado que mide el rendimiento del proyecto en términos de tiempo y costo. Compara el valor del trabajo realmente realizado con el valor planificado y el costo incurrido.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61" name="Google Shape;161;p8"/>
          <p:cNvSpPr txBox="1"/>
          <p:nvPr/>
        </p:nvSpPr>
        <p:spPr>
          <a:xfrm>
            <a:off x="2030642" y="2776221"/>
            <a:ext cx="13666877"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Ejemplo: Si han gastado más de lo planificado para un determinado hito, pueden usar EVM para ver si el proyecto está dentro del presupuesto </a:t>
            </a:r>
            <a:endParaRPr/>
          </a:p>
        </p:txBody>
      </p:sp>
      <p:sp>
        <p:nvSpPr>
          <p:cNvPr id="162" name="Google Shape;162;p8"/>
          <p:cNvSpPr txBox="1"/>
          <p:nvPr/>
        </p:nvSpPr>
        <p:spPr>
          <a:xfrm>
            <a:off x="889055" y="4723252"/>
            <a:ext cx="15950051" cy="1471792"/>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Reuniones de seguimiento: Reuniones regulares con el equipo y los interesados para discutir el estado de las actividades y los hitos.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63" name="Google Shape;163;p8"/>
          <p:cNvSpPr txBox="1"/>
          <p:nvPr/>
        </p:nvSpPr>
        <p:spPr>
          <a:xfrm>
            <a:off x="1890997" y="6585073"/>
            <a:ext cx="13666877"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Ejemplo: Reuniones semanales para revisar el estado del cronograma y ajustar los recursos según sea necesario.</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9"/>
          <p:cNvSpPr txBox="1"/>
          <p:nvPr/>
        </p:nvSpPr>
        <p:spPr>
          <a:xfrm>
            <a:off x="825249" y="1592571"/>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Herramientas para el Control del Cronograma</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69" name="Google Shape;169;p9"/>
          <p:cNvSpPr txBox="1"/>
          <p:nvPr/>
        </p:nvSpPr>
        <p:spPr>
          <a:xfrm>
            <a:off x="1155578" y="2874922"/>
            <a:ext cx="13666877" cy="7523737"/>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Hoy en día, existen múltiples herramientas que pueden ayudarles a monitorear y controlar el cronograma del proyecto: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1" i="0" lang="en-US" sz="2310" u="none" cap="none" strike="noStrike">
                <a:solidFill>
                  <a:srgbClr val="131416"/>
                </a:solidFill>
                <a:latin typeface="Arial"/>
                <a:ea typeface="Arial"/>
                <a:cs typeface="Arial"/>
                <a:sym typeface="Arial"/>
              </a:rPr>
              <a:t>Microsoft Project: Una herramienta muy completa para planificar y seguir el progreso de tareas y hitos. Permite crear diagramas de Gantt, definir dependencias entre tareas, y gestionar recursos.</a:t>
            </a:r>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1" i="0" lang="en-US" sz="2310" u="none" cap="none" strike="noStrike">
                <a:solidFill>
                  <a:srgbClr val="131416"/>
                </a:solidFill>
                <a:latin typeface="Arial"/>
                <a:ea typeface="Arial"/>
                <a:cs typeface="Arial"/>
                <a:sym typeface="Arial"/>
              </a:rPr>
              <a:t>Trello o Asana: Estas plataformas permiten una gestión visual del trabajo y son útiles para proyectos más pequeños o cuando se quiere un enfoque colaborativo.</a:t>
            </a:r>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1" i="0" lang="en-US" sz="2310" u="none" cap="none" strike="noStrike">
                <a:solidFill>
                  <a:srgbClr val="131416"/>
                </a:solidFill>
                <a:latin typeface="Arial"/>
                <a:ea typeface="Arial"/>
                <a:cs typeface="Arial"/>
                <a:sym typeface="Arial"/>
              </a:rPr>
              <a:t>Jira: Muy utilizada en entornos de desarrollo de software, ayuda a gestionar sprints y versiones, con un enfoque ágil.</a:t>
            </a:r>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0"/>
          <p:cNvSpPr txBox="1"/>
          <p:nvPr/>
        </p:nvSpPr>
        <p:spPr>
          <a:xfrm>
            <a:off x="1028700" y="914400"/>
            <a:ext cx="15950051" cy="1976121"/>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Diagramas de Gantt: Permiten visualizar las tareas del proyecto en una línea de tiempo. En un diagrama de Gantt, cada tarea se representa con una barra que refleja su duración y su posición relativa respecto a otras tareas.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75" name="Google Shape;175;p10"/>
          <p:cNvSpPr txBox="1"/>
          <p:nvPr/>
        </p:nvSpPr>
        <p:spPr>
          <a:xfrm>
            <a:off x="2039102" y="3690027"/>
            <a:ext cx="13666877" cy="1976121"/>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1" i="0" lang="en-US" sz="2310" u="none" cap="none" strike="noStrike">
                <a:solidFill>
                  <a:srgbClr val="131416"/>
                </a:solidFill>
                <a:latin typeface="Arial"/>
                <a:ea typeface="Arial"/>
                <a:cs typeface="Arial"/>
                <a:sym typeface="Arial"/>
              </a:rPr>
              <a:t>Ejemplo: Usar un diagrama de Gantt en Microsoft Project para mostrar las tareas que dependen del "desarrollo del backend" en un proyecto de software.</a:t>
            </a:r>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1"/>
          <p:cNvSpPr txBox="1"/>
          <p:nvPr/>
        </p:nvSpPr>
        <p:spPr>
          <a:xfrm>
            <a:off x="1028700" y="914400"/>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Actualización y Ajustes a la Línea Base</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81" name="Google Shape;181;p11"/>
          <p:cNvSpPr txBox="1"/>
          <p:nvPr/>
        </p:nvSpPr>
        <p:spPr>
          <a:xfrm>
            <a:off x="2039102" y="3690027"/>
            <a:ext cx="13666877" cy="6515080"/>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1" i="0" lang="en-US" sz="2310" u="none" cap="none" strike="noStrike">
                <a:solidFill>
                  <a:srgbClr val="131416"/>
                </a:solidFill>
                <a:latin typeface="Arial"/>
                <a:ea typeface="Arial"/>
                <a:cs typeface="Arial"/>
                <a:sym typeface="Arial"/>
              </a:rPr>
              <a:t>Aunque la línea base del proyecto es un punto de referencia formal, no es estática. Si se presentan cambios significativos, como un cambio en el alcance del proyecto o un retraso inesperado en la entrega de un componente clave, es posible actualizar la línea base.</a:t>
            </a:r>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a:p>
            <a:pPr indent="-249378" lvl="1" marL="498755" marR="0" rtl="0" algn="l">
              <a:lnSpc>
                <a:spcPct val="172987"/>
              </a:lnSpc>
              <a:spcBef>
                <a:spcPts val="0"/>
              </a:spcBef>
              <a:spcAft>
                <a:spcPts val="0"/>
              </a:spcAft>
              <a:buClr>
                <a:srgbClr val="131416"/>
              </a:buClr>
              <a:buSzPts val="2310"/>
              <a:buFont typeface="Arial"/>
              <a:buAutoNum type="arabicPeriod"/>
            </a:pPr>
            <a:r>
              <a:rPr b="0" i="0" lang="en-US" sz="2310" u="none" cap="none" strike="noStrike">
                <a:solidFill>
                  <a:srgbClr val="131416"/>
                </a:solidFill>
                <a:latin typeface="Arial"/>
                <a:ea typeface="Arial"/>
                <a:cs typeface="Arial"/>
                <a:sym typeface="Arial"/>
              </a:rPr>
              <a:t>Identificar el motivo del cambio (por ejemplo, una nueva funcionalidad solicitada por el cliente).</a:t>
            </a:r>
            <a:endParaRPr/>
          </a:p>
          <a:p>
            <a:pPr indent="-249378" lvl="1" marL="498755" marR="0" rtl="0" algn="l">
              <a:lnSpc>
                <a:spcPct val="172987"/>
              </a:lnSpc>
              <a:spcBef>
                <a:spcPts val="0"/>
              </a:spcBef>
              <a:spcAft>
                <a:spcPts val="0"/>
              </a:spcAft>
              <a:buClr>
                <a:srgbClr val="131416"/>
              </a:buClr>
              <a:buSzPts val="2310"/>
              <a:buFont typeface="Arial"/>
              <a:buAutoNum type="arabicPeriod"/>
            </a:pPr>
            <a:r>
              <a:rPr b="0" i="0" lang="en-US" sz="2310" u="none" cap="none" strike="noStrike">
                <a:solidFill>
                  <a:srgbClr val="131416"/>
                </a:solidFill>
                <a:latin typeface="Arial"/>
                <a:ea typeface="Arial"/>
                <a:cs typeface="Arial"/>
                <a:sym typeface="Arial"/>
              </a:rPr>
              <a:t>Evaluar el impacto en el cronograma y presupuesto.</a:t>
            </a:r>
            <a:endParaRPr/>
          </a:p>
          <a:p>
            <a:pPr indent="-249378" lvl="1" marL="498755" marR="0" rtl="0" algn="l">
              <a:lnSpc>
                <a:spcPct val="172987"/>
              </a:lnSpc>
              <a:spcBef>
                <a:spcPts val="0"/>
              </a:spcBef>
              <a:spcAft>
                <a:spcPts val="0"/>
              </a:spcAft>
              <a:buClr>
                <a:srgbClr val="131416"/>
              </a:buClr>
              <a:buSzPts val="2310"/>
              <a:buFont typeface="Arial"/>
              <a:buAutoNum type="arabicPeriod"/>
            </a:pPr>
            <a:r>
              <a:rPr b="0" i="0" lang="en-US" sz="2310" u="none" cap="none" strike="noStrike">
                <a:solidFill>
                  <a:srgbClr val="131416"/>
                </a:solidFill>
                <a:latin typeface="Arial"/>
                <a:ea typeface="Arial"/>
                <a:cs typeface="Arial"/>
                <a:sym typeface="Arial"/>
              </a:rPr>
              <a:t>Obtener la aprobación de los interesados clave para modificar la línea base.</a:t>
            </a:r>
            <a:endParaRPr/>
          </a:p>
          <a:p>
            <a:pPr indent="-249378" lvl="1" marL="498755" marR="0" rtl="0" algn="l">
              <a:lnSpc>
                <a:spcPct val="172987"/>
              </a:lnSpc>
              <a:spcBef>
                <a:spcPts val="0"/>
              </a:spcBef>
              <a:spcAft>
                <a:spcPts val="0"/>
              </a:spcAft>
              <a:buClr>
                <a:srgbClr val="131416"/>
              </a:buClr>
              <a:buSzPts val="2310"/>
              <a:buFont typeface="Arial"/>
              <a:buAutoNum type="arabicPeriod"/>
            </a:pPr>
            <a:r>
              <a:rPr b="0" i="0" lang="en-US" sz="2310" u="none" cap="none" strike="noStrike">
                <a:solidFill>
                  <a:srgbClr val="131416"/>
                </a:solidFill>
                <a:latin typeface="Arial"/>
                <a:ea typeface="Arial"/>
                <a:cs typeface="Arial"/>
                <a:sym typeface="Arial"/>
              </a:rPr>
              <a:t>Actualizar formalmente la nueva línea base.</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2"/>
          <p:cNvSpPr txBox="1"/>
          <p:nvPr/>
        </p:nvSpPr>
        <p:spPr>
          <a:xfrm>
            <a:off x="1028700" y="914400"/>
            <a:ext cx="15950051" cy="1471792"/>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Es importante que cualquier cambio en la línea base se haga de manera formal y documentada, ya que esto afecta la medición del progreso.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87" name="Google Shape;187;p12"/>
          <p:cNvSpPr txBox="1"/>
          <p:nvPr/>
        </p:nvSpPr>
        <p:spPr>
          <a:xfrm>
            <a:off x="2039102" y="3690027"/>
            <a:ext cx="13666877" cy="8028066"/>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1" i="0" lang="en-US" sz="2310" u="none" cap="none" strike="noStrike">
                <a:solidFill>
                  <a:srgbClr val="131416"/>
                </a:solidFill>
                <a:latin typeface="Arial"/>
                <a:ea typeface="Arial"/>
                <a:cs typeface="Arial"/>
                <a:sym typeface="Arial"/>
              </a:rPr>
              <a:t>Reporte de Avance hacia los Entregables</a:t>
            </a:r>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1" i="0" lang="en-US" sz="2310" u="none" cap="none" strike="noStrike">
                <a:solidFill>
                  <a:srgbClr val="131416"/>
                </a:solidFill>
                <a:latin typeface="Arial"/>
                <a:ea typeface="Arial"/>
                <a:cs typeface="Arial"/>
                <a:sym typeface="Arial"/>
              </a:rPr>
              <a:t>El reporte de avance es una herramienta clave para comunicar a los interesados el progreso hacia los entregables del proyecto. Los reportes pueden incluir:</a:t>
            </a:r>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Progreso en los hitos: Qué hitos se han alcanzado y cuáles están pendientes.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Retrasos o problemas: Notificación temprana de cualquier desviación respecto al cronograma o el presupuesto.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Recomendaciones para ajustes: Propuestas para mitigar riesgos o ajustar recursos.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3"/>
          <p:cNvSpPr txBox="1"/>
          <p:nvPr/>
        </p:nvSpPr>
        <p:spPr>
          <a:xfrm>
            <a:off x="2160745" y="4106733"/>
            <a:ext cx="13666877" cy="4497765"/>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Un buen reporte no solo debe enfocarse en lo que ya se ha logrado, sino también en lo que viene a continuación. Esto permite a los interesados ver el panorama general y tomar decisiones informadas sobre el futuro del proyecto.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4"/>
          <p:cNvSpPr txBox="1"/>
          <p:nvPr/>
        </p:nvSpPr>
        <p:spPr>
          <a:xfrm>
            <a:off x="1028700" y="914400"/>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Ejemplo Práctico: Creación de una Línea Base y Hitos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98" name="Google Shape;198;p14"/>
          <p:cNvSpPr txBox="1"/>
          <p:nvPr/>
        </p:nvSpPr>
        <p:spPr>
          <a:xfrm>
            <a:off x="2039102" y="3690027"/>
            <a:ext cx="13666877" cy="2984778"/>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1" i="0" lang="en-US" sz="2310" u="none" cap="none" strike="noStrike">
                <a:solidFill>
                  <a:srgbClr val="131416"/>
                </a:solidFill>
                <a:latin typeface="Arial"/>
                <a:ea typeface="Arial"/>
                <a:cs typeface="Arial"/>
                <a:sym typeface="Arial"/>
              </a:rPr>
              <a:t>Supongamos que están trabajando en un proyecto de desarrollo de software para un sistema de gestión de inventarios. Aquí les dejo un ejemplo de cómo podrían establecer su línea base de tiempo e identificar hitos clave:</a:t>
            </a:r>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5"/>
          <p:cNvSpPr txBox="1"/>
          <p:nvPr/>
        </p:nvSpPr>
        <p:spPr>
          <a:xfrm>
            <a:off x="1028700" y="914400"/>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Fase 1: Planificación del Proyecto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204" name="Google Shape;204;p15"/>
          <p:cNvSpPr txBox="1"/>
          <p:nvPr/>
        </p:nvSpPr>
        <p:spPr>
          <a:xfrm>
            <a:off x="1934132" y="1940528"/>
            <a:ext cx="13666877" cy="2480450"/>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1" i="0" lang="en-US" sz="2310" u="none" cap="none" strike="noStrike">
                <a:solidFill>
                  <a:srgbClr val="131416"/>
                </a:solidFill>
                <a:latin typeface="Arial"/>
                <a:ea typeface="Arial"/>
                <a:cs typeface="Arial"/>
                <a:sym typeface="Arial"/>
              </a:rPr>
              <a:t>Fecha de inicio: 1 de noviembre.</a:t>
            </a:r>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1" i="0" lang="en-US" sz="2310" u="none" cap="none" strike="noStrike">
                <a:solidFill>
                  <a:srgbClr val="131416"/>
                </a:solidFill>
                <a:latin typeface="Arial"/>
                <a:ea typeface="Arial"/>
                <a:cs typeface="Arial"/>
                <a:sym typeface="Arial"/>
              </a:rPr>
              <a:t>Hito 1: Completar la planificación del alcance y cronograma para el 10 de noviembre.</a:t>
            </a:r>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p:txBody>
      </p:sp>
      <p:sp>
        <p:nvSpPr>
          <p:cNvPr id="205" name="Google Shape;205;p15"/>
          <p:cNvSpPr txBox="1"/>
          <p:nvPr/>
        </p:nvSpPr>
        <p:spPr>
          <a:xfrm>
            <a:off x="1028700" y="4915697"/>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Fase 2: Desarrollo del Backend</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206" name="Google Shape;206;p15"/>
          <p:cNvSpPr txBox="1"/>
          <p:nvPr/>
        </p:nvSpPr>
        <p:spPr>
          <a:xfrm>
            <a:off x="1934132" y="5941825"/>
            <a:ext cx="13666877" cy="1976121"/>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1" i="0" lang="en-US" sz="2310" u="none" cap="none" strike="noStrike">
                <a:solidFill>
                  <a:srgbClr val="131416"/>
                </a:solidFill>
                <a:latin typeface="Arial"/>
                <a:ea typeface="Arial"/>
                <a:cs typeface="Arial"/>
                <a:sym typeface="Arial"/>
              </a:rPr>
              <a:t>Fecha de inicio: 15 de noviembre.</a:t>
            </a:r>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1" i="0" lang="en-US" sz="2310" u="none" cap="none" strike="noStrike">
                <a:solidFill>
                  <a:srgbClr val="131416"/>
                </a:solidFill>
                <a:latin typeface="Arial"/>
                <a:ea typeface="Arial"/>
                <a:cs typeface="Arial"/>
                <a:sym typeface="Arial"/>
              </a:rPr>
              <a:t>Hito 2: Entrega del backend completo para el 1 de diciembre.</a:t>
            </a:r>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6"/>
          <p:cNvSpPr txBox="1"/>
          <p:nvPr/>
        </p:nvSpPr>
        <p:spPr>
          <a:xfrm>
            <a:off x="1028700" y="914400"/>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Fase 3: Pruebas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212" name="Google Shape;212;p16"/>
          <p:cNvSpPr txBox="1"/>
          <p:nvPr/>
        </p:nvSpPr>
        <p:spPr>
          <a:xfrm>
            <a:off x="1934132" y="1940528"/>
            <a:ext cx="13666877" cy="2984778"/>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1" i="0" lang="en-US" sz="2310" u="none" cap="none" strike="noStrike">
                <a:solidFill>
                  <a:srgbClr val="131416"/>
                </a:solidFill>
                <a:latin typeface="Arial"/>
                <a:ea typeface="Arial"/>
                <a:cs typeface="Arial"/>
                <a:sym typeface="Arial"/>
              </a:rPr>
              <a:t>Fecha de inicio: 5 de diciembre.</a:t>
            </a:r>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1" i="0" lang="en-US" sz="2310" u="none" cap="none" strike="noStrike">
                <a:solidFill>
                  <a:srgbClr val="131416"/>
                </a:solidFill>
                <a:latin typeface="Arial"/>
                <a:ea typeface="Arial"/>
                <a:cs typeface="Arial"/>
                <a:sym typeface="Arial"/>
              </a:rPr>
              <a:t>Hito 3: Finalización de pruebas y corrección de errores para el 15 de diciembre.</a:t>
            </a:r>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p:txBody>
      </p:sp>
      <p:sp>
        <p:nvSpPr>
          <p:cNvPr id="213" name="Google Shape;213;p16"/>
          <p:cNvSpPr txBox="1"/>
          <p:nvPr/>
        </p:nvSpPr>
        <p:spPr>
          <a:xfrm>
            <a:off x="1028700" y="4915697"/>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Fase 4: Implementación</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214" name="Google Shape;214;p16"/>
          <p:cNvSpPr txBox="1"/>
          <p:nvPr/>
        </p:nvSpPr>
        <p:spPr>
          <a:xfrm>
            <a:off x="1934132" y="5941825"/>
            <a:ext cx="13666877" cy="2480450"/>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1" i="0" lang="en-US" sz="2310" u="none" cap="none" strike="noStrike">
                <a:solidFill>
                  <a:srgbClr val="131416"/>
                </a:solidFill>
                <a:latin typeface="Arial"/>
                <a:ea typeface="Arial"/>
                <a:cs typeface="Arial"/>
                <a:sym typeface="Arial"/>
              </a:rPr>
              <a:t>Fecha de inicio: 20 de diciembre.</a:t>
            </a:r>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1" i="0" lang="en-US" sz="2310" u="none" cap="none" strike="noStrike">
                <a:solidFill>
                  <a:srgbClr val="131416"/>
                </a:solidFill>
                <a:latin typeface="Arial"/>
                <a:ea typeface="Arial"/>
                <a:cs typeface="Arial"/>
                <a:sym typeface="Arial"/>
              </a:rPr>
              <a:t>Hito 4: Implementación del sistema en el servidor final para el 22 de diciembre.</a:t>
            </a:r>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7"/>
          <p:cNvSpPr txBox="1"/>
          <p:nvPr/>
        </p:nvSpPr>
        <p:spPr>
          <a:xfrm>
            <a:off x="1028700" y="914400"/>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Conclusión</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220" name="Google Shape;220;p17"/>
          <p:cNvSpPr txBox="1"/>
          <p:nvPr/>
        </p:nvSpPr>
        <p:spPr>
          <a:xfrm>
            <a:off x="1814341" y="2502350"/>
            <a:ext cx="13666877" cy="4497765"/>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Establecer una línea base de tiempo sólida y definir hitos claros son fundamentales para que un proyecto sea exitoso. Estos elementos no solo permiten hacer un seguimiento efectivo del progreso, sino también tomar decisiones a tiempo para corregir desviaciones y asegurar que el proyecto llegue a buen puerto. Como futuros ingenieros en ciencias y sistemas, deben dominar estas herramientas para gestionar proyectos complejos de manera eficiente y garantizar que los entregables se realicen a tiempo y dentro del presupuesto.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8"/>
          <p:cNvSpPr txBox="1"/>
          <p:nvPr/>
        </p:nvSpPr>
        <p:spPr>
          <a:xfrm>
            <a:off x="2507390" y="1000125"/>
            <a:ext cx="13503315" cy="2052066"/>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0" i="0" lang="en-US" sz="6900" u="none" cap="none" strike="noStrike">
                <a:solidFill>
                  <a:srgbClr val="131416"/>
                </a:solidFill>
                <a:latin typeface="Arial"/>
                <a:ea typeface="Arial"/>
                <a:cs typeface="Arial"/>
                <a:sym typeface="Arial"/>
              </a:rPr>
              <a:t>NOMBRE DEL VALOR Y/O ACTITUD</a:t>
            </a:r>
            <a:endParaRPr/>
          </a:p>
        </p:txBody>
      </p:sp>
      <p:sp>
        <p:nvSpPr>
          <p:cNvPr id="226" name="Google Shape;226;p18"/>
          <p:cNvSpPr txBox="1"/>
          <p:nvPr/>
        </p:nvSpPr>
        <p:spPr>
          <a:xfrm>
            <a:off x="1871436" y="5019675"/>
            <a:ext cx="14775300" cy="4376400"/>
          </a:xfrm>
          <a:prstGeom prst="rect">
            <a:avLst/>
          </a:prstGeom>
          <a:noFill/>
          <a:ln>
            <a:noFill/>
          </a:ln>
        </p:spPr>
        <p:txBody>
          <a:bodyPr anchorCtr="0" anchor="t" bIns="0" lIns="0" spcFirstLastPara="1" rIns="0" wrap="square" tIns="0">
            <a:spAutoFit/>
          </a:bodyPr>
          <a:lstStyle/>
          <a:p>
            <a:pPr indent="0" lvl="0" marL="0" marR="0" rtl="0" algn="ctr">
              <a:lnSpc>
                <a:spcPct val="140003"/>
              </a:lnSpc>
              <a:spcBef>
                <a:spcPts val="0"/>
              </a:spcBef>
              <a:spcAft>
                <a:spcPts val="0"/>
              </a:spcAft>
              <a:buNone/>
            </a:pPr>
            <a:r>
              <a:rPr b="0" i="0" lang="en-US" sz="6737" u="none" cap="none" strike="noStrike">
                <a:solidFill>
                  <a:srgbClr val="131416"/>
                </a:solidFill>
                <a:latin typeface="Arial"/>
                <a:ea typeface="Arial"/>
                <a:cs typeface="Arial"/>
                <a:sym typeface="Arial"/>
              </a:rPr>
              <a:t>Integridad: </a:t>
            </a:r>
            <a:endParaRPr b="0" i="0" sz="6737" u="none" cap="none" strike="noStrike">
              <a:solidFill>
                <a:srgbClr val="131416"/>
              </a:solidFill>
              <a:latin typeface="Arial"/>
              <a:ea typeface="Arial"/>
              <a:cs typeface="Arial"/>
              <a:sym typeface="Arial"/>
            </a:endParaRPr>
          </a:p>
          <a:p>
            <a:pPr indent="0" lvl="0" marL="0" marR="0" rtl="0" algn="ctr">
              <a:lnSpc>
                <a:spcPct val="140002"/>
              </a:lnSpc>
              <a:spcBef>
                <a:spcPts val="0"/>
              </a:spcBef>
              <a:spcAft>
                <a:spcPts val="0"/>
              </a:spcAft>
              <a:buNone/>
            </a:pPr>
            <a:r>
              <a:rPr lang="en-US" sz="5000">
                <a:solidFill>
                  <a:srgbClr val="131416"/>
                </a:solidFill>
              </a:rPr>
              <a:t>Reportar métricas como CPI y SPI requiere honestidad. No se trata solo de cumplir, sino de decir la verdad sobre cómo va el proyecto.</a:t>
            </a:r>
            <a:endParaRPr sz="5000">
              <a:solidFill>
                <a:srgbClr val="131416"/>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9"/>
          <p:cNvSpPr txBox="1"/>
          <p:nvPr/>
        </p:nvSpPr>
        <p:spPr>
          <a:xfrm>
            <a:off x="2507390" y="1000125"/>
            <a:ext cx="13503315" cy="10709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0" i="0" lang="en-US" sz="6900" u="none" cap="none" strike="noStrike">
                <a:solidFill>
                  <a:srgbClr val="131416"/>
                </a:solidFill>
                <a:latin typeface="Arial"/>
                <a:ea typeface="Arial"/>
                <a:cs typeface="Arial"/>
                <a:sym typeface="Arial"/>
              </a:rPr>
              <a:t>REFERENCIAS </a:t>
            </a:r>
            <a:endParaRPr/>
          </a:p>
        </p:txBody>
      </p:sp>
      <p:sp>
        <p:nvSpPr>
          <p:cNvPr id="232" name="Google Shape;232;p19"/>
          <p:cNvSpPr txBox="1"/>
          <p:nvPr/>
        </p:nvSpPr>
        <p:spPr>
          <a:xfrm>
            <a:off x="3113305" y="3145310"/>
            <a:ext cx="13737320" cy="4406224"/>
          </a:xfrm>
          <a:prstGeom prst="rect">
            <a:avLst/>
          </a:prstGeom>
          <a:noFill/>
          <a:ln>
            <a:noFill/>
          </a:ln>
        </p:spPr>
        <p:txBody>
          <a:bodyPr anchorCtr="0" anchor="t" bIns="0" lIns="0" spcFirstLastPara="1" rIns="0" wrap="square" tIns="0">
            <a:spAutoFit/>
          </a:bodyPr>
          <a:lstStyle/>
          <a:p>
            <a:pPr indent="0" lvl="0" marL="0" marR="0" rtl="0" algn="just">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PMBOK® Guide – Sixth Edition. Project Management Institute (PMI).</a:t>
            </a:r>
            <a:endParaRPr/>
          </a:p>
          <a:p>
            <a:pPr indent="0" lvl="0" marL="0" marR="0" rtl="0" algn="just">
              <a:lnSpc>
                <a:spcPct val="140019"/>
              </a:lnSpc>
              <a:spcBef>
                <a:spcPts val="0"/>
              </a:spcBef>
              <a:spcAft>
                <a:spcPts val="0"/>
              </a:spcAft>
              <a:buNone/>
            </a:pPr>
            <a:r>
              <a:t/>
            </a:r>
            <a:endParaRPr b="0" i="0" sz="3151" u="none" cap="none" strike="noStrike">
              <a:solidFill>
                <a:srgbClr val="131416"/>
              </a:solidFill>
              <a:latin typeface="Arial"/>
              <a:ea typeface="Arial"/>
              <a:cs typeface="Arial"/>
              <a:sym typeface="Arial"/>
            </a:endParaRPr>
          </a:p>
          <a:p>
            <a:pPr indent="0" lvl="0" marL="0" marR="0" rtl="0" algn="just">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Kerzner, H. (2017). Project Management: A Systems Approach to Planning, Scheduling, and Controlling.</a:t>
            </a:r>
            <a:endParaRPr/>
          </a:p>
          <a:p>
            <a:pPr indent="0" lvl="0" marL="0" marR="0" rtl="0" algn="just">
              <a:lnSpc>
                <a:spcPct val="140019"/>
              </a:lnSpc>
              <a:spcBef>
                <a:spcPts val="0"/>
              </a:spcBef>
              <a:spcAft>
                <a:spcPts val="0"/>
              </a:spcAft>
              <a:buNone/>
            </a:pPr>
            <a:r>
              <a:t/>
            </a:r>
            <a:endParaRPr b="0" i="0" sz="3151" u="none" cap="none" strike="noStrike">
              <a:solidFill>
                <a:srgbClr val="131416"/>
              </a:solidFill>
              <a:latin typeface="Arial"/>
              <a:ea typeface="Arial"/>
              <a:cs typeface="Arial"/>
              <a:sym typeface="Arial"/>
            </a:endParaRPr>
          </a:p>
          <a:p>
            <a:pPr indent="0" lvl="0" marL="0" marR="0" rtl="0" algn="just">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https://www.scrum.org/</a:t>
            </a:r>
            <a:endParaRPr/>
          </a:p>
          <a:p>
            <a:pPr indent="0" lvl="0" marL="0" marR="0" rtl="0" algn="just">
              <a:lnSpc>
                <a:spcPct val="140019"/>
              </a:lnSpc>
              <a:spcBef>
                <a:spcPts val="0"/>
              </a:spcBef>
              <a:spcAft>
                <a:spcPts val="0"/>
              </a:spcAft>
              <a:buNone/>
            </a:pPr>
            <a:r>
              <a:t/>
            </a:r>
            <a:endParaRPr b="0" i="0" sz="3151" u="none" cap="none" strike="noStrike">
              <a:solidFill>
                <a:srgbClr val="131416"/>
              </a:solidFill>
              <a:latin typeface="Arial"/>
              <a:ea typeface="Arial"/>
              <a:cs typeface="Arial"/>
              <a:sym typeface="Arial"/>
            </a:endParaRPr>
          </a:p>
          <a:p>
            <a:pPr indent="0" lvl="0" marL="0" marR="0" rtl="0" algn="just">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https://www.tutorialspoint.com/project_management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0"/>
          <p:cNvSpPr txBox="1"/>
          <p:nvPr/>
        </p:nvSpPr>
        <p:spPr>
          <a:xfrm>
            <a:off x="4437795" y="3389104"/>
            <a:ext cx="8658828" cy="2495677"/>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None/>
            </a:pPr>
            <a:r>
              <a:rPr b="0" i="0" lang="en-US" sz="6099" u="none" cap="none" strike="noStrike">
                <a:solidFill>
                  <a:srgbClr val="131416"/>
                </a:solidFill>
                <a:latin typeface="Arial"/>
                <a:ea typeface="Arial"/>
                <a:cs typeface="Arial"/>
                <a:sym typeface="Arial"/>
              </a:rPr>
              <a:t>¡GRACIAS POR SU  ATENCIÓN!</a:t>
            </a:r>
            <a:endParaRPr/>
          </a:p>
          <a:p>
            <a:pPr indent="0" lvl="0" marL="0" marR="0" rtl="0" algn="just">
              <a:lnSpc>
                <a:spcPct val="104000"/>
              </a:lnSpc>
              <a:spcBef>
                <a:spcPts val="0"/>
              </a:spcBef>
              <a:spcAft>
                <a:spcPts val="0"/>
              </a:spcAft>
              <a:buNone/>
            </a:pPr>
            <a:r>
              <a:t/>
            </a:r>
            <a:endParaRPr b="0" i="0" sz="6099" u="none" cap="none" strike="noStrike">
              <a:solidFill>
                <a:srgbClr val="131416"/>
              </a:solidFill>
              <a:latin typeface="Arial"/>
              <a:ea typeface="Arial"/>
              <a:cs typeface="Arial"/>
              <a:sym typeface="Arial"/>
            </a:endParaRPr>
          </a:p>
        </p:txBody>
      </p:sp>
      <p:sp>
        <p:nvSpPr>
          <p:cNvPr id="238" name="Google Shape;238;p20"/>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5000" u="none" cap="none" strike="noStrike">
                <a:solidFill>
                  <a:srgbClr val="131416"/>
                </a:solidFill>
                <a:latin typeface="Arial"/>
                <a:ea typeface="Arial"/>
                <a:cs typeface="Arial"/>
                <a:sym typeface="Arial"/>
              </a:rPr>
              <a:t>DUDAS</a:t>
            </a:r>
            <a:endParaRPr/>
          </a:p>
        </p:txBody>
      </p:sp>
      <p:sp>
        <p:nvSpPr>
          <p:cNvPr id="239" name="Google Shape;239;p20"/>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240" name="Google Shape;240;p20"/>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