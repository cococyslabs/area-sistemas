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lay"/>
      <p:regular r:id="rId22"/>
      <p:bold r:id="rId23"/>
    </p:embeddedFont>
    <p:embeddedFont>
      <p:font typeface="Open Sans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epkipM1z33F67HEYIDgU90+S4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bold.fntdata"/><Relationship Id="rId23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3" y="7865776"/>
            <a:ext cx="6467475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Teoría de Sistemas 2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Simulación con Scrum y Kanban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866989" y="4452403"/>
            <a:ext cx="12118639" cy="1203215"/>
            <a:chOff x="0" y="-76200"/>
            <a:chExt cx="5159516" cy="512270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159516" cy="436070"/>
            </a:xfrm>
            <a:custGeom>
              <a:rect b="b" l="l" r="r" t="t"/>
              <a:pathLst>
                <a:path extrusionOk="0" h="436070" w="5159516">
                  <a:moveTo>
                    <a:pt x="4956316" y="0"/>
                  </a:moveTo>
                  <a:lnTo>
                    <a:pt x="0" y="0"/>
                  </a:lnTo>
                  <a:lnTo>
                    <a:pt x="0" y="436070"/>
                  </a:lnTo>
                  <a:lnTo>
                    <a:pt x="4956316" y="436070"/>
                  </a:lnTo>
                  <a:lnTo>
                    <a:pt x="5159516" y="218035"/>
                  </a:lnTo>
                  <a:lnTo>
                    <a:pt x="49563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5045216" cy="512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Principios y características de equipos ágiles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" name="Google Shape;102;p2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03" name="Google Shape;103;p2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 txBox="1"/>
          <p:nvPr/>
        </p:nvSpPr>
        <p:spPr>
          <a:xfrm>
            <a:off x="11131715" y="78516"/>
            <a:ext cx="8416862" cy="579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866989" y="5610989"/>
            <a:ext cx="12661175" cy="1363379"/>
            <a:chOff x="0" y="-76200"/>
            <a:chExt cx="5390501" cy="580459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5390501" cy="504259"/>
            </a:xfrm>
            <a:custGeom>
              <a:rect b="b" l="l" r="r" t="t"/>
              <a:pathLst>
                <a:path extrusionOk="0" h="504259" w="5390501">
                  <a:moveTo>
                    <a:pt x="5187301" y="0"/>
                  </a:moveTo>
                  <a:lnTo>
                    <a:pt x="0" y="0"/>
                  </a:lnTo>
                  <a:lnTo>
                    <a:pt x="0" y="504259"/>
                  </a:lnTo>
                  <a:lnTo>
                    <a:pt x="5187301" y="504259"/>
                  </a:lnTo>
                  <a:lnTo>
                    <a:pt x="5390501" y="252130"/>
                  </a:lnTo>
                  <a:lnTo>
                    <a:pt x="5187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76200"/>
              <a:ext cx="5276201" cy="580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Roles dentro de un equipo ágil</a:t>
              </a:r>
              <a:endParaRPr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0" name="Google Shape;110;p2"/>
          <p:cNvGrpSpPr/>
          <p:nvPr/>
        </p:nvGrpSpPr>
        <p:grpSpPr>
          <a:xfrm>
            <a:off x="1866989" y="6472659"/>
            <a:ext cx="12118639" cy="1363379"/>
            <a:chOff x="0" y="-76200"/>
            <a:chExt cx="5159516" cy="580459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5159516" cy="504259"/>
            </a:xfrm>
            <a:custGeom>
              <a:rect b="b" l="l" r="r" t="t"/>
              <a:pathLst>
                <a:path extrusionOk="0" h="504259" w="5159516">
                  <a:moveTo>
                    <a:pt x="4956316" y="0"/>
                  </a:moveTo>
                  <a:lnTo>
                    <a:pt x="0" y="0"/>
                  </a:lnTo>
                  <a:lnTo>
                    <a:pt x="0" y="504259"/>
                  </a:lnTo>
                  <a:lnTo>
                    <a:pt x="4956316" y="504259"/>
                  </a:lnTo>
                  <a:lnTo>
                    <a:pt x="5159516" y="252130"/>
                  </a:lnTo>
                  <a:lnTo>
                    <a:pt x="49563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5045216" cy="580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Técnicas para fomentar la colaboración en equipos ágiles</a:t>
              </a:r>
              <a:endParaRPr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679303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7496897"/>
            <a:ext cx="12661175" cy="1887254"/>
            <a:chOff x="0" y="-76200"/>
            <a:chExt cx="5390501" cy="803499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5390501" cy="727299"/>
            </a:xfrm>
            <a:custGeom>
              <a:rect b="b" l="l" r="r" t="t"/>
              <a:pathLst>
                <a:path extrusionOk="0" h="727299" w="5390501">
                  <a:moveTo>
                    <a:pt x="5187301" y="0"/>
                  </a:moveTo>
                  <a:lnTo>
                    <a:pt x="0" y="0"/>
                  </a:lnTo>
                  <a:lnTo>
                    <a:pt x="0" y="727299"/>
                  </a:lnTo>
                  <a:lnTo>
                    <a:pt x="5187301" y="727299"/>
                  </a:lnTo>
                  <a:lnTo>
                    <a:pt x="5390501" y="363650"/>
                  </a:lnTo>
                  <a:lnTo>
                    <a:pt x="5187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5276201" cy="803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Herramientas para la gestión de equipos ágiles (Scrum, Kanban)</a:t>
              </a:r>
              <a:endParaRPr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878654" y="767587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1367785" y="2926462"/>
            <a:ext cx="16920215" cy="237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Combina prácticas ágiles de gestión de proyectos a través del uso de marcos como Scrum y Kanban para la ejecución iterativa de entregables y mejora continua del equipo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1536822" y="3533027"/>
            <a:ext cx="15722478" cy="6118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Descripción de la Actividad</a:t>
            </a:r>
            <a:endParaRPr/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 actividad práctica tiene como objetivo que los estudiantes experimenten de primera mano cómo funciona un equipo ágil, aplicando los principios, roles y herramientas que se utilizan en esta metodología. Durante el ejercicio, trabajarán en equipo para simular un ciclo de desarrollo ágil, utilizando marcos como Scrum y Kanban. Además, participarán en una retrospectiva para evaluar su desempeño y fomentar la mejora continua.</a:t>
            </a:r>
            <a:endParaRPr/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72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028700" y="566889"/>
            <a:ext cx="16698774" cy="238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ACTIVIDAD PRÁCTICA: DESARROLLO</a:t>
            </a:r>
            <a:r>
              <a:rPr b="1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0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EQU</a:t>
            </a:r>
            <a:r>
              <a:rPr b="1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IPOS </a:t>
            </a:r>
            <a:r>
              <a:rPr b="0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ÁG</a:t>
            </a:r>
            <a:r>
              <a:rPr b="1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1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Objetivos de la Actividad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715732" y="2158722"/>
            <a:ext cx="13666877" cy="8028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Aplicar los principios ágiles en un entorno simulado.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Asignar roles clave dentro del equipo (Product Owner, Scrum Master, Equipo de Desarrollo) y ejecutar sus responsabilidades.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Utilizar técnicas de colaboración ágil para organizar el trabajo y maximizar la eficiencia del equipo.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Gestionar tareas utilizando herramientas ágiles como Scrum y Kanban.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Realizar una retrospectiva al finalizar la actividad para reflexionar sobre lo que funcionó bien y lo que puede mejorar.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Desarrollar una mentalidad de mejora continua en el equipo.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/>
        </p:nvSpPr>
        <p:spPr>
          <a:xfrm>
            <a:off x="906550" y="806207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Materiales Necesarios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1911582" y="1501915"/>
            <a:ext cx="13660067" cy="2983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253" lvl="1" marL="498507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08"/>
              <a:buFont typeface="Arial"/>
              <a:buChar char="•"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Pizarrón o un tablero Kanban (puede ser físico o digital usando herramientas como Trello o Miro).</a:t>
            </a:r>
            <a:endParaRPr/>
          </a:p>
          <a:p>
            <a:pPr indent="-249253" lvl="1" marL="498507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08"/>
              <a:buFont typeface="Arial"/>
              <a:buChar char="•"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Tarjetas o post-its para representar las tareas.</a:t>
            </a:r>
            <a:endParaRPr/>
          </a:p>
          <a:p>
            <a:pPr indent="-249253" lvl="1" marL="498507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08"/>
              <a:buFont typeface="Arial"/>
              <a:buChar char="•"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Temporizador o cronómetro para simular los sprints.</a:t>
            </a:r>
            <a:endParaRPr/>
          </a:p>
          <a:p>
            <a:pPr indent="-249253" lvl="1" marL="498507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08"/>
              <a:buFont typeface="Arial"/>
              <a:buChar char="•"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Pizarras pequeñas o papel para realizar la retrospectiva.</a:t>
            </a:r>
            <a:endParaRPr/>
          </a:p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906550" y="460261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Instrucciones Paso a Paso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2051542" y="5736385"/>
            <a:ext cx="15207758" cy="4728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8458" lvl="1" marL="476916" marR="0" rtl="0" algn="l">
              <a:lnSpc>
                <a:spcPct val="17305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08"/>
              <a:buFont typeface="Arial"/>
              <a:buChar char="•"/>
            </a:pPr>
            <a:r>
              <a:rPr b="0" i="0" lang="en-US" sz="22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Dividiremos a la clase en equipos de 4-5 estudiantes. Cada equipo será responsable de simular un proyecto de desarrollo ágil, como la creación de un pequeño producto de software o un sistema tecnológico.</a:t>
            </a:r>
            <a:endParaRPr/>
          </a:p>
          <a:p>
            <a:pPr indent="-238458" lvl="1" marL="476916" marR="0" rtl="0" algn="l">
              <a:lnSpc>
                <a:spcPct val="17305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08"/>
              <a:buFont typeface="Arial"/>
              <a:buChar char="•"/>
            </a:pPr>
            <a:r>
              <a:rPr b="0" i="0" lang="en-US" sz="22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Asignación de Roles: Cada equipo deberá asignar los siguientes roles:</a:t>
            </a:r>
            <a:endParaRPr/>
          </a:p>
          <a:p>
            <a:pPr indent="-238458" lvl="1" marL="476916" marR="0" rtl="0" algn="l">
              <a:lnSpc>
                <a:spcPct val="17305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08"/>
              <a:buFont typeface="Arial"/>
              <a:buChar char="•"/>
            </a:pPr>
            <a:r>
              <a:rPr b="0" i="0" lang="en-US" sz="22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Product Owner: Responsable de definir y priorizar las tareas.</a:t>
            </a:r>
            <a:endParaRPr/>
          </a:p>
          <a:p>
            <a:pPr indent="-238458" lvl="1" marL="476916" marR="0" rtl="0" algn="l">
              <a:lnSpc>
                <a:spcPct val="17305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08"/>
              <a:buFont typeface="Arial"/>
              <a:buChar char="•"/>
            </a:pPr>
            <a:r>
              <a:rPr b="0" i="0" lang="en-US" sz="22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Scrum Master: Responsable de facilitar las reuniones y asegurarse de que el equipo siga las prácticas ágiles.</a:t>
            </a:r>
            <a:endParaRPr/>
          </a:p>
          <a:p>
            <a:pPr indent="-238458" lvl="1" marL="476916" marR="0" rtl="0" algn="l">
              <a:lnSpc>
                <a:spcPct val="17305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08"/>
              <a:buFont typeface="Arial"/>
              <a:buChar char="•"/>
            </a:pPr>
            <a:r>
              <a:rPr b="0" i="0" lang="en-US" sz="22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Equipo de Desarrollo: Los miembros restantes trabajarán en las tareas técnicas (aunque la actividad es una simulación, pueden simular el trabajo en tareas específicas).</a:t>
            </a:r>
            <a:endParaRPr/>
          </a:p>
          <a:p>
            <a:pPr indent="0" lvl="0" marL="0" marR="0" rtl="0" algn="l">
              <a:lnSpc>
                <a:spcPct val="17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906550" y="5309803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 Formación de Equipos Ágiles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/>
        </p:nvSpPr>
        <p:spPr>
          <a:xfrm>
            <a:off x="825249" y="1592571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2. Definición del Producto y Creación del Backlog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2135612" y="2445734"/>
            <a:ext cx="13666877" cy="7019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equipo debe definir el producto que van a desarrollar. Para simplificar la actividad, el "producto" podría ser algo pequeño como una página web sencilla o un prototipo de aplicación.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Luego, el Product Owner se encargará de crear el backlog del proyecto, que es una lista de tareas o "user stories" necesarias para completar el producto.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de Backlog: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Tarea 1: Crear página principal.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Tarea 2: Implementar formulario de contacto.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Tarea 3: Diseñar la interfaz de usuario.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Tarea 4: Pruebas de funcionalidad.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1881647" y="914400"/>
            <a:ext cx="13666877" cy="147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equipo debe priorizar las tareas, asegurándose de que las más importantes se completen primero.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880019" y="2695029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3. Planificación del Sprint (Simulación de Scrum)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2021607" y="3793353"/>
            <a:ext cx="13666877" cy="5506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equipo planificará un sprint de 20 minutos (simulación) en el que decidirán qué tareas del backlog van a completar.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Sprint Planning: El equipo selecciona del backlog aquellas tareas que creen que pueden completar durante el sprint, considerando las prioridades establecidas por el Product Owner.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Asignarán tareas específicas a los miembros del equipo de desarrollo, asegurándose de que todos colaboren en la entrega del sprint.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4. Ejecución del Sprint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2021607" y="1654393"/>
            <a:ext cx="13666877" cy="1976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Comienza el primer sprint de 20 minutos. Durante este tiempo, los estudiantes simularán el desarrollo de las tareas seleccionadas.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80019" y="3534788"/>
            <a:ext cx="15950051" cy="147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Mientras trabajan, deben usar un tablero Kanban para visualizar el flujo de trabajo, organizando las tareas en columnas como: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2021607" y="4276249"/>
            <a:ext cx="13666877" cy="4497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Done (Completadas)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To Do (Pendientes)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 Progress (En Proceso)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2170287" y="8213090"/>
            <a:ext cx="13666877" cy="248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Durante el sprint, el Scrum Master debe facilitar las tareas y asegurarse de que no haya interrupciones innecesarias. Si surgen obstáculos, el Scrum Master debe ayudar al equipo a superarlos.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/>
        </p:nvSpPr>
        <p:spPr>
          <a:xfrm>
            <a:off x="1028700" y="914400"/>
            <a:ext cx="15950051" cy="147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Daily Stand-Up Simulado: Al final del sprint, los equipos harán un rápido "stand-up" donde cada miembro responde a: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2021607" y="1829343"/>
            <a:ext cx="13666877" cy="147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obstáculos encontré?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hice durante el sprint?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voy a hacer en el siguiente turno?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880019" y="353478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5. Revisión del Sprint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2021607" y="4276249"/>
            <a:ext cx="13666877" cy="500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Después del sprint, el equipo debe revisar el progreso de las tareas seleccionadas. ¿Lograron completar todas las tareas planeadas?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Product Owner revisará los entregables y determinará si cumplen con los criterios de aceptación establecidos.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 alguna tarea no fue completada, pasará al próximo sprint. El equipo discutirá qué se puede mejorar en el siguiente ciclo.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/>
        </p:nvSpPr>
        <p:spPr>
          <a:xfrm>
            <a:off x="880019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6. Implementación de la Retrospectiva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1916637" y="2080975"/>
            <a:ext cx="13666877" cy="601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 finalizar el primer sprint, el equipo debe realizar una retrospectiva para analizar cómo fue el trabajo del equipo. Esta es una de las técnicas más poderosas en la mejora continua.</a:t>
            </a:r>
            <a:endParaRPr/>
          </a:p>
          <a:p>
            <a:pPr indent="-102693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10"/>
              <a:buFont typeface="Arial"/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Scrum Master dirigirá la retrospectiva usando una de las siguientes preguntas: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salió bien?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salió mal?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podemos hacer mejor en el próximo sprint?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miembro del equipo compartirá sus observaciones. El objetivo es identificar áreas de mejora y hacer pequeños ajustes en la manera de trabajar.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Los equipos deben acordar acciones concretas para mejorar en el siguiente sprint.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7. Segundo Sprint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1724192" y="1767563"/>
            <a:ext cx="13666877" cy="1976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Los equipos repetirán el proceso para un segundo sprint de 20 minutos. Esta vez, deben aplicar lo que aprendieron de la retrospectiva para ser más eficientes.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1028700" y="4128422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8. Revisión Final y Presentación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724192" y="4981586"/>
            <a:ext cx="13666877" cy="3489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 finalizar el segundo sprint, cada equipo hará una revisión final de su trabajo. ¿Cumplieron con todos los objetivos?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equipo presentará los entregables y compartirá las lecciones aprendidas durante los sprints.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/>
        </p:nvSpPr>
        <p:spPr>
          <a:xfrm>
            <a:off x="633351" y="104497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la Actividad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1862413" y="2527961"/>
            <a:ext cx="13666877" cy="601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 finalizar la actividad, los equipos serán evaluados en función de: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Cumplimiento de los entregables: ¿Lograron completar las tareas asignadas durante los sprints?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Colaboración del equipo: ¿Cómo trabajaron juntos y resolvieron los obstáculos?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Uso de herramientas ágiles: ¿Usaron correctamente el tablero Kanban y aplicaron las técnicas ágiles durante la simulación?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Mejora continua: ¿Implementaron mejoras efectivas en el segundo sprint tras la retrospectiva?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1871436" y="5019675"/>
            <a:ext cx="14775224" cy="1144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Organización y compromiso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3113305" y="3145310"/>
            <a:ext cx="13737320" cy="440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PMBOK® Guide – Sixth Edition. Project Management Institute (PMI).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Kerzner, H. (2017). Project Management: A Systems Approach to Planning, Scheduling, and Controlling.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https://www.scrum.org/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https://www.tutorialspoint.com/project_management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6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