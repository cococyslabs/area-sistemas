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lay"/>
      <p:regular r:id="rId22"/>
      <p:bold r:id="rId23"/>
    </p:embeddedFont>
    <p:embeddedFont>
      <p:font typeface="Open Sans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LUtcMPY/vaHJnBv0ZdoVl6DbH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bold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7865776"/>
            <a:ext cx="6467475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Teoría de Sistemas 2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Juego de simulación de cronograma 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651749" y="-320617"/>
            <a:ext cx="8257726" cy="3120467"/>
            <a:chOff x="-7" y="-95250"/>
            <a:chExt cx="11010300" cy="4160623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-7" y="986773"/>
              <a:ext cx="110103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1866989" y="5610989"/>
            <a:ext cx="12661175" cy="1363379"/>
            <a:chOff x="0" y="-76200"/>
            <a:chExt cx="5390501" cy="580459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5390501" cy="504259"/>
            </a:xfrm>
            <a:custGeom>
              <a:rect b="b" l="l" r="r" t="t"/>
              <a:pathLst>
                <a:path extrusionOk="0" h="504259" w="5390501">
                  <a:moveTo>
                    <a:pt x="5187301" y="0"/>
                  </a:moveTo>
                  <a:lnTo>
                    <a:pt x="0" y="0"/>
                  </a:lnTo>
                  <a:lnTo>
                    <a:pt x="0" y="504259"/>
                  </a:lnTo>
                  <a:lnTo>
                    <a:pt x="5187301" y="504259"/>
                  </a:lnTo>
                  <a:lnTo>
                    <a:pt x="5390501" y="252130"/>
                  </a:lnTo>
                  <a:lnTo>
                    <a:pt x="5187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76200"/>
              <a:ext cx="5276201" cy="580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Introducción a herramientas de simulación de cronogramas</a:t>
              </a:r>
              <a:endParaRPr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7" name="Google Shape;107;p2"/>
          <p:cNvGrpSpPr/>
          <p:nvPr/>
        </p:nvGrpSpPr>
        <p:grpSpPr>
          <a:xfrm>
            <a:off x="1866989" y="6472659"/>
            <a:ext cx="12118639" cy="1363379"/>
            <a:chOff x="0" y="-76200"/>
            <a:chExt cx="5159516" cy="580459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5159516" cy="504259"/>
            </a:xfrm>
            <a:custGeom>
              <a:rect b="b" l="l" r="r" t="t"/>
              <a:pathLst>
                <a:path extrusionOk="0" h="504259" w="5159516">
                  <a:moveTo>
                    <a:pt x="4956316" y="0"/>
                  </a:moveTo>
                  <a:lnTo>
                    <a:pt x="0" y="0"/>
                  </a:lnTo>
                  <a:lnTo>
                    <a:pt x="0" y="504259"/>
                  </a:lnTo>
                  <a:lnTo>
                    <a:pt x="4956316" y="504259"/>
                  </a:lnTo>
                  <a:lnTo>
                    <a:pt x="5159516" y="252130"/>
                  </a:lnTo>
                  <a:lnTo>
                    <a:pt x="4956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5045216" cy="580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 de recursos en tiempo real</a:t>
              </a:r>
              <a:endParaRPr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679303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1866989" y="7496897"/>
            <a:ext cx="12661175" cy="1363379"/>
            <a:chOff x="0" y="-76200"/>
            <a:chExt cx="5390501" cy="580459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5390501" cy="504259"/>
            </a:xfrm>
            <a:custGeom>
              <a:rect b="b" l="l" r="r" t="t"/>
              <a:pathLst>
                <a:path extrusionOk="0" h="504259" w="5390501">
                  <a:moveTo>
                    <a:pt x="5187301" y="0"/>
                  </a:moveTo>
                  <a:lnTo>
                    <a:pt x="0" y="0"/>
                  </a:lnTo>
                  <a:lnTo>
                    <a:pt x="0" y="504259"/>
                  </a:lnTo>
                  <a:lnTo>
                    <a:pt x="5187301" y="504259"/>
                  </a:lnTo>
                  <a:lnTo>
                    <a:pt x="5390501" y="252130"/>
                  </a:lnTo>
                  <a:lnTo>
                    <a:pt x="5187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5276201" cy="580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Simulación de ajustes en cronogramas y su impacto</a:t>
              </a:r>
              <a:endParaRPr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767587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367785" y="2926462"/>
            <a:ext cx="16920215" cy="317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Integra principios de calidad, eficiencia y control de tiempos mediante el uso de cronogramas, presupuestos y simuladores para mejorar el desempeño y cumplimiento de los objetivos de proyectos de TI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1536822" y="5474970"/>
            <a:ext cx="15722478" cy="5566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Objetivo del Juego</a:t>
            </a:r>
            <a:endParaRPr/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objetivo es que los equipos gestionen el cronograma y entreguen los productos del proyecto a tiempo, mientras enfrentan eventos inesperados que pueden afectar su progreso. El avance se hará por fases y por turnos, de modo que los equipos no pueden avanzar a la siguiente fase hasta que completen la actual. Los retrasos en una fase afectarán al resto del cronograma, simulando los desafíos del mundo real en la gestión de proyectos.</a:t>
            </a:r>
            <a:endParaRPr/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72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28700" y="566889"/>
            <a:ext cx="16698774" cy="6239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JUEGO DE SIMULACIÓN DE CRONOGRAMA</a:t>
            </a:r>
            <a:endParaRPr/>
          </a:p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3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"GESTIÓN DEL TIEMPO Y ENTREGABLES BAJO PRESIÓN: FASES Y TURNOS"</a:t>
            </a:r>
            <a:endParaRPr/>
          </a:p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3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3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Preparación del Juego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1715732" y="2158722"/>
            <a:ext cx="13666877" cy="2984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1. Formar Equipos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Dividiremos a la clase en equipos de 4 o 5 personas. Cada equipo será responsable de gestionar un proyecto simulado, como el desarrollo de software, instalación de una red o implementación de un sistema.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715732" y="4877380"/>
            <a:ext cx="13666877" cy="651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2. Asignar Proyectos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equipo recibe un proyecto con un cronograma inicial que incluye las fases clave del proyecto, los entregables y los plazos estimados.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de Cronograma Inicial: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1: Diseño (duración 1 semana)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2: Desarrollo del Backend (duración 3 semanas)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3: Desarrollo de la Interfaz de Usuario (UI) (duración 2 semanas)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4: Pruebas (duración 1 semana)</a:t>
            </a:r>
            <a:endParaRPr/>
          </a:p>
          <a:p>
            <a:pPr indent="-332503" lvl="2" marL="99751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⚬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5: Implementación y Entrega (duración 1 semana)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2051542" y="1082233"/>
            <a:ext cx="13660067" cy="2983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3. Uso de Dados para Aleatoriedad</a:t>
            </a:r>
            <a:endParaRPr/>
          </a:p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Durante cada turno de cada fase, los equipos lanzarán dos dados de 6 caras para determinar qué eventos imprevistos o ventajas ocurren. El progreso de cada fase dependerá de estos eventos aleatorios.</a:t>
            </a:r>
            <a:endParaRPr/>
          </a:p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168975" y="460261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Fases del Juego y Turnos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2051542" y="5573389"/>
            <a:ext cx="13660067" cy="2479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juego se desarrolla en fases. Un equipo no puede avanzar a la siguiente fase hasta que haya completado la fase actual y entregado los productos requeridos. Cada fase tiene varios turnos, y en cada turno se toman decisiones y se lanzan los dados para determinar qué eventos ocurren.</a:t>
            </a:r>
            <a:endParaRPr/>
          </a:p>
          <a:p>
            <a:pPr indent="0" lvl="0" marL="0" marR="0" rtl="0" algn="l">
              <a:lnSpc>
                <a:spcPct val="173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825249" y="1592571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Reglas por Turno: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2135612" y="2445734"/>
            <a:ext cx="13666877" cy="500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Turno de cada fase: En cada turno, el equipo tira los dados y gestiona el evento correspondiente. Luego decide cómo ajustar su cronograma y recursos. Un turno representa una semana de trabajo en el cronograma.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Requisitos para avanzar de fase: No pueden pasar a la siguiente fase hasta haber completado los entregables de la fase actual.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Eventos que pueden retrasar: Algunos resultados de los dados pueden añadir más turnos a una fase, simulando los retrasos.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1: Diseño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2021607" y="1654393"/>
            <a:ext cx="13666877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Turnos: 1 turno.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 Documentación completa del diseño y diagramas de arquitectura.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 inicial: 1 semana.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880019" y="353478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Tirada de Dados: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2021607" y="4615618"/>
            <a:ext cx="13666877" cy="7019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 o 12: Avance rápido – El equipo termina el diseño antes de lo previsto. Pueden avanzar de inmediato.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 o 11: Cambio en el alcance – El cliente pide modificaciones en el diseño. Se añaden 2 turnos más.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4 o 10: Reunión cancelada – Un miembro clave no está disponible para revisar el diseño. Se añade 1 turno extra.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5 o 9: Fase normal – No hay eventos imprevistos.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6 o 8: Problemas de comunicación – El equipo no se coordina bien, lo que causa un retraso. Añadir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7: Retroalimentación positiva – El cliente aprueba el diseño sin cambios. Avanzan sin penalizaciones.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2: Desarrollo del Backend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2021607" y="1654393"/>
            <a:ext cx="13666877" cy="1976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Turnos: 3 turnos (uno por cada semana).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 Código funcional del backend.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 inicial: 3 semanas.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880019" y="353478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Tirada de Dados (al inicio de cada turno):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2021607" y="4276249"/>
            <a:ext cx="13666877" cy="601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 o 12: Avance rápido – Se reducen 2 turnos por una mejora inesperada en el desarrollo.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 o 11: Problema técnico – Surge un problema con la base de datos que causa un retraso de 2 turnos.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4 o 10: Baja del servidor – El servidor está caído y el equipo pierde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5 o 9: Cambio en los requerimientos – El cliente pide una modificación al backend, lo que añade 2 turnos.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6 o 8: Fase normal – No hay eventos imprevistos.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7: Resolución rápida de errores – Un error previsto se soluciona antes de lo esperado. Se reduce 1 turno.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3: Desarrollo de la Interfaz de Usuario (UI)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2021607" y="1654393"/>
            <a:ext cx="13666877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Turnos: 2 turnos.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 Interfaz funcional y diseño visual completo.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 inicial: 2 semanas.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880019" y="353478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Tirada de Dados: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2021607" y="4276249"/>
            <a:ext cx="13666877" cy="651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 o 12: Avance rápido – El equipo avanza antes de lo previsto. Se reduce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 o 11: Problemas de diseño – El equipo tiene problemas para integrar el diseño. Se añaden 2 turnos.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4 o 10: Solicitan un cambio de color – El cliente pide un ajuste en la paleta de colores, añadiendo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5 o 9: Incompatibilidad del frontend – Hay problemas de compatibilidad con el backend, lo que añade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6 o 8: Fase normal – No hay eventos imprevistos.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7: Integración perfecta – La integración de la interfaz con el backend se realiza sin problemas. Avanzan de inmediato.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4: Pruebas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2021607" y="1654393"/>
            <a:ext cx="13666877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Turnos: 2 turnos.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 Interfaz funcional y diseño visual completo.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 inicial: 2 semanas.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880019" y="353478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Tirada de Dados: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2021607" y="4276249"/>
            <a:ext cx="13666877" cy="601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 Resultados de pruebas unitarias e integración.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 inicial: 1 semana.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Turnos: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 o 12: Pruebas exitosas – Las pruebas se completan con éxito en tiempo récord. El equipo avanza sin pérdida de tiempo.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 o 11: Error crítico – Se descubre un error grave que añade 2 turnos.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4 o 10: Error menor – Se encuentra un pequeño error que causa un retraso de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5 o 9: Problema de integración – Un problema de integración requiere más tiempo, añadiendo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6 o 8: Fase normal – No hay eventos imprevistos.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7: Pruebas sin errores – Las pruebas son exitosas y el equipo avanza sin problemas.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/>
        </p:nvSpPr>
        <p:spPr>
          <a:xfrm>
            <a:off x="1028700" y="914400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Fase 5: Implementación y Entrega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2021607" y="1654393"/>
            <a:ext cx="13666877" cy="147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Turnos: 1 turno.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 Producto final entregado al cliente.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 inicial: 1 semana.</a:t>
            </a:r>
            <a:endParaRPr/>
          </a:p>
        </p:txBody>
      </p:sp>
      <p:sp>
        <p:nvSpPr>
          <p:cNvPr id="185" name="Google Shape;185;p12"/>
          <p:cNvSpPr txBox="1"/>
          <p:nvPr/>
        </p:nvSpPr>
        <p:spPr>
          <a:xfrm>
            <a:off x="880019" y="353478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Tirada de Dados: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2021607" y="4276249"/>
            <a:ext cx="13666877" cy="5506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2 o 12: Entrega exitosa – El producto se entrega a tiempo sin problemas.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3 o 11: Solicitud de cambio de última hora – El cliente pide un ajuste de última hora que añade 2 turnos.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4 o 10: Problema en la implementación – Un problema técnico impide la implementación, añadiendo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5 o 9: Problemas de comunicación con el cliente – El cliente no está disponible para la validación, lo que retrasa 1 turno.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6 o 8: Fase normal – No hay eventos imprevistos.</a:t>
            </a:r>
            <a:endParaRPr/>
          </a:p>
          <a:p>
            <a:pPr indent="-249378" lvl="1" marL="498755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0"/>
              <a:buFont typeface="Arial"/>
              <a:buChar char="•"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7: Entrega exitosa – La entrega se realiza sin contratiempos y a tiempo.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/>
        </p:nvSpPr>
        <p:spPr>
          <a:xfrm>
            <a:off x="633351" y="1044978"/>
            <a:ext cx="15950051" cy="96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Conclusión del Juego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1862413" y="2527961"/>
            <a:ext cx="13666877" cy="3489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equipo que complete todas las fases dentro del tiempo planificado o con la menor cantidad de retrasos será el ganador del juego. Se evaluará cómo gestionaron los imprevistos, cómo ajustaron sus cronogramas y cómo entregaron los productos finales. Este juego simula la presión y la gestión del tiempo en proyectos reales.</a:t>
            </a:r>
            <a:endParaRPr/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1871436" y="5019675"/>
            <a:ext cx="14775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Colaboración y respeto:</a:t>
            </a:r>
            <a:br>
              <a:rPr b="0" i="0" lang="en-US" sz="67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37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Trabajar en equipo requiere valorar las ideas del otro. El respeto mutuo, la escucha activa y la colaboración son esenciales en entornos ágiles.</a:t>
            </a:r>
            <a:endParaRPr sz="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3113305" y="3145310"/>
            <a:ext cx="13737320" cy="440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PMBOK® Guide – Sixth Edition. Project Management Institute (PMI).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Kerzner, H. (2017). Project Management: A Systems Approach to Planning, Scheduling, and Controlling.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https://www.scrum.org/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https://www.tutorialspoint.com/project_management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6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