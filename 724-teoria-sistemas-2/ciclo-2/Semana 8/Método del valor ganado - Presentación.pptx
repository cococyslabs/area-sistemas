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Open Sans Bold" charset="1" panose="020B0806030504020204"/>
      <p:regular r:id="rId23"/>
    </p:embeddedFont>
    <p:embeddedFont>
      <p:font typeface="Open Sans" charset="1" panose="020B0606030504020204"/>
      <p:regular r:id="rId24"/>
    </p:embeddedFont>
    <p:embeddedFont>
      <p:font typeface="Garet" charset="1" panose="00000000000000000000"/>
      <p:regular r:id="rId25"/>
    </p:embeddedFont>
    <p:embeddedFont>
      <p:font typeface="Playlist Script" charset="1" panose="00000000000000000000"/>
      <p:regular r:id="rId26"/>
    </p:embeddedFont>
    <p:embeddedFont>
      <p:font typeface="Horizon" charset="1" panose="02000500000000000000"/>
      <p:regular r:id="rId27"/>
    </p:embeddedFont>
    <p:embeddedFont>
      <p:font typeface="Garet Bold" charset="1" panose="00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Freeform 3" id="3"/>
          <p:cNvSpPr/>
          <p:nvPr/>
        </p:nvSpPr>
        <p:spPr>
          <a:xfrm flipH="false" flipV="false" rot="0">
            <a:off x="12541309" y="6021878"/>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63303" y="7865776"/>
            <a:ext cx="6467475" cy="1749425"/>
          </a:xfrm>
          <a:prstGeom prst="rect">
            <a:avLst/>
          </a:prstGeom>
        </p:spPr>
        <p:txBody>
          <a:bodyPr anchor="t" rtlCol="false" tIns="0" lIns="0" bIns="0" rIns="0">
            <a:spAutoFit/>
          </a:bodyPr>
          <a:lstStyle/>
          <a:p>
            <a:pPr algn="ctr">
              <a:lnSpc>
                <a:spcPts val="7000"/>
              </a:lnSpc>
            </a:pPr>
            <a:r>
              <a:rPr lang="en-US" sz="5000" b="true">
                <a:solidFill>
                  <a:srgbClr val="131416"/>
                </a:solidFill>
                <a:latin typeface="Open Sans Bold"/>
                <a:ea typeface="Open Sans Bold"/>
                <a:cs typeface="Open Sans Bold"/>
                <a:sym typeface="Open Sans Bold"/>
              </a:rPr>
              <a:t>Teoría de Sistemas 2</a:t>
            </a:r>
          </a:p>
          <a:p>
            <a:pPr algn="ctr">
              <a:lnSpc>
                <a:spcPts val="7000"/>
              </a:lnSpc>
            </a:pPr>
          </a:p>
        </p:txBody>
      </p:sp>
      <p:sp>
        <p:nvSpPr>
          <p:cNvPr name="TextBox 5" id="5"/>
          <p:cNvSpPr txBox="true"/>
          <p:nvPr/>
        </p:nvSpPr>
        <p:spPr>
          <a:xfrm rot="0">
            <a:off x="795338" y="3141906"/>
            <a:ext cx="16697325" cy="1566544"/>
          </a:xfrm>
          <a:prstGeom prst="rect">
            <a:avLst/>
          </a:prstGeom>
        </p:spPr>
        <p:txBody>
          <a:bodyPr anchor="t" rtlCol="false" tIns="0" lIns="0" bIns="0" rIns="0">
            <a:spAutoFit/>
          </a:bodyPr>
          <a:lstStyle/>
          <a:p>
            <a:pPr algn="ctr">
              <a:lnSpc>
                <a:spcPts val="12880"/>
              </a:lnSpc>
            </a:pPr>
            <a:r>
              <a:rPr lang="en-US" sz="9200" b="true">
                <a:solidFill>
                  <a:srgbClr val="131416"/>
                </a:solidFill>
                <a:latin typeface="Open Sans Bold"/>
                <a:ea typeface="Open Sans Bold"/>
                <a:cs typeface="Open Sans Bold"/>
                <a:sym typeface="Open Sans Bold"/>
              </a:rPr>
              <a:t>Línea base de tiempo e hitos</a:t>
            </a:r>
          </a:p>
        </p:txBody>
      </p:sp>
      <p:sp>
        <p:nvSpPr>
          <p:cNvPr name="TextBox 6" id="6"/>
          <p:cNvSpPr txBox="true"/>
          <p:nvPr/>
        </p:nvSpPr>
        <p:spPr>
          <a:xfrm rot="0">
            <a:off x="1063303" y="8745251"/>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7" id="7"/>
          <p:cNvSpPr txBox="true"/>
          <p:nvPr/>
        </p:nvSpPr>
        <p:spPr>
          <a:xfrm rot="0">
            <a:off x="1028700" y="9210675"/>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8" id="8"/>
          <p:cNvSpPr txBox="true"/>
          <p:nvPr/>
        </p:nvSpPr>
        <p:spPr>
          <a:xfrm rot="0">
            <a:off x="1028700" y="958532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
        <p:nvSpPr>
          <p:cNvPr name="TextBox 9" id="9"/>
          <p:cNvSpPr txBox="true"/>
          <p:nvPr/>
        </p:nvSpPr>
        <p:spPr>
          <a:xfrm rot="0">
            <a:off x="12979082" y="7426039"/>
            <a:ext cx="3284637" cy="1736725"/>
          </a:xfrm>
          <a:prstGeom prst="rect">
            <a:avLst/>
          </a:prstGeom>
        </p:spPr>
        <p:txBody>
          <a:bodyPr anchor="t" rtlCol="false" tIns="0" lIns="0" bIns="0" rIns="0">
            <a:spAutoFit/>
          </a:bodyPr>
          <a:lstStyle/>
          <a:p>
            <a:pPr algn="ctr">
              <a:lnSpc>
                <a:spcPts val="3499"/>
              </a:lnSpc>
            </a:pPr>
            <a:r>
              <a:rPr lang="en-US" sz="2499">
                <a:solidFill>
                  <a:srgbClr val="000000"/>
                </a:solidFill>
                <a:latin typeface="Open Sans"/>
                <a:ea typeface="Open Sans"/>
                <a:cs typeface="Open Sans"/>
                <a:sym typeface="Open Sans"/>
              </a:rPr>
              <a:t>Puedes usar el </a:t>
            </a:r>
          </a:p>
          <a:p>
            <a:pPr algn="ctr">
              <a:lnSpc>
                <a:spcPts val="3499"/>
              </a:lnSpc>
            </a:pPr>
            <a:r>
              <a:rPr lang="en-US" sz="2499">
                <a:solidFill>
                  <a:srgbClr val="000000"/>
                </a:solidFill>
                <a:latin typeface="Open Sans"/>
                <a:ea typeface="Open Sans"/>
                <a:cs typeface="Open Sans"/>
                <a:sym typeface="Open Sans"/>
              </a:rPr>
              <a:t>diseño que desees</a:t>
            </a:r>
          </a:p>
          <a:p>
            <a:pPr algn="ctr">
              <a:lnSpc>
                <a:spcPts val="3499"/>
              </a:lnSpc>
            </a:pPr>
            <a:r>
              <a:rPr lang="en-US" sz="2499">
                <a:solidFill>
                  <a:srgbClr val="000000"/>
                </a:solidFill>
                <a:latin typeface="Open Sans"/>
                <a:ea typeface="Open Sans"/>
                <a:cs typeface="Open Sans"/>
                <a:sym typeface="Open Sans"/>
              </a:rPr>
              <a:t>conserva la estructura</a:t>
            </a:r>
          </a:p>
          <a:p>
            <a:pPr algn="ctr" marL="0" indent="0" lvl="0">
              <a:lnSpc>
                <a:spcPts val="3499"/>
              </a:lnSpc>
              <a:spcBef>
                <a:spcPct val="0"/>
              </a:spcBef>
            </a:pPr>
            <a:r>
              <a:rPr lang="en-US" sz="2499">
                <a:solidFill>
                  <a:srgbClr val="000000"/>
                </a:solidFill>
                <a:latin typeface="Open Sans"/>
                <a:ea typeface="Open Sans"/>
                <a:cs typeface="Open Sans"/>
                <a:sym typeface="Open Sans"/>
              </a:rPr>
              <a:t>base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66989" y="4631381"/>
            <a:ext cx="12118639" cy="1024237"/>
            <a:chOff x="0" y="0"/>
            <a:chExt cx="5159516" cy="436070"/>
          </a:xfrm>
        </p:grpSpPr>
        <p:sp>
          <p:nvSpPr>
            <p:cNvPr name="Freeform 3" id="3"/>
            <p:cNvSpPr/>
            <p:nvPr/>
          </p:nvSpPr>
          <p:spPr>
            <a:xfrm flipH="false" flipV="false" rot="0">
              <a:off x="0" y="0"/>
              <a:ext cx="5159516" cy="436070"/>
            </a:xfrm>
            <a:custGeom>
              <a:avLst/>
              <a:gdLst/>
              <a:ahLst/>
              <a:cxnLst/>
              <a:rect r="r" b="b" t="t" l="l"/>
              <a:pathLst>
                <a:path h="436070" w="5159516">
                  <a:moveTo>
                    <a:pt x="4956316" y="0"/>
                  </a:moveTo>
                  <a:lnTo>
                    <a:pt x="0" y="0"/>
                  </a:lnTo>
                  <a:lnTo>
                    <a:pt x="0" y="436070"/>
                  </a:lnTo>
                  <a:lnTo>
                    <a:pt x="4956316" y="436070"/>
                  </a:lnTo>
                  <a:lnTo>
                    <a:pt x="5159516" y="218035"/>
                  </a:lnTo>
                  <a:lnTo>
                    <a:pt x="4956316" y="0"/>
                  </a:lnTo>
                  <a:close/>
                </a:path>
              </a:pathLst>
            </a:custGeom>
            <a:solidFill>
              <a:srgbClr val="FFFFFF"/>
            </a:solidFill>
          </p:spPr>
        </p:sp>
        <p:sp>
          <p:nvSpPr>
            <p:cNvPr name="TextBox 4" id="4"/>
            <p:cNvSpPr txBox="true"/>
            <p:nvPr/>
          </p:nvSpPr>
          <p:spPr>
            <a:xfrm>
              <a:off x="0" y="-76200"/>
              <a:ext cx="5045216" cy="512270"/>
            </a:xfrm>
            <a:prstGeom prst="rect">
              <a:avLst/>
            </a:prstGeom>
          </p:spPr>
          <p:txBody>
            <a:bodyPr anchor="ctr" rtlCol="false" tIns="50800" lIns="50800" bIns="50800" rIns="50800"/>
            <a:lstStyle/>
            <a:p>
              <a:pPr algn="l">
                <a:lnSpc>
                  <a:spcPts val="4143"/>
                </a:lnSpc>
              </a:pPr>
              <a:r>
                <a:rPr lang="en-US" sz="2799" spc="81">
                  <a:solidFill>
                    <a:srgbClr val="000000"/>
                  </a:solidFill>
                  <a:latin typeface="Garet"/>
                  <a:ea typeface="Garet"/>
                  <a:cs typeface="Garet"/>
                  <a:sym typeface="Garet"/>
                </a:rPr>
                <a:t>Introducción al método del valor ganado (EVM)</a:t>
              </a:r>
            </a:p>
          </p:txBody>
        </p:sp>
      </p:grpSp>
      <p:sp>
        <p:nvSpPr>
          <p:cNvPr name="Freeform 5" id="5"/>
          <p:cNvSpPr/>
          <p:nvPr/>
        </p:nvSpPr>
        <p:spPr>
          <a:xfrm flipH="false" flipV="false" rot="0">
            <a:off x="878654" y="4740441"/>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6989" y="3303305"/>
            <a:ext cx="4115190" cy="1267162"/>
            <a:chOff x="0" y="0"/>
            <a:chExt cx="1083836" cy="333738"/>
          </a:xfrm>
        </p:grpSpPr>
        <p:sp>
          <p:nvSpPr>
            <p:cNvPr name="Freeform 7" id="7"/>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8" id="8"/>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9" id="9"/>
          <p:cNvSpPr/>
          <p:nvPr/>
        </p:nvSpPr>
        <p:spPr>
          <a:xfrm flipH="false" flipV="false" rot="0">
            <a:off x="651754" y="3429735"/>
            <a:ext cx="753892" cy="872928"/>
          </a:xfrm>
          <a:custGeom>
            <a:avLst/>
            <a:gdLst/>
            <a:ahLst/>
            <a:cxnLst/>
            <a:rect r="r" b="b" t="t" l="l"/>
            <a:pathLst>
              <a:path h="872928" w="753892">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51754" y="-249180"/>
            <a:ext cx="6140237" cy="2980843"/>
            <a:chOff x="0" y="0"/>
            <a:chExt cx="8186982" cy="3974458"/>
          </a:xfrm>
        </p:grpSpPr>
        <p:sp>
          <p:nvSpPr>
            <p:cNvPr name="TextBox 11" id="11"/>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12" id="12"/>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sp>
        <p:nvSpPr>
          <p:cNvPr name="TextBox 13" id="13"/>
          <p:cNvSpPr txBox="true"/>
          <p:nvPr/>
        </p:nvSpPr>
        <p:spPr>
          <a:xfrm rot="0">
            <a:off x="11131715" y="78516"/>
            <a:ext cx="8416862" cy="579709"/>
          </a:xfrm>
          <a:prstGeom prst="rect">
            <a:avLst/>
          </a:prstGeom>
        </p:spPr>
        <p:txBody>
          <a:bodyPr anchor="t" rtlCol="false" tIns="0" lIns="0" bIns="0" rIns="0">
            <a:spAutoFit/>
          </a:bodyPr>
          <a:lstStyle/>
          <a:p>
            <a:pPr algn="l">
              <a:lnSpc>
                <a:spcPts val="4625"/>
              </a:lnSpc>
            </a:pPr>
          </a:p>
        </p:txBody>
      </p:sp>
      <p:grpSp>
        <p:nvGrpSpPr>
          <p:cNvPr name="Group 14" id="14"/>
          <p:cNvGrpSpPr/>
          <p:nvPr/>
        </p:nvGrpSpPr>
        <p:grpSpPr>
          <a:xfrm rot="0">
            <a:off x="1866989" y="5789967"/>
            <a:ext cx="12661175" cy="1184401"/>
            <a:chOff x="0" y="0"/>
            <a:chExt cx="5390501" cy="504259"/>
          </a:xfrm>
        </p:grpSpPr>
        <p:sp>
          <p:nvSpPr>
            <p:cNvPr name="Freeform 15" id="15"/>
            <p:cNvSpPr/>
            <p:nvPr/>
          </p:nvSpPr>
          <p:spPr>
            <a:xfrm flipH="false" flipV="false" rot="0">
              <a:off x="0" y="0"/>
              <a:ext cx="5390501" cy="504259"/>
            </a:xfrm>
            <a:custGeom>
              <a:avLst/>
              <a:gdLst/>
              <a:ahLst/>
              <a:cxnLst/>
              <a:rect r="r" b="b" t="t" l="l"/>
              <a:pathLst>
                <a:path h="504259" w="5390501">
                  <a:moveTo>
                    <a:pt x="5187301" y="0"/>
                  </a:moveTo>
                  <a:lnTo>
                    <a:pt x="0" y="0"/>
                  </a:lnTo>
                  <a:lnTo>
                    <a:pt x="0" y="504259"/>
                  </a:lnTo>
                  <a:lnTo>
                    <a:pt x="5187301" y="504259"/>
                  </a:lnTo>
                  <a:lnTo>
                    <a:pt x="5390501" y="252130"/>
                  </a:lnTo>
                  <a:lnTo>
                    <a:pt x="5187301" y="0"/>
                  </a:lnTo>
                  <a:close/>
                </a:path>
              </a:pathLst>
            </a:custGeom>
            <a:solidFill>
              <a:srgbClr val="FFFFFF"/>
            </a:solidFill>
          </p:spPr>
        </p:sp>
        <p:sp>
          <p:nvSpPr>
            <p:cNvPr name="TextBox 16" id="16"/>
            <p:cNvSpPr txBox="true"/>
            <p:nvPr/>
          </p:nvSpPr>
          <p:spPr>
            <a:xfrm>
              <a:off x="0" y="-76200"/>
              <a:ext cx="5276201" cy="580459"/>
            </a:xfrm>
            <a:prstGeom prst="rect">
              <a:avLst/>
            </a:prstGeom>
          </p:spPr>
          <p:txBody>
            <a:bodyPr anchor="ctr" rtlCol="false" tIns="50800" lIns="50800" bIns="50800" rIns="50800"/>
            <a:lstStyle/>
            <a:p>
              <a:pPr algn="l">
                <a:lnSpc>
                  <a:spcPts val="4143"/>
                </a:lnSpc>
              </a:pPr>
              <a:r>
                <a:rPr lang="en-US" sz="2799" spc="81">
                  <a:solidFill>
                    <a:srgbClr val="000000"/>
                  </a:solidFill>
                  <a:latin typeface="Garet"/>
                  <a:ea typeface="Garet"/>
                  <a:cs typeface="Garet"/>
                  <a:sym typeface="Garet"/>
                </a:rPr>
                <a:t>Componentes clave del valor ganado: PV, EV, AC</a:t>
              </a:r>
            </a:p>
            <a:p>
              <a:pPr algn="l">
                <a:lnSpc>
                  <a:spcPts val="4143"/>
                </a:lnSpc>
              </a:pPr>
            </a:p>
          </p:txBody>
        </p:sp>
      </p:grpSp>
      <p:sp>
        <p:nvSpPr>
          <p:cNvPr name="Freeform 17" id="17"/>
          <p:cNvSpPr/>
          <p:nvPr/>
        </p:nvSpPr>
        <p:spPr>
          <a:xfrm flipH="false" flipV="false" rot="0">
            <a:off x="878654" y="5623280"/>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3026912" y="1241242"/>
            <a:ext cx="4626468" cy="4575998"/>
          </a:xfrm>
          <a:custGeom>
            <a:avLst/>
            <a:gdLst/>
            <a:ahLst/>
            <a:cxnLst/>
            <a:rect r="r" b="b" t="t" l="l"/>
            <a:pathLst>
              <a:path h="4575998" w="4626468">
                <a:moveTo>
                  <a:pt x="0" y="0"/>
                </a:moveTo>
                <a:lnTo>
                  <a:pt x="4626468" y="0"/>
                </a:lnTo>
                <a:lnTo>
                  <a:pt x="4626468" y="4575997"/>
                </a:lnTo>
                <a:lnTo>
                  <a:pt x="0" y="45759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9" id="19"/>
          <p:cNvSpPr txBox="true"/>
          <p:nvPr/>
        </p:nvSpPr>
        <p:spPr>
          <a:xfrm rot="0">
            <a:off x="13625929" y="2413382"/>
            <a:ext cx="3428436" cy="2730118"/>
          </a:xfrm>
          <a:prstGeom prst="rect">
            <a:avLst/>
          </a:prstGeom>
        </p:spPr>
        <p:txBody>
          <a:bodyPr anchor="t" rtlCol="false" tIns="0" lIns="0" bIns="0" rIns="0">
            <a:spAutoFit/>
          </a:bodyPr>
          <a:lstStyle/>
          <a:p>
            <a:pPr algn="ctr">
              <a:lnSpc>
                <a:spcPts val="3137"/>
              </a:lnSpc>
            </a:pPr>
            <a:r>
              <a:rPr lang="en-US" sz="2241">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p>
        </p:txBody>
      </p:sp>
      <p:grpSp>
        <p:nvGrpSpPr>
          <p:cNvPr name="Group 20" id="20"/>
          <p:cNvGrpSpPr/>
          <p:nvPr/>
        </p:nvGrpSpPr>
        <p:grpSpPr>
          <a:xfrm rot="0">
            <a:off x="1866989" y="6651637"/>
            <a:ext cx="12118639" cy="1184401"/>
            <a:chOff x="0" y="0"/>
            <a:chExt cx="5159516" cy="504259"/>
          </a:xfrm>
        </p:grpSpPr>
        <p:sp>
          <p:nvSpPr>
            <p:cNvPr name="Freeform 21" id="21"/>
            <p:cNvSpPr/>
            <p:nvPr/>
          </p:nvSpPr>
          <p:spPr>
            <a:xfrm flipH="false" flipV="false" rot="0">
              <a:off x="0" y="0"/>
              <a:ext cx="5159516" cy="504259"/>
            </a:xfrm>
            <a:custGeom>
              <a:avLst/>
              <a:gdLst/>
              <a:ahLst/>
              <a:cxnLst/>
              <a:rect r="r" b="b" t="t" l="l"/>
              <a:pathLst>
                <a:path h="504259" w="5159516">
                  <a:moveTo>
                    <a:pt x="4956316" y="0"/>
                  </a:moveTo>
                  <a:lnTo>
                    <a:pt x="0" y="0"/>
                  </a:lnTo>
                  <a:lnTo>
                    <a:pt x="0" y="504259"/>
                  </a:lnTo>
                  <a:lnTo>
                    <a:pt x="4956316" y="504259"/>
                  </a:lnTo>
                  <a:lnTo>
                    <a:pt x="5159516" y="252130"/>
                  </a:lnTo>
                  <a:lnTo>
                    <a:pt x="4956316" y="0"/>
                  </a:lnTo>
                  <a:close/>
                </a:path>
              </a:pathLst>
            </a:custGeom>
            <a:solidFill>
              <a:srgbClr val="FFFFFF"/>
            </a:solidFill>
          </p:spPr>
        </p:sp>
        <p:sp>
          <p:nvSpPr>
            <p:cNvPr name="TextBox 22" id="22"/>
            <p:cNvSpPr txBox="true"/>
            <p:nvPr/>
          </p:nvSpPr>
          <p:spPr>
            <a:xfrm>
              <a:off x="0" y="-76200"/>
              <a:ext cx="5045216" cy="580459"/>
            </a:xfrm>
            <a:prstGeom prst="rect">
              <a:avLst/>
            </a:prstGeom>
          </p:spPr>
          <p:txBody>
            <a:bodyPr anchor="ctr" rtlCol="false" tIns="50800" lIns="50800" bIns="50800" rIns="50800"/>
            <a:lstStyle/>
            <a:p>
              <a:pPr algn="l">
                <a:lnSpc>
                  <a:spcPts val="4143"/>
                </a:lnSpc>
              </a:pPr>
              <a:r>
                <a:rPr lang="en-US" sz="2799" spc="81">
                  <a:solidFill>
                    <a:srgbClr val="000000"/>
                  </a:solidFill>
                  <a:latin typeface="Garet"/>
                  <a:ea typeface="Garet"/>
                  <a:cs typeface="Garet"/>
                  <a:sym typeface="Garet"/>
                </a:rPr>
                <a:t>Cálculo de métricas EVM (CPI, SPI)</a:t>
              </a:r>
            </a:p>
            <a:p>
              <a:pPr algn="l">
                <a:lnSpc>
                  <a:spcPts val="4143"/>
                </a:lnSpc>
              </a:pPr>
            </a:p>
          </p:txBody>
        </p:sp>
      </p:grpSp>
      <p:sp>
        <p:nvSpPr>
          <p:cNvPr name="Freeform 23" id="23"/>
          <p:cNvSpPr/>
          <p:nvPr/>
        </p:nvSpPr>
        <p:spPr>
          <a:xfrm flipH="false" flipV="false" rot="0">
            <a:off x="878654" y="6793036"/>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4" id="24"/>
          <p:cNvGrpSpPr/>
          <p:nvPr/>
        </p:nvGrpSpPr>
        <p:grpSpPr>
          <a:xfrm rot="0">
            <a:off x="1866989" y="7675875"/>
            <a:ext cx="12661175" cy="1184401"/>
            <a:chOff x="0" y="0"/>
            <a:chExt cx="5390501" cy="504259"/>
          </a:xfrm>
        </p:grpSpPr>
        <p:sp>
          <p:nvSpPr>
            <p:cNvPr name="Freeform 25" id="25"/>
            <p:cNvSpPr/>
            <p:nvPr/>
          </p:nvSpPr>
          <p:spPr>
            <a:xfrm flipH="false" flipV="false" rot="0">
              <a:off x="0" y="0"/>
              <a:ext cx="5390501" cy="504259"/>
            </a:xfrm>
            <a:custGeom>
              <a:avLst/>
              <a:gdLst/>
              <a:ahLst/>
              <a:cxnLst/>
              <a:rect r="r" b="b" t="t" l="l"/>
              <a:pathLst>
                <a:path h="504259" w="5390501">
                  <a:moveTo>
                    <a:pt x="5187301" y="0"/>
                  </a:moveTo>
                  <a:lnTo>
                    <a:pt x="0" y="0"/>
                  </a:lnTo>
                  <a:lnTo>
                    <a:pt x="0" y="504259"/>
                  </a:lnTo>
                  <a:lnTo>
                    <a:pt x="5187301" y="504259"/>
                  </a:lnTo>
                  <a:lnTo>
                    <a:pt x="5390501" y="252130"/>
                  </a:lnTo>
                  <a:lnTo>
                    <a:pt x="5187301" y="0"/>
                  </a:lnTo>
                  <a:close/>
                </a:path>
              </a:pathLst>
            </a:custGeom>
            <a:solidFill>
              <a:srgbClr val="FFFFFF"/>
            </a:solidFill>
          </p:spPr>
        </p:sp>
        <p:sp>
          <p:nvSpPr>
            <p:cNvPr name="TextBox 26" id="26"/>
            <p:cNvSpPr txBox="true"/>
            <p:nvPr/>
          </p:nvSpPr>
          <p:spPr>
            <a:xfrm>
              <a:off x="0" y="-76200"/>
              <a:ext cx="5276201" cy="580459"/>
            </a:xfrm>
            <a:prstGeom prst="rect">
              <a:avLst/>
            </a:prstGeom>
          </p:spPr>
          <p:txBody>
            <a:bodyPr anchor="ctr" rtlCol="false" tIns="50800" lIns="50800" bIns="50800" rIns="50800"/>
            <a:lstStyle/>
            <a:p>
              <a:pPr algn="l">
                <a:lnSpc>
                  <a:spcPts val="4143"/>
                </a:lnSpc>
              </a:pPr>
              <a:r>
                <a:rPr lang="en-US" sz="2799" spc="81">
                  <a:solidFill>
                    <a:srgbClr val="000000"/>
                  </a:solidFill>
                  <a:latin typeface="Garet"/>
                  <a:ea typeface="Garet"/>
                  <a:cs typeface="Garet"/>
                  <a:sym typeface="Garet"/>
                </a:rPr>
                <a:t>Interpretación de resultados del EVM</a:t>
              </a:r>
            </a:p>
            <a:p>
              <a:pPr algn="l">
                <a:lnSpc>
                  <a:spcPts val="4143"/>
                </a:lnSpc>
              </a:pPr>
            </a:p>
          </p:txBody>
        </p:sp>
      </p:grpSp>
      <p:sp>
        <p:nvSpPr>
          <p:cNvPr name="Freeform 27" id="27"/>
          <p:cNvSpPr/>
          <p:nvPr/>
        </p:nvSpPr>
        <p:spPr>
          <a:xfrm flipH="false" flipV="false" rot="0">
            <a:off x="878654" y="7675875"/>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4889" y="654364"/>
            <a:ext cx="13991174" cy="1801020"/>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name="TextBox 3" id="3"/>
          <p:cNvSpPr txBox="true"/>
          <p:nvPr/>
        </p:nvSpPr>
        <p:spPr>
          <a:xfrm rot="0">
            <a:off x="1367785" y="2926462"/>
            <a:ext cx="16920215" cy="3171825"/>
          </a:xfrm>
          <a:prstGeom prst="rect">
            <a:avLst/>
          </a:prstGeom>
        </p:spPr>
        <p:txBody>
          <a:bodyPr anchor="t" rtlCol="false" tIns="0" lIns="0" bIns="0" rIns="0">
            <a:spAutoFit/>
          </a:bodyPr>
          <a:lstStyle/>
          <a:p>
            <a:pPr algn="just">
              <a:lnSpc>
                <a:spcPts val="6300"/>
              </a:lnSpc>
            </a:pPr>
            <a:r>
              <a:rPr lang="en-US" sz="4500" b="true">
                <a:solidFill>
                  <a:srgbClr val="131416"/>
                </a:solidFill>
                <a:latin typeface="Open Sans Bold"/>
                <a:ea typeface="Open Sans Bold"/>
                <a:cs typeface="Open Sans Bold"/>
                <a:sym typeface="Open Sans Bold"/>
              </a:rPr>
              <a:t>Valida el desempeño de proyectos tecnológicos utilizando el método del valor ganado (EVM) y reportes de avance para tomar decisiones correctivas basadas en datos objetivos </a:t>
            </a:r>
          </a:p>
        </p:txBody>
      </p:sp>
      <p:sp>
        <p:nvSpPr>
          <p:cNvPr name="Freeform 4" id="4"/>
          <p:cNvSpPr/>
          <p:nvPr/>
        </p:nvSpPr>
        <p:spPr>
          <a:xfrm flipH="false" flipV="false" rot="0">
            <a:off x="12632832" y="5711002"/>
            <a:ext cx="4626468" cy="4575998"/>
          </a:xfrm>
          <a:custGeom>
            <a:avLst/>
            <a:gdLst/>
            <a:ahLst/>
            <a:cxnLst/>
            <a:rect r="r" b="b" t="t" l="l"/>
            <a:pathLst>
              <a:path h="4575998" w="4626468">
                <a:moveTo>
                  <a:pt x="0" y="0"/>
                </a:moveTo>
                <a:lnTo>
                  <a:pt x="4626468" y="0"/>
                </a:lnTo>
                <a:lnTo>
                  <a:pt x="4626468" y="4575998"/>
                </a:lnTo>
                <a:lnTo>
                  <a:pt x="0" y="4575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3231848" y="6905163"/>
            <a:ext cx="3428436" cy="3121463"/>
          </a:xfrm>
          <a:prstGeom prst="rect">
            <a:avLst/>
          </a:prstGeom>
        </p:spPr>
        <p:txBody>
          <a:bodyPr anchor="t" rtlCol="false" tIns="0" lIns="0" bIns="0" rIns="0">
            <a:spAutoFit/>
          </a:bodyPr>
          <a:lstStyle/>
          <a:p>
            <a:pPr algn="ctr">
              <a:lnSpc>
                <a:spcPts val="3137"/>
              </a:lnSpc>
            </a:pPr>
            <a:r>
              <a:rPr lang="en-US" sz="2241">
                <a:solidFill>
                  <a:srgbClr val="131416"/>
                </a:solidFill>
                <a:latin typeface="Open Sans"/>
                <a:ea typeface="Open Sans"/>
                <a:cs typeface="Open Sans"/>
                <a:sym typeface="Open Sans"/>
              </a:rPr>
              <a:t>En el programa del curso encontraras la competencia o competencias que debe cumplir el curso que estas impartiendo.</a:t>
            </a:r>
          </a:p>
          <a:p>
            <a:pPr algn="ctr">
              <a:lnSpc>
                <a:spcPts val="3137"/>
              </a:lnSpc>
            </a:pPr>
            <a:r>
              <a:rPr lang="en-US" sz="2241">
                <a:solidFill>
                  <a:srgbClr val="131416"/>
                </a:solidFill>
                <a:latin typeface="Open Sans"/>
                <a:ea typeface="Open Sans"/>
                <a:cs typeface="Open Sans"/>
                <a:sym typeface="Open Sans"/>
              </a:rPr>
              <a:t>Colocala(s) en este apartado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36822" y="2612993"/>
            <a:ext cx="15722478" cy="6118648"/>
          </a:xfrm>
          <a:prstGeom prst="rect">
            <a:avLst/>
          </a:prstGeom>
        </p:spPr>
        <p:txBody>
          <a:bodyPr anchor="t" rtlCol="false" tIns="0" lIns="0" bIns="0" rIns="0">
            <a:spAutoFit/>
          </a:bodyPr>
          <a:lstStyle/>
          <a:p>
            <a:pPr algn="l">
              <a:lnSpc>
                <a:spcPts val="4371"/>
              </a:lnSpc>
            </a:pPr>
            <a:r>
              <a:rPr lang="en-US" sz="2526">
                <a:solidFill>
                  <a:srgbClr val="131416"/>
                </a:solidFill>
                <a:latin typeface="Garet"/>
                <a:ea typeface="Garet"/>
                <a:cs typeface="Garet"/>
                <a:sym typeface="Garet"/>
              </a:rPr>
              <a:t>El método del</a:t>
            </a:r>
            <a:r>
              <a:rPr lang="en-US" sz="2526">
                <a:solidFill>
                  <a:srgbClr val="131416"/>
                </a:solidFill>
                <a:latin typeface="Garet"/>
                <a:ea typeface="Garet"/>
                <a:cs typeface="Garet"/>
                <a:sym typeface="Garet"/>
              </a:rPr>
              <a:t> valor ganado es una técnica que combina la medición de progreso del proyecto con el control de costos. EVM les da una visión precisa de si el proyecto está cumpliendo con los plazos y el presupuesto planificados. La clave del EVM es que permite comparar lo que se ha logrado hasta ahora con lo que se planificó lograr, tanto en términos de costo como de tiempo.</a:t>
            </a:r>
          </a:p>
          <a:p>
            <a:pPr algn="l">
              <a:lnSpc>
                <a:spcPts val="4371"/>
              </a:lnSpc>
            </a:pPr>
          </a:p>
          <a:p>
            <a:pPr algn="l">
              <a:lnSpc>
                <a:spcPts val="4371"/>
              </a:lnSpc>
            </a:pPr>
            <a:r>
              <a:rPr lang="en-US" sz="2526">
                <a:solidFill>
                  <a:srgbClr val="131416"/>
                </a:solidFill>
                <a:latin typeface="Garet"/>
                <a:ea typeface="Garet"/>
                <a:cs typeface="Garet"/>
                <a:sym typeface="Garet"/>
              </a:rPr>
              <a:t>¿Por qué es importante?</a:t>
            </a:r>
          </a:p>
          <a:p>
            <a:pPr algn="l">
              <a:lnSpc>
                <a:spcPts val="4371"/>
              </a:lnSpc>
            </a:pPr>
          </a:p>
          <a:p>
            <a:pPr algn="l" marL="545524" indent="-272762" lvl="1">
              <a:lnSpc>
                <a:spcPts val="4371"/>
              </a:lnSpc>
              <a:buFont typeface="Arial"/>
              <a:buChar char="•"/>
            </a:pPr>
            <a:r>
              <a:rPr lang="en-US" sz="2526">
                <a:solidFill>
                  <a:srgbClr val="131416"/>
                </a:solidFill>
                <a:latin typeface="Garet"/>
                <a:ea typeface="Garet"/>
                <a:cs typeface="Garet"/>
                <a:sym typeface="Garet"/>
              </a:rPr>
              <a:t>Les ayuda a tomar decisiones correctivas a tiempo.</a:t>
            </a:r>
          </a:p>
          <a:p>
            <a:pPr algn="l">
              <a:lnSpc>
                <a:spcPts val="4371"/>
              </a:lnSpc>
            </a:pPr>
            <a:r>
              <a:rPr lang="en-US" sz="2526">
                <a:solidFill>
                  <a:srgbClr val="131416"/>
                </a:solidFill>
                <a:latin typeface="Garet"/>
                <a:ea typeface="Garet"/>
                <a:cs typeface="Garet"/>
                <a:sym typeface="Garet"/>
              </a:rPr>
              <a:t>Proporciona información objetiva y cuantificable sobre el desempeño del proyecto.</a:t>
            </a:r>
          </a:p>
          <a:p>
            <a:pPr algn="l">
              <a:lnSpc>
                <a:spcPts val="4371"/>
              </a:lnSpc>
            </a:pPr>
          </a:p>
          <a:p>
            <a:pPr algn="l">
              <a:lnSpc>
                <a:spcPts val="5236"/>
              </a:lnSpc>
            </a:pPr>
          </a:p>
        </p:txBody>
      </p:sp>
      <p:sp>
        <p:nvSpPr>
          <p:cNvPr name="TextBox 3" id="3"/>
          <p:cNvSpPr txBox="true"/>
          <p:nvPr/>
        </p:nvSpPr>
        <p:spPr>
          <a:xfrm rot="0">
            <a:off x="1374889" y="654364"/>
            <a:ext cx="16698774" cy="2381614"/>
          </a:xfrm>
          <a:prstGeom prst="rect">
            <a:avLst/>
          </a:prstGeom>
        </p:spPr>
        <p:txBody>
          <a:bodyPr anchor="t" rtlCol="false" tIns="0" lIns="0" bIns="0" rIns="0">
            <a:spAutoFit/>
          </a:bodyPr>
          <a:lstStyle/>
          <a:p>
            <a:pPr algn="just">
              <a:lnSpc>
                <a:spcPts val="6099"/>
              </a:lnSpc>
            </a:pPr>
            <a:r>
              <a:rPr lang="en-US" sz="5398">
                <a:solidFill>
                  <a:srgbClr val="131416"/>
                </a:solidFill>
                <a:latin typeface="Horizon"/>
                <a:ea typeface="Horizon"/>
                <a:cs typeface="Horizon"/>
                <a:sym typeface="Horizon"/>
              </a:rPr>
              <a:t>INTRODUCCIÓN AL MÉTODO DEL VALOR GANADO (EVM)</a:t>
            </a:r>
          </a:p>
          <a:p>
            <a:pPr algn="just">
              <a:lnSpc>
                <a:spcPts val="6099"/>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14400"/>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Componentes Clave del Valor Ganado: PV, EV, AC</a:t>
            </a:r>
          </a:p>
          <a:p>
            <a:pPr algn="l">
              <a:lnSpc>
                <a:spcPts val="3996"/>
              </a:lnSpc>
            </a:pPr>
          </a:p>
        </p:txBody>
      </p:sp>
      <p:sp>
        <p:nvSpPr>
          <p:cNvPr name="TextBox 3" id="3"/>
          <p:cNvSpPr txBox="true"/>
          <p:nvPr/>
        </p:nvSpPr>
        <p:spPr>
          <a:xfrm rot="0">
            <a:off x="1750722" y="2238892"/>
            <a:ext cx="13666877" cy="5506422"/>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Para entender el EVM, primero necesitamos familiarizarnos con tres conceptos clave:</a:t>
            </a:r>
          </a:p>
          <a:p>
            <a:pPr algn="l">
              <a:lnSpc>
                <a:spcPts val="3996"/>
              </a:lnSpc>
            </a:pPr>
          </a:p>
          <a:p>
            <a:pPr algn="l">
              <a:lnSpc>
                <a:spcPts val="3996"/>
              </a:lnSpc>
            </a:pPr>
            <a:r>
              <a:rPr lang="en-US" sz="2310">
                <a:solidFill>
                  <a:srgbClr val="131416"/>
                </a:solidFill>
                <a:latin typeface="Garet"/>
                <a:ea typeface="Garet"/>
                <a:cs typeface="Garet"/>
                <a:sym typeface="Garet"/>
              </a:rPr>
              <a:t>Valor Planificado (PV - Planned Value): Es el valor del trabajo que se espera completar en un momento dado, según el cronograma. Básicamente, es lo que deberían haber hecho hasta la fecha de medición.</a:t>
            </a:r>
          </a:p>
          <a:p>
            <a:pPr algn="l">
              <a:lnSpc>
                <a:spcPts val="3996"/>
              </a:lnSpc>
            </a:pPr>
          </a:p>
          <a:p>
            <a:pPr algn="l">
              <a:lnSpc>
                <a:spcPts val="3996"/>
              </a:lnSpc>
            </a:pPr>
            <a:r>
              <a:rPr lang="en-US" sz="2310">
                <a:solidFill>
                  <a:srgbClr val="131416"/>
                </a:solidFill>
                <a:latin typeface="Garet"/>
                <a:ea typeface="Garet"/>
                <a:cs typeface="Garet"/>
                <a:sym typeface="Garet"/>
              </a:rPr>
              <a:t>Ejemplo: Si se esperaba haber completado el 50% del desarrollo del sistema en 3 meses, el PV reflejaría el costo planificado para ese 50%.</a:t>
            </a:r>
          </a:p>
          <a:p>
            <a:pPr algn="l">
              <a:lnSpc>
                <a:spcPts val="3996"/>
              </a:lnSpc>
            </a:pPr>
          </a:p>
          <a:p>
            <a:pPr algn="l">
              <a:lnSpc>
                <a:spcPts val="3996"/>
              </a:lnSpc>
            </a:pPr>
          </a:p>
          <a:p>
            <a:pPr algn="l">
              <a:lnSpc>
                <a:spcPts val="3996"/>
              </a:lnSpc>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313966" y="1465872"/>
            <a:ext cx="13660067" cy="8024123"/>
          </a:xfrm>
          <a:prstGeom prst="rect">
            <a:avLst/>
          </a:prstGeom>
        </p:spPr>
        <p:txBody>
          <a:bodyPr anchor="t" rtlCol="false" tIns="0" lIns="0" bIns="0" rIns="0">
            <a:spAutoFit/>
          </a:bodyPr>
          <a:lstStyle/>
          <a:p>
            <a:pPr algn="l">
              <a:lnSpc>
                <a:spcPts val="3994"/>
              </a:lnSpc>
            </a:pPr>
            <a:r>
              <a:rPr lang="en-US" sz="2308">
                <a:solidFill>
                  <a:srgbClr val="131416"/>
                </a:solidFill>
                <a:latin typeface="Garet"/>
                <a:ea typeface="Garet"/>
                <a:cs typeface="Garet"/>
                <a:sym typeface="Garet"/>
              </a:rPr>
              <a:t>Valor Ganado (EV - Earned Value): Es el valor del trabajo realmente completado hasta un momento dado. Nos dice cuánto del t</a:t>
            </a:r>
            <a:r>
              <a:rPr lang="en-US" sz="2308">
                <a:solidFill>
                  <a:srgbClr val="131416"/>
                </a:solidFill>
                <a:latin typeface="Garet"/>
                <a:ea typeface="Garet"/>
                <a:cs typeface="Garet"/>
                <a:sym typeface="Garet"/>
              </a:rPr>
              <a:t>rabajo previsto se ha logrado en realidad.</a:t>
            </a:r>
          </a:p>
          <a:p>
            <a:pPr algn="l">
              <a:lnSpc>
                <a:spcPts val="3994"/>
              </a:lnSpc>
            </a:pPr>
          </a:p>
          <a:p>
            <a:pPr algn="l">
              <a:lnSpc>
                <a:spcPts val="3994"/>
              </a:lnSpc>
            </a:pPr>
            <a:r>
              <a:rPr lang="en-US" sz="2308">
                <a:solidFill>
                  <a:srgbClr val="131416"/>
                </a:solidFill>
                <a:latin typeface="Garet"/>
                <a:ea typeface="Garet"/>
                <a:cs typeface="Garet"/>
                <a:sym typeface="Garet"/>
              </a:rPr>
              <a:t>Ejemplo: Si el proyecto ha completado el 40% del trabajo, el EV será el costo correspondiente a ese 40%.</a:t>
            </a:r>
          </a:p>
          <a:p>
            <a:pPr algn="l">
              <a:lnSpc>
                <a:spcPts val="3994"/>
              </a:lnSpc>
            </a:pPr>
          </a:p>
          <a:p>
            <a:pPr algn="l">
              <a:lnSpc>
                <a:spcPts val="3994"/>
              </a:lnSpc>
            </a:pPr>
            <a:r>
              <a:rPr lang="en-US" sz="2308">
                <a:solidFill>
                  <a:srgbClr val="131416"/>
                </a:solidFill>
                <a:latin typeface="Garet"/>
                <a:ea typeface="Garet"/>
                <a:cs typeface="Garet"/>
                <a:sym typeface="Garet"/>
              </a:rPr>
              <a:t>Costo Real (AC - Actual Cost): Es el costo real incurrido hasta un momento dado. Nos muestra cuánto se ha gastado realmente para completar el trabajo.</a:t>
            </a:r>
          </a:p>
          <a:p>
            <a:pPr algn="l">
              <a:lnSpc>
                <a:spcPts val="3994"/>
              </a:lnSpc>
            </a:pPr>
          </a:p>
          <a:p>
            <a:pPr algn="l">
              <a:lnSpc>
                <a:spcPts val="3994"/>
              </a:lnSpc>
            </a:pPr>
            <a:r>
              <a:rPr lang="en-US" sz="2308">
                <a:solidFill>
                  <a:srgbClr val="131416"/>
                </a:solidFill>
                <a:latin typeface="Garet"/>
                <a:ea typeface="Garet"/>
                <a:cs typeface="Garet"/>
                <a:sym typeface="Garet"/>
              </a:rPr>
              <a:t>Ejemplo: Si el proyecto ha gastado $80,000 hasta ahora, eso sería el AC, sin importar si el trabajo está al día o no.</a:t>
            </a:r>
          </a:p>
          <a:p>
            <a:pPr algn="l">
              <a:lnSpc>
                <a:spcPts val="3994"/>
              </a:lnSpc>
            </a:pPr>
          </a:p>
          <a:p>
            <a:pPr algn="l">
              <a:lnSpc>
                <a:spcPts val="3994"/>
              </a:lnSpc>
            </a:pPr>
          </a:p>
          <a:p>
            <a:pPr algn="l">
              <a:lnSpc>
                <a:spcPts val="3994"/>
              </a:lnSpc>
            </a:pPr>
          </a:p>
          <a:p>
            <a:pPr algn="l">
              <a:lnSpc>
                <a:spcPts val="3994"/>
              </a:lnSpc>
            </a:pPr>
          </a:p>
          <a:p>
            <a:pPr algn="l">
              <a:lnSpc>
                <a:spcPts val="399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13381" y="4098290"/>
            <a:ext cx="13666877" cy="7019408"/>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CPI (Cost Performance Index): Indica la eficiencia del uso del presupuesto. Se calcula como:</a:t>
            </a:r>
          </a:p>
          <a:p>
            <a:pPr algn="l">
              <a:lnSpc>
                <a:spcPts val="3996"/>
              </a:lnSpc>
            </a:pPr>
          </a:p>
          <a:p>
            <a:pPr algn="l">
              <a:lnSpc>
                <a:spcPts val="3996"/>
              </a:lnSpc>
            </a:pPr>
          </a:p>
          <a:p>
            <a:pPr algn="l" marL="498755" indent="-249378" lvl="1">
              <a:lnSpc>
                <a:spcPts val="3996"/>
              </a:lnSpc>
              <a:buFont typeface="Arial"/>
              <a:buChar char="•"/>
            </a:pPr>
            <a:r>
              <a:rPr lang="en-US" sz="2310">
                <a:solidFill>
                  <a:srgbClr val="131416"/>
                </a:solidFill>
                <a:latin typeface="Garet"/>
                <a:ea typeface="Garet"/>
                <a:cs typeface="Garet"/>
                <a:sym typeface="Garet"/>
              </a:rPr>
              <a:t> Si el CPI &gt; 1, significa que están gastando menos de lo previsto.</a:t>
            </a:r>
          </a:p>
          <a:p>
            <a:pPr algn="l" marL="498755" indent="-249378" lvl="1">
              <a:lnSpc>
                <a:spcPts val="3996"/>
              </a:lnSpc>
              <a:buFont typeface="Arial"/>
              <a:buChar char="•"/>
            </a:pPr>
            <a:r>
              <a:rPr lang="en-US" sz="2310">
                <a:solidFill>
                  <a:srgbClr val="131416"/>
                </a:solidFill>
                <a:latin typeface="Garet"/>
                <a:ea typeface="Garet"/>
                <a:cs typeface="Garet"/>
                <a:sym typeface="Garet"/>
              </a:rPr>
              <a:t>Si el CPI &lt; 1, significa que están gastando más de lo planificado.</a:t>
            </a:r>
          </a:p>
          <a:p>
            <a:pPr algn="l">
              <a:lnSpc>
                <a:spcPts val="3996"/>
              </a:lnSpc>
            </a:pPr>
            <a:r>
              <a:rPr lang="en-US" sz="2310">
                <a:solidFill>
                  <a:srgbClr val="131416"/>
                </a:solidFill>
                <a:latin typeface="Garet"/>
                <a:ea typeface="Garet"/>
                <a:cs typeface="Garet"/>
                <a:sym typeface="Garet"/>
              </a:rPr>
              <a:t>Ejemplo: Si el EV es $70,000 y el AC es $80,000, entonces el CPI será: </a:t>
            </a:r>
          </a:p>
          <a:p>
            <a:pPr algn="l">
              <a:lnSpc>
                <a:spcPts val="3996"/>
              </a:lnSpc>
            </a:pPr>
          </a:p>
          <a:p>
            <a:pPr algn="l">
              <a:lnSpc>
                <a:spcPts val="3996"/>
              </a:lnSpc>
            </a:pPr>
          </a:p>
          <a:p>
            <a:pPr algn="l">
              <a:lnSpc>
                <a:spcPts val="3996"/>
              </a:lnSpc>
            </a:pPr>
          </a:p>
          <a:p>
            <a:pPr algn="l">
              <a:lnSpc>
                <a:spcPts val="3996"/>
              </a:lnSpc>
            </a:pPr>
            <a:r>
              <a:rPr lang="en-US" sz="2310">
                <a:solidFill>
                  <a:srgbClr val="131416"/>
                </a:solidFill>
                <a:latin typeface="Garet"/>
                <a:ea typeface="Garet"/>
                <a:cs typeface="Garet"/>
                <a:sym typeface="Garet"/>
              </a:rPr>
              <a:t> Esto indica que el proyecto está por encima del presupuesto.</a:t>
            </a:r>
          </a:p>
          <a:p>
            <a:pPr algn="l">
              <a:lnSpc>
                <a:spcPts val="3996"/>
              </a:lnSpc>
            </a:pPr>
          </a:p>
          <a:p>
            <a:pPr algn="l">
              <a:lnSpc>
                <a:spcPts val="3996"/>
              </a:lnSpc>
            </a:pPr>
          </a:p>
          <a:p>
            <a:pPr algn="l">
              <a:lnSpc>
                <a:spcPts val="3996"/>
              </a:lnSpc>
            </a:pPr>
          </a:p>
        </p:txBody>
      </p:sp>
      <p:sp>
        <p:nvSpPr>
          <p:cNvPr name="Freeform 3" id="3"/>
          <p:cNvSpPr/>
          <p:nvPr/>
        </p:nvSpPr>
        <p:spPr>
          <a:xfrm flipH="false" flipV="false" rot="0">
            <a:off x="5160886" y="7665144"/>
            <a:ext cx="5032498" cy="1315486"/>
          </a:xfrm>
          <a:custGeom>
            <a:avLst/>
            <a:gdLst/>
            <a:ahLst/>
            <a:cxnLst/>
            <a:rect r="r" b="b" t="t" l="l"/>
            <a:pathLst>
              <a:path h="1315486" w="5032498">
                <a:moveTo>
                  <a:pt x="0" y="0"/>
                </a:moveTo>
                <a:lnTo>
                  <a:pt x="5032498" y="0"/>
                </a:lnTo>
                <a:lnTo>
                  <a:pt x="5032498" y="1315486"/>
                </a:lnTo>
                <a:lnTo>
                  <a:pt x="0" y="1315486"/>
                </a:lnTo>
                <a:lnTo>
                  <a:pt x="0" y="0"/>
                </a:lnTo>
                <a:close/>
              </a:path>
            </a:pathLst>
          </a:custGeom>
          <a:blipFill>
            <a:blip r:embed="rId2"/>
            <a:stretch>
              <a:fillRect l="0" t="0" r="0" b="0"/>
            </a:stretch>
          </a:blipFill>
        </p:spPr>
      </p:sp>
      <p:sp>
        <p:nvSpPr>
          <p:cNvPr name="Freeform 4" id="4"/>
          <p:cNvSpPr/>
          <p:nvPr/>
        </p:nvSpPr>
        <p:spPr>
          <a:xfrm flipH="false" flipV="false" rot="0">
            <a:off x="6238988" y="4878991"/>
            <a:ext cx="2465286" cy="1119162"/>
          </a:xfrm>
          <a:custGeom>
            <a:avLst/>
            <a:gdLst/>
            <a:ahLst/>
            <a:cxnLst/>
            <a:rect r="r" b="b" t="t" l="l"/>
            <a:pathLst>
              <a:path h="1119162" w="2465286">
                <a:moveTo>
                  <a:pt x="0" y="0"/>
                </a:moveTo>
                <a:lnTo>
                  <a:pt x="2465286" y="0"/>
                </a:lnTo>
                <a:lnTo>
                  <a:pt x="2465286" y="1119161"/>
                </a:lnTo>
                <a:lnTo>
                  <a:pt x="0" y="1119161"/>
                </a:lnTo>
                <a:lnTo>
                  <a:pt x="0" y="0"/>
                </a:lnTo>
                <a:close/>
              </a:path>
            </a:pathLst>
          </a:custGeom>
          <a:blipFill>
            <a:blip r:embed="rId3"/>
            <a:stretch>
              <a:fillRect l="0" t="0" r="0" b="0"/>
            </a:stretch>
          </a:blipFill>
        </p:spPr>
      </p:sp>
      <p:sp>
        <p:nvSpPr>
          <p:cNvPr name="TextBox 5" id="5"/>
          <p:cNvSpPr txBox="true"/>
          <p:nvPr/>
        </p:nvSpPr>
        <p:spPr>
          <a:xfrm rot="0">
            <a:off x="1028700" y="914400"/>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Cálculo de Métricas EVM: CPI, SPI</a:t>
            </a:r>
          </a:p>
          <a:p>
            <a:pPr algn="l">
              <a:lnSpc>
                <a:spcPts val="3996"/>
              </a:lnSpc>
            </a:pPr>
          </a:p>
        </p:txBody>
      </p:sp>
      <p:sp>
        <p:nvSpPr>
          <p:cNvPr name="TextBox 6" id="6"/>
          <p:cNvSpPr txBox="true"/>
          <p:nvPr/>
        </p:nvSpPr>
        <p:spPr>
          <a:xfrm rot="0">
            <a:off x="1870835" y="2133068"/>
            <a:ext cx="13666877" cy="1976121"/>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Una vez que tengan el PV, EV y AC, pueden calcular dos métricas clave: el Índice de Desempeño de Costo (CPI) y el Índice de Desempeño de Cronograma (SPI). Estas métricas les indicarán si están dentro del presupuesto y si el proyecto está a tiempo.</a:t>
            </a:r>
          </a:p>
          <a:p>
            <a:pPr algn="l">
              <a:lnSpc>
                <a:spcPts val="399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35855" y="1605443"/>
            <a:ext cx="4138013" cy="1954855"/>
          </a:xfrm>
          <a:custGeom>
            <a:avLst/>
            <a:gdLst/>
            <a:ahLst/>
            <a:cxnLst/>
            <a:rect r="r" b="b" t="t" l="l"/>
            <a:pathLst>
              <a:path h="1954855" w="4138013">
                <a:moveTo>
                  <a:pt x="0" y="0"/>
                </a:moveTo>
                <a:lnTo>
                  <a:pt x="4138013" y="0"/>
                </a:lnTo>
                <a:lnTo>
                  <a:pt x="4138013" y="1954854"/>
                </a:lnTo>
                <a:lnTo>
                  <a:pt x="0" y="1954854"/>
                </a:lnTo>
                <a:lnTo>
                  <a:pt x="0" y="0"/>
                </a:lnTo>
                <a:close/>
              </a:path>
            </a:pathLst>
          </a:custGeom>
          <a:blipFill>
            <a:blip r:embed="rId2"/>
            <a:stretch>
              <a:fillRect l="0" t="0" r="0" b="0"/>
            </a:stretch>
          </a:blipFill>
        </p:spPr>
      </p:sp>
      <p:sp>
        <p:nvSpPr>
          <p:cNvPr name="TextBox 3" id="3"/>
          <p:cNvSpPr txBox="true"/>
          <p:nvPr/>
        </p:nvSpPr>
        <p:spPr>
          <a:xfrm rot="0">
            <a:off x="2170287" y="4298284"/>
            <a:ext cx="13666877" cy="4497765"/>
          </a:xfrm>
          <a:prstGeom prst="rect">
            <a:avLst/>
          </a:prstGeom>
        </p:spPr>
        <p:txBody>
          <a:bodyPr anchor="t" rtlCol="false" tIns="0" lIns="0" bIns="0" rIns="0">
            <a:spAutoFit/>
          </a:bodyPr>
          <a:lstStyle/>
          <a:p>
            <a:pPr algn="l" marL="498755" indent="-249378" lvl="1">
              <a:lnSpc>
                <a:spcPts val="3996"/>
              </a:lnSpc>
              <a:buFont typeface="Arial"/>
              <a:buChar char="•"/>
            </a:pPr>
            <a:r>
              <a:rPr lang="en-US" sz="2310">
                <a:solidFill>
                  <a:srgbClr val="131416"/>
                </a:solidFill>
                <a:latin typeface="Garet"/>
                <a:ea typeface="Garet"/>
                <a:cs typeface="Garet"/>
                <a:sym typeface="Garet"/>
              </a:rPr>
              <a:t>Si el SPI &gt; 1, el proyecto está adelantado respecto al cronograma.</a:t>
            </a:r>
          </a:p>
          <a:p>
            <a:pPr algn="l" marL="498755" indent="-249378" lvl="1">
              <a:lnSpc>
                <a:spcPts val="3996"/>
              </a:lnSpc>
              <a:buFont typeface="Arial"/>
              <a:buChar char="•"/>
            </a:pPr>
            <a:r>
              <a:rPr lang="en-US" sz="2310">
                <a:solidFill>
                  <a:srgbClr val="131416"/>
                </a:solidFill>
                <a:latin typeface="Garet"/>
                <a:ea typeface="Garet"/>
                <a:cs typeface="Garet"/>
                <a:sym typeface="Garet"/>
              </a:rPr>
              <a:t>Si el SPI &lt; 1, el proyecto está retrasado.</a:t>
            </a:r>
          </a:p>
          <a:p>
            <a:pPr algn="l" marL="498755" indent="-249378" lvl="1">
              <a:lnSpc>
                <a:spcPts val="3996"/>
              </a:lnSpc>
              <a:buFont typeface="Arial"/>
              <a:buChar char="•"/>
            </a:pPr>
            <a:r>
              <a:rPr lang="en-US" sz="2310">
                <a:solidFill>
                  <a:srgbClr val="131416"/>
                </a:solidFill>
                <a:latin typeface="Garet"/>
                <a:ea typeface="Garet"/>
                <a:cs typeface="Garet"/>
                <a:sym typeface="Garet"/>
              </a:rPr>
              <a:t>Ejemplo: Si el EV es $70,000 y el PV es $75,000, entonces el SPI será: </a:t>
            </a:r>
          </a:p>
          <a:p>
            <a:pPr algn="l">
              <a:lnSpc>
                <a:spcPts val="3996"/>
              </a:lnSpc>
            </a:pPr>
          </a:p>
          <a:p>
            <a:pPr algn="l">
              <a:lnSpc>
                <a:spcPts val="3996"/>
              </a:lnSpc>
            </a:pPr>
          </a:p>
          <a:p>
            <a:pPr algn="l">
              <a:lnSpc>
                <a:spcPts val="3996"/>
              </a:lnSpc>
            </a:pPr>
          </a:p>
          <a:p>
            <a:pPr algn="l">
              <a:lnSpc>
                <a:spcPts val="3996"/>
              </a:lnSpc>
            </a:pPr>
          </a:p>
          <a:p>
            <a:pPr algn="l">
              <a:lnSpc>
                <a:spcPts val="3996"/>
              </a:lnSpc>
            </a:pPr>
            <a:r>
              <a:rPr lang="en-US" sz="2310">
                <a:solidFill>
                  <a:srgbClr val="131416"/>
                </a:solidFill>
                <a:latin typeface="Garet"/>
                <a:ea typeface="Garet"/>
                <a:cs typeface="Garet"/>
                <a:sym typeface="Garet"/>
              </a:rPr>
              <a:t> Esto significa que el proyecto está un poco retrasado.</a:t>
            </a:r>
          </a:p>
          <a:p>
            <a:pPr algn="l">
              <a:lnSpc>
                <a:spcPts val="3996"/>
              </a:lnSpc>
            </a:pPr>
          </a:p>
        </p:txBody>
      </p:sp>
      <p:sp>
        <p:nvSpPr>
          <p:cNvPr name="Freeform 4" id="4"/>
          <p:cNvSpPr/>
          <p:nvPr/>
        </p:nvSpPr>
        <p:spPr>
          <a:xfrm flipH="false" flipV="false" rot="0">
            <a:off x="4842503" y="6076840"/>
            <a:ext cx="6600945" cy="1678986"/>
          </a:xfrm>
          <a:custGeom>
            <a:avLst/>
            <a:gdLst/>
            <a:ahLst/>
            <a:cxnLst/>
            <a:rect r="r" b="b" t="t" l="l"/>
            <a:pathLst>
              <a:path h="1678986" w="6600945">
                <a:moveTo>
                  <a:pt x="0" y="0"/>
                </a:moveTo>
                <a:lnTo>
                  <a:pt x="6600944" y="0"/>
                </a:lnTo>
                <a:lnTo>
                  <a:pt x="6600944" y="1678986"/>
                </a:lnTo>
                <a:lnTo>
                  <a:pt x="0" y="1678986"/>
                </a:lnTo>
                <a:lnTo>
                  <a:pt x="0" y="0"/>
                </a:lnTo>
                <a:close/>
              </a:path>
            </a:pathLst>
          </a:custGeom>
          <a:blipFill>
            <a:blip r:embed="rId3"/>
            <a:stretch>
              <a:fillRect l="0" t="0" r="0" b="0"/>
            </a:stretch>
          </a:blipFill>
        </p:spPr>
      </p:sp>
      <p:sp>
        <p:nvSpPr>
          <p:cNvPr name="TextBox 5" id="5"/>
          <p:cNvSpPr txBox="true"/>
          <p:nvPr/>
        </p:nvSpPr>
        <p:spPr>
          <a:xfrm rot="0">
            <a:off x="1028700" y="914400"/>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SPI (Schedule Performance Index): Mide la eficiencia del uso del tiempo. Se calcula como:</a:t>
            </a:r>
          </a:p>
          <a:p>
            <a:pPr algn="l">
              <a:lnSpc>
                <a:spcPts val="3996"/>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25249" y="1592571"/>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Interpretación de Resultados del EVM</a:t>
            </a:r>
          </a:p>
          <a:p>
            <a:pPr algn="l">
              <a:lnSpc>
                <a:spcPts val="3996"/>
              </a:lnSpc>
            </a:pPr>
          </a:p>
        </p:txBody>
      </p:sp>
      <p:sp>
        <p:nvSpPr>
          <p:cNvPr name="TextBox 3" id="3"/>
          <p:cNvSpPr txBox="true"/>
          <p:nvPr/>
        </p:nvSpPr>
        <p:spPr>
          <a:xfrm rot="0">
            <a:off x="1155578" y="2874922"/>
            <a:ext cx="13666877" cy="10549710"/>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Ahora que entienden cómo calcular el CPI y el SPI, veamos cómo interpretar estos resultados:</a:t>
            </a:r>
          </a:p>
          <a:p>
            <a:pPr algn="l">
              <a:lnSpc>
                <a:spcPts val="3996"/>
              </a:lnSpc>
            </a:pPr>
            <a:r>
              <a:rPr lang="en-US" sz="2310">
                <a:solidFill>
                  <a:srgbClr val="131416"/>
                </a:solidFill>
                <a:latin typeface="Garet"/>
                <a:ea typeface="Garet"/>
                <a:cs typeface="Garet"/>
                <a:sym typeface="Garet"/>
              </a:rPr>
              <a:t>CPI &gt; 1: Están gastando menos de lo planeado, lo cual es positivo desde el punto de vista del presupuesto.</a:t>
            </a:r>
          </a:p>
          <a:p>
            <a:pPr algn="l">
              <a:lnSpc>
                <a:spcPts val="3996"/>
              </a:lnSpc>
            </a:pPr>
          </a:p>
          <a:p>
            <a:pPr algn="l">
              <a:lnSpc>
                <a:spcPts val="3996"/>
              </a:lnSpc>
            </a:pPr>
            <a:r>
              <a:rPr lang="en-US" sz="2310">
                <a:solidFill>
                  <a:srgbClr val="131416"/>
                </a:solidFill>
                <a:latin typeface="Garet"/>
                <a:ea typeface="Garet"/>
                <a:cs typeface="Garet"/>
                <a:sym typeface="Garet"/>
              </a:rPr>
              <a:t>CPI &lt; 1: Están gastando más de lo previsto, lo cual indica problemas financieros.</a:t>
            </a:r>
          </a:p>
          <a:p>
            <a:pPr algn="l">
              <a:lnSpc>
                <a:spcPts val="3996"/>
              </a:lnSpc>
            </a:pPr>
          </a:p>
          <a:p>
            <a:pPr algn="l">
              <a:lnSpc>
                <a:spcPts val="3996"/>
              </a:lnSpc>
            </a:pPr>
            <a:r>
              <a:rPr lang="en-US" sz="2310">
                <a:solidFill>
                  <a:srgbClr val="131416"/>
                </a:solidFill>
                <a:latin typeface="Garet"/>
                <a:ea typeface="Garet"/>
                <a:cs typeface="Garet"/>
                <a:sym typeface="Garet"/>
              </a:rPr>
              <a:t>SPI &gt; 1: Están completando más trabajo del planificado, lo cual es bueno desde el punto de vista del tiempo.</a:t>
            </a:r>
          </a:p>
          <a:p>
            <a:pPr algn="l">
              <a:lnSpc>
                <a:spcPts val="3996"/>
              </a:lnSpc>
            </a:pPr>
          </a:p>
          <a:p>
            <a:pPr algn="l">
              <a:lnSpc>
                <a:spcPts val="3996"/>
              </a:lnSpc>
            </a:pPr>
            <a:r>
              <a:rPr lang="en-US" sz="2310">
                <a:solidFill>
                  <a:srgbClr val="131416"/>
                </a:solidFill>
                <a:latin typeface="Garet"/>
                <a:ea typeface="Garet"/>
                <a:cs typeface="Garet"/>
                <a:sym typeface="Garet"/>
              </a:rPr>
              <a:t>SPI &lt; 1: El proyecto está retrasado, por lo que deben tomar medidas para acelerar el trabajo o ajustar el cronograma.</a:t>
            </a:r>
          </a:p>
          <a:p>
            <a:pPr algn="l">
              <a:lnSpc>
                <a:spcPts val="3996"/>
              </a:lnSpc>
            </a:pPr>
          </a:p>
          <a:p>
            <a:pPr algn="l">
              <a:lnSpc>
                <a:spcPts val="3996"/>
              </a:lnSpc>
            </a:pPr>
          </a:p>
          <a:p>
            <a:pPr algn="l">
              <a:lnSpc>
                <a:spcPts val="3996"/>
              </a:lnSpc>
            </a:pPr>
          </a:p>
          <a:p>
            <a:pPr algn="l">
              <a:lnSpc>
                <a:spcPts val="3996"/>
              </a:lnSpc>
            </a:pPr>
          </a:p>
          <a:p>
            <a:pPr algn="l">
              <a:lnSpc>
                <a:spcPts val="3996"/>
              </a:lnSpc>
            </a:pPr>
          </a:p>
          <a:p>
            <a:pPr algn="l">
              <a:lnSpc>
                <a:spcPts val="3996"/>
              </a:lnSpc>
            </a:pPr>
          </a:p>
          <a:p>
            <a:pPr algn="l">
              <a:lnSpc>
                <a:spcPts val="3996"/>
              </a:lnSpc>
            </a:pPr>
          </a:p>
          <a:p>
            <a:pPr algn="l">
              <a:lnSpc>
                <a:spcPts val="3996"/>
              </a:lnSpc>
            </a:pPr>
          </a:p>
          <a:p>
            <a:pPr algn="l">
              <a:lnSpc>
                <a:spcPts val="3996"/>
              </a:lnSpc>
            </a:pP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14400"/>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Seguimiento del Desempeño del Proyecto con EVM</a:t>
            </a:r>
          </a:p>
          <a:p>
            <a:pPr algn="l">
              <a:lnSpc>
                <a:spcPts val="3996"/>
              </a:lnSpc>
            </a:pPr>
          </a:p>
        </p:txBody>
      </p:sp>
      <p:sp>
        <p:nvSpPr>
          <p:cNvPr name="TextBox 3" id="3"/>
          <p:cNvSpPr txBox="true"/>
          <p:nvPr/>
        </p:nvSpPr>
        <p:spPr>
          <a:xfrm rot="0">
            <a:off x="2039102" y="3690027"/>
            <a:ext cx="13666877" cy="2984778"/>
          </a:xfrm>
          <a:prstGeom prst="rect">
            <a:avLst/>
          </a:prstGeom>
        </p:spPr>
        <p:txBody>
          <a:bodyPr anchor="t" rtlCol="false" tIns="0" lIns="0" bIns="0" rIns="0">
            <a:spAutoFit/>
          </a:bodyPr>
          <a:lstStyle/>
          <a:p>
            <a:pPr algn="l">
              <a:lnSpc>
                <a:spcPts val="3996"/>
              </a:lnSpc>
            </a:pPr>
            <a:r>
              <a:rPr lang="en-US" sz="2310" b="true">
                <a:solidFill>
                  <a:srgbClr val="131416"/>
                </a:solidFill>
                <a:latin typeface="Garet Bold"/>
                <a:ea typeface="Garet Bold"/>
                <a:cs typeface="Garet Bold"/>
                <a:sym typeface="Garet Bold"/>
              </a:rPr>
              <a:t>El</a:t>
            </a:r>
            <a:r>
              <a:rPr lang="en-US" sz="2310" b="true">
                <a:solidFill>
                  <a:srgbClr val="131416"/>
                </a:solidFill>
                <a:latin typeface="Garet Bold"/>
                <a:ea typeface="Garet Bold"/>
                <a:cs typeface="Garet Bold"/>
                <a:sym typeface="Garet Bold"/>
              </a:rPr>
              <a:t> seguimiento continuo del desempeño usando el método del valor ganado les permite detectar problemas temprano y tomar decisiones correctivas a tiempo. Para ello, deben revisar periódicamente las métricas clave (CPI y SPI) y comparar el desempeño actual con el cronograma y presupuesto iniciales.</a:t>
            </a:r>
          </a:p>
          <a:p>
            <a:pPr algn="l">
              <a:lnSpc>
                <a:spcPts val="3996"/>
              </a:lnSpc>
            </a:pPr>
          </a:p>
          <a:p>
            <a:pPr algn="l">
              <a:lnSpc>
                <a:spcPts val="3996"/>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14400"/>
            <a:ext cx="15950051" cy="1471792"/>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Ejemplo práctico: En un proyecto de desarrollo de software, si el CPI es 0.8 (significa que están gastando de más) y el SPI es 0.9 (significa que están retrasados), podrían:</a:t>
            </a:r>
          </a:p>
          <a:p>
            <a:pPr algn="l">
              <a:lnSpc>
                <a:spcPts val="3996"/>
              </a:lnSpc>
            </a:pPr>
          </a:p>
        </p:txBody>
      </p:sp>
      <p:sp>
        <p:nvSpPr>
          <p:cNvPr name="TextBox 3" id="3"/>
          <p:cNvSpPr txBox="true"/>
          <p:nvPr/>
        </p:nvSpPr>
        <p:spPr>
          <a:xfrm rot="0">
            <a:off x="2039102" y="3690027"/>
            <a:ext cx="13666877" cy="3993436"/>
          </a:xfrm>
          <a:prstGeom prst="rect">
            <a:avLst/>
          </a:prstGeom>
        </p:spPr>
        <p:txBody>
          <a:bodyPr anchor="t" rtlCol="false" tIns="0" lIns="0" bIns="0" rIns="0">
            <a:spAutoFit/>
          </a:bodyPr>
          <a:lstStyle/>
          <a:p>
            <a:pPr algn="l">
              <a:lnSpc>
                <a:spcPts val="3996"/>
              </a:lnSpc>
            </a:pPr>
            <a:r>
              <a:rPr lang="en-US" sz="2310" b="true">
                <a:solidFill>
                  <a:srgbClr val="131416"/>
                </a:solidFill>
                <a:latin typeface="Garet Bold"/>
                <a:ea typeface="Garet Bold"/>
                <a:cs typeface="Garet Bold"/>
                <a:sym typeface="Garet Bold"/>
              </a:rPr>
              <a:t>Revisar las h</a:t>
            </a:r>
            <a:r>
              <a:rPr lang="en-US" sz="2310" b="true">
                <a:solidFill>
                  <a:srgbClr val="131416"/>
                </a:solidFill>
                <a:latin typeface="Garet Bold"/>
                <a:ea typeface="Garet Bold"/>
                <a:cs typeface="Garet Bold"/>
                <a:sym typeface="Garet Bold"/>
              </a:rPr>
              <a:t>oras de trabajo del equipo.</a:t>
            </a:r>
          </a:p>
          <a:p>
            <a:pPr algn="l">
              <a:lnSpc>
                <a:spcPts val="3996"/>
              </a:lnSpc>
            </a:pPr>
          </a:p>
          <a:p>
            <a:pPr algn="l">
              <a:lnSpc>
                <a:spcPts val="3996"/>
              </a:lnSpc>
            </a:pPr>
            <a:r>
              <a:rPr lang="en-US" sz="2310" b="true">
                <a:solidFill>
                  <a:srgbClr val="131416"/>
                </a:solidFill>
                <a:latin typeface="Garet Bold"/>
                <a:ea typeface="Garet Bold"/>
                <a:cs typeface="Garet Bold"/>
                <a:sym typeface="Garet Bold"/>
              </a:rPr>
              <a:t>Redistribuir tareas para optimizar el tiempo.</a:t>
            </a:r>
          </a:p>
          <a:p>
            <a:pPr algn="l">
              <a:lnSpc>
                <a:spcPts val="3996"/>
              </a:lnSpc>
            </a:pPr>
          </a:p>
          <a:p>
            <a:pPr algn="l">
              <a:lnSpc>
                <a:spcPts val="3996"/>
              </a:lnSpc>
            </a:pPr>
            <a:r>
              <a:rPr lang="en-US" sz="2310" b="true">
                <a:solidFill>
                  <a:srgbClr val="131416"/>
                </a:solidFill>
                <a:latin typeface="Garet Bold"/>
                <a:ea typeface="Garet Bold"/>
                <a:cs typeface="Garet Bold"/>
                <a:sym typeface="Garet Bold"/>
              </a:rPr>
              <a:t>Considerar la posibilidad de aumentar los recursos si el presupuesto lo permite.</a:t>
            </a:r>
          </a:p>
          <a:p>
            <a:pPr algn="l">
              <a:lnSpc>
                <a:spcPts val="3996"/>
              </a:lnSpc>
            </a:pPr>
          </a:p>
          <a:p>
            <a:pPr algn="l">
              <a:lnSpc>
                <a:spcPts val="3996"/>
              </a:lnSpc>
            </a:pPr>
          </a:p>
          <a:p>
            <a:pPr algn="l">
              <a:lnSpc>
                <a:spcPts val="3996"/>
              </a:lnSpc>
            </a:pP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14400"/>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Aplicación del Método del Valor Ganado en Proyectos Reales</a:t>
            </a:r>
          </a:p>
          <a:p>
            <a:pPr algn="l">
              <a:lnSpc>
                <a:spcPts val="3996"/>
              </a:lnSpc>
            </a:pPr>
          </a:p>
        </p:txBody>
      </p:sp>
      <p:sp>
        <p:nvSpPr>
          <p:cNvPr name="TextBox 3" id="3"/>
          <p:cNvSpPr txBox="true"/>
          <p:nvPr/>
        </p:nvSpPr>
        <p:spPr>
          <a:xfrm rot="0">
            <a:off x="1934132" y="1940528"/>
            <a:ext cx="13666877" cy="2984778"/>
          </a:xfrm>
          <a:prstGeom prst="rect">
            <a:avLst/>
          </a:prstGeom>
        </p:spPr>
        <p:txBody>
          <a:bodyPr anchor="t" rtlCol="false" tIns="0" lIns="0" bIns="0" rIns="0">
            <a:spAutoFit/>
          </a:bodyPr>
          <a:lstStyle/>
          <a:p>
            <a:pPr algn="l">
              <a:lnSpc>
                <a:spcPts val="3996"/>
              </a:lnSpc>
            </a:pPr>
            <a:r>
              <a:rPr lang="en-US" sz="2310" b="true">
                <a:solidFill>
                  <a:srgbClr val="131416"/>
                </a:solidFill>
                <a:latin typeface="Garet Bold"/>
                <a:ea typeface="Garet Bold"/>
                <a:cs typeface="Garet Bold"/>
                <a:sym typeface="Garet Bold"/>
              </a:rPr>
              <a:t>El EVM es especialment</a:t>
            </a:r>
            <a:r>
              <a:rPr lang="en-US" sz="2310" b="true">
                <a:solidFill>
                  <a:srgbClr val="131416"/>
                </a:solidFill>
                <a:latin typeface="Garet Bold"/>
                <a:ea typeface="Garet Bold"/>
                <a:cs typeface="Garet Bold"/>
                <a:sym typeface="Garet Bold"/>
              </a:rPr>
              <a:t>e útil en proyectos grandes y complejos, como el desarrollo de sistemas de software o proyectos de infraestructura tecnológica. Veamos un ejemplo práctico:</a:t>
            </a:r>
          </a:p>
          <a:p>
            <a:pPr algn="l">
              <a:lnSpc>
                <a:spcPts val="3996"/>
              </a:lnSpc>
            </a:pPr>
          </a:p>
          <a:p>
            <a:pPr algn="l">
              <a:lnSpc>
                <a:spcPts val="3996"/>
              </a:lnSpc>
            </a:pPr>
          </a:p>
          <a:p>
            <a:pPr algn="l">
              <a:lnSpc>
                <a:spcPts val="3996"/>
              </a:lnSpc>
            </a:pPr>
          </a:p>
        </p:txBody>
      </p:sp>
      <p:sp>
        <p:nvSpPr>
          <p:cNvPr name="TextBox 4" id="4"/>
          <p:cNvSpPr txBox="true"/>
          <p:nvPr/>
        </p:nvSpPr>
        <p:spPr>
          <a:xfrm rot="0">
            <a:off x="1028700" y="3957843"/>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Ejemplo Práctico: Proyecto de Desarrollo de Software</a:t>
            </a:r>
          </a:p>
          <a:p>
            <a:pPr algn="l">
              <a:lnSpc>
                <a:spcPts val="3996"/>
              </a:lnSpc>
            </a:pPr>
          </a:p>
        </p:txBody>
      </p:sp>
      <p:sp>
        <p:nvSpPr>
          <p:cNvPr name="TextBox 5" id="5"/>
          <p:cNvSpPr txBox="true"/>
          <p:nvPr/>
        </p:nvSpPr>
        <p:spPr>
          <a:xfrm rot="0">
            <a:off x="1934132" y="5284907"/>
            <a:ext cx="13666877" cy="5002093"/>
          </a:xfrm>
          <a:prstGeom prst="rect">
            <a:avLst/>
          </a:prstGeom>
        </p:spPr>
        <p:txBody>
          <a:bodyPr anchor="t" rtlCol="false" tIns="0" lIns="0" bIns="0" rIns="0">
            <a:spAutoFit/>
          </a:bodyPr>
          <a:lstStyle/>
          <a:p>
            <a:pPr algn="l">
              <a:lnSpc>
                <a:spcPts val="3996"/>
              </a:lnSpc>
            </a:pPr>
            <a:r>
              <a:rPr lang="en-US" sz="2310" b="true">
                <a:solidFill>
                  <a:srgbClr val="131416"/>
                </a:solidFill>
                <a:latin typeface="Garet Bold"/>
                <a:ea typeface="Garet Bold"/>
                <a:cs typeface="Garet Bold"/>
                <a:sym typeface="Garet Bold"/>
              </a:rPr>
              <a:t>Supongan que tienen un proyecto de desarrollo</a:t>
            </a:r>
            <a:r>
              <a:rPr lang="en-US" sz="2310" b="true">
                <a:solidFill>
                  <a:srgbClr val="131416"/>
                </a:solidFill>
                <a:latin typeface="Garet Bold"/>
                <a:ea typeface="Garet Bold"/>
                <a:cs typeface="Garet Bold"/>
                <a:sym typeface="Garet Bold"/>
              </a:rPr>
              <a:t> de una aplicación web para una empresa y han estimado el costo total en $100,000 para ser completado en 6 meses. A mitad de camino (3 meses), tienen los siguientes datos:</a:t>
            </a:r>
          </a:p>
          <a:p>
            <a:pPr algn="l">
              <a:lnSpc>
                <a:spcPts val="3996"/>
              </a:lnSpc>
            </a:pPr>
          </a:p>
          <a:p>
            <a:pPr algn="l" marL="498755" indent="-249378" lvl="1">
              <a:lnSpc>
                <a:spcPts val="3996"/>
              </a:lnSpc>
              <a:buFont typeface="Arial"/>
              <a:buChar char="•"/>
            </a:pPr>
            <a:r>
              <a:rPr lang="en-US" b="true" sz="2310">
                <a:solidFill>
                  <a:srgbClr val="131416"/>
                </a:solidFill>
                <a:latin typeface="Garet Bold"/>
                <a:ea typeface="Garet Bold"/>
                <a:cs typeface="Garet Bold"/>
                <a:sym typeface="Garet Bold"/>
              </a:rPr>
              <a:t>PV (Valor Planificado): $50,000 (porque planeaban haber completado el 50% del trabajo).</a:t>
            </a:r>
          </a:p>
          <a:p>
            <a:pPr algn="l" marL="498755" indent="-249378" lvl="1">
              <a:lnSpc>
                <a:spcPts val="3996"/>
              </a:lnSpc>
              <a:buFont typeface="Arial"/>
              <a:buChar char="•"/>
            </a:pPr>
            <a:r>
              <a:rPr lang="en-US" b="true" sz="2310">
                <a:solidFill>
                  <a:srgbClr val="131416"/>
                </a:solidFill>
                <a:latin typeface="Garet Bold"/>
                <a:ea typeface="Garet Bold"/>
                <a:cs typeface="Garet Bold"/>
                <a:sym typeface="Garet Bold"/>
              </a:rPr>
              <a:t>EV (Valor Ganado): $40,000 (solo han completado el 40% del trabajo).</a:t>
            </a:r>
          </a:p>
          <a:p>
            <a:pPr algn="l" marL="498755" indent="-249378" lvl="1">
              <a:lnSpc>
                <a:spcPts val="3996"/>
              </a:lnSpc>
              <a:buFont typeface="Arial"/>
              <a:buChar char="•"/>
            </a:pPr>
            <a:r>
              <a:rPr lang="en-US" b="true" sz="2310">
                <a:solidFill>
                  <a:srgbClr val="131416"/>
                </a:solidFill>
                <a:latin typeface="Garet Bold"/>
                <a:ea typeface="Garet Bold"/>
                <a:cs typeface="Garet Bold"/>
                <a:sym typeface="Garet Bold"/>
              </a:rPr>
              <a:t>AC (Costo Real): $60,000 (ya han gastado más de lo planeado).</a:t>
            </a:r>
          </a:p>
          <a:p>
            <a:pPr algn="l">
              <a:lnSpc>
                <a:spcPts val="3996"/>
              </a:lnSpc>
            </a:pPr>
          </a:p>
          <a:p>
            <a:pPr algn="l">
              <a:lnSpc>
                <a:spcPts val="3996"/>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29722" y="1770191"/>
            <a:ext cx="7219615" cy="3969589"/>
          </a:xfrm>
          <a:custGeom>
            <a:avLst/>
            <a:gdLst/>
            <a:ahLst/>
            <a:cxnLst/>
            <a:rect r="r" b="b" t="t" l="l"/>
            <a:pathLst>
              <a:path h="3969589" w="7219615">
                <a:moveTo>
                  <a:pt x="0" y="0"/>
                </a:moveTo>
                <a:lnTo>
                  <a:pt x="7219615" y="0"/>
                </a:lnTo>
                <a:lnTo>
                  <a:pt x="7219615" y="3969589"/>
                </a:lnTo>
                <a:lnTo>
                  <a:pt x="0" y="3969589"/>
                </a:lnTo>
                <a:lnTo>
                  <a:pt x="0" y="0"/>
                </a:lnTo>
                <a:close/>
              </a:path>
            </a:pathLst>
          </a:custGeom>
          <a:blipFill>
            <a:blip r:embed="rId2"/>
            <a:stretch>
              <a:fillRect l="0" t="0" r="0" b="0"/>
            </a:stretch>
          </a:blipFill>
        </p:spPr>
      </p:sp>
      <p:sp>
        <p:nvSpPr>
          <p:cNvPr name="TextBox 3" id="3"/>
          <p:cNvSpPr txBox="true"/>
          <p:nvPr/>
        </p:nvSpPr>
        <p:spPr>
          <a:xfrm rot="0">
            <a:off x="1028700" y="914400"/>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Cálculo de CPI y SPI</a:t>
            </a:r>
          </a:p>
          <a:p>
            <a:pPr algn="l">
              <a:lnSpc>
                <a:spcPts val="3996"/>
              </a:lnSpc>
            </a:pPr>
          </a:p>
        </p:txBody>
      </p:sp>
      <p:sp>
        <p:nvSpPr>
          <p:cNvPr name="TextBox 4" id="4"/>
          <p:cNvSpPr txBox="true"/>
          <p:nvPr/>
        </p:nvSpPr>
        <p:spPr>
          <a:xfrm rot="0">
            <a:off x="1881647" y="6439576"/>
            <a:ext cx="13666877" cy="2480450"/>
          </a:xfrm>
          <a:prstGeom prst="rect">
            <a:avLst/>
          </a:prstGeom>
        </p:spPr>
        <p:txBody>
          <a:bodyPr anchor="t" rtlCol="false" tIns="0" lIns="0" bIns="0" rIns="0">
            <a:spAutoFit/>
          </a:bodyPr>
          <a:lstStyle/>
          <a:p>
            <a:pPr algn="l">
              <a:lnSpc>
                <a:spcPts val="3996"/>
              </a:lnSpc>
            </a:pPr>
            <a:r>
              <a:rPr lang="en-US" sz="2310" b="true">
                <a:solidFill>
                  <a:srgbClr val="131416"/>
                </a:solidFill>
                <a:latin typeface="Garet Bold"/>
                <a:ea typeface="Garet Bold"/>
                <a:cs typeface="Garet Bold"/>
                <a:sym typeface="Garet Bold"/>
              </a:rPr>
              <a:t>Interpretación: En este punto del proyecto, no solo</a:t>
            </a:r>
            <a:r>
              <a:rPr lang="en-US" sz="2310" b="true">
                <a:solidFill>
                  <a:srgbClr val="131416"/>
                </a:solidFill>
                <a:latin typeface="Garet Bold"/>
                <a:ea typeface="Garet Bold"/>
                <a:cs typeface="Garet Bold"/>
                <a:sym typeface="Garet Bold"/>
              </a:rPr>
              <a:t> están por encima del presupuesto, sino que también están retrasados. Necesitarán una replanificación del cronograma o asignar más recursos para cumplir con el plazo.</a:t>
            </a:r>
          </a:p>
          <a:p>
            <a:pPr algn="l">
              <a:lnSpc>
                <a:spcPts val="3996"/>
              </a:lnSpc>
            </a:pPr>
          </a:p>
          <a:p>
            <a:pPr algn="l">
              <a:lnSpc>
                <a:spcPts val="3996"/>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914400"/>
            <a:ext cx="15950051" cy="967463"/>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Conclusión</a:t>
            </a:r>
          </a:p>
          <a:p>
            <a:pPr algn="l">
              <a:lnSpc>
                <a:spcPts val="3996"/>
              </a:lnSpc>
            </a:pPr>
          </a:p>
        </p:txBody>
      </p:sp>
      <p:sp>
        <p:nvSpPr>
          <p:cNvPr name="TextBox 3" id="3"/>
          <p:cNvSpPr txBox="true"/>
          <p:nvPr/>
        </p:nvSpPr>
        <p:spPr>
          <a:xfrm rot="0">
            <a:off x="1814341" y="2502350"/>
            <a:ext cx="13666877" cy="5506422"/>
          </a:xfrm>
          <a:prstGeom prst="rect">
            <a:avLst/>
          </a:prstGeom>
        </p:spPr>
        <p:txBody>
          <a:bodyPr anchor="t" rtlCol="false" tIns="0" lIns="0" bIns="0" rIns="0">
            <a:spAutoFit/>
          </a:bodyPr>
          <a:lstStyle/>
          <a:p>
            <a:pPr algn="l">
              <a:lnSpc>
                <a:spcPts val="3996"/>
              </a:lnSpc>
            </a:pPr>
            <a:r>
              <a:rPr lang="en-US" sz="2310">
                <a:solidFill>
                  <a:srgbClr val="131416"/>
                </a:solidFill>
                <a:latin typeface="Garet"/>
                <a:ea typeface="Garet"/>
                <a:cs typeface="Garet"/>
                <a:sym typeface="Garet"/>
              </a:rPr>
              <a:t>El método del valor ganado (EVM) es una herramienta poderosa que les permite tener un control total sobre el presupuesto y el cronograma del proyecto. Al entender y aplicar correctamente el PV, EV, AC y las métricas CPI y SPI, podrán tomar decisiones basadas en datos reales y evitar sorpresas a medida que avanza el proyecto.</a:t>
            </a:r>
          </a:p>
          <a:p>
            <a:pPr algn="l">
              <a:lnSpc>
                <a:spcPts val="3996"/>
              </a:lnSpc>
            </a:pPr>
          </a:p>
          <a:p>
            <a:pPr algn="l">
              <a:lnSpc>
                <a:spcPts val="3996"/>
              </a:lnSpc>
            </a:pPr>
            <a:r>
              <a:rPr lang="en-US" sz="2310">
                <a:solidFill>
                  <a:srgbClr val="131416"/>
                </a:solidFill>
                <a:latin typeface="Garet"/>
                <a:ea typeface="Garet"/>
                <a:cs typeface="Garet"/>
                <a:sym typeface="Garet"/>
              </a:rPr>
              <a:t>Como futuros ingenieros de sistemas, es crucial que dominen estas técnicas para gestionar proyectos de manera más eficiente y profesional. Si alguna vez están a cargo de un gran proyecto, EVM les dará las herramientas para asegurarse de que todo esté en orden, tanto en tiempo como en costo.</a:t>
            </a:r>
          </a:p>
          <a:p>
            <a:pPr algn="l">
              <a:lnSpc>
                <a:spcPts val="3996"/>
              </a:lnSpc>
            </a:pPr>
          </a:p>
          <a:p>
            <a:pPr algn="l">
              <a:lnSpc>
                <a:spcPts val="3996"/>
              </a:lnSpc>
            </a:pP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2052066"/>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NOMBRE DEL VALOR Y/O ACTITUD</a:t>
            </a:r>
          </a:p>
        </p:txBody>
      </p:sp>
      <p:sp>
        <p:nvSpPr>
          <p:cNvPr name="TextBox 3" id="3"/>
          <p:cNvSpPr txBox="true"/>
          <p:nvPr/>
        </p:nvSpPr>
        <p:spPr>
          <a:xfrm rot="0">
            <a:off x="1871436" y="5019675"/>
            <a:ext cx="14775224" cy="1144522"/>
          </a:xfrm>
          <a:prstGeom prst="rect">
            <a:avLst/>
          </a:prstGeom>
        </p:spPr>
        <p:txBody>
          <a:bodyPr anchor="t" rtlCol="false" tIns="0" lIns="0" bIns="0" rIns="0">
            <a:spAutoFit/>
          </a:bodyPr>
          <a:lstStyle/>
          <a:p>
            <a:pPr algn="ctr">
              <a:lnSpc>
                <a:spcPts val="9432"/>
              </a:lnSpc>
            </a:pPr>
            <a:r>
              <a:rPr lang="en-US" sz="6737">
                <a:solidFill>
                  <a:srgbClr val="131416"/>
                </a:solidFill>
                <a:latin typeface="Garet"/>
                <a:ea typeface="Garet"/>
                <a:cs typeface="Garet"/>
                <a:sym typeface="Garet"/>
              </a:rPr>
              <a:t>Comunicación clara y ética</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0991"/>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name="TextBox 3" id="3"/>
          <p:cNvSpPr txBox="true"/>
          <p:nvPr/>
        </p:nvSpPr>
        <p:spPr>
          <a:xfrm rot="0">
            <a:off x="3113305" y="3145310"/>
            <a:ext cx="13737320" cy="4406224"/>
          </a:xfrm>
          <a:prstGeom prst="rect">
            <a:avLst/>
          </a:prstGeom>
        </p:spPr>
        <p:txBody>
          <a:bodyPr anchor="t" rtlCol="false" tIns="0" lIns="0" bIns="0" rIns="0">
            <a:spAutoFit/>
          </a:bodyPr>
          <a:lstStyle/>
          <a:p>
            <a:pPr algn="just">
              <a:lnSpc>
                <a:spcPts val="4412"/>
              </a:lnSpc>
            </a:pPr>
            <a:r>
              <a:rPr lang="en-US" sz="3151">
                <a:solidFill>
                  <a:srgbClr val="131416"/>
                </a:solidFill>
                <a:latin typeface="Garet"/>
                <a:ea typeface="Garet"/>
                <a:cs typeface="Garet"/>
                <a:sym typeface="Garet"/>
              </a:rPr>
              <a:t>PMBOK® Guide – Sixth Edition. Project Management Institute (PMI).</a:t>
            </a:r>
          </a:p>
          <a:p>
            <a:pPr algn="just">
              <a:lnSpc>
                <a:spcPts val="4412"/>
              </a:lnSpc>
            </a:pPr>
          </a:p>
          <a:p>
            <a:pPr algn="just">
              <a:lnSpc>
                <a:spcPts val="4412"/>
              </a:lnSpc>
            </a:pPr>
            <a:r>
              <a:rPr lang="en-US" sz="3151">
                <a:solidFill>
                  <a:srgbClr val="131416"/>
                </a:solidFill>
                <a:latin typeface="Garet"/>
                <a:ea typeface="Garet"/>
                <a:cs typeface="Garet"/>
                <a:sym typeface="Garet"/>
              </a:rPr>
              <a:t>Kerzner, H. (2017). Project Management: A Systems Approach to Planning, Scheduling, and Controlling.</a:t>
            </a:r>
          </a:p>
          <a:p>
            <a:pPr algn="just">
              <a:lnSpc>
                <a:spcPts val="4412"/>
              </a:lnSpc>
            </a:pPr>
          </a:p>
          <a:p>
            <a:pPr algn="just">
              <a:lnSpc>
                <a:spcPts val="4412"/>
              </a:lnSpc>
            </a:pPr>
            <a:r>
              <a:rPr lang="en-US" sz="3151">
                <a:solidFill>
                  <a:srgbClr val="131416"/>
                </a:solidFill>
                <a:latin typeface="Garet"/>
                <a:ea typeface="Garet"/>
                <a:cs typeface="Garet"/>
                <a:sym typeface="Garet"/>
              </a:rPr>
              <a:t>https://www.scrum.org/</a:t>
            </a:r>
          </a:p>
          <a:p>
            <a:pPr algn="just">
              <a:lnSpc>
                <a:spcPts val="4412"/>
              </a:lnSpc>
            </a:pPr>
          </a:p>
          <a:p>
            <a:pPr algn="just">
              <a:lnSpc>
                <a:spcPts val="4412"/>
              </a:lnSpc>
            </a:pPr>
            <a:r>
              <a:rPr lang="en-US" sz="3151">
                <a:solidFill>
                  <a:srgbClr val="131416"/>
                </a:solidFill>
                <a:latin typeface="Garet"/>
                <a:ea typeface="Garet"/>
                <a:cs typeface="Garet"/>
                <a:sym typeface="Garet"/>
              </a:rPr>
              <a:t>https://www.tutorialspoint.com/project_management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DAGoj0vHXeI</dc:identifier>
  <dcterms:modified xsi:type="dcterms:W3CDTF">2011-08-01T06:04:30Z</dcterms:modified>
  <cp:revision>1</cp:revision>
  <dc:title>Método del valor ganado - Presentación</dc:title>
</cp:coreProperties>
</file>