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y="10287000" cx="18288000"/>
  <p:notesSz cx="6858000" cy="9144000"/>
  <p:embeddedFontLst>
    <p:embeddedFont>
      <p:font typeface="Arimo"/>
      <p:bold r:id="rId36"/>
      <p:boldItalic r:id="rId37"/>
    </p:embeddedFont>
    <p:embeddedFont>
      <p:font typeface="Poppins"/>
      <p:bold r:id="rId38"/>
      <p:boldItalic r:id="rId39"/>
    </p:embeddedFont>
    <p:embeddedFont>
      <p:font typeface="Poppins Light"/>
      <p:regular r:id="rId40"/>
      <p:bold r:id="rId41"/>
      <p:italic r:id="rId42"/>
      <p:boldItalic r:id="rId43"/>
    </p:embeddedFont>
    <p:embeddedFont>
      <p:font typeface="Poppins Medium"/>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8" roundtripDataSignature="AMtx7mhoVm2pLuKRxpl3hifTWoH3DDyQc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07D5ABC-BFDB-4CEC-9B5E-43DBB5E1956A}">
  <a:tblStyle styleId="{E07D5ABC-BFDB-4CEC-9B5E-43DBB5E1956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Light-regular.fntdata"/><Relationship Id="rId20" Type="http://schemas.openxmlformats.org/officeDocument/2006/relationships/slide" Target="slides/slide14.xml"/><Relationship Id="rId42" Type="http://schemas.openxmlformats.org/officeDocument/2006/relationships/font" Target="fonts/PoppinsLight-italic.fntdata"/><Relationship Id="rId41" Type="http://schemas.openxmlformats.org/officeDocument/2006/relationships/font" Target="fonts/PoppinsLight-bold.fntdata"/><Relationship Id="rId22" Type="http://schemas.openxmlformats.org/officeDocument/2006/relationships/slide" Target="slides/slide16.xml"/><Relationship Id="rId44" Type="http://schemas.openxmlformats.org/officeDocument/2006/relationships/font" Target="fonts/PoppinsMedium-regular.fntdata"/><Relationship Id="rId21" Type="http://schemas.openxmlformats.org/officeDocument/2006/relationships/slide" Target="slides/slide15.xml"/><Relationship Id="rId43" Type="http://schemas.openxmlformats.org/officeDocument/2006/relationships/font" Target="fonts/PoppinsLight-boldItalic.fntdata"/><Relationship Id="rId24" Type="http://schemas.openxmlformats.org/officeDocument/2006/relationships/slide" Target="slides/slide18.xml"/><Relationship Id="rId46" Type="http://schemas.openxmlformats.org/officeDocument/2006/relationships/font" Target="fonts/PoppinsMedium-italic.fntdata"/><Relationship Id="rId23" Type="http://schemas.openxmlformats.org/officeDocument/2006/relationships/slide" Target="slides/slide17.xml"/><Relationship Id="rId45" Type="http://schemas.openxmlformats.org/officeDocument/2006/relationships/font" Target="fonts/PoppinsMedium-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48" Type="http://customschemas.google.com/relationships/presentationmetadata" Target="metadata"/><Relationship Id="rId25" Type="http://schemas.openxmlformats.org/officeDocument/2006/relationships/slide" Target="slides/slide19.xml"/><Relationship Id="rId47" Type="http://schemas.openxmlformats.org/officeDocument/2006/relationships/font" Target="fonts/PoppinsMedium-boldItalic.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Arimo-boldItalic.fntdata"/><Relationship Id="rId14" Type="http://schemas.openxmlformats.org/officeDocument/2006/relationships/slide" Target="slides/slide8.xml"/><Relationship Id="rId36" Type="http://schemas.openxmlformats.org/officeDocument/2006/relationships/font" Target="fonts/Arimo-bold.fntdata"/><Relationship Id="rId17" Type="http://schemas.openxmlformats.org/officeDocument/2006/relationships/slide" Target="slides/slide11.xml"/><Relationship Id="rId39" Type="http://schemas.openxmlformats.org/officeDocument/2006/relationships/font" Target="fonts/Poppins-boldItalic.fntdata"/><Relationship Id="rId16" Type="http://schemas.openxmlformats.org/officeDocument/2006/relationships/slide" Target="slides/slide10.xml"/><Relationship Id="rId38" Type="http://schemas.openxmlformats.org/officeDocument/2006/relationships/font" Target="fonts/Poppins-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3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9"/>
          <p:cNvSpPr/>
          <p:nvPr>
            <p:ph idx="2" type="pic"/>
          </p:nvPr>
        </p:nvSpPr>
        <p:spPr>
          <a:xfrm>
            <a:off x="1792288" y="612775"/>
            <a:ext cx="5486400" cy="4114800"/>
          </a:xfrm>
          <a:prstGeom prst="rect">
            <a:avLst/>
          </a:prstGeom>
          <a:noFill/>
          <a:ln>
            <a:noFill/>
          </a:ln>
        </p:spPr>
      </p:sp>
      <p:sp>
        <p:nvSpPr>
          <p:cNvPr id="64" name="Google Shape;64;p3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4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0" y="2"/>
            <a:ext cx="18288000" cy="10286998"/>
          </a:xfrm>
          <a:custGeom>
            <a:rect b="b" l="l" r="r" t="t"/>
            <a:pathLst>
              <a:path extrusionOk="0" h="10286998" w="18288000">
                <a:moveTo>
                  <a:pt x="0" y="0"/>
                </a:moveTo>
                <a:lnTo>
                  <a:pt x="18288000" y="0"/>
                </a:lnTo>
                <a:lnTo>
                  <a:pt x="18288000" y="10286998"/>
                </a:lnTo>
                <a:lnTo>
                  <a:pt x="0" y="10286998"/>
                </a:lnTo>
                <a:lnTo>
                  <a:pt x="0" y="0"/>
                </a:lnTo>
                <a:close/>
              </a:path>
            </a:pathLst>
          </a:custGeom>
          <a:blipFill rotWithShape="1">
            <a:blip r:embed="rId3">
              <a:alphaModFix/>
            </a:blip>
            <a:stretch>
              <a:fillRect b="-90" l="0" r="0" t="-91"/>
            </a:stretch>
          </a:blipFill>
          <a:ln>
            <a:noFill/>
          </a:ln>
        </p:spPr>
      </p:sp>
      <p:graphicFrame>
        <p:nvGraphicFramePr>
          <p:cNvPr id="85" name="Google Shape;85;p1"/>
          <p:cNvGraphicFramePr/>
          <p:nvPr/>
        </p:nvGraphicFramePr>
        <p:xfrm>
          <a:off x="10656400" y="1940050"/>
          <a:ext cx="3000000" cy="3000000"/>
        </p:xfrm>
        <a:graphic>
          <a:graphicData uri="http://schemas.openxmlformats.org/drawingml/2006/table">
            <a:tbl>
              <a:tblPr>
                <a:noFill/>
                <a:tableStyleId>{E07D5ABC-BFDB-4CEC-9B5E-43DBB5E1956A}</a:tableStyleId>
              </a:tblPr>
              <a:tblGrid>
                <a:gridCol w="3030175"/>
                <a:gridCol w="4335825"/>
              </a:tblGrid>
              <a:tr h="1379925">
                <a:tc>
                  <a:txBody>
                    <a:bodyPr/>
                    <a:lstStyle/>
                    <a:p>
                      <a:pPr indent="0" lvl="0" marL="0" marR="0" rtl="0" algn="ctr">
                        <a:lnSpc>
                          <a:spcPct val="120000"/>
                        </a:lnSpc>
                        <a:spcBef>
                          <a:spcPts val="0"/>
                        </a:spcBef>
                        <a:spcAft>
                          <a:spcPts val="0"/>
                        </a:spcAft>
                        <a:buNone/>
                      </a:pPr>
                      <a:r>
                        <a:rPr b="1" lang="en-US" sz="2840" u="none" cap="none" strike="noStrike">
                          <a:solidFill>
                            <a:srgbClr val="000000"/>
                          </a:solidFill>
                          <a:latin typeface="Arial"/>
                          <a:ea typeface="Arial"/>
                          <a:cs typeface="Arial"/>
                          <a:sym typeface="Arial"/>
                        </a:rPr>
                        <a:t>Día, Fecha:</a:t>
                      </a:r>
                      <a:endParaRPr sz="1100" u="none" cap="none" strike="noStrike"/>
                    </a:p>
                  </a:txBody>
                  <a:tcPr marT="91425" marB="91425" marR="91425" marL="914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b="1" lang="en-US" sz="3000">
                          <a:latin typeface="Arimo"/>
                          <a:ea typeface="Arimo"/>
                          <a:cs typeface="Arimo"/>
                          <a:sym typeface="Arimo"/>
                        </a:rPr>
                        <a:t>Sábado</a:t>
                      </a:r>
                      <a:endParaRPr sz="1100" u="none" cap="none" strike="noStrike"/>
                    </a:p>
                    <a:p>
                      <a:pPr indent="0" lvl="0" marL="0" marR="0" rtl="0" algn="ctr">
                        <a:lnSpc>
                          <a:spcPct val="140000"/>
                        </a:lnSpc>
                        <a:spcBef>
                          <a:spcPts val="0"/>
                        </a:spcBef>
                        <a:spcAft>
                          <a:spcPts val="0"/>
                        </a:spcAft>
                        <a:buNone/>
                      </a:pPr>
                      <a:r>
                        <a:rPr b="1" lang="en-US" sz="3000" u="none" cap="none" strike="noStrike">
                          <a:solidFill>
                            <a:srgbClr val="000000"/>
                          </a:solidFill>
                          <a:latin typeface="Arimo"/>
                          <a:ea typeface="Arimo"/>
                          <a:cs typeface="Arimo"/>
                          <a:sym typeface="Arimo"/>
                        </a:rPr>
                        <a:t>00 / 00 / 2025</a:t>
                      </a:r>
                      <a:endParaRPr/>
                    </a:p>
                  </a:txBody>
                  <a:tcPr marT="91425" marB="91425" marR="91425" marL="914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829875">
                <a:tc>
                  <a:txBody>
                    <a:bodyPr/>
                    <a:lstStyle/>
                    <a:p>
                      <a:pPr indent="0" lvl="0" marL="0" marR="0" rtl="0" algn="ctr">
                        <a:lnSpc>
                          <a:spcPct val="120000"/>
                        </a:lnSpc>
                        <a:spcBef>
                          <a:spcPts val="0"/>
                        </a:spcBef>
                        <a:spcAft>
                          <a:spcPts val="0"/>
                        </a:spcAft>
                        <a:buNone/>
                      </a:pPr>
                      <a:r>
                        <a:rPr b="1" lang="en-US" sz="2840" u="none" cap="none" strike="noStrike">
                          <a:solidFill>
                            <a:srgbClr val="000000"/>
                          </a:solidFill>
                          <a:latin typeface="Arial"/>
                          <a:ea typeface="Arial"/>
                          <a:cs typeface="Arial"/>
                          <a:sym typeface="Arial"/>
                        </a:rPr>
                        <a:t>Hora de inicio:</a:t>
                      </a:r>
                      <a:endParaRPr sz="1100" u="none" cap="none" strike="noStrike"/>
                    </a:p>
                  </a:txBody>
                  <a:tcPr marT="91425" marB="91425" marR="91425" marL="914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marR="0" rtl="0" algn="ctr">
                        <a:lnSpc>
                          <a:spcPct val="140013"/>
                        </a:lnSpc>
                        <a:spcBef>
                          <a:spcPts val="0"/>
                        </a:spcBef>
                        <a:spcAft>
                          <a:spcPts val="0"/>
                        </a:spcAft>
                        <a:buNone/>
                      </a:pPr>
                      <a:r>
                        <a:rPr b="1" lang="en-US" sz="2999">
                          <a:latin typeface="Arimo"/>
                          <a:ea typeface="Arimo"/>
                          <a:cs typeface="Arimo"/>
                          <a:sym typeface="Arimo"/>
                        </a:rPr>
                        <a:t>00</a:t>
                      </a:r>
                      <a:r>
                        <a:rPr b="1" lang="en-US" sz="2999" u="none" cap="none" strike="noStrike">
                          <a:solidFill>
                            <a:srgbClr val="000000"/>
                          </a:solidFill>
                          <a:latin typeface="Arimo"/>
                          <a:ea typeface="Arimo"/>
                          <a:cs typeface="Arimo"/>
                          <a:sym typeface="Arimo"/>
                        </a:rPr>
                        <a:t>:</a:t>
                      </a:r>
                      <a:r>
                        <a:rPr b="1" lang="en-US" sz="2999">
                          <a:latin typeface="Arimo"/>
                          <a:ea typeface="Arimo"/>
                          <a:cs typeface="Arimo"/>
                          <a:sym typeface="Arimo"/>
                        </a:rPr>
                        <a:t>0</a:t>
                      </a:r>
                      <a:r>
                        <a:rPr b="1" lang="en-US" sz="2999" u="none" cap="none" strike="noStrike">
                          <a:solidFill>
                            <a:srgbClr val="000000"/>
                          </a:solidFill>
                          <a:latin typeface="Arimo"/>
                          <a:ea typeface="Arimo"/>
                          <a:cs typeface="Arimo"/>
                          <a:sym typeface="Arimo"/>
                        </a:rPr>
                        <a:t>0</a:t>
                      </a:r>
                      <a:endParaRPr sz="1100" u="none" cap="none" strike="noStrike"/>
                    </a:p>
                  </a:txBody>
                  <a:tcPr marT="91425" marB="91425" marR="91425" marL="91425" anchor="ctr">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bl>
          </a:graphicData>
        </a:graphic>
      </p:graphicFrame>
      <p:sp>
        <p:nvSpPr>
          <p:cNvPr id="86" name="Google Shape;86;p1"/>
          <p:cNvSpPr txBox="1"/>
          <p:nvPr/>
        </p:nvSpPr>
        <p:spPr>
          <a:xfrm>
            <a:off x="2971775" y="4512775"/>
            <a:ext cx="13401300" cy="769500"/>
          </a:xfrm>
          <a:prstGeom prst="rect">
            <a:avLst/>
          </a:prstGeom>
          <a:noFill/>
          <a:ln>
            <a:noFill/>
          </a:ln>
        </p:spPr>
        <p:txBody>
          <a:bodyPr anchorCtr="0" anchor="t" bIns="0" lIns="0" spcFirstLastPara="1" rIns="0" wrap="square" tIns="0">
            <a:spAutoFit/>
          </a:bodyPr>
          <a:lstStyle/>
          <a:p>
            <a:pPr indent="0" lvl="0" marL="0" marR="0" rtl="0" algn="l">
              <a:lnSpc>
                <a:spcPct val="120004"/>
              </a:lnSpc>
              <a:spcBef>
                <a:spcPts val="0"/>
              </a:spcBef>
              <a:spcAft>
                <a:spcPts val="0"/>
              </a:spcAft>
              <a:buNone/>
            </a:pPr>
            <a:r>
              <a:rPr b="1" i="0" lang="en-US" sz="4999" u="none" cap="none" strike="noStrike">
                <a:solidFill>
                  <a:srgbClr val="000000"/>
                </a:solidFill>
                <a:latin typeface="Arial"/>
                <a:ea typeface="Arial"/>
                <a:cs typeface="Arial"/>
                <a:sym typeface="Arial"/>
              </a:rPr>
              <a:t>Modelación y Simulación 2 </a:t>
            </a:r>
            <a:r>
              <a:rPr b="1" lang="en-US" sz="4999"/>
              <a:t>Sección #</a:t>
            </a:r>
            <a:endParaRPr/>
          </a:p>
        </p:txBody>
      </p:sp>
      <p:sp>
        <p:nvSpPr>
          <p:cNvPr id="87" name="Google Shape;87;p1"/>
          <p:cNvSpPr txBox="1"/>
          <p:nvPr/>
        </p:nvSpPr>
        <p:spPr>
          <a:xfrm>
            <a:off x="2971775" y="5661100"/>
            <a:ext cx="10990500" cy="615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4000"/>
              <a:t>Nombre del auxiliar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91" name="Shape 91"/>
        <p:cNvGrpSpPr/>
        <p:nvPr/>
      </p:nvGrpSpPr>
      <p:grpSpPr>
        <a:xfrm>
          <a:off x="0" y="0"/>
          <a:ext cx="0" cy="0"/>
          <a:chOff x="0" y="0"/>
          <a:chExt cx="0" cy="0"/>
        </a:xfrm>
      </p:grpSpPr>
      <p:cxnSp>
        <p:nvCxnSpPr>
          <p:cNvPr id="92" name="Google Shape;92;p2"/>
          <p:cNvCxnSpPr/>
          <p:nvPr/>
        </p:nvCxnSpPr>
        <p:spPr>
          <a:xfrm>
            <a:off x="10330503" y="2392553"/>
            <a:ext cx="6492240" cy="0"/>
          </a:xfrm>
          <a:prstGeom prst="straightConnector1">
            <a:avLst/>
          </a:prstGeom>
          <a:noFill/>
          <a:ln cap="flat" cmpd="sng" w="38100">
            <a:solidFill>
              <a:srgbClr val="00C4CC"/>
            </a:solidFill>
            <a:prstDash val="solid"/>
            <a:round/>
            <a:headEnd len="sm" w="sm" type="none"/>
            <a:tailEnd len="sm" w="sm" type="none"/>
          </a:ln>
        </p:spPr>
      </p:cxnSp>
      <p:cxnSp>
        <p:nvCxnSpPr>
          <p:cNvPr id="93" name="Google Shape;93;p2"/>
          <p:cNvCxnSpPr/>
          <p:nvPr/>
        </p:nvCxnSpPr>
        <p:spPr>
          <a:xfrm>
            <a:off x="10330503" y="3334116"/>
            <a:ext cx="6492240" cy="0"/>
          </a:xfrm>
          <a:prstGeom prst="straightConnector1">
            <a:avLst/>
          </a:prstGeom>
          <a:noFill/>
          <a:ln cap="flat" cmpd="sng" w="38100">
            <a:solidFill>
              <a:srgbClr val="00C4CC"/>
            </a:solidFill>
            <a:prstDash val="solid"/>
            <a:round/>
            <a:headEnd len="sm" w="sm" type="none"/>
            <a:tailEnd len="sm" w="sm" type="none"/>
          </a:ln>
        </p:spPr>
      </p:cxnSp>
      <p:cxnSp>
        <p:nvCxnSpPr>
          <p:cNvPr id="94" name="Google Shape;94;p2"/>
          <p:cNvCxnSpPr/>
          <p:nvPr/>
        </p:nvCxnSpPr>
        <p:spPr>
          <a:xfrm>
            <a:off x="10330503" y="4264278"/>
            <a:ext cx="6492240" cy="0"/>
          </a:xfrm>
          <a:prstGeom prst="straightConnector1">
            <a:avLst/>
          </a:prstGeom>
          <a:noFill/>
          <a:ln cap="flat" cmpd="sng" w="38100">
            <a:solidFill>
              <a:srgbClr val="00C4CC"/>
            </a:solidFill>
            <a:prstDash val="solid"/>
            <a:round/>
            <a:headEnd len="sm" w="sm" type="none"/>
            <a:tailEnd len="sm" w="sm" type="none"/>
          </a:ln>
        </p:spPr>
      </p:cxnSp>
      <p:cxnSp>
        <p:nvCxnSpPr>
          <p:cNvPr id="95" name="Google Shape;95;p2"/>
          <p:cNvCxnSpPr/>
          <p:nvPr/>
        </p:nvCxnSpPr>
        <p:spPr>
          <a:xfrm>
            <a:off x="10330503" y="5217279"/>
            <a:ext cx="6492240" cy="0"/>
          </a:xfrm>
          <a:prstGeom prst="straightConnector1">
            <a:avLst/>
          </a:prstGeom>
          <a:noFill/>
          <a:ln cap="flat" cmpd="sng" w="38100">
            <a:solidFill>
              <a:srgbClr val="00C4CC"/>
            </a:solidFill>
            <a:prstDash val="solid"/>
            <a:round/>
            <a:headEnd len="sm" w="sm" type="none"/>
            <a:tailEnd len="sm" w="sm" type="none"/>
          </a:ln>
        </p:spPr>
      </p:cxnSp>
      <p:cxnSp>
        <p:nvCxnSpPr>
          <p:cNvPr id="96" name="Google Shape;96;p2"/>
          <p:cNvCxnSpPr/>
          <p:nvPr/>
        </p:nvCxnSpPr>
        <p:spPr>
          <a:xfrm>
            <a:off x="10330503" y="6170279"/>
            <a:ext cx="6492240" cy="0"/>
          </a:xfrm>
          <a:prstGeom prst="straightConnector1">
            <a:avLst/>
          </a:prstGeom>
          <a:noFill/>
          <a:ln cap="flat" cmpd="sng" w="38100">
            <a:solidFill>
              <a:srgbClr val="00C4CC"/>
            </a:solidFill>
            <a:prstDash val="solid"/>
            <a:round/>
            <a:headEnd len="sm" w="sm" type="none"/>
            <a:tailEnd len="sm" w="sm" type="none"/>
          </a:ln>
        </p:spPr>
      </p:cxnSp>
      <p:sp>
        <p:nvSpPr>
          <p:cNvPr id="97" name="Google Shape;97;p2"/>
          <p:cNvSpPr txBox="1"/>
          <p:nvPr/>
        </p:nvSpPr>
        <p:spPr>
          <a:xfrm>
            <a:off x="1279869" y="1220245"/>
            <a:ext cx="7271904" cy="1151471"/>
          </a:xfrm>
          <a:prstGeom prst="rect">
            <a:avLst/>
          </a:prstGeom>
          <a:noFill/>
          <a:ln>
            <a:noFill/>
          </a:ln>
        </p:spPr>
        <p:txBody>
          <a:bodyPr anchorCtr="0" anchor="t" bIns="0" lIns="0" spcFirstLastPara="1" rIns="0" wrap="square" tIns="0">
            <a:spAutoFit/>
          </a:bodyPr>
          <a:lstStyle/>
          <a:p>
            <a:pPr indent="0" lvl="0" marL="0" marR="0" rtl="0" algn="ctr">
              <a:lnSpc>
                <a:spcPct val="110004"/>
              </a:lnSpc>
              <a:spcBef>
                <a:spcPts val="0"/>
              </a:spcBef>
              <a:spcAft>
                <a:spcPts val="0"/>
              </a:spcAft>
              <a:buNone/>
            </a:pPr>
            <a:r>
              <a:rPr b="1" i="0" lang="en-US" sz="8166" u="none" cap="none" strike="noStrike">
                <a:solidFill>
                  <a:srgbClr val="FFFFFF"/>
                </a:solidFill>
                <a:latin typeface="Poppins"/>
                <a:ea typeface="Poppins"/>
                <a:cs typeface="Poppins"/>
                <a:sym typeface="Poppins"/>
              </a:rPr>
              <a:t>Anuncios</a:t>
            </a:r>
            <a:endParaRPr/>
          </a:p>
        </p:txBody>
      </p:sp>
      <p:sp>
        <p:nvSpPr>
          <p:cNvPr id="98" name="Google Shape;98;p2"/>
          <p:cNvSpPr txBox="1"/>
          <p:nvPr/>
        </p:nvSpPr>
        <p:spPr>
          <a:xfrm>
            <a:off x="10330503" y="2716961"/>
            <a:ext cx="6492240" cy="374035"/>
          </a:xfrm>
          <a:prstGeom prst="rect">
            <a:avLst/>
          </a:prstGeom>
          <a:noFill/>
          <a:ln>
            <a:noFill/>
          </a:ln>
        </p:spPr>
        <p:txBody>
          <a:bodyPr anchorCtr="0" anchor="t" bIns="0" lIns="0" spcFirstLastPara="1" rIns="0" wrap="square" tIns="0">
            <a:spAutoFit/>
          </a:bodyPr>
          <a:lstStyle/>
          <a:p>
            <a:pPr indent="0" lvl="0" marL="0" marR="0" rtl="0" algn="l">
              <a:lnSpc>
                <a:spcPct val="110038"/>
              </a:lnSpc>
              <a:spcBef>
                <a:spcPts val="0"/>
              </a:spcBef>
              <a:spcAft>
                <a:spcPts val="0"/>
              </a:spcAft>
              <a:buNone/>
            </a:pPr>
            <a:r>
              <a:rPr b="0" i="0" lang="en-US" sz="2600" u="none" cap="none" strike="noStrike">
                <a:solidFill>
                  <a:srgbClr val="FFFFFF"/>
                </a:solidFill>
                <a:latin typeface="Poppins Medium"/>
                <a:ea typeface="Poppins Medium"/>
                <a:cs typeface="Poppins Medium"/>
                <a:sym typeface="Poppins Medium"/>
              </a:rPr>
              <a:t>Combiner</a:t>
            </a:r>
            <a:endParaRPr/>
          </a:p>
        </p:txBody>
      </p:sp>
      <p:sp>
        <p:nvSpPr>
          <p:cNvPr id="99" name="Google Shape;99;p2"/>
          <p:cNvSpPr txBox="1"/>
          <p:nvPr/>
        </p:nvSpPr>
        <p:spPr>
          <a:xfrm>
            <a:off x="10330503" y="4588128"/>
            <a:ext cx="6492240" cy="374035"/>
          </a:xfrm>
          <a:prstGeom prst="rect">
            <a:avLst/>
          </a:prstGeom>
          <a:noFill/>
          <a:ln>
            <a:noFill/>
          </a:ln>
        </p:spPr>
        <p:txBody>
          <a:bodyPr anchorCtr="0" anchor="t" bIns="0" lIns="0" spcFirstLastPara="1" rIns="0" wrap="square" tIns="0">
            <a:spAutoFit/>
          </a:bodyPr>
          <a:lstStyle/>
          <a:p>
            <a:pPr indent="0" lvl="0" marL="0" marR="0" rtl="0" algn="l">
              <a:lnSpc>
                <a:spcPct val="110038"/>
              </a:lnSpc>
              <a:spcBef>
                <a:spcPts val="0"/>
              </a:spcBef>
              <a:spcAft>
                <a:spcPts val="0"/>
              </a:spcAft>
              <a:buNone/>
            </a:pPr>
            <a:r>
              <a:rPr b="0" i="0" lang="en-US" sz="2600" u="none" cap="none" strike="noStrike">
                <a:solidFill>
                  <a:srgbClr val="FFFFFF"/>
                </a:solidFill>
                <a:latin typeface="Poppins Medium"/>
                <a:ea typeface="Poppins Medium"/>
                <a:cs typeface="Poppins Medium"/>
                <a:sym typeface="Poppins Medium"/>
              </a:rPr>
              <a:t>Inventarios</a:t>
            </a:r>
            <a:endParaRPr/>
          </a:p>
        </p:txBody>
      </p:sp>
      <p:sp>
        <p:nvSpPr>
          <p:cNvPr id="100" name="Google Shape;100;p2"/>
          <p:cNvSpPr txBox="1"/>
          <p:nvPr/>
        </p:nvSpPr>
        <p:spPr>
          <a:xfrm>
            <a:off x="10330503" y="5541129"/>
            <a:ext cx="6492240" cy="374035"/>
          </a:xfrm>
          <a:prstGeom prst="rect">
            <a:avLst/>
          </a:prstGeom>
          <a:noFill/>
          <a:ln>
            <a:noFill/>
          </a:ln>
        </p:spPr>
        <p:txBody>
          <a:bodyPr anchorCtr="0" anchor="t" bIns="0" lIns="0" spcFirstLastPara="1" rIns="0" wrap="square" tIns="0">
            <a:spAutoFit/>
          </a:bodyPr>
          <a:lstStyle/>
          <a:p>
            <a:pPr indent="0" lvl="0" marL="0" marR="0" rtl="0" algn="l">
              <a:lnSpc>
                <a:spcPct val="110038"/>
              </a:lnSpc>
              <a:spcBef>
                <a:spcPts val="0"/>
              </a:spcBef>
              <a:spcAft>
                <a:spcPts val="0"/>
              </a:spcAft>
              <a:buNone/>
            </a:pPr>
            <a:r>
              <a:rPr b="0" i="0" lang="en-US" sz="2600" u="none" cap="none" strike="noStrike">
                <a:solidFill>
                  <a:srgbClr val="FFFFFF"/>
                </a:solidFill>
                <a:latin typeface="Poppins Medium"/>
                <a:ea typeface="Poppins Medium"/>
                <a:cs typeface="Poppins Medium"/>
                <a:sym typeface="Poppins Medium"/>
              </a:rPr>
              <a:t>Politicas de mínimo y máximo</a:t>
            </a:r>
            <a:endParaRPr/>
          </a:p>
        </p:txBody>
      </p:sp>
      <p:sp>
        <p:nvSpPr>
          <p:cNvPr id="101" name="Google Shape;101;p2"/>
          <p:cNvSpPr txBox="1"/>
          <p:nvPr/>
        </p:nvSpPr>
        <p:spPr>
          <a:xfrm>
            <a:off x="10330503" y="3642593"/>
            <a:ext cx="6492240" cy="374035"/>
          </a:xfrm>
          <a:prstGeom prst="rect">
            <a:avLst/>
          </a:prstGeom>
          <a:noFill/>
          <a:ln>
            <a:noFill/>
          </a:ln>
        </p:spPr>
        <p:txBody>
          <a:bodyPr anchorCtr="0" anchor="t" bIns="0" lIns="0" spcFirstLastPara="1" rIns="0" wrap="square" tIns="0">
            <a:spAutoFit/>
          </a:bodyPr>
          <a:lstStyle/>
          <a:p>
            <a:pPr indent="0" lvl="0" marL="0" marR="0" rtl="0" algn="l">
              <a:lnSpc>
                <a:spcPct val="110038"/>
              </a:lnSpc>
              <a:spcBef>
                <a:spcPts val="0"/>
              </a:spcBef>
              <a:spcAft>
                <a:spcPts val="0"/>
              </a:spcAft>
              <a:buNone/>
            </a:pPr>
            <a:r>
              <a:rPr b="0" i="0" lang="en-US" sz="2600" u="none" cap="none" strike="noStrike">
                <a:solidFill>
                  <a:srgbClr val="FFFFFF"/>
                </a:solidFill>
                <a:latin typeface="Poppins Medium"/>
                <a:ea typeface="Poppins Medium"/>
                <a:cs typeface="Poppins Medium"/>
                <a:sym typeface="Poppins Medium"/>
              </a:rPr>
              <a:t>Separator</a:t>
            </a:r>
            <a:endParaRPr/>
          </a:p>
        </p:txBody>
      </p:sp>
      <p:cxnSp>
        <p:nvCxnSpPr>
          <p:cNvPr id="102" name="Google Shape;102;p2"/>
          <p:cNvCxnSpPr/>
          <p:nvPr/>
        </p:nvCxnSpPr>
        <p:spPr>
          <a:xfrm>
            <a:off x="10330503" y="7066129"/>
            <a:ext cx="6492240" cy="0"/>
          </a:xfrm>
          <a:prstGeom prst="straightConnector1">
            <a:avLst/>
          </a:prstGeom>
          <a:noFill/>
          <a:ln cap="flat" cmpd="sng" w="38100">
            <a:solidFill>
              <a:srgbClr val="00C4CC"/>
            </a:solidFill>
            <a:prstDash val="solid"/>
            <a:round/>
            <a:headEnd len="sm" w="sm" type="none"/>
            <a:tailEnd len="sm" w="sm" type="none"/>
          </a:ln>
        </p:spPr>
      </p:cxnSp>
      <p:sp>
        <p:nvSpPr>
          <p:cNvPr id="103" name="Google Shape;103;p2"/>
          <p:cNvSpPr txBox="1"/>
          <p:nvPr/>
        </p:nvSpPr>
        <p:spPr>
          <a:xfrm>
            <a:off x="10330503" y="6436979"/>
            <a:ext cx="6492240" cy="374035"/>
          </a:xfrm>
          <a:prstGeom prst="rect">
            <a:avLst/>
          </a:prstGeom>
          <a:noFill/>
          <a:ln>
            <a:noFill/>
          </a:ln>
        </p:spPr>
        <p:txBody>
          <a:bodyPr anchorCtr="0" anchor="t" bIns="0" lIns="0" spcFirstLastPara="1" rIns="0" wrap="square" tIns="0">
            <a:spAutoFit/>
          </a:bodyPr>
          <a:lstStyle/>
          <a:p>
            <a:pPr indent="0" lvl="0" marL="0" marR="0" rtl="0" algn="l">
              <a:lnSpc>
                <a:spcPct val="110038"/>
              </a:lnSpc>
              <a:spcBef>
                <a:spcPts val="0"/>
              </a:spcBef>
              <a:spcAft>
                <a:spcPts val="0"/>
              </a:spcAft>
              <a:buNone/>
            </a:pPr>
            <a:r>
              <a:rPr b="0" i="0" lang="en-US" sz="2600" u="none" cap="none" strike="noStrike">
                <a:solidFill>
                  <a:srgbClr val="FFFFFF"/>
                </a:solidFill>
                <a:latin typeface="Poppins Medium"/>
                <a:ea typeface="Poppins Medium"/>
                <a:cs typeface="Poppins Medium"/>
                <a:sym typeface="Poppins Medium"/>
              </a:rPr>
              <a:t>Politica de punto de reorden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07" name="Shape 107"/>
        <p:cNvGrpSpPr/>
        <p:nvPr/>
      </p:nvGrpSpPr>
      <p:grpSpPr>
        <a:xfrm>
          <a:off x="0" y="0"/>
          <a:ext cx="0" cy="0"/>
          <a:chOff x="0" y="0"/>
          <a:chExt cx="0" cy="0"/>
        </a:xfrm>
      </p:grpSpPr>
      <p:sp>
        <p:nvSpPr>
          <p:cNvPr id="108" name="Google Shape;108;p3"/>
          <p:cNvSpPr/>
          <p:nvPr/>
        </p:nvSpPr>
        <p:spPr>
          <a:xfrm>
            <a:off x="3582763" y="3555016"/>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blip>
            <a:stretch>
              <a:fillRect b="0" l="0" r="0" t="0"/>
            </a:stretch>
          </a:blipFill>
          <a:ln>
            <a:noFill/>
          </a:ln>
        </p:spPr>
      </p:sp>
      <p:sp>
        <p:nvSpPr>
          <p:cNvPr id="109" name="Google Shape;109;p3"/>
          <p:cNvSpPr/>
          <p:nvPr/>
        </p:nvSpPr>
        <p:spPr>
          <a:xfrm>
            <a:off x="10942065" y="3555016"/>
            <a:ext cx="3763172" cy="4114800"/>
          </a:xfrm>
          <a:custGeom>
            <a:rect b="b" l="l" r="r" t="t"/>
            <a:pathLst>
              <a:path extrusionOk="0" h="4114800" w="3763172">
                <a:moveTo>
                  <a:pt x="0" y="0"/>
                </a:moveTo>
                <a:lnTo>
                  <a:pt x="3763172" y="0"/>
                </a:lnTo>
                <a:lnTo>
                  <a:pt x="3763172" y="4114800"/>
                </a:lnTo>
                <a:lnTo>
                  <a:pt x="0" y="4114800"/>
                </a:lnTo>
                <a:lnTo>
                  <a:pt x="0" y="0"/>
                </a:lnTo>
                <a:close/>
              </a:path>
            </a:pathLst>
          </a:custGeom>
          <a:blipFill rotWithShape="1">
            <a:blip r:embed="rId4">
              <a:alphaModFix/>
            </a:blip>
            <a:stretch>
              <a:fillRect b="0" l="0" r="0" t="0"/>
            </a:stretch>
          </a:blipFill>
          <a:ln>
            <a:noFill/>
          </a:ln>
        </p:spPr>
      </p:sp>
      <p:sp>
        <p:nvSpPr>
          <p:cNvPr id="110" name="Google Shape;110;p3"/>
          <p:cNvSpPr txBox="1"/>
          <p:nvPr/>
        </p:nvSpPr>
        <p:spPr>
          <a:xfrm>
            <a:off x="3582763" y="459399"/>
            <a:ext cx="11122474" cy="2254248"/>
          </a:xfrm>
          <a:prstGeom prst="rect">
            <a:avLst/>
          </a:prstGeom>
          <a:noFill/>
          <a:ln>
            <a:noFill/>
          </a:ln>
        </p:spPr>
        <p:txBody>
          <a:bodyPr anchorCtr="0" anchor="t" bIns="0" lIns="0" spcFirstLastPara="1" rIns="0" wrap="square" tIns="0">
            <a:spAutoFit/>
          </a:bodyPr>
          <a:lstStyle/>
          <a:p>
            <a:pPr indent="0" lvl="0" marL="0" marR="0" rtl="0" algn="ctr">
              <a:lnSpc>
                <a:spcPct val="110001"/>
              </a:lnSpc>
              <a:spcBef>
                <a:spcPts val="0"/>
              </a:spcBef>
              <a:spcAft>
                <a:spcPts val="0"/>
              </a:spcAft>
              <a:buNone/>
            </a:pPr>
            <a:r>
              <a:rPr b="1" i="0" lang="en-US" sz="7999" u="none" cap="none" strike="noStrike">
                <a:solidFill>
                  <a:srgbClr val="FFFFFF"/>
                </a:solidFill>
                <a:latin typeface="Poppins"/>
                <a:ea typeface="Poppins"/>
                <a:cs typeface="Poppins"/>
                <a:sym typeface="Poppins"/>
              </a:rPr>
              <a:t>Componentes principales de SIMIO</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14" name="Shape 114"/>
        <p:cNvGrpSpPr/>
        <p:nvPr/>
      </p:nvGrpSpPr>
      <p:grpSpPr>
        <a:xfrm>
          <a:off x="0" y="0"/>
          <a:ext cx="0" cy="0"/>
          <a:chOff x="0" y="0"/>
          <a:chExt cx="0" cy="0"/>
        </a:xfrm>
      </p:grpSpPr>
      <p:grpSp>
        <p:nvGrpSpPr>
          <p:cNvPr id="115" name="Google Shape;115;p4"/>
          <p:cNvGrpSpPr/>
          <p:nvPr/>
        </p:nvGrpSpPr>
        <p:grpSpPr>
          <a:xfrm>
            <a:off x="1028700" y="2039867"/>
            <a:ext cx="16230600" cy="3356953"/>
            <a:chOff x="0" y="12700"/>
            <a:chExt cx="21640800" cy="4475937"/>
          </a:xfrm>
        </p:grpSpPr>
        <p:sp>
          <p:nvSpPr>
            <p:cNvPr id="116" name="Google Shape;116;p4"/>
            <p:cNvSpPr txBox="1"/>
            <p:nvPr/>
          </p:nvSpPr>
          <p:spPr>
            <a:xfrm>
              <a:off x="0" y="445804"/>
              <a:ext cx="21640800" cy="4042833"/>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0" i="0" lang="en-US" sz="2499" u="none" cap="none" strike="noStrike">
                  <a:solidFill>
                    <a:srgbClr val="FFFFFF"/>
                  </a:solidFill>
                  <a:latin typeface="Poppins Light"/>
                  <a:ea typeface="Poppins Light"/>
                  <a:cs typeface="Poppins Light"/>
                  <a:sym typeface="Poppins Light"/>
                </a:rPr>
                <a:t>Este objeto permite crear grupos de entidades y asociarlos a una entidad representativa. Las entidades a agrupar se denominan miembros y la entidad representativa se conoce como entidad padre. Al grupo de entidades miembro se le llama Batch.</a:t>
              </a:r>
              <a:endParaRPr/>
            </a:p>
            <a:p>
              <a:pPr indent="0" lvl="0" marL="0" marR="0" rtl="0" algn="just">
                <a:lnSpc>
                  <a:spcPct val="140016"/>
                </a:lnSpc>
                <a:spcBef>
                  <a:spcPts val="0"/>
                </a:spcBef>
                <a:spcAft>
                  <a:spcPts val="0"/>
                </a:spcAft>
                <a:buNone/>
              </a:pPr>
              <a:r>
                <a:rPr b="0" i="0" lang="en-US" sz="2499" u="none" cap="none" strike="noStrike">
                  <a:solidFill>
                    <a:srgbClr val="FFFFFF"/>
                  </a:solidFill>
                  <a:latin typeface="Poppins Light"/>
                  <a:ea typeface="Poppins Light"/>
                  <a:cs typeface="Poppins Light"/>
                  <a:sym typeface="Poppins Light"/>
                </a:rPr>
                <a:t> </a:t>
              </a:r>
              <a:endParaRPr/>
            </a:p>
            <a:p>
              <a:pPr indent="0" lvl="0" marL="0" marR="0" rtl="0" algn="just">
                <a:lnSpc>
                  <a:spcPct val="140016"/>
                </a:lnSpc>
                <a:spcBef>
                  <a:spcPts val="0"/>
                </a:spcBef>
                <a:spcAft>
                  <a:spcPts val="0"/>
                </a:spcAft>
                <a:buNone/>
              </a:pPr>
              <a:r>
                <a:rPr b="0" i="0" lang="en-US" sz="2499" u="none" cap="none" strike="noStrike">
                  <a:solidFill>
                    <a:srgbClr val="FFFFFF"/>
                  </a:solidFill>
                  <a:latin typeface="Poppins Light"/>
                  <a:ea typeface="Poppins Light"/>
                  <a:cs typeface="Poppins Light"/>
                  <a:sym typeface="Poppins Light"/>
                </a:rPr>
                <a:t>El objeto cuenta con dos nodos de entrada y uno de salida. El primer nodo de entrada recibe a las entidades padre y el segundo a las entidades miembro. Cada grupo está compuesto únicamente de una entidad padre y el número de entidades miembro está definido en la propiedad Batch Quantity.</a:t>
              </a:r>
              <a:endParaRPr/>
            </a:p>
          </p:txBody>
        </p:sp>
        <p:cxnSp>
          <p:nvCxnSpPr>
            <p:cNvPr id="117" name="Google Shape;117;p4"/>
            <p:cNvCxnSpPr/>
            <p:nvPr/>
          </p:nvCxnSpPr>
          <p:spPr>
            <a:xfrm>
              <a:off x="0" y="12700"/>
              <a:ext cx="21640800" cy="0"/>
            </a:xfrm>
            <a:prstGeom prst="straightConnector1">
              <a:avLst/>
            </a:prstGeom>
            <a:noFill/>
            <a:ln cap="rnd" cmpd="sng" w="25400">
              <a:solidFill>
                <a:srgbClr val="10B5BF"/>
              </a:solidFill>
              <a:prstDash val="solid"/>
              <a:round/>
              <a:headEnd len="sm" w="sm" type="none"/>
              <a:tailEnd len="sm" w="sm" type="none"/>
            </a:ln>
          </p:spPr>
        </p:cxnSp>
      </p:grpSp>
      <p:sp>
        <p:nvSpPr>
          <p:cNvPr id="118" name="Google Shape;118;p4"/>
          <p:cNvSpPr/>
          <p:nvPr/>
        </p:nvSpPr>
        <p:spPr>
          <a:xfrm>
            <a:off x="777950" y="6108778"/>
            <a:ext cx="9756671" cy="3658752"/>
          </a:xfrm>
          <a:custGeom>
            <a:rect b="b" l="l" r="r" t="t"/>
            <a:pathLst>
              <a:path extrusionOk="0" h="3658752" w="9756671">
                <a:moveTo>
                  <a:pt x="0" y="0"/>
                </a:moveTo>
                <a:lnTo>
                  <a:pt x="9756671" y="0"/>
                </a:lnTo>
                <a:lnTo>
                  <a:pt x="9756671" y="3658752"/>
                </a:lnTo>
                <a:lnTo>
                  <a:pt x="0" y="3658752"/>
                </a:lnTo>
                <a:lnTo>
                  <a:pt x="0" y="0"/>
                </a:lnTo>
                <a:close/>
              </a:path>
            </a:pathLst>
          </a:custGeom>
          <a:blipFill rotWithShape="1">
            <a:blip r:embed="rId3">
              <a:alphaModFix/>
            </a:blip>
            <a:stretch>
              <a:fillRect b="0" l="0" r="0" t="0"/>
            </a:stretch>
          </a:blipFill>
          <a:ln>
            <a:noFill/>
          </a:ln>
        </p:spPr>
      </p:sp>
      <p:grpSp>
        <p:nvGrpSpPr>
          <p:cNvPr id="119" name="Google Shape;119;p4"/>
          <p:cNvGrpSpPr/>
          <p:nvPr/>
        </p:nvGrpSpPr>
        <p:grpSpPr>
          <a:xfrm>
            <a:off x="1028700" y="300037"/>
            <a:ext cx="8238001" cy="1450183"/>
            <a:chOff x="0" y="-9525"/>
            <a:chExt cx="10984002" cy="1933576"/>
          </a:xfrm>
        </p:grpSpPr>
        <p:sp>
          <p:nvSpPr>
            <p:cNvPr id="120" name="Google Shape;120;p4"/>
            <p:cNvSpPr txBox="1"/>
            <p:nvPr/>
          </p:nvSpPr>
          <p:spPr>
            <a:xfrm>
              <a:off x="0" y="-9525"/>
              <a:ext cx="10984002" cy="1635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8000" u="none" cap="none" strike="noStrike">
                  <a:solidFill>
                    <a:srgbClr val="FFFFFF"/>
                  </a:solidFill>
                  <a:latin typeface="Poppins Medium"/>
                  <a:ea typeface="Poppins Medium"/>
                  <a:cs typeface="Poppins Medium"/>
                  <a:sym typeface="Poppins Medium"/>
                </a:rPr>
                <a:t>COMBINER</a:t>
              </a:r>
              <a:endParaRPr/>
            </a:p>
          </p:txBody>
        </p:sp>
        <p:sp>
          <p:nvSpPr>
            <p:cNvPr id="121" name="Google Shape;121;p4"/>
            <p:cNvSpPr txBox="1"/>
            <p:nvPr/>
          </p:nvSpPr>
          <p:spPr>
            <a:xfrm>
              <a:off x="0" y="1270000"/>
              <a:ext cx="10984002" cy="654051"/>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2999" u="none" cap="none" strike="noStrike">
                  <a:solidFill>
                    <a:srgbClr val="00C4CC"/>
                  </a:solidFill>
                  <a:latin typeface="Poppins"/>
                  <a:ea typeface="Poppins"/>
                  <a:cs typeface="Poppins"/>
                  <a:sym typeface="Poppins"/>
                </a:rPr>
                <a:t>Combinador</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25" name="Shape 125"/>
        <p:cNvGrpSpPr/>
        <p:nvPr/>
      </p:nvGrpSpPr>
      <p:grpSpPr>
        <a:xfrm>
          <a:off x="0" y="0"/>
          <a:ext cx="0" cy="0"/>
          <a:chOff x="0" y="0"/>
          <a:chExt cx="0" cy="0"/>
        </a:xfrm>
      </p:grpSpPr>
      <p:grpSp>
        <p:nvGrpSpPr>
          <p:cNvPr id="126" name="Google Shape;126;p5"/>
          <p:cNvGrpSpPr/>
          <p:nvPr/>
        </p:nvGrpSpPr>
        <p:grpSpPr>
          <a:xfrm>
            <a:off x="1028700" y="2778271"/>
            <a:ext cx="9828128" cy="4739984"/>
            <a:chOff x="0" y="12700"/>
            <a:chExt cx="13104171" cy="6319978"/>
          </a:xfrm>
        </p:grpSpPr>
        <p:sp>
          <p:nvSpPr>
            <p:cNvPr id="127" name="Google Shape;127;p5"/>
            <p:cNvSpPr txBox="1"/>
            <p:nvPr/>
          </p:nvSpPr>
          <p:spPr>
            <a:xfrm>
              <a:off x="0" y="426754"/>
              <a:ext cx="13104171" cy="5905924"/>
            </a:xfrm>
            <a:prstGeom prst="rect">
              <a:avLst/>
            </a:prstGeom>
            <a:noFill/>
            <a:ln>
              <a:noFill/>
            </a:ln>
          </p:spPr>
          <p:txBody>
            <a:bodyPr anchorCtr="0" anchor="t" bIns="0" lIns="0" spcFirstLastPara="1" rIns="0" wrap="square" tIns="0">
              <a:spAutoFit/>
            </a:bodyPr>
            <a:lstStyle/>
            <a:p>
              <a:pPr indent="-302258" lvl="1" marL="604518" marR="0" rtl="0" algn="just">
                <a:lnSpc>
                  <a:spcPct val="140014"/>
                </a:lnSpc>
                <a:spcBef>
                  <a:spcPts val="0"/>
                </a:spcBef>
                <a:spcAft>
                  <a:spcPts val="0"/>
                </a:spcAft>
                <a:buClr>
                  <a:srgbClr val="FFFFFF"/>
                </a:buClr>
                <a:buSzPts val="2799"/>
                <a:buFont typeface="Arial"/>
                <a:buChar char="•"/>
              </a:pPr>
              <a:r>
                <a:rPr b="1" i="0" lang="en-US" sz="2799" u="none" cap="none" strike="noStrike">
                  <a:solidFill>
                    <a:srgbClr val="FFFFFF"/>
                  </a:solidFill>
                  <a:latin typeface="Poppins"/>
                  <a:ea typeface="Poppins"/>
                  <a:cs typeface="Poppins"/>
                  <a:sym typeface="Poppins"/>
                </a:rPr>
                <a:t>Batch Quantity:</a:t>
              </a:r>
              <a:r>
                <a:rPr b="0" i="0" lang="en-US" sz="2799" u="none" cap="none" strike="noStrike">
                  <a:solidFill>
                    <a:srgbClr val="FFFFFF"/>
                  </a:solidFill>
                  <a:latin typeface="Poppins Light"/>
                  <a:ea typeface="Poppins Light"/>
                  <a:cs typeface="Poppins Light"/>
                  <a:sym typeface="Poppins Light"/>
                </a:rPr>
                <a:t> define el tamaño del lote o grupo a crear(miembros).</a:t>
              </a:r>
              <a:endParaRPr/>
            </a:p>
            <a:p>
              <a:pPr indent="0" lvl="0" marL="0" marR="0" rtl="0" algn="just">
                <a:lnSpc>
                  <a:spcPct val="140014"/>
                </a:lnSpc>
                <a:spcBef>
                  <a:spcPts val="0"/>
                </a:spcBef>
                <a:spcAft>
                  <a:spcPts val="0"/>
                </a:spcAft>
                <a:buNone/>
              </a:pPr>
              <a:r>
                <a:t/>
              </a:r>
              <a:endParaRPr b="0" i="0" sz="2799" u="none" cap="none" strike="noStrike">
                <a:solidFill>
                  <a:srgbClr val="FFFFFF"/>
                </a:solidFill>
                <a:latin typeface="Poppins Light"/>
                <a:ea typeface="Poppins Light"/>
                <a:cs typeface="Poppins Light"/>
                <a:sym typeface="Poppins Light"/>
              </a:endParaRPr>
            </a:p>
            <a:p>
              <a:pPr indent="-302258" lvl="1" marL="604518" marR="0" rtl="0" algn="just">
                <a:lnSpc>
                  <a:spcPct val="140014"/>
                </a:lnSpc>
                <a:spcBef>
                  <a:spcPts val="0"/>
                </a:spcBef>
                <a:spcAft>
                  <a:spcPts val="0"/>
                </a:spcAft>
                <a:buClr>
                  <a:srgbClr val="FFFFFF"/>
                </a:buClr>
                <a:buSzPts val="2799"/>
                <a:buFont typeface="Arial"/>
                <a:buChar char="•"/>
              </a:pPr>
              <a:r>
                <a:rPr b="1" i="0" lang="en-US" sz="2799" u="none" cap="none" strike="noStrike">
                  <a:solidFill>
                    <a:srgbClr val="FFFFFF"/>
                  </a:solidFill>
                  <a:latin typeface="Poppins"/>
                  <a:ea typeface="Poppins"/>
                  <a:cs typeface="Poppins"/>
                  <a:sym typeface="Poppins"/>
                </a:rPr>
                <a:t>Matching Rule: </a:t>
              </a:r>
              <a:r>
                <a:rPr b="0" i="0" lang="en-US" sz="2799" u="none" cap="none" strike="noStrike">
                  <a:solidFill>
                    <a:srgbClr val="FFFFFF"/>
                  </a:solidFill>
                  <a:latin typeface="Poppins Light"/>
                  <a:ea typeface="Poppins Light"/>
                  <a:cs typeface="Poppins Light"/>
                  <a:sym typeface="Poppins Light"/>
                </a:rPr>
                <a:t>es la regla definida para comparar las entidades que llegan al objeto.</a:t>
              </a:r>
              <a:endParaRPr/>
            </a:p>
            <a:p>
              <a:pPr indent="0" lvl="0" marL="0" marR="0" rtl="0" algn="just">
                <a:lnSpc>
                  <a:spcPct val="140014"/>
                </a:lnSpc>
                <a:spcBef>
                  <a:spcPts val="0"/>
                </a:spcBef>
                <a:spcAft>
                  <a:spcPts val="0"/>
                </a:spcAft>
                <a:buNone/>
              </a:pPr>
              <a:r>
                <a:t/>
              </a:r>
              <a:endParaRPr b="0" i="0" sz="2799" u="none" cap="none" strike="noStrike">
                <a:solidFill>
                  <a:srgbClr val="FFFFFF"/>
                </a:solidFill>
                <a:latin typeface="Poppins Light"/>
                <a:ea typeface="Poppins Light"/>
                <a:cs typeface="Poppins Light"/>
                <a:sym typeface="Poppins Light"/>
              </a:endParaRPr>
            </a:p>
            <a:p>
              <a:pPr indent="-302258" lvl="1" marL="604518" marR="0" rtl="0" algn="just">
                <a:lnSpc>
                  <a:spcPct val="140014"/>
                </a:lnSpc>
                <a:spcBef>
                  <a:spcPts val="0"/>
                </a:spcBef>
                <a:spcAft>
                  <a:spcPts val="0"/>
                </a:spcAft>
                <a:buClr>
                  <a:srgbClr val="FFFFFF"/>
                </a:buClr>
                <a:buSzPts val="2799"/>
                <a:buFont typeface="Arial"/>
                <a:buChar char="•"/>
              </a:pPr>
              <a:r>
                <a:rPr b="1" i="0" lang="en-US" sz="2799" u="none" cap="none" strike="noStrike">
                  <a:solidFill>
                    <a:srgbClr val="FFFFFF"/>
                  </a:solidFill>
                  <a:latin typeface="Poppins"/>
                  <a:ea typeface="Poppins"/>
                  <a:cs typeface="Poppins"/>
                  <a:sym typeface="Poppins"/>
                </a:rPr>
                <a:t>Batch Quantities (More):</a:t>
              </a:r>
              <a:r>
                <a:rPr b="0" i="0" lang="en-US" sz="2799" u="none" cap="none" strike="noStrike">
                  <a:solidFill>
                    <a:srgbClr val="FFFFFF"/>
                  </a:solidFill>
                  <a:latin typeface="Poppins Light"/>
                  <a:ea typeface="Poppins Light"/>
                  <a:cs typeface="Poppins Light"/>
                  <a:sym typeface="Poppins Light"/>
                </a:rPr>
                <a:t> define entidades miembro adicionales para recopilar y adjuntarlas a una entidad padre.</a:t>
              </a:r>
              <a:endParaRPr/>
            </a:p>
          </p:txBody>
        </p:sp>
        <p:cxnSp>
          <p:nvCxnSpPr>
            <p:cNvPr id="128" name="Google Shape;128;p5"/>
            <p:cNvCxnSpPr/>
            <p:nvPr/>
          </p:nvCxnSpPr>
          <p:spPr>
            <a:xfrm>
              <a:off x="0" y="12700"/>
              <a:ext cx="13104171" cy="0"/>
            </a:xfrm>
            <a:prstGeom prst="straightConnector1">
              <a:avLst/>
            </a:prstGeom>
            <a:noFill/>
            <a:ln cap="rnd" cmpd="sng" w="25400">
              <a:solidFill>
                <a:srgbClr val="10B5BF"/>
              </a:solidFill>
              <a:prstDash val="solid"/>
              <a:round/>
              <a:headEnd len="sm" w="sm" type="none"/>
              <a:tailEnd len="sm" w="sm" type="none"/>
            </a:ln>
          </p:spPr>
        </p:cxnSp>
      </p:grpSp>
      <p:sp>
        <p:nvSpPr>
          <p:cNvPr id="129" name="Google Shape;129;p5"/>
          <p:cNvSpPr/>
          <p:nvPr/>
        </p:nvSpPr>
        <p:spPr>
          <a:xfrm>
            <a:off x="11889935" y="1028700"/>
            <a:ext cx="5369365" cy="7613278"/>
          </a:xfrm>
          <a:custGeom>
            <a:rect b="b" l="l" r="r" t="t"/>
            <a:pathLst>
              <a:path extrusionOk="0" h="7613278" w="5369365">
                <a:moveTo>
                  <a:pt x="0" y="0"/>
                </a:moveTo>
                <a:lnTo>
                  <a:pt x="5369365" y="0"/>
                </a:lnTo>
                <a:lnTo>
                  <a:pt x="5369365" y="7613278"/>
                </a:lnTo>
                <a:lnTo>
                  <a:pt x="0" y="7613278"/>
                </a:lnTo>
                <a:lnTo>
                  <a:pt x="0" y="0"/>
                </a:lnTo>
                <a:close/>
              </a:path>
            </a:pathLst>
          </a:custGeom>
          <a:blipFill rotWithShape="1">
            <a:blip r:embed="rId3">
              <a:alphaModFix/>
            </a:blip>
            <a:stretch>
              <a:fillRect b="0" l="0" r="0" t="0"/>
            </a:stretch>
          </a:blipFill>
          <a:ln>
            <a:noFill/>
          </a:ln>
        </p:spPr>
      </p:sp>
      <p:grpSp>
        <p:nvGrpSpPr>
          <p:cNvPr id="130" name="Google Shape;130;p5"/>
          <p:cNvGrpSpPr/>
          <p:nvPr/>
        </p:nvGrpSpPr>
        <p:grpSpPr>
          <a:xfrm>
            <a:off x="1028700" y="300037"/>
            <a:ext cx="8238001" cy="1450183"/>
            <a:chOff x="0" y="-9525"/>
            <a:chExt cx="10984002" cy="1933576"/>
          </a:xfrm>
        </p:grpSpPr>
        <p:sp>
          <p:nvSpPr>
            <p:cNvPr id="131" name="Google Shape;131;p5"/>
            <p:cNvSpPr txBox="1"/>
            <p:nvPr/>
          </p:nvSpPr>
          <p:spPr>
            <a:xfrm>
              <a:off x="0" y="-9525"/>
              <a:ext cx="10984002" cy="1635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8000" u="none" cap="none" strike="noStrike">
                  <a:solidFill>
                    <a:srgbClr val="FFFFFF"/>
                  </a:solidFill>
                  <a:latin typeface="Poppins Medium"/>
                  <a:ea typeface="Poppins Medium"/>
                  <a:cs typeface="Poppins Medium"/>
                  <a:sym typeface="Poppins Medium"/>
                </a:rPr>
                <a:t>COMBINER</a:t>
              </a:r>
              <a:endParaRPr/>
            </a:p>
          </p:txBody>
        </p:sp>
        <p:sp>
          <p:nvSpPr>
            <p:cNvPr id="132" name="Google Shape;132;p5"/>
            <p:cNvSpPr txBox="1"/>
            <p:nvPr/>
          </p:nvSpPr>
          <p:spPr>
            <a:xfrm>
              <a:off x="0" y="1270000"/>
              <a:ext cx="10984002" cy="654051"/>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2999" u="none" cap="none" strike="noStrike">
                  <a:solidFill>
                    <a:srgbClr val="00C4CC"/>
                  </a:solidFill>
                  <a:latin typeface="Poppins"/>
                  <a:ea typeface="Poppins"/>
                  <a:cs typeface="Poppins"/>
                  <a:sym typeface="Poppins"/>
                </a:rPr>
                <a:t>Propiedades</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36" name="Shape 136"/>
        <p:cNvGrpSpPr/>
        <p:nvPr/>
      </p:nvGrpSpPr>
      <p:grpSpPr>
        <a:xfrm>
          <a:off x="0" y="0"/>
          <a:ext cx="0" cy="0"/>
          <a:chOff x="0" y="0"/>
          <a:chExt cx="0" cy="0"/>
        </a:xfrm>
      </p:grpSpPr>
      <p:grpSp>
        <p:nvGrpSpPr>
          <p:cNvPr id="137" name="Google Shape;137;p6"/>
          <p:cNvGrpSpPr/>
          <p:nvPr/>
        </p:nvGrpSpPr>
        <p:grpSpPr>
          <a:xfrm>
            <a:off x="1028700" y="3138214"/>
            <a:ext cx="8771462" cy="5547703"/>
            <a:chOff x="0" y="12700"/>
            <a:chExt cx="11695283" cy="7396937"/>
          </a:xfrm>
        </p:grpSpPr>
        <p:sp>
          <p:nvSpPr>
            <p:cNvPr id="138" name="Google Shape;138;p6"/>
            <p:cNvSpPr txBox="1"/>
            <p:nvPr/>
          </p:nvSpPr>
          <p:spPr>
            <a:xfrm>
              <a:off x="0" y="445804"/>
              <a:ext cx="11695283" cy="6963833"/>
            </a:xfrm>
            <a:prstGeom prst="rect">
              <a:avLst/>
            </a:prstGeom>
            <a:noFill/>
            <a:ln>
              <a:noFill/>
            </a:ln>
          </p:spPr>
          <p:txBody>
            <a:bodyPr anchorCtr="0" anchor="t" bIns="0" lIns="0" spcFirstLastPara="1" rIns="0" wrap="square" tIns="0">
              <a:spAutoFit/>
            </a:bodyPr>
            <a:lstStyle/>
            <a:p>
              <a:pPr indent="-269874" lvl="1" marL="539749" marR="0" rtl="0" algn="just">
                <a:lnSpc>
                  <a:spcPct val="140016"/>
                </a:lnSpc>
                <a:spcBef>
                  <a:spcPts val="0"/>
                </a:spcBef>
                <a:spcAft>
                  <a:spcPts val="0"/>
                </a:spcAft>
                <a:buClr>
                  <a:srgbClr val="FFFFFF"/>
                </a:buClr>
                <a:buSzPts val="2499"/>
                <a:buFont typeface="Arial"/>
                <a:buChar char="•"/>
              </a:pPr>
              <a:r>
                <a:rPr b="1" i="0" lang="en-US" sz="2499" u="none" cap="none" strike="noStrike">
                  <a:solidFill>
                    <a:srgbClr val="FFFFFF"/>
                  </a:solidFill>
                  <a:latin typeface="Poppins"/>
                  <a:ea typeface="Poppins"/>
                  <a:cs typeface="Poppins"/>
                  <a:sym typeface="Poppins"/>
                </a:rPr>
                <a:t>Capacity Type: </a:t>
              </a:r>
              <a:r>
                <a:rPr b="0" i="0" lang="en-US" sz="2499" u="none" cap="none" strike="noStrike">
                  <a:solidFill>
                    <a:srgbClr val="FFFFFF"/>
                  </a:solidFill>
                  <a:latin typeface="Poppins Light"/>
                  <a:ea typeface="Poppins Light"/>
                  <a:cs typeface="Poppins Light"/>
                  <a:sym typeface="Poppins Light"/>
                </a:rPr>
                <a:t>define la forma de trabajo del combinador.</a:t>
              </a:r>
              <a:endParaRPr/>
            </a:p>
            <a:p>
              <a:pPr indent="0" lvl="0" marL="0" marR="0" rtl="0" algn="just">
                <a:lnSpc>
                  <a:spcPct val="140016"/>
                </a:lnSpc>
                <a:spcBef>
                  <a:spcPts val="0"/>
                </a:spcBef>
                <a:spcAft>
                  <a:spcPts val="0"/>
                </a:spcAft>
                <a:buNone/>
              </a:pPr>
              <a:r>
                <a:t/>
              </a:r>
              <a:endParaRPr b="0" i="0" sz="2499" u="none" cap="none" strike="noStrike">
                <a:solidFill>
                  <a:srgbClr val="FFFFFF"/>
                </a:solidFill>
                <a:latin typeface="Poppins Light"/>
                <a:ea typeface="Poppins Light"/>
                <a:cs typeface="Poppins Light"/>
                <a:sym typeface="Poppins Light"/>
              </a:endParaRPr>
            </a:p>
            <a:p>
              <a:pPr indent="-269874" lvl="1" marL="539749" marR="0" rtl="0" algn="just">
                <a:lnSpc>
                  <a:spcPct val="140016"/>
                </a:lnSpc>
                <a:spcBef>
                  <a:spcPts val="0"/>
                </a:spcBef>
                <a:spcAft>
                  <a:spcPts val="0"/>
                </a:spcAft>
                <a:buClr>
                  <a:srgbClr val="FFFFFF"/>
                </a:buClr>
                <a:buSzPts val="2499"/>
                <a:buFont typeface="Arial"/>
                <a:buChar char="•"/>
              </a:pPr>
              <a:r>
                <a:rPr b="1" i="0" lang="en-US" sz="2499" u="none" cap="none" strike="noStrike">
                  <a:solidFill>
                    <a:srgbClr val="FFFFFF"/>
                  </a:solidFill>
                  <a:latin typeface="Poppins"/>
                  <a:ea typeface="Poppins"/>
                  <a:cs typeface="Poppins"/>
                  <a:sym typeface="Poppins"/>
                </a:rPr>
                <a:t>Initial Capacity:</a:t>
              </a:r>
              <a:r>
                <a:rPr b="0" i="0" lang="en-US" sz="2499" u="none" cap="none" strike="noStrike">
                  <a:solidFill>
                    <a:srgbClr val="FFFFFF"/>
                  </a:solidFill>
                  <a:latin typeface="Poppins Light"/>
                  <a:ea typeface="Poppins Light"/>
                  <a:cs typeface="Poppins Light"/>
                  <a:sym typeface="Poppins Light"/>
                </a:rPr>
                <a:t> Establece la cantidad de lotes que se pueden generar simultáneamente.</a:t>
              </a:r>
              <a:endParaRPr/>
            </a:p>
            <a:p>
              <a:pPr indent="0" lvl="0" marL="0" marR="0" rtl="0" algn="just">
                <a:lnSpc>
                  <a:spcPct val="140016"/>
                </a:lnSpc>
                <a:spcBef>
                  <a:spcPts val="0"/>
                </a:spcBef>
                <a:spcAft>
                  <a:spcPts val="0"/>
                </a:spcAft>
                <a:buNone/>
              </a:pPr>
              <a:r>
                <a:t/>
              </a:r>
              <a:endParaRPr b="0" i="0" sz="2499" u="none" cap="none" strike="noStrike">
                <a:solidFill>
                  <a:srgbClr val="FFFFFF"/>
                </a:solidFill>
                <a:latin typeface="Poppins Light"/>
                <a:ea typeface="Poppins Light"/>
                <a:cs typeface="Poppins Light"/>
                <a:sym typeface="Poppins Light"/>
              </a:endParaRPr>
            </a:p>
            <a:p>
              <a:pPr indent="-269874" lvl="1" marL="539749" marR="0" rtl="0" algn="just">
                <a:lnSpc>
                  <a:spcPct val="140016"/>
                </a:lnSpc>
                <a:spcBef>
                  <a:spcPts val="0"/>
                </a:spcBef>
                <a:spcAft>
                  <a:spcPts val="0"/>
                </a:spcAft>
                <a:buClr>
                  <a:srgbClr val="FFFFFF"/>
                </a:buClr>
                <a:buSzPts val="2499"/>
                <a:buFont typeface="Arial"/>
                <a:buChar char="•"/>
              </a:pPr>
              <a:r>
                <a:rPr b="1" i="0" lang="en-US" sz="2499" u="none" cap="none" strike="noStrike">
                  <a:solidFill>
                    <a:srgbClr val="FFFFFF"/>
                  </a:solidFill>
                  <a:latin typeface="Poppins"/>
                  <a:ea typeface="Poppins"/>
                  <a:cs typeface="Poppins"/>
                  <a:sym typeface="Poppins"/>
                </a:rPr>
                <a:t>Parent Transfer-In Time:</a:t>
              </a:r>
              <a:r>
                <a:rPr b="0" i="0" lang="en-US" sz="2499" u="none" cap="none" strike="noStrike">
                  <a:solidFill>
                    <a:srgbClr val="FFFFFF"/>
                  </a:solidFill>
                  <a:latin typeface="Poppins Light"/>
                  <a:ea typeface="Poppins Light"/>
                  <a:cs typeface="Poppins Light"/>
                  <a:sym typeface="Poppins Light"/>
                </a:rPr>
                <a:t> Es el tiempo que toma transferir una entidad padre al combinador.</a:t>
              </a:r>
              <a:endParaRPr/>
            </a:p>
            <a:p>
              <a:pPr indent="0" lvl="0" marL="0" marR="0" rtl="0" algn="just">
                <a:lnSpc>
                  <a:spcPct val="140016"/>
                </a:lnSpc>
                <a:spcBef>
                  <a:spcPts val="0"/>
                </a:spcBef>
                <a:spcAft>
                  <a:spcPts val="0"/>
                </a:spcAft>
                <a:buNone/>
              </a:pPr>
              <a:r>
                <a:t/>
              </a:r>
              <a:endParaRPr b="0" i="0" sz="2499" u="none" cap="none" strike="noStrike">
                <a:solidFill>
                  <a:srgbClr val="FFFFFF"/>
                </a:solidFill>
                <a:latin typeface="Poppins Light"/>
                <a:ea typeface="Poppins Light"/>
                <a:cs typeface="Poppins Light"/>
                <a:sym typeface="Poppins Light"/>
              </a:endParaRPr>
            </a:p>
            <a:p>
              <a:pPr indent="-269874" lvl="1" marL="539749" marR="0" rtl="0" algn="just">
                <a:lnSpc>
                  <a:spcPct val="140016"/>
                </a:lnSpc>
                <a:spcBef>
                  <a:spcPts val="0"/>
                </a:spcBef>
                <a:spcAft>
                  <a:spcPts val="0"/>
                </a:spcAft>
                <a:buClr>
                  <a:srgbClr val="FFFFFF"/>
                </a:buClr>
                <a:buSzPts val="2499"/>
                <a:buFont typeface="Arial"/>
                <a:buChar char="•"/>
              </a:pPr>
              <a:r>
                <a:rPr b="1" i="0" lang="en-US" sz="2499" u="none" cap="none" strike="noStrike">
                  <a:solidFill>
                    <a:srgbClr val="FFFFFF"/>
                  </a:solidFill>
                  <a:latin typeface="Poppins"/>
                  <a:ea typeface="Poppins"/>
                  <a:cs typeface="Poppins"/>
                  <a:sym typeface="Poppins"/>
                </a:rPr>
                <a:t>Member Transfer-ln Time: </a:t>
              </a:r>
              <a:r>
                <a:rPr b="0" i="0" lang="en-US" sz="2499" u="none" cap="none" strike="noStrike">
                  <a:solidFill>
                    <a:srgbClr val="FFFFFF"/>
                  </a:solidFill>
                  <a:latin typeface="Poppins Light"/>
                  <a:ea typeface="Poppins Light"/>
                  <a:cs typeface="Poppins Light"/>
                  <a:sym typeface="Poppins Light"/>
                </a:rPr>
                <a:t>el tiempo que toma transferir una entidad miembro al combinador.</a:t>
              </a:r>
              <a:endParaRPr/>
            </a:p>
            <a:p>
              <a:pPr indent="0" lvl="0" marL="0" marR="0" rtl="0" algn="just">
                <a:lnSpc>
                  <a:spcPct val="140016"/>
                </a:lnSpc>
                <a:spcBef>
                  <a:spcPts val="0"/>
                </a:spcBef>
                <a:spcAft>
                  <a:spcPts val="0"/>
                </a:spcAft>
                <a:buNone/>
              </a:pPr>
              <a:r>
                <a:t/>
              </a:r>
              <a:endParaRPr b="0" i="0" sz="2499" u="none" cap="none" strike="noStrike">
                <a:solidFill>
                  <a:srgbClr val="FFFFFF"/>
                </a:solidFill>
                <a:latin typeface="Poppins Light"/>
                <a:ea typeface="Poppins Light"/>
                <a:cs typeface="Poppins Light"/>
                <a:sym typeface="Poppins Light"/>
              </a:endParaRPr>
            </a:p>
          </p:txBody>
        </p:sp>
        <p:cxnSp>
          <p:nvCxnSpPr>
            <p:cNvPr id="139" name="Google Shape;139;p6"/>
            <p:cNvCxnSpPr/>
            <p:nvPr/>
          </p:nvCxnSpPr>
          <p:spPr>
            <a:xfrm>
              <a:off x="0" y="12700"/>
              <a:ext cx="11695283" cy="0"/>
            </a:xfrm>
            <a:prstGeom prst="straightConnector1">
              <a:avLst/>
            </a:prstGeom>
            <a:noFill/>
            <a:ln cap="rnd" cmpd="sng" w="25400">
              <a:solidFill>
                <a:srgbClr val="10B5BF"/>
              </a:solidFill>
              <a:prstDash val="solid"/>
              <a:round/>
              <a:headEnd len="sm" w="sm" type="none"/>
              <a:tailEnd len="sm" w="sm" type="none"/>
            </a:ln>
          </p:spPr>
        </p:cxnSp>
      </p:grpSp>
      <p:sp>
        <p:nvSpPr>
          <p:cNvPr id="140" name="Google Shape;140;p6"/>
          <p:cNvSpPr/>
          <p:nvPr/>
        </p:nvSpPr>
        <p:spPr>
          <a:xfrm>
            <a:off x="10220893" y="3892491"/>
            <a:ext cx="7038407" cy="4029622"/>
          </a:xfrm>
          <a:custGeom>
            <a:rect b="b" l="l" r="r" t="t"/>
            <a:pathLst>
              <a:path extrusionOk="0" h="4029622" w="7038407">
                <a:moveTo>
                  <a:pt x="0" y="0"/>
                </a:moveTo>
                <a:lnTo>
                  <a:pt x="7038407" y="0"/>
                </a:lnTo>
                <a:lnTo>
                  <a:pt x="7038407" y="4029623"/>
                </a:lnTo>
                <a:lnTo>
                  <a:pt x="0" y="4029623"/>
                </a:lnTo>
                <a:lnTo>
                  <a:pt x="0" y="0"/>
                </a:lnTo>
                <a:close/>
              </a:path>
            </a:pathLst>
          </a:custGeom>
          <a:blipFill rotWithShape="1">
            <a:blip r:embed="rId3">
              <a:alphaModFix/>
            </a:blip>
            <a:stretch>
              <a:fillRect b="0" l="0" r="0" t="0"/>
            </a:stretch>
          </a:blipFill>
          <a:ln>
            <a:noFill/>
          </a:ln>
        </p:spPr>
      </p:sp>
      <p:grpSp>
        <p:nvGrpSpPr>
          <p:cNvPr id="141" name="Google Shape;141;p6"/>
          <p:cNvGrpSpPr/>
          <p:nvPr/>
        </p:nvGrpSpPr>
        <p:grpSpPr>
          <a:xfrm>
            <a:off x="1028700" y="300037"/>
            <a:ext cx="8238001" cy="1450183"/>
            <a:chOff x="0" y="-9525"/>
            <a:chExt cx="10984002" cy="1933576"/>
          </a:xfrm>
        </p:grpSpPr>
        <p:sp>
          <p:nvSpPr>
            <p:cNvPr id="142" name="Google Shape;142;p6"/>
            <p:cNvSpPr txBox="1"/>
            <p:nvPr/>
          </p:nvSpPr>
          <p:spPr>
            <a:xfrm>
              <a:off x="0" y="-9525"/>
              <a:ext cx="10984002" cy="1635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8000" u="none" cap="none" strike="noStrike">
                  <a:solidFill>
                    <a:srgbClr val="FFFFFF"/>
                  </a:solidFill>
                  <a:latin typeface="Poppins Medium"/>
                  <a:ea typeface="Poppins Medium"/>
                  <a:cs typeface="Poppins Medium"/>
                  <a:sym typeface="Poppins Medium"/>
                </a:rPr>
                <a:t>COMBINER</a:t>
              </a:r>
              <a:endParaRPr/>
            </a:p>
          </p:txBody>
        </p:sp>
        <p:sp>
          <p:nvSpPr>
            <p:cNvPr id="143" name="Google Shape;143;p6"/>
            <p:cNvSpPr txBox="1"/>
            <p:nvPr/>
          </p:nvSpPr>
          <p:spPr>
            <a:xfrm>
              <a:off x="0" y="1270000"/>
              <a:ext cx="10984002" cy="654051"/>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2999" u="none" cap="none" strike="noStrike">
                  <a:solidFill>
                    <a:srgbClr val="00C4CC"/>
                  </a:solidFill>
                  <a:latin typeface="Poppins"/>
                  <a:ea typeface="Poppins"/>
                  <a:cs typeface="Poppins"/>
                  <a:sym typeface="Poppins"/>
                </a:rPr>
                <a:t>Propiedades -&gt; Process Logic</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47" name="Shape 147"/>
        <p:cNvGrpSpPr/>
        <p:nvPr/>
      </p:nvGrpSpPr>
      <p:grpSpPr>
        <a:xfrm>
          <a:off x="0" y="0"/>
          <a:ext cx="0" cy="0"/>
          <a:chOff x="0" y="0"/>
          <a:chExt cx="0" cy="0"/>
        </a:xfrm>
      </p:grpSpPr>
      <p:grpSp>
        <p:nvGrpSpPr>
          <p:cNvPr id="148" name="Google Shape;148;p7"/>
          <p:cNvGrpSpPr/>
          <p:nvPr/>
        </p:nvGrpSpPr>
        <p:grpSpPr>
          <a:xfrm>
            <a:off x="1028700" y="3001938"/>
            <a:ext cx="7943362" cy="5547703"/>
            <a:chOff x="0" y="12700"/>
            <a:chExt cx="10591149" cy="7396937"/>
          </a:xfrm>
        </p:grpSpPr>
        <p:sp>
          <p:nvSpPr>
            <p:cNvPr id="149" name="Google Shape;149;p7"/>
            <p:cNvSpPr txBox="1"/>
            <p:nvPr/>
          </p:nvSpPr>
          <p:spPr>
            <a:xfrm>
              <a:off x="0" y="445804"/>
              <a:ext cx="10591149" cy="6963833"/>
            </a:xfrm>
            <a:prstGeom prst="rect">
              <a:avLst/>
            </a:prstGeom>
            <a:noFill/>
            <a:ln>
              <a:noFill/>
            </a:ln>
          </p:spPr>
          <p:txBody>
            <a:bodyPr anchorCtr="0" anchor="t" bIns="0" lIns="0" spcFirstLastPara="1" rIns="0" wrap="square" tIns="0">
              <a:spAutoFit/>
            </a:bodyPr>
            <a:lstStyle/>
            <a:p>
              <a:pPr indent="-269874" lvl="1" marL="539749" marR="0" rtl="0" algn="just">
                <a:lnSpc>
                  <a:spcPct val="140016"/>
                </a:lnSpc>
                <a:spcBef>
                  <a:spcPts val="0"/>
                </a:spcBef>
                <a:spcAft>
                  <a:spcPts val="0"/>
                </a:spcAft>
                <a:buClr>
                  <a:srgbClr val="FFFFFF"/>
                </a:buClr>
                <a:buSzPts val="2499"/>
                <a:buFont typeface="Arial"/>
                <a:buChar char="•"/>
              </a:pPr>
              <a:r>
                <a:rPr b="1" i="0" lang="en-US" sz="2499" u="none" cap="none" strike="noStrike">
                  <a:solidFill>
                    <a:srgbClr val="FFFFFF"/>
                  </a:solidFill>
                  <a:latin typeface="Poppins"/>
                  <a:ea typeface="Poppins"/>
                  <a:cs typeface="Poppins"/>
                  <a:sym typeface="Poppins"/>
                </a:rPr>
                <a:t>Process Type: es el tipo de procesamiento de entidades.</a:t>
              </a:r>
              <a:endParaRPr/>
            </a:p>
            <a:p>
              <a:pPr indent="0" lvl="0" marL="0" marR="0" rtl="0" algn="just">
                <a:lnSpc>
                  <a:spcPct val="140016"/>
                </a:lnSpc>
                <a:spcBef>
                  <a:spcPts val="0"/>
                </a:spcBef>
                <a:spcAft>
                  <a:spcPts val="0"/>
                </a:spcAft>
                <a:buNone/>
              </a:pPr>
              <a:r>
                <a:t/>
              </a:r>
              <a:endParaRPr b="1" i="0" sz="2499" u="none" cap="none" strike="noStrike">
                <a:solidFill>
                  <a:srgbClr val="FFFFFF"/>
                </a:solidFill>
                <a:latin typeface="Poppins"/>
                <a:ea typeface="Poppins"/>
                <a:cs typeface="Poppins"/>
                <a:sym typeface="Poppins"/>
              </a:endParaRPr>
            </a:p>
            <a:p>
              <a:pPr indent="-269874" lvl="1" marL="539749" marR="0" rtl="0" algn="just">
                <a:lnSpc>
                  <a:spcPct val="140016"/>
                </a:lnSpc>
                <a:spcBef>
                  <a:spcPts val="0"/>
                </a:spcBef>
                <a:spcAft>
                  <a:spcPts val="0"/>
                </a:spcAft>
                <a:buClr>
                  <a:srgbClr val="FFFFFF"/>
                </a:buClr>
                <a:buSzPts val="2499"/>
                <a:buFont typeface="Arial"/>
                <a:buChar char="•"/>
              </a:pPr>
              <a:r>
                <a:rPr b="1" i="0" lang="en-US" sz="2499" u="none" cap="none" strike="noStrike">
                  <a:solidFill>
                    <a:srgbClr val="FFFFFF"/>
                  </a:solidFill>
                  <a:latin typeface="Poppins"/>
                  <a:ea typeface="Poppins"/>
                  <a:cs typeface="Poppins"/>
                  <a:sym typeface="Poppins"/>
                </a:rPr>
                <a:t>Processing Time: define el tiempo de combinar, generalmente se utiliza una distribución de probabilidad para definirlo.</a:t>
              </a:r>
              <a:endParaRPr/>
            </a:p>
            <a:p>
              <a:pPr indent="0" lvl="0" marL="0" marR="0" rtl="0" algn="just">
                <a:lnSpc>
                  <a:spcPct val="140016"/>
                </a:lnSpc>
                <a:spcBef>
                  <a:spcPts val="0"/>
                </a:spcBef>
                <a:spcAft>
                  <a:spcPts val="0"/>
                </a:spcAft>
                <a:buNone/>
              </a:pPr>
              <a:r>
                <a:t/>
              </a:r>
              <a:endParaRPr b="1" i="0" sz="2499" u="none" cap="none" strike="noStrike">
                <a:solidFill>
                  <a:srgbClr val="FFFFFF"/>
                </a:solidFill>
                <a:latin typeface="Poppins"/>
                <a:ea typeface="Poppins"/>
                <a:cs typeface="Poppins"/>
                <a:sym typeface="Poppins"/>
              </a:endParaRPr>
            </a:p>
            <a:p>
              <a:pPr indent="-269874" lvl="1" marL="539749" marR="0" rtl="0" algn="just">
                <a:lnSpc>
                  <a:spcPct val="140016"/>
                </a:lnSpc>
                <a:spcBef>
                  <a:spcPts val="0"/>
                </a:spcBef>
                <a:spcAft>
                  <a:spcPts val="0"/>
                </a:spcAft>
                <a:buClr>
                  <a:srgbClr val="FFFFFF"/>
                </a:buClr>
                <a:buSzPts val="2499"/>
                <a:buFont typeface="Arial"/>
                <a:buChar char="•"/>
              </a:pPr>
              <a:r>
                <a:rPr b="1" i="0" lang="en-US" sz="2499" u="none" cap="none" strike="noStrike">
                  <a:solidFill>
                    <a:srgbClr val="FFFFFF"/>
                  </a:solidFill>
                  <a:latin typeface="Poppins"/>
                  <a:ea typeface="Poppins"/>
                  <a:cs typeface="Poppins"/>
                  <a:sym typeface="Poppins"/>
                </a:rPr>
                <a:t>Off Shift Rule: indica la política que utilizará el objetopara determinar qué hacer cuando seacabe el turno y exista una entidad enproceso.</a:t>
              </a:r>
              <a:endParaRPr/>
            </a:p>
            <a:p>
              <a:pPr indent="0" lvl="0" marL="0" marR="0" rtl="0" algn="just">
                <a:lnSpc>
                  <a:spcPct val="140016"/>
                </a:lnSpc>
                <a:spcBef>
                  <a:spcPts val="0"/>
                </a:spcBef>
                <a:spcAft>
                  <a:spcPts val="0"/>
                </a:spcAft>
                <a:buNone/>
              </a:pPr>
              <a:r>
                <a:t/>
              </a:r>
              <a:endParaRPr b="1" i="0" sz="2499" u="none" cap="none" strike="noStrike">
                <a:solidFill>
                  <a:srgbClr val="FFFFFF"/>
                </a:solidFill>
                <a:latin typeface="Poppins"/>
                <a:ea typeface="Poppins"/>
                <a:cs typeface="Poppins"/>
                <a:sym typeface="Poppins"/>
              </a:endParaRPr>
            </a:p>
          </p:txBody>
        </p:sp>
        <p:cxnSp>
          <p:nvCxnSpPr>
            <p:cNvPr id="150" name="Google Shape;150;p7"/>
            <p:cNvCxnSpPr/>
            <p:nvPr/>
          </p:nvCxnSpPr>
          <p:spPr>
            <a:xfrm>
              <a:off x="0" y="12700"/>
              <a:ext cx="10591149" cy="0"/>
            </a:xfrm>
            <a:prstGeom prst="straightConnector1">
              <a:avLst/>
            </a:prstGeom>
            <a:noFill/>
            <a:ln cap="rnd" cmpd="sng" w="25400">
              <a:solidFill>
                <a:srgbClr val="10B5BF"/>
              </a:solidFill>
              <a:prstDash val="solid"/>
              <a:round/>
              <a:headEnd len="sm" w="sm" type="none"/>
              <a:tailEnd len="sm" w="sm" type="none"/>
            </a:ln>
          </p:spPr>
        </p:cxnSp>
      </p:grpSp>
      <p:grpSp>
        <p:nvGrpSpPr>
          <p:cNvPr id="151" name="Google Shape;151;p7"/>
          <p:cNvGrpSpPr/>
          <p:nvPr/>
        </p:nvGrpSpPr>
        <p:grpSpPr>
          <a:xfrm>
            <a:off x="1028700" y="300037"/>
            <a:ext cx="8238001" cy="1450183"/>
            <a:chOff x="0" y="-9525"/>
            <a:chExt cx="10984002" cy="1933576"/>
          </a:xfrm>
        </p:grpSpPr>
        <p:sp>
          <p:nvSpPr>
            <p:cNvPr id="152" name="Google Shape;152;p7"/>
            <p:cNvSpPr txBox="1"/>
            <p:nvPr/>
          </p:nvSpPr>
          <p:spPr>
            <a:xfrm>
              <a:off x="0" y="-9525"/>
              <a:ext cx="10984002" cy="1635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8000" u="none" cap="none" strike="noStrike">
                  <a:solidFill>
                    <a:srgbClr val="FFFFFF"/>
                  </a:solidFill>
                  <a:latin typeface="Poppins Medium"/>
                  <a:ea typeface="Poppins Medium"/>
                  <a:cs typeface="Poppins Medium"/>
                  <a:sym typeface="Poppins Medium"/>
                </a:rPr>
                <a:t>COMBINER</a:t>
              </a:r>
              <a:endParaRPr/>
            </a:p>
          </p:txBody>
        </p:sp>
        <p:sp>
          <p:nvSpPr>
            <p:cNvPr id="153" name="Google Shape;153;p7"/>
            <p:cNvSpPr txBox="1"/>
            <p:nvPr/>
          </p:nvSpPr>
          <p:spPr>
            <a:xfrm>
              <a:off x="0" y="1270000"/>
              <a:ext cx="10984002" cy="654051"/>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2999" u="none" cap="none" strike="noStrike">
                  <a:solidFill>
                    <a:srgbClr val="00C4CC"/>
                  </a:solidFill>
                  <a:latin typeface="Poppins"/>
                  <a:ea typeface="Poppins"/>
                  <a:cs typeface="Poppins"/>
                  <a:sym typeface="Poppins"/>
                </a:rPr>
                <a:t>Propiedades -&gt; Process Logic</a:t>
              </a:r>
              <a:endParaRPr/>
            </a:p>
          </p:txBody>
        </p:sp>
      </p:grpSp>
      <p:sp>
        <p:nvSpPr>
          <p:cNvPr id="154" name="Google Shape;154;p7"/>
          <p:cNvSpPr/>
          <p:nvPr/>
        </p:nvSpPr>
        <p:spPr>
          <a:xfrm>
            <a:off x="10220893" y="3488749"/>
            <a:ext cx="7038407" cy="4029622"/>
          </a:xfrm>
          <a:custGeom>
            <a:rect b="b" l="l" r="r" t="t"/>
            <a:pathLst>
              <a:path extrusionOk="0" h="4029622" w="7038407">
                <a:moveTo>
                  <a:pt x="0" y="0"/>
                </a:moveTo>
                <a:lnTo>
                  <a:pt x="7038407" y="0"/>
                </a:lnTo>
                <a:lnTo>
                  <a:pt x="7038407" y="4029622"/>
                </a:lnTo>
                <a:lnTo>
                  <a:pt x="0" y="4029622"/>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58" name="Shape 158"/>
        <p:cNvGrpSpPr/>
        <p:nvPr/>
      </p:nvGrpSpPr>
      <p:grpSpPr>
        <a:xfrm>
          <a:off x="0" y="0"/>
          <a:ext cx="0" cy="0"/>
          <a:chOff x="0" y="0"/>
          <a:chExt cx="0" cy="0"/>
        </a:xfrm>
      </p:grpSpPr>
      <p:grpSp>
        <p:nvGrpSpPr>
          <p:cNvPr id="159" name="Google Shape;159;p8"/>
          <p:cNvGrpSpPr/>
          <p:nvPr/>
        </p:nvGrpSpPr>
        <p:grpSpPr>
          <a:xfrm>
            <a:off x="1028700" y="2039867"/>
            <a:ext cx="16230600" cy="2918803"/>
            <a:chOff x="0" y="12700"/>
            <a:chExt cx="21640800" cy="3891737"/>
          </a:xfrm>
        </p:grpSpPr>
        <p:sp>
          <p:nvSpPr>
            <p:cNvPr id="160" name="Google Shape;160;p8"/>
            <p:cNvSpPr txBox="1"/>
            <p:nvPr/>
          </p:nvSpPr>
          <p:spPr>
            <a:xfrm>
              <a:off x="0" y="445804"/>
              <a:ext cx="21640800" cy="3458633"/>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0" i="0" lang="en-US" sz="2499" u="none" cap="none" strike="noStrike">
                  <a:solidFill>
                    <a:srgbClr val="FFFFFF"/>
                  </a:solidFill>
                  <a:latin typeface="Poppins Light"/>
                  <a:ea typeface="Poppins Light"/>
                  <a:cs typeface="Poppins Light"/>
                  <a:sym typeface="Poppins Light"/>
                </a:rPr>
                <a:t>Este objeto tiene como función principal la de separar un batch de su entidad padre. Cuenta con un nodo de entrada y dos nodos de salida: el primero para la entidad padre y el segundo para las entidades miembro. Cada nodo de salida cuenta con su respectiva cola o buffer de salida.</a:t>
              </a:r>
              <a:endParaRPr/>
            </a:p>
            <a:p>
              <a:pPr indent="0" lvl="0" marL="0" marR="0" rtl="0" algn="just">
                <a:lnSpc>
                  <a:spcPct val="140016"/>
                </a:lnSpc>
                <a:spcBef>
                  <a:spcPts val="0"/>
                </a:spcBef>
                <a:spcAft>
                  <a:spcPts val="0"/>
                </a:spcAft>
                <a:buNone/>
              </a:pPr>
              <a:r>
                <a:t/>
              </a:r>
              <a:endParaRPr b="0" i="0" sz="2499" u="none" cap="none" strike="noStrike">
                <a:solidFill>
                  <a:srgbClr val="FFFFFF"/>
                </a:solidFill>
                <a:latin typeface="Poppins Light"/>
                <a:ea typeface="Poppins Light"/>
                <a:cs typeface="Poppins Light"/>
                <a:sym typeface="Poppins Light"/>
              </a:endParaRPr>
            </a:p>
            <a:p>
              <a:pPr indent="0" lvl="0" marL="0" marR="0" rtl="0" algn="just">
                <a:lnSpc>
                  <a:spcPct val="140016"/>
                </a:lnSpc>
                <a:spcBef>
                  <a:spcPts val="0"/>
                </a:spcBef>
                <a:spcAft>
                  <a:spcPts val="0"/>
                </a:spcAft>
                <a:buNone/>
              </a:pPr>
              <a:r>
                <a:rPr b="0" i="0" lang="en-US" sz="2499" u="none" cap="none" strike="noStrike">
                  <a:solidFill>
                    <a:srgbClr val="FFFFFF"/>
                  </a:solidFill>
                  <a:latin typeface="Poppins Light"/>
                  <a:ea typeface="Poppins Light"/>
                  <a:cs typeface="Poppins Light"/>
                  <a:sym typeface="Poppins Light"/>
                </a:rPr>
                <a:t>Es un objeto que simula el desempaquetado de entidades, convirtiendo los grupos en dos tipos de entidades diferente: entidades padre y entidades miembros.</a:t>
              </a:r>
              <a:endParaRPr/>
            </a:p>
          </p:txBody>
        </p:sp>
        <p:cxnSp>
          <p:nvCxnSpPr>
            <p:cNvPr id="161" name="Google Shape;161;p8"/>
            <p:cNvCxnSpPr/>
            <p:nvPr/>
          </p:nvCxnSpPr>
          <p:spPr>
            <a:xfrm>
              <a:off x="0" y="12700"/>
              <a:ext cx="21640800" cy="0"/>
            </a:xfrm>
            <a:prstGeom prst="straightConnector1">
              <a:avLst/>
            </a:prstGeom>
            <a:noFill/>
            <a:ln cap="rnd" cmpd="sng" w="25400">
              <a:solidFill>
                <a:srgbClr val="10B5BF"/>
              </a:solidFill>
              <a:prstDash val="solid"/>
              <a:round/>
              <a:headEnd len="sm" w="sm" type="none"/>
              <a:tailEnd len="sm" w="sm" type="none"/>
            </a:ln>
          </p:spPr>
        </p:cxnSp>
      </p:grpSp>
      <p:sp>
        <p:nvSpPr>
          <p:cNvPr id="162" name="Google Shape;162;p8"/>
          <p:cNvSpPr/>
          <p:nvPr/>
        </p:nvSpPr>
        <p:spPr>
          <a:xfrm>
            <a:off x="744517" y="6108778"/>
            <a:ext cx="9756671" cy="3658752"/>
          </a:xfrm>
          <a:custGeom>
            <a:rect b="b" l="l" r="r" t="t"/>
            <a:pathLst>
              <a:path extrusionOk="0" h="3658752" w="9756671">
                <a:moveTo>
                  <a:pt x="0" y="0"/>
                </a:moveTo>
                <a:lnTo>
                  <a:pt x="9756671" y="0"/>
                </a:lnTo>
                <a:lnTo>
                  <a:pt x="9756671" y="3658752"/>
                </a:lnTo>
                <a:lnTo>
                  <a:pt x="0" y="3658752"/>
                </a:lnTo>
                <a:lnTo>
                  <a:pt x="0" y="0"/>
                </a:lnTo>
                <a:close/>
              </a:path>
            </a:pathLst>
          </a:custGeom>
          <a:blipFill rotWithShape="1">
            <a:blip r:embed="rId3">
              <a:alphaModFix/>
            </a:blip>
            <a:stretch>
              <a:fillRect b="0" l="0" r="0" t="0"/>
            </a:stretch>
          </a:blipFill>
          <a:ln>
            <a:noFill/>
          </a:ln>
        </p:spPr>
      </p:sp>
      <p:grpSp>
        <p:nvGrpSpPr>
          <p:cNvPr id="163" name="Google Shape;163;p8"/>
          <p:cNvGrpSpPr/>
          <p:nvPr/>
        </p:nvGrpSpPr>
        <p:grpSpPr>
          <a:xfrm>
            <a:off x="1028700" y="300037"/>
            <a:ext cx="8238001" cy="1450183"/>
            <a:chOff x="0" y="-9525"/>
            <a:chExt cx="10984002" cy="1933576"/>
          </a:xfrm>
        </p:grpSpPr>
        <p:sp>
          <p:nvSpPr>
            <p:cNvPr id="164" name="Google Shape;164;p8"/>
            <p:cNvSpPr txBox="1"/>
            <p:nvPr/>
          </p:nvSpPr>
          <p:spPr>
            <a:xfrm>
              <a:off x="0" y="-9525"/>
              <a:ext cx="10984002" cy="1635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8000" u="none" cap="none" strike="noStrike">
                  <a:solidFill>
                    <a:srgbClr val="FFFFFF"/>
                  </a:solidFill>
                  <a:latin typeface="Poppins Medium"/>
                  <a:ea typeface="Poppins Medium"/>
                  <a:cs typeface="Poppins Medium"/>
                  <a:sym typeface="Poppins Medium"/>
                </a:rPr>
                <a:t>SEPARATOR</a:t>
              </a:r>
              <a:endParaRPr/>
            </a:p>
          </p:txBody>
        </p:sp>
        <p:sp>
          <p:nvSpPr>
            <p:cNvPr id="165" name="Google Shape;165;p8"/>
            <p:cNvSpPr txBox="1"/>
            <p:nvPr/>
          </p:nvSpPr>
          <p:spPr>
            <a:xfrm>
              <a:off x="0" y="1270000"/>
              <a:ext cx="10984002" cy="654051"/>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2999" u="none" cap="none" strike="noStrike">
                  <a:solidFill>
                    <a:srgbClr val="00C4CC"/>
                  </a:solidFill>
                  <a:latin typeface="Poppins"/>
                  <a:ea typeface="Poppins"/>
                  <a:cs typeface="Poppins"/>
                  <a:sym typeface="Poppins"/>
                </a:rPr>
                <a:t>Separator</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69" name="Shape 169"/>
        <p:cNvGrpSpPr/>
        <p:nvPr/>
      </p:nvGrpSpPr>
      <p:grpSpPr>
        <a:xfrm>
          <a:off x="0" y="0"/>
          <a:ext cx="0" cy="0"/>
          <a:chOff x="0" y="0"/>
          <a:chExt cx="0" cy="0"/>
        </a:xfrm>
      </p:grpSpPr>
      <p:grpSp>
        <p:nvGrpSpPr>
          <p:cNvPr id="170" name="Google Shape;170;p9"/>
          <p:cNvGrpSpPr/>
          <p:nvPr/>
        </p:nvGrpSpPr>
        <p:grpSpPr>
          <a:xfrm>
            <a:off x="1028700" y="2778271"/>
            <a:ext cx="9343346" cy="4739984"/>
            <a:chOff x="0" y="12700"/>
            <a:chExt cx="12457795" cy="6319978"/>
          </a:xfrm>
        </p:grpSpPr>
        <p:sp>
          <p:nvSpPr>
            <p:cNvPr id="171" name="Google Shape;171;p9"/>
            <p:cNvSpPr txBox="1"/>
            <p:nvPr/>
          </p:nvSpPr>
          <p:spPr>
            <a:xfrm>
              <a:off x="0" y="426754"/>
              <a:ext cx="12457795" cy="5905924"/>
            </a:xfrm>
            <a:prstGeom prst="rect">
              <a:avLst/>
            </a:prstGeom>
            <a:noFill/>
            <a:ln>
              <a:noFill/>
            </a:ln>
          </p:spPr>
          <p:txBody>
            <a:bodyPr anchorCtr="0" anchor="t" bIns="0" lIns="0" spcFirstLastPara="1" rIns="0" wrap="square" tIns="0">
              <a:spAutoFit/>
            </a:bodyPr>
            <a:lstStyle/>
            <a:p>
              <a:pPr indent="-302258" lvl="1" marL="604518" marR="0" rtl="0" algn="just">
                <a:lnSpc>
                  <a:spcPct val="140014"/>
                </a:lnSpc>
                <a:spcBef>
                  <a:spcPts val="0"/>
                </a:spcBef>
                <a:spcAft>
                  <a:spcPts val="0"/>
                </a:spcAft>
                <a:buClr>
                  <a:srgbClr val="FFFFFF"/>
                </a:buClr>
                <a:buSzPts val="2799"/>
                <a:buFont typeface="Arial"/>
                <a:buChar char="•"/>
              </a:pPr>
              <a:r>
                <a:rPr b="1" i="0" lang="en-US" sz="2799" u="none" cap="none" strike="noStrike">
                  <a:solidFill>
                    <a:srgbClr val="FFFFFF"/>
                  </a:solidFill>
                  <a:latin typeface="Poppins"/>
                  <a:ea typeface="Poppins"/>
                  <a:cs typeface="Poppins"/>
                  <a:sym typeface="Poppins"/>
                </a:rPr>
                <a:t>Separation Mode: </a:t>
              </a:r>
              <a:r>
                <a:rPr b="0" i="0" lang="en-US" sz="2799" u="none" cap="none" strike="noStrike">
                  <a:solidFill>
                    <a:srgbClr val="FFFFFF"/>
                  </a:solidFill>
                  <a:latin typeface="Poppins Light"/>
                  <a:ea typeface="Poppins Light"/>
                  <a:cs typeface="Poppins Light"/>
                  <a:sym typeface="Poppins Light"/>
                </a:rPr>
                <a:t>modo de separación, permite hacer laacción inversa al combinador o que creeotra entidad nueva.</a:t>
              </a:r>
              <a:endParaRPr/>
            </a:p>
            <a:p>
              <a:pPr indent="0" lvl="0" marL="0" marR="0" rtl="0" algn="just">
                <a:lnSpc>
                  <a:spcPct val="140014"/>
                </a:lnSpc>
                <a:spcBef>
                  <a:spcPts val="0"/>
                </a:spcBef>
                <a:spcAft>
                  <a:spcPts val="0"/>
                </a:spcAft>
                <a:buNone/>
              </a:pPr>
              <a:r>
                <a:t/>
              </a:r>
              <a:endParaRPr b="0" i="0" sz="2799" u="none" cap="none" strike="noStrike">
                <a:solidFill>
                  <a:srgbClr val="FFFFFF"/>
                </a:solidFill>
                <a:latin typeface="Poppins Light"/>
                <a:ea typeface="Poppins Light"/>
                <a:cs typeface="Poppins Light"/>
                <a:sym typeface="Poppins Light"/>
              </a:endParaRPr>
            </a:p>
            <a:p>
              <a:pPr indent="-302258" lvl="1" marL="604518" marR="0" rtl="0" algn="just">
                <a:lnSpc>
                  <a:spcPct val="140014"/>
                </a:lnSpc>
                <a:spcBef>
                  <a:spcPts val="0"/>
                </a:spcBef>
                <a:spcAft>
                  <a:spcPts val="0"/>
                </a:spcAft>
                <a:buClr>
                  <a:srgbClr val="FFFFFF"/>
                </a:buClr>
                <a:buSzPts val="2799"/>
                <a:buFont typeface="Arial"/>
                <a:buChar char="•"/>
              </a:pPr>
              <a:r>
                <a:rPr b="1" i="0" lang="en-US" sz="2799" u="none" cap="none" strike="noStrike">
                  <a:solidFill>
                    <a:srgbClr val="FFFFFF"/>
                  </a:solidFill>
                  <a:latin typeface="Poppins"/>
                  <a:ea typeface="Poppins"/>
                  <a:cs typeface="Poppins"/>
                  <a:sym typeface="Poppins"/>
                </a:rPr>
                <a:t>Desired Split Quantity:</a:t>
              </a:r>
              <a:r>
                <a:rPr b="0" i="0" lang="en-US" sz="2799" u="none" cap="none" strike="noStrike">
                  <a:solidFill>
                    <a:srgbClr val="FFFFFF"/>
                  </a:solidFill>
                  <a:latin typeface="Poppins Light"/>
                  <a:ea typeface="Poppins Light"/>
                  <a:cs typeface="Poppins Light"/>
                  <a:sym typeface="Poppins Light"/>
                </a:rPr>
                <a:t> indica el número de entidades a extraer del lote.</a:t>
              </a:r>
              <a:endParaRPr/>
            </a:p>
            <a:p>
              <a:pPr indent="0" lvl="0" marL="0" marR="0" rtl="0" algn="just">
                <a:lnSpc>
                  <a:spcPct val="140014"/>
                </a:lnSpc>
                <a:spcBef>
                  <a:spcPts val="0"/>
                </a:spcBef>
                <a:spcAft>
                  <a:spcPts val="0"/>
                </a:spcAft>
                <a:buNone/>
              </a:pPr>
              <a:r>
                <a:t/>
              </a:r>
              <a:endParaRPr b="0" i="0" sz="2799" u="none" cap="none" strike="noStrike">
                <a:solidFill>
                  <a:srgbClr val="FFFFFF"/>
                </a:solidFill>
                <a:latin typeface="Poppins Light"/>
                <a:ea typeface="Poppins Light"/>
                <a:cs typeface="Poppins Light"/>
                <a:sym typeface="Poppins Light"/>
              </a:endParaRPr>
            </a:p>
            <a:p>
              <a:pPr indent="-302258" lvl="1" marL="604518" marR="0" rtl="0" algn="just">
                <a:lnSpc>
                  <a:spcPct val="140014"/>
                </a:lnSpc>
                <a:spcBef>
                  <a:spcPts val="0"/>
                </a:spcBef>
                <a:spcAft>
                  <a:spcPts val="0"/>
                </a:spcAft>
                <a:buClr>
                  <a:srgbClr val="FFFFFF"/>
                </a:buClr>
                <a:buSzPts val="2799"/>
                <a:buFont typeface="Arial"/>
                <a:buChar char="•"/>
              </a:pPr>
              <a:r>
                <a:rPr b="1" i="0" lang="en-US" sz="2799" u="none" cap="none" strike="noStrike">
                  <a:solidFill>
                    <a:srgbClr val="FFFFFF"/>
                  </a:solidFill>
                  <a:latin typeface="Poppins"/>
                  <a:ea typeface="Poppins"/>
                  <a:cs typeface="Poppins"/>
                  <a:sym typeface="Poppins"/>
                </a:rPr>
                <a:t>Removal Order: </a:t>
              </a:r>
              <a:r>
                <a:rPr b="0" i="0" lang="en-US" sz="2799" u="none" cap="none" strike="noStrike">
                  <a:solidFill>
                    <a:srgbClr val="FFFFFF"/>
                  </a:solidFill>
                  <a:latin typeface="Poppins Light"/>
                  <a:ea typeface="Poppins Light"/>
                  <a:cs typeface="Poppins Light"/>
                  <a:sym typeface="Poppins Light"/>
                </a:rPr>
                <a:t>indica el orden en que se separarán lasentidades en el lote.</a:t>
              </a:r>
              <a:endParaRPr/>
            </a:p>
          </p:txBody>
        </p:sp>
        <p:cxnSp>
          <p:nvCxnSpPr>
            <p:cNvPr id="172" name="Google Shape;172;p9"/>
            <p:cNvCxnSpPr/>
            <p:nvPr/>
          </p:nvCxnSpPr>
          <p:spPr>
            <a:xfrm>
              <a:off x="0" y="12700"/>
              <a:ext cx="12457795" cy="0"/>
            </a:xfrm>
            <a:prstGeom prst="straightConnector1">
              <a:avLst/>
            </a:prstGeom>
            <a:noFill/>
            <a:ln cap="rnd" cmpd="sng" w="25400">
              <a:solidFill>
                <a:srgbClr val="10B5BF"/>
              </a:solidFill>
              <a:prstDash val="solid"/>
              <a:round/>
              <a:headEnd len="sm" w="sm" type="none"/>
              <a:tailEnd len="sm" w="sm" type="none"/>
            </a:ln>
          </p:spPr>
        </p:cxnSp>
      </p:grpSp>
      <p:sp>
        <p:nvSpPr>
          <p:cNvPr id="173" name="Google Shape;173;p9"/>
          <p:cNvSpPr/>
          <p:nvPr/>
        </p:nvSpPr>
        <p:spPr>
          <a:xfrm>
            <a:off x="11109072" y="1750219"/>
            <a:ext cx="6150228" cy="6815738"/>
          </a:xfrm>
          <a:custGeom>
            <a:rect b="b" l="l" r="r" t="t"/>
            <a:pathLst>
              <a:path extrusionOk="0" h="6815738" w="6150228">
                <a:moveTo>
                  <a:pt x="0" y="0"/>
                </a:moveTo>
                <a:lnTo>
                  <a:pt x="6150228" y="0"/>
                </a:lnTo>
                <a:lnTo>
                  <a:pt x="6150228" y="6815738"/>
                </a:lnTo>
                <a:lnTo>
                  <a:pt x="0" y="6815738"/>
                </a:lnTo>
                <a:lnTo>
                  <a:pt x="0" y="0"/>
                </a:lnTo>
                <a:close/>
              </a:path>
            </a:pathLst>
          </a:custGeom>
          <a:blipFill rotWithShape="1">
            <a:blip r:embed="rId3">
              <a:alphaModFix/>
            </a:blip>
            <a:stretch>
              <a:fillRect b="0" l="0" r="0" t="0"/>
            </a:stretch>
          </a:blipFill>
          <a:ln>
            <a:noFill/>
          </a:ln>
        </p:spPr>
      </p:sp>
      <p:grpSp>
        <p:nvGrpSpPr>
          <p:cNvPr id="174" name="Google Shape;174;p9"/>
          <p:cNvGrpSpPr/>
          <p:nvPr/>
        </p:nvGrpSpPr>
        <p:grpSpPr>
          <a:xfrm>
            <a:off x="1028700" y="300037"/>
            <a:ext cx="8238001" cy="1450183"/>
            <a:chOff x="0" y="-9525"/>
            <a:chExt cx="10984002" cy="1933576"/>
          </a:xfrm>
        </p:grpSpPr>
        <p:sp>
          <p:nvSpPr>
            <p:cNvPr id="175" name="Google Shape;175;p9"/>
            <p:cNvSpPr txBox="1"/>
            <p:nvPr/>
          </p:nvSpPr>
          <p:spPr>
            <a:xfrm>
              <a:off x="0" y="-9525"/>
              <a:ext cx="10984002" cy="1635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8000" u="none" cap="none" strike="noStrike">
                  <a:solidFill>
                    <a:srgbClr val="FFFFFF"/>
                  </a:solidFill>
                  <a:latin typeface="Poppins Medium"/>
                  <a:ea typeface="Poppins Medium"/>
                  <a:cs typeface="Poppins Medium"/>
                  <a:sym typeface="Poppins Medium"/>
                </a:rPr>
                <a:t>SEPARATOR</a:t>
              </a:r>
              <a:endParaRPr/>
            </a:p>
          </p:txBody>
        </p:sp>
        <p:sp>
          <p:nvSpPr>
            <p:cNvPr id="176" name="Google Shape;176;p9"/>
            <p:cNvSpPr txBox="1"/>
            <p:nvPr/>
          </p:nvSpPr>
          <p:spPr>
            <a:xfrm>
              <a:off x="0" y="1270000"/>
              <a:ext cx="10984002" cy="654051"/>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2999" u="none" cap="none" strike="noStrike">
                  <a:solidFill>
                    <a:srgbClr val="00C4CC"/>
                  </a:solidFill>
                  <a:latin typeface="Poppins"/>
                  <a:ea typeface="Poppins"/>
                  <a:cs typeface="Poppins"/>
                  <a:sym typeface="Poppins"/>
                </a:rPr>
                <a:t>Propiedades</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80" name="Shape 180"/>
        <p:cNvGrpSpPr/>
        <p:nvPr/>
      </p:nvGrpSpPr>
      <p:grpSpPr>
        <a:xfrm>
          <a:off x="0" y="0"/>
          <a:ext cx="0" cy="0"/>
          <a:chOff x="0" y="0"/>
          <a:chExt cx="0" cy="0"/>
        </a:xfrm>
      </p:grpSpPr>
      <p:grpSp>
        <p:nvGrpSpPr>
          <p:cNvPr id="181" name="Google Shape;181;p10"/>
          <p:cNvGrpSpPr/>
          <p:nvPr/>
        </p:nvGrpSpPr>
        <p:grpSpPr>
          <a:xfrm>
            <a:off x="1806024" y="2181761"/>
            <a:ext cx="14675953" cy="2263484"/>
            <a:chOff x="0" y="12700"/>
            <a:chExt cx="19567937" cy="3017978"/>
          </a:xfrm>
        </p:grpSpPr>
        <p:sp>
          <p:nvSpPr>
            <p:cNvPr id="182" name="Google Shape;182;p10"/>
            <p:cNvSpPr txBox="1"/>
            <p:nvPr/>
          </p:nvSpPr>
          <p:spPr>
            <a:xfrm>
              <a:off x="0" y="426754"/>
              <a:ext cx="19567937" cy="2603924"/>
            </a:xfrm>
            <a:prstGeom prst="rect">
              <a:avLst/>
            </a:prstGeom>
            <a:noFill/>
            <a:ln>
              <a:noFill/>
            </a:ln>
          </p:spPr>
          <p:txBody>
            <a:bodyPr anchorCtr="0" anchor="t" bIns="0" lIns="0" spcFirstLastPara="1" rIns="0" wrap="square" tIns="0">
              <a:spAutoFit/>
            </a:bodyPr>
            <a:lstStyle/>
            <a:p>
              <a:pPr indent="-302258" lvl="1" marL="604518" marR="0" rtl="0" algn="just">
                <a:lnSpc>
                  <a:spcPct val="140014"/>
                </a:lnSpc>
                <a:spcBef>
                  <a:spcPts val="0"/>
                </a:spcBef>
                <a:spcAft>
                  <a:spcPts val="0"/>
                </a:spcAft>
                <a:buClr>
                  <a:srgbClr val="FFFFFF"/>
                </a:buClr>
                <a:buSzPts val="2799"/>
                <a:buFont typeface="Arial"/>
                <a:buChar char="•"/>
              </a:pPr>
              <a:r>
                <a:rPr b="1" i="0" lang="en-US" sz="2799" u="none" cap="none" strike="noStrike">
                  <a:solidFill>
                    <a:srgbClr val="FFFFFF"/>
                  </a:solidFill>
                  <a:latin typeface="Poppins"/>
                  <a:ea typeface="Poppins"/>
                  <a:cs typeface="Poppins"/>
                  <a:sym typeface="Poppins"/>
                </a:rPr>
                <a:t>Match Condition: </a:t>
              </a:r>
              <a:r>
                <a:rPr b="0" i="0" lang="en-US" sz="2799" u="none" cap="none" strike="noStrike">
                  <a:solidFill>
                    <a:srgbClr val="FFFFFF"/>
                  </a:solidFill>
                  <a:latin typeface="Poppins Light"/>
                  <a:ea typeface="Poppins Light"/>
                  <a:cs typeface="Poppins Light"/>
                  <a:sym typeface="Poppins Light"/>
                </a:rPr>
                <a:t>indica la condición que se utilizará parafiltrar las entidades miembro del lote. Unicamente las entidades que cumplan con esta condición serán separadas del lote. Si no se establece, se separarán todas las entidades miembro, sin hacer ninguna diferencia.</a:t>
              </a:r>
              <a:endParaRPr/>
            </a:p>
          </p:txBody>
        </p:sp>
        <p:cxnSp>
          <p:nvCxnSpPr>
            <p:cNvPr id="183" name="Google Shape;183;p10"/>
            <p:cNvCxnSpPr/>
            <p:nvPr/>
          </p:nvCxnSpPr>
          <p:spPr>
            <a:xfrm>
              <a:off x="0" y="12700"/>
              <a:ext cx="19567937" cy="0"/>
            </a:xfrm>
            <a:prstGeom prst="straightConnector1">
              <a:avLst/>
            </a:prstGeom>
            <a:noFill/>
            <a:ln cap="rnd" cmpd="sng" w="25400">
              <a:solidFill>
                <a:srgbClr val="10B5BF"/>
              </a:solidFill>
              <a:prstDash val="solid"/>
              <a:round/>
              <a:headEnd len="sm" w="sm" type="none"/>
              <a:tailEnd len="sm" w="sm" type="none"/>
            </a:ln>
          </p:spPr>
        </p:cxnSp>
      </p:grpSp>
      <p:sp>
        <p:nvSpPr>
          <p:cNvPr id="184" name="Google Shape;184;p10"/>
          <p:cNvSpPr/>
          <p:nvPr/>
        </p:nvSpPr>
        <p:spPr>
          <a:xfrm>
            <a:off x="4121403" y="5344296"/>
            <a:ext cx="10045194" cy="4026287"/>
          </a:xfrm>
          <a:custGeom>
            <a:rect b="b" l="l" r="r" t="t"/>
            <a:pathLst>
              <a:path extrusionOk="0" h="4026287" w="10045194">
                <a:moveTo>
                  <a:pt x="0" y="0"/>
                </a:moveTo>
                <a:lnTo>
                  <a:pt x="10045194" y="0"/>
                </a:lnTo>
                <a:lnTo>
                  <a:pt x="10045194" y="4026286"/>
                </a:lnTo>
                <a:lnTo>
                  <a:pt x="0" y="4026286"/>
                </a:lnTo>
                <a:lnTo>
                  <a:pt x="0" y="0"/>
                </a:lnTo>
                <a:close/>
              </a:path>
            </a:pathLst>
          </a:custGeom>
          <a:blipFill rotWithShape="1">
            <a:blip r:embed="rId3">
              <a:alphaModFix/>
            </a:blip>
            <a:stretch>
              <a:fillRect b="-174979" l="0" r="0" t="-1492"/>
            </a:stretch>
          </a:blipFill>
          <a:ln>
            <a:noFill/>
          </a:ln>
        </p:spPr>
      </p:sp>
      <p:grpSp>
        <p:nvGrpSpPr>
          <p:cNvPr id="185" name="Google Shape;185;p10"/>
          <p:cNvGrpSpPr/>
          <p:nvPr/>
        </p:nvGrpSpPr>
        <p:grpSpPr>
          <a:xfrm>
            <a:off x="1028700" y="300037"/>
            <a:ext cx="8238001" cy="1450183"/>
            <a:chOff x="0" y="-9525"/>
            <a:chExt cx="10984002" cy="1933576"/>
          </a:xfrm>
        </p:grpSpPr>
        <p:sp>
          <p:nvSpPr>
            <p:cNvPr id="186" name="Google Shape;186;p10"/>
            <p:cNvSpPr txBox="1"/>
            <p:nvPr/>
          </p:nvSpPr>
          <p:spPr>
            <a:xfrm>
              <a:off x="0" y="-9525"/>
              <a:ext cx="10984002" cy="1635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8000" u="none" cap="none" strike="noStrike">
                  <a:solidFill>
                    <a:srgbClr val="FFFFFF"/>
                  </a:solidFill>
                  <a:latin typeface="Poppins Medium"/>
                  <a:ea typeface="Poppins Medium"/>
                  <a:cs typeface="Poppins Medium"/>
                  <a:sym typeface="Poppins Medium"/>
                </a:rPr>
                <a:t>SEPARATOR</a:t>
              </a:r>
              <a:endParaRPr/>
            </a:p>
          </p:txBody>
        </p:sp>
        <p:sp>
          <p:nvSpPr>
            <p:cNvPr id="187" name="Google Shape;187;p10"/>
            <p:cNvSpPr txBox="1"/>
            <p:nvPr/>
          </p:nvSpPr>
          <p:spPr>
            <a:xfrm>
              <a:off x="0" y="1270000"/>
              <a:ext cx="10984002" cy="654051"/>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2999" u="none" cap="none" strike="noStrike">
                  <a:solidFill>
                    <a:srgbClr val="00C4CC"/>
                  </a:solidFill>
                  <a:latin typeface="Poppins"/>
                  <a:ea typeface="Poppins"/>
                  <a:cs typeface="Poppins"/>
                  <a:sym typeface="Poppins"/>
                </a:rPr>
                <a:t>Propiedades</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91" name="Shape 191"/>
        <p:cNvGrpSpPr/>
        <p:nvPr/>
      </p:nvGrpSpPr>
      <p:grpSpPr>
        <a:xfrm>
          <a:off x="0" y="0"/>
          <a:ext cx="0" cy="0"/>
          <a:chOff x="0" y="0"/>
          <a:chExt cx="0" cy="0"/>
        </a:xfrm>
      </p:grpSpPr>
      <p:grpSp>
        <p:nvGrpSpPr>
          <p:cNvPr id="192" name="Google Shape;192;p11"/>
          <p:cNvGrpSpPr/>
          <p:nvPr/>
        </p:nvGrpSpPr>
        <p:grpSpPr>
          <a:xfrm>
            <a:off x="1028700" y="1787671"/>
            <a:ext cx="8841847" cy="6721184"/>
            <a:chOff x="0" y="12700"/>
            <a:chExt cx="11789129" cy="8961578"/>
          </a:xfrm>
        </p:grpSpPr>
        <p:sp>
          <p:nvSpPr>
            <p:cNvPr id="193" name="Google Shape;193;p11"/>
            <p:cNvSpPr txBox="1"/>
            <p:nvPr/>
          </p:nvSpPr>
          <p:spPr>
            <a:xfrm>
              <a:off x="0" y="426754"/>
              <a:ext cx="11789129" cy="8547524"/>
            </a:xfrm>
            <a:prstGeom prst="rect">
              <a:avLst/>
            </a:prstGeom>
            <a:noFill/>
            <a:ln>
              <a:noFill/>
            </a:ln>
          </p:spPr>
          <p:txBody>
            <a:bodyPr anchorCtr="0" anchor="t" bIns="0" lIns="0" spcFirstLastPara="1" rIns="0" wrap="square" tIns="0">
              <a:spAutoFit/>
            </a:bodyPr>
            <a:lstStyle/>
            <a:p>
              <a:pPr indent="-302258" lvl="1" marL="604518" marR="0" rtl="0" algn="just">
                <a:lnSpc>
                  <a:spcPct val="140014"/>
                </a:lnSpc>
                <a:spcBef>
                  <a:spcPts val="0"/>
                </a:spcBef>
                <a:spcAft>
                  <a:spcPts val="0"/>
                </a:spcAft>
                <a:buClr>
                  <a:srgbClr val="FFFFFF"/>
                </a:buClr>
                <a:buSzPts val="2799"/>
                <a:buFont typeface="Arial"/>
                <a:buChar char="•"/>
              </a:pPr>
              <a:r>
                <a:rPr b="1" i="0" lang="en-US" sz="2799" u="none" cap="none" strike="noStrike">
                  <a:solidFill>
                    <a:srgbClr val="FFFFFF"/>
                  </a:solidFill>
                  <a:latin typeface="Poppins"/>
                  <a:ea typeface="Poppins"/>
                  <a:cs typeface="Poppins"/>
                  <a:sym typeface="Poppins"/>
                </a:rPr>
                <a:t>Capacity Type:</a:t>
              </a:r>
              <a:r>
                <a:rPr b="0" i="0" lang="en-US" sz="2799" u="none" cap="none" strike="noStrike">
                  <a:solidFill>
                    <a:srgbClr val="FFFFFF"/>
                  </a:solidFill>
                  <a:latin typeface="Poppins Light"/>
                  <a:ea typeface="Poppins Light"/>
                  <a:cs typeface="Poppins Light"/>
                  <a:sym typeface="Poppins Light"/>
                </a:rPr>
                <a:t> define la forma de trabajo delseparador.</a:t>
              </a:r>
              <a:endParaRPr/>
            </a:p>
            <a:p>
              <a:pPr indent="0" lvl="0" marL="0" marR="0" rtl="0" algn="just">
                <a:lnSpc>
                  <a:spcPct val="140014"/>
                </a:lnSpc>
                <a:spcBef>
                  <a:spcPts val="0"/>
                </a:spcBef>
                <a:spcAft>
                  <a:spcPts val="0"/>
                </a:spcAft>
                <a:buNone/>
              </a:pPr>
              <a:r>
                <a:t/>
              </a:r>
              <a:endParaRPr b="0" i="0" sz="2799" u="none" cap="none" strike="noStrike">
                <a:solidFill>
                  <a:srgbClr val="FFFFFF"/>
                </a:solidFill>
                <a:latin typeface="Poppins Light"/>
                <a:ea typeface="Poppins Light"/>
                <a:cs typeface="Poppins Light"/>
                <a:sym typeface="Poppins Light"/>
              </a:endParaRPr>
            </a:p>
            <a:p>
              <a:pPr indent="-302258" lvl="1" marL="604518" marR="0" rtl="0" algn="just">
                <a:lnSpc>
                  <a:spcPct val="140014"/>
                </a:lnSpc>
                <a:spcBef>
                  <a:spcPts val="0"/>
                </a:spcBef>
                <a:spcAft>
                  <a:spcPts val="0"/>
                </a:spcAft>
                <a:buClr>
                  <a:srgbClr val="FFFFFF"/>
                </a:buClr>
                <a:buSzPts val="2799"/>
                <a:buFont typeface="Arial"/>
                <a:buChar char="•"/>
              </a:pPr>
              <a:r>
                <a:rPr b="1" i="0" lang="en-US" sz="2799" u="none" cap="none" strike="noStrike">
                  <a:solidFill>
                    <a:srgbClr val="FFFFFF"/>
                  </a:solidFill>
                  <a:latin typeface="Poppins"/>
                  <a:ea typeface="Poppins"/>
                  <a:cs typeface="Poppins"/>
                  <a:sym typeface="Poppins"/>
                </a:rPr>
                <a:t>Initial Capacity:</a:t>
              </a:r>
              <a:r>
                <a:rPr b="0" i="0" lang="en-US" sz="2799" u="none" cap="none" strike="noStrike">
                  <a:solidFill>
                    <a:srgbClr val="FFFFFF"/>
                  </a:solidFill>
                  <a:latin typeface="Poppins Light"/>
                  <a:ea typeface="Poppins Light"/>
                  <a:cs typeface="Poppins Light"/>
                  <a:sym typeface="Poppins Light"/>
                </a:rPr>
                <a:t> establece la cantidad de lotes que se pueden separar simultáneamente.</a:t>
              </a:r>
              <a:endParaRPr/>
            </a:p>
            <a:p>
              <a:pPr indent="0" lvl="0" marL="0" marR="0" rtl="0" algn="just">
                <a:lnSpc>
                  <a:spcPct val="140014"/>
                </a:lnSpc>
                <a:spcBef>
                  <a:spcPts val="0"/>
                </a:spcBef>
                <a:spcAft>
                  <a:spcPts val="0"/>
                </a:spcAft>
                <a:buNone/>
              </a:pPr>
              <a:r>
                <a:t/>
              </a:r>
              <a:endParaRPr b="0" i="0" sz="2799" u="none" cap="none" strike="noStrike">
                <a:solidFill>
                  <a:srgbClr val="FFFFFF"/>
                </a:solidFill>
                <a:latin typeface="Poppins Light"/>
                <a:ea typeface="Poppins Light"/>
                <a:cs typeface="Poppins Light"/>
                <a:sym typeface="Poppins Light"/>
              </a:endParaRPr>
            </a:p>
            <a:p>
              <a:pPr indent="-302258" lvl="1" marL="604518" marR="0" rtl="0" algn="just">
                <a:lnSpc>
                  <a:spcPct val="140014"/>
                </a:lnSpc>
                <a:spcBef>
                  <a:spcPts val="0"/>
                </a:spcBef>
                <a:spcAft>
                  <a:spcPts val="0"/>
                </a:spcAft>
                <a:buClr>
                  <a:srgbClr val="FFFFFF"/>
                </a:buClr>
                <a:buSzPts val="2799"/>
                <a:buFont typeface="Arial"/>
                <a:buChar char="•"/>
              </a:pPr>
              <a:r>
                <a:rPr b="1" i="0" lang="en-US" sz="2799" u="none" cap="none" strike="noStrike">
                  <a:solidFill>
                    <a:srgbClr val="FFFFFF"/>
                  </a:solidFill>
                  <a:latin typeface="Poppins"/>
                  <a:ea typeface="Poppins"/>
                  <a:cs typeface="Poppins"/>
                  <a:sym typeface="Poppins"/>
                </a:rPr>
                <a:t>Ranking Rule: </a:t>
              </a:r>
              <a:r>
                <a:rPr b="0" i="0" lang="en-US" sz="2799" u="none" cap="none" strike="noStrike">
                  <a:solidFill>
                    <a:srgbClr val="FFFFFF"/>
                  </a:solidFill>
                  <a:latin typeface="Poppins Light"/>
                  <a:ea typeface="Poppins Light"/>
                  <a:cs typeface="Poppins Light"/>
                  <a:sym typeface="Poppins Light"/>
                </a:rPr>
                <a:t>es la regla estática a utilizarparaordenar las entidades en espera.</a:t>
              </a:r>
              <a:endParaRPr/>
            </a:p>
            <a:p>
              <a:pPr indent="0" lvl="0" marL="0" marR="0" rtl="0" algn="just">
                <a:lnSpc>
                  <a:spcPct val="140014"/>
                </a:lnSpc>
                <a:spcBef>
                  <a:spcPts val="0"/>
                </a:spcBef>
                <a:spcAft>
                  <a:spcPts val="0"/>
                </a:spcAft>
                <a:buNone/>
              </a:pPr>
              <a:r>
                <a:t/>
              </a:r>
              <a:endParaRPr b="0" i="0" sz="2799" u="none" cap="none" strike="noStrike">
                <a:solidFill>
                  <a:srgbClr val="FFFFFF"/>
                </a:solidFill>
                <a:latin typeface="Poppins Light"/>
                <a:ea typeface="Poppins Light"/>
                <a:cs typeface="Poppins Light"/>
                <a:sym typeface="Poppins Light"/>
              </a:endParaRPr>
            </a:p>
            <a:p>
              <a:pPr indent="-302258" lvl="1" marL="604518" marR="0" rtl="0" algn="just">
                <a:lnSpc>
                  <a:spcPct val="140014"/>
                </a:lnSpc>
                <a:spcBef>
                  <a:spcPts val="0"/>
                </a:spcBef>
                <a:spcAft>
                  <a:spcPts val="0"/>
                </a:spcAft>
                <a:buClr>
                  <a:srgbClr val="FFFFFF"/>
                </a:buClr>
                <a:buSzPts val="2799"/>
                <a:buFont typeface="Arial"/>
                <a:buChar char="•"/>
              </a:pPr>
              <a:r>
                <a:rPr b="1" i="0" lang="en-US" sz="2799" u="none" cap="none" strike="noStrike">
                  <a:solidFill>
                    <a:srgbClr val="FFFFFF"/>
                  </a:solidFill>
                  <a:latin typeface="Poppins"/>
                  <a:ea typeface="Poppins"/>
                  <a:cs typeface="Poppins"/>
                  <a:sym typeface="Poppins"/>
                </a:rPr>
                <a:t>Dynamic Selection Rule:</a:t>
              </a:r>
              <a:r>
                <a:rPr b="0" i="0" lang="en-US" sz="2799" u="none" cap="none" strike="noStrike">
                  <a:solidFill>
                    <a:srgbClr val="FFFFFF"/>
                  </a:solidFill>
                  <a:latin typeface="Poppins Light"/>
                  <a:ea typeface="Poppins Light"/>
                  <a:cs typeface="Poppins Light"/>
                  <a:sym typeface="Poppins Light"/>
                </a:rPr>
                <a:t> indica si este objeto seleccionará de manera dinámica la próxima entidad a ser separada utilizando una regla dinámica de selección.</a:t>
              </a:r>
              <a:endParaRPr/>
            </a:p>
          </p:txBody>
        </p:sp>
        <p:cxnSp>
          <p:nvCxnSpPr>
            <p:cNvPr id="194" name="Google Shape;194;p11"/>
            <p:cNvCxnSpPr/>
            <p:nvPr/>
          </p:nvCxnSpPr>
          <p:spPr>
            <a:xfrm>
              <a:off x="0" y="12700"/>
              <a:ext cx="11789129" cy="0"/>
            </a:xfrm>
            <a:prstGeom prst="straightConnector1">
              <a:avLst/>
            </a:prstGeom>
            <a:noFill/>
            <a:ln cap="rnd" cmpd="sng" w="25400">
              <a:solidFill>
                <a:srgbClr val="10B5BF"/>
              </a:solidFill>
              <a:prstDash val="solid"/>
              <a:round/>
              <a:headEnd len="sm" w="sm" type="none"/>
              <a:tailEnd len="sm" w="sm" type="none"/>
            </a:ln>
          </p:spPr>
        </p:cxnSp>
      </p:grpSp>
      <p:sp>
        <p:nvSpPr>
          <p:cNvPr id="195" name="Google Shape;195;p11"/>
          <p:cNvSpPr/>
          <p:nvPr/>
        </p:nvSpPr>
        <p:spPr>
          <a:xfrm>
            <a:off x="10294190" y="2957084"/>
            <a:ext cx="6965110" cy="4372832"/>
          </a:xfrm>
          <a:custGeom>
            <a:rect b="b" l="l" r="r" t="t"/>
            <a:pathLst>
              <a:path extrusionOk="0" h="4372832" w="6965110">
                <a:moveTo>
                  <a:pt x="0" y="0"/>
                </a:moveTo>
                <a:lnTo>
                  <a:pt x="6965110" y="0"/>
                </a:lnTo>
                <a:lnTo>
                  <a:pt x="6965110" y="4372832"/>
                </a:lnTo>
                <a:lnTo>
                  <a:pt x="0" y="4372832"/>
                </a:lnTo>
                <a:lnTo>
                  <a:pt x="0" y="0"/>
                </a:lnTo>
                <a:close/>
              </a:path>
            </a:pathLst>
          </a:custGeom>
          <a:blipFill rotWithShape="1">
            <a:blip r:embed="rId3">
              <a:alphaModFix/>
            </a:blip>
            <a:stretch>
              <a:fillRect b="0" l="0" r="0" t="0"/>
            </a:stretch>
          </a:blipFill>
          <a:ln>
            <a:noFill/>
          </a:ln>
        </p:spPr>
      </p:sp>
      <p:grpSp>
        <p:nvGrpSpPr>
          <p:cNvPr id="196" name="Google Shape;196;p11"/>
          <p:cNvGrpSpPr/>
          <p:nvPr/>
        </p:nvGrpSpPr>
        <p:grpSpPr>
          <a:xfrm>
            <a:off x="1028700" y="300037"/>
            <a:ext cx="8238001" cy="1450183"/>
            <a:chOff x="0" y="-9525"/>
            <a:chExt cx="10984002" cy="1933576"/>
          </a:xfrm>
        </p:grpSpPr>
        <p:sp>
          <p:nvSpPr>
            <p:cNvPr id="197" name="Google Shape;197;p11"/>
            <p:cNvSpPr txBox="1"/>
            <p:nvPr/>
          </p:nvSpPr>
          <p:spPr>
            <a:xfrm>
              <a:off x="0" y="-9525"/>
              <a:ext cx="10984002" cy="1635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8000" u="none" cap="none" strike="noStrike">
                  <a:solidFill>
                    <a:srgbClr val="FFFFFF"/>
                  </a:solidFill>
                  <a:latin typeface="Poppins Medium"/>
                  <a:ea typeface="Poppins Medium"/>
                  <a:cs typeface="Poppins Medium"/>
                  <a:sym typeface="Poppins Medium"/>
                </a:rPr>
                <a:t>SEPARATOR</a:t>
              </a:r>
              <a:endParaRPr/>
            </a:p>
          </p:txBody>
        </p:sp>
        <p:sp>
          <p:nvSpPr>
            <p:cNvPr id="198" name="Google Shape;198;p11"/>
            <p:cNvSpPr txBox="1"/>
            <p:nvPr/>
          </p:nvSpPr>
          <p:spPr>
            <a:xfrm>
              <a:off x="0" y="1270000"/>
              <a:ext cx="10984002" cy="654051"/>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2999" u="none" cap="none" strike="noStrike">
                  <a:solidFill>
                    <a:srgbClr val="00C4CC"/>
                  </a:solidFill>
                  <a:latin typeface="Poppins"/>
                  <a:ea typeface="Poppins"/>
                  <a:cs typeface="Poppins"/>
                  <a:sym typeface="Poppins"/>
                </a:rPr>
                <a:t>Propiedades -&gt; Process Logic</a:t>
              </a: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02" name="Shape 202"/>
        <p:cNvGrpSpPr/>
        <p:nvPr/>
      </p:nvGrpSpPr>
      <p:grpSpPr>
        <a:xfrm>
          <a:off x="0" y="0"/>
          <a:ext cx="0" cy="0"/>
          <a:chOff x="0" y="0"/>
          <a:chExt cx="0" cy="0"/>
        </a:xfrm>
      </p:grpSpPr>
      <p:grpSp>
        <p:nvGrpSpPr>
          <p:cNvPr id="203" name="Google Shape;203;p12"/>
          <p:cNvGrpSpPr/>
          <p:nvPr/>
        </p:nvGrpSpPr>
        <p:grpSpPr>
          <a:xfrm>
            <a:off x="1028700" y="1787671"/>
            <a:ext cx="8925430" cy="6721184"/>
            <a:chOff x="0" y="12700"/>
            <a:chExt cx="11900573" cy="8961578"/>
          </a:xfrm>
        </p:grpSpPr>
        <p:sp>
          <p:nvSpPr>
            <p:cNvPr id="204" name="Google Shape;204;p12"/>
            <p:cNvSpPr txBox="1"/>
            <p:nvPr/>
          </p:nvSpPr>
          <p:spPr>
            <a:xfrm>
              <a:off x="0" y="426754"/>
              <a:ext cx="11900573" cy="8547524"/>
            </a:xfrm>
            <a:prstGeom prst="rect">
              <a:avLst/>
            </a:prstGeom>
            <a:noFill/>
            <a:ln>
              <a:noFill/>
            </a:ln>
          </p:spPr>
          <p:txBody>
            <a:bodyPr anchorCtr="0" anchor="t" bIns="0" lIns="0" spcFirstLastPara="1" rIns="0" wrap="square" tIns="0">
              <a:spAutoFit/>
            </a:bodyPr>
            <a:lstStyle/>
            <a:p>
              <a:pPr indent="-302258" lvl="1" marL="604518" marR="0" rtl="0" algn="just">
                <a:lnSpc>
                  <a:spcPct val="140014"/>
                </a:lnSpc>
                <a:spcBef>
                  <a:spcPts val="0"/>
                </a:spcBef>
                <a:spcAft>
                  <a:spcPts val="0"/>
                </a:spcAft>
                <a:buClr>
                  <a:srgbClr val="FFFFFF"/>
                </a:buClr>
                <a:buSzPts val="2799"/>
                <a:buFont typeface="Arial"/>
                <a:buChar char="•"/>
              </a:pPr>
              <a:r>
                <a:rPr b="1" i="0" lang="en-US" sz="2799" u="none" cap="none" strike="noStrike">
                  <a:solidFill>
                    <a:srgbClr val="FFFFFF"/>
                  </a:solidFill>
                  <a:latin typeface="Poppins"/>
                  <a:ea typeface="Poppins"/>
                  <a:cs typeface="Poppins"/>
                  <a:sym typeface="Poppins"/>
                </a:rPr>
                <a:t>Transfer-ln Time: </a:t>
              </a:r>
              <a:r>
                <a:rPr b="0" i="0" lang="en-US" sz="2799" u="none" cap="none" strike="noStrike">
                  <a:solidFill>
                    <a:srgbClr val="FFFFFF"/>
                  </a:solidFill>
                  <a:latin typeface="Poppins Light"/>
                  <a:ea typeface="Poppins Light"/>
                  <a:cs typeface="Poppins Light"/>
                  <a:sym typeface="Poppins Light"/>
                </a:rPr>
                <a:t>el tiempo que toma transferir una entidad al separador.</a:t>
              </a:r>
              <a:endParaRPr/>
            </a:p>
            <a:p>
              <a:pPr indent="0" lvl="0" marL="0" marR="0" rtl="0" algn="just">
                <a:lnSpc>
                  <a:spcPct val="140014"/>
                </a:lnSpc>
                <a:spcBef>
                  <a:spcPts val="0"/>
                </a:spcBef>
                <a:spcAft>
                  <a:spcPts val="0"/>
                </a:spcAft>
                <a:buNone/>
              </a:pPr>
              <a:r>
                <a:t/>
              </a:r>
              <a:endParaRPr b="0" i="0" sz="2799" u="none" cap="none" strike="noStrike">
                <a:solidFill>
                  <a:srgbClr val="FFFFFF"/>
                </a:solidFill>
                <a:latin typeface="Poppins Light"/>
                <a:ea typeface="Poppins Light"/>
                <a:cs typeface="Poppins Light"/>
                <a:sym typeface="Poppins Light"/>
              </a:endParaRPr>
            </a:p>
            <a:p>
              <a:pPr indent="-302258" lvl="1" marL="604518" marR="0" rtl="0" algn="just">
                <a:lnSpc>
                  <a:spcPct val="140014"/>
                </a:lnSpc>
                <a:spcBef>
                  <a:spcPts val="0"/>
                </a:spcBef>
                <a:spcAft>
                  <a:spcPts val="0"/>
                </a:spcAft>
                <a:buClr>
                  <a:srgbClr val="FFFFFF"/>
                </a:buClr>
                <a:buSzPts val="2799"/>
                <a:buFont typeface="Arial"/>
                <a:buChar char="•"/>
              </a:pPr>
              <a:r>
                <a:rPr b="1" i="0" lang="en-US" sz="2799" u="none" cap="none" strike="noStrike">
                  <a:solidFill>
                    <a:srgbClr val="FFFFFF"/>
                  </a:solidFill>
                  <a:latin typeface="Poppins"/>
                  <a:ea typeface="Poppins"/>
                  <a:cs typeface="Poppins"/>
                  <a:sym typeface="Poppins"/>
                </a:rPr>
                <a:t>Process Type: </a:t>
              </a:r>
              <a:r>
                <a:rPr b="0" i="0" lang="en-US" sz="2799" u="none" cap="none" strike="noStrike">
                  <a:solidFill>
                    <a:srgbClr val="FFFFFF"/>
                  </a:solidFill>
                  <a:latin typeface="Poppins Light"/>
                  <a:ea typeface="Poppins Light"/>
                  <a:cs typeface="Poppins Light"/>
                  <a:sym typeface="Poppins Light"/>
                </a:rPr>
                <a:t>es el tipo de procesamiento de entidades.</a:t>
              </a:r>
              <a:endParaRPr/>
            </a:p>
            <a:p>
              <a:pPr indent="0" lvl="0" marL="0" marR="0" rtl="0" algn="just">
                <a:lnSpc>
                  <a:spcPct val="140014"/>
                </a:lnSpc>
                <a:spcBef>
                  <a:spcPts val="0"/>
                </a:spcBef>
                <a:spcAft>
                  <a:spcPts val="0"/>
                </a:spcAft>
                <a:buNone/>
              </a:pPr>
              <a:r>
                <a:t/>
              </a:r>
              <a:endParaRPr b="0" i="0" sz="2799" u="none" cap="none" strike="noStrike">
                <a:solidFill>
                  <a:srgbClr val="FFFFFF"/>
                </a:solidFill>
                <a:latin typeface="Poppins Light"/>
                <a:ea typeface="Poppins Light"/>
                <a:cs typeface="Poppins Light"/>
                <a:sym typeface="Poppins Light"/>
              </a:endParaRPr>
            </a:p>
            <a:p>
              <a:pPr indent="-302258" lvl="1" marL="604518" marR="0" rtl="0" algn="just">
                <a:lnSpc>
                  <a:spcPct val="140014"/>
                </a:lnSpc>
                <a:spcBef>
                  <a:spcPts val="0"/>
                </a:spcBef>
                <a:spcAft>
                  <a:spcPts val="0"/>
                </a:spcAft>
                <a:buClr>
                  <a:srgbClr val="FFFFFF"/>
                </a:buClr>
                <a:buSzPts val="2799"/>
                <a:buFont typeface="Arial"/>
                <a:buChar char="•"/>
              </a:pPr>
              <a:r>
                <a:rPr b="1" i="0" lang="en-US" sz="2799" u="none" cap="none" strike="noStrike">
                  <a:solidFill>
                    <a:srgbClr val="FFFFFF"/>
                  </a:solidFill>
                  <a:latin typeface="Poppins"/>
                  <a:ea typeface="Poppins"/>
                  <a:cs typeface="Poppins"/>
                  <a:sym typeface="Poppins"/>
                </a:rPr>
                <a:t>Processing Time: </a:t>
              </a:r>
              <a:r>
                <a:rPr b="0" i="0" lang="en-US" sz="2799" u="none" cap="none" strike="noStrike">
                  <a:solidFill>
                    <a:srgbClr val="FFFFFF"/>
                  </a:solidFill>
                  <a:latin typeface="Poppins Light"/>
                  <a:ea typeface="Poppins Light"/>
                  <a:cs typeface="Poppins Light"/>
                  <a:sym typeface="Poppins Light"/>
                </a:rPr>
                <a:t>define el tiempo de separar, generalmente se utiliza una distribución de probabilidad para definirlo.</a:t>
              </a:r>
              <a:endParaRPr/>
            </a:p>
            <a:p>
              <a:pPr indent="0" lvl="0" marL="0" marR="0" rtl="0" algn="just">
                <a:lnSpc>
                  <a:spcPct val="140014"/>
                </a:lnSpc>
                <a:spcBef>
                  <a:spcPts val="0"/>
                </a:spcBef>
                <a:spcAft>
                  <a:spcPts val="0"/>
                </a:spcAft>
                <a:buNone/>
              </a:pPr>
              <a:r>
                <a:t/>
              </a:r>
              <a:endParaRPr b="0" i="0" sz="2799" u="none" cap="none" strike="noStrike">
                <a:solidFill>
                  <a:srgbClr val="FFFFFF"/>
                </a:solidFill>
                <a:latin typeface="Poppins Light"/>
                <a:ea typeface="Poppins Light"/>
                <a:cs typeface="Poppins Light"/>
                <a:sym typeface="Poppins Light"/>
              </a:endParaRPr>
            </a:p>
            <a:p>
              <a:pPr indent="-302258" lvl="1" marL="604518" marR="0" rtl="0" algn="just">
                <a:lnSpc>
                  <a:spcPct val="140014"/>
                </a:lnSpc>
                <a:spcBef>
                  <a:spcPts val="0"/>
                </a:spcBef>
                <a:spcAft>
                  <a:spcPts val="0"/>
                </a:spcAft>
                <a:buClr>
                  <a:srgbClr val="FFFFFF"/>
                </a:buClr>
                <a:buSzPts val="2799"/>
                <a:buFont typeface="Arial"/>
                <a:buChar char="•"/>
              </a:pPr>
              <a:r>
                <a:rPr b="1" i="0" lang="en-US" sz="2799" u="none" cap="none" strike="noStrike">
                  <a:solidFill>
                    <a:srgbClr val="FFFFFF"/>
                  </a:solidFill>
                  <a:latin typeface="Poppins"/>
                  <a:ea typeface="Poppins"/>
                  <a:cs typeface="Poppins"/>
                  <a:sym typeface="Poppins"/>
                </a:rPr>
                <a:t>Off Shift Rule: </a:t>
              </a:r>
              <a:r>
                <a:rPr b="0" i="0" lang="en-US" sz="2799" u="none" cap="none" strike="noStrike">
                  <a:solidFill>
                    <a:srgbClr val="FFFFFF"/>
                  </a:solidFill>
                  <a:latin typeface="Poppins Light"/>
                  <a:ea typeface="Poppins Light"/>
                  <a:cs typeface="Poppins Light"/>
                  <a:sym typeface="Poppins Light"/>
                </a:rPr>
                <a:t>indica la política que utilizará el objeto para determinar qué hacer cuando se acabe el turno y exista una entidad en proceso.</a:t>
              </a:r>
              <a:endParaRPr/>
            </a:p>
          </p:txBody>
        </p:sp>
        <p:cxnSp>
          <p:nvCxnSpPr>
            <p:cNvPr id="205" name="Google Shape;205;p12"/>
            <p:cNvCxnSpPr/>
            <p:nvPr/>
          </p:nvCxnSpPr>
          <p:spPr>
            <a:xfrm>
              <a:off x="0" y="12700"/>
              <a:ext cx="11900573" cy="0"/>
            </a:xfrm>
            <a:prstGeom prst="straightConnector1">
              <a:avLst/>
            </a:prstGeom>
            <a:noFill/>
            <a:ln cap="rnd" cmpd="sng" w="25400">
              <a:solidFill>
                <a:srgbClr val="10B5BF"/>
              </a:solidFill>
              <a:prstDash val="solid"/>
              <a:round/>
              <a:headEnd len="sm" w="sm" type="none"/>
              <a:tailEnd len="sm" w="sm" type="none"/>
            </a:ln>
          </p:spPr>
        </p:cxnSp>
      </p:grpSp>
      <p:sp>
        <p:nvSpPr>
          <p:cNvPr id="206" name="Google Shape;206;p12"/>
          <p:cNvSpPr/>
          <p:nvPr/>
        </p:nvSpPr>
        <p:spPr>
          <a:xfrm>
            <a:off x="10294190" y="2957084"/>
            <a:ext cx="6965110" cy="4372832"/>
          </a:xfrm>
          <a:custGeom>
            <a:rect b="b" l="l" r="r" t="t"/>
            <a:pathLst>
              <a:path extrusionOk="0" h="4372832" w="6965110">
                <a:moveTo>
                  <a:pt x="0" y="0"/>
                </a:moveTo>
                <a:lnTo>
                  <a:pt x="6965110" y="0"/>
                </a:lnTo>
                <a:lnTo>
                  <a:pt x="6965110" y="4372832"/>
                </a:lnTo>
                <a:lnTo>
                  <a:pt x="0" y="4372832"/>
                </a:lnTo>
                <a:lnTo>
                  <a:pt x="0" y="0"/>
                </a:lnTo>
                <a:close/>
              </a:path>
            </a:pathLst>
          </a:custGeom>
          <a:blipFill rotWithShape="1">
            <a:blip r:embed="rId3">
              <a:alphaModFix/>
            </a:blip>
            <a:stretch>
              <a:fillRect b="0" l="0" r="0" t="0"/>
            </a:stretch>
          </a:blipFill>
          <a:ln>
            <a:noFill/>
          </a:ln>
        </p:spPr>
      </p:sp>
      <p:grpSp>
        <p:nvGrpSpPr>
          <p:cNvPr id="207" name="Google Shape;207;p12"/>
          <p:cNvGrpSpPr/>
          <p:nvPr/>
        </p:nvGrpSpPr>
        <p:grpSpPr>
          <a:xfrm>
            <a:off x="1028700" y="300037"/>
            <a:ext cx="8238001" cy="1450183"/>
            <a:chOff x="0" y="-9525"/>
            <a:chExt cx="10984002" cy="1933576"/>
          </a:xfrm>
        </p:grpSpPr>
        <p:sp>
          <p:nvSpPr>
            <p:cNvPr id="208" name="Google Shape;208;p12"/>
            <p:cNvSpPr txBox="1"/>
            <p:nvPr/>
          </p:nvSpPr>
          <p:spPr>
            <a:xfrm>
              <a:off x="0" y="-9525"/>
              <a:ext cx="10984002" cy="1635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8000" u="none" cap="none" strike="noStrike">
                  <a:solidFill>
                    <a:srgbClr val="FFFFFF"/>
                  </a:solidFill>
                  <a:latin typeface="Poppins Medium"/>
                  <a:ea typeface="Poppins Medium"/>
                  <a:cs typeface="Poppins Medium"/>
                  <a:sym typeface="Poppins Medium"/>
                </a:rPr>
                <a:t>SEPARATOR</a:t>
              </a:r>
              <a:endParaRPr/>
            </a:p>
          </p:txBody>
        </p:sp>
        <p:sp>
          <p:nvSpPr>
            <p:cNvPr id="209" name="Google Shape;209;p12"/>
            <p:cNvSpPr txBox="1"/>
            <p:nvPr/>
          </p:nvSpPr>
          <p:spPr>
            <a:xfrm>
              <a:off x="0" y="1270000"/>
              <a:ext cx="10984002" cy="654051"/>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2999" u="none" cap="none" strike="noStrike">
                  <a:solidFill>
                    <a:srgbClr val="00C4CC"/>
                  </a:solidFill>
                  <a:latin typeface="Poppins"/>
                  <a:ea typeface="Poppins"/>
                  <a:cs typeface="Poppins"/>
                  <a:sym typeface="Poppins"/>
                </a:rPr>
                <a:t>Propiedades -&gt; Process Logic</a:t>
              </a: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13" name="Shape 213"/>
        <p:cNvGrpSpPr/>
        <p:nvPr/>
      </p:nvGrpSpPr>
      <p:grpSpPr>
        <a:xfrm>
          <a:off x="0" y="0"/>
          <a:ext cx="0" cy="0"/>
          <a:chOff x="0" y="0"/>
          <a:chExt cx="0" cy="0"/>
        </a:xfrm>
      </p:grpSpPr>
      <p:sp>
        <p:nvSpPr>
          <p:cNvPr id="214" name="Google Shape;214;p13"/>
          <p:cNvSpPr txBox="1"/>
          <p:nvPr/>
        </p:nvSpPr>
        <p:spPr>
          <a:xfrm>
            <a:off x="1487970" y="4428069"/>
            <a:ext cx="15312059" cy="1526113"/>
          </a:xfrm>
          <a:prstGeom prst="rect">
            <a:avLst/>
          </a:prstGeom>
          <a:noFill/>
          <a:ln>
            <a:noFill/>
          </a:ln>
        </p:spPr>
        <p:txBody>
          <a:bodyPr anchorCtr="0" anchor="t" bIns="0" lIns="0" spcFirstLastPara="1" rIns="0" wrap="square" tIns="0">
            <a:spAutoFit/>
          </a:bodyPr>
          <a:lstStyle/>
          <a:p>
            <a:pPr indent="0" lvl="0" marL="0" marR="0" rtl="0" algn="ctr">
              <a:lnSpc>
                <a:spcPct val="109994"/>
              </a:lnSpc>
              <a:spcBef>
                <a:spcPts val="0"/>
              </a:spcBef>
              <a:spcAft>
                <a:spcPts val="0"/>
              </a:spcAft>
              <a:buNone/>
            </a:pPr>
            <a:r>
              <a:rPr b="1" i="0" lang="en-US" sz="10666" u="none" cap="none" strike="noStrike">
                <a:solidFill>
                  <a:srgbClr val="FFFFFF"/>
                </a:solidFill>
                <a:latin typeface="Poppins"/>
                <a:ea typeface="Poppins"/>
                <a:cs typeface="Poppins"/>
                <a:sym typeface="Poppins"/>
              </a:rPr>
              <a:t>EJEMPLO</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18" name="Shape 218"/>
        <p:cNvGrpSpPr/>
        <p:nvPr/>
      </p:nvGrpSpPr>
      <p:grpSpPr>
        <a:xfrm>
          <a:off x="0" y="0"/>
          <a:ext cx="0" cy="0"/>
          <a:chOff x="0" y="0"/>
          <a:chExt cx="0" cy="0"/>
        </a:xfrm>
      </p:grpSpPr>
      <p:grpSp>
        <p:nvGrpSpPr>
          <p:cNvPr id="219" name="Google Shape;219;p14"/>
          <p:cNvGrpSpPr/>
          <p:nvPr/>
        </p:nvGrpSpPr>
        <p:grpSpPr>
          <a:xfrm>
            <a:off x="862671" y="2056346"/>
            <a:ext cx="13703673" cy="6399555"/>
            <a:chOff x="0" y="-57150"/>
            <a:chExt cx="3609198" cy="1685480"/>
          </a:xfrm>
        </p:grpSpPr>
        <p:sp>
          <p:nvSpPr>
            <p:cNvPr id="220" name="Google Shape;220;p14"/>
            <p:cNvSpPr/>
            <p:nvPr/>
          </p:nvSpPr>
          <p:spPr>
            <a:xfrm>
              <a:off x="0" y="0"/>
              <a:ext cx="3609198" cy="1628330"/>
            </a:xfrm>
            <a:custGeom>
              <a:rect b="b" l="l" r="r" t="t"/>
              <a:pathLst>
                <a:path extrusionOk="0" h="1628330" w="3609198">
                  <a:moveTo>
                    <a:pt x="28813" y="0"/>
                  </a:moveTo>
                  <a:lnTo>
                    <a:pt x="3580385" y="0"/>
                  </a:lnTo>
                  <a:cubicBezTo>
                    <a:pt x="3588027" y="0"/>
                    <a:pt x="3595355" y="3036"/>
                    <a:pt x="3600759" y="8439"/>
                  </a:cubicBezTo>
                  <a:cubicBezTo>
                    <a:pt x="3606162" y="13842"/>
                    <a:pt x="3609198" y="21171"/>
                    <a:pt x="3609198" y="28813"/>
                  </a:cubicBezTo>
                  <a:lnTo>
                    <a:pt x="3609198" y="1599517"/>
                  </a:lnTo>
                  <a:cubicBezTo>
                    <a:pt x="3609198" y="1615430"/>
                    <a:pt x="3596298" y="1628330"/>
                    <a:pt x="3580385" y="1628330"/>
                  </a:cubicBezTo>
                  <a:lnTo>
                    <a:pt x="28813" y="1628330"/>
                  </a:lnTo>
                  <a:cubicBezTo>
                    <a:pt x="21171" y="1628330"/>
                    <a:pt x="13842" y="1625294"/>
                    <a:pt x="8439" y="1619891"/>
                  </a:cubicBezTo>
                  <a:cubicBezTo>
                    <a:pt x="3036" y="1614487"/>
                    <a:pt x="0" y="1607159"/>
                    <a:pt x="0" y="1599517"/>
                  </a:cubicBezTo>
                  <a:lnTo>
                    <a:pt x="0" y="28813"/>
                  </a:lnTo>
                  <a:cubicBezTo>
                    <a:pt x="0" y="21171"/>
                    <a:pt x="3036" y="13842"/>
                    <a:pt x="8439" y="8439"/>
                  </a:cubicBezTo>
                  <a:cubicBezTo>
                    <a:pt x="13842" y="3036"/>
                    <a:pt x="21171" y="0"/>
                    <a:pt x="28813" y="0"/>
                  </a:cubicBezTo>
                  <a:close/>
                </a:path>
              </a:pathLst>
            </a:custGeom>
            <a:solidFill>
              <a:srgbClr val="7A7B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4"/>
            <p:cNvSpPr txBox="1"/>
            <p:nvPr/>
          </p:nvSpPr>
          <p:spPr>
            <a:xfrm>
              <a:off x="0" y="-57150"/>
              <a:ext cx="3609198" cy="1685480"/>
            </a:xfrm>
            <a:prstGeom prst="rect">
              <a:avLst/>
            </a:prstGeom>
            <a:noFill/>
            <a:ln>
              <a:noFill/>
            </a:ln>
          </p:spPr>
          <p:txBody>
            <a:bodyPr anchorCtr="0" anchor="ctr" bIns="50800" lIns="50800" spcFirstLastPara="1" rIns="50800" wrap="square" tIns="50800">
              <a:noAutofit/>
            </a:bodyPr>
            <a:lstStyle/>
            <a:p>
              <a:pPr indent="0" lvl="0" marL="0" marR="0" rtl="0" algn="ctr">
                <a:lnSpc>
                  <a:spcPct val="2021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2" name="Google Shape;222;p14"/>
          <p:cNvSpPr/>
          <p:nvPr/>
        </p:nvSpPr>
        <p:spPr>
          <a:xfrm>
            <a:off x="14566344" y="1650961"/>
            <a:ext cx="3130420" cy="7607339"/>
          </a:xfrm>
          <a:custGeom>
            <a:rect b="b" l="l" r="r" t="t"/>
            <a:pathLst>
              <a:path extrusionOk="0" h="7607339" w="3130420">
                <a:moveTo>
                  <a:pt x="0" y="0"/>
                </a:moveTo>
                <a:lnTo>
                  <a:pt x="3130420" y="0"/>
                </a:lnTo>
                <a:lnTo>
                  <a:pt x="3130420" y="7607339"/>
                </a:lnTo>
                <a:lnTo>
                  <a:pt x="0" y="7607339"/>
                </a:lnTo>
                <a:lnTo>
                  <a:pt x="0" y="0"/>
                </a:lnTo>
                <a:close/>
              </a:path>
            </a:pathLst>
          </a:custGeom>
          <a:blipFill rotWithShape="1">
            <a:blip r:embed="rId3">
              <a:alphaModFix/>
            </a:blip>
            <a:stretch>
              <a:fillRect b="0" l="0" r="0" t="0"/>
            </a:stretch>
          </a:blipFill>
          <a:ln>
            <a:noFill/>
          </a:ln>
        </p:spPr>
      </p:sp>
      <p:sp>
        <p:nvSpPr>
          <p:cNvPr id="223" name="Google Shape;223;p14"/>
          <p:cNvSpPr txBox="1"/>
          <p:nvPr/>
        </p:nvSpPr>
        <p:spPr>
          <a:xfrm>
            <a:off x="1146272" y="2408879"/>
            <a:ext cx="13136471" cy="5867400"/>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None/>
            </a:pPr>
            <a:r>
              <a:rPr b="0" i="0" lang="en-US" sz="3500" u="none" cap="none" strike="noStrike">
                <a:solidFill>
                  <a:srgbClr val="FFFFFF"/>
                </a:solidFill>
                <a:latin typeface="Poppins Medium"/>
                <a:ea typeface="Poppins Medium"/>
                <a:cs typeface="Poppins Medium"/>
                <a:sym typeface="Poppins Medium"/>
              </a:rPr>
              <a:t>Una empresa de gaseosas, desea empacar 12 botellas de gaseosa por caja, el tiempo de empacado lleva una distribución uniforme de 1 minuto minimo y maximo 2 minutos, la empresa cuenta con 2 tipos de bebidas, y requiere que cada caja unicamente cuente con 1 tipo de ellas. Una vez se han llenado las cajas proceden a salir de la fabrica y proceden a repartirse a las tiendas, ya en las tiendas estas cajas son separadas a razón exponencial de 1 min.</a:t>
            </a:r>
            <a:endParaRPr/>
          </a:p>
          <a:p>
            <a:pPr indent="0" lvl="0" marL="0" marR="0" rtl="0" algn="just">
              <a:lnSpc>
                <a:spcPct val="120000"/>
              </a:lnSpc>
              <a:spcBef>
                <a:spcPts val="0"/>
              </a:spcBef>
              <a:spcAft>
                <a:spcPts val="0"/>
              </a:spcAft>
              <a:buNone/>
            </a:pPr>
            <a:r>
              <a:t/>
            </a:r>
            <a:endParaRPr b="0" i="0" sz="3500" u="none" cap="none" strike="noStrike">
              <a:solidFill>
                <a:srgbClr val="FFFFFF"/>
              </a:solidFill>
              <a:latin typeface="Poppins Medium"/>
              <a:ea typeface="Poppins Medium"/>
              <a:cs typeface="Poppins Medium"/>
              <a:sym typeface="Poppins Medium"/>
            </a:endParaRPr>
          </a:p>
          <a:p>
            <a:pPr indent="0" lvl="0" marL="0" marR="0" rtl="0" algn="just">
              <a:lnSpc>
                <a:spcPct val="120000"/>
              </a:lnSpc>
              <a:spcBef>
                <a:spcPts val="0"/>
              </a:spcBef>
              <a:spcAft>
                <a:spcPts val="0"/>
              </a:spcAft>
              <a:buNone/>
            </a:pPr>
            <a:r>
              <a:rPr b="0" i="0" lang="en-US" sz="3500" u="none" cap="none" strike="noStrike">
                <a:solidFill>
                  <a:srgbClr val="FFFFFF"/>
                </a:solidFill>
                <a:latin typeface="Poppins Medium"/>
                <a:ea typeface="Poppins Medium"/>
                <a:cs typeface="Poppins Medium"/>
                <a:sym typeface="Poppins Medium"/>
              </a:rPr>
              <a:t>Utilizar combiner y seprator.</a:t>
            </a:r>
            <a:endParaRPr/>
          </a:p>
        </p:txBody>
      </p:sp>
      <p:sp>
        <p:nvSpPr>
          <p:cNvPr id="224" name="Google Shape;224;p14"/>
          <p:cNvSpPr txBox="1"/>
          <p:nvPr/>
        </p:nvSpPr>
        <p:spPr>
          <a:xfrm>
            <a:off x="1529800" y="533383"/>
            <a:ext cx="15228400" cy="1412875"/>
          </a:xfrm>
          <a:prstGeom prst="rect">
            <a:avLst/>
          </a:prstGeom>
          <a:noFill/>
          <a:ln>
            <a:noFill/>
          </a:ln>
        </p:spPr>
        <p:txBody>
          <a:bodyPr anchorCtr="0" anchor="t" bIns="0" lIns="0" spcFirstLastPara="1" rIns="0" wrap="square" tIns="0">
            <a:spAutoFit/>
          </a:bodyPr>
          <a:lstStyle/>
          <a:p>
            <a:pPr indent="0" lvl="0" marL="0" marR="0" rtl="0" algn="ctr">
              <a:lnSpc>
                <a:spcPct val="110001"/>
              </a:lnSpc>
              <a:spcBef>
                <a:spcPts val="0"/>
              </a:spcBef>
              <a:spcAft>
                <a:spcPts val="0"/>
              </a:spcAft>
              <a:buNone/>
            </a:pPr>
            <a:r>
              <a:rPr b="1" i="0" lang="en-US" sz="9999" u="none" cap="none" strike="noStrike">
                <a:solidFill>
                  <a:srgbClr val="FFFFFF"/>
                </a:solidFill>
                <a:latin typeface="Poppins"/>
                <a:ea typeface="Poppins"/>
                <a:cs typeface="Poppins"/>
                <a:sym typeface="Poppins"/>
              </a:rPr>
              <a:t>Ejemplo</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28" name="Shape 228"/>
        <p:cNvGrpSpPr/>
        <p:nvPr/>
      </p:nvGrpSpPr>
      <p:grpSpPr>
        <a:xfrm>
          <a:off x="0" y="0"/>
          <a:ext cx="0" cy="0"/>
          <a:chOff x="0" y="0"/>
          <a:chExt cx="0" cy="0"/>
        </a:xfrm>
      </p:grpSpPr>
      <p:grpSp>
        <p:nvGrpSpPr>
          <p:cNvPr id="229" name="Google Shape;229;p15"/>
          <p:cNvGrpSpPr/>
          <p:nvPr/>
        </p:nvGrpSpPr>
        <p:grpSpPr>
          <a:xfrm>
            <a:off x="1028700" y="2139929"/>
            <a:ext cx="16230600" cy="7524173"/>
            <a:chOff x="0" y="-57150"/>
            <a:chExt cx="4274726" cy="1981675"/>
          </a:xfrm>
        </p:grpSpPr>
        <p:sp>
          <p:nvSpPr>
            <p:cNvPr id="230" name="Google Shape;230;p15"/>
            <p:cNvSpPr/>
            <p:nvPr/>
          </p:nvSpPr>
          <p:spPr>
            <a:xfrm>
              <a:off x="0" y="0"/>
              <a:ext cx="4274726" cy="1924525"/>
            </a:xfrm>
            <a:custGeom>
              <a:rect b="b" l="l" r="r" t="t"/>
              <a:pathLst>
                <a:path extrusionOk="0" h="1924525" w="4274726">
                  <a:moveTo>
                    <a:pt x="24327" y="0"/>
                  </a:moveTo>
                  <a:lnTo>
                    <a:pt x="4250399" y="0"/>
                  </a:lnTo>
                  <a:cubicBezTo>
                    <a:pt x="4263834" y="0"/>
                    <a:pt x="4274726" y="10891"/>
                    <a:pt x="4274726" y="24327"/>
                  </a:cubicBezTo>
                  <a:lnTo>
                    <a:pt x="4274726" y="1900199"/>
                  </a:lnTo>
                  <a:cubicBezTo>
                    <a:pt x="4274726" y="1906650"/>
                    <a:pt x="4272163" y="1912838"/>
                    <a:pt x="4267601" y="1917400"/>
                  </a:cubicBezTo>
                  <a:cubicBezTo>
                    <a:pt x="4263039" y="1921962"/>
                    <a:pt x="4256851" y="1924525"/>
                    <a:pt x="4250399" y="1924525"/>
                  </a:cubicBezTo>
                  <a:lnTo>
                    <a:pt x="24327" y="1924525"/>
                  </a:lnTo>
                  <a:cubicBezTo>
                    <a:pt x="10891" y="1924525"/>
                    <a:pt x="0" y="1913634"/>
                    <a:pt x="0" y="1900199"/>
                  </a:cubicBezTo>
                  <a:lnTo>
                    <a:pt x="0" y="24327"/>
                  </a:lnTo>
                  <a:cubicBezTo>
                    <a:pt x="0" y="10891"/>
                    <a:pt x="10891" y="0"/>
                    <a:pt x="24327" y="0"/>
                  </a:cubicBezTo>
                  <a:close/>
                </a:path>
              </a:pathLst>
            </a:custGeom>
            <a:solidFill>
              <a:srgbClr val="7A7B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5"/>
            <p:cNvSpPr txBox="1"/>
            <p:nvPr/>
          </p:nvSpPr>
          <p:spPr>
            <a:xfrm>
              <a:off x="0" y="-57150"/>
              <a:ext cx="4274726" cy="1981675"/>
            </a:xfrm>
            <a:prstGeom prst="rect">
              <a:avLst/>
            </a:prstGeom>
            <a:noFill/>
            <a:ln>
              <a:noFill/>
            </a:ln>
          </p:spPr>
          <p:txBody>
            <a:bodyPr anchorCtr="0" anchor="ctr" bIns="50800" lIns="50800" spcFirstLastPara="1" rIns="50800" wrap="square" tIns="50800">
              <a:noAutofit/>
            </a:bodyPr>
            <a:lstStyle/>
            <a:p>
              <a:pPr indent="0" lvl="0" marL="0" marR="0" rtl="0" algn="ctr">
                <a:lnSpc>
                  <a:spcPct val="2021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32" name="Google Shape;232;p15"/>
          <p:cNvSpPr txBox="1"/>
          <p:nvPr/>
        </p:nvSpPr>
        <p:spPr>
          <a:xfrm>
            <a:off x="1094638" y="2568791"/>
            <a:ext cx="16098724" cy="7467600"/>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None/>
            </a:pPr>
            <a:r>
              <a:rPr b="0" i="0" lang="en-US" sz="3500" u="none" cap="none" strike="noStrike">
                <a:solidFill>
                  <a:srgbClr val="FFFFFF"/>
                </a:solidFill>
                <a:latin typeface="Poppins Medium"/>
                <a:ea typeface="Poppins Medium"/>
                <a:cs typeface="Poppins Medium"/>
                <a:sym typeface="Poppins Medium"/>
              </a:rPr>
              <a:t>Una pizzeria familiar, llamada Freddy Fazbear’s Pizza acaba de abrir sus puertas en la ciudad de Guatemala. Y quiere regalar a los primeros 100 clientes, un descuento del 25% en su 1era compra, los precios de las pizzas seran de Q80. Con lo cual, se le solicita a usted, realizar un modelo en SIMIO para poder obtener los resultados del 1er dia.</a:t>
            </a:r>
            <a:endParaRPr/>
          </a:p>
          <a:p>
            <a:pPr indent="0" lvl="0" marL="0" marR="0" rtl="0" algn="just">
              <a:lnSpc>
                <a:spcPct val="120000"/>
              </a:lnSpc>
              <a:spcBef>
                <a:spcPts val="0"/>
              </a:spcBef>
              <a:spcAft>
                <a:spcPts val="0"/>
              </a:spcAft>
              <a:buNone/>
            </a:pPr>
            <a:r>
              <a:rPr b="0" i="0" lang="en-US" sz="3500" u="none" cap="none" strike="noStrike">
                <a:solidFill>
                  <a:srgbClr val="FFFFFF"/>
                </a:solidFill>
                <a:latin typeface="Poppins Medium"/>
                <a:ea typeface="Poppins Medium"/>
                <a:cs typeface="Poppins Medium"/>
                <a:sym typeface="Poppins Medium"/>
              </a:rPr>
              <a:t>Considere realizar una cola unica FIFO para la atencion en caja, se contaran con 2 cajeros, los cuales se espera que su tiempo de servicio por cliente sea triangular, con un tiempo de 2 minutos minimo, 3 minutos en promedio y 4 minutos como maximo. La tasa de llegada sera en distribuicion de Poisson y sera de 1 persona por minuto.</a:t>
            </a:r>
            <a:endParaRPr/>
          </a:p>
          <a:p>
            <a:pPr indent="0" lvl="0" marL="0" marR="0" rtl="0" algn="just">
              <a:lnSpc>
                <a:spcPct val="120000"/>
              </a:lnSpc>
              <a:spcBef>
                <a:spcPts val="0"/>
              </a:spcBef>
              <a:spcAft>
                <a:spcPts val="0"/>
              </a:spcAft>
              <a:buNone/>
            </a:pPr>
            <a:r>
              <a:rPr b="0" i="0" lang="en-US" sz="3500" u="none" cap="none" strike="noStrike">
                <a:solidFill>
                  <a:srgbClr val="FFFFFF"/>
                </a:solidFill>
                <a:latin typeface="Poppins Medium"/>
                <a:ea typeface="Poppins Medium"/>
                <a:cs typeface="Poppins Medium"/>
                <a:sym typeface="Poppins Medium"/>
              </a:rPr>
              <a:t>Se requiere que simule las primeras 4 horas y realice la cuenta de cuantos clientes ingresaron y cuanto dinero se genero.</a:t>
            </a:r>
            <a:endParaRPr/>
          </a:p>
          <a:p>
            <a:pPr indent="0" lvl="0" marL="0" marR="0" rtl="0" algn="just">
              <a:lnSpc>
                <a:spcPct val="120000"/>
              </a:lnSpc>
              <a:spcBef>
                <a:spcPts val="0"/>
              </a:spcBef>
              <a:spcAft>
                <a:spcPts val="0"/>
              </a:spcAft>
              <a:buNone/>
            </a:pPr>
            <a:r>
              <a:t/>
            </a:r>
            <a:endParaRPr b="0" i="0" sz="3500" u="none" cap="none" strike="noStrike">
              <a:solidFill>
                <a:srgbClr val="FFFFFF"/>
              </a:solidFill>
              <a:latin typeface="Poppins Medium"/>
              <a:ea typeface="Poppins Medium"/>
              <a:cs typeface="Poppins Medium"/>
              <a:sym typeface="Poppins Medium"/>
            </a:endParaRPr>
          </a:p>
        </p:txBody>
      </p:sp>
      <p:sp>
        <p:nvSpPr>
          <p:cNvPr id="233" name="Google Shape;233;p15"/>
          <p:cNvSpPr/>
          <p:nvPr/>
        </p:nvSpPr>
        <p:spPr>
          <a:xfrm>
            <a:off x="10637722" y="185527"/>
            <a:ext cx="5039053" cy="2003811"/>
          </a:xfrm>
          <a:custGeom>
            <a:rect b="b" l="l" r="r" t="t"/>
            <a:pathLst>
              <a:path extrusionOk="0" h="2003811" w="5039053">
                <a:moveTo>
                  <a:pt x="0" y="0"/>
                </a:moveTo>
                <a:lnTo>
                  <a:pt x="5039053" y="0"/>
                </a:lnTo>
                <a:lnTo>
                  <a:pt x="5039053" y="2003811"/>
                </a:lnTo>
                <a:lnTo>
                  <a:pt x="0" y="2003811"/>
                </a:lnTo>
                <a:lnTo>
                  <a:pt x="0" y="0"/>
                </a:lnTo>
                <a:close/>
              </a:path>
            </a:pathLst>
          </a:custGeom>
          <a:blipFill rotWithShape="1">
            <a:blip r:embed="rId3">
              <a:alphaModFix/>
            </a:blip>
            <a:stretch>
              <a:fillRect b="0" l="0" r="0" t="0"/>
            </a:stretch>
          </a:blipFill>
          <a:ln>
            <a:noFill/>
          </a:ln>
        </p:spPr>
      </p:sp>
      <p:sp>
        <p:nvSpPr>
          <p:cNvPr id="234" name="Google Shape;234;p15"/>
          <p:cNvSpPr txBox="1"/>
          <p:nvPr/>
        </p:nvSpPr>
        <p:spPr>
          <a:xfrm>
            <a:off x="1529800" y="533383"/>
            <a:ext cx="7614200" cy="1412875"/>
          </a:xfrm>
          <a:prstGeom prst="rect">
            <a:avLst/>
          </a:prstGeom>
          <a:noFill/>
          <a:ln>
            <a:noFill/>
          </a:ln>
        </p:spPr>
        <p:txBody>
          <a:bodyPr anchorCtr="0" anchor="t" bIns="0" lIns="0" spcFirstLastPara="1" rIns="0" wrap="square" tIns="0">
            <a:spAutoFit/>
          </a:bodyPr>
          <a:lstStyle/>
          <a:p>
            <a:pPr indent="0" lvl="0" marL="0" marR="0" rtl="0" algn="ctr">
              <a:lnSpc>
                <a:spcPct val="110001"/>
              </a:lnSpc>
              <a:spcBef>
                <a:spcPts val="0"/>
              </a:spcBef>
              <a:spcAft>
                <a:spcPts val="0"/>
              </a:spcAft>
              <a:buNone/>
            </a:pPr>
            <a:r>
              <a:rPr b="1" i="0" lang="en-US" sz="9999" u="none" cap="none" strike="noStrike">
                <a:solidFill>
                  <a:srgbClr val="FFFFFF"/>
                </a:solidFill>
                <a:latin typeface="Poppins"/>
                <a:ea typeface="Poppins"/>
                <a:cs typeface="Poppins"/>
                <a:sym typeface="Poppins"/>
              </a:rPr>
              <a:t>Ejemplo</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38" name="Shape 238"/>
        <p:cNvGrpSpPr/>
        <p:nvPr/>
      </p:nvGrpSpPr>
      <p:grpSpPr>
        <a:xfrm>
          <a:off x="0" y="0"/>
          <a:ext cx="0" cy="0"/>
          <a:chOff x="0" y="0"/>
          <a:chExt cx="0" cy="0"/>
        </a:xfrm>
      </p:grpSpPr>
      <p:sp>
        <p:nvSpPr>
          <p:cNvPr id="239" name="Google Shape;239;p16"/>
          <p:cNvSpPr/>
          <p:nvPr/>
        </p:nvSpPr>
        <p:spPr>
          <a:xfrm>
            <a:off x="13629046" y="8769746"/>
            <a:ext cx="1679405" cy="977109"/>
          </a:xfrm>
          <a:custGeom>
            <a:rect b="b" l="l" r="r" t="t"/>
            <a:pathLst>
              <a:path extrusionOk="0" h="977109" w="1679405">
                <a:moveTo>
                  <a:pt x="0" y="0"/>
                </a:moveTo>
                <a:lnTo>
                  <a:pt x="1679406" y="0"/>
                </a:lnTo>
                <a:lnTo>
                  <a:pt x="1679406" y="977108"/>
                </a:lnTo>
                <a:lnTo>
                  <a:pt x="0" y="977108"/>
                </a:lnTo>
                <a:lnTo>
                  <a:pt x="0" y="0"/>
                </a:lnTo>
                <a:close/>
              </a:path>
            </a:pathLst>
          </a:custGeom>
          <a:blipFill rotWithShape="1">
            <a:blip r:embed="rId3">
              <a:alphaModFix/>
            </a:blip>
            <a:stretch>
              <a:fillRect b="0" l="0" r="0" t="0"/>
            </a:stretch>
          </a:blipFill>
          <a:ln>
            <a:noFill/>
          </a:ln>
        </p:spPr>
      </p:sp>
      <p:sp>
        <p:nvSpPr>
          <p:cNvPr id="240" name="Google Shape;240;p16"/>
          <p:cNvSpPr txBox="1"/>
          <p:nvPr/>
        </p:nvSpPr>
        <p:spPr>
          <a:xfrm>
            <a:off x="2642098" y="2853451"/>
            <a:ext cx="13003805" cy="4684873"/>
          </a:xfrm>
          <a:prstGeom prst="rect">
            <a:avLst/>
          </a:prstGeom>
          <a:noFill/>
          <a:ln>
            <a:noFill/>
          </a:ln>
        </p:spPr>
        <p:txBody>
          <a:bodyPr anchorCtr="0" anchor="t" bIns="0" lIns="0" spcFirstLastPara="1" rIns="0" wrap="square" tIns="0">
            <a:spAutoFit/>
          </a:bodyPr>
          <a:lstStyle/>
          <a:p>
            <a:pPr indent="0" lvl="0" marL="0" marR="0" rtl="0" algn="ctr">
              <a:lnSpc>
                <a:spcPct val="109997"/>
              </a:lnSpc>
              <a:spcBef>
                <a:spcPts val="0"/>
              </a:spcBef>
              <a:spcAft>
                <a:spcPts val="0"/>
              </a:spcAft>
              <a:buNone/>
            </a:pPr>
            <a:r>
              <a:rPr b="1" i="0" lang="en-US" sz="11163" u="none" cap="none" strike="noStrike">
                <a:solidFill>
                  <a:srgbClr val="FFFFFF"/>
                </a:solidFill>
                <a:latin typeface="Poppins"/>
                <a:ea typeface="Poppins"/>
                <a:cs typeface="Poppins"/>
                <a:sym typeface="Poppins"/>
              </a:rPr>
              <a:t>INVENTARIO, MATERIAL Y TIEMPO</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44" name="Shape 244"/>
        <p:cNvGrpSpPr/>
        <p:nvPr/>
      </p:nvGrpSpPr>
      <p:grpSpPr>
        <a:xfrm>
          <a:off x="0" y="0"/>
          <a:ext cx="0" cy="0"/>
          <a:chOff x="0" y="0"/>
          <a:chExt cx="0" cy="0"/>
        </a:xfrm>
      </p:grpSpPr>
      <p:grpSp>
        <p:nvGrpSpPr>
          <p:cNvPr id="245" name="Google Shape;245;p17"/>
          <p:cNvGrpSpPr/>
          <p:nvPr/>
        </p:nvGrpSpPr>
        <p:grpSpPr>
          <a:xfrm>
            <a:off x="4365415" y="3776319"/>
            <a:ext cx="11580586" cy="3850056"/>
            <a:chOff x="0" y="0"/>
            <a:chExt cx="15440782" cy="5133408"/>
          </a:xfrm>
        </p:grpSpPr>
        <p:sp>
          <p:nvSpPr>
            <p:cNvPr id="246" name="Google Shape;246;p17"/>
            <p:cNvSpPr txBox="1"/>
            <p:nvPr/>
          </p:nvSpPr>
          <p:spPr>
            <a:xfrm>
              <a:off x="0" y="0"/>
              <a:ext cx="15440782" cy="800100"/>
            </a:xfrm>
            <a:prstGeom prst="rect">
              <a:avLst/>
            </a:prstGeom>
            <a:noFill/>
            <a:ln>
              <a:noFill/>
            </a:ln>
          </p:spPr>
          <p:txBody>
            <a:bodyPr anchorCtr="0" anchor="t" bIns="0" lIns="0" spcFirstLastPara="1" rIns="0" wrap="square" tIns="0">
              <a:spAutoFit/>
            </a:bodyPr>
            <a:lstStyle/>
            <a:p>
              <a:pPr indent="0" lvl="0" marL="0" marR="0" rtl="0" algn="ctr">
                <a:lnSpc>
                  <a:spcPct val="26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7" name="Google Shape;247;p17"/>
            <p:cNvSpPr txBox="1"/>
            <p:nvPr/>
          </p:nvSpPr>
          <p:spPr>
            <a:xfrm>
              <a:off x="0" y="1685357"/>
              <a:ext cx="15440782" cy="3448051"/>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0" i="0" lang="en-US" sz="2999" u="none" cap="none" strike="noStrike">
                  <a:solidFill>
                    <a:srgbClr val="FFFFFF"/>
                  </a:solidFill>
                  <a:latin typeface="Poppins Light"/>
                  <a:ea typeface="Poppins Light"/>
                  <a:cs typeface="Poppins Light"/>
                  <a:sym typeface="Poppins Light"/>
                </a:rPr>
                <a:t>Si nos dirigimos a la pestaña de Definitions y seleccionamos la opcion de Elements, podremos crear una variable para manejar el inventario, los materiales y el tiempo de manera mas sencilla, para esto solo les daremos click en las respectivas opciones y se generaran.</a:t>
              </a:r>
              <a:endParaRPr/>
            </a:p>
          </p:txBody>
        </p:sp>
        <p:cxnSp>
          <p:nvCxnSpPr>
            <p:cNvPr id="248" name="Google Shape;248;p17"/>
            <p:cNvCxnSpPr/>
            <p:nvPr/>
          </p:nvCxnSpPr>
          <p:spPr>
            <a:xfrm>
              <a:off x="0" y="1271304"/>
              <a:ext cx="15440782" cy="0"/>
            </a:xfrm>
            <a:prstGeom prst="straightConnector1">
              <a:avLst/>
            </a:prstGeom>
            <a:noFill/>
            <a:ln cap="rnd" cmpd="sng" w="25400">
              <a:solidFill>
                <a:srgbClr val="10B5BF"/>
              </a:solidFill>
              <a:prstDash val="solid"/>
              <a:round/>
              <a:headEnd len="sm" w="sm" type="none"/>
              <a:tailEnd len="sm" w="sm" type="none"/>
            </a:ln>
          </p:spPr>
        </p:cxnSp>
      </p:grpSp>
      <p:sp>
        <p:nvSpPr>
          <p:cNvPr id="249" name="Google Shape;249;p17"/>
          <p:cNvSpPr/>
          <p:nvPr/>
        </p:nvSpPr>
        <p:spPr>
          <a:xfrm>
            <a:off x="2954258" y="2034205"/>
            <a:ext cx="14402900" cy="1627814"/>
          </a:xfrm>
          <a:custGeom>
            <a:rect b="b" l="l" r="r" t="t"/>
            <a:pathLst>
              <a:path extrusionOk="0" h="1627814" w="14402900">
                <a:moveTo>
                  <a:pt x="0" y="0"/>
                </a:moveTo>
                <a:lnTo>
                  <a:pt x="14402900" y="0"/>
                </a:lnTo>
                <a:lnTo>
                  <a:pt x="14402900" y="1627814"/>
                </a:lnTo>
                <a:lnTo>
                  <a:pt x="0" y="1627814"/>
                </a:lnTo>
                <a:lnTo>
                  <a:pt x="0" y="0"/>
                </a:lnTo>
                <a:close/>
              </a:path>
            </a:pathLst>
          </a:custGeom>
          <a:blipFill rotWithShape="1">
            <a:blip r:embed="rId3">
              <a:alphaModFix/>
            </a:blip>
            <a:stretch>
              <a:fillRect b="0" l="0" r="0" t="0"/>
            </a:stretch>
          </a:blipFill>
          <a:ln>
            <a:noFill/>
          </a:ln>
        </p:spPr>
      </p:sp>
      <p:grpSp>
        <p:nvGrpSpPr>
          <p:cNvPr id="250" name="Google Shape;250;p17"/>
          <p:cNvGrpSpPr/>
          <p:nvPr/>
        </p:nvGrpSpPr>
        <p:grpSpPr>
          <a:xfrm>
            <a:off x="3334569" y="1865451"/>
            <a:ext cx="1161089" cy="1101583"/>
            <a:chOff x="0" y="0"/>
            <a:chExt cx="305801" cy="290129"/>
          </a:xfrm>
        </p:grpSpPr>
        <p:sp>
          <p:nvSpPr>
            <p:cNvPr id="251" name="Google Shape;251;p17"/>
            <p:cNvSpPr/>
            <p:nvPr/>
          </p:nvSpPr>
          <p:spPr>
            <a:xfrm>
              <a:off x="0" y="0"/>
              <a:ext cx="305801" cy="290129"/>
            </a:xfrm>
            <a:custGeom>
              <a:rect b="b" l="l" r="r" t="t"/>
              <a:pathLst>
                <a:path extrusionOk="0" h="290129" w="305801">
                  <a:moveTo>
                    <a:pt x="145064" y="0"/>
                  </a:moveTo>
                  <a:lnTo>
                    <a:pt x="160737" y="0"/>
                  </a:lnTo>
                  <a:cubicBezTo>
                    <a:pt x="199210" y="0"/>
                    <a:pt x="236108" y="15284"/>
                    <a:pt x="263313" y="42488"/>
                  </a:cubicBezTo>
                  <a:cubicBezTo>
                    <a:pt x="290518" y="69693"/>
                    <a:pt x="305801" y="106591"/>
                    <a:pt x="305801" y="145064"/>
                  </a:cubicBezTo>
                  <a:lnTo>
                    <a:pt x="305801" y="145064"/>
                  </a:lnTo>
                  <a:cubicBezTo>
                    <a:pt x="305801" y="225181"/>
                    <a:pt x="240854" y="290129"/>
                    <a:pt x="160737" y="290129"/>
                  </a:cubicBezTo>
                  <a:lnTo>
                    <a:pt x="145064" y="290129"/>
                  </a:lnTo>
                  <a:cubicBezTo>
                    <a:pt x="106591" y="290129"/>
                    <a:pt x="69693" y="274845"/>
                    <a:pt x="42488" y="247640"/>
                  </a:cubicBezTo>
                  <a:cubicBezTo>
                    <a:pt x="15284" y="220436"/>
                    <a:pt x="0" y="183538"/>
                    <a:pt x="0" y="145064"/>
                  </a:cubicBezTo>
                  <a:lnTo>
                    <a:pt x="0" y="145064"/>
                  </a:lnTo>
                  <a:cubicBezTo>
                    <a:pt x="0" y="106591"/>
                    <a:pt x="15284" y="69693"/>
                    <a:pt x="42488" y="42488"/>
                  </a:cubicBezTo>
                  <a:cubicBezTo>
                    <a:pt x="69693" y="15284"/>
                    <a:pt x="106591" y="0"/>
                    <a:pt x="145064" y="0"/>
                  </a:cubicBezTo>
                  <a:close/>
                </a:path>
              </a:pathLst>
            </a:custGeom>
            <a:solidFill>
              <a:srgbClr val="000000">
                <a:alpha val="0"/>
              </a:srgbClr>
            </a:solidFill>
            <a:ln cap="rnd" cmpd="sng" w="171450">
              <a:solidFill>
                <a:srgbClr val="C244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7"/>
            <p:cNvSpPr txBox="1"/>
            <p:nvPr/>
          </p:nvSpPr>
          <p:spPr>
            <a:xfrm>
              <a:off x="0" y="19050"/>
              <a:ext cx="305801" cy="271079"/>
            </a:xfrm>
            <a:prstGeom prst="rect">
              <a:avLst/>
            </a:prstGeom>
            <a:noFill/>
            <a:ln>
              <a:noFill/>
            </a:ln>
          </p:spPr>
          <p:txBody>
            <a:bodyPr anchorCtr="0" anchor="ctr" bIns="50800" lIns="50800" spcFirstLastPara="1" rIns="50800" wrap="square" tIns="50800">
              <a:noAutofit/>
            </a:bodyPr>
            <a:lstStyle/>
            <a:p>
              <a:pPr indent="0" lvl="0" marL="0" marR="0" rtl="0" algn="ctr">
                <a:lnSpc>
                  <a:spcPct val="15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53" name="Google Shape;253;p17"/>
          <p:cNvSpPr/>
          <p:nvPr/>
        </p:nvSpPr>
        <p:spPr>
          <a:xfrm>
            <a:off x="1188064" y="2202059"/>
            <a:ext cx="1550546" cy="7056241"/>
          </a:xfrm>
          <a:custGeom>
            <a:rect b="b" l="l" r="r" t="t"/>
            <a:pathLst>
              <a:path extrusionOk="0" h="7056241" w="1550546">
                <a:moveTo>
                  <a:pt x="0" y="0"/>
                </a:moveTo>
                <a:lnTo>
                  <a:pt x="1550546" y="0"/>
                </a:lnTo>
                <a:lnTo>
                  <a:pt x="1550546" y="7056241"/>
                </a:lnTo>
                <a:lnTo>
                  <a:pt x="0" y="7056241"/>
                </a:lnTo>
                <a:lnTo>
                  <a:pt x="0" y="0"/>
                </a:lnTo>
                <a:close/>
              </a:path>
            </a:pathLst>
          </a:custGeom>
          <a:blipFill rotWithShape="1">
            <a:blip r:embed="rId4">
              <a:alphaModFix/>
            </a:blip>
            <a:stretch>
              <a:fillRect b="-49965" l="0" r="0" t="0"/>
            </a:stretch>
          </a:blipFill>
          <a:ln>
            <a:noFill/>
          </a:ln>
        </p:spPr>
      </p:sp>
      <p:grpSp>
        <p:nvGrpSpPr>
          <p:cNvPr id="254" name="Google Shape;254;p17"/>
          <p:cNvGrpSpPr/>
          <p:nvPr/>
        </p:nvGrpSpPr>
        <p:grpSpPr>
          <a:xfrm>
            <a:off x="1028700" y="300037"/>
            <a:ext cx="16230600" cy="1450183"/>
            <a:chOff x="0" y="-9525"/>
            <a:chExt cx="21640800" cy="1933576"/>
          </a:xfrm>
        </p:grpSpPr>
        <p:sp>
          <p:nvSpPr>
            <p:cNvPr id="255" name="Google Shape;255;p17"/>
            <p:cNvSpPr txBox="1"/>
            <p:nvPr/>
          </p:nvSpPr>
          <p:spPr>
            <a:xfrm>
              <a:off x="0" y="-9525"/>
              <a:ext cx="21640800" cy="1635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8000" u="none" cap="none" strike="noStrike">
                  <a:solidFill>
                    <a:srgbClr val="FFFFFF"/>
                  </a:solidFill>
                  <a:latin typeface="Poppins Medium"/>
                  <a:ea typeface="Poppins Medium"/>
                  <a:cs typeface="Poppins Medium"/>
                  <a:sym typeface="Poppins Medium"/>
                </a:rPr>
                <a:t>INVENTARIO, MATERIAL Y TIEMPO</a:t>
              </a:r>
              <a:endParaRPr/>
            </a:p>
          </p:txBody>
        </p:sp>
        <p:sp>
          <p:nvSpPr>
            <p:cNvPr id="256" name="Google Shape;256;p17"/>
            <p:cNvSpPr txBox="1"/>
            <p:nvPr/>
          </p:nvSpPr>
          <p:spPr>
            <a:xfrm>
              <a:off x="0" y="1270000"/>
              <a:ext cx="21640800" cy="654051"/>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2999" u="none" cap="none" strike="noStrike">
                  <a:solidFill>
                    <a:srgbClr val="00C4CC"/>
                  </a:solidFill>
                  <a:latin typeface="Poppins"/>
                  <a:ea typeface="Poppins"/>
                  <a:cs typeface="Poppins"/>
                  <a:sym typeface="Poppins"/>
                </a:rPr>
                <a:t>Creación de variables</a:t>
              </a:r>
              <a:endParaRPr/>
            </a:p>
          </p:txBody>
        </p:sp>
      </p:grpSp>
      <p:grpSp>
        <p:nvGrpSpPr>
          <p:cNvPr id="257" name="Google Shape;257;p17"/>
          <p:cNvGrpSpPr/>
          <p:nvPr/>
        </p:nvGrpSpPr>
        <p:grpSpPr>
          <a:xfrm>
            <a:off x="8774781" y="1865451"/>
            <a:ext cx="1873432" cy="1562511"/>
            <a:chOff x="0" y="0"/>
            <a:chExt cx="493414" cy="411525"/>
          </a:xfrm>
        </p:grpSpPr>
        <p:sp>
          <p:nvSpPr>
            <p:cNvPr id="258" name="Google Shape;258;p17"/>
            <p:cNvSpPr/>
            <p:nvPr/>
          </p:nvSpPr>
          <p:spPr>
            <a:xfrm>
              <a:off x="0" y="0"/>
              <a:ext cx="493414" cy="411525"/>
            </a:xfrm>
            <a:custGeom>
              <a:rect b="b" l="l" r="r" t="t"/>
              <a:pathLst>
                <a:path extrusionOk="0" h="411525" w="493414">
                  <a:moveTo>
                    <a:pt x="205763" y="0"/>
                  </a:moveTo>
                  <a:lnTo>
                    <a:pt x="287652" y="0"/>
                  </a:lnTo>
                  <a:cubicBezTo>
                    <a:pt x="342223" y="0"/>
                    <a:pt x="394560" y="21679"/>
                    <a:pt x="433148" y="60267"/>
                  </a:cubicBezTo>
                  <a:cubicBezTo>
                    <a:pt x="471736" y="98854"/>
                    <a:pt x="493414" y="151191"/>
                    <a:pt x="493414" y="205763"/>
                  </a:cubicBezTo>
                  <a:lnTo>
                    <a:pt x="493414" y="205763"/>
                  </a:lnTo>
                  <a:cubicBezTo>
                    <a:pt x="493414" y="319402"/>
                    <a:pt x="401291" y="411525"/>
                    <a:pt x="287652" y="411525"/>
                  </a:cubicBezTo>
                  <a:lnTo>
                    <a:pt x="205763" y="411525"/>
                  </a:lnTo>
                  <a:cubicBezTo>
                    <a:pt x="92123" y="411525"/>
                    <a:pt x="0" y="319402"/>
                    <a:pt x="0" y="205763"/>
                  </a:cubicBezTo>
                  <a:lnTo>
                    <a:pt x="0" y="205763"/>
                  </a:lnTo>
                  <a:cubicBezTo>
                    <a:pt x="0" y="92123"/>
                    <a:pt x="92123" y="0"/>
                    <a:pt x="205763" y="0"/>
                  </a:cubicBezTo>
                  <a:close/>
                </a:path>
              </a:pathLst>
            </a:custGeom>
            <a:solidFill>
              <a:srgbClr val="000000">
                <a:alpha val="0"/>
              </a:srgbClr>
            </a:solidFill>
            <a:ln cap="rnd" cmpd="sng" w="171450">
              <a:solidFill>
                <a:srgbClr val="C244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7"/>
            <p:cNvSpPr txBox="1"/>
            <p:nvPr/>
          </p:nvSpPr>
          <p:spPr>
            <a:xfrm>
              <a:off x="0" y="19050"/>
              <a:ext cx="493414" cy="392475"/>
            </a:xfrm>
            <a:prstGeom prst="rect">
              <a:avLst/>
            </a:prstGeom>
            <a:noFill/>
            <a:ln>
              <a:noFill/>
            </a:ln>
          </p:spPr>
          <p:txBody>
            <a:bodyPr anchorCtr="0" anchor="ctr" bIns="50800" lIns="50800" spcFirstLastPara="1" rIns="50800" wrap="square" tIns="50800">
              <a:noAutofit/>
            </a:bodyPr>
            <a:lstStyle/>
            <a:p>
              <a:pPr indent="0" lvl="0" marL="0" marR="0" rtl="0" algn="ctr">
                <a:lnSpc>
                  <a:spcPct val="158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63" name="Shape 263"/>
        <p:cNvGrpSpPr/>
        <p:nvPr/>
      </p:nvGrpSpPr>
      <p:grpSpPr>
        <a:xfrm>
          <a:off x="0" y="0"/>
          <a:ext cx="0" cy="0"/>
          <a:chOff x="0" y="0"/>
          <a:chExt cx="0" cy="0"/>
        </a:xfrm>
      </p:grpSpPr>
      <p:grpSp>
        <p:nvGrpSpPr>
          <p:cNvPr id="264" name="Google Shape;264;p18"/>
          <p:cNvGrpSpPr/>
          <p:nvPr/>
        </p:nvGrpSpPr>
        <p:grpSpPr>
          <a:xfrm>
            <a:off x="1028700" y="4060075"/>
            <a:ext cx="16230600" cy="4233253"/>
            <a:chOff x="0" y="12700"/>
            <a:chExt cx="21640800" cy="5644337"/>
          </a:xfrm>
        </p:grpSpPr>
        <p:sp>
          <p:nvSpPr>
            <p:cNvPr id="265" name="Google Shape;265;p18"/>
            <p:cNvSpPr txBox="1"/>
            <p:nvPr/>
          </p:nvSpPr>
          <p:spPr>
            <a:xfrm>
              <a:off x="0" y="445804"/>
              <a:ext cx="21640800" cy="5211233"/>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1" i="0" lang="en-US" sz="2499" u="none" cap="none" strike="noStrike">
                  <a:solidFill>
                    <a:srgbClr val="FFFFFF"/>
                  </a:solidFill>
                  <a:latin typeface="Poppins"/>
                  <a:ea typeface="Poppins"/>
                  <a:cs typeface="Poppins"/>
                  <a:sym typeface="Poppins"/>
                </a:rPr>
                <a:t>Material Name (Nombre del Material):</a:t>
              </a:r>
              <a:endParaRPr/>
            </a:p>
            <a:p>
              <a:pPr indent="0" lvl="0" marL="0" marR="0" rtl="0" algn="just">
                <a:lnSpc>
                  <a:spcPct val="140016"/>
                </a:lnSpc>
                <a:spcBef>
                  <a:spcPts val="0"/>
                </a:spcBef>
                <a:spcAft>
                  <a:spcPts val="0"/>
                </a:spcAft>
                <a:buNone/>
              </a:pPr>
              <a:r>
                <a:rPr b="0" i="0" lang="en-US" sz="2499" u="none" cap="none" strike="noStrike">
                  <a:solidFill>
                    <a:srgbClr val="FFFFFF"/>
                  </a:solidFill>
                  <a:latin typeface="Poppins Light"/>
                  <a:ea typeface="Poppins Light"/>
                  <a:cs typeface="Poppins Light"/>
                  <a:sym typeface="Poppins Light"/>
                </a:rPr>
                <a:t>Este campo se utiliza para especificar el nombre del material o recurso que estará siendo gestionado en el inventario. Este nombre corresponde al tipo de material que se está rastreando y controlando en el modelo.</a:t>
              </a:r>
              <a:endParaRPr/>
            </a:p>
            <a:p>
              <a:pPr indent="0" lvl="0" marL="0" marR="0" rtl="0" algn="just">
                <a:lnSpc>
                  <a:spcPct val="140016"/>
                </a:lnSpc>
                <a:spcBef>
                  <a:spcPts val="0"/>
                </a:spcBef>
                <a:spcAft>
                  <a:spcPts val="0"/>
                </a:spcAft>
                <a:buNone/>
              </a:pPr>
              <a:r>
                <a:t/>
              </a:r>
              <a:endParaRPr b="0" i="0" sz="2499" u="none" cap="none" strike="noStrike">
                <a:solidFill>
                  <a:srgbClr val="FFFFFF"/>
                </a:solidFill>
                <a:latin typeface="Poppins Light"/>
                <a:ea typeface="Poppins Light"/>
                <a:cs typeface="Poppins Light"/>
                <a:sym typeface="Poppins Light"/>
              </a:endParaRPr>
            </a:p>
            <a:p>
              <a:pPr indent="0" lvl="0" marL="0" marR="0" rtl="0" algn="just">
                <a:lnSpc>
                  <a:spcPct val="140016"/>
                </a:lnSpc>
                <a:spcBef>
                  <a:spcPts val="0"/>
                </a:spcBef>
                <a:spcAft>
                  <a:spcPts val="0"/>
                </a:spcAft>
                <a:buNone/>
              </a:pPr>
              <a:r>
                <a:rPr b="1" i="0" lang="en-US" sz="2499" u="none" cap="none" strike="noStrike">
                  <a:solidFill>
                    <a:srgbClr val="FFFFFF"/>
                  </a:solidFill>
                  <a:latin typeface="Poppins"/>
                  <a:ea typeface="Poppins"/>
                  <a:cs typeface="Poppins"/>
                  <a:sym typeface="Poppins"/>
                </a:rPr>
                <a:t>Site Object Name (Nombre del Objeto del Sitio):</a:t>
              </a:r>
              <a:endParaRPr/>
            </a:p>
            <a:p>
              <a:pPr indent="0" lvl="0" marL="0" marR="0" rtl="0" algn="just">
                <a:lnSpc>
                  <a:spcPct val="140016"/>
                </a:lnSpc>
                <a:spcBef>
                  <a:spcPts val="0"/>
                </a:spcBef>
                <a:spcAft>
                  <a:spcPts val="0"/>
                </a:spcAft>
                <a:buNone/>
              </a:pPr>
              <a:r>
                <a:rPr b="0" i="0" lang="en-US" sz="2499" u="none" cap="none" strike="noStrike">
                  <a:solidFill>
                    <a:srgbClr val="FFFFFF"/>
                  </a:solidFill>
                  <a:latin typeface="Poppins Light"/>
                  <a:ea typeface="Poppins Light"/>
                  <a:cs typeface="Poppins Light"/>
                  <a:sym typeface="Poppins Light"/>
                </a:rPr>
                <a:t>Aquí se define el sitio o el objeto asociado con el inventario. Este podría ser un almacén, una estación de carga o cualquier otra entidad que gestione o esté conectada con el inventario de materiales. El objeto vinculado es donde el inventario se encuentra físicamente o virtualmente en el modelo.</a:t>
              </a:r>
              <a:endParaRPr/>
            </a:p>
          </p:txBody>
        </p:sp>
        <p:cxnSp>
          <p:nvCxnSpPr>
            <p:cNvPr id="266" name="Google Shape;266;p18"/>
            <p:cNvCxnSpPr/>
            <p:nvPr/>
          </p:nvCxnSpPr>
          <p:spPr>
            <a:xfrm>
              <a:off x="0" y="12700"/>
              <a:ext cx="21640800" cy="0"/>
            </a:xfrm>
            <a:prstGeom prst="straightConnector1">
              <a:avLst/>
            </a:prstGeom>
            <a:noFill/>
            <a:ln cap="rnd" cmpd="sng" w="25400">
              <a:solidFill>
                <a:srgbClr val="10B5BF"/>
              </a:solidFill>
              <a:prstDash val="solid"/>
              <a:round/>
              <a:headEnd len="sm" w="sm" type="none"/>
              <a:tailEnd len="sm" w="sm" type="none"/>
            </a:ln>
          </p:spPr>
        </p:cxnSp>
      </p:grpSp>
      <p:sp>
        <p:nvSpPr>
          <p:cNvPr id="267" name="Google Shape;267;p18"/>
          <p:cNvSpPr/>
          <p:nvPr/>
        </p:nvSpPr>
        <p:spPr>
          <a:xfrm>
            <a:off x="10701532" y="307181"/>
            <a:ext cx="6557768" cy="3361894"/>
          </a:xfrm>
          <a:custGeom>
            <a:rect b="b" l="l" r="r" t="t"/>
            <a:pathLst>
              <a:path extrusionOk="0" h="3361894" w="6557768">
                <a:moveTo>
                  <a:pt x="0" y="0"/>
                </a:moveTo>
                <a:lnTo>
                  <a:pt x="6557768" y="0"/>
                </a:lnTo>
                <a:lnTo>
                  <a:pt x="6557768" y="3361894"/>
                </a:lnTo>
                <a:lnTo>
                  <a:pt x="0" y="3361894"/>
                </a:lnTo>
                <a:lnTo>
                  <a:pt x="0" y="0"/>
                </a:lnTo>
                <a:close/>
              </a:path>
            </a:pathLst>
          </a:custGeom>
          <a:blipFill rotWithShape="1">
            <a:blip r:embed="rId3">
              <a:alphaModFix/>
            </a:blip>
            <a:stretch>
              <a:fillRect b="0" l="0" r="0" t="0"/>
            </a:stretch>
          </a:blipFill>
          <a:ln>
            <a:noFill/>
          </a:ln>
        </p:spPr>
      </p:sp>
      <p:grpSp>
        <p:nvGrpSpPr>
          <p:cNvPr id="268" name="Google Shape;268;p18"/>
          <p:cNvGrpSpPr/>
          <p:nvPr/>
        </p:nvGrpSpPr>
        <p:grpSpPr>
          <a:xfrm>
            <a:off x="1028700" y="300037"/>
            <a:ext cx="8238001" cy="1450183"/>
            <a:chOff x="0" y="-9525"/>
            <a:chExt cx="10984002" cy="1933576"/>
          </a:xfrm>
        </p:grpSpPr>
        <p:sp>
          <p:nvSpPr>
            <p:cNvPr id="269" name="Google Shape;269;p18"/>
            <p:cNvSpPr txBox="1"/>
            <p:nvPr/>
          </p:nvSpPr>
          <p:spPr>
            <a:xfrm>
              <a:off x="0" y="-9525"/>
              <a:ext cx="10984002" cy="1635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8000" u="none" cap="none" strike="noStrike">
                  <a:solidFill>
                    <a:srgbClr val="FFFFFF"/>
                  </a:solidFill>
                  <a:latin typeface="Poppins Medium"/>
                  <a:ea typeface="Poppins Medium"/>
                  <a:cs typeface="Poppins Medium"/>
                  <a:sym typeface="Poppins Medium"/>
                </a:rPr>
                <a:t>INVENTORY</a:t>
              </a:r>
              <a:endParaRPr/>
            </a:p>
          </p:txBody>
        </p:sp>
        <p:sp>
          <p:nvSpPr>
            <p:cNvPr id="270" name="Google Shape;270;p18"/>
            <p:cNvSpPr txBox="1"/>
            <p:nvPr/>
          </p:nvSpPr>
          <p:spPr>
            <a:xfrm>
              <a:off x="0" y="1270000"/>
              <a:ext cx="10984002" cy="654051"/>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2999" u="none" cap="none" strike="noStrike">
                  <a:solidFill>
                    <a:srgbClr val="00C4CC"/>
                  </a:solidFill>
                  <a:latin typeface="Poppins"/>
                  <a:ea typeface="Poppins"/>
                  <a:cs typeface="Poppins"/>
                  <a:sym typeface="Poppins"/>
                </a:rPr>
                <a:t>Inventario</a:t>
              </a: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74" name="Shape 274"/>
        <p:cNvGrpSpPr/>
        <p:nvPr/>
      </p:nvGrpSpPr>
      <p:grpSpPr>
        <a:xfrm>
          <a:off x="0" y="0"/>
          <a:ext cx="0" cy="0"/>
          <a:chOff x="0" y="0"/>
          <a:chExt cx="0" cy="0"/>
        </a:xfrm>
      </p:grpSpPr>
      <p:grpSp>
        <p:nvGrpSpPr>
          <p:cNvPr id="275" name="Google Shape;275;p19"/>
          <p:cNvGrpSpPr/>
          <p:nvPr/>
        </p:nvGrpSpPr>
        <p:grpSpPr>
          <a:xfrm>
            <a:off x="1028700" y="4085334"/>
            <a:ext cx="16230600" cy="5109553"/>
            <a:chOff x="0" y="12700"/>
            <a:chExt cx="21640800" cy="6812737"/>
          </a:xfrm>
        </p:grpSpPr>
        <p:sp>
          <p:nvSpPr>
            <p:cNvPr id="276" name="Google Shape;276;p19"/>
            <p:cNvSpPr txBox="1"/>
            <p:nvPr/>
          </p:nvSpPr>
          <p:spPr>
            <a:xfrm>
              <a:off x="0" y="445804"/>
              <a:ext cx="21640800" cy="6379633"/>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1" i="0" lang="en-US" sz="2499" u="none" cap="none" strike="noStrike">
                  <a:solidFill>
                    <a:srgbClr val="FFFFFF"/>
                  </a:solidFill>
                  <a:latin typeface="Poppins"/>
                  <a:ea typeface="Poppins"/>
                  <a:cs typeface="Poppins"/>
                  <a:sym typeface="Poppins"/>
                </a:rPr>
                <a:t>Initial Quantity (Cantidad Inicial):</a:t>
              </a:r>
              <a:endParaRPr/>
            </a:p>
            <a:p>
              <a:pPr indent="0" lvl="0" marL="0" marR="0" rtl="0" algn="just">
                <a:lnSpc>
                  <a:spcPct val="140016"/>
                </a:lnSpc>
                <a:spcBef>
                  <a:spcPts val="0"/>
                </a:spcBef>
                <a:spcAft>
                  <a:spcPts val="0"/>
                </a:spcAft>
                <a:buNone/>
              </a:pPr>
              <a:r>
                <a:rPr b="0" i="0" lang="en-US" sz="2499" u="none" cap="none" strike="noStrike">
                  <a:solidFill>
                    <a:srgbClr val="FFFFFF"/>
                  </a:solidFill>
                  <a:latin typeface="Poppins Light"/>
                  <a:ea typeface="Poppins Light"/>
                  <a:cs typeface="Poppins Light"/>
                  <a:sym typeface="Poppins Light"/>
                </a:rPr>
                <a:t>Especifica la cantidad inicial de material que tendrá el inventario cuando comience la simulación. Este valor inicial puede ser cero o cualquier número positivo, dependiendo de cuánta cantidad del material deseas que esté disponible al inicio de la simulación.</a:t>
              </a:r>
              <a:endParaRPr/>
            </a:p>
            <a:p>
              <a:pPr indent="0" lvl="0" marL="0" marR="0" rtl="0" algn="just">
                <a:lnSpc>
                  <a:spcPct val="140016"/>
                </a:lnSpc>
                <a:spcBef>
                  <a:spcPts val="0"/>
                </a:spcBef>
                <a:spcAft>
                  <a:spcPts val="0"/>
                </a:spcAft>
                <a:buNone/>
              </a:pPr>
              <a:r>
                <a:t/>
              </a:r>
              <a:endParaRPr b="0" i="0" sz="2499" u="none" cap="none" strike="noStrike">
                <a:solidFill>
                  <a:srgbClr val="FFFFFF"/>
                </a:solidFill>
                <a:latin typeface="Poppins Light"/>
                <a:ea typeface="Poppins Light"/>
                <a:cs typeface="Poppins Light"/>
                <a:sym typeface="Poppins Light"/>
              </a:endParaRPr>
            </a:p>
            <a:p>
              <a:pPr indent="0" lvl="0" marL="0" marR="0" rtl="0" algn="just">
                <a:lnSpc>
                  <a:spcPct val="140016"/>
                </a:lnSpc>
                <a:spcBef>
                  <a:spcPts val="0"/>
                </a:spcBef>
                <a:spcAft>
                  <a:spcPts val="0"/>
                </a:spcAft>
                <a:buNone/>
              </a:pPr>
              <a:r>
                <a:rPr b="1" i="0" lang="en-US" sz="2499" u="none" cap="none" strike="noStrike">
                  <a:solidFill>
                    <a:srgbClr val="FFFFFF"/>
                  </a:solidFill>
                  <a:latin typeface="Poppins"/>
                  <a:ea typeface="Poppins"/>
                  <a:cs typeface="Poppins"/>
                  <a:sym typeface="Poppins"/>
                </a:rPr>
                <a:t>Review Period (Período de Revisión):</a:t>
              </a:r>
              <a:endParaRPr/>
            </a:p>
            <a:p>
              <a:pPr indent="0" lvl="0" marL="0" marR="0" rtl="0" algn="just">
                <a:lnSpc>
                  <a:spcPct val="140016"/>
                </a:lnSpc>
                <a:spcBef>
                  <a:spcPts val="0"/>
                </a:spcBef>
                <a:spcAft>
                  <a:spcPts val="0"/>
                </a:spcAft>
                <a:buNone/>
              </a:pPr>
              <a:r>
                <a:rPr b="0" i="0" lang="en-US" sz="2499" u="none" cap="none" strike="noStrike">
                  <a:solidFill>
                    <a:srgbClr val="FFFFFF"/>
                  </a:solidFill>
                  <a:latin typeface="Poppins Light"/>
                  <a:ea typeface="Poppins Light"/>
                  <a:cs typeface="Poppins Light"/>
                  <a:sym typeface="Poppins Light"/>
                </a:rPr>
                <a:t>Este campo establece el intervalo de tiempo o frecuencia en la cual el inventario será revisado. Durante el período de revisión, se puede ajustar o reabastecer el inventario según sea necesario. Si se establece en "None", significa que no hay un período de revisión configurado, lo cual puede ser adecuado si el inventario es revisado de forma manual o en eventos específicos, también podemos indicar si la revisión es de forma continua y también timer.</a:t>
              </a:r>
              <a:endParaRPr/>
            </a:p>
          </p:txBody>
        </p:sp>
        <p:cxnSp>
          <p:nvCxnSpPr>
            <p:cNvPr id="277" name="Google Shape;277;p19"/>
            <p:cNvCxnSpPr/>
            <p:nvPr/>
          </p:nvCxnSpPr>
          <p:spPr>
            <a:xfrm>
              <a:off x="0" y="12700"/>
              <a:ext cx="21640800" cy="0"/>
            </a:xfrm>
            <a:prstGeom prst="straightConnector1">
              <a:avLst/>
            </a:prstGeom>
            <a:noFill/>
            <a:ln cap="rnd" cmpd="sng" w="25400">
              <a:solidFill>
                <a:srgbClr val="10B5BF"/>
              </a:solidFill>
              <a:prstDash val="solid"/>
              <a:round/>
              <a:headEnd len="sm" w="sm" type="none"/>
              <a:tailEnd len="sm" w="sm" type="none"/>
            </a:ln>
          </p:spPr>
        </p:cxnSp>
      </p:grpSp>
      <p:sp>
        <p:nvSpPr>
          <p:cNvPr id="278" name="Google Shape;278;p19"/>
          <p:cNvSpPr/>
          <p:nvPr/>
        </p:nvSpPr>
        <p:spPr>
          <a:xfrm>
            <a:off x="10701532" y="307181"/>
            <a:ext cx="6557768" cy="3361894"/>
          </a:xfrm>
          <a:custGeom>
            <a:rect b="b" l="l" r="r" t="t"/>
            <a:pathLst>
              <a:path extrusionOk="0" h="3361894" w="6557768">
                <a:moveTo>
                  <a:pt x="0" y="0"/>
                </a:moveTo>
                <a:lnTo>
                  <a:pt x="6557768" y="0"/>
                </a:lnTo>
                <a:lnTo>
                  <a:pt x="6557768" y="3361894"/>
                </a:lnTo>
                <a:lnTo>
                  <a:pt x="0" y="3361894"/>
                </a:lnTo>
                <a:lnTo>
                  <a:pt x="0" y="0"/>
                </a:lnTo>
                <a:close/>
              </a:path>
            </a:pathLst>
          </a:custGeom>
          <a:blipFill rotWithShape="1">
            <a:blip r:embed="rId3">
              <a:alphaModFix/>
            </a:blip>
            <a:stretch>
              <a:fillRect b="0" l="0" r="0" t="0"/>
            </a:stretch>
          </a:blipFill>
          <a:ln>
            <a:noFill/>
          </a:ln>
        </p:spPr>
      </p:sp>
      <p:grpSp>
        <p:nvGrpSpPr>
          <p:cNvPr id="279" name="Google Shape;279;p19"/>
          <p:cNvGrpSpPr/>
          <p:nvPr/>
        </p:nvGrpSpPr>
        <p:grpSpPr>
          <a:xfrm>
            <a:off x="1028700" y="300037"/>
            <a:ext cx="8238001" cy="1450183"/>
            <a:chOff x="0" y="-9525"/>
            <a:chExt cx="10984002" cy="1933576"/>
          </a:xfrm>
        </p:grpSpPr>
        <p:sp>
          <p:nvSpPr>
            <p:cNvPr id="280" name="Google Shape;280;p19"/>
            <p:cNvSpPr txBox="1"/>
            <p:nvPr/>
          </p:nvSpPr>
          <p:spPr>
            <a:xfrm>
              <a:off x="0" y="-9525"/>
              <a:ext cx="10984002" cy="1635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8000" u="none" cap="none" strike="noStrike">
                  <a:solidFill>
                    <a:srgbClr val="FFFFFF"/>
                  </a:solidFill>
                  <a:latin typeface="Poppins Medium"/>
                  <a:ea typeface="Poppins Medium"/>
                  <a:cs typeface="Poppins Medium"/>
                  <a:sym typeface="Poppins Medium"/>
                </a:rPr>
                <a:t>INVENTORY</a:t>
              </a:r>
              <a:endParaRPr/>
            </a:p>
          </p:txBody>
        </p:sp>
        <p:sp>
          <p:nvSpPr>
            <p:cNvPr id="281" name="Google Shape;281;p19"/>
            <p:cNvSpPr txBox="1"/>
            <p:nvPr/>
          </p:nvSpPr>
          <p:spPr>
            <a:xfrm>
              <a:off x="0" y="1270000"/>
              <a:ext cx="10984002" cy="654051"/>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2999" u="none" cap="none" strike="noStrike">
                  <a:solidFill>
                    <a:srgbClr val="00C4CC"/>
                  </a:solidFill>
                  <a:latin typeface="Poppins"/>
                  <a:ea typeface="Poppins"/>
                  <a:cs typeface="Poppins"/>
                  <a:sym typeface="Poppins"/>
                </a:rPr>
                <a:t>Inventario</a:t>
              </a: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85" name="Shape 285"/>
        <p:cNvGrpSpPr/>
        <p:nvPr/>
      </p:nvGrpSpPr>
      <p:grpSpPr>
        <a:xfrm>
          <a:off x="0" y="0"/>
          <a:ext cx="0" cy="0"/>
          <a:chOff x="0" y="0"/>
          <a:chExt cx="0" cy="0"/>
        </a:xfrm>
      </p:grpSpPr>
      <p:grpSp>
        <p:nvGrpSpPr>
          <p:cNvPr id="286" name="Google Shape;286;p20"/>
          <p:cNvGrpSpPr/>
          <p:nvPr/>
        </p:nvGrpSpPr>
        <p:grpSpPr>
          <a:xfrm>
            <a:off x="1028700" y="4085334"/>
            <a:ext cx="16230600" cy="2918803"/>
            <a:chOff x="0" y="12700"/>
            <a:chExt cx="21640800" cy="3891737"/>
          </a:xfrm>
        </p:grpSpPr>
        <p:sp>
          <p:nvSpPr>
            <p:cNvPr id="287" name="Google Shape;287;p20"/>
            <p:cNvSpPr txBox="1"/>
            <p:nvPr/>
          </p:nvSpPr>
          <p:spPr>
            <a:xfrm>
              <a:off x="0" y="445804"/>
              <a:ext cx="21640800" cy="3458633"/>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0" i="0" lang="en-US" sz="2499" u="none" cap="none" strike="noStrike">
                  <a:solidFill>
                    <a:srgbClr val="FFFFFF"/>
                  </a:solidFill>
                  <a:latin typeface="Poppins Light"/>
                  <a:ea typeface="Poppins Light"/>
                  <a:cs typeface="Poppins Light"/>
                  <a:sym typeface="Poppins Light"/>
                </a:rPr>
                <a:t>Tenemos la capacidad de colocar un punto de reorden e indicar la cantidad que deseamos, con un timer podemos indicar tambien cuanto tiempo queremos que tarde en realizar ese reorden.</a:t>
              </a:r>
              <a:endParaRPr/>
            </a:p>
            <a:p>
              <a:pPr indent="0" lvl="0" marL="0" marR="0" rtl="0" algn="just">
                <a:lnSpc>
                  <a:spcPct val="140016"/>
                </a:lnSpc>
                <a:spcBef>
                  <a:spcPts val="0"/>
                </a:spcBef>
                <a:spcAft>
                  <a:spcPts val="0"/>
                </a:spcAft>
                <a:buNone/>
              </a:pPr>
              <a:r>
                <a:t/>
              </a:r>
              <a:endParaRPr b="0" i="0" sz="2499" u="none" cap="none" strike="noStrike">
                <a:solidFill>
                  <a:srgbClr val="FFFFFF"/>
                </a:solidFill>
                <a:latin typeface="Poppins Light"/>
                <a:ea typeface="Poppins Light"/>
                <a:cs typeface="Poppins Light"/>
                <a:sym typeface="Poppins Light"/>
              </a:endParaRPr>
            </a:p>
            <a:p>
              <a:pPr indent="0" lvl="0" marL="0" marR="0" rtl="0" algn="just">
                <a:lnSpc>
                  <a:spcPct val="140016"/>
                </a:lnSpc>
                <a:spcBef>
                  <a:spcPts val="0"/>
                </a:spcBef>
                <a:spcAft>
                  <a:spcPts val="0"/>
                </a:spcAft>
                <a:buNone/>
              </a:pPr>
              <a:r>
                <a:rPr b="0" i="0" lang="en-US" sz="2499" u="none" cap="none" strike="noStrike">
                  <a:solidFill>
                    <a:srgbClr val="FFFFFF"/>
                  </a:solidFill>
                  <a:latin typeface="Poppins Light"/>
                  <a:ea typeface="Poppins Light"/>
                  <a:cs typeface="Poppins Light"/>
                  <a:sym typeface="Poppins Light"/>
                </a:rPr>
                <a:t>El punto de reorden es el valor minimo que queremos tener en nuestro sistema antes de realizar otra orden.</a:t>
              </a:r>
              <a:endParaRPr/>
            </a:p>
            <a:p>
              <a:pPr indent="0" lvl="0" marL="0" marR="0" rtl="0" algn="just">
                <a:lnSpc>
                  <a:spcPct val="140016"/>
                </a:lnSpc>
                <a:spcBef>
                  <a:spcPts val="0"/>
                </a:spcBef>
                <a:spcAft>
                  <a:spcPts val="0"/>
                </a:spcAft>
                <a:buNone/>
              </a:pPr>
              <a:r>
                <a:rPr b="0" i="0" lang="en-US" sz="2499" u="none" cap="none" strike="noStrike">
                  <a:solidFill>
                    <a:srgbClr val="FFFFFF"/>
                  </a:solidFill>
                  <a:latin typeface="Poppins Light"/>
                  <a:ea typeface="Poppins Light"/>
                  <a:cs typeface="Poppins Light"/>
                  <a:sym typeface="Poppins Light"/>
                </a:rPr>
                <a:t>La cantidad de reorden es la cantidad de material que vamos a solicitar.</a:t>
              </a:r>
              <a:endParaRPr/>
            </a:p>
          </p:txBody>
        </p:sp>
        <p:cxnSp>
          <p:nvCxnSpPr>
            <p:cNvPr id="288" name="Google Shape;288;p20"/>
            <p:cNvCxnSpPr/>
            <p:nvPr/>
          </p:nvCxnSpPr>
          <p:spPr>
            <a:xfrm>
              <a:off x="0" y="12700"/>
              <a:ext cx="21640800" cy="0"/>
            </a:xfrm>
            <a:prstGeom prst="straightConnector1">
              <a:avLst/>
            </a:prstGeom>
            <a:noFill/>
            <a:ln cap="rnd" cmpd="sng" w="25400">
              <a:solidFill>
                <a:srgbClr val="10B5BF"/>
              </a:solidFill>
              <a:prstDash val="solid"/>
              <a:round/>
              <a:headEnd len="sm" w="sm" type="none"/>
              <a:tailEnd len="sm" w="sm" type="none"/>
            </a:ln>
          </p:spPr>
        </p:cxnSp>
      </p:grpSp>
      <p:sp>
        <p:nvSpPr>
          <p:cNvPr id="289" name="Google Shape;289;p20"/>
          <p:cNvSpPr/>
          <p:nvPr/>
        </p:nvSpPr>
        <p:spPr>
          <a:xfrm>
            <a:off x="10701532" y="307181"/>
            <a:ext cx="6557768" cy="3361894"/>
          </a:xfrm>
          <a:custGeom>
            <a:rect b="b" l="l" r="r" t="t"/>
            <a:pathLst>
              <a:path extrusionOk="0" h="3361894" w="6557768">
                <a:moveTo>
                  <a:pt x="0" y="0"/>
                </a:moveTo>
                <a:lnTo>
                  <a:pt x="6557768" y="0"/>
                </a:lnTo>
                <a:lnTo>
                  <a:pt x="6557768" y="3361894"/>
                </a:lnTo>
                <a:lnTo>
                  <a:pt x="0" y="3361894"/>
                </a:lnTo>
                <a:lnTo>
                  <a:pt x="0" y="0"/>
                </a:lnTo>
                <a:close/>
              </a:path>
            </a:pathLst>
          </a:custGeom>
          <a:blipFill rotWithShape="1">
            <a:blip r:embed="rId3">
              <a:alphaModFix/>
            </a:blip>
            <a:stretch>
              <a:fillRect b="0" l="0" r="0" t="0"/>
            </a:stretch>
          </a:blipFill>
          <a:ln>
            <a:noFill/>
          </a:ln>
        </p:spPr>
      </p:sp>
      <p:grpSp>
        <p:nvGrpSpPr>
          <p:cNvPr id="290" name="Google Shape;290;p20"/>
          <p:cNvGrpSpPr/>
          <p:nvPr/>
        </p:nvGrpSpPr>
        <p:grpSpPr>
          <a:xfrm>
            <a:off x="1028700" y="300037"/>
            <a:ext cx="8238001" cy="1450183"/>
            <a:chOff x="0" y="-9525"/>
            <a:chExt cx="10984002" cy="1933576"/>
          </a:xfrm>
        </p:grpSpPr>
        <p:sp>
          <p:nvSpPr>
            <p:cNvPr id="291" name="Google Shape;291;p20"/>
            <p:cNvSpPr txBox="1"/>
            <p:nvPr/>
          </p:nvSpPr>
          <p:spPr>
            <a:xfrm>
              <a:off x="0" y="-9525"/>
              <a:ext cx="10984002" cy="1635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8000" u="none" cap="none" strike="noStrike">
                  <a:solidFill>
                    <a:srgbClr val="FFFFFF"/>
                  </a:solidFill>
                  <a:latin typeface="Poppins Medium"/>
                  <a:ea typeface="Poppins Medium"/>
                  <a:cs typeface="Poppins Medium"/>
                  <a:sym typeface="Poppins Medium"/>
                </a:rPr>
                <a:t>INVENTORY</a:t>
              </a:r>
              <a:endParaRPr/>
            </a:p>
          </p:txBody>
        </p:sp>
        <p:sp>
          <p:nvSpPr>
            <p:cNvPr id="292" name="Google Shape;292;p20"/>
            <p:cNvSpPr txBox="1"/>
            <p:nvPr/>
          </p:nvSpPr>
          <p:spPr>
            <a:xfrm>
              <a:off x="0" y="1270000"/>
              <a:ext cx="10984002" cy="654051"/>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2999" u="none" cap="none" strike="noStrike">
                  <a:solidFill>
                    <a:srgbClr val="00C4CC"/>
                  </a:solidFill>
                  <a:latin typeface="Poppins"/>
                  <a:ea typeface="Poppins"/>
                  <a:cs typeface="Poppins"/>
                  <a:sym typeface="Poppins"/>
                </a:rPr>
                <a:t>Inventario</a:t>
              </a:r>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96" name="Shape 296"/>
        <p:cNvGrpSpPr/>
        <p:nvPr/>
      </p:nvGrpSpPr>
      <p:grpSpPr>
        <a:xfrm>
          <a:off x="0" y="0"/>
          <a:ext cx="0" cy="0"/>
          <a:chOff x="0" y="0"/>
          <a:chExt cx="0" cy="0"/>
        </a:xfrm>
      </p:grpSpPr>
      <p:grpSp>
        <p:nvGrpSpPr>
          <p:cNvPr id="297" name="Google Shape;297;p21"/>
          <p:cNvGrpSpPr/>
          <p:nvPr/>
        </p:nvGrpSpPr>
        <p:grpSpPr>
          <a:xfrm>
            <a:off x="1028700" y="3750114"/>
            <a:ext cx="16230600" cy="5985853"/>
            <a:chOff x="0" y="12700"/>
            <a:chExt cx="21640800" cy="7981137"/>
          </a:xfrm>
        </p:grpSpPr>
        <p:sp>
          <p:nvSpPr>
            <p:cNvPr id="298" name="Google Shape;298;p21"/>
            <p:cNvSpPr txBox="1"/>
            <p:nvPr/>
          </p:nvSpPr>
          <p:spPr>
            <a:xfrm>
              <a:off x="0" y="445804"/>
              <a:ext cx="21640800" cy="7548033"/>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1" i="0" lang="en-US" sz="2499" u="none" cap="none" strike="noStrike">
                  <a:solidFill>
                    <a:srgbClr val="FFFFFF"/>
                  </a:solidFill>
                  <a:latin typeface="Poppins"/>
                  <a:ea typeface="Poppins"/>
                  <a:cs typeface="Poppins"/>
                  <a:sym typeface="Poppins"/>
                </a:rPr>
                <a:t>El Material Element permite simular y rastrear cantidades de materiales que se pueden consumir, producir, reabastecer o almacenar en un inventario. Este tipo de recurso es útil cuando se necesita modelar aspectos como materias primas, suministros, piezas o cualquier tipo de insumo que es utilizado por procesos en una simulación.</a:t>
              </a:r>
              <a:endParaRPr/>
            </a:p>
            <a:p>
              <a:pPr indent="0" lvl="0" marL="0" marR="0" rtl="0" algn="just">
                <a:lnSpc>
                  <a:spcPct val="140016"/>
                </a:lnSpc>
                <a:spcBef>
                  <a:spcPts val="0"/>
                </a:spcBef>
                <a:spcAft>
                  <a:spcPts val="0"/>
                </a:spcAft>
                <a:buNone/>
              </a:pPr>
              <a:r>
                <a:t/>
              </a:r>
              <a:endParaRPr b="1" i="0" sz="2499" u="none" cap="none" strike="noStrike">
                <a:solidFill>
                  <a:srgbClr val="FFFFFF"/>
                </a:solidFill>
                <a:latin typeface="Poppins"/>
                <a:ea typeface="Poppins"/>
                <a:cs typeface="Poppins"/>
                <a:sym typeface="Poppins"/>
              </a:endParaRPr>
            </a:p>
            <a:p>
              <a:pPr indent="0" lvl="0" marL="0" marR="0" rtl="0" algn="just">
                <a:lnSpc>
                  <a:spcPct val="140016"/>
                </a:lnSpc>
                <a:spcBef>
                  <a:spcPts val="0"/>
                </a:spcBef>
                <a:spcAft>
                  <a:spcPts val="0"/>
                </a:spcAft>
                <a:buNone/>
              </a:pPr>
              <a:r>
                <a:rPr b="1" i="0" lang="en-US" sz="2499" u="none" cap="none" strike="noStrike">
                  <a:solidFill>
                    <a:srgbClr val="FFFFFF"/>
                  </a:solidFill>
                  <a:latin typeface="Poppins"/>
                  <a:ea typeface="Poppins"/>
                  <a:cs typeface="Poppins"/>
                  <a:sym typeface="Poppins"/>
                </a:rPr>
                <a:t>Material Name (Nombre del Material): Similar al campo en el Inventory Element, aquí defines el nombre del material o recurso que será administrado en el modelo. Este nombre identifica el material que será consumido o producido durante los procesos.</a:t>
              </a:r>
              <a:endParaRPr/>
            </a:p>
            <a:p>
              <a:pPr indent="0" lvl="0" marL="0" marR="0" rtl="0" algn="just">
                <a:lnSpc>
                  <a:spcPct val="140016"/>
                </a:lnSpc>
                <a:spcBef>
                  <a:spcPts val="0"/>
                </a:spcBef>
                <a:spcAft>
                  <a:spcPts val="0"/>
                </a:spcAft>
                <a:buNone/>
              </a:pPr>
              <a:r>
                <a:t/>
              </a:r>
              <a:endParaRPr b="1" i="0" sz="2499" u="none" cap="none" strike="noStrike">
                <a:solidFill>
                  <a:srgbClr val="FFFFFF"/>
                </a:solidFill>
                <a:latin typeface="Poppins"/>
                <a:ea typeface="Poppins"/>
                <a:cs typeface="Poppins"/>
                <a:sym typeface="Poppins"/>
              </a:endParaRPr>
            </a:p>
            <a:p>
              <a:pPr indent="0" lvl="0" marL="0" marR="0" rtl="0" algn="just">
                <a:lnSpc>
                  <a:spcPct val="140016"/>
                </a:lnSpc>
                <a:spcBef>
                  <a:spcPts val="0"/>
                </a:spcBef>
                <a:spcAft>
                  <a:spcPts val="0"/>
                </a:spcAft>
                <a:buNone/>
              </a:pPr>
              <a:r>
                <a:rPr b="1" i="0" lang="en-US" sz="2499" u="none" cap="none" strike="noStrike">
                  <a:solidFill>
                    <a:srgbClr val="FFFFFF"/>
                  </a:solidFill>
                  <a:latin typeface="Poppins"/>
                  <a:ea typeface="Poppins"/>
                  <a:cs typeface="Poppins"/>
                  <a:sym typeface="Poppins"/>
                </a:rPr>
                <a:t>Initial Quantity (Cantidad Inicial): Se establece la cantidad inicial de este material disponible al inicio de la simulación. Esto permite que, al comenzar, ciertos recursos ya estén disponibles para ser consumidos o procesados. Si es necesario que el material se consuma desde el inicio, debe haber suficiente cantidad para cumplir con la demanda.</a:t>
              </a:r>
              <a:endParaRPr/>
            </a:p>
          </p:txBody>
        </p:sp>
        <p:cxnSp>
          <p:nvCxnSpPr>
            <p:cNvPr id="299" name="Google Shape;299;p21"/>
            <p:cNvCxnSpPr/>
            <p:nvPr/>
          </p:nvCxnSpPr>
          <p:spPr>
            <a:xfrm>
              <a:off x="0" y="12700"/>
              <a:ext cx="21640800" cy="0"/>
            </a:xfrm>
            <a:prstGeom prst="straightConnector1">
              <a:avLst/>
            </a:prstGeom>
            <a:noFill/>
            <a:ln cap="rnd" cmpd="sng" w="25400">
              <a:solidFill>
                <a:srgbClr val="10B5BF"/>
              </a:solidFill>
              <a:prstDash val="solid"/>
              <a:round/>
              <a:headEnd len="sm" w="sm" type="none"/>
              <a:tailEnd len="sm" w="sm" type="none"/>
            </a:ln>
          </p:spPr>
        </p:cxnSp>
      </p:grpSp>
      <p:sp>
        <p:nvSpPr>
          <p:cNvPr id="300" name="Google Shape;300;p21"/>
          <p:cNvSpPr/>
          <p:nvPr/>
        </p:nvSpPr>
        <p:spPr>
          <a:xfrm>
            <a:off x="7126861" y="307181"/>
            <a:ext cx="10132439" cy="2904067"/>
          </a:xfrm>
          <a:custGeom>
            <a:rect b="b" l="l" r="r" t="t"/>
            <a:pathLst>
              <a:path extrusionOk="0" h="2904067" w="10132439">
                <a:moveTo>
                  <a:pt x="0" y="0"/>
                </a:moveTo>
                <a:lnTo>
                  <a:pt x="10132439" y="0"/>
                </a:lnTo>
                <a:lnTo>
                  <a:pt x="10132439" y="2904067"/>
                </a:lnTo>
                <a:lnTo>
                  <a:pt x="0" y="2904067"/>
                </a:lnTo>
                <a:lnTo>
                  <a:pt x="0" y="0"/>
                </a:lnTo>
                <a:close/>
              </a:path>
            </a:pathLst>
          </a:custGeom>
          <a:blipFill rotWithShape="1">
            <a:blip r:embed="rId3">
              <a:alphaModFix/>
            </a:blip>
            <a:stretch>
              <a:fillRect b="0" l="0" r="0" t="0"/>
            </a:stretch>
          </a:blipFill>
          <a:ln>
            <a:noFill/>
          </a:ln>
        </p:spPr>
      </p:sp>
      <p:grpSp>
        <p:nvGrpSpPr>
          <p:cNvPr id="301" name="Google Shape;301;p21"/>
          <p:cNvGrpSpPr/>
          <p:nvPr/>
        </p:nvGrpSpPr>
        <p:grpSpPr>
          <a:xfrm>
            <a:off x="1028700" y="300037"/>
            <a:ext cx="8238001" cy="1450183"/>
            <a:chOff x="0" y="-9525"/>
            <a:chExt cx="10984002" cy="1933576"/>
          </a:xfrm>
        </p:grpSpPr>
        <p:sp>
          <p:nvSpPr>
            <p:cNvPr id="302" name="Google Shape;302;p21"/>
            <p:cNvSpPr txBox="1"/>
            <p:nvPr/>
          </p:nvSpPr>
          <p:spPr>
            <a:xfrm>
              <a:off x="0" y="-9525"/>
              <a:ext cx="10984002" cy="1635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8000" u="none" cap="none" strike="noStrike">
                  <a:solidFill>
                    <a:srgbClr val="FFFFFF"/>
                  </a:solidFill>
                  <a:latin typeface="Poppins Medium"/>
                  <a:ea typeface="Poppins Medium"/>
                  <a:cs typeface="Poppins Medium"/>
                  <a:sym typeface="Poppins Medium"/>
                </a:rPr>
                <a:t>MATERIAL</a:t>
              </a:r>
              <a:endParaRPr/>
            </a:p>
          </p:txBody>
        </p:sp>
        <p:sp>
          <p:nvSpPr>
            <p:cNvPr id="303" name="Google Shape;303;p21"/>
            <p:cNvSpPr txBox="1"/>
            <p:nvPr/>
          </p:nvSpPr>
          <p:spPr>
            <a:xfrm>
              <a:off x="0" y="1270000"/>
              <a:ext cx="10984002" cy="654051"/>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2999" u="none" cap="none" strike="noStrike">
                  <a:solidFill>
                    <a:srgbClr val="00C4CC"/>
                  </a:solidFill>
                  <a:latin typeface="Poppins"/>
                  <a:ea typeface="Poppins"/>
                  <a:cs typeface="Poppins"/>
                  <a:sym typeface="Poppins"/>
                </a:rPr>
                <a:t>Material</a:t>
              </a:r>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307" name="Shape 307"/>
        <p:cNvGrpSpPr/>
        <p:nvPr/>
      </p:nvGrpSpPr>
      <p:grpSpPr>
        <a:xfrm>
          <a:off x="0" y="0"/>
          <a:ext cx="0" cy="0"/>
          <a:chOff x="0" y="0"/>
          <a:chExt cx="0" cy="0"/>
        </a:xfrm>
      </p:grpSpPr>
      <p:grpSp>
        <p:nvGrpSpPr>
          <p:cNvPr id="308" name="Google Shape;308;p22"/>
          <p:cNvGrpSpPr/>
          <p:nvPr/>
        </p:nvGrpSpPr>
        <p:grpSpPr>
          <a:xfrm>
            <a:off x="1028700" y="3750114"/>
            <a:ext cx="16230600" cy="5985853"/>
            <a:chOff x="0" y="12700"/>
            <a:chExt cx="21640800" cy="7981137"/>
          </a:xfrm>
        </p:grpSpPr>
        <p:sp>
          <p:nvSpPr>
            <p:cNvPr id="309" name="Google Shape;309;p22"/>
            <p:cNvSpPr txBox="1"/>
            <p:nvPr/>
          </p:nvSpPr>
          <p:spPr>
            <a:xfrm>
              <a:off x="0" y="445804"/>
              <a:ext cx="21640800" cy="7548033"/>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1" i="0" lang="en-US" sz="2499" u="none" cap="none" strike="noStrike">
                  <a:solidFill>
                    <a:srgbClr val="FFFFFF"/>
                  </a:solidFill>
                  <a:latin typeface="Poppins"/>
                  <a:ea typeface="Poppins"/>
                  <a:cs typeface="Poppins"/>
                  <a:sym typeface="Poppins"/>
                </a:rPr>
                <a:t>Replenishment Logic (Lógica de Reabastecimiento): En esta sección se puede definir la lógica de reabastecimiento, es decir, cómo y cuándo el material será reabastecido. Puedes especificar el punto de reorden y la cantidad a reordenar, o usar estrategias como el reabastecimiento periódico.</a:t>
              </a:r>
              <a:endParaRPr/>
            </a:p>
            <a:p>
              <a:pPr indent="0" lvl="0" marL="0" marR="0" rtl="0" algn="just">
                <a:lnSpc>
                  <a:spcPct val="140016"/>
                </a:lnSpc>
                <a:spcBef>
                  <a:spcPts val="0"/>
                </a:spcBef>
                <a:spcAft>
                  <a:spcPts val="0"/>
                </a:spcAft>
                <a:buNone/>
              </a:pPr>
              <a:r>
                <a:t/>
              </a:r>
              <a:endParaRPr b="1" i="0" sz="2499" u="none" cap="none" strike="noStrike">
                <a:solidFill>
                  <a:srgbClr val="FFFFFF"/>
                </a:solidFill>
                <a:latin typeface="Poppins"/>
                <a:ea typeface="Poppins"/>
                <a:cs typeface="Poppins"/>
                <a:sym typeface="Poppins"/>
              </a:endParaRPr>
            </a:p>
            <a:p>
              <a:pPr indent="0" lvl="0" marL="0" marR="0" rtl="0" algn="just">
                <a:lnSpc>
                  <a:spcPct val="140016"/>
                </a:lnSpc>
                <a:spcBef>
                  <a:spcPts val="0"/>
                </a:spcBef>
                <a:spcAft>
                  <a:spcPts val="0"/>
                </a:spcAft>
                <a:buNone/>
              </a:pPr>
              <a:r>
                <a:rPr b="1" i="0" lang="en-US" sz="2499" u="none" cap="none" strike="noStrike">
                  <a:solidFill>
                    <a:srgbClr val="FFFFFF"/>
                  </a:solidFill>
                  <a:latin typeface="Poppins"/>
                  <a:ea typeface="Poppins"/>
                  <a:cs typeface="Poppins"/>
                  <a:sym typeface="Poppins"/>
                </a:rPr>
                <a:t>Consumption and Production: Los materiales pueden ser consumidos por ciertos procesos (como en una máquina que utiliza materias primas) o producidos como resultado de otras actividades. El Material Element facilita la simulación de estas dinámicas, vinculando el uso y la creación de materiales con la ejecución de tareas.</a:t>
              </a:r>
              <a:endParaRPr/>
            </a:p>
            <a:p>
              <a:pPr indent="0" lvl="0" marL="0" marR="0" rtl="0" algn="just">
                <a:lnSpc>
                  <a:spcPct val="140016"/>
                </a:lnSpc>
                <a:spcBef>
                  <a:spcPts val="0"/>
                </a:spcBef>
                <a:spcAft>
                  <a:spcPts val="0"/>
                </a:spcAft>
                <a:buNone/>
              </a:pPr>
              <a:r>
                <a:t/>
              </a:r>
              <a:endParaRPr b="1" i="0" sz="2499" u="none" cap="none" strike="noStrike">
                <a:solidFill>
                  <a:srgbClr val="FFFFFF"/>
                </a:solidFill>
                <a:latin typeface="Poppins"/>
                <a:ea typeface="Poppins"/>
                <a:cs typeface="Poppins"/>
                <a:sym typeface="Poppins"/>
              </a:endParaRPr>
            </a:p>
            <a:p>
              <a:pPr indent="0" lvl="0" marL="0" marR="0" rtl="0" algn="just">
                <a:lnSpc>
                  <a:spcPct val="140016"/>
                </a:lnSpc>
                <a:spcBef>
                  <a:spcPts val="0"/>
                </a:spcBef>
                <a:spcAft>
                  <a:spcPts val="0"/>
                </a:spcAft>
                <a:buNone/>
              </a:pPr>
              <a:r>
                <a:rPr b="1" i="0" lang="en-US" sz="2499" u="none" cap="none" strike="noStrike">
                  <a:solidFill>
                    <a:srgbClr val="FFFFFF"/>
                  </a:solidFill>
                  <a:latin typeface="Poppins"/>
                  <a:ea typeface="Poppins"/>
                  <a:cs typeface="Poppins"/>
                  <a:sym typeface="Poppins"/>
                </a:rPr>
                <a:t>Usage in Processing: Puedes especificar cómo el material es utilizado por los recursos del modelo (máquinas, operarios, etc.). Por ejemplo, una máquina puede consumir una cierta cantidad de material para producir una unidad de producto terminado. También puedes definir la tasa de uso por hora o por tarea completada.</a:t>
              </a:r>
              <a:endParaRPr/>
            </a:p>
          </p:txBody>
        </p:sp>
        <p:cxnSp>
          <p:nvCxnSpPr>
            <p:cNvPr id="310" name="Google Shape;310;p22"/>
            <p:cNvCxnSpPr/>
            <p:nvPr/>
          </p:nvCxnSpPr>
          <p:spPr>
            <a:xfrm>
              <a:off x="0" y="12700"/>
              <a:ext cx="21640800" cy="0"/>
            </a:xfrm>
            <a:prstGeom prst="straightConnector1">
              <a:avLst/>
            </a:prstGeom>
            <a:noFill/>
            <a:ln cap="rnd" cmpd="sng" w="25400">
              <a:solidFill>
                <a:srgbClr val="10B5BF"/>
              </a:solidFill>
              <a:prstDash val="solid"/>
              <a:round/>
              <a:headEnd len="sm" w="sm" type="none"/>
              <a:tailEnd len="sm" w="sm" type="none"/>
            </a:ln>
          </p:spPr>
        </p:cxnSp>
      </p:grpSp>
      <p:sp>
        <p:nvSpPr>
          <p:cNvPr id="311" name="Google Shape;311;p22"/>
          <p:cNvSpPr/>
          <p:nvPr/>
        </p:nvSpPr>
        <p:spPr>
          <a:xfrm>
            <a:off x="7126861" y="307181"/>
            <a:ext cx="10132439" cy="2904067"/>
          </a:xfrm>
          <a:custGeom>
            <a:rect b="b" l="l" r="r" t="t"/>
            <a:pathLst>
              <a:path extrusionOk="0" h="2904067" w="10132439">
                <a:moveTo>
                  <a:pt x="0" y="0"/>
                </a:moveTo>
                <a:lnTo>
                  <a:pt x="10132439" y="0"/>
                </a:lnTo>
                <a:lnTo>
                  <a:pt x="10132439" y="2904067"/>
                </a:lnTo>
                <a:lnTo>
                  <a:pt x="0" y="2904067"/>
                </a:lnTo>
                <a:lnTo>
                  <a:pt x="0" y="0"/>
                </a:lnTo>
                <a:close/>
              </a:path>
            </a:pathLst>
          </a:custGeom>
          <a:blipFill rotWithShape="1">
            <a:blip r:embed="rId3">
              <a:alphaModFix/>
            </a:blip>
            <a:stretch>
              <a:fillRect b="0" l="0" r="0" t="0"/>
            </a:stretch>
          </a:blipFill>
          <a:ln>
            <a:noFill/>
          </a:ln>
        </p:spPr>
      </p:sp>
      <p:grpSp>
        <p:nvGrpSpPr>
          <p:cNvPr id="312" name="Google Shape;312;p22"/>
          <p:cNvGrpSpPr/>
          <p:nvPr/>
        </p:nvGrpSpPr>
        <p:grpSpPr>
          <a:xfrm>
            <a:off x="1028700" y="300037"/>
            <a:ext cx="8238001" cy="1450183"/>
            <a:chOff x="0" y="-9525"/>
            <a:chExt cx="10984002" cy="1933576"/>
          </a:xfrm>
        </p:grpSpPr>
        <p:sp>
          <p:nvSpPr>
            <p:cNvPr id="313" name="Google Shape;313;p22"/>
            <p:cNvSpPr txBox="1"/>
            <p:nvPr/>
          </p:nvSpPr>
          <p:spPr>
            <a:xfrm>
              <a:off x="0" y="-9525"/>
              <a:ext cx="10984002" cy="1635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8000" u="none" cap="none" strike="noStrike">
                  <a:solidFill>
                    <a:srgbClr val="FFFFFF"/>
                  </a:solidFill>
                  <a:latin typeface="Poppins Medium"/>
                  <a:ea typeface="Poppins Medium"/>
                  <a:cs typeface="Poppins Medium"/>
                  <a:sym typeface="Poppins Medium"/>
                </a:rPr>
                <a:t>MATERIAL</a:t>
              </a:r>
              <a:endParaRPr/>
            </a:p>
          </p:txBody>
        </p:sp>
        <p:sp>
          <p:nvSpPr>
            <p:cNvPr id="314" name="Google Shape;314;p22"/>
            <p:cNvSpPr txBox="1"/>
            <p:nvPr/>
          </p:nvSpPr>
          <p:spPr>
            <a:xfrm>
              <a:off x="0" y="1270000"/>
              <a:ext cx="10984002" cy="654051"/>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2999" u="none" cap="none" strike="noStrike">
                  <a:solidFill>
                    <a:srgbClr val="00C4CC"/>
                  </a:solidFill>
                  <a:latin typeface="Poppins"/>
                  <a:ea typeface="Poppins"/>
                  <a:cs typeface="Poppins"/>
                  <a:sym typeface="Poppins"/>
                </a:rPr>
                <a:t>Material</a:t>
              </a:r>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318" name="Shape 318"/>
        <p:cNvGrpSpPr/>
        <p:nvPr/>
      </p:nvGrpSpPr>
      <p:grpSpPr>
        <a:xfrm>
          <a:off x="0" y="0"/>
          <a:ext cx="0" cy="0"/>
          <a:chOff x="0" y="0"/>
          <a:chExt cx="0" cy="0"/>
        </a:xfrm>
      </p:grpSpPr>
      <p:grpSp>
        <p:nvGrpSpPr>
          <p:cNvPr id="319" name="Google Shape;319;p23"/>
          <p:cNvGrpSpPr/>
          <p:nvPr/>
        </p:nvGrpSpPr>
        <p:grpSpPr>
          <a:xfrm>
            <a:off x="1028700" y="3750114"/>
            <a:ext cx="16230600" cy="2042503"/>
            <a:chOff x="0" y="12700"/>
            <a:chExt cx="21640800" cy="2723337"/>
          </a:xfrm>
        </p:grpSpPr>
        <p:sp>
          <p:nvSpPr>
            <p:cNvPr id="320" name="Google Shape;320;p23"/>
            <p:cNvSpPr txBox="1"/>
            <p:nvPr/>
          </p:nvSpPr>
          <p:spPr>
            <a:xfrm>
              <a:off x="0" y="445804"/>
              <a:ext cx="21640800" cy="2290233"/>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1" i="0" lang="en-US" sz="2499" u="none" cap="none" strike="noStrike">
                  <a:solidFill>
                    <a:srgbClr val="FFFFFF"/>
                  </a:solidFill>
                  <a:latin typeface="Poppins"/>
                  <a:ea typeface="Poppins"/>
                  <a:cs typeface="Poppins"/>
                  <a:sym typeface="Poppins"/>
                </a:rPr>
                <a:t>Inventory Interaction: El Material Element interactúa estrechamente con el Inventory Element. Mientras que el Material Element define el tipo y las características de un material, el Inventory Element gestiona las cantidades de ese material en sitios o almacenes específicos, así como las reglas de almacenamiento y reabastecimiento.</a:t>
              </a:r>
              <a:endParaRPr/>
            </a:p>
          </p:txBody>
        </p:sp>
        <p:cxnSp>
          <p:nvCxnSpPr>
            <p:cNvPr id="321" name="Google Shape;321;p23"/>
            <p:cNvCxnSpPr/>
            <p:nvPr/>
          </p:nvCxnSpPr>
          <p:spPr>
            <a:xfrm>
              <a:off x="0" y="12700"/>
              <a:ext cx="21640800" cy="0"/>
            </a:xfrm>
            <a:prstGeom prst="straightConnector1">
              <a:avLst/>
            </a:prstGeom>
            <a:noFill/>
            <a:ln cap="rnd" cmpd="sng" w="25400">
              <a:solidFill>
                <a:srgbClr val="10B5BF"/>
              </a:solidFill>
              <a:prstDash val="solid"/>
              <a:round/>
              <a:headEnd len="sm" w="sm" type="none"/>
              <a:tailEnd len="sm" w="sm" type="none"/>
            </a:ln>
          </p:spPr>
        </p:cxnSp>
      </p:grpSp>
      <p:sp>
        <p:nvSpPr>
          <p:cNvPr id="322" name="Google Shape;322;p23"/>
          <p:cNvSpPr/>
          <p:nvPr/>
        </p:nvSpPr>
        <p:spPr>
          <a:xfrm>
            <a:off x="7126861" y="307181"/>
            <a:ext cx="10132439" cy="2904067"/>
          </a:xfrm>
          <a:custGeom>
            <a:rect b="b" l="l" r="r" t="t"/>
            <a:pathLst>
              <a:path extrusionOk="0" h="2904067" w="10132439">
                <a:moveTo>
                  <a:pt x="0" y="0"/>
                </a:moveTo>
                <a:lnTo>
                  <a:pt x="10132439" y="0"/>
                </a:lnTo>
                <a:lnTo>
                  <a:pt x="10132439" y="2904067"/>
                </a:lnTo>
                <a:lnTo>
                  <a:pt x="0" y="2904067"/>
                </a:lnTo>
                <a:lnTo>
                  <a:pt x="0" y="0"/>
                </a:lnTo>
                <a:close/>
              </a:path>
            </a:pathLst>
          </a:custGeom>
          <a:blipFill rotWithShape="1">
            <a:blip r:embed="rId3">
              <a:alphaModFix/>
            </a:blip>
            <a:stretch>
              <a:fillRect b="0" l="0" r="0" t="0"/>
            </a:stretch>
          </a:blipFill>
          <a:ln>
            <a:noFill/>
          </a:ln>
        </p:spPr>
      </p:sp>
      <p:grpSp>
        <p:nvGrpSpPr>
          <p:cNvPr id="323" name="Google Shape;323;p23"/>
          <p:cNvGrpSpPr/>
          <p:nvPr/>
        </p:nvGrpSpPr>
        <p:grpSpPr>
          <a:xfrm>
            <a:off x="1028700" y="300037"/>
            <a:ext cx="8238001" cy="1450183"/>
            <a:chOff x="0" y="-9525"/>
            <a:chExt cx="10984002" cy="1933576"/>
          </a:xfrm>
        </p:grpSpPr>
        <p:sp>
          <p:nvSpPr>
            <p:cNvPr id="324" name="Google Shape;324;p23"/>
            <p:cNvSpPr txBox="1"/>
            <p:nvPr/>
          </p:nvSpPr>
          <p:spPr>
            <a:xfrm>
              <a:off x="0" y="-9525"/>
              <a:ext cx="10984002" cy="1635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8000" u="none" cap="none" strike="noStrike">
                  <a:solidFill>
                    <a:srgbClr val="FFFFFF"/>
                  </a:solidFill>
                  <a:latin typeface="Poppins Medium"/>
                  <a:ea typeface="Poppins Medium"/>
                  <a:cs typeface="Poppins Medium"/>
                  <a:sym typeface="Poppins Medium"/>
                </a:rPr>
                <a:t>MATERIAL</a:t>
              </a:r>
              <a:endParaRPr/>
            </a:p>
          </p:txBody>
        </p:sp>
        <p:sp>
          <p:nvSpPr>
            <p:cNvPr id="325" name="Google Shape;325;p23"/>
            <p:cNvSpPr txBox="1"/>
            <p:nvPr/>
          </p:nvSpPr>
          <p:spPr>
            <a:xfrm>
              <a:off x="0" y="1270000"/>
              <a:ext cx="10984002" cy="654051"/>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2999" u="none" cap="none" strike="noStrike">
                  <a:solidFill>
                    <a:srgbClr val="00C4CC"/>
                  </a:solidFill>
                  <a:latin typeface="Poppins"/>
                  <a:ea typeface="Poppins"/>
                  <a:cs typeface="Poppins"/>
                  <a:sym typeface="Poppins"/>
                </a:rPr>
                <a:t>Material</a:t>
              </a:r>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329" name="Shape 329"/>
        <p:cNvGrpSpPr/>
        <p:nvPr/>
      </p:nvGrpSpPr>
      <p:grpSpPr>
        <a:xfrm>
          <a:off x="0" y="0"/>
          <a:ext cx="0" cy="0"/>
          <a:chOff x="0" y="0"/>
          <a:chExt cx="0" cy="0"/>
        </a:xfrm>
      </p:grpSpPr>
      <p:grpSp>
        <p:nvGrpSpPr>
          <p:cNvPr id="330" name="Google Shape;330;p24"/>
          <p:cNvGrpSpPr/>
          <p:nvPr/>
        </p:nvGrpSpPr>
        <p:grpSpPr>
          <a:xfrm>
            <a:off x="1028700" y="3750114"/>
            <a:ext cx="16230600" cy="5985853"/>
            <a:chOff x="0" y="12700"/>
            <a:chExt cx="21640800" cy="7981137"/>
          </a:xfrm>
        </p:grpSpPr>
        <p:sp>
          <p:nvSpPr>
            <p:cNvPr id="331" name="Google Shape;331;p24"/>
            <p:cNvSpPr txBox="1"/>
            <p:nvPr/>
          </p:nvSpPr>
          <p:spPr>
            <a:xfrm>
              <a:off x="0" y="445804"/>
              <a:ext cx="21640800" cy="7548033"/>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1" i="0" lang="en-US" sz="2499" u="none" cap="none" strike="noStrike">
                  <a:solidFill>
                    <a:srgbClr val="FFFFFF"/>
                  </a:solidFill>
                  <a:latin typeface="Poppins"/>
                  <a:ea typeface="Poppins"/>
                  <a:cs typeface="Poppins"/>
                  <a:sym typeface="Poppins"/>
                </a:rPr>
                <a:t>Es una herramienta clave para generar eventos o acciones a intervalos de tiempo predefinidos dentro de una simulación. Su principal función es facilitar la ocurrencia de eventos programados o periódicos, lo que puede ser útil para desencadenar actividades en momentos específicos o con una frecuencia constante.</a:t>
              </a:r>
              <a:endParaRPr/>
            </a:p>
            <a:p>
              <a:pPr indent="0" lvl="0" marL="0" marR="0" rtl="0" algn="just">
                <a:lnSpc>
                  <a:spcPct val="140016"/>
                </a:lnSpc>
                <a:spcBef>
                  <a:spcPts val="0"/>
                </a:spcBef>
                <a:spcAft>
                  <a:spcPts val="0"/>
                </a:spcAft>
                <a:buNone/>
              </a:pPr>
              <a:r>
                <a:t/>
              </a:r>
              <a:endParaRPr b="1" i="0" sz="2499" u="none" cap="none" strike="noStrike">
                <a:solidFill>
                  <a:srgbClr val="FFFFFF"/>
                </a:solidFill>
                <a:latin typeface="Poppins"/>
                <a:ea typeface="Poppins"/>
                <a:cs typeface="Poppins"/>
                <a:sym typeface="Poppins"/>
              </a:endParaRPr>
            </a:p>
            <a:p>
              <a:pPr indent="0" lvl="0" marL="0" marR="0" rtl="0" algn="just">
                <a:lnSpc>
                  <a:spcPct val="140016"/>
                </a:lnSpc>
                <a:spcBef>
                  <a:spcPts val="0"/>
                </a:spcBef>
                <a:spcAft>
                  <a:spcPts val="0"/>
                </a:spcAft>
                <a:buNone/>
              </a:pPr>
              <a:r>
                <a:rPr b="1" i="0" lang="en-US" sz="2499" u="none" cap="none" strike="noStrike">
                  <a:solidFill>
                    <a:srgbClr val="FFFFFF"/>
                  </a:solidFill>
                  <a:latin typeface="Poppins"/>
                  <a:ea typeface="Poppins"/>
                  <a:cs typeface="Poppins"/>
                  <a:sym typeface="Poppins"/>
                </a:rPr>
                <a:t>Event Name (Nombre del Evento): Este campo define el nombre del evento que será generado por el temporizador. Este nombre sirve para referenciar el evento en otras partes del modelo. Los eventos generados por el temporizador pueden ser utilizados para iniciar o detener procesos, activar máquinas, o realizar otras acciones según la lógica de la simulación.</a:t>
              </a:r>
              <a:endParaRPr/>
            </a:p>
            <a:p>
              <a:pPr indent="0" lvl="0" marL="0" marR="0" rtl="0" algn="just">
                <a:lnSpc>
                  <a:spcPct val="140016"/>
                </a:lnSpc>
                <a:spcBef>
                  <a:spcPts val="0"/>
                </a:spcBef>
                <a:spcAft>
                  <a:spcPts val="0"/>
                </a:spcAft>
                <a:buNone/>
              </a:pPr>
              <a:r>
                <a:t/>
              </a:r>
              <a:endParaRPr b="1" i="0" sz="2499" u="none" cap="none" strike="noStrike">
                <a:solidFill>
                  <a:srgbClr val="FFFFFF"/>
                </a:solidFill>
                <a:latin typeface="Poppins"/>
                <a:ea typeface="Poppins"/>
                <a:cs typeface="Poppins"/>
                <a:sym typeface="Poppins"/>
              </a:endParaRPr>
            </a:p>
            <a:p>
              <a:pPr indent="0" lvl="0" marL="0" marR="0" rtl="0" algn="just">
                <a:lnSpc>
                  <a:spcPct val="140016"/>
                </a:lnSpc>
                <a:spcBef>
                  <a:spcPts val="0"/>
                </a:spcBef>
                <a:spcAft>
                  <a:spcPts val="0"/>
                </a:spcAft>
                <a:buNone/>
              </a:pPr>
              <a:r>
                <a:rPr b="1" i="0" lang="en-US" sz="2499" u="none" cap="none" strike="noStrike">
                  <a:solidFill>
                    <a:srgbClr val="FFFFFF"/>
                  </a:solidFill>
                  <a:latin typeface="Poppins"/>
                  <a:ea typeface="Poppins"/>
                  <a:cs typeface="Poppins"/>
                  <a:sym typeface="Poppins"/>
                </a:rPr>
                <a:t>Time Interval (Intervalo de Tiempo): Aquí se define el intervalo de tiempo entre las activaciones del temporizador. Este intervalo puede ser un valor fijo o estocástico (aleatorio). Puede especificarse en unidades de tiempo como minutos, horas, o días, dependiendo de la escala temporal del modelo.</a:t>
              </a:r>
              <a:endParaRPr/>
            </a:p>
          </p:txBody>
        </p:sp>
        <p:cxnSp>
          <p:nvCxnSpPr>
            <p:cNvPr id="332" name="Google Shape;332;p24"/>
            <p:cNvCxnSpPr/>
            <p:nvPr/>
          </p:nvCxnSpPr>
          <p:spPr>
            <a:xfrm>
              <a:off x="0" y="12700"/>
              <a:ext cx="21640800" cy="0"/>
            </a:xfrm>
            <a:prstGeom prst="straightConnector1">
              <a:avLst/>
            </a:prstGeom>
            <a:noFill/>
            <a:ln cap="rnd" cmpd="sng" w="25400">
              <a:solidFill>
                <a:srgbClr val="10B5BF"/>
              </a:solidFill>
              <a:prstDash val="solid"/>
              <a:round/>
              <a:headEnd len="sm" w="sm" type="none"/>
              <a:tailEnd len="sm" w="sm" type="none"/>
            </a:ln>
          </p:spPr>
        </p:cxnSp>
      </p:grpSp>
      <p:sp>
        <p:nvSpPr>
          <p:cNvPr id="333" name="Google Shape;333;p24"/>
          <p:cNvSpPr/>
          <p:nvPr/>
        </p:nvSpPr>
        <p:spPr>
          <a:xfrm>
            <a:off x="8351240" y="307181"/>
            <a:ext cx="8697899" cy="2953403"/>
          </a:xfrm>
          <a:custGeom>
            <a:rect b="b" l="l" r="r" t="t"/>
            <a:pathLst>
              <a:path extrusionOk="0" h="2953403" w="8697899">
                <a:moveTo>
                  <a:pt x="0" y="0"/>
                </a:moveTo>
                <a:lnTo>
                  <a:pt x="8697900" y="0"/>
                </a:lnTo>
                <a:lnTo>
                  <a:pt x="8697900" y="2953403"/>
                </a:lnTo>
                <a:lnTo>
                  <a:pt x="0" y="2953403"/>
                </a:lnTo>
                <a:lnTo>
                  <a:pt x="0" y="0"/>
                </a:lnTo>
                <a:close/>
              </a:path>
            </a:pathLst>
          </a:custGeom>
          <a:blipFill rotWithShape="1">
            <a:blip r:embed="rId3">
              <a:alphaModFix/>
            </a:blip>
            <a:stretch>
              <a:fillRect b="-4600" l="0" r="0" t="0"/>
            </a:stretch>
          </a:blipFill>
          <a:ln>
            <a:noFill/>
          </a:ln>
        </p:spPr>
      </p:sp>
      <p:grpSp>
        <p:nvGrpSpPr>
          <p:cNvPr id="334" name="Google Shape;334;p24"/>
          <p:cNvGrpSpPr/>
          <p:nvPr/>
        </p:nvGrpSpPr>
        <p:grpSpPr>
          <a:xfrm>
            <a:off x="1028700" y="300037"/>
            <a:ext cx="8238001" cy="1450183"/>
            <a:chOff x="0" y="-9525"/>
            <a:chExt cx="10984002" cy="1933576"/>
          </a:xfrm>
        </p:grpSpPr>
        <p:sp>
          <p:nvSpPr>
            <p:cNvPr id="335" name="Google Shape;335;p24"/>
            <p:cNvSpPr txBox="1"/>
            <p:nvPr/>
          </p:nvSpPr>
          <p:spPr>
            <a:xfrm>
              <a:off x="0" y="-9525"/>
              <a:ext cx="10984002" cy="1635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8000" u="none" cap="none" strike="noStrike">
                  <a:solidFill>
                    <a:srgbClr val="FFFFFF"/>
                  </a:solidFill>
                  <a:latin typeface="Poppins Medium"/>
                  <a:ea typeface="Poppins Medium"/>
                  <a:cs typeface="Poppins Medium"/>
                  <a:sym typeface="Poppins Medium"/>
                </a:rPr>
                <a:t>TIMER</a:t>
              </a:r>
              <a:endParaRPr/>
            </a:p>
          </p:txBody>
        </p:sp>
        <p:sp>
          <p:nvSpPr>
            <p:cNvPr id="336" name="Google Shape;336;p24"/>
            <p:cNvSpPr txBox="1"/>
            <p:nvPr/>
          </p:nvSpPr>
          <p:spPr>
            <a:xfrm>
              <a:off x="0" y="1270000"/>
              <a:ext cx="10984002" cy="654051"/>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2999" u="none" cap="none" strike="noStrike">
                  <a:solidFill>
                    <a:srgbClr val="00C4CC"/>
                  </a:solidFill>
                  <a:latin typeface="Poppins"/>
                  <a:ea typeface="Poppins"/>
                  <a:cs typeface="Poppins"/>
                  <a:sym typeface="Poppins"/>
                </a:rPr>
                <a:t>Minutero</a:t>
              </a:r>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340" name="Shape 340"/>
        <p:cNvGrpSpPr/>
        <p:nvPr/>
      </p:nvGrpSpPr>
      <p:grpSpPr>
        <a:xfrm>
          <a:off x="0" y="0"/>
          <a:ext cx="0" cy="0"/>
          <a:chOff x="0" y="0"/>
          <a:chExt cx="0" cy="0"/>
        </a:xfrm>
      </p:grpSpPr>
      <p:grpSp>
        <p:nvGrpSpPr>
          <p:cNvPr id="341" name="Google Shape;341;p25"/>
          <p:cNvGrpSpPr/>
          <p:nvPr/>
        </p:nvGrpSpPr>
        <p:grpSpPr>
          <a:xfrm>
            <a:off x="1028700" y="3750114"/>
            <a:ext cx="16230600" cy="5547703"/>
            <a:chOff x="0" y="12700"/>
            <a:chExt cx="21640800" cy="7396937"/>
          </a:xfrm>
        </p:grpSpPr>
        <p:sp>
          <p:nvSpPr>
            <p:cNvPr id="342" name="Google Shape;342;p25"/>
            <p:cNvSpPr txBox="1"/>
            <p:nvPr/>
          </p:nvSpPr>
          <p:spPr>
            <a:xfrm>
              <a:off x="0" y="445804"/>
              <a:ext cx="21640800" cy="6963833"/>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1" i="0" lang="en-US" sz="2499" u="none" cap="none" strike="noStrike">
                  <a:solidFill>
                    <a:srgbClr val="FFFFFF"/>
                  </a:solidFill>
                  <a:latin typeface="Poppins"/>
                  <a:ea typeface="Poppins"/>
                  <a:cs typeface="Poppins"/>
                  <a:sym typeface="Poppins"/>
                </a:rPr>
                <a:t>Initial Offset (Desplazamiento Inicial): Este campo permite definir un retraso o desplazamiento para el primer disparo del temporizador. Por ejemplo, si deseas que el primer evento ocurra 5 horas después de que comience la simulación, puedes definir un desplazamiento inicial de 5 horas. El temporizador comenzará a contar desde ese punto.</a:t>
              </a:r>
              <a:endParaRPr/>
            </a:p>
            <a:p>
              <a:pPr indent="0" lvl="0" marL="0" marR="0" rtl="0" algn="just">
                <a:lnSpc>
                  <a:spcPct val="140016"/>
                </a:lnSpc>
                <a:spcBef>
                  <a:spcPts val="0"/>
                </a:spcBef>
                <a:spcAft>
                  <a:spcPts val="0"/>
                </a:spcAft>
                <a:buNone/>
              </a:pPr>
              <a:r>
                <a:t/>
              </a:r>
              <a:endParaRPr b="1" i="0" sz="2499" u="none" cap="none" strike="noStrike">
                <a:solidFill>
                  <a:srgbClr val="FFFFFF"/>
                </a:solidFill>
                <a:latin typeface="Poppins"/>
                <a:ea typeface="Poppins"/>
                <a:cs typeface="Poppins"/>
                <a:sym typeface="Poppins"/>
              </a:endParaRPr>
            </a:p>
            <a:p>
              <a:pPr indent="0" lvl="0" marL="0" marR="0" rtl="0" algn="just">
                <a:lnSpc>
                  <a:spcPct val="140016"/>
                </a:lnSpc>
                <a:spcBef>
                  <a:spcPts val="0"/>
                </a:spcBef>
                <a:spcAft>
                  <a:spcPts val="0"/>
                </a:spcAft>
                <a:buNone/>
              </a:pPr>
              <a:r>
                <a:rPr b="1" i="0" lang="en-US" sz="2499" u="none" cap="none" strike="noStrike">
                  <a:solidFill>
                    <a:srgbClr val="FFFFFF"/>
                  </a:solidFill>
                  <a:latin typeface="Poppins"/>
                  <a:ea typeface="Poppins"/>
                  <a:cs typeface="Poppins"/>
                  <a:sym typeface="Poppins"/>
                </a:rPr>
                <a:t>Repeat Count (Conteo de Repeticiones): El temporizador puede configurarse para repetirse un número determinado de veces o indefinidamente. Por ejemplo, puedes configurar el temporizador para que se repita 10 veces, o para que continúe generando eventos durante toda la simulación.</a:t>
              </a:r>
              <a:endParaRPr/>
            </a:p>
            <a:p>
              <a:pPr indent="0" lvl="0" marL="0" marR="0" rtl="0" algn="just">
                <a:lnSpc>
                  <a:spcPct val="140016"/>
                </a:lnSpc>
                <a:spcBef>
                  <a:spcPts val="0"/>
                </a:spcBef>
                <a:spcAft>
                  <a:spcPts val="0"/>
                </a:spcAft>
                <a:buNone/>
              </a:pPr>
              <a:r>
                <a:t/>
              </a:r>
              <a:endParaRPr b="1" i="0" sz="2499" u="none" cap="none" strike="noStrike">
                <a:solidFill>
                  <a:srgbClr val="FFFFFF"/>
                </a:solidFill>
                <a:latin typeface="Poppins"/>
                <a:ea typeface="Poppins"/>
                <a:cs typeface="Poppins"/>
                <a:sym typeface="Poppins"/>
              </a:endParaRPr>
            </a:p>
            <a:p>
              <a:pPr indent="0" lvl="0" marL="0" marR="0" rtl="0" algn="just">
                <a:lnSpc>
                  <a:spcPct val="140016"/>
                </a:lnSpc>
                <a:spcBef>
                  <a:spcPts val="0"/>
                </a:spcBef>
                <a:spcAft>
                  <a:spcPts val="0"/>
                </a:spcAft>
                <a:buNone/>
              </a:pPr>
              <a:r>
                <a:rPr b="1" i="0" lang="en-US" sz="2499" u="none" cap="none" strike="noStrike">
                  <a:solidFill>
                    <a:srgbClr val="FFFFFF"/>
                  </a:solidFill>
                  <a:latin typeface="Poppins"/>
                  <a:ea typeface="Poppins"/>
                  <a:cs typeface="Poppins"/>
                  <a:sym typeface="Poppins"/>
                </a:rPr>
                <a:t>Trigger Event (Evento de Disparo): Define qué acción o proceso será activado cuando el temporizador dispare un evento. Este evento puede estar vinculado a cualquier acción o proceso del modelo, desde la creación de nuevas entidades hasta la activación de recursos.</a:t>
              </a:r>
              <a:endParaRPr/>
            </a:p>
          </p:txBody>
        </p:sp>
        <p:cxnSp>
          <p:nvCxnSpPr>
            <p:cNvPr id="343" name="Google Shape;343;p25"/>
            <p:cNvCxnSpPr/>
            <p:nvPr/>
          </p:nvCxnSpPr>
          <p:spPr>
            <a:xfrm>
              <a:off x="0" y="12700"/>
              <a:ext cx="21640800" cy="0"/>
            </a:xfrm>
            <a:prstGeom prst="straightConnector1">
              <a:avLst/>
            </a:prstGeom>
            <a:noFill/>
            <a:ln cap="rnd" cmpd="sng" w="25400">
              <a:solidFill>
                <a:srgbClr val="10B5BF"/>
              </a:solidFill>
              <a:prstDash val="solid"/>
              <a:round/>
              <a:headEnd len="sm" w="sm" type="none"/>
              <a:tailEnd len="sm" w="sm" type="none"/>
            </a:ln>
          </p:spPr>
        </p:cxnSp>
      </p:grpSp>
      <p:sp>
        <p:nvSpPr>
          <p:cNvPr id="344" name="Google Shape;344;p25"/>
          <p:cNvSpPr/>
          <p:nvPr/>
        </p:nvSpPr>
        <p:spPr>
          <a:xfrm>
            <a:off x="8351240" y="307181"/>
            <a:ext cx="8697899" cy="2953403"/>
          </a:xfrm>
          <a:custGeom>
            <a:rect b="b" l="l" r="r" t="t"/>
            <a:pathLst>
              <a:path extrusionOk="0" h="2953403" w="8697899">
                <a:moveTo>
                  <a:pt x="0" y="0"/>
                </a:moveTo>
                <a:lnTo>
                  <a:pt x="8697900" y="0"/>
                </a:lnTo>
                <a:lnTo>
                  <a:pt x="8697900" y="2953403"/>
                </a:lnTo>
                <a:lnTo>
                  <a:pt x="0" y="2953403"/>
                </a:lnTo>
                <a:lnTo>
                  <a:pt x="0" y="0"/>
                </a:lnTo>
                <a:close/>
              </a:path>
            </a:pathLst>
          </a:custGeom>
          <a:blipFill rotWithShape="1">
            <a:blip r:embed="rId3">
              <a:alphaModFix/>
            </a:blip>
            <a:stretch>
              <a:fillRect b="-4600" l="0" r="0" t="0"/>
            </a:stretch>
          </a:blipFill>
          <a:ln>
            <a:noFill/>
          </a:ln>
        </p:spPr>
      </p:sp>
      <p:grpSp>
        <p:nvGrpSpPr>
          <p:cNvPr id="345" name="Google Shape;345;p25"/>
          <p:cNvGrpSpPr/>
          <p:nvPr/>
        </p:nvGrpSpPr>
        <p:grpSpPr>
          <a:xfrm>
            <a:off x="1028700" y="300037"/>
            <a:ext cx="8238001" cy="1450183"/>
            <a:chOff x="0" y="-9525"/>
            <a:chExt cx="10984002" cy="1933576"/>
          </a:xfrm>
        </p:grpSpPr>
        <p:sp>
          <p:nvSpPr>
            <p:cNvPr id="346" name="Google Shape;346;p25"/>
            <p:cNvSpPr txBox="1"/>
            <p:nvPr/>
          </p:nvSpPr>
          <p:spPr>
            <a:xfrm>
              <a:off x="0" y="-9525"/>
              <a:ext cx="10984002" cy="1635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8000" u="none" cap="none" strike="noStrike">
                  <a:solidFill>
                    <a:srgbClr val="FFFFFF"/>
                  </a:solidFill>
                  <a:latin typeface="Poppins Medium"/>
                  <a:ea typeface="Poppins Medium"/>
                  <a:cs typeface="Poppins Medium"/>
                  <a:sym typeface="Poppins Medium"/>
                </a:rPr>
                <a:t>TIMER</a:t>
              </a:r>
              <a:endParaRPr/>
            </a:p>
          </p:txBody>
        </p:sp>
        <p:sp>
          <p:nvSpPr>
            <p:cNvPr id="347" name="Google Shape;347;p25"/>
            <p:cNvSpPr txBox="1"/>
            <p:nvPr/>
          </p:nvSpPr>
          <p:spPr>
            <a:xfrm>
              <a:off x="0" y="1270000"/>
              <a:ext cx="10984002" cy="654051"/>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2999" u="none" cap="none" strike="noStrike">
                  <a:solidFill>
                    <a:srgbClr val="00C4CC"/>
                  </a:solidFill>
                  <a:latin typeface="Poppins"/>
                  <a:ea typeface="Poppins"/>
                  <a:cs typeface="Poppins"/>
                  <a:sym typeface="Poppins"/>
                </a:rPr>
                <a:t>Minutero</a:t>
              </a:r>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351" name="Shape 351"/>
        <p:cNvGrpSpPr/>
        <p:nvPr/>
      </p:nvGrpSpPr>
      <p:grpSpPr>
        <a:xfrm>
          <a:off x="0" y="0"/>
          <a:ext cx="0" cy="0"/>
          <a:chOff x="0" y="0"/>
          <a:chExt cx="0" cy="0"/>
        </a:xfrm>
      </p:grpSpPr>
      <p:sp>
        <p:nvSpPr>
          <p:cNvPr id="352" name="Google Shape;352;p26"/>
          <p:cNvSpPr txBox="1"/>
          <p:nvPr/>
        </p:nvSpPr>
        <p:spPr>
          <a:xfrm>
            <a:off x="1487970" y="4428069"/>
            <a:ext cx="15312059" cy="1526113"/>
          </a:xfrm>
          <a:prstGeom prst="rect">
            <a:avLst/>
          </a:prstGeom>
          <a:noFill/>
          <a:ln>
            <a:noFill/>
          </a:ln>
        </p:spPr>
        <p:txBody>
          <a:bodyPr anchorCtr="0" anchor="t" bIns="0" lIns="0" spcFirstLastPara="1" rIns="0" wrap="square" tIns="0">
            <a:spAutoFit/>
          </a:bodyPr>
          <a:lstStyle/>
          <a:p>
            <a:pPr indent="0" lvl="0" marL="0" marR="0" rtl="0" algn="ctr">
              <a:lnSpc>
                <a:spcPct val="109994"/>
              </a:lnSpc>
              <a:spcBef>
                <a:spcPts val="0"/>
              </a:spcBef>
              <a:spcAft>
                <a:spcPts val="0"/>
              </a:spcAft>
              <a:buNone/>
            </a:pPr>
            <a:r>
              <a:rPr b="1" i="0" lang="en-US" sz="10666" u="none" cap="none" strike="noStrike">
                <a:solidFill>
                  <a:srgbClr val="FFFFFF"/>
                </a:solidFill>
                <a:latin typeface="Poppins"/>
                <a:ea typeface="Poppins"/>
                <a:cs typeface="Poppins"/>
                <a:sym typeface="Poppins"/>
              </a:rPr>
              <a:t>EJEMPLO</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356" name="Shape 356"/>
        <p:cNvGrpSpPr/>
        <p:nvPr/>
      </p:nvGrpSpPr>
      <p:grpSpPr>
        <a:xfrm>
          <a:off x="0" y="0"/>
          <a:ext cx="0" cy="0"/>
          <a:chOff x="0" y="0"/>
          <a:chExt cx="0" cy="0"/>
        </a:xfrm>
      </p:grpSpPr>
      <p:grpSp>
        <p:nvGrpSpPr>
          <p:cNvPr id="357" name="Google Shape;357;p27"/>
          <p:cNvGrpSpPr/>
          <p:nvPr/>
        </p:nvGrpSpPr>
        <p:grpSpPr>
          <a:xfrm>
            <a:off x="1294964" y="2045620"/>
            <a:ext cx="15698073" cy="6408270"/>
            <a:chOff x="0" y="-57150"/>
            <a:chExt cx="4134472" cy="1687775"/>
          </a:xfrm>
        </p:grpSpPr>
        <p:sp>
          <p:nvSpPr>
            <p:cNvPr id="358" name="Google Shape;358;p27"/>
            <p:cNvSpPr/>
            <p:nvPr/>
          </p:nvSpPr>
          <p:spPr>
            <a:xfrm>
              <a:off x="0" y="0"/>
              <a:ext cx="4134472" cy="1630625"/>
            </a:xfrm>
            <a:custGeom>
              <a:rect b="b" l="l" r="r" t="t"/>
              <a:pathLst>
                <a:path extrusionOk="0" h="1630625" w="4134472">
                  <a:moveTo>
                    <a:pt x="25152" y="0"/>
                  </a:moveTo>
                  <a:lnTo>
                    <a:pt x="4109320" y="0"/>
                  </a:lnTo>
                  <a:cubicBezTo>
                    <a:pt x="4123211" y="0"/>
                    <a:pt x="4134472" y="11261"/>
                    <a:pt x="4134472" y="25152"/>
                  </a:cubicBezTo>
                  <a:lnTo>
                    <a:pt x="4134472" y="1605473"/>
                  </a:lnTo>
                  <a:cubicBezTo>
                    <a:pt x="4134472" y="1612144"/>
                    <a:pt x="4131822" y="1618541"/>
                    <a:pt x="4127105" y="1623258"/>
                  </a:cubicBezTo>
                  <a:cubicBezTo>
                    <a:pt x="4122388" y="1627975"/>
                    <a:pt x="4115991" y="1630625"/>
                    <a:pt x="4109320" y="1630625"/>
                  </a:cubicBezTo>
                  <a:lnTo>
                    <a:pt x="25152" y="1630625"/>
                  </a:lnTo>
                  <a:cubicBezTo>
                    <a:pt x="18481" y="1630625"/>
                    <a:pt x="12084" y="1627975"/>
                    <a:pt x="7367" y="1623258"/>
                  </a:cubicBezTo>
                  <a:cubicBezTo>
                    <a:pt x="2650" y="1618541"/>
                    <a:pt x="0" y="1612144"/>
                    <a:pt x="0" y="1605473"/>
                  </a:cubicBezTo>
                  <a:lnTo>
                    <a:pt x="0" y="25152"/>
                  </a:lnTo>
                  <a:cubicBezTo>
                    <a:pt x="0" y="11261"/>
                    <a:pt x="11261" y="0"/>
                    <a:pt x="25152" y="0"/>
                  </a:cubicBezTo>
                  <a:close/>
                </a:path>
              </a:pathLst>
            </a:custGeom>
            <a:solidFill>
              <a:srgbClr val="7A7B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7"/>
            <p:cNvSpPr txBox="1"/>
            <p:nvPr/>
          </p:nvSpPr>
          <p:spPr>
            <a:xfrm>
              <a:off x="0" y="-57150"/>
              <a:ext cx="4134472" cy="1687775"/>
            </a:xfrm>
            <a:prstGeom prst="rect">
              <a:avLst/>
            </a:prstGeom>
            <a:noFill/>
            <a:ln>
              <a:noFill/>
            </a:ln>
          </p:spPr>
          <p:txBody>
            <a:bodyPr anchorCtr="0" anchor="ctr" bIns="50800" lIns="50800" spcFirstLastPara="1" rIns="50800" wrap="square" tIns="50800">
              <a:noAutofit/>
            </a:bodyPr>
            <a:lstStyle/>
            <a:p>
              <a:pPr indent="0" lvl="0" marL="0" marR="0" rtl="0" algn="ctr">
                <a:lnSpc>
                  <a:spcPct val="2021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60" name="Google Shape;360;p27"/>
          <p:cNvSpPr txBox="1"/>
          <p:nvPr/>
        </p:nvSpPr>
        <p:spPr>
          <a:xfrm>
            <a:off x="1585087" y="2461648"/>
            <a:ext cx="15117826" cy="5867400"/>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None/>
            </a:pPr>
            <a:r>
              <a:rPr b="0" i="0" lang="en-US" sz="3500" u="none" cap="none" strike="noStrike">
                <a:solidFill>
                  <a:srgbClr val="FFFFFF"/>
                </a:solidFill>
                <a:latin typeface="Poppins Medium"/>
                <a:ea typeface="Poppins Medium"/>
                <a:cs typeface="Poppins Medium"/>
                <a:sym typeface="Poppins Medium"/>
              </a:rPr>
              <a:t>En la universidad de “CharVer”, se cuenta con 3 robots para que los estudiantes puedan realizar sus practicas de Inteligencia Aritificial, los estudiantes llegan de forma exponencial un grupo cada de 5 cada hora a su practica y cada uno tiene exactamente 10 minutos para realizar su practica (de manera individual).</a:t>
            </a:r>
            <a:endParaRPr/>
          </a:p>
          <a:p>
            <a:pPr indent="0" lvl="0" marL="0" marR="0" rtl="0" algn="just">
              <a:lnSpc>
                <a:spcPct val="120000"/>
              </a:lnSpc>
              <a:spcBef>
                <a:spcPts val="0"/>
              </a:spcBef>
              <a:spcAft>
                <a:spcPts val="0"/>
              </a:spcAft>
              <a:buNone/>
            </a:pPr>
            <a:r>
              <a:rPr b="0" i="0" lang="en-US" sz="3500" u="none" cap="none" strike="noStrike">
                <a:solidFill>
                  <a:srgbClr val="FFFFFF"/>
                </a:solidFill>
                <a:latin typeface="Poppins Medium"/>
                <a:ea typeface="Poppins Medium"/>
                <a:cs typeface="Poppins Medium"/>
                <a:sym typeface="Poppins Medium"/>
              </a:rPr>
              <a:t>Aveces ocurre que el robot tiene alguna falla, con lo cual se debe de formatear y volver a instalar el software, se ha notado que las fallas son de forma uniforme y falla entre cada 10 y 20 estudiantes, el reinicio demora de forma exponencial unos 15 minutos. Si llegan mas estudiantes, deberan de esperar hasta que algun robot este disponible.</a:t>
            </a:r>
            <a:endParaRPr/>
          </a:p>
        </p:txBody>
      </p:sp>
      <p:sp>
        <p:nvSpPr>
          <p:cNvPr id="361" name="Google Shape;361;p27"/>
          <p:cNvSpPr txBox="1"/>
          <p:nvPr/>
        </p:nvSpPr>
        <p:spPr>
          <a:xfrm>
            <a:off x="1529800" y="533383"/>
            <a:ext cx="15228400" cy="1412875"/>
          </a:xfrm>
          <a:prstGeom prst="rect">
            <a:avLst/>
          </a:prstGeom>
          <a:noFill/>
          <a:ln>
            <a:noFill/>
          </a:ln>
        </p:spPr>
        <p:txBody>
          <a:bodyPr anchorCtr="0" anchor="t" bIns="0" lIns="0" spcFirstLastPara="1" rIns="0" wrap="square" tIns="0">
            <a:spAutoFit/>
          </a:bodyPr>
          <a:lstStyle/>
          <a:p>
            <a:pPr indent="0" lvl="0" marL="0" marR="0" rtl="0" algn="ctr">
              <a:lnSpc>
                <a:spcPct val="110001"/>
              </a:lnSpc>
              <a:spcBef>
                <a:spcPts val="0"/>
              </a:spcBef>
              <a:spcAft>
                <a:spcPts val="0"/>
              </a:spcAft>
              <a:buNone/>
            </a:pPr>
            <a:r>
              <a:rPr b="1" i="0" lang="en-US" sz="9999" u="none" cap="none" strike="noStrike">
                <a:solidFill>
                  <a:srgbClr val="FFFFFF"/>
                </a:solidFill>
                <a:latin typeface="Poppins"/>
                <a:ea typeface="Poppins"/>
                <a:cs typeface="Poppins"/>
                <a:sym typeface="Poppins"/>
              </a:rPr>
              <a:t>Ejemplo</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365" name="Shape 365"/>
        <p:cNvGrpSpPr/>
        <p:nvPr/>
      </p:nvGrpSpPr>
      <p:grpSpPr>
        <a:xfrm>
          <a:off x="0" y="0"/>
          <a:ext cx="0" cy="0"/>
          <a:chOff x="0" y="0"/>
          <a:chExt cx="0" cy="0"/>
        </a:xfrm>
      </p:grpSpPr>
      <p:grpSp>
        <p:nvGrpSpPr>
          <p:cNvPr id="366" name="Google Shape;366;p28"/>
          <p:cNvGrpSpPr/>
          <p:nvPr/>
        </p:nvGrpSpPr>
        <p:grpSpPr>
          <a:xfrm>
            <a:off x="1028700" y="1830870"/>
            <a:ext cx="16230600" cy="6764441"/>
            <a:chOff x="0" y="-57150"/>
            <a:chExt cx="4274726" cy="1781581"/>
          </a:xfrm>
        </p:grpSpPr>
        <p:sp>
          <p:nvSpPr>
            <p:cNvPr id="367" name="Google Shape;367;p28"/>
            <p:cNvSpPr/>
            <p:nvPr/>
          </p:nvSpPr>
          <p:spPr>
            <a:xfrm>
              <a:off x="0" y="0"/>
              <a:ext cx="4274726" cy="1724431"/>
            </a:xfrm>
            <a:custGeom>
              <a:rect b="b" l="l" r="r" t="t"/>
              <a:pathLst>
                <a:path extrusionOk="0" h="1724431" w="4274726">
                  <a:moveTo>
                    <a:pt x="24327" y="0"/>
                  </a:moveTo>
                  <a:lnTo>
                    <a:pt x="4250399" y="0"/>
                  </a:lnTo>
                  <a:cubicBezTo>
                    <a:pt x="4263834" y="0"/>
                    <a:pt x="4274726" y="10891"/>
                    <a:pt x="4274726" y="24327"/>
                  </a:cubicBezTo>
                  <a:lnTo>
                    <a:pt x="4274726" y="1700105"/>
                  </a:lnTo>
                  <a:cubicBezTo>
                    <a:pt x="4274726" y="1713540"/>
                    <a:pt x="4263834" y="1724431"/>
                    <a:pt x="4250399" y="1724431"/>
                  </a:cubicBezTo>
                  <a:lnTo>
                    <a:pt x="24327" y="1724431"/>
                  </a:lnTo>
                  <a:cubicBezTo>
                    <a:pt x="10891" y="1724431"/>
                    <a:pt x="0" y="1713540"/>
                    <a:pt x="0" y="1700105"/>
                  </a:cubicBezTo>
                  <a:lnTo>
                    <a:pt x="0" y="24327"/>
                  </a:lnTo>
                  <a:cubicBezTo>
                    <a:pt x="0" y="10891"/>
                    <a:pt x="10891" y="0"/>
                    <a:pt x="24327" y="0"/>
                  </a:cubicBezTo>
                  <a:close/>
                </a:path>
              </a:pathLst>
            </a:custGeom>
            <a:solidFill>
              <a:srgbClr val="7A7B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8"/>
            <p:cNvSpPr txBox="1"/>
            <p:nvPr/>
          </p:nvSpPr>
          <p:spPr>
            <a:xfrm>
              <a:off x="0" y="-57150"/>
              <a:ext cx="4274726" cy="1781581"/>
            </a:xfrm>
            <a:prstGeom prst="rect">
              <a:avLst/>
            </a:prstGeom>
            <a:noFill/>
            <a:ln>
              <a:noFill/>
            </a:ln>
          </p:spPr>
          <p:txBody>
            <a:bodyPr anchorCtr="0" anchor="ctr" bIns="50800" lIns="50800" spcFirstLastPara="1" rIns="50800" wrap="square" tIns="50800">
              <a:noAutofit/>
            </a:bodyPr>
            <a:lstStyle/>
            <a:p>
              <a:pPr indent="0" lvl="0" marL="0" marR="0" rtl="0" algn="ctr">
                <a:lnSpc>
                  <a:spcPct val="2021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69" name="Google Shape;369;p28"/>
          <p:cNvSpPr txBox="1"/>
          <p:nvPr/>
        </p:nvSpPr>
        <p:spPr>
          <a:xfrm>
            <a:off x="1338910" y="2194511"/>
            <a:ext cx="15610181" cy="6400800"/>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None/>
            </a:pPr>
            <a:r>
              <a:rPr b="0" i="0" lang="en-US" sz="3500" u="none" cap="none" strike="noStrike">
                <a:solidFill>
                  <a:srgbClr val="FFFFFF"/>
                </a:solidFill>
                <a:latin typeface="Poppins Medium"/>
                <a:ea typeface="Poppins Medium"/>
                <a:cs typeface="Poppins Medium"/>
                <a:sym typeface="Poppins Medium"/>
              </a:rPr>
              <a:t>Una tienda de telefonos reconocida llamada “manzana”, tiene a la venta 3 diseños de telefono, los cuales son la version normal, pro y pro max, tienen un inventario inicial de 25 telefonos de cada tipo.</a:t>
            </a:r>
            <a:endParaRPr/>
          </a:p>
          <a:p>
            <a:pPr indent="0" lvl="0" marL="0" marR="0" rtl="0" algn="just">
              <a:lnSpc>
                <a:spcPct val="120000"/>
              </a:lnSpc>
              <a:spcBef>
                <a:spcPts val="0"/>
              </a:spcBef>
              <a:spcAft>
                <a:spcPts val="0"/>
              </a:spcAft>
              <a:buNone/>
            </a:pPr>
            <a:r>
              <a:rPr b="0" i="0" lang="en-US" sz="3500" u="none" cap="none" strike="noStrike">
                <a:solidFill>
                  <a:srgbClr val="FFFFFF"/>
                </a:solidFill>
                <a:latin typeface="Poppins Medium"/>
                <a:ea typeface="Poppins Medium"/>
                <a:cs typeface="Poppins Medium"/>
                <a:sym typeface="Poppins Medium"/>
              </a:rPr>
              <a:t>La tienda tiene un punto de reorden que es cuando la capacidad esta en 10 y se esta en constante revision, al llegar al limite, solicitan mas y estos tardan un aprox unos 20 minutos en traer mas.</a:t>
            </a:r>
            <a:endParaRPr/>
          </a:p>
          <a:p>
            <a:pPr indent="0" lvl="0" marL="0" marR="0" rtl="0" algn="just">
              <a:lnSpc>
                <a:spcPct val="120000"/>
              </a:lnSpc>
              <a:spcBef>
                <a:spcPts val="0"/>
              </a:spcBef>
              <a:spcAft>
                <a:spcPts val="0"/>
              </a:spcAft>
              <a:buNone/>
            </a:pPr>
            <a:r>
              <a:rPr b="0" i="0" lang="en-US" sz="3500" u="none" cap="none" strike="noStrike">
                <a:solidFill>
                  <a:srgbClr val="FFFFFF"/>
                </a:solidFill>
                <a:latin typeface="Poppins Medium"/>
                <a:ea typeface="Poppins Medium"/>
                <a:cs typeface="Poppins Medium"/>
                <a:sym typeface="Poppins Medium"/>
              </a:rPr>
              <a:t>Los clientes que compran un telefono, llegan a razon de 1 cada 5 a 10 minutos y de forma uniforme.</a:t>
            </a:r>
            <a:endParaRPr/>
          </a:p>
          <a:p>
            <a:pPr indent="0" lvl="0" marL="0" marR="0" rtl="0" algn="just">
              <a:lnSpc>
                <a:spcPct val="120000"/>
              </a:lnSpc>
              <a:spcBef>
                <a:spcPts val="0"/>
              </a:spcBef>
              <a:spcAft>
                <a:spcPts val="0"/>
              </a:spcAft>
              <a:buNone/>
            </a:pPr>
            <a:r>
              <a:rPr b="0" i="0" lang="en-US" sz="3500" u="none" cap="none" strike="noStrike">
                <a:solidFill>
                  <a:srgbClr val="FFFFFF"/>
                </a:solidFill>
                <a:latin typeface="Poppins Medium"/>
                <a:ea typeface="Poppins Medium"/>
                <a:cs typeface="Poppins Medium"/>
                <a:sym typeface="Poppins Medium"/>
              </a:rPr>
              <a:t>La probabilidad que compren un telefono es:</a:t>
            </a:r>
            <a:endParaRPr/>
          </a:p>
          <a:p>
            <a:pPr indent="0" lvl="0" marL="0" marR="0" rtl="0" algn="just">
              <a:lnSpc>
                <a:spcPct val="120000"/>
              </a:lnSpc>
              <a:spcBef>
                <a:spcPts val="0"/>
              </a:spcBef>
              <a:spcAft>
                <a:spcPts val="0"/>
              </a:spcAft>
              <a:buNone/>
            </a:pPr>
            <a:r>
              <a:rPr b="0" i="0" lang="en-US" sz="3500" u="none" cap="none" strike="noStrike">
                <a:solidFill>
                  <a:srgbClr val="FFFFFF"/>
                </a:solidFill>
                <a:latin typeface="Poppins Medium"/>
                <a:ea typeface="Poppins Medium"/>
                <a:cs typeface="Poppins Medium"/>
                <a:sym typeface="Poppins Medium"/>
              </a:rPr>
              <a:t>Normal - 40%, Pro - 35%, Pro Max - 25%</a:t>
            </a:r>
            <a:endParaRPr/>
          </a:p>
          <a:p>
            <a:pPr indent="0" lvl="0" marL="0" marR="0" rtl="0" algn="just">
              <a:lnSpc>
                <a:spcPct val="120000"/>
              </a:lnSpc>
              <a:spcBef>
                <a:spcPts val="0"/>
              </a:spcBef>
              <a:spcAft>
                <a:spcPts val="0"/>
              </a:spcAft>
              <a:buNone/>
            </a:pPr>
            <a:r>
              <a:rPr b="0" i="0" lang="en-US" sz="3500" u="none" cap="none" strike="noStrike">
                <a:solidFill>
                  <a:srgbClr val="FFFFFF"/>
                </a:solidFill>
                <a:latin typeface="Poppins Medium"/>
                <a:ea typeface="Poppins Medium"/>
                <a:cs typeface="Poppins Medium"/>
                <a:sym typeface="Poppins Medium"/>
              </a:rPr>
              <a:t>El tiempo de atención es de forma uniforme, tomando entre 10 y 15 minutos por cliente.</a:t>
            </a:r>
            <a:endParaRPr/>
          </a:p>
        </p:txBody>
      </p:sp>
      <p:sp>
        <p:nvSpPr>
          <p:cNvPr id="370" name="Google Shape;370;p28"/>
          <p:cNvSpPr txBox="1"/>
          <p:nvPr/>
        </p:nvSpPr>
        <p:spPr>
          <a:xfrm>
            <a:off x="1529800" y="533383"/>
            <a:ext cx="15228400" cy="1412875"/>
          </a:xfrm>
          <a:prstGeom prst="rect">
            <a:avLst/>
          </a:prstGeom>
          <a:noFill/>
          <a:ln>
            <a:noFill/>
          </a:ln>
        </p:spPr>
        <p:txBody>
          <a:bodyPr anchorCtr="0" anchor="t" bIns="0" lIns="0" spcFirstLastPara="1" rIns="0" wrap="square" tIns="0">
            <a:spAutoFit/>
          </a:bodyPr>
          <a:lstStyle/>
          <a:p>
            <a:pPr indent="0" lvl="0" marL="0" marR="0" rtl="0" algn="ctr">
              <a:lnSpc>
                <a:spcPct val="110001"/>
              </a:lnSpc>
              <a:spcBef>
                <a:spcPts val="0"/>
              </a:spcBef>
              <a:spcAft>
                <a:spcPts val="0"/>
              </a:spcAft>
              <a:buNone/>
            </a:pPr>
            <a:r>
              <a:rPr b="1" i="0" lang="en-US" sz="9999" u="none" cap="none" strike="noStrike">
                <a:solidFill>
                  <a:srgbClr val="FFFFFF"/>
                </a:solidFill>
                <a:latin typeface="Poppins"/>
                <a:ea typeface="Poppins"/>
                <a:cs typeface="Poppins"/>
                <a:sym typeface="Poppins"/>
              </a:rPr>
              <a:t>Ejemplo</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374" name="Shape 374"/>
        <p:cNvGrpSpPr/>
        <p:nvPr/>
      </p:nvGrpSpPr>
      <p:grpSpPr>
        <a:xfrm>
          <a:off x="0" y="0"/>
          <a:ext cx="0" cy="0"/>
          <a:chOff x="0" y="0"/>
          <a:chExt cx="0" cy="0"/>
        </a:xfrm>
      </p:grpSpPr>
      <p:sp>
        <p:nvSpPr>
          <p:cNvPr id="375" name="Google Shape;375;p29"/>
          <p:cNvSpPr txBox="1"/>
          <p:nvPr/>
        </p:nvSpPr>
        <p:spPr>
          <a:xfrm>
            <a:off x="1487970" y="4428069"/>
            <a:ext cx="15312059" cy="1526113"/>
          </a:xfrm>
          <a:prstGeom prst="rect">
            <a:avLst/>
          </a:prstGeom>
          <a:noFill/>
          <a:ln>
            <a:noFill/>
          </a:ln>
        </p:spPr>
        <p:txBody>
          <a:bodyPr anchorCtr="0" anchor="t" bIns="0" lIns="0" spcFirstLastPara="1" rIns="0" wrap="square" tIns="0">
            <a:spAutoFit/>
          </a:bodyPr>
          <a:lstStyle/>
          <a:p>
            <a:pPr indent="0" lvl="0" marL="0" marR="0" rtl="0" algn="ctr">
              <a:lnSpc>
                <a:spcPct val="109994"/>
              </a:lnSpc>
              <a:spcBef>
                <a:spcPts val="0"/>
              </a:spcBef>
              <a:spcAft>
                <a:spcPts val="0"/>
              </a:spcAft>
              <a:buNone/>
            </a:pPr>
            <a:r>
              <a:rPr b="1" i="0" lang="en-US" sz="10666" u="none" cap="none" strike="noStrike">
                <a:solidFill>
                  <a:srgbClr val="FFFFFF"/>
                </a:solidFill>
                <a:latin typeface="Poppins"/>
                <a:ea typeface="Poppins"/>
                <a:cs typeface="Poppins"/>
                <a:sym typeface="Poppins"/>
              </a:rPr>
              <a:t>¿Dudas?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