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10287000" cx="18288000"/>
  <p:notesSz cx="6858000" cy="9144000"/>
  <p:embeddedFontLst>
    <p:embeddedFont>
      <p:font typeface="Arimo"/>
      <p:bold r:id="rId27"/>
      <p:boldItalic r:id="rId28"/>
    </p:embeddedFont>
    <p:embeddedFont>
      <p:font typeface="Poppins"/>
      <p:bold r:id="rId29"/>
      <p:boldItalic r:id="rId30"/>
    </p:embeddedFont>
    <p:embeddedFont>
      <p:font typeface="Poppins Light"/>
      <p:regular r:id="rId31"/>
      <p:bold r:id="rId32"/>
      <p:italic r:id="rId33"/>
      <p:boldItalic r:id="rId34"/>
    </p:embeddedFont>
    <p:embeddedFont>
      <p:font typeface="Poppins Medium"/>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9" roundtripDataSignature="AMtx7mhPloLbqkyJGFnX4LPJVJyOt8uv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260284-47C4-490E-BC2D-CCE4F5400529}">
  <a:tblStyle styleId="{8F260284-47C4-490E-BC2D-CCE4F540052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A33ABF0-B2C1-43F7-A968-4F13EB96BEC8}"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Arimo-boldItalic.fntdata"/><Relationship Id="rId27" Type="http://schemas.openxmlformats.org/officeDocument/2006/relationships/font" Target="fonts/Arim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Light-regular.fntdata"/><Relationship Id="rId30" Type="http://schemas.openxmlformats.org/officeDocument/2006/relationships/font" Target="fonts/Poppins-boldItalic.fntdata"/><Relationship Id="rId11" Type="http://schemas.openxmlformats.org/officeDocument/2006/relationships/slide" Target="slides/slide5.xml"/><Relationship Id="rId33" Type="http://schemas.openxmlformats.org/officeDocument/2006/relationships/font" Target="fonts/PoppinsLight-italic.fntdata"/><Relationship Id="rId10" Type="http://schemas.openxmlformats.org/officeDocument/2006/relationships/slide" Target="slides/slide4.xml"/><Relationship Id="rId32" Type="http://schemas.openxmlformats.org/officeDocument/2006/relationships/font" Target="fonts/PoppinsLight-bold.fntdata"/><Relationship Id="rId13" Type="http://schemas.openxmlformats.org/officeDocument/2006/relationships/slide" Target="slides/slide7.xml"/><Relationship Id="rId35" Type="http://schemas.openxmlformats.org/officeDocument/2006/relationships/font" Target="fonts/PoppinsMedium-regular.fntdata"/><Relationship Id="rId12" Type="http://schemas.openxmlformats.org/officeDocument/2006/relationships/slide" Target="slides/slide6.xml"/><Relationship Id="rId34" Type="http://schemas.openxmlformats.org/officeDocument/2006/relationships/font" Target="fonts/PoppinsLight-boldItalic.fntdata"/><Relationship Id="rId15" Type="http://schemas.openxmlformats.org/officeDocument/2006/relationships/slide" Target="slides/slide9.xml"/><Relationship Id="rId37" Type="http://schemas.openxmlformats.org/officeDocument/2006/relationships/font" Target="fonts/PoppinsMedium-italic.fntdata"/><Relationship Id="rId14" Type="http://schemas.openxmlformats.org/officeDocument/2006/relationships/slide" Target="slides/slide8.xml"/><Relationship Id="rId36" Type="http://schemas.openxmlformats.org/officeDocument/2006/relationships/font" Target="fonts/PoppinsMedium-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PoppinsMedium-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d528c6bf8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2d528c6bf86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d528c6bf86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2d528c6bf86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d528c6bf86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g2d528c6bf86_2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d528c6bf8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2d528c6bf86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d528c6bf8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g2d528c6bf86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p:nvPr>
            <p:ph idx="2" type="pic"/>
          </p:nvPr>
        </p:nvSpPr>
        <p:spPr>
          <a:xfrm>
            <a:off x="1792288" y="612775"/>
            <a:ext cx="5486400" cy="4114800"/>
          </a:xfrm>
          <a:prstGeom prst="rect">
            <a:avLst/>
          </a:prstGeom>
          <a:noFill/>
          <a:ln>
            <a:noFill/>
          </a:ln>
        </p:spPr>
      </p:sp>
      <p:sp>
        <p:nvSpPr>
          <p:cNvPr id="64" name="Google Shape;64;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2"/>
            <a:ext cx="18288000" cy="10286998"/>
          </a:xfrm>
          <a:custGeom>
            <a:rect b="b" l="l" r="r" t="t"/>
            <a:pathLst>
              <a:path extrusionOk="0" h="10286998" w="18288000">
                <a:moveTo>
                  <a:pt x="0" y="0"/>
                </a:moveTo>
                <a:lnTo>
                  <a:pt x="18288000" y="0"/>
                </a:lnTo>
                <a:lnTo>
                  <a:pt x="18288000" y="10286998"/>
                </a:lnTo>
                <a:lnTo>
                  <a:pt x="0" y="10286998"/>
                </a:lnTo>
                <a:lnTo>
                  <a:pt x="0" y="0"/>
                </a:lnTo>
                <a:close/>
              </a:path>
            </a:pathLst>
          </a:custGeom>
          <a:blipFill rotWithShape="1">
            <a:blip r:embed="rId3">
              <a:alphaModFix/>
            </a:blip>
            <a:stretch>
              <a:fillRect b="-90" l="0" r="0" t="-91"/>
            </a:stretch>
          </a:blipFill>
          <a:ln>
            <a:noFill/>
          </a:ln>
        </p:spPr>
      </p:sp>
      <p:graphicFrame>
        <p:nvGraphicFramePr>
          <p:cNvPr id="85" name="Google Shape;85;p1"/>
          <p:cNvGraphicFramePr/>
          <p:nvPr/>
        </p:nvGraphicFramePr>
        <p:xfrm>
          <a:off x="10656400" y="1940050"/>
          <a:ext cx="3000000" cy="3000000"/>
        </p:xfrm>
        <a:graphic>
          <a:graphicData uri="http://schemas.openxmlformats.org/drawingml/2006/table">
            <a:tbl>
              <a:tblPr>
                <a:noFill/>
                <a:tableStyleId>{8F260284-47C4-490E-BC2D-CCE4F5400529}</a:tableStyleId>
              </a:tblPr>
              <a:tblGrid>
                <a:gridCol w="3030175"/>
                <a:gridCol w="4335825"/>
              </a:tblGrid>
              <a:tr h="1379925">
                <a:tc>
                  <a:txBody>
                    <a:bodyPr/>
                    <a:lstStyle/>
                    <a:p>
                      <a:pPr indent="0" lvl="0" marL="0" marR="0" rtl="0" algn="ctr">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3000">
                          <a:latin typeface="Arimo"/>
                          <a:ea typeface="Arimo"/>
                          <a:cs typeface="Arimo"/>
                          <a:sym typeface="Arimo"/>
                        </a:rPr>
                        <a:t>Sabado</a:t>
                      </a:r>
                      <a:endParaRPr sz="1100" u="none" cap="none" strike="noStrike"/>
                    </a:p>
                    <a:p>
                      <a:pPr indent="0" lvl="0" marL="0" marR="0" rtl="0" algn="ctr">
                        <a:lnSpc>
                          <a:spcPct val="140000"/>
                        </a:lnSpc>
                        <a:spcBef>
                          <a:spcPts val="0"/>
                        </a:spcBef>
                        <a:spcAft>
                          <a:spcPts val="0"/>
                        </a:spcAft>
                        <a:buNone/>
                      </a:pPr>
                      <a:r>
                        <a:rPr b="1" lang="en-US" sz="3000" u="none" cap="none" strike="noStrike">
                          <a:solidFill>
                            <a:srgbClr val="000000"/>
                          </a:solidFill>
                          <a:latin typeface="Arimo"/>
                          <a:ea typeface="Arimo"/>
                          <a:cs typeface="Arimo"/>
                          <a:sym typeface="Arimo"/>
                        </a:rPr>
                        <a:t>0</a:t>
                      </a:r>
                      <a:r>
                        <a:rPr b="1" lang="en-US" sz="3000">
                          <a:latin typeface="Arimo"/>
                          <a:ea typeface="Arimo"/>
                          <a:cs typeface="Arimo"/>
                          <a:sym typeface="Arimo"/>
                        </a:rPr>
                        <a:t>0</a:t>
                      </a:r>
                      <a:r>
                        <a:rPr b="1" lang="en-US" sz="3000" u="none" cap="none" strike="noStrike">
                          <a:solidFill>
                            <a:srgbClr val="000000"/>
                          </a:solidFill>
                          <a:latin typeface="Arimo"/>
                          <a:ea typeface="Arimo"/>
                          <a:cs typeface="Arimo"/>
                          <a:sym typeface="Arimo"/>
                        </a:rPr>
                        <a:t> / 0</a:t>
                      </a:r>
                      <a:r>
                        <a:rPr b="1" lang="en-US" sz="3000">
                          <a:latin typeface="Arimo"/>
                          <a:ea typeface="Arimo"/>
                          <a:cs typeface="Arimo"/>
                          <a:sym typeface="Arimo"/>
                        </a:rPr>
                        <a:t>0</a:t>
                      </a:r>
                      <a:r>
                        <a:rPr b="1" lang="en-US" sz="3000" u="none" cap="none" strike="noStrike">
                          <a:solidFill>
                            <a:srgbClr val="000000"/>
                          </a:solidFill>
                          <a:latin typeface="Arimo"/>
                          <a:ea typeface="Arimo"/>
                          <a:cs typeface="Arimo"/>
                          <a:sym typeface="Arimo"/>
                        </a:rPr>
                        <a:t> / 202</a:t>
                      </a:r>
                      <a:r>
                        <a:rPr b="1" lang="en-US" sz="3000">
                          <a:latin typeface="Arimo"/>
                          <a:ea typeface="Arimo"/>
                          <a:cs typeface="Arimo"/>
                          <a:sym typeface="Arimo"/>
                        </a:rPr>
                        <a:t>5</a:t>
                      </a:r>
                      <a:endParaRPr/>
                    </a:p>
                  </a:txBody>
                  <a:tcPr marT="91425" marB="91425" marR="91425" marL="914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829875">
                <a:tc>
                  <a:txBody>
                    <a:bodyPr/>
                    <a:lstStyle/>
                    <a:p>
                      <a:pPr indent="0" lvl="0" marL="0" marR="0" rtl="0" algn="ctr">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3"/>
                        </a:lnSpc>
                        <a:spcBef>
                          <a:spcPts val="0"/>
                        </a:spcBef>
                        <a:spcAft>
                          <a:spcPts val="0"/>
                        </a:spcAft>
                        <a:buNone/>
                      </a:pPr>
                      <a:r>
                        <a:rPr b="1" lang="en-US" sz="2999">
                          <a:latin typeface="Arimo"/>
                          <a:ea typeface="Arimo"/>
                          <a:cs typeface="Arimo"/>
                          <a:sym typeface="Arimo"/>
                        </a:rPr>
                        <a:t>00</a:t>
                      </a:r>
                      <a:r>
                        <a:rPr b="1" lang="en-US" sz="2999" u="none" cap="none" strike="noStrike">
                          <a:solidFill>
                            <a:srgbClr val="000000"/>
                          </a:solidFill>
                          <a:latin typeface="Arimo"/>
                          <a:ea typeface="Arimo"/>
                          <a:cs typeface="Arimo"/>
                          <a:sym typeface="Arimo"/>
                        </a:rPr>
                        <a:t>:</a:t>
                      </a:r>
                      <a:r>
                        <a:rPr b="1" lang="en-US" sz="2999">
                          <a:latin typeface="Arimo"/>
                          <a:ea typeface="Arimo"/>
                          <a:cs typeface="Arimo"/>
                          <a:sym typeface="Arimo"/>
                        </a:rPr>
                        <a:t>0</a:t>
                      </a:r>
                      <a:r>
                        <a:rPr b="1" lang="en-US" sz="2999" u="none" cap="none" strike="noStrike">
                          <a:solidFill>
                            <a:srgbClr val="000000"/>
                          </a:solidFill>
                          <a:latin typeface="Arimo"/>
                          <a:ea typeface="Arimo"/>
                          <a:cs typeface="Arimo"/>
                          <a:sym typeface="Arimo"/>
                        </a:rPr>
                        <a:t>0</a:t>
                      </a:r>
                      <a:endParaRPr sz="1100" u="none" cap="none" strike="noStrike"/>
                    </a:p>
                  </a:txBody>
                  <a:tcPr marT="91425" marB="91425" marR="91425" marL="914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86" name="Google Shape;86;p1"/>
          <p:cNvSpPr txBox="1"/>
          <p:nvPr/>
        </p:nvSpPr>
        <p:spPr>
          <a:xfrm>
            <a:off x="2971775" y="4512775"/>
            <a:ext cx="13401300" cy="7695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b="1" i="0" lang="en-US" sz="4999" u="none" cap="none" strike="noStrike">
                <a:solidFill>
                  <a:srgbClr val="000000"/>
                </a:solidFill>
                <a:latin typeface="Arial"/>
                <a:ea typeface="Arial"/>
                <a:cs typeface="Arial"/>
                <a:sym typeface="Arial"/>
              </a:rPr>
              <a:t>Modelación y Simulación 2 </a:t>
            </a:r>
            <a:r>
              <a:rPr b="1" lang="en-US" sz="4999"/>
              <a:t>Sección #</a:t>
            </a:r>
            <a:endParaRPr/>
          </a:p>
        </p:txBody>
      </p:sp>
      <p:sp>
        <p:nvSpPr>
          <p:cNvPr id="87" name="Google Shape;87;p1"/>
          <p:cNvSpPr txBox="1"/>
          <p:nvPr/>
        </p:nvSpPr>
        <p:spPr>
          <a:xfrm>
            <a:off x="2971775" y="5661100"/>
            <a:ext cx="10990500" cy="615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4000"/>
              <a:t>Nombre auxiliar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91" name="Shape 91"/>
        <p:cNvGrpSpPr/>
        <p:nvPr/>
      </p:nvGrpSpPr>
      <p:grpSpPr>
        <a:xfrm>
          <a:off x="0" y="0"/>
          <a:ext cx="0" cy="0"/>
          <a:chOff x="0" y="0"/>
          <a:chExt cx="0" cy="0"/>
        </a:xfrm>
      </p:grpSpPr>
      <p:cxnSp>
        <p:nvCxnSpPr>
          <p:cNvPr id="92" name="Google Shape;92;p2"/>
          <p:cNvCxnSpPr/>
          <p:nvPr/>
        </p:nvCxnSpPr>
        <p:spPr>
          <a:xfrm>
            <a:off x="10330503" y="3334116"/>
            <a:ext cx="6492240" cy="0"/>
          </a:xfrm>
          <a:prstGeom prst="straightConnector1">
            <a:avLst/>
          </a:prstGeom>
          <a:noFill/>
          <a:ln cap="flat" cmpd="sng" w="38100">
            <a:solidFill>
              <a:srgbClr val="00C4CC"/>
            </a:solidFill>
            <a:prstDash val="solid"/>
            <a:round/>
            <a:headEnd len="sm" w="sm" type="none"/>
            <a:tailEnd len="sm" w="sm" type="none"/>
          </a:ln>
        </p:spPr>
      </p:cxnSp>
      <p:cxnSp>
        <p:nvCxnSpPr>
          <p:cNvPr id="93" name="Google Shape;93;p2"/>
          <p:cNvCxnSpPr/>
          <p:nvPr/>
        </p:nvCxnSpPr>
        <p:spPr>
          <a:xfrm>
            <a:off x="10330503" y="4321428"/>
            <a:ext cx="6492240" cy="0"/>
          </a:xfrm>
          <a:prstGeom prst="straightConnector1">
            <a:avLst/>
          </a:prstGeom>
          <a:noFill/>
          <a:ln cap="flat" cmpd="sng" w="38100">
            <a:solidFill>
              <a:srgbClr val="00C4CC"/>
            </a:solidFill>
            <a:prstDash val="solid"/>
            <a:round/>
            <a:headEnd len="sm" w="sm" type="none"/>
            <a:tailEnd len="sm" w="sm" type="none"/>
          </a:ln>
        </p:spPr>
      </p:cxnSp>
      <p:cxnSp>
        <p:nvCxnSpPr>
          <p:cNvPr id="94" name="Google Shape;94;p2"/>
          <p:cNvCxnSpPr/>
          <p:nvPr/>
        </p:nvCxnSpPr>
        <p:spPr>
          <a:xfrm>
            <a:off x="10330503" y="5320177"/>
            <a:ext cx="6492240" cy="0"/>
          </a:xfrm>
          <a:prstGeom prst="straightConnector1">
            <a:avLst/>
          </a:prstGeom>
          <a:noFill/>
          <a:ln cap="flat" cmpd="sng" w="38100">
            <a:solidFill>
              <a:srgbClr val="00C4CC"/>
            </a:solidFill>
            <a:prstDash val="solid"/>
            <a:round/>
            <a:headEnd len="sm" w="sm" type="none"/>
            <a:tailEnd len="sm" w="sm" type="none"/>
          </a:ln>
        </p:spPr>
      </p:cxnSp>
      <p:cxnSp>
        <p:nvCxnSpPr>
          <p:cNvPr id="95" name="Google Shape;95;p2"/>
          <p:cNvCxnSpPr/>
          <p:nvPr/>
        </p:nvCxnSpPr>
        <p:spPr>
          <a:xfrm>
            <a:off x="10330503" y="6273178"/>
            <a:ext cx="6492240" cy="0"/>
          </a:xfrm>
          <a:prstGeom prst="straightConnector1">
            <a:avLst/>
          </a:prstGeom>
          <a:noFill/>
          <a:ln cap="flat" cmpd="sng" w="38100">
            <a:solidFill>
              <a:srgbClr val="00C4CC"/>
            </a:solidFill>
            <a:prstDash val="solid"/>
            <a:round/>
            <a:headEnd len="sm" w="sm" type="none"/>
            <a:tailEnd len="sm" w="sm" type="none"/>
          </a:ln>
        </p:spPr>
      </p:cxnSp>
      <p:cxnSp>
        <p:nvCxnSpPr>
          <p:cNvPr id="96" name="Google Shape;96;p2"/>
          <p:cNvCxnSpPr/>
          <p:nvPr/>
        </p:nvCxnSpPr>
        <p:spPr>
          <a:xfrm>
            <a:off x="10330503" y="7226178"/>
            <a:ext cx="6492240" cy="0"/>
          </a:xfrm>
          <a:prstGeom prst="straightConnector1">
            <a:avLst/>
          </a:prstGeom>
          <a:noFill/>
          <a:ln cap="flat" cmpd="sng" w="38100">
            <a:solidFill>
              <a:srgbClr val="00C4CC"/>
            </a:solidFill>
            <a:prstDash val="solid"/>
            <a:round/>
            <a:headEnd len="sm" w="sm" type="none"/>
            <a:tailEnd len="sm" w="sm" type="none"/>
          </a:ln>
        </p:spPr>
      </p:cxnSp>
      <p:sp>
        <p:nvSpPr>
          <p:cNvPr id="97" name="Google Shape;97;p2"/>
          <p:cNvSpPr txBox="1"/>
          <p:nvPr/>
        </p:nvSpPr>
        <p:spPr>
          <a:xfrm>
            <a:off x="1279869" y="1220245"/>
            <a:ext cx="7271904" cy="1151471"/>
          </a:xfrm>
          <a:prstGeom prst="rect">
            <a:avLst/>
          </a:prstGeom>
          <a:noFill/>
          <a:ln>
            <a:noFill/>
          </a:ln>
        </p:spPr>
        <p:txBody>
          <a:bodyPr anchorCtr="0" anchor="t" bIns="0" lIns="0" spcFirstLastPara="1" rIns="0" wrap="square" tIns="0">
            <a:spAutoFit/>
          </a:bodyPr>
          <a:lstStyle/>
          <a:p>
            <a:pPr indent="0" lvl="0" marL="0" marR="0" rtl="0" algn="ctr">
              <a:lnSpc>
                <a:spcPct val="110004"/>
              </a:lnSpc>
              <a:spcBef>
                <a:spcPts val="0"/>
              </a:spcBef>
              <a:spcAft>
                <a:spcPts val="0"/>
              </a:spcAft>
              <a:buNone/>
            </a:pPr>
            <a:r>
              <a:rPr b="1" i="0" lang="en-US" sz="8166" u="none" cap="none" strike="noStrike">
                <a:solidFill>
                  <a:srgbClr val="FFFFFF"/>
                </a:solidFill>
                <a:latin typeface="Poppins"/>
                <a:ea typeface="Poppins"/>
                <a:cs typeface="Poppins"/>
                <a:sym typeface="Poppins"/>
              </a:rPr>
              <a:t>Anuncios</a:t>
            </a:r>
            <a:endParaRPr/>
          </a:p>
        </p:txBody>
      </p:sp>
      <p:sp>
        <p:nvSpPr>
          <p:cNvPr id="98" name="Google Shape;98;p2"/>
          <p:cNvSpPr txBox="1"/>
          <p:nvPr/>
        </p:nvSpPr>
        <p:spPr>
          <a:xfrm>
            <a:off x="10330503" y="4645278"/>
            <a:ext cx="6492240" cy="374035"/>
          </a:xfrm>
          <a:prstGeom prst="rect">
            <a:avLst/>
          </a:prstGeom>
          <a:noFill/>
          <a:ln>
            <a:noFill/>
          </a:ln>
        </p:spPr>
        <p:txBody>
          <a:bodyPr anchorCtr="0" anchor="t" bIns="0" lIns="0" spcFirstLastPara="1" rIns="0" wrap="square" tIns="0">
            <a:spAutoFit/>
          </a:bodyPr>
          <a:lstStyle/>
          <a:p>
            <a:pPr indent="0" lvl="0" marL="0" marR="0" rtl="0" algn="l">
              <a:lnSpc>
                <a:spcPct val="110038"/>
              </a:lnSpc>
              <a:spcBef>
                <a:spcPts val="0"/>
              </a:spcBef>
              <a:spcAft>
                <a:spcPts val="0"/>
              </a:spcAft>
              <a:buNone/>
            </a:pPr>
            <a:r>
              <a:rPr b="0" i="0" lang="en-US" sz="2600" u="none" cap="none" strike="noStrike">
                <a:solidFill>
                  <a:srgbClr val="FFFFFF"/>
                </a:solidFill>
                <a:latin typeface="Poppins Medium"/>
                <a:ea typeface="Poppins Medium"/>
                <a:cs typeface="Poppins Medium"/>
                <a:sym typeface="Poppins Medium"/>
              </a:rPr>
              <a:t>Definiciones</a:t>
            </a:r>
            <a:endParaRPr/>
          </a:p>
        </p:txBody>
      </p:sp>
      <p:sp>
        <p:nvSpPr>
          <p:cNvPr id="99" name="Google Shape;99;p2"/>
          <p:cNvSpPr txBox="1"/>
          <p:nvPr/>
        </p:nvSpPr>
        <p:spPr>
          <a:xfrm>
            <a:off x="10330503" y="6562665"/>
            <a:ext cx="6492300" cy="400200"/>
          </a:xfrm>
          <a:prstGeom prst="rect">
            <a:avLst/>
          </a:prstGeom>
          <a:noFill/>
          <a:ln>
            <a:noFill/>
          </a:ln>
        </p:spPr>
        <p:txBody>
          <a:bodyPr anchorCtr="0" anchor="t" bIns="0" lIns="0" spcFirstLastPara="1" rIns="0" wrap="square" tIns="0">
            <a:spAutoFit/>
          </a:bodyPr>
          <a:lstStyle/>
          <a:p>
            <a:pPr indent="0" lvl="0" marL="0" marR="0" rtl="0" algn="l">
              <a:lnSpc>
                <a:spcPct val="110038"/>
              </a:lnSpc>
              <a:spcBef>
                <a:spcPts val="0"/>
              </a:spcBef>
              <a:spcAft>
                <a:spcPts val="0"/>
              </a:spcAft>
              <a:buNone/>
            </a:pPr>
            <a:r>
              <a:rPr b="0" i="0" lang="en-US" sz="2600" u="none" cap="none" strike="noStrike">
                <a:solidFill>
                  <a:srgbClr val="FFFFFF"/>
                </a:solidFill>
                <a:latin typeface="Poppins Medium"/>
                <a:ea typeface="Poppins Medium"/>
                <a:cs typeface="Poppins Medium"/>
                <a:sym typeface="Poppins Medium"/>
              </a:rPr>
              <a:t>Ejemplo</a:t>
            </a:r>
            <a:endParaRPr/>
          </a:p>
        </p:txBody>
      </p:sp>
      <p:sp>
        <p:nvSpPr>
          <p:cNvPr id="100" name="Google Shape;100;p2"/>
          <p:cNvSpPr txBox="1"/>
          <p:nvPr/>
        </p:nvSpPr>
        <p:spPr>
          <a:xfrm>
            <a:off x="10330503" y="3642593"/>
            <a:ext cx="6492240" cy="374035"/>
          </a:xfrm>
          <a:prstGeom prst="rect">
            <a:avLst/>
          </a:prstGeom>
          <a:noFill/>
          <a:ln>
            <a:noFill/>
          </a:ln>
        </p:spPr>
        <p:txBody>
          <a:bodyPr anchorCtr="0" anchor="t" bIns="0" lIns="0" spcFirstLastPara="1" rIns="0" wrap="square" tIns="0">
            <a:spAutoFit/>
          </a:bodyPr>
          <a:lstStyle/>
          <a:p>
            <a:pPr indent="0" lvl="0" marL="0" marR="0" rtl="0" algn="l">
              <a:lnSpc>
                <a:spcPct val="110038"/>
              </a:lnSpc>
              <a:spcBef>
                <a:spcPts val="0"/>
              </a:spcBef>
              <a:spcAft>
                <a:spcPts val="0"/>
              </a:spcAft>
              <a:buNone/>
            </a:pPr>
            <a:r>
              <a:rPr b="0" i="0" lang="en-US" sz="2600" u="none" cap="none" strike="noStrike">
                <a:solidFill>
                  <a:srgbClr val="FFFFFF"/>
                </a:solidFill>
                <a:latin typeface="Poppins Medium"/>
                <a:ea typeface="Poppins Medium"/>
                <a:cs typeface="Poppins Medium"/>
                <a:sym typeface="Poppins Medium"/>
              </a:rPr>
              <a:t>Procesos</a:t>
            </a:r>
            <a:endParaRPr/>
          </a:p>
        </p:txBody>
      </p:sp>
      <p:sp>
        <p:nvSpPr>
          <p:cNvPr id="101" name="Google Shape;101;p2"/>
          <p:cNvSpPr txBox="1"/>
          <p:nvPr/>
        </p:nvSpPr>
        <p:spPr>
          <a:xfrm>
            <a:off x="10330503" y="5596568"/>
            <a:ext cx="6492300" cy="400200"/>
          </a:xfrm>
          <a:prstGeom prst="rect">
            <a:avLst/>
          </a:prstGeom>
          <a:noFill/>
          <a:ln>
            <a:noFill/>
          </a:ln>
        </p:spPr>
        <p:txBody>
          <a:bodyPr anchorCtr="0" anchor="t" bIns="0" lIns="0" spcFirstLastPara="1" rIns="0" wrap="square" tIns="0">
            <a:spAutoFit/>
          </a:bodyPr>
          <a:lstStyle/>
          <a:p>
            <a:pPr indent="0" lvl="0" marL="0" marR="0" rtl="0" algn="l">
              <a:lnSpc>
                <a:spcPct val="110038"/>
              </a:lnSpc>
              <a:spcBef>
                <a:spcPts val="0"/>
              </a:spcBef>
              <a:spcAft>
                <a:spcPts val="0"/>
              </a:spcAft>
              <a:buNone/>
            </a:pPr>
            <a:r>
              <a:rPr lang="en-US" sz="2600">
                <a:solidFill>
                  <a:srgbClr val="FFFFFF"/>
                </a:solidFill>
                <a:latin typeface="Poppins Medium"/>
                <a:ea typeface="Poppins Medium"/>
                <a:cs typeface="Poppins Medium"/>
                <a:sym typeface="Poppins Medium"/>
              </a:rPr>
              <a:t>Steps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05" name="Shape 105"/>
        <p:cNvGrpSpPr/>
        <p:nvPr/>
      </p:nvGrpSpPr>
      <p:grpSpPr>
        <a:xfrm>
          <a:off x="0" y="0"/>
          <a:ext cx="0" cy="0"/>
          <a:chOff x="0" y="0"/>
          <a:chExt cx="0" cy="0"/>
        </a:xfrm>
      </p:grpSpPr>
      <p:sp>
        <p:nvSpPr>
          <p:cNvPr id="106" name="Google Shape;106;p3"/>
          <p:cNvSpPr txBox="1"/>
          <p:nvPr/>
        </p:nvSpPr>
        <p:spPr>
          <a:xfrm>
            <a:off x="4718225" y="3741738"/>
            <a:ext cx="8851500" cy="3232200"/>
          </a:xfrm>
          <a:prstGeom prst="rect">
            <a:avLst/>
          </a:prstGeom>
          <a:noFill/>
          <a:ln>
            <a:noFill/>
          </a:ln>
        </p:spPr>
        <p:txBody>
          <a:bodyPr anchorCtr="0" anchor="t" bIns="0" lIns="0" spcFirstLastPara="1" rIns="0" wrap="square" tIns="0">
            <a:spAutoFit/>
          </a:bodyPr>
          <a:lstStyle/>
          <a:p>
            <a:pPr indent="0" lvl="0" marL="0" marR="0" rtl="0" algn="ctr">
              <a:lnSpc>
                <a:spcPct val="110001"/>
              </a:lnSpc>
              <a:spcBef>
                <a:spcPts val="0"/>
              </a:spcBef>
              <a:spcAft>
                <a:spcPts val="0"/>
              </a:spcAft>
              <a:buNone/>
            </a:pPr>
            <a:r>
              <a:rPr b="1" i="0" lang="en-US" sz="9999" u="none" cap="none" strike="noStrike">
                <a:solidFill>
                  <a:srgbClr val="FFFFFF"/>
                </a:solidFill>
                <a:latin typeface="Poppins"/>
                <a:ea typeface="Poppins"/>
                <a:cs typeface="Poppins"/>
                <a:sym typeface="Poppins"/>
              </a:rPr>
              <a:t>PROCESOS Y DEFINICIONES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10" name="Shape 110"/>
        <p:cNvGrpSpPr/>
        <p:nvPr/>
      </p:nvGrpSpPr>
      <p:grpSpPr>
        <a:xfrm>
          <a:off x="0" y="0"/>
          <a:ext cx="0" cy="0"/>
          <a:chOff x="0" y="0"/>
          <a:chExt cx="0" cy="0"/>
        </a:xfrm>
      </p:grpSpPr>
      <p:grpSp>
        <p:nvGrpSpPr>
          <p:cNvPr id="111" name="Google Shape;111;p4"/>
          <p:cNvGrpSpPr/>
          <p:nvPr/>
        </p:nvGrpSpPr>
        <p:grpSpPr>
          <a:xfrm>
            <a:off x="2922730" y="2937866"/>
            <a:ext cx="9787023" cy="5945556"/>
            <a:chOff x="0" y="0"/>
            <a:chExt cx="13049364" cy="7927408"/>
          </a:xfrm>
        </p:grpSpPr>
        <p:sp>
          <p:nvSpPr>
            <p:cNvPr id="112" name="Google Shape;112;p4"/>
            <p:cNvSpPr txBox="1"/>
            <p:nvPr/>
          </p:nvSpPr>
          <p:spPr>
            <a:xfrm>
              <a:off x="0" y="0"/>
              <a:ext cx="13049364" cy="800100"/>
            </a:xfrm>
            <a:prstGeom prst="rect">
              <a:avLst/>
            </a:prstGeom>
            <a:noFill/>
            <a:ln>
              <a:noFill/>
            </a:ln>
          </p:spPr>
          <p:txBody>
            <a:bodyPr anchorCtr="0" anchor="t" bIns="0" lIns="0" spcFirstLastPara="1" rIns="0" wrap="square" tIns="0">
              <a:spAutoFit/>
            </a:bodyPr>
            <a:lstStyle/>
            <a:p>
              <a:pPr indent="0" lvl="0" marL="0" marR="0" rtl="0" algn="ctr">
                <a:lnSpc>
                  <a:spcPct val="26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4"/>
            <p:cNvSpPr txBox="1"/>
            <p:nvPr/>
          </p:nvSpPr>
          <p:spPr>
            <a:xfrm>
              <a:off x="0" y="1685357"/>
              <a:ext cx="13049364" cy="62420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La pestaña "Definiciones" en SIMIO es una sección esencial en el software de modelado y simulación que permite a los usuarios definir los componentes y parámetros clave de su modelo, este apartado nos ayuda para poder detallar mar nuestros modelos, ya que podemos definir elementos, atributos y propiedades, logica de decisiones, distribuciones, calendarios/programaciones, variables, entre otras mas.</a:t>
              </a:r>
              <a:endParaRPr/>
            </a:p>
          </p:txBody>
        </p:sp>
        <p:cxnSp>
          <p:nvCxnSpPr>
            <p:cNvPr id="114" name="Google Shape;114;p4"/>
            <p:cNvCxnSpPr/>
            <p:nvPr/>
          </p:nvCxnSpPr>
          <p:spPr>
            <a:xfrm>
              <a:off x="0" y="1271304"/>
              <a:ext cx="13049364" cy="0"/>
            </a:xfrm>
            <a:prstGeom prst="straightConnector1">
              <a:avLst/>
            </a:prstGeom>
            <a:noFill/>
            <a:ln cap="rnd" cmpd="sng" w="25400">
              <a:solidFill>
                <a:srgbClr val="10B5BF"/>
              </a:solidFill>
              <a:prstDash val="solid"/>
              <a:round/>
              <a:headEnd len="sm" w="sm" type="none"/>
              <a:tailEnd len="sm" w="sm" type="none"/>
            </a:ln>
          </p:spPr>
        </p:cxnSp>
      </p:grpSp>
      <p:sp>
        <p:nvSpPr>
          <p:cNvPr id="115" name="Google Shape;115;p4"/>
          <p:cNvSpPr/>
          <p:nvPr/>
        </p:nvSpPr>
        <p:spPr>
          <a:xfrm>
            <a:off x="1815875" y="2120181"/>
            <a:ext cx="12000732" cy="817685"/>
          </a:xfrm>
          <a:custGeom>
            <a:rect b="b" l="l" r="r" t="t"/>
            <a:pathLst>
              <a:path extrusionOk="0" h="817685" w="12000732">
                <a:moveTo>
                  <a:pt x="0" y="0"/>
                </a:moveTo>
                <a:lnTo>
                  <a:pt x="12000732" y="0"/>
                </a:lnTo>
                <a:lnTo>
                  <a:pt x="12000732" y="817685"/>
                </a:lnTo>
                <a:lnTo>
                  <a:pt x="0" y="817685"/>
                </a:lnTo>
                <a:lnTo>
                  <a:pt x="0" y="0"/>
                </a:lnTo>
                <a:close/>
              </a:path>
            </a:pathLst>
          </a:custGeom>
          <a:blipFill rotWithShape="1">
            <a:blip r:embed="rId3">
              <a:alphaModFix/>
            </a:blip>
            <a:stretch>
              <a:fillRect b="0" l="0" r="0" t="0"/>
            </a:stretch>
          </a:blipFill>
          <a:ln>
            <a:noFill/>
          </a:ln>
        </p:spPr>
      </p:sp>
      <p:sp>
        <p:nvSpPr>
          <p:cNvPr id="116" name="Google Shape;116;p4"/>
          <p:cNvSpPr/>
          <p:nvPr/>
        </p:nvSpPr>
        <p:spPr>
          <a:xfrm>
            <a:off x="14493409" y="795062"/>
            <a:ext cx="1738757" cy="8696876"/>
          </a:xfrm>
          <a:custGeom>
            <a:rect b="b" l="l" r="r" t="t"/>
            <a:pathLst>
              <a:path extrusionOk="0" h="8696876" w="1738757">
                <a:moveTo>
                  <a:pt x="0" y="0"/>
                </a:moveTo>
                <a:lnTo>
                  <a:pt x="1738757" y="0"/>
                </a:lnTo>
                <a:lnTo>
                  <a:pt x="1738757" y="8696876"/>
                </a:lnTo>
                <a:lnTo>
                  <a:pt x="0" y="8696876"/>
                </a:lnTo>
                <a:lnTo>
                  <a:pt x="0" y="0"/>
                </a:lnTo>
                <a:close/>
              </a:path>
            </a:pathLst>
          </a:custGeom>
          <a:blipFill rotWithShape="1">
            <a:blip r:embed="rId4">
              <a:alphaModFix/>
            </a:blip>
            <a:stretch>
              <a:fillRect b="-50400" l="0" r="0" t="0"/>
            </a:stretch>
          </a:blipFill>
          <a:ln>
            <a:noFill/>
          </a:ln>
        </p:spPr>
      </p:sp>
      <p:grpSp>
        <p:nvGrpSpPr>
          <p:cNvPr id="117" name="Google Shape;117;p4"/>
          <p:cNvGrpSpPr/>
          <p:nvPr/>
        </p:nvGrpSpPr>
        <p:grpSpPr>
          <a:xfrm>
            <a:off x="1028700" y="300037"/>
            <a:ext cx="10113763" cy="1450183"/>
            <a:chOff x="0" y="-9525"/>
            <a:chExt cx="13485018" cy="1933576"/>
          </a:xfrm>
        </p:grpSpPr>
        <p:sp>
          <p:nvSpPr>
            <p:cNvPr id="118" name="Google Shape;118;p4"/>
            <p:cNvSpPr txBox="1"/>
            <p:nvPr/>
          </p:nvSpPr>
          <p:spPr>
            <a:xfrm>
              <a:off x="0" y="-9525"/>
              <a:ext cx="13485018"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DEFINICIONES</a:t>
              </a:r>
              <a:endParaRPr/>
            </a:p>
          </p:txBody>
        </p:sp>
        <p:sp>
          <p:nvSpPr>
            <p:cNvPr id="119" name="Google Shape;119;p4"/>
            <p:cNvSpPr txBox="1"/>
            <p:nvPr/>
          </p:nvSpPr>
          <p:spPr>
            <a:xfrm>
              <a:off x="0" y="1270000"/>
              <a:ext cx="13485018"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Definitions</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23" name="Shape 123"/>
        <p:cNvGrpSpPr/>
        <p:nvPr/>
      </p:nvGrpSpPr>
      <p:grpSpPr>
        <a:xfrm>
          <a:off x="0" y="0"/>
          <a:ext cx="0" cy="0"/>
          <a:chOff x="0" y="0"/>
          <a:chExt cx="0" cy="0"/>
        </a:xfrm>
      </p:grpSpPr>
      <p:grpSp>
        <p:nvGrpSpPr>
          <p:cNvPr id="124" name="Google Shape;124;p5"/>
          <p:cNvGrpSpPr/>
          <p:nvPr/>
        </p:nvGrpSpPr>
        <p:grpSpPr>
          <a:xfrm>
            <a:off x="1028700" y="3441317"/>
            <a:ext cx="16230600" cy="5421681"/>
            <a:chOff x="0" y="0"/>
            <a:chExt cx="21640800" cy="7228908"/>
          </a:xfrm>
        </p:grpSpPr>
        <p:sp>
          <p:nvSpPr>
            <p:cNvPr id="125" name="Google Shape;125;p5"/>
            <p:cNvSpPr txBox="1"/>
            <p:nvPr/>
          </p:nvSpPr>
          <p:spPr>
            <a:xfrm>
              <a:off x="0" y="0"/>
              <a:ext cx="21640800" cy="800100"/>
            </a:xfrm>
            <a:prstGeom prst="rect">
              <a:avLst/>
            </a:prstGeom>
            <a:noFill/>
            <a:ln>
              <a:noFill/>
            </a:ln>
          </p:spPr>
          <p:txBody>
            <a:bodyPr anchorCtr="0" anchor="t" bIns="0" lIns="0" spcFirstLastPara="1" rIns="0" wrap="square" tIns="0">
              <a:spAutoFit/>
            </a:bodyPr>
            <a:lstStyle/>
            <a:p>
              <a:pPr indent="0" lvl="0" marL="0" marR="0" rtl="0" algn="ctr">
                <a:lnSpc>
                  <a:spcPct val="26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5"/>
            <p:cNvSpPr txBox="1"/>
            <p:nvPr/>
          </p:nvSpPr>
          <p:spPr>
            <a:xfrm>
              <a:off x="0" y="1685357"/>
              <a:ext cx="21640800" cy="55435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Los states (estados), son variables que describen las condiciones o características de los objetos en el modelo durante la simulación. Los estados permiten a los usuarios monitorear y controlar el comportamiento de las entidades, recursos y otros elementos del modelo a lo largo del tiempo.</a:t>
              </a:r>
              <a:endParaRPr/>
            </a:p>
            <a:p>
              <a:pPr indent="0" lvl="0" marL="0" marR="0" rtl="0" algn="just">
                <a:lnSpc>
                  <a:spcPct val="140013"/>
                </a:lnSpc>
                <a:spcBef>
                  <a:spcPts val="0"/>
                </a:spcBef>
                <a:spcAft>
                  <a:spcPts val="0"/>
                </a:spcAft>
                <a:buNone/>
              </a:pPr>
              <a:r>
                <a:t/>
              </a:r>
              <a:endParaRPr b="0" i="0" sz="2999" u="none" cap="none" strike="noStrike">
                <a:solidFill>
                  <a:srgbClr val="FFFFFF"/>
                </a:solidFill>
                <a:latin typeface="Poppins Light"/>
                <a:ea typeface="Poppins Light"/>
                <a:cs typeface="Poppins Light"/>
                <a:sym typeface="Poppins Light"/>
              </a:endParaRPr>
            </a:p>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Podemos generar constantes, variables, listas, arreglos, entre otras, también se le puede colocar como variables de objetos, también al igual que en la programación, se puede dar algún valor inicial.</a:t>
              </a:r>
              <a:endParaRPr/>
            </a:p>
          </p:txBody>
        </p:sp>
        <p:cxnSp>
          <p:nvCxnSpPr>
            <p:cNvPr id="127" name="Google Shape;127;p5"/>
            <p:cNvCxnSpPr/>
            <p:nvPr/>
          </p:nvCxnSpPr>
          <p:spPr>
            <a:xfrm>
              <a:off x="0" y="1271304"/>
              <a:ext cx="21640800" cy="0"/>
            </a:xfrm>
            <a:prstGeom prst="straightConnector1">
              <a:avLst/>
            </a:prstGeom>
            <a:noFill/>
            <a:ln cap="rnd" cmpd="sng" w="25400">
              <a:solidFill>
                <a:srgbClr val="10B5BF"/>
              </a:solidFill>
              <a:prstDash val="solid"/>
              <a:round/>
              <a:headEnd len="sm" w="sm" type="none"/>
              <a:tailEnd len="sm" w="sm" type="none"/>
            </a:ln>
          </p:spPr>
        </p:cxnSp>
      </p:grpSp>
      <p:sp>
        <p:nvSpPr>
          <p:cNvPr id="128" name="Google Shape;128;p5"/>
          <p:cNvSpPr/>
          <p:nvPr/>
        </p:nvSpPr>
        <p:spPr>
          <a:xfrm>
            <a:off x="3192510" y="2091867"/>
            <a:ext cx="11902979" cy="1729336"/>
          </a:xfrm>
          <a:custGeom>
            <a:rect b="b" l="l" r="r" t="t"/>
            <a:pathLst>
              <a:path extrusionOk="0" h="1729336" w="11902979">
                <a:moveTo>
                  <a:pt x="0" y="0"/>
                </a:moveTo>
                <a:lnTo>
                  <a:pt x="11902980" y="0"/>
                </a:lnTo>
                <a:lnTo>
                  <a:pt x="11902980" y="1729335"/>
                </a:lnTo>
                <a:lnTo>
                  <a:pt x="0" y="1729335"/>
                </a:lnTo>
                <a:lnTo>
                  <a:pt x="0" y="0"/>
                </a:lnTo>
                <a:close/>
              </a:path>
            </a:pathLst>
          </a:custGeom>
          <a:blipFill rotWithShape="1">
            <a:blip r:embed="rId3">
              <a:alphaModFix/>
            </a:blip>
            <a:stretch>
              <a:fillRect b="0" l="0" r="0" t="0"/>
            </a:stretch>
          </a:blipFill>
          <a:ln>
            <a:noFill/>
          </a:ln>
        </p:spPr>
      </p:sp>
      <p:grpSp>
        <p:nvGrpSpPr>
          <p:cNvPr id="129" name="Google Shape;129;p5"/>
          <p:cNvGrpSpPr/>
          <p:nvPr/>
        </p:nvGrpSpPr>
        <p:grpSpPr>
          <a:xfrm>
            <a:off x="1028700" y="300037"/>
            <a:ext cx="10113763" cy="1450183"/>
            <a:chOff x="0" y="-9525"/>
            <a:chExt cx="13485018" cy="1933576"/>
          </a:xfrm>
        </p:grpSpPr>
        <p:sp>
          <p:nvSpPr>
            <p:cNvPr id="130" name="Google Shape;130;p5"/>
            <p:cNvSpPr txBox="1"/>
            <p:nvPr/>
          </p:nvSpPr>
          <p:spPr>
            <a:xfrm>
              <a:off x="0" y="-9525"/>
              <a:ext cx="13485018"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DEFINICIONES</a:t>
              </a:r>
              <a:endParaRPr/>
            </a:p>
          </p:txBody>
        </p:sp>
        <p:sp>
          <p:nvSpPr>
            <p:cNvPr id="131" name="Google Shape;131;p5"/>
            <p:cNvSpPr txBox="1"/>
            <p:nvPr/>
          </p:nvSpPr>
          <p:spPr>
            <a:xfrm>
              <a:off x="0" y="1270000"/>
              <a:ext cx="13485018"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States</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35" name="Shape 135"/>
        <p:cNvGrpSpPr/>
        <p:nvPr/>
      </p:nvGrpSpPr>
      <p:grpSpPr>
        <a:xfrm>
          <a:off x="0" y="0"/>
          <a:ext cx="0" cy="0"/>
          <a:chOff x="0" y="0"/>
          <a:chExt cx="0" cy="0"/>
        </a:xfrm>
      </p:grpSpPr>
      <p:grpSp>
        <p:nvGrpSpPr>
          <p:cNvPr id="136" name="Google Shape;136;p6"/>
          <p:cNvGrpSpPr/>
          <p:nvPr/>
        </p:nvGrpSpPr>
        <p:grpSpPr>
          <a:xfrm>
            <a:off x="1028700" y="1162433"/>
            <a:ext cx="16230600" cy="2802306"/>
            <a:chOff x="0" y="0"/>
            <a:chExt cx="21640800" cy="3736408"/>
          </a:xfrm>
        </p:grpSpPr>
        <p:sp>
          <p:nvSpPr>
            <p:cNvPr id="137" name="Google Shape;137;p6"/>
            <p:cNvSpPr txBox="1"/>
            <p:nvPr/>
          </p:nvSpPr>
          <p:spPr>
            <a:xfrm>
              <a:off x="0" y="0"/>
              <a:ext cx="21640800" cy="800100"/>
            </a:xfrm>
            <a:prstGeom prst="rect">
              <a:avLst/>
            </a:prstGeom>
            <a:noFill/>
            <a:ln>
              <a:noFill/>
            </a:ln>
          </p:spPr>
          <p:txBody>
            <a:bodyPr anchorCtr="0" anchor="t" bIns="0" lIns="0" spcFirstLastPara="1" rIns="0" wrap="square" tIns="0">
              <a:spAutoFit/>
            </a:bodyPr>
            <a:lstStyle/>
            <a:p>
              <a:pPr indent="0" lvl="0" marL="0" marR="0" rtl="0" algn="ctr">
                <a:lnSpc>
                  <a:spcPct val="26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6"/>
            <p:cNvSpPr txBox="1"/>
            <p:nvPr/>
          </p:nvSpPr>
          <p:spPr>
            <a:xfrm>
              <a:off x="0" y="1685357"/>
              <a:ext cx="21640800" cy="20510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Los estados reales actúan igual que los enteros, se suelen utilizar para llevar el conteo de entidades, de finanzas, calculos de gastos, entre otras mas, la única diferencia que contiene es que el Display Format es una propiedad que no tienen los integer.</a:t>
              </a:r>
              <a:endParaRPr/>
            </a:p>
          </p:txBody>
        </p:sp>
        <p:cxnSp>
          <p:nvCxnSpPr>
            <p:cNvPr id="139" name="Google Shape;139;p6"/>
            <p:cNvCxnSpPr/>
            <p:nvPr/>
          </p:nvCxnSpPr>
          <p:spPr>
            <a:xfrm>
              <a:off x="0" y="1271304"/>
              <a:ext cx="21640800" cy="0"/>
            </a:xfrm>
            <a:prstGeom prst="straightConnector1">
              <a:avLst/>
            </a:prstGeom>
            <a:noFill/>
            <a:ln cap="rnd" cmpd="sng" w="25400">
              <a:solidFill>
                <a:srgbClr val="10B5BF"/>
              </a:solidFill>
              <a:prstDash val="solid"/>
              <a:round/>
              <a:headEnd len="sm" w="sm" type="none"/>
              <a:tailEnd len="sm" w="sm" type="none"/>
            </a:ln>
          </p:spPr>
        </p:cxnSp>
      </p:grpSp>
      <p:sp>
        <p:nvSpPr>
          <p:cNvPr id="140" name="Google Shape;140;p6"/>
          <p:cNvSpPr/>
          <p:nvPr/>
        </p:nvSpPr>
        <p:spPr>
          <a:xfrm>
            <a:off x="10313812" y="4449153"/>
            <a:ext cx="6403055" cy="5060050"/>
          </a:xfrm>
          <a:custGeom>
            <a:rect b="b" l="l" r="r" t="t"/>
            <a:pathLst>
              <a:path extrusionOk="0" h="5060050" w="6403055">
                <a:moveTo>
                  <a:pt x="0" y="0"/>
                </a:moveTo>
                <a:lnTo>
                  <a:pt x="6403056" y="0"/>
                </a:lnTo>
                <a:lnTo>
                  <a:pt x="6403056" y="5060049"/>
                </a:lnTo>
                <a:lnTo>
                  <a:pt x="0" y="5060049"/>
                </a:lnTo>
                <a:lnTo>
                  <a:pt x="0" y="0"/>
                </a:lnTo>
                <a:close/>
              </a:path>
            </a:pathLst>
          </a:custGeom>
          <a:blipFill rotWithShape="1">
            <a:blip r:embed="rId3">
              <a:alphaModFix/>
            </a:blip>
            <a:stretch>
              <a:fillRect b="-4264" l="0" r="0" t="0"/>
            </a:stretch>
          </a:blipFill>
          <a:ln>
            <a:noFill/>
          </a:ln>
        </p:spPr>
      </p:sp>
      <p:sp>
        <p:nvSpPr>
          <p:cNvPr id="141" name="Google Shape;141;p6"/>
          <p:cNvSpPr/>
          <p:nvPr/>
        </p:nvSpPr>
        <p:spPr>
          <a:xfrm>
            <a:off x="2145018" y="4449153"/>
            <a:ext cx="6676077" cy="4944313"/>
          </a:xfrm>
          <a:custGeom>
            <a:rect b="b" l="l" r="r" t="t"/>
            <a:pathLst>
              <a:path extrusionOk="0" h="4944313" w="6676077">
                <a:moveTo>
                  <a:pt x="0" y="0"/>
                </a:moveTo>
                <a:lnTo>
                  <a:pt x="6676077" y="0"/>
                </a:lnTo>
                <a:lnTo>
                  <a:pt x="6676077" y="4944313"/>
                </a:lnTo>
                <a:lnTo>
                  <a:pt x="0" y="4944313"/>
                </a:lnTo>
                <a:lnTo>
                  <a:pt x="0" y="0"/>
                </a:lnTo>
                <a:close/>
              </a:path>
            </a:pathLst>
          </a:custGeom>
          <a:blipFill rotWithShape="1">
            <a:blip r:embed="rId4">
              <a:alphaModFix/>
            </a:blip>
            <a:stretch>
              <a:fillRect b="0" l="0" r="0" t="0"/>
            </a:stretch>
          </a:blipFill>
          <a:ln>
            <a:noFill/>
          </a:ln>
        </p:spPr>
      </p:sp>
      <p:grpSp>
        <p:nvGrpSpPr>
          <p:cNvPr id="142" name="Google Shape;142;p6"/>
          <p:cNvGrpSpPr/>
          <p:nvPr/>
        </p:nvGrpSpPr>
        <p:grpSpPr>
          <a:xfrm>
            <a:off x="1028700" y="300037"/>
            <a:ext cx="10113763" cy="1450183"/>
            <a:chOff x="0" y="-9525"/>
            <a:chExt cx="13485018" cy="1933576"/>
          </a:xfrm>
        </p:grpSpPr>
        <p:sp>
          <p:nvSpPr>
            <p:cNvPr id="143" name="Google Shape;143;p6"/>
            <p:cNvSpPr txBox="1"/>
            <p:nvPr/>
          </p:nvSpPr>
          <p:spPr>
            <a:xfrm>
              <a:off x="0" y="-9525"/>
              <a:ext cx="13485018"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DEFINICIONES</a:t>
              </a:r>
              <a:endParaRPr/>
            </a:p>
          </p:txBody>
        </p:sp>
        <p:sp>
          <p:nvSpPr>
            <p:cNvPr id="144" name="Google Shape;144;p6"/>
            <p:cNvSpPr txBox="1"/>
            <p:nvPr/>
          </p:nvSpPr>
          <p:spPr>
            <a:xfrm>
              <a:off x="0" y="1270000"/>
              <a:ext cx="13485018"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Real e Integer</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48" name="Shape 148"/>
        <p:cNvGrpSpPr/>
        <p:nvPr/>
      </p:nvGrpSpPr>
      <p:grpSpPr>
        <a:xfrm>
          <a:off x="0" y="0"/>
          <a:ext cx="0" cy="0"/>
          <a:chOff x="0" y="0"/>
          <a:chExt cx="0" cy="0"/>
        </a:xfrm>
      </p:grpSpPr>
      <p:grpSp>
        <p:nvGrpSpPr>
          <p:cNvPr id="149" name="Google Shape;149;p7"/>
          <p:cNvGrpSpPr/>
          <p:nvPr/>
        </p:nvGrpSpPr>
        <p:grpSpPr>
          <a:xfrm>
            <a:off x="1028700" y="1162433"/>
            <a:ext cx="16230600" cy="2802306"/>
            <a:chOff x="0" y="0"/>
            <a:chExt cx="21640800" cy="3736408"/>
          </a:xfrm>
        </p:grpSpPr>
        <p:sp>
          <p:nvSpPr>
            <p:cNvPr id="150" name="Google Shape;150;p7"/>
            <p:cNvSpPr txBox="1"/>
            <p:nvPr/>
          </p:nvSpPr>
          <p:spPr>
            <a:xfrm>
              <a:off x="0" y="0"/>
              <a:ext cx="21640800" cy="800100"/>
            </a:xfrm>
            <a:prstGeom prst="rect">
              <a:avLst/>
            </a:prstGeom>
            <a:noFill/>
            <a:ln>
              <a:noFill/>
            </a:ln>
          </p:spPr>
          <p:txBody>
            <a:bodyPr anchorCtr="0" anchor="t" bIns="0" lIns="0" spcFirstLastPara="1" rIns="0" wrap="square" tIns="0">
              <a:spAutoFit/>
            </a:bodyPr>
            <a:lstStyle/>
            <a:p>
              <a:pPr indent="0" lvl="0" marL="0" marR="0" rtl="0" algn="ctr">
                <a:lnSpc>
                  <a:spcPct val="26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7"/>
            <p:cNvSpPr txBox="1"/>
            <p:nvPr/>
          </p:nvSpPr>
          <p:spPr>
            <a:xfrm>
              <a:off x="0" y="1685357"/>
              <a:ext cx="21640800" cy="20510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Los estados booleanos, los utilizamos para tener activo o inactivo algun servidor, un ejemplo de uso seria cuando tenemos un servidor en uso, podemos obtener el valor booleano si es verdadero o falso, de igual manera podemos utilizarlo como un switch.</a:t>
              </a:r>
              <a:endParaRPr/>
            </a:p>
          </p:txBody>
        </p:sp>
        <p:cxnSp>
          <p:nvCxnSpPr>
            <p:cNvPr id="152" name="Google Shape;152;p7"/>
            <p:cNvCxnSpPr/>
            <p:nvPr/>
          </p:nvCxnSpPr>
          <p:spPr>
            <a:xfrm>
              <a:off x="0" y="1271304"/>
              <a:ext cx="21640800" cy="0"/>
            </a:xfrm>
            <a:prstGeom prst="straightConnector1">
              <a:avLst/>
            </a:prstGeom>
            <a:noFill/>
            <a:ln cap="rnd" cmpd="sng" w="25400">
              <a:solidFill>
                <a:srgbClr val="10B5BF"/>
              </a:solidFill>
              <a:prstDash val="solid"/>
              <a:round/>
              <a:headEnd len="sm" w="sm" type="none"/>
              <a:tailEnd len="sm" w="sm" type="none"/>
            </a:ln>
          </p:spPr>
        </p:cxnSp>
      </p:grpSp>
      <p:sp>
        <p:nvSpPr>
          <p:cNvPr id="153" name="Google Shape;153;p7"/>
          <p:cNvSpPr/>
          <p:nvPr/>
        </p:nvSpPr>
        <p:spPr>
          <a:xfrm>
            <a:off x="5591995" y="4754626"/>
            <a:ext cx="7104009" cy="4503674"/>
          </a:xfrm>
          <a:custGeom>
            <a:rect b="b" l="l" r="r" t="t"/>
            <a:pathLst>
              <a:path extrusionOk="0" h="4503674" w="7104009">
                <a:moveTo>
                  <a:pt x="0" y="0"/>
                </a:moveTo>
                <a:lnTo>
                  <a:pt x="7104010" y="0"/>
                </a:lnTo>
                <a:lnTo>
                  <a:pt x="7104010" y="4503674"/>
                </a:lnTo>
                <a:lnTo>
                  <a:pt x="0" y="4503674"/>
                </a:lnTo>
                <a:lnTo>
                  <a:pt x="0" y="0"/>
                </a:lnTo>
                <a:close/>
              </a:path>
            </a:pathLst>
          </a:custGeom>
          <a:blipFill rotWithShape="1">
            <a:blip r:embed="rId3">
              <a:alphaModFix/>
            </a:blip>
            <a:stretch>
              <a:fillRect b="0" l="0" r="0" t="0"/>
            </a:stretch>
          </a:blipFill>
          <a:ln>
            <a:noFill/>
          </a:ln>
        </p:spPr>
      </p:sp>
      <p:grpSp>
        <p:nvGrpSpPr>
          <p:cNvPr id="154" name="Google Shape;154;p7"/>
          <p:cNvGrpSpPr/>
          <p:nvPr/>
        </p:nvGrpSpPr>
        <p:grpSpPr>
          <a:xfrm>
            <a:off x="1028700" y="300037"/>
            <a:ext cx="10113763" cy="1450183"/>
            <a:chOff x="0" y="-9525"/>
            <a:chExt cx="13485018" cy="1933576"/>
          </a:xfrm>
        </p:grpSpPr>
        <p:sp>
          <p:nvSpPr>
            <p:cNvPr id="155" name="Google Shape;155;p7"/>
            <p:cNvSpPr txBox="1"/>
            <p:nvPr/>
          </p:nvSpPr>
          <p:spPr>
            <a:xfrm>
              <a:off x="0" y="-9525"/>
              <a:ext cx="13485018"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DEFINICIONES</a:t>
              </a:r>
              <a:endParaRPr/>
            </a:p>
          </p:txBody>
        </p:sp>
        <p:sp>
          <p:nvSpPr>
            <p:cNvPr id="156" name="Google Shape;156;p7"/>
            <p:cNvSpPr txBox="1"/>
            <p:nvPr/>
          </p:nvSpPr>
          <p:spPr>
            <a:xfrm>
              <a:off x="0" y="1270000"/>
              <a:ext cx="13485018"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Boolean</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60" name="Shape 160"/>
        <p:cNvGrpSpPr/>
        <p:nvPr/>
      </p:nvGrpSpPr>
      <p:grpSpPr>
        <a:xfrm>
          <a:off x="0" y="0"/>
          <a:ext cx="0" cy="0"/>
          <a:chOff x="0" y="0"/>
          <a:chExt cx="0" cy="0"/>
        </a:xfrm>
      </p:grpSpPr>
      <p:grpSp>
        <p:nvGrpSpPr>
          <p:cNvPr id="161" name="Google Shape;161;p8"/>
          <p:cNvGrpSpPr/>
          <p:nvPr/>
        </p:nvGrpSpPr>
        <p:grpSpPr>
          <a:xfrm>
            <a:off x="1028700" y="1162433"/>
            <a:ext cx="16230600" cy="3326181"/>
            <a:chOff x="0" y="0"/>
            <a:chExt cx="21640800" cy="4434908"/>
          </a:xfrm>
        </p:grpSpPr>
        <p:sp>
          <p:nvSpPr>
            <p:cNvPr id="162" name="Google Shape;162;p8"/>
            <p:cNvSpPr txBox="1"/>
            <p:nvPr/>
          </p:nvSpPr>
          <p:spPr>
            <a:xfrm>
              <a:off x="0" y="0"/>
              <a:ext cx="21640800" cy="800100"/>
            </a:xfrm>
            <a:prstGeom prst="rect">
              <a:avLst/>
            </a:prstGeom>
            <a:noFill/>
            <a:ln>
              <a:noFill/>
            </a:ln>
          </p:spPr>
          <p:txBody>
            <a:bodyPr anchorCtr="0" anchor="t" bIns="0" lIns="0" spcFirstLastPara="1" rIns="0" wrap="square" tIns="0">
              <a:spAutoFit/>
            </a:bodyPr>
            <a:lstStyle/>
            <a:p>
              <a:pPr indent="0" lvl="0" marL="0" marR="0" rtl="0" algn="ctr">
                <a:lnSpc>
                  <a:spcPct val="26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8"/>
            <p:cNvSpPr txBox="1"/>
            <p:nvPr/>
          </p:nvSpPr>
          <p:spPr>
            <a:xfrm>
              <a:off x="0" y="1685357"/>
              <a:ext cx="21640800" cy="27495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Los estados Date Time, es un valor que representa una fecha y hora, un ejemplo para esta variable, puede ser el realizar una comparacion con el tiempo actual, una vez llegado esa hora y fecha, se ejecuta la funciona, ejemplo, una entrega, inicio de labores, cierre de la empresa, etc.</a:t>
              </a:r>
              <a:endParaRPr/>
            </a:p>
          </p:txBody>
        </p:sp>
        <p:cxnSp>
          <p:nvCxnSpPr>
            <p:cNvPr id="164" name="Google Shape;164;p8"/>
            <p:cNvCxnSpPr/>
            <p:nvPr/>
          </p:nvCxnSpPr>
          <p:spPr>
            <a:xfrm>
              <a:off x="0" y="1271304"/>
              <a:ext cx="21640800" cy="0"/>
            </a:xfrm>
            <a:prstGeom prst="straightConnector1">
              <a:avLst/>
            </a:prstGeom>
            <a:noFill/>
            <a:ln cap="rnd" cmpd="sng" w="25400">
              <a:solidFill>
                <a:srgbClr val="10B5BF"/>
              </a:solidFill>
              <a:prstDash val="solid"/>
              <a:round/>
              <a:headEnd len="sm" w="sm" type="none"/>
              <a:tailEnd len="sm" w="sm" type="none"/>
            </a:ln>
          </p:spPr>
        </p:cxnSp>
      </p:grpSp>
      <p:sp>
        <p:nvSpPr>
          <p:cNvPr id="165" name="Google Shape;165;p8"/>
          <p:cNvSpPr/>
          <p:nvPr/>
        </p:nvSpPr>
        <p:spPr>
          <a:xfrm>
            <a:off x="4966607" y="4974476"/>
            <a:ext cx="8354787" cy="4283824"/>
          </a:xfrm>
          <a:custGeom>
            <a:rect b="b" l="l" r="r" t="t"/>
            <a:pathLst>
              <a:path extrusionOk="0" h="4283824" w="8354787">
                <a:moveTo>
                  <a:pt x="0" y="0"/>
                </a:moveTo>
                <a:lnTo>
                  <a:pt x="8354786" y="0"/>
                </a:lnTo>
                <a:lnTo>
                  <a:pt x="8354786" y="4283824"/>
                </a:lnTo>
                <a:lnTo>
                  <a:pt x="0" y="4283824"/>
                </a:lnTo>
                <a:lnTo>
                  <a:pt x="0" y="0"/>
                </a:lnTo>
                <a:close/>
              </a:path>
            </a:pathLst>
          </a:custGeom>
          <a:blipFill rotWithShape="1">
            <a:blip r:embed="rId3">
              <a:alphaModFix/>
            </a:blip>
            <a:stretch>
              <a:fillRect b="0" l="0" r="0" t="0"/>
            </a:stretch>
          </a:blipFill>
          <a:ln>
            <a:noFill/>
          </a:ln>
        </p:spPr>
      </p:sp>
      <p:grpSp>
        <p:nvGrpSpPr>
          <p:cNvPr id="166" name="Google Shape;166;p8"/>
          <p:cNvGrpSpPr/>
          <p:nvPr/>
        </p:nvGrpSpPr>
        <p:grpSpPr>
          <a:xfrm>
            <a:off x="1028700" y="300037"/>
            <a:ext cx="10113763" cy="1450183"/>
            <a:chOff x="0" y="-9525"/>
            <a:chExt cx="13485018" cy="1933576"/>
          </a:xfrm>
        </p:grpSpPr>
        <p:sp>
          <p:nvSpPr>
            <p:cNvPr id="167" name="Google Shape;167;p8"/>
            <p:cNvSpPr txBox="1"/>
            <p:nvPr/>
          </p:nvSpPr>
          <p:spPr>
            <a:xfrm>
              <a:off x="0" y="-9525"/>
              <a:ext cx="13485018"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DEFINICIONES</a:t>
              </a:r>
              <a:endParaRPr/>
            </a:p>
          </p:txBody>
        </p:sp>
        <p:sp>
          <p:nvSpPr>
            <p:cNvPr id="168" name="Google Shape;168;p8"/>
            <p:cNvSpPr txBox="1"/>
            <p:nvPr/>
          </p:nvSpPr>
          <p:spPr>
            <a:xfrm>
              <a:off x="0" y="1270000"/>
              <a:ext cx="13485018"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Date Time</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72" name="Shape 172"/>
        <p:cNvGrpSpPr/>
        <p:nvPr/>
      </p:nvGrpSpPr>
      <p:grpSpPr>
        <a:xfrm>
          <a:off x="0" y="0"/>
          <a:ext cx="0" cy="0"/>
          <a:chOff x="0" y="0"/>
          <a:chExt cx="0" cy="0"/>
        </a:xfrm>
      </p:grpSpPr>
      <p:grpSp>
        <p:nvGrpSpPr>
          <p:cNvPr id="173" name="Google Shape;173;p9"/>
          <p:cNvGrpSpPr/>
          <p:nvPr/>
        </p:nvGrpSpPr>
        <p:grpSpPr>
          <a:xfrm>
            <a:off x="2571680" y="2937866"/>
            <a:ext cx="10489121" cy="5421681"/>
            <a:chOff x="0" y="0"/>
            <a:chExt cx="13985495" cy="7228908"/>
          </a:xfrm>
        </p:grpSpPr>
        <p:sp>
          <p:nvSpPr>
            <p:cNvPr id="174" name="Google Shape;174;p9"/>
            <p:cNvSpPr txBox="1"/>
            <p:nvPr/>
          </p:nvSpPr>
          <p:spPr>
            <a:xfrm>
              <a:off x="0" y="0"/>
              <a:ext cx="13985495" cy="800100"/>
            </a:xfrm>
            <a:prstGeom prst="rect">
              <a:avLst/>
            </a:prstGeom>
            <a:noFill/>
            <a:ln>
              <a:noFill/>
            </a:ln>
          </p:spPr>
          <p:txBody>
            <a:bodyPr anchorCtr="0" anchor="t" bIns="0" lIns="0" spcFirstLastPara="1" rIns="0" wrap="square" tIns="0">
              <a:spAutoFit/>
            </a:bodyPr>
            <a:lstStyle/>
            <a:p>
              <a:pPr indent="0" lvl="0" marL="0" marR="0" rtl="0" algn="ctr">
                <a:lnSpc>
                  <a:spcPct val="26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9"/>
            <p:cNvSpPr txBox="1"/>
            <p:nvPr/>
          </p:nvSpPr>
          <p:spPr>
            <a:xfrm>
              <a:off x="0" y="1685357"/>
              <a:ext cx="13985495" cy="55435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La pestaña "Processes" en SIMIO es una de las características fundamentales que te permite crear y diseñar el flujo de actividades y eventos en tu modelo de simulación. Los procesos son la representación lógica y secuencial de cómo las cosas suceden en el sistema que estás modelando. Pueden incluir arribos de entidades (como clientes en una cola),operaciones de procesamiento, montaje de productos y mucho más.</a:t>
              </a:r>
              <a:endParaRPr/>
            </a:p>
          </p:txBody>
        </p:sp>
        <p:cxnSp>
          <p:nvCxnSpPr>
            <p:cNvPr id="176" name="Google Shape;176;p9"/>
            <p:cNvCxnSpPr/>
            <p:nvPr/>
          </p:nvCxnSpPr>
          <p:spPr>
            <a:xfrm>
              <a:off x="0" y="1271304"/>
              <a:ext cx="13985495" cy="0"/>
            </a:xfrm>
            <a:prstGeom prst="straightConnector1">
              <a:avLst/>
            </a:prstGeom>
            <a:noFill/>
            <a:ln cap="rnd" cmpd="sng" w="25400">
              <a:solidFill>
                <a:srgbClr val="10B5BF"/>
              </a:solidFill>
              <a:prstDash val="solid"/>
              <a:round/>
              <a:headEnd len="sm" w="sm" type="none"/>
              <a:tailEnd len="sm" w="sm" type="none"/>
            </a:ln>
          </p:spPr>
        </p:cxnSp>
      </p:grpSp>
      <p:sp>
        <p:nvSpPr>
          <p:cNvPr id="177" name="Google Shape;177;p9"/>
          <p:cNvSpPr/>
          <p:nvPr/>
        </p:nvSpPr>
        <p:spPr>
          <a:xfrm>
            <a:off x="1802694" y="2282302"/>
            <a:ext cx="12027094" cy="655565"/>
          </a:xfrm>
          <a:custGeom>
            <a:rect b="b" l="l" r="r" t="t"/>
            <a:pathLst>
              <a:path extrusionOk="0" h="655565" w="12027094">
                <a:moveTo>
                  <a:pt x="0" y="0"/>
                </a:moveTo>
                <a:lnTo>
                  <a:pt x="12027094" y="0"/>
                </a:lnTo>
                <a:lnTo>
                  <a:pt x="12027094" y="655564"/>
                </a:lnTo>
                <a:lnTo>
                  <a:pt x="0" y="655564"/>
                </a:lnTo>
                <a:lnTo>
                  <a:pt x="0" y="0"/>
                </a:lnTo>
                <a:close/>
              </a:path>
            </a:pathLst>
          </a:custGeom>
          <a:blipFill rotWithShape="1">
            <a:blip r:embed="rId3">
              <a:alphaModFix/>
            </a:blip>
            <a:stretch>
              <a:fillRect b="0" l="0" r="0" t="0"/>
            </a:stretch>
          </a:blipFill>
          <a:ln>
            <a:noFill/>
          </a:ln>
        </p:spPr>
      </p:sp>
      <p:sp>
        <p:nvSpPr>
          <p:cNvPr id="178" name="Google Shape;178;p9"/>
          <p:cNvSpPr/>
          <p:nvPr/>
        </p:nvSpPr>
        <p:spPr>
          <a:xfrm>
            <a:off x="14420608" y="560008"/>
            <a:ext cx="2838692" cy="9166985"/>
          </a:xfrm>
          <a:custGeom>
            <a:rect b="b" l="l" r="r" t="t"/>
            <a:pathLst>
              <a:path extrusionOk="0" h="9166985" w="2838692">
                <a:moveTo>
                  <a:pt x="0" y="0"/>
                </a:moveTo>
                <a:lnTo>
                  <a:pt x="2838692" y="0"/>
                </a:lnTo>
                <a:lnTo>
                  <a:pt x="2838692" y="9166984"/>
                </a:lnTo>
                <a:lnTo>
                  <a:pt x="0" y="9166984"/>
                </a:lnTo>
                <a:lnTo>
                  <a:pt x="0" y="0"/>
                </a:lnTo>
                <a:close/>
              </a:path>
            </a:pathLst>
          </a:custGeom>
          <a:blipFill rotWithShape="1">
            <a:blip r:embed="rId4">
              <a:alphaModFix/>
            </a:blip>
            <a:stretch>
              <a:fillRect b="0" l="0" r="0" t="0"/>
            </a:stretch>
          </a:blipFill>
          <a:ln>
            <a:noFill/>
          </a:ln>
        </p:spPr>
      </p:sp>
      <p:grpSp>
        <p:nvGrpSpPr>
          <p:cNvPr id="179" name="Google Shape;179;p9"/>
          <p:cNvGrpSpPr/>
          <p:nvPr/>
        </p:nvGrpSpPr>
        <p:grpSpPr>
          <a:xfrm>
            <a:off x="1028700" y="300037"/>
            <a:ext cx="10113763" cy="1450183"/>
            <a:chOff x="0" y="-9525"/>
            <a:chExt cx="13485018" cy="1933576"/>
          </a:xfrm>
        </p:grpSpPr>
        <p:sp>
          <p:nvSpPr>
            <p:cNvPr id="180" name="Google Shape;180;p9"/>
            <p:cNvSpPr txBox="1"/>
            <p:nvPr/>
          </p:nvSpPr>
          <p:spPr>
            <a:xfrm>
              <a:off x="0" y="-9525"/>
              <a:ext cx="13485018"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PROCESOS</a:t>
              </a:r>
              <a:endParaRPr/>
            </a:p>
          </p:txBody>
        </p:sp>
        <p:sp>
          <p:nvSpPr>
            <p:cNvPr id="181" name="Google Shape;181;p9"/>
            <p:cNvSpPr txBox="1"/>
            <p:nvPr/>
          </p:nvSpPr>
          <p:spPr>
            <a:xfrm>
              <a:off x="0" y="1270000"/>
              <a:ext cx="13485018"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Processes</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85" name="Shape 185"/>
        <p:cNvGrpSpPr/>
        <p:nvPr/>
      </p:nvGrpSpPr>
      <p:grpSpPr>
        <a:xfrm>
          <a:off x="0" y="0"/>
          <a:ext cx="0" cy="0"/>
          <a:chOff x="0" y="0"/>
          <a:chExt cx="0" cy="0"/>
        </a:xfrm>
      </p:grpSpPr>
      <p:grpSp>
        <p:nvGrpSpPr>
          <p:cNvPr id="186" name="Google Shape;186;p10"/>
          <p:cNvGrpSpPr/>
          <p:nvPr/>
        </p:nvGrpSpPr>
        <p:grpSpPr>
          <a:xfrm>
            <a:off x="1943593" y="1646847"/>
            <a:ext cx="14400814" cy="6993306"/>
            <a:chOff x="0" y="0"/>
            <a:chExt cx="19201086" cy="9324408"/>
          </a:xfrm>
        </p:grpSpPr>
        <p:sp>
          <p:nvSpPr>
            <p:cNvPr id="187" name="Google Shape;187;p10"/>
            <p:cNvSpPr txBox="1"/>
            <p:nvPr/>
          </p:nvSpPr>
          <p:spPr>
            <a:xfrm>
              <a:off x="0" y="0"/>
              <a:ext cx="19201086" cy="800100"/>
            </a:xfrm>
            <a:prstGeom prst="rect">
              <a:avLst/>
            </a:prstGeom>
            <a:noFill/>
            <a:ln>
              <a:noFill/>
            </a:ln>
          </p:spPr>
          <p:txBody>
            <a:bodyPr anchorCtr="0" anchor="t" bIns="0" lIns="0" spcFirstLastPara="1" rIns="0" wrap="square" tIns="0">
              <a:spAutoFit/>
            </a:bodyPr>
            <a:lstStyle/>
            <a:p>
              <a:pPr indent="0" lvl="0" marL="0" marR="0" rtl="0" algn="ctr">
                <a:lnSpc>
                  <a:spcPct val="26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0"/>
            <p:cNvSpPr txBox="1"/>
            <p:nvPr/>
          </p:nvSpPr>
          <p:spPr>
            <a:xfrm>
              <a:off x="0" y="1685357"/>
              <a:ext cx="19201086" cy="76390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Los procesos son esenciales porque te permiten capturar la dinámica temporal y el comportamiento de tu sistema a lo largo del tiempo. Imagina que estás modelando una línea de producción: los procesos te permiten definir qué actividades ocurren en qué orden, cuánto tiempo lleva cada actividad y cómo interactúan los recursos.</a:t>
              </a:r>
              <a:endParaRPr/>
            </a:p>
            <a:p>
              <a:pPr indent="0" lvl="0" marL="0" marR="0" rtl="0" algn="just">
                <a:lnSpc>
                  <a:spcPct val="140013"/>
                </a:lnSpc>
                <a:spcBef>
                  <a:spcPts val="0"/>
                </a:spcBef>
                <a:spcAft>
                  <a:spcPts val="0"/>
                </a:spcAft>
                <a:buNone/>
              </a:pPr>
              <a:r>
                <a:t/>
              </a:r>
              <a:endParaRPr b="0" i="0" sz="2999" u="none" cap="none" strike="noStrike">
                <a:solidFill>
                  <a:srgbClr val="FFFFFF"/>
                </a:solidFill>
                <a:latin typeface="Poppins Light"/>
                <a:ea typeface="Poppins Light"/>
                <a:cs typeface="Poppins Light"/>
                <a:sym typeface="Poppins Light"/>
              </a:endParaRPr>
            </a:p>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La pestaña "Processes" proporciona una interfaz visual en la que puedes crear, editar y conectar eventos, actividades y rutas para construir el flujo lógico de tu sistema. Puedes pensar en ello como la forma en que "programas" la simulación para que se comporte como el sistema real queestás analizando.</a:t>
              </a:r>
              <a:endParaRPr/>
            </a:p>
          </p:txBody>
        </p:sp>
        <p:cxnSp>
          <p:nvCxnSpPr>
            <p:cNvPr id="189" name="Google Shape;189;p10"/>
            <p:cNvCxnSpPr/>
            <p:nvPr/>
          </p:nvCxnSpPr>
          <p:spPr>
            <a:xfrm>
              <a:off x="0" y="1271304"/>
              <a:ext cx="19201086" cy="0"/>
            </a:xfrm>
            <a:prstGeom prst="straightConnector1">
              <a:avLst/>
            </a:prstGeom>
            <a:noFill/>
            <a:ln cap="rnd" cmpd="sng" w="25400">
              <a:solidFill>
                <a:srgbClr val="10B5BF"/>
              </a:solidFill>
              <a:prstDash val="solid"/>
              <a:round/>
              <a:headEnd len="sm" w="sm" type="none"/>
              <a:tailEnd len="sm" w="sm" type="none"/>
            </a:ln>
          </p:spPr>
        </p:cxnSp>
      </p:grpSp>
      <p:grpSp>
        <p:nvGrpSpPr>
          <p:cNvPr id="190" name="Google Shape;190;p10"/>
          <p:cNvGrpSpPr/>
          <p:nvPr/>
        </p:nvGrpSpPr>
        <p:grpSpPr>
          <a:xfrm>
            <a:off x="1028700" y="300037"/>
            <a:ext cx="10113763" cy="1450183"/>
            <a:chOff x="0" y="-9525"/>
            <a:chExt cx="13485018" cy="1933576"/>
          </a:xfrm>
        </p:grpSpPr>
        <p:sp>
          <p:nvSpPr>
            <p:cNvPr id="191" name="Google Shape;191;p10"/>
            <p:cNvSpPr txBox="1"/>
            <p:nvPr/>
          </p:nvSpPr>
          <p:spPr>
            <a:xfrm>
              <a:off x="0" y="-9525"/>
              <a:ext cx="13485018"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PROCESOS</a:t>
              </a:r>
              <a:endParaRPr/>
            </a:p>
          </p:txBody>
        </p:sp>
        <p:sp>
          <p:nvSpPr>
            <p:cNvPr id="192" name="Google Shape;192;p10"/>
            <p:cNvSpPr txBox="1"/>
            <p:nvPr/>
          </p:nvSpPr>
          <p:spPr>
            <a:xfrm>
              <a:off x="0" y="1270000"/>
              <a:ext cx="13485018"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Processes</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96" name="Shape 196"/>
        <p:cNvGrpSpPr/>
        <p:nvPr/>
      </p:nvGrpSpPr>
      <p:grpSpPr>
        <a:xfrm>
          <a:off x="0" y="0"/>
          <a:ext cx="0" cy="0"/>
          <a:chOff x="0" y="0"/>
          <a:chExt cx="0" cy="0"/>
        </a:xfrm>
      </p:grpSpPr>
      <p:grpSp>
        <p:nvGrpSpPr>
          <p:cNvPr id="197" name="Google Shape;197;p11"/>
          <p:cNvGrpSpPr/>
          <p:nvPr/>
        </p:nvGrpSpPr>
        <p:grpSpPr>
          <a:xfrm>
            <a:off x="2090206" y="1750219"/>
            <a:ext cx="14107587" cy="5945556"/>
            <a:chOff x="0" y="0"/>
            <a:chExt cx="18810116" cy="7927408"/>
          </a:xfrm>
        </p:grpSpPr>
        <p:sp>
          <p:nvSpPr>
            <p:cNvPr id="198" name="Google Shape;198;p11"/>
            <p:cNvSpPr txBox="1"/>
            <p:nvPr/>
          </p:nvSpPr>
          <p:spPr>
            <a:xfrm>
              <a:off x="0" y="0"/>
              <a:ext cx="18810116" cy="800100"/>
            </a:xfrm>
            <a:prstGeom prst="rect">
              <a:avLst/>
            </a:prstGeom>
            <a:noFill/>
            <a:ln>
              <a:noFill/>
            </a:ln>
          </p:spPr>
          <p:txBody>
            <a:bodyPr anchorCtr="0" anchor="t" bIns="0" lIns="0" spcFirstLastPara="1" rIns="0" wrap="square" tIns="0">
              <a:spAutoFit/>
            </a:bodyPr>
            <a:lstStyle/>
            <a:p>
              <a:pPr indent="0" lvl="0" marL="0" marR="0" rtl="0" algn="ctr">
                <a:lnSpc>
                  <a:spcPct val="26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1"/>
            <p:cNvSpPr txBox="1"/>
            <p:nvPr/>
          </p:nvSpPr>
          <p:spPr>
            <a:xfrm>
              <a:off x="0" y="1685357"/>
              <a:ext cx="18810116" cy="62420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Podemos utilizar la lógica condicional en los procesos para tomar decisiones basadas en el estado actual del sistema. Por ejemplo, podrías dirigir a una entidad por diferentes caminos dependiendo de ciertas condiciones.</a:t>
              </a:r>
              <a:endParaRPr/>
            </a:p>
            <a:p>
              <a:pPr indent="0" lvl="0" marL="0" marR="0" rtl="0" algn="just">
                <a:lnSpc>
                  <a:spcPct val="140013"/>
                </a:lnSpc>
                <a:spcBef>
                  <a:spcPts val="0"/>
                </a:spcBef>
                <a:spcAft>
                  <a:spcPts val="0"/>
                </a:spcAft>
                <a:buNone/>
              </a:pPr>
              <a:r>
                <a:t/>
              </a:r>
              <a:endParaRPr b="0" i="0" sz="2999" u="none" cap="none" strike="noStrike">
                <a:solidFill>
                  <a:srgbClr val="FFFFFF"/>
                </a:solidFill>
                <a:latin typeface="Poppins Light"/>
                <a:ea typeface="Poppins Light"/>
                <a:cs typeface="Poppins Light"/>
                <a:sym typeface="Poppins Light"/>
              </a:endParaRPr>
            </a:p>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Los procesos permiten capturar los detalles temporales, como el tiempo que lleva realizar una actividad o el tiempo entre los arribos de entidades. Esto es fundamental para comprender el rendimiento y la eficiencia del sistema.</a:t>
              </a:r>
              <a:endParaRPr/>
            </a:p>
          </p:txBody>
        </p:sp>
        <p:cxnSp>
          <p:nvCxnSpPr>
            <p:cNvPr id="200" name="Google Shape;200;p11"/>
            <p:cNvCxnSpPr/>
            <p:nvPr/>
          </p:nvCxnSpPr>
          <p:spPr>
            <a:xfrm>
              <a:off x="0" y="1271304"/>
              <a:ext cx="18810116" cy="0"/>
            </a:xfrm>
            <a:prstGeom prst="straightConnector1">
              <a:avLst/>
            </a:prstGeom>
            <a:noFill/>
            <a:ln cap="rnd" cmpd="sng" w="25400">
              <a:solidFill>
                <a:srgbClr val="10B5BF"/>
              </a:solidFill>
              <a:prstDash val="solid"/>
              <a:round/>
              <a:headEnd len="sm" w="sm" type="none"/>
              <a:tailEnd len="sm" w="sm" type="none"/>
            </a:ln>
          </p:spPr>
        </p:cxnSp>
      </p:grpSp>
      <p:grpSp>
        <p:nvGrpSpPr>
          <p:cNvPr id="201" name="Google Shape;201;p11"/>
          <p:cNvGrpSpPr/>
          <p:nvPr/>
        </p:nvGrpSpPr>
        <p:grpSpPr>
          <a:xfrm>
            <a:off x="1028700" y="300037"/>
            <a:ext cx="10113763" cy="1450183"/>
            <a:chOff x="0" y="-9525"/>
            <a:chExt cx="13485018" cy="1933576"/>
          </a:xfrm>
        </p:grpSpPr>
        <p:sp>
          <p:nvSpPr>
            <p:cNvPr id="202" name="Google Shape;202;p11"/>
            <p:cNvSpPr txBox="1"/>
            <p:nvPr/>
          </p:nvSpPr>
          <p:spPr>
            <a:xfrm>
              <a:off x="0" y="-9525"/>
              <a:ext cx="13485018"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PROCESOS</a:t>
              </a:r>
              <a:endParaRPr/>
            </a:p>
          </p:txBody>
        </p:sp>
        <p:sp>
          <p:nvSpPr>
            <p:cNvPr id="203" name="Google Shape;203;p11"/>
            <p:cNvSpPr txBox="1"/>
            <p:nvPr/>
          </p:nvSpPr>
          <p:spPr>
            <a:xfrm>
              <a:off x="0" y="1270000"/>
              <a:ext cx="13485018" cy="654051"/>
            </a:xfrm>
            <a:prstGeom prst="rect">
              <a:avLst/>
            </a:prstGeom>
            <a:noFill/>
            <a:ln>
              <a:noFill/>
            </a:ln>
          </p:spPr>
          <p:txBody>
            <a:bodyPr anchorCtr="0" anchor="t" bIns="0" lIns="0" spcFirstLastPara="1" rIns="0" wrap="square" tIns="0">
              <a:spAutoFit/>
            </a:bodyPr>
            <a:lstStyle/>
            <a:p>
              <a:pPr indent="0" lvl="0" marL="0" marR="0" rtl="0" algn="l">
                <a:lnSpc>
                  <a:spcPct val="23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07" name="Shape 207"/>
        <p:cNvGrpSpPr/>
        <p:nvPr/>
      </p:nvGrpSpPr>
      <p:grpSpPr>
        <a:xfrm>
          <a:off x="0" y="0"/>
          <a:ext cx="0" cy="0"/>
          <a:chOff x="0" y="0"/>
          <a:chExt cx="0" cy="0"/>
        </a:xfrm>
      </p:grpSpPr>
      <p:grpSp>
        <p:nvGrpSpPr>
          <p:cNvPr id="208" name="Google Shape;208;p12"/>
          <p:cNvGrpSpPr/>
          <p:nvPr/>
        </p:nvGrpSpPr>
        <p:grpSpPr>
          <a:xfrm>
            <a:off x="1028700" y="2000968"/>
            <a:ext cx="16230600" cy="5945556"/>
            <a:chOff x="0" y="0"/>
            <a:chExt cx="21640800" cy="7927408"/>
          </a:xfrm>
        </p:grpSpPr>
        <p:sp>
          <p:nvSpPr>
            <p:cNvPr id="209" name="Google Shape;209;p12"/>
            <p:cNvSpPr txBox="1"/>
            <p:nvPr/>
          </p:nvSpPr>
          <p:spPr>
            <a:xfrm>
              <a:off x="0" y="0"/>
              <a:ext cx="21640800" cy="800100"/>
            </a:xfrm>
            <a:prstGeom prst="rect">
              <a:avLst/>
            </a:prstGeom>
            <a:noFill/>
            <a:ln>
              <a:noFill/>
            </a:ln>
          </p:spPr>
          <p:txBody>
            <a:bodyPr anchorCtr="0" anchor="t" bIns="0" lIns="0" spcFirstLastPara="1" rIns="0" wrap="square" tIns="0">
              <a:spAutoFit/>
            </a:bodyPr>
            <a:lstStyle/>
            <a:p>
              <a:pPr indent="0" lvl="0" marL="0" marR="0" rtl="0" algn="ctr">
                <a:lnSpc>
                  <a:spcPct val="26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12"/>
            <p:cNvSpPr txBox="1"/>
            <p:nvPr/>
          </p:nvSpPr>
          <p:spPr>
            <a:xfrm>
              <a:off x="0" y="1685357"/>
              <a:ext cx="21640800" cy="62420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El crear procesos es una manera tan sencilla, ya que no tenemos que programar lo que necesitamos, simplemente arrastar y soltar para crear el proceso y configurar lo que necesitamos.</a:t>
              </a:r>
              <a:endParaRPr/>
            </a:p>
            <a:p>
              <a:pPr indent="0" lvl="0" marL="0" marR="0" rtl="0" algn="just">
                <a:lnSpc>
                  <a:spcPct val="140013"/>
                </a:lnSpc>
                <a:spcBef>
                  <a:spcPts val="0"/>
                </a:spcBef>
                <a:spcAft>
                  <a:spcPts val="0"/>
                </a:spcAft>
                <a:buNone/>
              </a:pPr>
              <a:r>
                <a:t/>
              </a:r>
              <a:endParaRPr b="0" i="0" sz="2999" u="none" cap="none" strike="noStrike">
                <a:solidFill>
                  <a:srgbClr val="FFFFFF"/>
                </a:solidFill>
                <a:latin typeface="Poppins Light"/>
                <a:ea typeface="Poppins Light"/>
                <a:cs typeface="Poppins Light"/>
                <a:sym typeface="Poppins Light"/>
              </a:endParaRPr>
            </a:p>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Ejemplos de como utilizar estos procesos:</a:t>
              </a:r>
              <a:endParaRPr/>
            </a:p>
            <a:p>
              <a:pPr indent="-323847" lvl="1" marL="647697" marR="0" rtl="0" algn="just">
                <a:lnSpc>
                  <a:spcPct val="140013"/>
                </a:lnSpc>
                <a:spcBef>
                  <a:spcPts val="0"/>
                </a:spcBef>
                <a:spcAft>
                  <a:spcPts val="0"/>
                </a:spcAft>
                <a:buClr>
                  <a:srgbClr val="FFFFFF"/>
                </a:buClr>
                <a:buSzPts val="2999"/>
                <a:buFont typeface="Arial"/>
                <a:buChar char="•"/>
              </a:pPr>
              <a:r>
                <a:rPr b="0" i="0" lang="en-US" sz="2999" u="none" cap="none" strike="noStrike">
                  <a:solidFill>
                    <a:srgbClr val="FFFFFF"/>
                  </a:solidFill>
                  <a:latin typeface="Poppins Light"/>
                  <a:ea typeface="Poppins Light"/>
                  <a:cs typeface="Poppins Light"/>
                  <a:sym typeface="Poppins Light"/>
                </a:rPr>
                <a:t>Para realizar un contador</a:t>
              </a:r>
              <a:endParaRPr/>
            </a:p>
            <a:p>
              <a:pPr indent="-323847" lvl="1" marL="647697" marR="0" rtl="0" algn="just">
                <a:lnSpc>
                  <a:spcPct val="140013"/>
                </a:lnSpc>
                <a:spcBef>
                  <a:spcPts val="0"/>
                </a:spcBef>
                <a:spcAft>
                  <a:spcPts val="0"/>
                </a:spcAft>
                <a:buClr>
                  <a:srgbClr val="FFFFFF"/>
                </a:buClr>
                <a:buSzPts val="2999"/>
                <a:buFont typeface="Arial"/>
                <a:buChar char="•"/>
              </a:pPr>
              <a:r>
                <a:rPr b="0" i="0" lang="en-US" sz="2999" u="none" cap="none" strike="noStrike">
                  <a:solidFill>
                    <a:srgbClr val="FFFFFF"/>
                  </a:solidFill>
                  <a:latin typeface="Poppins Light"/>
                  <a:ea typeface="Poppins Light"/>
                  <a:cs typeface="Poppins Light"/>
                  <a:sym typeface="Poppins Light"/>
                </a:rPr>
                <a:t>Generar Delays para calculos</a:t>
              </a:r>
              <a:endParaRPr/>
            </a:p>
            <a:p>
              <a:pPr indent="-323847" lvl="1" marL="647697" marR="0" rtl="0" algn="just">
                <a:lnSpc>
                  <a:spcPct val="140013"/>
                </a:lnSpc>
                <a:spcBef>
                  <a:spcPts val="0"/>
                </a:spcBef>
                <a:spcAft>
                  <a:spcPts val="0"/>
                </a:spcAft>
                <a:buClr>
                  <a:srgbClr val="FFFFFF"/>
                </a:buClr>
                <a:buSzPts val="2999"/>
                <a:buFont typeface="Arial"/>
                <a:buChar char="•"/>
              </a:pPr>
              <a:r>
                <a:rPr b="0" i="0" lang="en-US" sz="2999" u="none" cap="none" strike="noStrike">
                  <a:solidFill>
                    <a:srgbClr val="FFFFFF"/>
                  </a:solidFill>
                  <a:latin typeface="Poppins Light"/>
                  <a:ea typeface="Poppins Light"/>
                  <a:cs typeface="Poppins Light"/>
                  <a:sym typeface="Poppins Light"/>
                </a:rPr>
                <a:t>Asignar valores a una o muchas variables</a:t>
              </a:r>
              <a:endParaRPr/>
            </a:p>
            <a:p>
              <a:pPr indent="-323847" lvl="1" marL="647697" marR="0" rtl="0" algn="just">
                <a:lnSpc>
                  <a:spcPct val="140013"/>
                </a:lnSpc>
                <a:spcBef>
                  <a:spcPts val="0"/>
                </a:spcBef>
                <a:spcAft>
                  <a:spcPts val="0"/>
                </a:spcAft>
                <a:buClr>
                  <a:srgbClr val="FFFFFF"/>
                </a:buClr>
                <a:buSzPts val="2999"/>
                <a:buFont typeface="Arial"/>
                <a:buChar char="•"/>
              </a:pPr>
              <a:r>
                <a:rPr b="0" i="0" lang="en-US" sz="2999" u="none" cap="none" strike="noStrike">
                  <a:solidFill>
                    <a:srgbClr val="FFFFFF"/>
                  </a:solidFill>
                  <a:latin typeface="Poppins Light"/>
                  <a:ea typeface="Poppins Light"/>
                  <a:cs typeface="Poppins Light"/>
                  <a:sym typeface="Poppins Light"/>
                </a:rPr>
                <a:t>Crear condiciones (tipo IF)</a:t>
              </a:r>
              <a:endParaRPr/>
            </a:p>
          </p:txBody>
        </p:sp>
        <p:cxnSp>
          <p:nvCxnSpPr>
            <p:cNvPr id="211" name="Google Shape;211;p12"/>
            <p:cNvCxnSpPr/>
            <p:nvPr/>
          </p:nvCxnSpPr>
          <p:spPr>
            <a:xfrm>
              <a:off x="0" y="1271304"/>
              <a:ext cx="21640800" cy="0"/>
            </a:xfrm>
            <a:prstGeom prst="straightConnector1">
              <a:avLst/>
            </a:prstGeom>
            <a:noFill/>
            <a:ln cap="rnd" cmpd="sng" w="25400">
              <a:solidFill>
                <a:srgbClr val="10B5BF"/>
              </a:solidFill>
              <a:prstDash val="solid"/>
              <a:round/>
              <a:headEnd len="sm" w="sm" type="none"/>
              <a:tailEnd len="sm" w="sm" type="none"/>
            </a:ln>
          </p:spPr>
        </p:cxnSp>
      </p:grpSp>
      <p:sp>
        <p:nvSpPr>
          <p:cNvPr id="212" name="Google Shape;212;p12"/>
          <p:cNvSpPr/>
          <p:nvPr/>
        </p:nvSpPr>
        <p:spPr>
          <a:xfrm>
            <a:off x="10485035" y="5143500"/>
            <a:ext cx="7134298" cy="2872573"/>
          </a:xfrm>
          <a:custGeom>
            <a:rect b="b" l="l" r="r" t="t"/>
            <a:pathLst>
              <a:path extrusionOk="0" h="2872573" w="7134298">
                <a:moveTo>
                  <a:pt x="0" y="0"/>
                </a:moveTo>
                <a:lnTo>
                  <a:pt x="7134299" y="0"/>
                </a:lnTo>
                <a:lnTo>
                  <a:pt x="7134299" y="2872573"/>
                </a:lnTo>
                <a:lnTo>
                  <a:pt x="0" y="2872573"/>
                </a:lnTo>
                <a:lnTo>
                  <a:pt x="0" y="0"/>
                </a:lnTo>
                <a:close/>
              </a:path>
            </a:pathLst>
          </a:custGeom>
          <a:blipFill rotWithShape="1">
            <a:blip r:embed="rId3">
              <a:alphaModFix/>
            </a:blip>
            <a:stretch>
              <a:fillRect b="0" l="0" r="-22960" t="0"/>
            </a:stretch>
          </a:blipFill>
          <a:ln>
            <a:noFill/>
          </a:ln>
        </p:spPr>
      </p:sp>
      <p:grpSp>
        <p:nvGrpSpPr>
          <p:cNvPr id="213" name="Google Shape;213;p12"/>
          <p:cNvGrpSpPr/>
          <p:nvPr/>
        </p:nvGrpSpPr>
        <p:grpSpPr>
          <a:xfrm>
            <a:off x="1028700" y="300037"/>
            <a:ext cx="10113763" cy="1450183"/>
            <a:chOff x="0" y="-9525"/>
            <a:chExt cx="13485018" cy="1933576"/>
          </a:xfrm>
        </p:grpSpPr>
        <p:sp>
          <p:nvSpPr>
            <p:cNvPr id="214" name="Google Shape;214;p12"/>
            <p:cNvSpPr txBox="1"/>
            <p:nvPr/>
          </p:nvSpPr>
          <p:spPr>
            <a:xfrm>
              <a:off x="0" y="-9525"/>
              <a:ext cx="13485018"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PROCESOS</a:t>
              </a:r>
              <a:endParaRPr/>
            </a:p>
          </p:txBody>
        </p:sp>
        <p:sp>
          <p:nvSpPr>
            <p:cNvPr id="215" name="Google Shape;215;p12"/>
            <p:cNvSpPr txBox="1"/>
            <p:nvPr/>
          </p:nvSpPr>
          <p:spPr>
            <a:xfrm>
              <a:off x="0" y="1270000"/>
              <a:ext cx="13485018"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Donde y como se pueden utilizar?</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19" name="Shape 219"/>
        <p:cNvGrpSpPr/>
        <p:nvPr/>
      </p:nvGrpSpPr>
      <p:grpSpPr>
        <a:xfrm>
          <a:off x="0" y="0"/>
          <a:ext cx="0" cy="0"/>
          <a:chOff x="0" y="0"/>
          <a:chExt cx="0" cy="0"/>
        </a:xfrm>
      </p:grpSpPr>
      <p:sp>
        <p:nvSpPr>
          <p:cNvPr id="220" name="Google Shape;220;g2d528c6bf86_2_0"/>
          <p:cNvSpPr txBox="1"/>
          <p:nvPr/>
        </p:nvSpPr>
        <p:spPr>
          <a:xfrm>
            <a:off x="4718225" y="3741738"/>
            <a:ext cx="8851500" cy="3232200"/>
          </a:xfrm>
          <a:prstGeom prst="rect">
            <a:avLst/>
          </a:prstGeom>
          <a:noFill/>
          <a:ln>
            <a:noFill/>
          </a:ln>
        </p:spPr>
        <p:txBody>
          <a:bodyPr anchorCtr="0" anchor="t" bIns="0" lIns="0" spcFirstLastPara="1" rIns="0" wrap="square" tIns="0">
            <a:spAutoFit/>
          </a:bodyPr>
          <a:lstStyle/>
          <a:p>
            <a:pPr indent="0" lvl="0" marL="0" marR="0" rtl="0" algn="ctr">
              <a:lnSpc>
                <a:spcPct val="110001"/>
              </a:lnSpc>
              <a:spcBef>
                <a:spcPts val="0"/>
              </a:spcBef>
              <a:spcAft>
                <a:spcPts val="0"/>
              </a:spcAft>
              <a:buNone/>
            </a:pPr>
            <a:r>
              <a:rPr b="1" lang="en-US" sz="9999">
                <a:solidFill>
                  <a:srgbClr val="FFFFFF"/>
                </a:solidFill>
                <a:latin typeface="Poppins"/>
                <a:ea typeface="Poppins"/>
                <a:cs typeface="Poppins"/>
                <a:sym typeface="Poppins"/>
              </a:rPr>
              <a:t>BALKING &amp; RENEGING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24" name="Shape 224"/>
        <p:cNvGrpSpPr/>
        <p:nvPr/>
      </p:nvGrpSpPr>
      <p:grpSpPr>
        <a:xfrm>
          <a:off x="0" y="0"/>
          <a:ext cx="0" cy="0"/>
          <a:chOff x="0" y="0"/>
          <a:chExt cx="0" cy="0"/>
        </a:xfrm>
      </p:grpSpPr>
      <p:grpSp>
        <p:nvGrpSpPr>
          <p:cNvPr id="225" name="Google Shape;225;g2d528c6bf86_2_5"/>
          <p:cNvGrpSpPr/>
          <p:nvPr/>
        </p:nvGrpSpPr>
        <p:grpSpPr>
          <a:xfrm>
            <a:off x="1028700" y="2000968"/>
            <a:ext cx="16230600" cy="4612693"/>
            <a:chOff x="0" y="0"/>
            <a:chExt cx="21640800" cy="6150257"/>
          </a:xfrm>
        </p:grpSpPr>
        <p:sp>
          <p:nvSpPr>
            <p:cNvPr id="226" name="Google Shape;226;g2d528c6bf86_2_5"/>
            <p:cNvSpPr txBox="1"/>
            <p:nvPr/>
          </p:nvSpPr>
          <p:spPr>
            <a:xfrm>
              <a:off x="0" y="0"/>
              <a:ext cx="21640800" cy="369300"/>
            </a:xfrm>
            <a:prstGeom prst="rect">
              <a:avLst/>
            </a:prstGeom>
            <a:noFill/>
            <a:ln>
              <a:noFill/>
            </a:ln>
          </p:spPr>
          <p:txBody>
            <a:bodyPr anchorCtr="0" anchor="t" bIns="0" lIns="0" spcFirstLastPara="1" rIns="0" wrap="square" tIns="0">
              <a:spAutoFit/>
            </a:bodyPr>
            <a:lstStyle/>
            <a:p>
              <a:pPr indent="0" lvl="0" marL="0" marR="0" rtl="0" algn="ctr">
                <a:lnSpc>
                  <a:spcPct val="26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g2d528c6bf86_2_5"/>
            <p:cNvSpPr txBox="1"/>
            <p:nvPr/>
          </p:nvSpPr>
          <p:spPr>
            <a:xfrm>
              <a:off x="0" y="1685357"/>
              <a:ext cx="21640800" cy="44649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t/>
              </a:r>
              <a:endParaRPr/>
            </a:p>
            <a:p>
              <a:pPr indent="-419036" lvl="1" marL="914400" rtl="0" algn="just">
                <a:lnSpc>
                  <a:spcPct val="140013"/>
                </a:lnSpc>
                <a:spcBef>
                  <a:spcPts val="0"/>
                </a:spcBef>
                <a:spcAft>
                  <a:spcPts val="0"/>
                </a:spcAft>
                <a:buClr>
                  <a:srgbClr val="FFFFFF"/>
                </a:buClr>
                <a:buSzPts val="2999"/>
                <a:buChar char="•"/>
              </a:pPr>
              <a:r>
                <a:rPr lang="en-US" sz="2999">
                  <a:solidFill>
                    <a:srgbClr val="FFFFFF"/>
                  </a:solidFill>
                  <a:latin typeface="Poppins Light"/>
                  <a:ea typeface="Poppins Light"/>
                  <a:cs typeface="Poppins Light"/>
                  <a:sym typeface="Poppins Light"/>
                </a:rPr>
                <a:t>Propiedad de Objetos Servidor </a:t>
              </a:r>
              <a:endParaRPr sz="2999">
                <a:solidFill>
                  <a:srgbClr val="FFFFFF"/>
                </a:solidFill>
                <a:latin typeface="Poppins Light"/>
                <a:ea typeface="Poppins Light"/>
                <a:cs typeface="Poppins Light"/>
                <a:sym typeface="Poppins Light"/>
              </a:endParaRPr>
            </a:p>
            <a:p>
              <a:pPr indent="-419036" lvl="1" marL="914400" rtl="0" algn="just">
                <a:lnSpc>
                  <a:spcPct val="140013"/>
                </a:lnSpc>
                <a:spcBef>
                  <a:spcPts val="0"/>
                </a:spcBef>
                <a:spcAft>
                  <a:spcPts val="0"/>
                </a:spcAft>
                <a:buClr>
                  <a:srgbClr val="FFFFFF"/>
                </a:buClr>
                <a:buSzPts val="2999"/>
                <a:buChar char="•"/>
              </a:pPr>
              <a:r>
                <a:rPr lang="en-US" sz="2999">
                  <a:solidFill>
                    <a:srgbClr val="FFFFFF"/>
                  </a:solidFill>
                  <a:latin typeface="Poppins Light"/>
                  <a:ea typeface="Poppins Light"/>
                  <a:cs typeface="Poppins Light"/>
                  <a:sym typeface="Poppins Light"/>
                </a:rPr>
                <a:t>Sirve para establecer directamente en los Buffer si una entidad será procesada o no </a:t>
              </a:r>
              <a:endParaRPr sz="2999">
                <a:solidFill>
                  <a:srgbClr val="FFFFFF"/>
                </a:solidFill>
                <a:latin typeface="Poppins Light"/>
                <a:ea typeface="Poppins Light"/>
                <a:cs typeface="Poppins Light"/>
                <a:sym typeface="Poppins Light"/>
              </a:endParaRPr>
            </a:p>
            <a:p>
              <a:pPr indent="-419036" lvl="1" marL="914400" rtl="0" algn="just">
                <a:lnSpc>
                  <a:spcPct val="140013"/>
                </a:lnSpc>
                <a:spcBef>
                  <a:spcPts val="0"/>
                </a:spcBef>
                <a:spcAft>
                  <a:spcPts val="0"/>
                </a:spcAft>
                <a:buClr>
                  <a:srgbClr val="FFFFFF"/>
                </a:buClr>
                <a:buSzPts val="2999"/>
                <a:buChar char="•"/>
              </a:pPr>
              <a:r>
                <a:rPr lang="en-US" sz="2999">
                  <a:solidFill>
                    <a:srgbClr val="FFFFFF"/>
                  </a:solidFill>
                  <a:latin typeface="Poppins Light"/>
                  <a:ea typeface="Poppins Light"/>
                  <a:cs typeface="Poppins Light"/>
                  <a:sym typeface="Poppins Light"/>
                </a:rPr>
                <a:t>Blocked, Conditional or Probabilistic </a:t>
              </a:r>
              <a:endParaRPr sz="2999">
                <a:solidFill>
                  <a:srgbClr val="FFFFFF"/>
                </a:solidFill>
                <a:latin typeface="Poppins Light"/>
                <a:ea typeface="Poppins Light"/>
                <a:cs typeface="Poppins Light"/>
                <a:sym typeface="Poppins Light"/>
              </a:endParaRPr>
            </a:p>
            <a:p>
              <a:pPr indent="0" lvl="0" marL="914400" rtl="0" algn="just">
                <a:lnSpc>
                  <a:spcPct val="140013"/>
                </a:lnSpc>
                <a:spcBef>
                  <a:spcPts val="0"/>
                </a:spcBef>
                <a:spcAft>
                  <a:spcPts val="0"/>
                </a:spcAft>
                <a:buNone/>
              </a:pPr>
              <a:r>
                <a:t/>
              </a:r>
              <a:endParaRPr sz="2999">
                <a:solidFill>
                  <a:srgbClr val="FFFFFF"/>
                </a:solidFill>
                <a:latin typeface="Poppins Light"/>
                <a:ea typeface="Poppins Light"/>
                <a:cs typeface="Poppins Light"/>
                <a:sym typeface="Poppins Light"/>
              </a:endParaRPr>
            </a:p>
          </p:txBody>
        </p:sp>
        <p:cxnSp>
          <p:nvCxnSpPr>
            <p:cNvPr id="228" name="Google Shape;228;g2d528c6bf86_2_5"/>
            <p:cNvCxnSpPr/>
            <p:nvPr/>
          </p:nvCxnSpPr>
          <p:spPr>
            <a:xfrm>
              <a:off x="0" y="1271304"/>
              <a:ext cx="21640800" cy="0"/>
            </a:xfrm>
            <a:prstGeom prst="straightConnector1">
              <a:avLst/>
            </a:prstGeom>
            <a:noFill/>
            <a:ln cap="rnd" cmpd="sng" w="25400">
              <a:solidFill>
                <a:srgbClr val="10B5BF"/>
              </a:solidFill>
              <a:prstDash val="solid"/>
              <a:round/>
              <a:headEnd len="sm" w="sm" type="none"/>
              <a:tailEnd len="sm" w="sm" type="none"/>
            </a:ln>
          </p:spPr>
        </p:cxnSp>
      </p:grpSp>
      <p:grpSp>
        <p:nvGrpSpPr>
          <p:cNvPr id="229" name="Google Shape;229;g2d528c6bf86_2_5"/>
          <p:cNvGrpSpPr/>
          <p:nvPr/>
        </p:nvGrpSpPr>
        <p:grpSpPr>
          <a:xfrm>
            <a:off x="1028700" y="300037"/>
            <a:ext cx="10113750" cy="1231425"/>
            <a:chOff x="0" y="-9525"/>
            <a:chExt cx="13485000" cy="1641900"/>
          </a:xfrm>
        </p:grpSpPr>
        <p:sp>
          <p:nvSpPr>
            <p:cNvPr id="230" name="Google Shape;230;g2d528c6bf86_2_5"/>
            <p:cNvSpPr txBox="1"/>
            <p:nvPr/>
          </p:nvSpPr>
          <p:spPr>
            <a:xfrm>
              <a:off x="0" y="-9525"/>
              <a:ext cx="13485000" cy="1641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Font typeface="Arial"/>
                <a:buNone/>
              </a:pPr>
              <a:r>
                <a:rPr lang="en-US" sz="8000">
                  <a:solidFill>
                    <a:srgbClr val="FFFFFF"/>
                  </a:solidFill>
                  <a:latin typeface="Poppins Medium"/>
                  <a:ea typeface="Poppins Medium"/>
                  <a:cs typeface="Poppins Medium"/>
                  <a:sym typeface="Poppins Medium"/>
                </a:rPr>
                <a:t>BALKING</a:t>
              </a:r>
              <a:endParaRPr/>
            </a:p>
          </p:txBody>
        </p:sp>
        <p:sp>
          <p:nvSpPr>
            <p:cNvPr id="231" name="Google Shape;231;g2d528c6bf86_2_5"/>
            <p:cNvSpPr txBox="1"/>
            <p:nvPr/>
          </p:nvSpPr>
          <p:spPr>
            <a:xfrm>
              <a:off x="0" y="1270000"/>
              <a:ext cx="13485000" cy="2874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t/>
              </a:r>
              <a:endParaRPr/>
            </a:p>
          </p:txBody>
        </p:sp>
      </p:grpSp>
      <p:pic>
        <p:nvPicPr>
          <p:cNvPr id="232" name="Google Shape;232;g2d528c6bf86_2_5"/>
          <p:cNvPicPr preferRelativeResize="0"/>
          <p:nvPr/>
        </p:nvPicPr>
        <p:blipFill rotWithShape="1">
          <a:blip r:embed="rId3">
            <a:alphaModFix/>
          </a:blip>
          <a:srcRect b="0" l="0" r="0" t="0"/>
          <a:stretch/>
        </p:blipFill>
        <p:spPr>
          <a:xfrm>
            <a:off x="9334871" y="5097346"/>
            <a:ext cx="7692475" cy="4092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36" name="Shape 236"/>
        <p:cNvGrpSpPr/>
        <p:nvPr/>
      </p:nvGrpSpPr>
      <p:grpSpPr>
        <a:xfrm>
          <a:off x="0" y="0"/>
          <a:ext cx="0" cy="0"/>
          <a:chOff x="0" y="0"/>
          <a:chExt cx="0" cy="0"/>
        </a:xfrm>
      </p:grpSpPr>
      <p:grpSp>
        <p:nvGrpSpPr>
          <p:cNvPr id="237" name="Google Shape;237;g2d528c6bf86_2_19"/>
          <p:cNvGrpSpPr/>
          <p:nvPr/>
        </p:nvGrpSpPr>
        <p:grpSpPr>
          <a:xfrm>
            <a:off x="1028700" y="2000968"/>
            <a:ext cx="16230600" cy="4031293"/>
            <a:chOff x="0" y="0"/>
            <a:chExt cx="21640800" cy="5375057"/>
          </a:xfrm>
        </p:grpSpPr>
        <p:sp>
          <p:nvSpPr>
            <p:cNvPr id="238" name="Google Shape;238;g2d528c6bf86_2_19"/>
            <p:cNvSpPr txBox="1"/>
            <p:nvPr/>
          </p:nvSpPr>
          <p:spPr>
            <a:xfrm>
              <a:off x="0" y="0"/>
              <a:ext cx="21640800" cy="369300"/>
            </a:xfrm>
            <a:prstGeom prst="rect">
              <a:avLst/>
            </a:prstGeom>
            <a:noFill/>
            <a:ln>
              <a:noFill/>
            </a:ln>
          </p:spPr>
          <p:txBody>
            <a:bodyPr anchorCtr="0" anchor="t" bIns="0" lIns="0" spcFirstLastPara="1" rIns="0" wrap="square" tIns="0">
              <a:spAutoFit/>
            </a:bodyPr>
            <a:lstStyle/>
            <a:p>
              <a:pPr indent="0" lvl="0" marL="0" marR="0" rtl="0" algn="ctr">
                <a:lnSpc>
                  <a:spcPct val="26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g2d528c6bf86_2_19"/>
            <p:cNvSpPr txBox="1"/>
            <p:nvPr/>
          </p:nvSpPr>
          <p:spPr>
            <a:xfrm>
              <a:off x="0" y="1685357"/>
              <a:ext cx="21640800" cy="3689700"/>
            </a:xfrm>
            <a:prstGeom prst="rect">
              <a:avLst/>
            </a:prstGeom>
            <a:noFill/>
            <a:ln>
              <a:noFill/>
            </a:ln>
          </p:spPr>
          <p:txBody>
            <a:bodyPr anchorCtr="0" anchor="t" bIns="0" lIns="0" spcFirstLastPara="1" rIns="0" wrap="square" tIns="0">
              <a:spAutoFit/>
            </a:bodyPr>
            <a:lstStyle/>
            <a:p>
              <a:pPr indent="-488886" lvl="1" marL="914400" rtl="0" algn="just">
                <a:lnSpc>
                  <a:spcPct val="140013"/>
                </a:lnSpc>
                <a:spcBef>
                  <a:spcPts val="0"/>
                </a:spcBef>
                <a:spcAft>
                  <a:spcPts val="0"/>
                </a:spcAft>
                <a:buClr>
                  <a:schemeClr val="lt1"/>
                </a:buClr>
                <a:buSzPts val="4099"/>
                <a:buChar char="•"/>
              </a:pPr>
              <a:r>
                <a:rPr lang="en-US" sz="2500">
                  <a:solidFill>
                    <a:schemeClr val="lt1"/>
                  </a:solidFill>
                </a:rPr>
                <a:t>Propiedad de Objetos Servidor </a:t>
              </a:r>
              <a:endParaRPr sz="2500">
                <a:solidFill>
                  <a:schemeClr val="lt1"/>
                </a:solidFill>
              </a:endParaRPr>
            </a:p>
            <a:p>
              <a:pPr indent="-488886" lvl="1" marL="914400" rtl="0" algn="just">
                <a:lnSpc>
                  <a:spcPct val="140013"/>
                </a:lnSpc>
                <a:spcBef>
                  <a:spcPts val="0"/>
                </a:spcBef>
                <a:spcAft>
                  <a:spcPts val="0"/>
                </a:spcAft>
                <a:buClr>
                  <a:schemeClr val="lt1"/>
                </a:buClr>
                <a:buSzPts val="4099"/>
                <a:buChar char="•"/>
              </a:pPr>
              <a:r>
                <a:rPr lang="en-US" sz="2500">
                  <a:solidFill>
                    <a:schemeClr val="lt1"/>
                  </a:solidFill>
                </a:rPr>
                <a:t>Sirve para establecer si una entidad será procesada en los Buffer en base a un tiempo de duración de la entidad en ellos o en base a un evento</a:t>
              </a:r>
              <a:endParaRPr sz="2500">
                <a:solidFill>
                  <a:schemeClr val="lt1"/>
                </a:solidFill>
              </a:endParaRPr>
            </a:p>
            <a:p>
              <a:pPr indent="0" lvl="0" marL="914400" rtl="0" algn="just">
                <a:lnSpc>
                  <a:spcPct val="140013"/>
                </a:lnSpc>
                <a:spcBef>
                  <a:spcPts val="0"/>
                </a:spcBef>
                <a:spcAft>
                  <a:spcPts val="0"/>
                </a:spcAft>
                <a:buNone/>
              </a:pPr>
              <a:r>
                <a:t/>
              </a:r>
              <a:endParaRPr sz="2999">
                <a:solidFill>
                  <a:srgbClr val="FFFFFF"/>
                </a:solidFill>
                <a:latin typeface="Poppins Light"/>
                <a:ea typeface="Poppins Light"/>
                <a:cs typeface="Poppins Light"/>
                <a:sym typeface="Poppins Light"/>
              </a:endParaRPr>
            </a:p>
          </p:txBody>
        </p:sp>
        <p:cxnSp>
          <p:nvCxnSpPr>
            <p:cNvPr id="240" name="Google Shape;240;g2d528c6bf86_2_19"/>
            <p:cNvCxnSpPr/>
            <p:nvPr/>
          </p:nvCxnSpPr>
          <p:spPr>
            <a:xfrm>
              <a:off x="0" y="1271304"/>
              <a:ext cx="21640800" cy="0"/>
            </a:xfrm>
            <a:prstGeom prst="straightConnector1">
              <a:avLst/>
            </a:prstGeom>
            <a:noFill/>
            <a:ln cap="rnd" cmpd="sng" w="25400">
              <a:solidFill>
                <a:srgbClr val="10B5BF"/>
              </a:solidFill>
              <a:prstDash val="solid"/>
              <a:round/>
              <a:headEnd len="sm" w="sm" type="none"/>
              <a:tailEnd len="sm" w="sm" type="none"/>
            </a:ln>
          </p:spPr>
        </p:cxnSp>
      </p:grpSp>
      <p:grpSp>
        <p:nvGrpSpPr>
          <p:cNvPr id="241" name="Google Shape;241;g2d528c6bf86_2_19"/>
          <p:cNvGrpSpPr/>
          <p:nvPr/>
        </p:nvGrpSpPr>
        <p:grpSpPr>
          <a:xfrm>
            <a:off x="1028700" y="300037"/>
            <a:ext cx="10113750" cy="1231425"/>
            <a:chOff x="0" y="-9525"/>
            <a:chExt cx="13485000" cy="1641900"/>
          </a:xfrm>
        </p:grpSpPr>
        <p:sp>
          <p:nvSpPr>
            <p:cNvPr id="242" name="Google Shape;242;g2d528c6bf86_2_19"/>
            <p:cNvSpPr txBox="1"/>
            <p:nvPr/>
          </p:nvSpPr>
          <p:spPr>
            <a:xfrm>
              <a:off x="0" y="-9525"/>
              <a:ext cx="13485000" cy="1641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Font typeface="Arial"/>
                <a:buNone/>
              </a:pPr>
              <a:r>
                <a:rPr lang="en-US" sz="8000">
                  <a:solidFill>
                    <a:srgbClr val="FFFFFF"/>
                  </a:solidFill>
                  <a:latin typeface="Poppins Medium"/>
                  <a:ea typeface="Poppins Medium"/>
                  <a:cs typeface="Poppins Medium"/>
                  <a:sym typeface="Poppins Medium"/>
                </a:rPr>
                <a:t>RENEGING</a:t>
              </a:r>
              <a:endParaRPr/>
            </a:p>
          </p:txBody>
        </p:sp>
        <p:sp>
          <p:nvSpPr>
            <p:cNvPr id="243" name="Google Shape;243;g2d528c6bf86_2_19"/>
            <p:cNvSpPr txBox="1"/>
            <p:nvPr/>
          </p:nvSpPr>
          <p:spPr>
            <a:xfrm>
              <a:off x="0" y="1270000"/>
              <a:ext cx="13485000" cy="2874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t/>
              </a:r>
              <a:endParaRPr/>
            </a:p>
          </p:txBody>
        </p:sp>
      </p:grpSp>
      <p:pic>
        <p:nvPicPr>
          <p:cNvPr id="244" name="Google Shape;244;g2d528c6bf86_2_19"/>
          <p:cNvPicPr preferRelativeResize="0"/>
          <p:nvPr/>
        </p:nvPicPr>
        <p:blipFill rotWithShape="1">
          <a:blip r:embed="rId3">
            <a:alphaModFix/>
          </a:blip>
          <a:srcRect b="0" l="0" r="0" t="0"/>
          <a:stretch/>
        </p:blipFill>
        <p:spPr>
          <a:xfrm>
            <a:off x="9334871" y="5097346"/>
            <a:ext cx="7692475" cy="4092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48" name="Shape 248"/>
        <p:cNvGrpSpPr/>
        <p:nvPr/>
      </p:nvGrpSpPr>
      <p:grpSpPr>
        <a:xfrm>
          <a:off x="0" y="0"/>
          <a:ext cx="0" cy="0"/>
          <a:chOff x="0" y="0"/>
          <a:chExt cx="0" cy="0"/>
        </a:xfrm>
      </p:grpSpPr>
      <p:sp>
        <p:nvSpPr>
          <p:cNvPr id="249" name="Google Shape;249;p13"/>
          <p:cNvSpPr txBox="1"/>
          <p:nvPr/>
        </p:nvSpPr>
        <p:spPr>
          <a:xfrm>
            <a:off x="1487970" y="4380443"/>
            <a:ext cx="15312000" cy="1641900"/>
          </a:xfrm>
          <a:prstGeom prst="rect">
            <a:avLst/>
          </a:prstGeom>
          <a:noFill/>
          <a:ln>
            <a:noFill/>
          </a:ln>
        </p:spPr>
        <p:txBody>
          <a:bodyPr anchorCtr="0" anchor="t" bIns="0" lIns="0" spcFirstLastPara="1" rIns="0" wrap="square" tIns="0">
            <a:spAutoFit/>
          </a:bodyPr>
          <a:lstStyle/>
          <a:p>
            <a:pPr indent="0" lvl="0" marL="0" marR="0" rtl="0" algn="ctr">
              <a:lnSpc>
                <a:spcPct val="109994"/>
              </a:lnSpc>
              <a:spcBef>
                <a:spcPts val="0"/>
              </a:spcBef>
              <a:spcAft>
                <a:spcPts val="0"/>
              </a:spcAft>
              <a:buNone/>
            </a:pPr>
            <a:r>
              <a:rPr b="1" i="0" lang="en-US" sz="10666" u="none" cap="none" strike="noStrike">
                <a:solidFill>
                  <a:srgbClr val="FFFFFF"/>
                </a:solidFill>
                <a:latin typeface="Poppins"/>
                <a:ea typeface="Poppins"/>
                <a:cs typeface="Poppins"/>
                <a:sym typeface="Poppins"/>
              </a:rPr>
              <a:t>Hora del ejemplo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53" name="Shape 253"/>
        <p:cNvGrpSpPr/>
        <p:nvPr/>
      </p:nvGrpSpPr>
      <p:grpSpPr>
        <a:xfrm>
          <a:off x="0" y="0"/>
          <a:ext cx="0" cy="0"/>
          <a:chOff x="0" y="0"/>
          <a:chExt cx="0" cy="0"/>
        </a:xfrm>
      </p:grpSpPr>
      <p:sp>
        <p:nvSpPr>
          <p:cNvPr id="254" name="Google Shape;254;p14"/>
          <p:cNvSpPr txBox="1"/>
          <p:nvPr/>
        </p:nvSpPr>
        <p:spPr>
          <a:xfrm>
            <a:off x="1487970" y="193517"/>
            <a:ext cx="15312059" cy="1526113"/>
          </a:xfrm>
          <a:prstGeom prst="rect">
            <a:avLst/>
          </a:prstGeom>
          <a:noFill/>
          <a:ln>
            <a:noFill/>
          </a:ln>
        </p:spPr>
        <p:txBody>
          <a:bodyPr anchorCtr="0" anchor="t" bIns="0" lIns="0" spcFirstLastPara="1" rIns="0" wrap="square" tIns="0">
            <a:spAutoFit/>
          </a:bodyPr>
          <a:lstStyle/>
          <a:p>
            <a:pPr indent="0" lvl="0" marL="0" marR="0" rtl="0" algn="ctr">
              <a:lnSpc>
                <a:spcPct val="109994"/>
              </a:lnSpc>
              <a:spcBef>
                <a:spcPts val="0"/>
              </a:spcBef>
              <a:spcAft>
                <a:spcPts val="0"/>
              </a:spcAft>
              <a:buNone/>
            </a:pPr>
            <a:r>
              <a:rPr b="1" i="0" lang="en-US" sz="10666" u="none" cap="none" strike="noStrike">
                <a:solidFill>
                  <a:srgbClr val="FFFFFF"/>
                </a:solidFill>
                <a:latin typeface="Poppins"/>
                <a:ea typeface="Poppins"/>
                <a:cs typeface="Poppins"/>
                <a:sym typeface="Poppins"/>
              </a:rPr>
              <a:t>Ejemplo</a:t>
            </a:r>
            <a:endParaRPr/>
          </a:p>
        </p:txBody>
      </p:sp>
      <p:sp>
        <p:nvSpPr>
          <p:cNvPr id="255" name="Google Shape;255;p14"/>
          <p:cNvSpPr txBox="1"/>
          <p:nvPr/>
        </p:nvSpPr>
        <p:spPr>
          <a:xfrm>
            <a:off x="1760092" y="2051937"/>
            <a:ext cx="14767800" cy="1280700"/>
          </a:xfrm>
          <a:prstGeom prst="rect">
            <a:avLst/>
          </a:prstGeom>
          <a:noFill/>
          <a:ln>
            <a:noFill/>
          </a:ln>
        </p:spPr>
        <p:txBody>
          <a:bodyPr anchorCtr="0" anchor="t" bIns="0" lIns="0" spcFirstLastPara="1" rIns="0" wrap="square" tIns="0">
            <a:spAutoFit/>
          </a:bodyPr>
          <a:lstStyle/>
          <a:p>
            <a:pPr indent="0" lvl="0" marL="914400" marR="0" rtl="0" algn="just">
              <a:lnSpc>
                <a:spcPct val="110000"/>
              </a:lnSpc>
              <a:spcBef>
                <a:spcPts val="0"/>
              </a:spcBef>
              <a:spcAft>
                <a:spcPts val="0"/>
              </a:spcAft>
              <a:buNone/>
            </a:pPr>
            <a:r>
              <a:rPr lang="en-US" sz="2600">
                <a:solidFill>
                  <a:srgbClr val="FFFFFF"/>
                </a:solidFill>
                <a:latin typeface="Poppins Medium"/>
                <a:ea typeface="Poppins Medium"/>
                <a:cs typeface="Poppins Medium"/>
                <a:sym typeface="Poppins Medium"/>
              </a:rPr>
              <a:t>En una empresa que se dedica a fabricar tornillos, llegan pedidos a razón de 30 órdenes por hora siguiendo una distribución de Poisson. Las órdenes llegan con una cantidad aleatoria de 3 tipos de tornillos de la siguiente manera.</a:t>
            </a:r>
            <a:endParaRPr/>
          </a:p>
        </p:txBody>
      </p:sp>
      <p:graphicFrame>
        <p:nvGraphicFramePr>
          <p:cNvPr id="256" name="Google Shape;256;p14"/>
          <p:cNvGraphicFramePr/>
          <p:nvPr/>
        </p:nvGraphicFramePr>
        <p:xfrm>
          <a:off x="2709025" y="3923200"/>
          <a:ext cx="3000000" cy="3000000"/>
        </p:xfrm>
        <a:graphic>
          <a:graphicData uri="http://schemas.openxmlformats.org/drawingml/2006/table">
            <a:tbl>
              <a:tblPr>
                <a:noFill/>
                <a:tableStyleId>{AA33ABF0-B2C1-43F7-A968-4F13EB96BEC8}</a:tableStyleId>
              </a:tblPr>
              <a:tblGrid>
                <a:gridCol w="6772325"/>
                <a:gridCol w="6772325"/>
              </a:tblGrid>
              <a:tr h="1095625">
                <a:tc>
                  <a:txBody>
                    <a:bodyPr/>
                    <a:lstStyle/>
                    <a:p>
                      <a:pPr indent="0" lvl="0" marL="0" marR="0" rtl="0" algn="ctr">
                        <a:lnSpc>
                          <a:spcPct val="100000"/>
                        </a:lnSpc>
                        <a:spcBef>
                          <a:spcPts val="0"/>
                        </a:spcBef>
                        <a:spcAft>
                          <a:spcPts val="0"/>
                        </a:spcAft>
                        <a:buClr>
                          <a:srgbClr val="000000"/>
                        </a:buClr>
                        <a:buSzPts val="1400"/>
                        <a:buFont typeface="Arial"/>
                        <a:buNone/>
                      </a:pPr>
                      <a:r>
                        <a:rPr b="1" lang="en-US" sz="3000" u="none" cap="none" strike="noStrike">
                          <a:solidFill>
                            <a:srgbClr val="FFFFFF"/>
                          </a:solidFill>
                        </a:rPr>
                        <a:t>Tipo</a:t>
                      </a:r>
                      <a:endParaRPr b="1" sz="3000" u="none" cap="none" strike="noStrike">
                        <a:solidFill>
                          <a:srgbClr val="FFFFFF"/>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3000" u="none" cap="none" strike="noStrike">
                          <a:solidFill>
                            <a:srgbClr val="FFFFFF"/>
                          </a:solidFill>
                        </a:rPr>
                        <a:t>Cantidad</a:t>
                      </a:r>
                      <a:endParaRPr b="1" sz="3000" u="none" cap="none" strike="noStrike">
                        <a:solidFill>
                          <a:srgbClr val="FFFFFF"/>
                        </a:solidFill>
                      </a:endParaRPr>
                    </a:p>
                  </a:txBody>
                  <a:tcPr marT="91425" marB="91425" marR="91425" marL="91425"/>
                </a:tc>
              </a:tr>
              <a:tr h="1095625">
                <a:tc>
                  <a:txBody>
                    <a:bodyPr/>
                    <a:lstStyle/>
                    <a:p>
                      <a:pPr indent="0" lvl="0" marL="0" marR="0" rtl="0" algn="ctr">
                        <a:lnSpc>
                          <a:spcPct val="100000"/>
                        </a:lnSpc>
                        <a:spcBef>
                          <a:spcPts val="0"/>
                        </a:spcBef>
                        <a:spcAft>
                          <a:spcPts val="0"/>
                        </a:spcAft>
                        <a:buClr>
                          <a:srgbClr val="000000"/>
                        </a:buClr>
                        <a:buSzPts val="1400"/>
                        <a:buFont typeface="Arial"/>
                        <a:buNone/>
                      </a:pPr>
                      <a:r>
                        <a:rPr b="1" lang="en-US" sz="3000" u="none" cap="none" strike="noStrike">
                          <a:solidFill>
                            <a:srgbClr val="FFFFFF"/>
                          </a:solidFill>
                        </a:rPr>
                        <a:t>Tipo 1</a:t>
                      </a:r>
                      <a:endParaRPr b="1" sz="3000" u="none" cap="none" strike="noStrike">
                        <a:solidFill>
                          <a:srgbClr val="FFFFFF"/>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3000" u="none" cap="none" strike="noStrike">
                          <a:solidFill>
                            <a:srgbClr val="FFFFFF"/>
                          </a:solidFill>
                        </a:rPr>
                        <a:t>0-25</a:t>
                      </a:r>
                      <a:endParaRPr b="1" sz="3000" u="none" cap="none" strike="noStrike">
                        <a:solidFill>
                          <a:srgbClr val="FFFFFF"/>
                        </a:solidFill>
                      </a:endParaRPr>
                    </a:p>
                  </a:txBody>
                  <a:tcPr marT="91425" marB="91425" marR="91425" marL="91425"/>
                </a:tc>
              </a:tr>
              <a:tr h="1095625">
                <a:tc>
                  <a:txBody>
                    <a:bodyPr/>
                    <a:lstStyle/>
                    <a:p>
                      <a:pPr indent="0" lvl="0" marL="0" marR="0" rtl="0" algn="ctr">
                        <a:lnSpc>
                          <a:spcPct val="100000"/>
                        </a:lnSpc>
                        <a:spcBef>
                          <a:spcPts val="0"/>
                        </a:spcBef>
                        <a:spcAft>
                          <a:spcPts val="0"/>
                        </a:spcAft>
                        <a:buClr>
                          <a:srgbClr val="000000"/>
                        </a:buClr>
                        <a:buSzPts val="1400"/>
                        <a:buFont typeface="Arial"/>
                        <a:buNone/>
                      </a:pPr>
                      <a:r>
                        <a:rPr b="1" lang="en-US" sz="3000" u="none" cap="none" strike="noStrike">
                          <a:solidFill>
                            <a:srgbClr val="FFFFFF"/>
                          </a:solidFill>
                        </a:rPr>
                        <a:t>Tipo 2 </a:t>
                      </a:r>
                      <a:endParaRPr b="1" sz="3000" u="none" cap="none" strike="noStrike">
                        <a:solidFill>
                          <a:srgbClr val="FFFFFF"/>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3000" u="none" cap="none" strike="noStrike">
                          <a:solidFill>
                            <a:srgbClr val="FFFFFF"/>
                          </a:solidFill>
                        </a:rPr>
                        <a:t>5-50</a:t>
                      </a:r>
                      <a:endParaRPr b="1" sz="3000" u="none" cap="none" strike="noStrike">
                        <a:solidFill>
                          <a:srgbClr val="FFFFFF"/>
                        </a:solidFill>
                      </a:endParaRPr>
                    </a:p>
                  </a:txBody>
                  <a:tcPr marT="91425" marB="91425" marR="91425" marL="91425"/>
                </a:tc>
              </a:tr>
              <a:tr h="1095625">
                <a:tc>
                  <a:txBody>
                    <a:bodyPr/>
                    <a:lstStyle/>
                    <a:p>
                      <a:pPr indent="0" lvl="0" marL="0" marR="0" rtl="0" algn="ctr">
                        <a:lnSpc>
                          <a:spcPct val="100000"/>
                        </a:lnSpc>
                        <a:spcBef>
                          <a:spcPts val="0"/>
                        </a:spcBef>
                        <a:spcAft>
                          <a:spcPts val="0"/>
                        </a:spcAft>
                        <a:buClr>
                          <a:srgbClr val="000000"/>
                        </a:buClr>
                        <a:buSzPts val="1400"/>
                        <a:buFont typeface="Arial"/>
                        <a:buNone/>
                      </a:pPr>
                      <a:r>
                        <a:rPr b="1" lang="en-US" sz="3000" u="none" cap="none" strike="noStrike">
                          <a:solidFill>
                            <a:srgbClr val="FFFFFF"/>
                          </a:solidFill>
                        </a:rPr>
                        <a:t>Tipo 3</a:t>
                      </a:r>
                      <a:endParaRPr b="1" sz="3000" u="none" cap="none" strike="noStrike">
                        <a:solidFill>
                          <a:srgbClr val="FFFFFF"/>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3000" u="none" cap="none" strike="noStrike">
                          <a:solidFill>
                            <a:srgbClr val="FFFFFF"/>
                          </a:solidFill>
                        </a:rPr>
                        <a:t>4-32</a:t>
                      </a:r>
                      <a:endParaRPr b="1" sz="3000" u="none" cap="none" strike="noStrike">
                        <a:solidFill>
                          <a:srgbClr val="FFFFFF"/>
                        </a:solidFill>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60" name="Shape 260"/>
        <p:cNvGrpSpPr/>
        <p:nvPr/>
      </p:nvGrpSpPr>
      <p:grpSpPr>
        <a:xfrm>
          <a:off x="0" y="0"/>
          <a:ext cx="0" cy="0"/>
          <a:chOff x="0" y="0"/>
          <a:chExt cx="0" cy="0"/>
        </a:xfrm>
      </p:grpSpPr>
      <p:sp>
        <p:nvSpPr>
          <p:cNvPr id="261" name="Google Shape;261;g2d528c6bf86_0_3"/>
          <p:cNvSpPr txBox="1"/>
          <p:nvPr/>
        </p:nvSpPr>
        <p:spPr>
          <a:xfrm>
            <a:off x="1487970" y="193517"/>
            <a:ext cx="15312000" cy="1641900"/>
          </a:xfrm>
          <a:prstGeom prst="rect">
            <a:avLst/>
          </a:prstGeom>
          <a:noFill/>
          <a:ln>
            <a:noFill/>
          </a:ln>
        </p:spPr>
        <p:txBody>
          <a:bodyPr anchorCtr="0" anchor="t" bIns="0" lIns="0" spcFirstLastPara="1" rIns="0" wrap="square" tIns="0">
            <a:spAutoFit/>
          </a:bodyPr>
          <a:lstStyle/>
          <a:p>
            <a:pPr indent="0" lvl="0" marL="0" marR="0" rtl="0" algn="ctr">
              <a:lnSpc>
                <a:spcPct val="109994"/>
              </a:lnSpc>
              <a:spcBef>
                <a:spcPts val="0"/>
              </a:spcBef>
              <a:spcAft>
                <a:spcPts val="0"/>
              </a:spcAft>
              <a:buNone/>
            </a:pPr>
            <a:r>
              <a:rPr b="1" i="0" lang="en-US" sz="10666" u="none" cap="none" strike="noStrike">
                <a:solidFill>
                  <a:srgbClr val="FFFFFF"/>
                </a:solidFill>
                <a:latin typeface="Poppins"/>
                <a:ea typeface="Poppins"/>
                <a:cs typeface="Poppins"/>
                <a:sym typeface="Poppins"/>
              </a:rPr>
              <a:t>Ejemplo</a:t>
            </a:r>
            <a:endParaRPr/>
          </a:p>
        </p:txBody>
      </p:sp>
      <p:sp>
        <p:nvSpPr>
          <p:cNvPr id="262" name="Google Shape;262;g2d528c6bf86_0_3"/>
          <p:cNvSpPr txBox="1"/>
          <p:nvPr/>
        </p:nvSpPr>
        <p:spPr>
          <a:xfrm>
            <a:off x="1760092" y="2109837"/>
            <a:ext cx="14767800" cy="1280700"/>
          </a:xfrm>
          <a:prstGeom prst="rect">
            <a:avLst/>
          </a:prstGeom>
          <a:noFill/>
          <a:ln>
            <a:noFill/>
          </a:ln>
        </p:spPr>
        <p:txBody>
          <a:bodyPr anchorCtr="0" anchor="t" bIns="0" lIns="0" spcFirstLastPara="1" rIns="0" wrap="square" tIns="0">
            <a:spAutoFit/>
          </a:bodyPr>
          <a:lstStyle/>
          <a:p>
            <a:pPr indent="0" lvl="0" marL="914400" marR="0" rtl="0" algn="just">
              <a:lnSpc>
                <a:spcPct val="110000"/>
              </a:lnSpc>
              <a:spcBef>
                <a:spcPts val="0"/>
              </a:spcBef>
              <a:spcAft>
                <a:spcPts val="0"/>
              </a:spcAft>
              <a:buNone/>
            </a:pPr>
            <a:r>
              <a:rPr lang="en-US" sz="2600">
                <a:solidFill>
                  <a:srgbClr val="FFFFFF"/>
                </a:solidFill>
                <a:latin typeface="Poppins Medium"/>
                <a:ea typeface="Poppins Medium"/>
                <a:cs typeface="Poppins Medium"/>
                <a:sym typeface="Poppins Medium"/>
              </a:rPr>
              <a:t>Cada orden pasa por un operario donde se revisa la orden, registro o búsqueda del cliente y luego asignar la orden para despacho, estas tareas tienen la siguiente tasa de servicio en segundos siguiendo una distribución exponencial.</a:t>
            </a:r>
            <a:endParaRPr/>
          </a:p>
        </p:txBody>
      </p:sp>
      <p:graphicFrame>
        <p:nvGraphicFramePr>
          <p:cNvPr id="263" name="Google Shape;263;g2d528c6bf86_0_3"/>
          <p:cNvGraphicFramePr/>
          <p:nvPr/>
        </p:nvGraphicFramePr>
        <p:xfrm>
          <a:off x="2760275" y="3858350"/>
          <a:ext cx="3000000" cy="3000000"/>
        </p:xfrm>
        <a:graphic>
          <a:graphicData uri="http://schemas.openxmlformats.org/drawingml/2006/table">
            <a:tbl>
              <a:tblPr>
                <a:noFill/>
                <a:tableStyleId>{AA33ABF0-B2C1-43F7-A968-4F13EB96BEC8}</a:tableStyleId>
              </a:tblPr>
              <a:tblGrid>
                <a:gridCol w="6772325"/>
                <a:gridCol w="6772325"/>
              </a:tblGrid>
              <a:tr h="1436375">
                <a:tc>
                  <a:txBody>
                    <a:bodyPr/>
                    <a:lstStyle/>
                    <a:p>
                      <a:pPr indent="0" lvl="0" marL="0" marR="0" rtl="0" algn="ctr">
                        <a:lnSpc>
                          <a:spcPct val="100000"/>
                        </a:lnSpc>
                        <a:spcBef>
                          <a:spcPts val="0"/>
                        </a:spcBef>
                        <a:spcAft>
                          <a:spcPts val="0"/>
                        </a:spcAft>
                        <a:buClr>
                          <a:srgbClr val="000000"/>
                        </a:buClr>
                        <a:buSzPts val="1400"/>
                        <a:buFont typeface="Arial"/>
                        <a:buNone/>
                      </a:pPr>
                      <a:r>
                        <a:rPr b="1" lang="en-US" sz="3200" u="none" cap="none" strike="noStrike">
                          <a:solidFill>
                            <a:srgbClr val="FFFFFF"/>
                          </a:solidFill>
                        </a:rPr>
                        <a:t>Revisión</a:t>
                      </a:r>
                      <a:endParaRPr b="1" sz="3200" u="none" cap="none" strike="noStrike">
                        <a:solidFill>
                          <a:srgbClr val="FFFFFF"/>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3200" u="none" cap="none" strike="noStrike">
                          <a:solidFill>
                            <a:srgbClr val="FFFFFF"/>
                          </a:solidFill>
                        </a:rPr>
                        <a:t>5</a:t>
                      </a:r>
                      <a:endParaRPr b="1" sz="3200" u="none" cap="none" strike="noStrike">
                        <a:solidFill>
                          <a:srgbClr val="FFFFFF"/>
                        </a:solidFill>
                      </a:endParaRPr>
                    </a:p>
                  </a:txBody>
                  <a:tcPr marT="91425" marB="91425" marR="91425" marL="91425"/>
                </a:tc>
              </a:tr>
              <a:tr h="1436375">
                <a:tc>
                  <a:txBody>
                    <a:bodyPr/>
                    <a:lstStyle/>
                    <a:p>
                      <a:pPr indent="0" lvl="0" marL="0" marR="0" rtl="0" algn="ctr">
                        <a:lnSpc>
                          <a:spcPct val="100000"/>
                        </a:lnSpc>
                        <a:spcBef>
                          <a:spcPts val="0"/>
                        </a:spcBef>
                        <a:spcAft>
                          <a:spcPts val="0"/>
                        </a:spcAft>
                        <a:buClr>
                          <a:srgbClr val="000000"/>
                        </a:buClr>
                        <a:buSzPts val="1400"/>
                        <a:buFont typeface="Arial"/>
                        <a:buNone/>
                      </a:pPr>
                      <a:r>
                        <a:rPr b="1" lang="en-US" sz="3200" u="none" cap="none" strike="noStrike">
                          <a:solidFill>
                            <a:srgbClr val="FFFFFF"/>
                          </a:solidFill>
                        </a:rPr>
                        <a:t>Registro Cliente</a:t>
                      </a:r>
                      <a:endParaRPr b="1" sz="3200" u="none" cap="none" strike="noStrike">
                        <a:solidFill>
                          <a:srgbClr val="FFFFFF"/>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3200" u="none" cap="none" strike="noStrike">
                          <a:solidFill>
                            <a:srgbClr val="FFFFFF"/>
                          </a:solidFill>
                        </a:rPr>
                        <a:t>10</a:t>
                      </a:r>
                      <a:endParaRPr b="1" sz="3200" u="none" cap="none" strike="noStrike">
                        <a:solidFill>
                          <a:srgbClr val="FFFFFF"/>
                        </a:solidFill>
                      </a:endParaRPr>
                    </a:p>
                  </a:txBody>
                  <a:tcPr marT="91425" marB="91425" marR="91425" marL="91425"/>
                </a:tc>
              </a:tr>
              <a:tr h="1436375">
                <a:tc>
                  <a:txBody>
                    <a:bodyPr/>
                    <a:lstStyle/>
                    <a:p>
                      <a:pPr indent="0" lvl="0" marL="0" marR="0" rtl="0" algn="ctr">
                        <a:lnSpc>
                          <a:spcPct val="100000"/>
                        </a:lnSpc>
                        <a:spcBef>
                          <a:spcPts val="0"/>
                        </a:spcBef>
                        <a:spcAft>
                          <a:spcPts val="0"/>
                        </a:spcAft>
                        <a:buClr>
                          <a:srgbClr val="000000"/>
                        </a:buClr>
                        <a:buSzPts val="1400"/>
                        <a:buFont typeface="Arial"/>
                        <a:buNone/>
                      </a:pPr>
                      <a:r>
                        <a:rPr b="1" lang="en-US" sz="3200" u="none" cap="none" strike="noStrike">
                          <a:solidFill>
                            <a:srgbClr val="FFFFFF"/>
                          </a:solidFill>
                        </a:rPr>
                        <a:t>Asignar Orden</a:t>
                      </a:r>
                      <a:endParaRPr b="1" sz="3200" u="none" cap="none" strike="noStrike">
                        <a:solidFill>
                          <a:srgbClr val="FFFFFF"/>
                        </a:solidFill>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3200" u="none" cap="none" strike="noStrike">
                          <a:solidFill>
                            <a:srgbClr val="FFFFFF"/>
                          </a:solidFill>
                        </a:rPr>
                        <a:t>15</a:t>
                      </a:r>
                      <a:endParaRPr b="1" sz="3200" u="none" cap="none" strike="noStrike">
                        <a:solidFill>
                          <a:srgbClr val="FFFFFF"/>
                        </a:solidFill>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67" name="Shape 267"/>
        <p:cNvGrpSpPr/>
        <p:nvPr/>
      </p:nvGrpSpPr>
      <p:grpSpPr>
        <a:xfrm>
          <a:off x="0" y="0"/>
          <a:ext cx="0" cy="0"/>
          <a:chOff x="0" y="0"/>
          <a:chExt cx="0" cy="0"/>
        </a:xfrm>
      </p:grpSpPr>
      <p:sp>
        <p:nvSpPr>
          <p:cNvPr id="268" name="Google Shape;268;g2d528c6bf86_0_11"/>
          <p:cNvSpPr txBox="1"/>
          <p:nvPr/>
        </p:nvSpPr>
        <p:spPr>
          <a:xfrm>
            <a:off x="1487970" y="193517"/>
            <a:ext cx="15312000" cy="1641900"/>
          </a:xfrm>
          <a:prstGeom prst="rect">
            <a:avLst/>
          </a:prstGeom>
          <a:noFill/>
          <a:ln>
            <a:noFill/>
          </a:ln>
        </p:spPr>
        <p:txBody>
          <a:bodyPr anchorCtr="0" anchor="t" bIns="0" lIns="0" spcFirstLastPara="1" rIns="0" wrap="square" tIns="0">
            <a:spAutoFit/>
          </a:bodyPr>
          <a:lstStyle/>
          <a:p>
            <a:pPr indent="0" lvl="0" marL="0" marR="0" rtl="0" algn="ctr">
              <a:lnSpc>
                <a:spcPct val="109994"/>
              </a:lnSpc>
              <a:spcBef>
                <a:spcPts val="0"/>
              </a:spcBef>
              <a:spcAft>
                <a:spcPts val="0"/>
              </a:spcAft>
              <a:buNone/>
            </a:pPr>
            <a:r>
              <a:rPr b="1" i="0" lang="en-US" sz="10666" u="none" cap="none" strike="noStrike">
                <a:solidFill>
                  <a:srgbClr val="FFFFFF"/>
                </a:solidFill>
                <a:latin typeface="Poppins"/>
                <a:ea typeface="Poppins"/>
                <a:cs typeface="Poppins"/>
                <a:sym typeface="Poppins"/>
              </a:rPr>
              <a:t>Ejemplo</a:t>
            </a:r>
            <a:endParaRPr/>
          </a:p>
        </p:txBody>
      </p:sp>
      <p:sp>
        <p:nvSpPr>
          <p:cNvPr id="269" name="Google Shape;269;g2d528c6bf86_0_11"/>
          <p:cNvSpPr txBox="1"/>
          <p:nvPr/>
        </p:nvSpPr>
        <p:spPr>
          <a:xfrm>
            <a:off x="1760092" y="2109837"/>
            <a:ext cx="14767800" cy="6563400"/>
          </a:xfrm>
          <a:prstGeom prst="rect">
            <a:avLst/>
          </a:prstGeom>
          <a:noFill/>
          <a:ln>
            <a:noFill/>
          </a:ln>
        </p:spPr>
        <p:txBody>
          <a:bodyPr anchorCtr="0" anchor="t" bIns="0" lIns="0" spcFirstLastPara="1" rIns="0" wrap="square" tIns="0">
            <a:spAutoFit/>
          </a:bodyPr>
          <a:lstStyle/>
          <a:p>
            <a:pPr indent="0" lvl="0" marL="914400" rtl="0" algn="just">
              <a:lnSpc>
                <a:spcPct val="110000"/>
              </a:lnSpc>
              <a:spcBef>
                <a:spcPts val="0"/>
              </a:spcBef>
              <a:spcAft>
                <a:spcPts val="0"/>
              </a:spcAft>
              <a:buNone/>
            </a:pPr>
            <a:r>
              <a:rPr lang="en-US" sz="2600">
                <a:solidFill>
                  <a:srgbClr val="FFFFFF"/>
                </a:solidFill>
                <a:latin typeface="Poppins Medium"/>
                <a:ea typeface="Poppins Medium"/>
                <a:cs typeface="Poppins Medium"/>
                <a:sym typeface="Poppins Medium"/>
              </a:rPr>
              <a:t>Los tornillos son creados a demanda según la cantidad de cada uno que venga en la orden, los tornillos son empacados en promedio 15 segundos y entregados al cliente. Las órdenes esperan en una cola independiente a ser atendidas mientras se despacha una orden. Elabore el modelo del sistema y simule el sistema durante un día entero y conteste lo siguiente.</a:t>
            </a:r>
            <a:endParaRPr sz="2600">
              <a:solidFill>
                <a:srgbClr val="FFFFFF"/>
              </a:solidFill>
              <a:latin typeface="Poppins Medium"/>
              <a:ea typeface="Poppins Medium"/>
              <a:cs typeface="Poppins Medium"/>
              <a:sym typeface="Poppins Medium"/>
            </a:endParaRPr>
          </a:p>
          <a:p>
            <a:pPr indent="0" lvl="0" marL="914400" rtl="0" algn="just">
              <a:lnSpc>
                <a:spcPct val="110000"/>
              </a:lnSpc>
              <a:spcBef>
                <a:spcPts val="0"/>
              </a:spcBef>
              <a:spcAft>
                <a:spcPts val="0"/>
              </a:spcAft>
              <a:buClr>
                <a:schemeClr val="dk1"/>
              </a:buClr>
              <a:buSzPts val="1100"/>
              <a:buFont typeface="Arial"/>
              <a:buNone/>
            </a:pPr>
            <a:r>
              <a:t/>
            </a:r>
            <a:endParaRPr sz="2600">
              <a:solidFill>
                <a:srgbClr val="FFFFFF"/>
              </a:solidFill>
              <a:latin typeface="Poppins Medium"/>
              <a:ea typeface="Poppins Medium"/>
              <a:cs typeface="Poppins Medium"/>
              <a:sym typeface="Poppins Medium"/>
            </a:endParaRPr>
          </a:p>
          <a:p>
            <a:pPr indent="-393700" lvl="0" marL="1828800" rtl="0" algn="just">
              <a:lnSpc>
                <a:spcPct val="110000"/>
              </a:lnSpc>
              <a:spcBef>
                <a:spcPts val="0"/>
              </a:spcBef>
              <a:spcAft>
                <a:spcPts val="0"/>
              </a:spcAft>
              <a:buClr>
                <a:srgbClr val="FFFFFF"/>
              </a:buClr>
              <a:buSzPts val="2600"/>
              <a:buFont typeface="Poppins Medium"/>
              <a:buChar char="●"/>
            </a:pPr>
            <a:r>
              <a:rPr lang="en-US" sz="2600">
                <a:solidFill>
                  <a:srgbClr val="FFFFFF"/>
                </a:solidFill>
                <a:latin typeface="Poppins Medium"/>
                <a:ea typeface="Poppins Medium"/>
                <a:cs typeface="Poppins Medium"/>
                <a:sym typeface="Poppins Medium"/>
              </a:rPr>
              <a:t>¿Cantidad de órdenes despachadas?</a:t>
            </a:r>
            <a:endParaRPr sz="2600">
              <a:solidFill>
                <a:srgbClr val="FFFFFF"/>
              </a:solidFill>
              <a:latin typeface="Poppins Medium"/>
              <a:ea typeface="Poppins Medium"/>
              <a:cs typeface="Poppins Medium"/>
              <a:sym typeface="Poppins Medium"/>
            </a:endParaRPr>
          </a:p>
          <a:p>
            <a:pPr indent="-393700" lvl="0" marL="1828800" rtl="0" algn="just">
              <a:lnSpc>
                <a:spcPct val="110000"/>
              </a:lnSpc>
              <a:spcBef>
                <a:spcPts val="0"/>
              </a:spcBef>
              <a:spcAft>
                <a:spcPts val="0"/>
              </a:spcAft>
              <a:buClr>
                <a:srgbClr val="FFFFFF"/>
              </a:buClr>
              <a:buSzPts val="2600"/>
              <a:buFont typeface="Poppins Medium"/>
              <a:buChar char="●"/>
            </a:pPr>
            <a:r>
              <a:rPr lang="en-US" sz="2600">
                <a:solidFill>
                  <a:srgbClr val="FFFFFF"/>
                </a:solidFill>
                <a:latin typeface="Poppins Medium"/>
                <a:ea typeface="Poppins Medium"/>
                <a:cs typeface="Poppins Medium"/>
                <a:sym typeface="Poppins Medium"/>
              </a:rPr>
              <a:t>¿Cantidad de órdenes que no son despachadas?</a:t>
            </a:r>
            <a:endParaRPr sz="2600">
              <a:solidFill>
                <a:srgbClr val="FFFFFF"/>
              </a:solidFill>
              <a:latin typeface="Poppins Medium"/>
              <a:ea typeface="Poppins Medium"/>
              <a:cs typeface="Poppins Medium"/>
              <a:sym typeface="Poppins Medium"/>
            </a:endParaRPr>
          </a:p>
          <a:p>
            <a:pPr indent="-393700" lvl="0" marL="1828800" rtl="0" algn="just">
              <a:lnSpc>
                <a:spcPct val="110000"/>
              </a:lnSpc>
              <a:spcBef>
                <a:spcPts val="0"/>
              </a:spcBef>
              <a:spcAft>
                <a:spcPts val="0"/>
              </a:spcAft>
              <a:buClr>
                <a:srgbClr val="FFFFFF"/>
              </a:buClr>
              <a:buSzPts val="2600"/>
              <a:buFont typeface="Poppins Medium"/>
              <a:buChar char="●"/>
            </a:pPr>
            <a:r>
              <a:rPr lang="en-US" sz="2600">
                <a:solidFill>
                  <a:srgbClr val="FFFFFF"/>
                </a:solidFill>
                <a:latin typeface="Poppins Medium"/>
                <a:ea typeface="Poppins Medium"/>
                <a:cs typeface="Poppins Medium"/>
                <a:sym typeface="Poppins Medium"/>
              </a:rPr>
              <a:t>¿Cantidad de tornillos por tipo creados?</a:t>
            </a:r>
            <a:endParaRPr sz="2600">
              <a:solidFill>
                <a:srgbClr val="FFFFFF"/>
              </a:solidFill>
              <a:latin typeface="Poppins Medium"/>
              <a:ea typeface="Poppins Medium"/>
              <a:cs typeface="Poppins Medium"/>
              <a:sym typeface="Poppins Medium"/>
            </a:endParaRPr>
          </a:p>
          <a:p>
            <a:pPr indent="-393700" lvl="0" marL="1828800" rtl="0" algn="just">
              <a:lnSpc>
                <a:spcPct val="110000"/>
              </a:lnSpc>
              <a:spcBef>
                <a:spcPts val="0"/>
              </a:spcBef>
              <a:spcAft>
                <a:spcPts val="0"/>
              </a:spcAft>
              <a:buClr>
                <a:srgbClr val="FFFFFF"/>
              </a:buClr>
              <a:buSzPts val="2600"/>
              <a:buFont typeface="Poppins Medium"/>
              <a:buChar char="●"/>
            </a:pPr>
            <a:r>
              <a:rPr lang="en-US" sz="2600">
                <a:solidFill>
                  <a:srgbClr val="FFFFFF"/>
                </a:solidFill>
                <a:latin typeface="Poppins Medium"/>
                <a:ea typeface="Poppins Medium"/>
                <a:cs typeface="Poppins Medium"/>
                <a:sym typeface="Poppins Medium"/>
              </a:rPr>
              <a:t>¿Cantidad de tornillos por tipo despachados?</a:t>
            </a:r>
            <a:endParaRPr sz="2600">
              <a:solidFill>
                <a:srgbClr val="FFFFFF"/>
              </a:solidFill>
              <a:latin typeface="Poppins Medium"/>
              <a:ea typeface="Poppins Medium"/>
              <a:cs typeface="Poppins Medium"/>
              <a:sym typeface="Poppins Medium"/>
            </a:endParaRPr>
          </a:p>
          <a:p>
            <a:pPr indent="-393700" lvl="0" marL="1828800" rtl="0" algn="just">
              <a:lnSpc>
                <a:spcPct val="110000"/>
              </a:lnSpc>
              <a:spcBef>
                <a:spcPts val="0"/>
              </a:spcBef>
              <a:spcAft>
                <a:spcPts val="0"/>
              </a:spcAft>
              <a:buClr>
                <a:srgbClr val="FFFFFF"/>
              </a:buClr>
              <a:buSzPts val="2600"/>
              <a:buFont typeface="Poppins Medium"/>
              <a:buChar char="●"/>
            </a:pPr>
            <a:r>
              <a:rPr lang="en-US" sz="2600">
                <a:solidFill>
                  <a:srgbClr val="FFFFFF"/>
                </a:solidFill>
                <a:latin typeface="Poppins Medium"/>
                <a:ea typeface="Poppins Medium"/>
                <a:cs typeface="Poppins Medium"/>
                <a:sym typeface="Poppins Medium"/>
              </a:rPr>
              <a:t>¿Tiempo promedio de cada orden en el sistema?</a:t>
            </a:r>
            <a:endParaRPr sz="2600">
              <a:solidFill>
                <a:srgbClr val="FFFFFF"/>
              </a:solidFill>
              <a:latin typeface="Poppins Medium"/>
              <a:ea typeface="Poppins Medium"/>
              <a:cs typeface="Poppins Medium"/>
              <a:sym typeface="Poppins Medium"/>
            </a:endParaRPr>
          </a:p>
          <a:p>
            <a:pPr indent="-393700" lvl="0" marL="1828800" rtl="0" algn="just">
              <a:lnSpc>
                <a:spcPct val="110000"/>
              </a:lnSpc>
              <a:spcBef>
                <a:spcPts val="0"/>
              </a:spcBef>
              <a:spcAft>
                <a:spcPts val="0"/>
              </a:spcAft>
              <a:buClr>
                <a:srgbClr val="FFFFFF"/>
              </a:buClr>
              <a:buSzPts val="2600"/>
              <a:buFont typeface="Poppins Medium"/>
              <a:buChar char="●"/>
            </a:pPr>
            <a:r>
              <a:rPr lang="en-US" sz="2600">
                <a:solidFill>
                  <a:srgbClr val="FFFFFF"/>
                </a:solidFill>
                <a:latin typeface="Poppins Medium"/>
                <a:ea typeface="Poppins Medium"/>
                <a:cs typeface="Poppins Medium"/>
                <a:sym typeface="Poppins Medium"/>
              </a:rPr>
              <a:t>¿Si se agrega un operario, mejora la cantidad de despacho en el</a:t>
            </a:r>
            <a:endParaRPr sz="2600">
              <a:solidFill>
                <a:srgbClr val="FFFFFF"/>
              </a:solidFill>
              <a:latin typeface="Poppins Medium"/>
              <a:ea typeface="Poppins Medium"/>
              <a:cs typeface="Poppins Medium"/>
              <a:sym typeface="Poppins Medium"/>
            </a:endParaRPr>
          </a:p>
          <a:p>
            <a:pPr indent="-393700" lvl="0" marL="1828800" rtl="0" algn="just">
              <a:lnSpc>
                <a:spcPct val="110000"/>
              </a:lnSpc>
              <a:spcBef>
                <a:spcPts val="0"/>
              </a:spcBef>
              <a:spcAft>
                <a:spcPts val="0"/>
              </a:spcAft>
              <a:buClr>
                <a:srgbClr val="FFFFFF"/>
              </a:buClr>
              <a:buSzPts val="2600"/>
              <a:buFont typeface="Poppins Medium"/>
              <a:buChar char="●"/>
            </a:pPr>
            <a:r>
              <a:rPr lang="en-US" sz="2600">
                <a:solidFill>
                  <a:srgbClr val="FFFFFF"/>
                </a:solidFill>
                <a:latin typeface="Poppins Medium"/>
                <a:ea typeface="Poppins Medium"/>
                <a:cs typeface="Poppins Medium"/>
                <a:sym typeface="Poppins Medium"/>
              </a:rPr>
              <a:t>sistema?</a:t>
            </a:r>
            <a:endParaRPr sz="2600">
              <a:solidFill>
                <a:srgbClr val="FFFFFF"/>
              </a:solidFill>
              <a:latin typeface="Poppins Medium"/>
              <a:ea typeface="Poppins Medium"/>
              <a:cs typeface="Poppins Medium"/>
              <a:sym typeface="Poppins Medium"/>
            </a:endParaRPr>
          </a:p>
          <a:p>
            <a:pPr indent="0" lvl="0" marL="914400" rtl="0" algn="just">
              <a:lnSpc>
                <a:spcPct val="110000"/>
              </a:lnSpc>
              <a:spcBef>
                <a:spcPts val="0"/>
              </a:spcBef>
              <a:spcAft>
                <a:spcPts val="0"/>
              </a:spcAft>
              <a:buClr>
                <a:schemeClr val="dk1"/>
              </a:buClr>
              <a:buSzPts val="1100"/>
              <a:buFont typeface="Arial"/>
              <a:buNone/>
            </a:pPr>
            <a:r>
              <a:t/>
            </a:r>
            <a:endParaRPr sz="2600">
              <a:solidFill>
                <a:srgbClr val="FFFFFF"/>
              </a:solidFill>
              <a:latin typeface="Poppins Medium"/>
              <a:ea typeface="Poppins Medium"/>
              <a:cs typeface="Poppins Medium"/>
              <a:sym typeface="Poppins Medium"/>
            </a:endParaRPr>
          </a:p>
          <a:p>
            <a:pPr indent="0" lvl="0" marL="914400" marR="0" rtl="0" algn="just">
              <a:lnSpc>
                <a:spcPct val="110000"/>
              </a:lnSpc>
              <a:spcBef>
                <a:spcPts val="0"/>
              </a:spcBef>
              <a:spcAft>
                <a:spcPts val="0"/>
              </a:spcAft>
              <a:buNone/>
            </a:pPr>
            <a:r>
              <a:t/>
            </a:r>
            <a:endParaRPr sz="2600">
              <a:solidFill>
                <a:srgbClr val="FFFFFF"/>
              </a:solidFill>
              <a:latin typeface="Poppins Medium"/>
              <a:ea typeface="Poppins Medium"/>
              <a:cs typeface="Poppins Medium"/>
              <a:sym typeface="Poppins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73" name="Shape 273"/>
        <p:cNvGrpSpPr/>
        <p:nvPr/>
      </p:nvGrpSpPr>
      <p:grpSpPr>
        <a:xfrm>
          <a:off x="0" y="0"/>
          <a:ext cx="0" cy="0"/>
          <a:chOff x="0" y="0"/>
          <a:chExt cx="0" cy="0"/>
        </a:xfrm>
      </p:grpSpPr>
      <p:sp>
        <p:nvSpPr>
          <p:cNvPr id="274" name="Google Shape;274;p15"/>
          <p:cNvSpPr txBox="1"/>
          <p:nvPr/>
        </p:nvSpPr>
        <p:spPr>
          <a:xfrm>
            <a:off x="1487970" y="4380443"/>
            <a:ext cx="15312000" cy="1641900"/>
          </a:xfrm>
          <a:prstGeom prst="rect">
            <a:avLst/>
          </a:prstGeom>
          <a:noFill/>
          <a:ln>
            <a:noFill/>
          </a:ln>
        </p:spPr>
        <p:txBody>
          <a:bodyPr anchorCtr="0" anchor="t" bIns="0" lIns="0" spcFirstLastPara="1" rIns="0" wrap="square" tIns="0">
            <a:spAutoFit/>
          </a:bodyPr>
          <a:lstStyle/>
          <a:p>
            <a:pPr indent="0" lvl="0" marL="0" marR="0" rtl="0" algn="ctr">
              <a:lnSpc>
                <a:spcPct val="109994"/>
              </a:lnSpc>
              <a:spcBef>
                <a:spcPts val="0"/>
              </a:spcBef>
              <a:spcAft>
                <a:spcPts val="0"/>
              </a:spcAft>
              <a:buNone/>
            </a:pPr>
            <a:r>
              <a:rPr b="1" i="0" lang="en-US" sz="10666" u="none" cap="none" strike="noStrike">
                <a:solidFill>
                  <a:srgbClr val="FFFFFF"/>
                </a:solidFill>
                <a:latin typeface="Poppins"/>
                <a:ea typeface="Poppins"/>
                <a:cs typeface="Poppins"/>
                <a:sym typeface="Poppins"/>
              </a:rPr>
              <a:t>¿Dudas?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