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Arial Bold" charset="1" panose="020B0802020202020204"/>
      <p:regular r:id="rId23"/>
    </p:embeddedFont>
    <p:embeddedFont>
      <p:font typeface="Arimo Bold" charset="1" panose="020B0704020202020204"/>
      <p:regular r:id="rId24"/>
    </p:embeddedFont>
    <p:embeddedFont>
      <p:font typeface="Poppins Medium Bold" charset="1" panose="02000000000000000000"/>
      <p:regular r:id="rId25"/>
    </p:embeddedFont>
    <p:embeddedFont>
      <p:font typeface="Poppins Medium" charset="1" panose="02000000000000000000"/>
      <p:regular r:id="rId26"/>
    </p:embeddedFont>
    <p:embeddedFont>
      <p:font typeface="Poppins Light" charset="1" panose="02000000000000000000"/>
      <p:regular r:id="rId27"/>
    </p:embeddedFont>
    <p:embeddedFont>
      <p:font typeface="Poppins Light Bold" charset="1" panose="020000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
            <a:ext cx="18288000" cy="10286998"/>
          </a:xfrm>
          <a:custGeom>
            <a:avLst/>
            <a:gdLst/>
            <a:ahLst/>
            <a:cxnLst/>
            <a:rect r="r" b="b" t="t" l="l"/>
            <a:pathLst>
              <a:path h="10286998" w="18288000">
                <a:moveTo>
                  <a:pt x="0" y="0"/>
                </a:moveTo>
                <a:lnTo>
                  <a:pt x="18288000" y="0"/>
                </a:lnTo>
                <a:lnTo>
                  <a:pt x="18288000" y="10286998"/>
                </a:lnTo>
                <a:lnTo>
                  <a:pt x="0" y="10286998"/>
                </a:lnTo>
                <a:lnTo>
                  <a:pt x="0" y="0"/>
                </a:lnTo>
                <a:close/>
              </a:path>
            </a:pathLst>
          </a:custGeom>
          <a:blipFill>
            <a:blip r:embed="rId2"/>
            <a:stretch>
              <a:fillRect l="0" t="-92" r="0" b="-92"/>
            </a:stretch>
          </a:blipFill>
        </p:spPr>
      </p:sp>
      <p:graphicFrame>
        <p:nvGraphicFramePr>
          <p:cNvPr name="Table 3" id="3"/>
          <p:cNvGraphicFramePr>
            <a:graphicFrameLocks noGrp="true"/>
          </p:cNvGraphicFramePr>
          <p:nvPr/>
        </p:nvGraphicFramePr>
        <p:xfrm>
          <a:off x="10656400" y="1940050"/>
          <a:ext cx="7366000" cy="2209800"/>
        </p:xfrm>
        <a:graphic>
          <a:graphicData uri="http://schemas.openxmlformats.org/drawingml/2006/table">
            <a:tbl>
              <a:tblPr/>
              <a:tblGrid>
                <a:gridCol w="3030168"/>
                <a:gridCol w="4335832"/>
              </a:tblGrid>
              <a:tr h="1379919">
                <a:tc>
                  <a:txBody>
                    <a:bodyPr anchor="t" rtlCol="false"/>
                    <a:lstStyle/>
                    <a:p>
                      <a:pPr algn="ctr">
                        <a:lnSpc>
                          <a:spcPts val="3408"/>
                        </a:lnSpc>
                        <a:defRPr/>
                      </a:pPr>
                      <a:r>
                        <a:rPr lang="en-US" b="true" sz="2840">
                          <a:solidFill>
                            <a:srgbClr val="000000"/>
                          </a:solidFill>
                          <a:latin typeface="Arial Bold"/>
                          <a:ea typeface="Arial Bold"/>
                          <a:cs typeface="Arial Bold"/>
                          <a:sym typeface="Arial Bold"/>
                        </a:rPr>
                        <a:t>Día, Fecha:</a:t>
                      </a:r>
                      <a:endParaRPr lang="en-US" sz="1100"/>
                    </a:p>
                  </a:txBody>
                  <a:tcPr marL="91425" marR="91425" marT="91425" marB="91425"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0000"/>
                          </a:solidFill>
                          <a:latin typeface="Arimo Bold"/>
                          <a:ea typeface="Arimo Bold"/>
                          <a:cs typeface="Arimo Bold"/>
                          <a:sym typeface="Arimo Bold"/>
                        </a:rPr>
                        <a:t>Sábado</a:t>
                      </a:r>
                      <a:endParaRPr lang="en-US" sz="1100"/>
                    </a:p>
                    <a:p>
                      <a:pPr algn="ctr">
                        <a:lnSpc>
                          <a:spcPts val="4200"/>
                        </a:lnSpc>
                      </a:pPr>
                      <a:r>
                        <a:rPr lang="en-US" sz="3000" b="true">
                          <a:solidFill>
                            <a:srgbClr val="000000"/>
                          </a:solidFill>
                          <a:latin typeface="Arimo Bold"/>
                          <a:ea typeface="Arimo Bold"/>
                          <a:cs typeface="Arimo Bold"/>
                          <a:sym typeface="Arimo Bold"/>
                        </a:rPr>
                        <a:t>00 / 00 / 2025</a:t>
                      </a:r>
                    </a:p>
                  </a:txBody>
                  <a:tcPr marL="91425" marR="91425" marT="91425" marB="91425"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29881">
                <a:tc>
                  <a:txBody>
                    <a:bodyPr anchor="t" rtlCol="false"/>
                    <a:lstStyle/>
                    <a:p>
                      <a:pPr algn="ctr">
                        <a:lnSpc>
                          <a:spcPts val="3408"/>
                        </a:lnSpc>
                        <a:defRPr/>
                      </a:pPr>
                      <a:r>
                        <a:rPr lang="en-US" b="true" sz="2840">
                          <a:solidFill>
                            <a:srgbClr val="000000"/>
                          </a:solidFill>
                          <a:latin typeface="Arial Bold"/>
                          <a:ea typeface="Arial Bold"/>
                          <a:cs typeface="Arial Bold"/>
                          <a:sym typeface="Arial Bold"/>
                        </a:rPr>
                        <a:t>Hora de inicio:</a:t>
                      </a:r>
                      <a:endParaRPr lang="en-US" sz="1100"/>
                    </a:p>
                  </a:txBody>
                  <a:tcPr marL="91425" marR="91425" marT="91425" marB="91425"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4199"/>
                        </a:lnSpc>
                        <a:defRPr/>
                      </a:pPr>
                      <a:r>
                        <a:rPr lang="en-US" sz="2999" b="true">
                          <a:solidFill>
                            <a:srgbClr val="000000"/>
                          </a:solidFill>
                          <a:latin typeface="Arimo Bold"/>
                          <a:ea typeface="Arimo Bold"/>
                          <a:cs typeface="Arimo Bold"/>
                          <a:sym typeface="Arimo Bold"/>
                        </a:rPr>
                        <a:t>00:00</a:t>
                      </a:r>
                      <a:endParaRPr lang="en-US" sz="1100"/>
                    </a:p>
                  </a:txBody>
                  <a:tcPr marL="91425" marR="91425" marT="91425" marB="91425"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2971775" y="4512775"/>
            <a:ext cx="13401150" cy="847725"/>
          </a:xfrm>
          <a:prstGeom prst="rect">
            <a:avLst/>
          </a:prstGeom>
        </p:spPr>
        <p:txBody>
          <a:bodyPr anchor="t" rtlCol="false" tIns="0" lIns="0" bIns="0" rIns="0">
            <a:spAutoFit/>
          </a:bodyPr>
          <a:lstStyle/>
          <a:p>
            <a:pPr algn="l">
              <a:lnSpc>
                <a:spcPts val="5999"/>
              </a:lnSpc>
            </a:pPr>
            <a:r>
              <a:rPr lang="en-US" b="true" sz="4999">
                <a:solidFill>
                  <a:srgbClr val="000000"/>
                </a:solidFill>
                <a:latin typeface="Arial Bold"/>
                <a:ea typeface="Arial Bold"/>
                <a:cs typeface="Arial Bold"/>
                <a:sym typeface="Arial Bold"/>
              </a:rPr>
              <a:t>Modelación y Simulación 2 Sección #</a:t>
            </a:r>
          </a:p>
        </p:txBody>
      </p:sp>
      <p:sp>
        <p:nvSpPr>
          <p:cNvPr name="TextBox 5" id="5"/>
          <p:cNvSpPr txBox="true"/>
          <p:nvPr/>
        </p:nvSpPr>
        <p:spPr>
          <a:xfrm rot="0">
            <a:off x="2971775" y="5661100"/>
            <a:ext cx="10990350" cy="685800"/>
          </a:xfrm>
          <a:prstGeom prst="rect">
            <a:avLst/>
          </a:prstGeom>
        </p:spPr>
        <p:txBody>
          <a:bodyPr anchor="t" rtlCol="false" tIns="0" lIns="0" bIns="0" rIns="0">
            <a:spAutoFit/>
          </a:bodyPr>
          <a:lstStyle/>
          <a:p>
            <a:pPr algn="l">
              <a:lnSpc>
                <a:spcPts val="4800"/>
              </a:lnSpc>
            </a:pPr>
            <a:r>
              <a:rPr lang="en-US" b="true" sz="4000">
                <a:solidFill>
                  <a:srgbClr val="000000"/>
                </a:solidFill>
                <a:latin typeface="Arial Bold"/>
                <a:ea typeface="Arial Bold"/>
                <a:cs typeface="Arial Bold"/>
                <a:sym typeface="Arial Bold"/>
              </a:rPr>
              <a:t>Nombre del auxiliar</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141414"/>
        </a:solidFill>
      </p:bgPr>
    </p:bg>
    <p:spTree>
      <p:nvGrpSpPr>
        <p:cNvPr id="1" name=""/>
        <p:cNvGrpSpPr/>
        <p:nvPr/>
      </p:nvGrpSpPr>
      <p:grpSpPr>
        <a:xfrm>
          <a:off x="0" y="0"/>
          <a:ext cx="0" cy="0"/>
          <a:chOff x="0" y="0"/>
          <a:chExt cx="0" cy="0"/>
        </a:xfrm>
      </p:grpSpPr>
      <p:sp>
        <p:nvSpPr>
          <p:cNvPr name="AutoShape 2" id="2"/>
          <p:cNvSpPr/>
          <p:nvPr/>
        </p:nvSpPr>
        <p:spPr>
          <a:xfrm>
            <a:off x="10414308" y="3262381"/>
            <a:ext cx="6492240" cy="0"/>
          </a:xfrm>
          <a:prstGeom prst="line">
            <a:avLst/>
          </a:prstGeom>
          <a:ln cap="flat" w="38100">
            <a:solidFill>
              <a:srgbClr val="00C4CC"/>
            </a:solidFill>
            <a:prstDash val="solid"/>
            <a:headEnd type="none" len="sm" w="sm"/>
            <a:tailEnd type="none" len="sm" w="sm"/>
          </a:ln>
        </p:spPr>
      </p:sp>
      <p:sp>
        <p:nvSpPr>
          <p:cNvPr name="AutoShape 3" id="3"/>
          <p:cNvSpPr/>
          <p:nvPr/>
        </p:nvSpPr>
        <p:spPr>
          <a:xfrm>
            <a:off x="10414308" y="4203944"/>
            <a:ext cx="6492240" cy="0"/>
          </a:xfrm>
          <a:prstGeom prst="line">
            <a:avLst/>
          </a:prstGeom>
          <a:ln cap="flat" w="38100">
            <a:solidFill>
              <a:srgbClr val="00C4CC"/>
            </a:solidFill>
            <a:prstDash val="solid"/>
            <a:headEnd type="none" len="sm" w="sm"/>
            <a:tailEnd type="none" len="sm" w="sm"/>
          </a:ln>
        </p:spPr>
      </p:sp>
      <p:sp>
        <p:nvSpPr>
          <p:cNvPr name="AutoShape 4" id="4"/>
          <p:cNvSpPr/>
          <p:nvPr/>
        </p:nvSpPr>
        <p:spPr>
          <a:xfrm>
            <a:off x="10414308" y="5134106"/>
            <a:ext cx="6492240" cy="0"/>
          </a:xfrm>
          <a:prstGeom prst="line">
            <a:avLst/>
          </a:prstGeom>
          <a:ln cap="flat" w="38100">
            <a:solidFill>
              <a:srgbClr val="00C4CC"/>
            </a:solidFill>
            <a:prstDash val="solid"/>
            <a:headEnd type="none" len="sm" w="sm"/>
            <a:tailEnd type="none" len="sm" w="sm"/>
          </a:ln>
        </p:spPr>
      </p:sp>
      <p:sp>
        <p:nvSpPr>
          <p:cNvPr name="AutoShape 5" id="5"/>
          <p:cNvSpPr/>
          <p:nvPr/>
        </p:nvSpPr>
        <p:spPr>
          <a:xfrm>
            <a:off x="10414308" y="2316288"/>
            <a:ext cx="6492240" cy="0"/>
          </a:xfrm>
          <a:prstGeom prst="line">
            <a:avLst/>
          </a:prstGeom>
          <a:ln cap="flat" w="38100">
            <a:solidFill>
              <a:srgbClr val="00C4CC"/>
            </a:solidFill>
            <a:prstDash val="solid"/>
            <a:headEnd type="none" len="sm" w="sm"/>
            <a:tailEnd type="none" len="sm" w="sm"/>
          </a:ln>
        </p:spPr>
      </p:sp>
      <p:sp>
        <p:nvSpPr>
          <p:cNvPr name="AutoShape 6" id="6"/>
          <p:cNvSpPr/>
          <p:nvPr/>
        </p:nvSpPr>
        <p:spPr>
          <a:xfrm>
            <a:off x="10414308" y="6079641"/>
            <a:ext cx="6492240" cy="0"/>
          </a:xfrm>
          <a:prstGeom prst="line">
            <a:avLst/>
          </a:prstGeom>
          <a:ln cap="flat" w="38100">
            <a:solidFill>
              <a:srgbClr val="00C4CC"/>
            </a:solidFill>
            <a:prstDash val="solid"/>
            <a:headEnd type="none" len="sm" w="sm"/>
            <a:tailEnd type="none" len="sm" w="sm"/>
          </a:ln>
        </p:spPr>
      </p:sp>
      <p:sp>
        <p:nvSpPr>
          <p:cNvPr name="TextBox 7" id="7"/>
          <p:cNvSpPr txBox="true"/>
          <p:nvPr/>
        </p:nvSpPr>
        <p:spPr>
          <a:xfrm rot="0">
            <a:off x="1636040" y="670111"/>
            <a:ext cx="7271904" cy="1151471"/>
          </a:xfrm>
          <a:prstGeom prst="rect">
            <a:avLst/>
          </a:prstGeom>
        </p:spPr>
        <p:txBody>
          <a:bodyPr anchor="t" rtlCol="false" tIns="0" lIns="0" bIns="0" rIns="0">
            <a:spAutoFit/>
          </a:bodyPr>
          <a:lstStyle/>
          <a:p>
            <a:pPr algn="ctr">
              <a:lnSpc>
                <a:spcPts val="8983"/>
              </a:lnSpc>
            </a:pPr>
            <a:r>
              <a:rPr lang="en-US" b="true" sz="8166">
                <a:solidFill>
                  <a:srgbClr val="FFFFFF"/>
                </a:solidFill>
                <a:latin typeface="Poppins Medium Bold"/>
                <a:ea typeface="Poppins Medium Bold"/>
                <a:cs typeface="Poppins Medium Bold"/>
                <a:sym typeface="Poppins Medium Bold"/>
              </a:rPr>
              <a:t>Anuncios</a:t>
            </a:r>
          </a:p>
        </p:txBody>
      </p:sp>
      <p:sp>
        <p:nvSpPr>
          <p:cNvPr name="TextBox 8" id="8"/>
          <p:cNvSpPr txBox="true"/>
          <p:nvPr/>
        </p:nvSpPr>
        <p:spPr>
          <a:xfrm rot="0">
            <a:off x="10414308" y="4514193"/>
            <a:ext cx="6492240" cy="374035"/>
          </a:xfrm>
          <a:prstGeom prst="rect">
            <a:avLst/>
          </a:prstGeom>
        </p:spPr>
        <p:txBody>
          <a:bodyPr anchor="t" rtlCol="false" tIns="0" lIns="0" bIns="0" rIns="0">
            <a:spAutoFit/>
          </a:bodyPr>
          <a:lstStyle/>
          <a:p>
            <a:pPr algn="l">
              <a:lnSpc>
                <a:spcPts val="2861"/>
              </a:lnSpc>
            </a:pPr>
            <a:r>
              <a:rPr lang="en-US" sz="2600">
                <a:solidFill>
                  <a:srgbClr val="FFFFFF"/>
                </a:solidFill>
                <a:latin typeface="Poppins Medium"/>
                <a:ea typeface="Poppins Medium"/>
                <a:cs typeface="Poppins Medium"/>
                <a:sym typeface="Poppins Medium"/>
              </a:rPr>
              <a:t>Vehiculos</a:t>
            </a:r>
          </a:p>
        </p:txBody>
      </p:sp>
      <p:sp>
        <p:nvSpPr>
          <p:cNvPr name="TextBox 9" id="9"/>
          <p:cNvSpPr txBox="true"/>
          <p:nvPr/>
        </p:nvSpPr>
        <p:spPr>
          <a:xfrm rot="0">
            <a:off x="10414308" y="3568100"/>
            <a:ext cx="6492240" cy="374035"/>
          </a:xfrm>
          <a:prstGeom prst="rect">
            <a:avLst/>
          </a:prstGeom>
        </p:spPr>
        <p:txBody>
          <a:bodyPr anchor="t" rtlCol="false" tIns="0" lIns="0" bIns="0" rIns="0">
            <a:spAutoFit/>
          </a:bodyPr>
          <a:lstStyle/>
          <a:p>
            <a:pPr algn="l">
              <a:lnSpc>
                <a:spcPts val="2861"/>
              </a:lnSpc>
            </a:pPr>
            <a:r>
              <a:rPr lang="en-US" sz="2600">
                <a:solidFill>
                  <a:srgbClr val="FFFFFF"/>
                </a:solidFill>
                <a:latin typeface="Poppins Medium"/>
                <a:ea typeface="Poppins Medium"/>
                <a:cs typeface="Poppins Medium"/>
                <a:sym typeface="Poppins Medium"/>
              </a:rPr>
              <a:t>Workers</a:t>
            </a:r>
          </a:p>
        </p:txBody>
      </p:sp>
      <p:sp>
        <p:nvSpPr>
          <p:cNvPr name="AutoShape 10" id="10"/>
          <p:cNvSpPr/>
          <p:nvPr/>
        </p:nvSpPr>
        <p:spPr>
          <a:xfrm>
            <a:off x="10414308" y="7025176"/>
            <a:ext cx="6492240" cy="0"/>
          </a:xfrm>
          <a:prstGeom prst="line">
            <a:avLst/>
          </a:prstGeom>
          <a:ln cap="flat" w="38100">
            <a:solidFill>
              <a:srgbClr val="00C4CC"/>
            </a:solidFill>
            <a:prstDash val="solid"/>
            <a:headEnd type="none" len="sm" w="sm"/>
            <a:tailEnd type="none" len="sm" w="sm"/>
          </a:ln>
        </p:spPr>
      </p:sp>
      <p:sp>
        <p:nvSpPr>
          <p:cNvPr name="AutoShape 11" id="11"/>
          <p:cNvSpPr/>
          <p:nvPr/>
        </p:nvSpPr>
        <p:spPr>
          <a:xfrm>
            <a:off x="10414308" y="7970712"/>
            <a:ext cx="6492240" cy="0"/>
          </a:xfrm>
          <a:prstGeom prst="line">
            <a:avLst/>
          </a:prstGeom>
          <a:ln cap="flat" w="38100">
            <a:solidFill>
              <a:srgbClr val="00C4CC"/>
            </a:solidFill>
            <a:prstDash val="solid"/>
            <a:headEnd type="none" len="sm" w="sm"/>
            <a:tailEnd type="none" len="sm" w="sm"/>
          </a:ln>
        </p:spPr>
      </p:sp>
      <p:sp>
        <p:nvSpPr>
          <p:cNvPr name="TextBox 12" id="12"/>
          <p:cNvSpPr txBox="true"/>
          <p:nvPr/>
        </p:nvSpPr>
        <p:spPr>
          <a:xfrm rot="0">
            <a:off x="10414308" y="5418937"/>
            <a:ext cx="6492240" cy="374035"/>
          </a:xfrm>
          <a:prstGeom prst="rect">
            <a:avLst/>
          </a:prstGeom>
        </p:spPr>
        <p:txBody>
          <a:bodyPr anchor="t" rtlCol="false" tIns="0" lIns="0" bIns="0" rIns="0">
            <a:spAutoFit/>
          </a:bodyPr>
          <a:lstStyle/>
          <a:p>
            <a:pPr algn="l">
              <a:lnSpc>
                <a:spcPts val="2861"/>
              </a:lnSpc>
            </a:pPr>
            <a:r>
              <a:rPr lang="en-US" sz="2600">
                <a:solidFill>
                  <a:srgbClr val="FFFFFF"/>
                </a:solidFill>
                <a:latin typeface="Poppins Medium"/>
                <a:ea typeface="Poppins Medium"/>
                <a:cs typeface="Poppins Medium"/>
                <a:sym typeface="Poppins Medium"/>
              </a:rPr>
              <a:t>Lift Truck</a:t>
            </a:r>
          </a:p>
        </p:txBody>
      </p:sp>
      <p:sp>
        <p:nvSpPr>
          <p:cNvPr name="TextBox 13" id="13"/>
          <p:cNvSpPr txBox="true"/>
          <p:nvPr/>
        </p:nvSpPr>
        <p:spPr>
          <a:xfrm rot="0">
            <a:off x="10414308" y="2593071"/>
            <a:ext cx="6492240" cy="374035"/>
          </a:xfrm>
          <a:prstGeom prst="rect">
            <a:avLst/>
          </a:prstGeom>
        </p:spPr>
        <p:txBody>
          <a:bodyPr anchor="t" rtlCol="false" tIns="0" lIns="0" bIns="0" rIns="0">
            <a:spAutoFit/>
          </a:bodyPr>
          <a:lstStyle/>
          <a:p>
            <a:pPr algn="l">
              <a:lnSpc>
                <a:spcPts val="2861"/>
              </a:lnSpc>
            </a:pPr>
            <a:r>
              <a:rPr lang="en-US" sz="2600">
                <a:solidFill>
                  <a:srgbClr val="FFFFFF"/>
                </a:solidFill>
                <a:latin typeface="Poppins Medium"/>
                <a:ea typeface="Poppins Medium"/>
                <a:cs typeface="Poppins Medium"/>
                <a:sym typeface="Poppins Medium"/>
              </a:rPr>
              <a:t>Transportadores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028700" y="2238639"/>
            <a:ext cx="11296577" cy="3874478"/>
            <a:chOff x="0" y="0"/>
            <a:chExt cx="15062102" cy="5165971"/>
          </a:xfrm>
        </p:grpSpPr>
        <p:sp>
          <p:nvSpPr>
            <p:cNvPr name="TextBox 3" id="3"/>
            <p:cNvSpPr txBox="true"/>
            <p:nvPr/>
          </p:nvSpPr>
          <p:spPr>
            <a:xfrm rot="0">
              <a:off x="0" y="426754"/>
              <a:ext cx="15062102" cy="4739217"/>
            </a:xfrm>
            <a:prstGeom prst="rect">
              <a:avLst/>
            </a:prstGeom>
          </p:spPr>
          <p:txBody>
            <a:bodyPr anchor="t" rtlCol="false" tIns="0" lIns="0" bIns="0" rIns="0">
              <a:spAutoFit/>
            </a:bodyPr>
            <a:lstStyle/>
            <a:p>
              <a:pPr algn="just">
                <a:lnSpc>
                  <a:spcPts val="4199"/>
                </a:lnSpc>
              </a:pPr>
              <a:r>
                <a:rPr lang="en-US" sz="2999">
                  <a:solidFill>
                    <a:srgbClr val="FFFFFF"/>
                  </a:solidFill>
                  <a:latin typeface="Poppins Light"/>
                  <a:ea typeface="Poppins Light"/>
                  <a:cs typeface="Poppins Light"/>
                  <a:sym typeface="Poppins Light"/>
                </a:rPr>
                <a:t>El trabajador es utilizado para mover Recursos que son tomados (seized) y liberados (released) por una tarea. También es usado para mover tareas de un lugar a otro</a:t>
              </a:r>
            </a:p>
            <a:p>
              <a:pPr algn="just">
                <a:lnSpc>
                  <a:spcPts val="4199"/>
                </a:lnSpc>
              </a:pPr>
            </a:p>
            <a:p>
              <a:pPr algn="just">
                <a:lnSpc>
                  <a:spcPts val="4199"/>
                </a:lnSpc>
              </a:pPr>
              <a:r>
                <a:rPr lang="en-US" sz="2999">
                  <a:solidFill>
                    <a:srgbClr val="FFFFFF"/>
                  </a:solidFill>
                  <a:latin typeface="Poppins Light"/>
                  <a:ea typeface="Poppins Light"/>
                  <a:cs typeface="Poppins Light"/>
                  <a:sym typeface="Poppins Light"/>
                </a:rPr>
                <a:t>Se puede utilizar un trabajador para transportar objetos de entidad entre ubicaciones de nodos. </a:t>
              </a:r>
            </a:p>
            <a:p>
              <a:pPr algn="just">
                <a:lnSpc>
                  <a:spcPts val="3499"/>
                </a:lnSpc>
              </a:pPr>
            </a:p>
          </p:txBody>
        </p:sp>
        <p:sp>
          <p:nvSpPr>
            <p:cNvPr name="AutoShape 4" id="4"/>
            <p:cNvSpPr/>
            <p:nvPr/>
          </p:nvSpPr>
          <p:spPr>
            <a:xfrm>
              <a:off x="0" y="12700"/>
              <a:ext cx="15062102" cy="0"/>
            </a:xfrm>
            <a:prstGeom prst="line">
              <a:avLst/>
            </a:prstGeom>
            <a:ln cap="rnd" w="25400">
              <a:solidFill>
                <a:srgbClr val="10B5BF"/>
              </a:solidFill>
              <a:prstDash val="solid"/>
              <a:headEnd type="none" len="sm" w="sm"/>
              <a:tailEnd type="none" len="sm" w="sm"/>
            </a:ln>
          </p:spPr>
        </p:sp>
      </p:grpSp>
      <p:sp>
        <p:nvSpPr>
          <p:cNvPr name="Freeform 5" id="5"/>
          <p:cNvSpPr/>
          <p:nvPr/>
        </p:nvSpPr>
        <p:spPr>
          <a:xfrm flipH="false" flipV="false" rot="0">
            <a:off x="13139667" y="2238639"/>
            <a:ext cx="3659844" cy="4897733"/>
          </a:xfrm>
          <a:custGeom>
            <a:avLst/>
            <a:gdLst/>
            <a:ahLst/>
            <a:cxnLst/>
            <a:rect r="r" b="b" t="t" l="l"/>
            <a:pathLst>
              <a:path h="4897733" w="3659844">
                <a:moveTo>
                  <a:pt x="0" y="0"/>
                </a:moveTo>
                <a:lnTo>
                  <a:pt x="3659845" y="0"/>
                </a:lnTo>
                <a:lnTo>
                  <a:pt x="3659845" y="4897733"/>
                </a:lnTo>
                <a:lnTo>
                  <a:pt x="0" y="4897733"/>
                </a:lnTo>
                <a:lnTo>
                  <a:pt x="0" y="0"/>
                </a:lnTo>
                <a:close/>
              </a:path>
            </a:pathLst>
          </a:custGeom>
          <a:blipFill>
            <a:blip r:embed="rId2"/>
            <a:stretch>
              <a:fillRect l="0" t="0" r="0" b="0"/>
            </a:stretch>
          </a:blipFill>
        </p:spPr>
      </p:sp>
      <p:grpSp>
        <p:nvGrpSpPr>
          <p:cNvPr name="Group 6" id="6"/>
          <p:cNvGrpSpPr/>
          <p:nvPr/>
        </p:nvGrpSpPr>
        <p:grpSpPr>
          <a:xfrm rot="0">
            <a:off x="1028700" y="307181"/>
            <a:ext cx="8238001" cy="1443038"/>
            <a:chOff x="0" y="0"/>
            <a:chExt cx="10984002" cy="1924050"/>
          </a:xfrm>
        </p:grpSpPr>
        <p:sp>
          <p:nvSpPr>
            <p:cNvPr name="TextBox 7" id="7"/>
            <p:cNvSpPr txBox="true"/>
            <p:nvPr/>
          </p:nvSpPr>
          <p:spPr>
            <a:xfrm rot="0">
              <a:off x="0" y="-9525"/>
              <a:ext cx="10984002" cy="1635125"/>
            </a:xfrm>
            <a:prstGeom prst="rect">
              <a:avLst/>
            </a:prstGeom>
          </p:spPr>
          <p:txBody>
            <a:bodyPr anchor="t" rtlCol="false" tIns="0" lIns="0" bIns="0" rIns="0">
              <a:spAutoFit/>
            </a:bodyPr>
            <a:lstStyle/>
            <a:p>
              <a:pPr algn="l">
                <a:lnSpc>
                  <a:spcPts val="9600"/>
                </a:lnSpc>
              </a:pPr>
              <a:r>
                <a:rPr lang="en-US" sz="8000">
                  <a:solidFill>
                    <a:srgbClr val="FFFFFF"/>
                  </a:solidFill>
                  <a:latin typeface="Poppins Medium"/>
                  <a:ea typeface="Poppins Medium"/>
                  <a:cs typeface="Poppins Medium"/>
                  <a:sym typeface="Poppins Medium"/>
                </a:rPr>
                <a:t>WORKER</a:t>
              </a:r>
            </a:p>
          </p:txBody>
        </p:sp>
        <p:sp>
          <p:nvSpPr>
            <p:cNvPr name="TextBox 8" id="8"/>
            <p:cNvSpPr txBox="true"/>
            <p:nvPr/>
          </p:nvSpPr>
          <p:spPr>
            <a:xfrm rot="0">
              <a:off x="0" y="1270000"/>
              <a:ext cx="10984002" cy="654051"/>
            </a:xfrm>
            <a:prstGeom prst="rect">
              <a:avLst/>
            </a:prstGeom>
          </p:spPr>
          <p:txBody>
            <a:bodyPr anchor="t" rtlCol="false" tIns="0" lIns="0" bIns="0" rIns="0">
              <a:spAutoFit/>
            </a:bodyPr>
            <a:lstStyle/>
            <a:p>
              <a:pPr algn="l">
                <a:lnSpc>
                  <a:spcPts val="4199"/>
                </a:lnSpc>
              </a:pPr>
              <a:r>
                <a:rPr lang="en-US" sz="2999">
                  <a:solidFill>
                    <a:srgbClr val="00C4CC"/>
                  </a:solidFill>
                  <a:latin typeface="Poppins Light Bold"/>
                  <a:ea typeface="Poppins Light Bold"/>
                  <a:cs typeface="Poppins Light Bold"/>
                  <a:sym typeface="Poppins Light Bold"/>
                </a:rPr>
                <a:t>Trabajador</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028700" y="2238639"/>
            <a:ext cx="11296577" cy="5969978"/>
            <a:chOff x="0" y="0"/>
            <a:chExt cx="15062102" cy="7959971"/>
          </a:xfrm>
        </p:grpSpPr>
        <p:sp>
          <p:nvSpPr>
            <p:cNvPr name="TextBox 3" id="3"/>
            <p:cNvSpPr txBox="true"/>
            <p:nvPr/>
          </p:nvSpPr>
          <p:spPr>
            <a:xfrm rot="0">
              <a:off x="0" y="426754"/>
              <a:ext cx="15062102" cy="7533217"/>
            </a:xfrm>
            <a:prstGeom prst="rect">
              <a:avLst/>
            </a:prstGeom>
          </p:spPr>
          <p:txBody>
            <a:bodyPr anchor="t" rtlCol="false" tIns="0" lIns="0" bIns="0" rIns="0">
              <a:spAutoFit/>
            </a:bodyPr>
            <a:lstStyle/>
            <a:p>
              <a:pPr algn="just">
                <a:lnSpc>
                  <a:spcPts val="4199"/>
                </a:lnSpc>
              </a:pPr>
              <a:r>
                <a:rPr lang="en-US" sz="2999">
                  <a:solidFill>
                    <a:srgbClr val="FFFFFF"/>
                  </a:solidFill>
                  <a:latin typeface="Poppins Light"/>
                  <a:ea typeface="Poppins Light"/>
                  <a:cs typeface="Poppins Light"/>
                  <a:sym typeface="Poppins Light"/>
                </a:rPr>
                <a:t>Resource Logic </a:t>
              </a:r>
            </a:p>
            <a:p>
              <a:pPr algn="just" marL="647697" indent="-323848" lvl="1">
                <a:lnSpc>
                  <a:spcPts val="4199"/>
                </a:lnSpc>
                <a:buFont typeface="Arial"/>
                <a:buChar char="•"/>
              </a:pPr>
              <a:r>
                <a:rPr lang="en-US" sz="2999">
                  <a:solidFill>
                    <a:srgbClr val="FFFFFF"/>
                  </a:solidFill>
                  <a:latin typeface="Poppins Light"/>
                  <a:ea typeface="Poppins Light"/>
                  <a:cs typeface="Poppins Light"/>
                  <a:sym typeface="Poppins Light"/>
                </a:rPr>
                <a:t>Capacity Type </a:t>
              </a:r>
            </a:p>
            <a:p>
              <a:pPr algn="just" marL="1295394" indent="-431798" lvl="2">
                <a:lnSpc>
                  <a:spcPts val="4199"/>
                </a:lnSpc>
                <a:buFont typeface="Arial"/>
                <a:buChar char="⚬"/>
              </a:pPr>
              <a:r>
                <a:rPr lang="en-US" sz="2999">
                  <a:solidFill>
                    <a:srgbClr val="FFFFFF"/>
                  </a:solidFill>
                  <a:latin typeface="Poppins Light"/>
                  <a:ea typeface="Poppins Light"/>
                  <a:cs typeface="Poppins Light"/>
                  <a:sym typeface="Poppins Light"/>
                </a:rPr>
                <a:t>Fixed Work </a:t>
              </a:r>
            </a:p>
            <a:p>
              <a:pPr algn="just" marL="1295394" indent="-431798" lvl="2">
                <a:lnSpc>
                  <a:spcPts val="4199"/>
                </a:lnSpc>
                <a:buFont typeface="Arial"/>
                <a:buChar char="⚬"/>
              </a:pPr>
              <a:r>
                <a:rPr lang="en-US" sz="2999">
                  <a:solidFill>
                    <a:srgbClr val="FFFFFF"/>
                  </a:solidFill>
                  <a:latin typeface="Poppins Light"/>
                  <a:ea typeface="Poppins Light"/>
                  <a:cs typeface="Poppins Light"/>
                  <a:sym typeface="Poppins Light"/>
                </a:rPr>
                <a:t>Schedule </a:t>
              </a:r>
            </a:p>
            <a:p>
              <a:pPr algn="just" marL="647697" indent="-323848" lvl="1">
                <a:lnSpc>
                  <a:spcPts val="4199"/>
                </a:lnSpc>
                <a:buFont typeface="Arial"/>
                <a:buChar char="•"/>
              </a:pPr>
              <a:r>
                <a:rPr lang="en-US" sz="2999">
                  <a:solidFill>
                    <a:srgbClr val="FFFFFF"/>
                  </a:solidFill>
                  <a:latin typeface="Poppins Light"/>
                  <a:ea typeface="Poppins Light"/>
                  <a:cs typeface="Poppins Light"/>
                  <a:sym typeface="Poppins Light"/>
                </a:rPr>
                <a:t>Routing Logic </a:t>
              </a:r>
            </a:p>
            <a:p>
              <a:pPr algn="just" marL="1295394" indent="-431798" lvl="2">
                <a:lnSpc>
                  <a:spcPts val="4199"/>
                </a:lnSpc>
                <a:buFont typeface="Arial"/>
                <a:buChar char="⚬"/>
              </a:pPr>
              <a:r>
                <a:rPr lang="en-US" sz="2999">
                  <a:solidFill>
                    <a:srgbClr val="FFFFFF"/>
                  </a:solidFill>
                  <a:latin typeface="Poppins Light"/>
                  <a:ea typeface="Poppins Light"/>
                  <a:cs typeface="Poppins Light"/>
                  <a:sym typeface="Poppins Light"/>
                </a:rPr>
                <a:t>Initial Node (Home) </a:t>
              </a:r>
            </a:p>
            <a:p>
              <a:pPr algn="just" marL="647697" indent="-323848" lvl="1">
                <a:lnSpc>
                  <a:spcPts val="4199"/>
                </a:lnSpc>
                <a:buFont typeface="Arial"/>
                <a:buChar char="•"/>
              </a:pPr>
              <a:r>
                <a:rPr lang="en-US" sz="2999">
                  <a:solidFill>
                    <a:srgbClr val="FFFFFF"/>
                  </a:solidFill>
                  <a:latin typeface="Poppins Light"/>
                  <a:ea typeface="Poppins Light"/>
                  <a:cs typeface="Poppins Light"/>
                  <a:sym typeface="Poppins Light"/>
                </a:rPr>
                <a:t>Transport Logic </a:t>
              </a:r>
            </a:p>
            <a:p>
              <a:pPr algn="just" marL="1295394" indent="-431798" lvl="2">
                <a:lnSpc>
                  <a:spcPts val="4199"/>
                </a:lnSpc>
                <a:buFont typeface="Arial"/>
                <a:buChar char="⚬"/>
              </a:pPr>
              <a:r>
                <a:rPr lang="en-US" sz="2999">
                  <a:solidFill>
                    <a:srgbClr val="FFFFFF"/>
                  </a:solidFill>
                  <a:latin typeface="Poppins Light"/>
                  <a:ea typeface="Poppins Light"/>
                  <a:cs typeface="Poppins Light"/>
                  <a:sym typeface="Poppins Light"/>
                </a:rPr>
                <a:t>Initital Ride Capacity </a:t>
              </a:r>
            </a:p>
            <a:p>
              <a:pPr algn="just" marL="1295394" indent="-431798" lvl="2">
                <a:lnSpc>
                  <a:spcPts val="4199"/>
                </a:lnSpc>
                <a:buFont typeface="Arial"/>
                <a:buChar char="⚬"/>
              </a:pPr>
              <a:r>
                <a:rPr lang="en-US" sz="2999">
                  <a:solidFill>
                    <a:srgbClr val="FFFFFF"/>
                  </a:solidFill>
                  <a:latin typeface="Poppins Light"/>
                  <a:ea typeface="Poppins Light"/>
                  <a:cs typeface="Poppins Light"/>
                  <a:sym typeface="Poppins Light"/>
                </a:rPr>
                <a:t>Load Time </a:t>
              </a:r>
            </a:p>
            <a:p>
              <a:pPr algn="just" marL="1295394" indent="-431798" lvl="2">
                <a:lnSpc>
                  <a:spcPts val="4199"/>
                </a:lnSpc>
                <a:buFont typeface="Arial"/>
                <a:buChar char="⚬"/>
              </a:pPr>
              <a:r>
                <a:rPr lang="en-US" sz="2999">
                  <a:solidFill>
                    <a:srgbClr val="FFFFFF"/>
                  </a:solidFill>
                  <a:latin typeface="Poppins Light"/>
                  <a:ea typeface="Poppins Light"/>
                  <a:cs typeface="Poppins Light"/>
                  <a:sym typeface="Poppins Light"/>
                </a:rPr>
                <a:t>Unload Time </a:t>
              </a:r>
            </a:p>
            <a:p>
              <a:pPr algn="just">
                <a:lnSpc>
                  <a:spcPts val="3499"/>
                </a:lnSpc>
              </a:pPr>
            </a:p>
          </p:txBody>
        </p:sp>
        <p:sp>
          <p:nvSpPr>
            <p:cNvPr name="AutoShape 4" id="4"/>
            <p:cNvSpPr/>
            <p:nvPr/>
          </p:nvSpPr>
          <p:spPr>
            <a:xfrm>
              <a:off x="0" y="12700"/>
              <a:ext cx="15062102" cy="0"/>
            </a:xfrm>
            <a:prstGeom prst="line">
              <a:avLst/>
            </a:prstGeom>
            <a:ln cap="rnd" w="25400">
              <a:solidFill>
                <a:srgbClr val="10B5BF"/>
              </a:solidFill>
              <a:prstDash val="solid"/>
              <a:headEnd type="none" len="sm" w="sm"/>
              <a:tailEnd type="none" len="sm" w="sm"/>
            </a:ln>
          </p:spPr>
        </p:sp>
      </p:grpSp>
      <p:sp>
        <p:nvSpPr>
          <p:cNvPr name="Freeform 5" id="5"/>
          <p:cNvSpPr/>
          <p:nvPr/>
        </p:nvSpPr>
        <p:spPr>
          <a:xfrm flipH="false" flipV="false" rot="0">
            <a:off x="13139667" y="2238639"/>
            <a:ext cx="3659844" cy="4897733"/>
          </a:xfrm>
          <a:custGeom>
            <a:avLst/>
            <a:gdLst/>
            <a:ahLst/>
            <a:cxnLst/>
            <a:rect r="r" b="b" t="t" l="l"/>
            <a:pathLst>
              <a:path h="4897733" w="3659844">
                <a:moveTo>
                  <a:pt x="0" y="0"/>
                </a:moveTo>
                <a:lnTo>
                  <a:pt x="3659845" y="0"/>
                </a:lnTo>
                <a:lnTo>
                  <a:pt x="3659845" y="4897733"/>
                </a:lnTo>
                <a:lnTo>
                  <a:pt x="0" y="4897733"/>
                </a:lnTo>
                <a:lnTo>
                  <a:pt x="0" y="0"/>
                </a:lnTo>
                <a:close/>
              </a:path>
            </a:pathLst>
          </a:custGeom>
          <a:blipFill>
            <a:blip r:embed="rId2"/>
            <a:stretch>
              <a:fillRect l="0" t="0" r="0" b="0"/>
            </a:stretch>
          </a:blipFill>
        </p:spPr>
      </p:sp>
      <p:grpSp>
        <p:nvGrpSpPr>
          <p:cNvPr name="Group 6" id="6"/>
          <p:cNvGrpSpPr/>
          <p:nvPr/>
        </p:nvGrpSpPr>
        <p:grpSpPr>
          <a:xfrm rot="0">
            <a:off x="1028700" y="307181"/>
            <a:ext cx="8238001" cy="1443038"/>
            <a:chOff x="0" y="0"/>
            <a:chExt cx="10984002" cy="1924050"/>
          </a:xfrm>
        </p:grpSpPr>
        <p:sp>
          <p:nvSpPr>
            <p:cNvPr name="TextBox 7" id="7"/>
            <p:cNvSpPr txBox="true"/>
            <p:nvPr/>
          </p:nvSpPr>
          <p:spPr>
            <a:xfrm rot="0">
              <a:off x="0" y="-9525"/>
              <a:ext cx="10984002" cy="1635125"/>
            </a:xfrm>
            <a:prstGeom prst="rect">
              <a:avLst/>
            </a:prstGeom>
          </p:spPr>
          <p:txBody>
            <a:bodyPr anchor="t" rtlCol="false" tIns="0" lIns="0" bIns="0" rIns="0">
              <a:spAutoFit/>
            </a:bodyPr>
            <a:lstStyle/>
            <a:p>
              <a:pPr algn="l">
                <a:lnSpc>
                  <a:spcPts val="9600"/>
                </a:lnSpc>
              </a:pPr>
              <a:r>
                <a:rPr lang="en-US" sz="8000">
                  <a:solidFill>
                    <a:srgbClr val="FFFFFF"/>
                  </a:solidFill>
                  <a:latin typeface="Poppins Medium"/>
                  <a:ea typeface="Poppins Medium"/>
                  <a:cs typeface="Poppins Medium"/>
                  <a:sym typeface="Poppins Medium"/>
                </a:rPr>
                <a:t>WORKER</a:t>
              </a:r>
            </a:p>
          </p:txBody>
        </p:sp>
        <p:sp>
          <p:nvSpPr>
            <p:cNvPr name="TextBox 8" id="8"/>
            <p:cNvSpPr txBox="true"/>
            <p:nvPr/>
          </p:nvSpPr>
          <p:spPr>
            <a:xfrm rot="0">
              <a:off x="0" y="1270000"/>
              <a:ext cx="10984002" cy="654051"/>
            </a:xfrm>
            <a:prstGeom prst="rect">
              <a:avLst/>
            </a:prstGeom>
          </p:spPr>
          <p:txBody>
            <a:bodyPr anchor="t" rtlCol="false" tIns="0" lIns="0" bIns="0" rIns="0">
              <a:spAutoFit/>
            </a:bodyPr>
            <a:lstStyle/>
            <a:p>
              <a:pPr algn="l">
                <a:lnSpc>
                  <a:spcPts val="4199"/>
                </a:lnSpc>
              </a:pPr>
              <a:r>
                <a:rPr lang="en-US" sz="2999">
                  <a:solidFill>
                    <a:srgbClr val="00C4CC"/>
                  </a:solidFill>
                  <a:latin typeface="Poppins Light Bold"/>
                  <a:ea typeface="Poppins Light Bold"/>
                  <a:cs typeface="Poppins Light Bold"/>
                  <a:sym typeface="Poppins Light Bold"/>
                </a:rPr>
                <a:t>Trabajador</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028700" y="2238639"/>
            <a:ext cx="11296577" cy="2302853"/>
            <a:chOff x="0" y="0"/>
            <a:chExt cx="15062102" cy="3070471"/>
          </a:xfrm>
        </p:grpSpPr>
        <p:sp>
          <p:nvSpPr>
            <p:cNvPr name="TextBox 3" id="3"/>
            <p:cNvSpPr txBox="true"/>
            <p:nvPr/>
          </p:nvSpPr>
          <p:spPr>
            <a:xfrm rot="0">
              <a:off x="0" y="426754"/>
              <a:ext cx="15062102" cy="2643717"/>
            </a:xfrm>
            <a:prstGeom prst="rect">
              <a:avLst/>
            </a:prstGeom>
          </p:spPr>
          <p:txBody>
            <a:bodyPr anchor="t" rtlCol="false" tIns="0" lIns="0" bIns="0" rIns="0">
              <a:spAutoFit/>
            </a:bodyPr>
            <a:lstStyle/>
            <a:p>
              <a:pPr algn="just">
                <a:lnSpc>
                  <a:spcPts val="4199"/>
                </a:lnSpc>
              </a:pPr>
              <a:r>
                <a:rPr lang="en-US" sz="2999">
                  <a:solidFill>
                    <a:srgbClr val="FFFFFF"/>
                  </a:solidFill>
                  <a:latin typeface="Poppins Light"/>
                  <a:ea typeface="Poppins Light"/>
                  <a:cs typeface="Poppins Light"/>
                  <a:sym typeface="Poppins Light"/>
                </a:rPr>
                <a:t>Es un agente tipo transportador, es decir, que tiene la capacidad de recoger, transportar y dejar otras entidades.</a:t>
              </a:r>
            </a:p>
            <a:p>
              <a:pPr algn="just">
                <a:lnSpc>
                  <a:spcPts val="4199"/>
                </a:lnSpc>
              </a:pPr>
              <a:r>
                <a:rPr lang="en-US" sz="2999">
                  <a:solidFill>
                    <a:srgbClr val="FFFFFF"/>
                  </a:solidFill>
                  <a:latin typeface="Poppins Light"/>
                  <a:ea typeface="Poppins Light"/>
                  <a:cs typeface="Poppins Light"/>
                  <a:sym typeface="Poppins Light"/>
                </a:rPr>
                <a:t>Simula el comportamiento de un vehículo de la vida real</a:t>
              </a:r>
            </a:p>
            <a:p>
              <a:pPr algn="just">
                <a:lnSpc>
                  <a:spcPts val="3499"/>
                </a:lnSpc>
              </a:pPr>
            </a:p>
          </p:txBody>
        </p:sp>
        <p:sp>
          <p:nvSpPr>
            <p:cNvPr name="AutoShape 4" id="4"/>
            <p:cNvSpPr/>
            <p:nvPr/>
          </p:nvSpPr>
          <p:spPr>
            <a:xfrm>
              <a:off x="0" y="12700"/>
              <a:ext cx="15062102" cy="0"/>
            </a:xfrm>
            <a:prstGeom prst="line">
              <a:avLst/>
            </a:prstGeom>
            <a:ln cap="rnd" w="25400">
              <a:solidFill>
                <a:srgbClr val="10B5BF"/>
              </a:solidFill>
              <a:prstDash val="solid"/>
              <a:headEnd type="none" len="sm" w="sm"/>
              <a:tailEnd type="none" len="sm" w="sm"/>
            </a:ln>
          </p:spPr>
        </p:sp>
      </p:grpSp>
      <p:sp>
        <p:nvSpPr>
          <p:cNvPr name="Freeform 5" id="5"/>
          <p:cNvSpPr/>
          <p:nvPr/>
        </p:nvSpPr>
        <p:spPr>
          <a:xfrm flipH="false" flipV="false" rot="0">
            <a:off x="12325277" y="5143500"/>
            <a:ext cx="4045863" cy="4218028"/>
          </a:xfrm>
          <a:custGeom>
            <a:avLst/>
            <a:gdLst/>
            <a:ahLst/>
            <a:cxnLst/>
            <a:rect r="r" b="b" t="t" l="l"/>
            <a:pathLst>
              <a:path h="4218028" w="4045863">
                <a:moveTo>
                  <a:pt x="0" y="0"/>
                </a:moveTo>
                <a:lnTo>
                  <a:pt x="4045863" y="0"/>
                </a:lnTo>
                <a:lnTo>
                  <a:pt x="4045863" y="4218028"/>
                </a:lnTo>
                <a:lnTo>
                  <a:pt x="0" y="4218028"/>
                </a:lnTo>
                <a:lnTo>
                  <a:pt x="0" y="0"/>
                </a:lnTo>
                <a:close/>
              </a:path>
            </a:pathLst>
          </a:custGeom>
          <a:blipFill>
            <a:blip r:embed="rId2"/>
            <a:stretch>
              <a:fillRect l="0" t="0" r="0" b="0"/>
            </a:stretch>
          </a:blipFill>
        </p:spPr>
      </p:sp>
      <p:grpSp>
        <p:nvGrpSpPr>
          <p:cNvPr name="Group 6" id="6"/>
          <p:cNvGrpSpPr/>
          <p:nvPr/>
        </p:nvGrpSpPr>
        <p:grpSpPr>
          <a:xfrm rot="0">
            <a:off x="1028700" y="307181"/>
            <a:ext cx="8238001" cy="1443038"/>
            <a:chOff x="0" y="0"/>
            <a:chExt cx="10984002" cy="1924050"/>
          </a:xfrm>
        </p:grpSpPr>
        <p:sp>
          <p:nvSpPr>
            <p:cNvPr name="TextBox 7" id="7"/>
            <p:cNvSpPr txBox="true"/>
            <p:nvPr/>
          </p:nvSpPr>
          <p:spPr>
            <a:xfrm rot="0">
              <a:off x="0" y="-9525"/>
              <a:ext cx="10984002" cy="1635125"/>
            </a:xfrm>
            <a:prstGeom prst="rect">
              <a:avLst/>
            </a:prstGeom>
          </p:spPr>
          <p:txBody>
            <a:bodyPr anchor="t" rtlCol="false" tIns="0" lIns="0" bIns="0" rIns="0">
              <a:spAutoFit/>
            </a:bodyPr>
            <a:lstStyle/>
            <a:p>
              <a:pPr algn="l">
                <a:lnSpc>
                  <a:spcPts val="9600"/>
                </a:lnSpc>
              </a:pPr>
              <a:r>
                <a:rPr lang="en-US" sz="8000">
                  <a:solidFill>
                    <a:srgbClr val="FFFFFF"/>
                  </a:solidFill>
                  <a:latin typeface="Poppins Medium"/>
                  <a:ea typeface="Poppins Medium"/>
                  <a:cs typeface="Poppins Medium"/>
                  <a:sym typeface="Poppins Medium"/>
                </a:rPr>
                <a:t>VEHICLE</a:t>
              </a:r>
            </a:p>
          </p:txBody>
        </p:sp>
        <p:sp>
          <p:nvSpPr>
            <p:cNvPr name="TextBox 8" id="8"/>
            <p:cNvSpPr txBox="true"/>
            <p:nvPr/>
          </p:nvSpPr>
          <p:spPr>
            <a:xfrm rot="0">
              <a:off x="0" y="1270000"/>
              <a:ext cx="10984002" cy="654051"/>
            </a:xfrm>
            <a:prstGeom prst="rect">
              <a:avLst/>
            </a:prstGeom>
          </p:spPr>
          <p:txBody>
            <a:bodyPr anchor="t" rtlCol="false" tIns="0" lIns="0" bIns="0" rIns="0">
              <a:spAutoFit/>
            </a:bodyPr>
            <a:lstStyle/>
            <a:p>
              <a:pPr algn="l">
                <a:lnSpc>
                  <a:spcPts val="4199"/>
                </a:lnSpc>
              </a:pPr>
              <a:r>
                <a:rPr lang="en-US" sz="2999">
                  <a:solidFill>
                    <a:srgbClr val="00C4CC"/>
                  </a:solidFill>
                  <a:latin typeface="Poppins Light Bold"/>
                  <a:ea typeface="Poppins Light Bold"/>
                  <a:cs typeface="Poppins Light Bold"/>
                  <a:sym typeface="Poppins Light Bold"/>
                </a:rPr>
                <a:t>Vehículo</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028700" y="2238639"/>
            <a:ext cx="11296577" cy="4922228"/>
            <a:chOff x="0" y="0"/>
            <a:chExt cx="15062102" cy="6562971"/>
          </a:xfrm>
        </p:grpSpPr>
        <p:sp>
          <p:nvSpPr>
            <p:cNvPr name="TextBox 3" id="3"/>
            <p:cNvSpPr txBox="true"/>
            <p:nvPr/>
          </p:nvSpPr>
          <p:spPr>
            <a:xfrm rot="0">
              <a:off x="0" y="426754"/>
              <a:ext cx="15062102" cy="6136217"/>
            </a:xfrm>
            <a:prstGeom prst="rect">
              <a:avLst/>
            </a:prstGeom>
          </p:spPr>
          <p:txBody>
            <a:bodyPr anchor="t" rtlCol="false" tIns="0" lIns="0" bIns="0" rIns="0">
              <a:spAutoFit/>
            </a:bodyPr>
            <a:lstStyle/>
            <a:p>
              <a:pPr algn="just">
                <a:lnSpc>
                  <a:spcPts val="4199"/>
                </a:lnSpc>
              </a:pPr>
              <a:r>
                <a:rPr lang="en-US" sz="2999">
                  <a:solidFill>
                    <a:srgbClr val="FFFFFF"/>
                  </a:solidFill>
                  <a:latin typeface="Poppins Light"/>
                  <a:ea typeface="Poppins Light"/>
                  <a:cs typeface="Poppins Light"/>
                  <a:sym typeface="Poppins Light"/>
                </a:rPr>
                <a:t>Transport Logic</a:t>
              </a:r>
            </a:p>
            <a:p>
              <a:pPr algn="just" marL="647697" indent="-323848" lvl="1">
                <a:lnSpc>
                  <a:spcPts val="4199"/>
                </a:lnSpc>
                <a:buFont typeface="Arial"/>
                <a:buChar char="•"/>
              </a:pPr>
              <a:r>
                <a:rPr lang="en-US" sz="2999">
                  <a:solidFill>
                    <a:srgbClr val="FFFFFF"/>
                  </a:solidFill>
                  <a:latin typeface="Poppins Light"/>
                  <a:ea typeface="Poppins Light"/>
                  <a:cs typeface="Poppins Light"/>
                  <a:sym typeface="Poppins Light"/>
                </a:rPr>
                <a:t>Initial Ride Capacity: establece la capacidad de carga inicial del transportador. </a:t>
              </a:r>
            </a:p>
            <a:p>
              <a:pPr algn="just" marL="647697" indent="-323848" lvl="1">
                <a:lnSpc>
                  <a:spcPts val="4199"/>
                </a:lnSpc>
                <a:buFont typeface="Arial"/>
                <a:buChar char="•"/>
              </a:pPr>
              <a:r>
                <a:rPr lang="en-US" sz="2999">
                  <a:solidFill>
                    <a:srgbClr val="FFFFFF"/>
                  </a:solidFill>
                  <a:latin typeface="Poppins Light"/>
                  <a:ea typeface="Poppins Light"/>
                  <a:cs typeface="Poppins Light"/>
                  <a:sym typeface="Poppins Light"/>
                </a:rPr>
                <a:t>Task Selection Strategy: indica la estrategia utilizada por el objeto para seleccionar su próxima tarea de recogida o entrega. </a:t>
              </a:r>
            </a:p>
            <a:p>
              <a:pPr algn="just" marL="647697" indent="-323848" lvl="1">
                <a:lnSpc>
                  <a:spcPts val="4199"/>
                </a:lnSpc>
                <a:buFont typeface="Arial"/>
                <a:buChar char="•"/>
              </a:pPr>
              <a:r>
                <a:rPr lang="en-US" sz="2999">
                  <a:solidFill>
                    <a:srgbClr val="FFFFFF"/>
                  </a:solidFill>
                  <a:latin typeface="Poppins Light"/>
                  <a:ea typeface="Poppins Light"/>
                  <a:cs typeface="Poppins Light"/>
                  <a:sym typeface="Poppins Light"/>
                </a:rPr>
                <a:t>Load Time: establece el tiempo requerido para que el objeto pueda cargar una entidad. </a:t>
              </a:r>
            </a:p>
            <a:p>
              <a:pPr algn="just">
                <a:lnSpc>
                  <a:spcPts val="3499"/>
                </a:lnSpc>
              </a:pPr>
            </a:p>
          </p:txBody>
        </p:sp>
        <p:sp>
          <p:nvSpPr>
            <p:cNvPr name="AutoShape 4" id="4"/>
            <p:cNvSpPr/>
            <p:nvPr/>
          </p:nvSpPr>
          <p:spPr>
            <a:xfrm>
              <a:off x="0" y="12700"/>
              <a:ext cx="15062102" cy="0"/>
            </a:xfrm>
            <a:prstGeom prst="line">
              <a:avLst/>
            </a:prstGeom>
            <a:ln cap="rnd" w="25400">
              <a:solidFill>
                <a:srgbClr val="10B5BF"/>
              </a:solidFill>
              <a:prstDash val="solid"/>
              <a:headEnd type="none" len="sm" w="sm"/>
              <a:tailEnd type="none" len="sm" w="sm"/>
            </a:ln>
          </p:spPr>
        </p:sp>
      </p:grpSp>
      <p:sp>
        <p:nvSpPr>
          <p:cNvPr name="Freeform 5" id="5"/>
          <p:cNvSpPr/>
          <p:nvPr/>
        </p:nvSpPr>
        <p:spPr>
          <a:xfrm flipH="false" flipV="false" rot="0">
            <a:off x="10669656" y="6245936"/>
            <a:ext cx="7304864" cy="3718497"/>
          </a:xfrm>
          <a:custGeom>
            <a:avLst/>
            <a:gdLst/>
            <a:ahLst/>
            <a:cxnLst/>
            <a:rect r="r" b="b" t="t" l="l"/>
            <a:pathLst>
              <a:path h="3718497" w="7304864">
                <a:moveTo>
                  <a:pt x="0" y="0"/>
                </a:moveTo>
                <a:lnTo>
                  <a:pt x="7304864" y="0"/>
                </a:lnTo>
                <a:lnTo>
                  <a:pt x="7304864" y="3718497"/>
                </a:lnTo>
                <a:lnTo>
                  <a:pt x="0" y="3718497"/>
                </a:lnTo>
                <a:lnTo>
                  <a:pt x="0" y="0"/>
                </a:lnTo>
                <a:close/>
              </a:path>
            </a:pathLst>
          </a:custGeom>
          <a:blipFill>
            <a:blip r:embed="rId2"/>
            <a:stretch>
              <a:fillRect l="0" t="0" r="0" b="0"/>
            </a:stretch>
          </a:blipFill>
        </p:spPr>
      </p:sp>
      <p:grpSp>
        <p:nvGrpSpPr>
          <p:cNvPr name="Group 6" id="6"/>
          <p:cNvGrpSpPr/>
          <p:nvPr/>
        </p:nvGrpSpPr>
        <p:grpSpPr>
          <a:xfrm rot="0">
            <a:off x="1028700" y="307181"/>
            <a:ext cx="8238001" cy="1443038"/>
            <a:chOff x="0" y="0"/>
            <a:chExt cx="10984002" cy="1924050"/>
          </a:xfrm>
        </p:grpSpPr>
        <p:sp>
          <p:nvSpPr>
            <p:cNvPr name="TextBox 7" id="7"/>
            <p:cNvSpPr txBox="true"/>
            <p:nvPr/>
          </p:nvSpPr>
          <p:spPr>
            <a:xfrm rot="0">
              <a:off x="0" y="-9525"/>
              <a:ext cx="10984002" cy="1635125"/>
            </a:xfrm>
            <a:prstGeom prst="rect">
              <a:avLst/>
            </a:prstGeom>
          </p:spPr>
          <p:txBody>
            <a:bodyPr anchor="t" rtlCol="false" tIns="0" lIns="0" bIns="0" rIns="0">
              <a:spAutoFit/>
            </a:bodyPr>
            <a:lstStyle/>
            <a:p>
              <a:pPr algn="l">
                <a:lnSpc>
                  <a:spcPts val="9600"/>
                </a:lnSpc>
              </a:pPr>
              <a:r>
                <a:rPr lang="en-US" sz="8000">
                  <a:solidFill>
                    <a:srgbClr val="FFFFFF"/>
                  </a:solidFill>
                  <a:latin typeface="Poppins Medium"/>
                  <a:ea typeface="Poppins Medium"/>
                  <a:cs typeface="Poppins Medium"/>
                  <a:sym typeface="Poppins Medium"/>
                </a:rPr>
                <a:t>VEHICLE</a:t>
              </a:r>
            </a:p>
          </p:txBody>
        </p:sp>
        <p:sp>
          <p:nvSpPr>
            <p:cNvPr name="TextBox 8" id="8"/>
            <p:cNvSpPr txBox="true"/>
            <p:nvPr/>
          </p:nvSpPr>
          <p:spPr>
            <a:xfrm rot="0">
              <a:off x="0" y="1270000"/>
              <a:ext cx="10984002" cy="654051"/>
            </a:xfrm>
            <a:prstGeom prst="rect">
              <a:avLst/>
            </a:prstGeom>
          </p:spPr>
          <p:txBody>
            <a:bodyPr anchor="t" rtlCol="false" tIns="0" lIns="0" bIns="0" rIns="0">
              <a:spAutoFit/>
            </a:bodyPr>
            <a:lstStyle/>
            <a:p>
              <a:pPr algn="l">
                <a:lnSpc>
                  <a:spcPts val="4199"/>
                </a:lnSpc>
              </a:pPr>
              <a:r>
                <a:rPr lang="en-US" sz="2999">
                  <a:solidFill>
                    <a:srgbClr val="00C4CC"/>
                  </a:solidFill>
                  <a:latin typeface="Poppins Light Bold"/>
                  <a:ea typeface="Poppins Light Bold"/>
                  <a:cs typeface="Poppins Light Bold"/>
                  <a:sym typeface="Poppins Light Bold"/>
                </a:rPr>
                <a:t>Vehículo</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028700" y="2238639"/>
            <a:ext cx="11296577" cy="5446103"/>
            <a:chOff x="0" y="0"/>
            <a:chExt cx="15062102" cy="7261471"/>
          </a:xfrm>
        </p:grpSpPr>
        <p:sp>
          <p:nvSpPr>
            <p:cNvPr name="TextBox 3" id="3"/>
            <p:cNvSpPr txBox="true"/>
            <p:nvPr/>
          </p:nvSpPr>
          <p:spPr>
            <a:xfrm rot="0">
              <a:off x="0" y="426754"/>
              <a:ext cx="15062102" cy="6834717"/>
            </a:xfrm>
            <a:prstGeom prst="rect">
              <a:avLst/>
            </a:prstGeom>
          </p:spPr>
          <p:txBody>
            <a:bodyPr anchor="t" rtlCol="false" tIns="0" lIns="0" bIns="0" rIns="0">
              <a:spAutoFit/>
            </a:bodyPr>
            <a:lstStyle/>
            <a:p>
              <a:pPr algn="just">
                <a:lnSpc>
                  <a:spcPts val="4199"/>
                </a:lnSpc>
              </a:pPr>
              <a:r>
                <a:rPr lang="en-US" sz="2999">
                  <a:solidFill>
                    <a:srgbClr val="FFFFFF"/>
                  </a:solidFill>
                  <a:latin typeface="Poppins Light"/>
                  <a:ea typeface="Poppins Light"/>
                  <a:cs typeface="Poppins Light"/>
                  <a:sym typeface="Poppins Light"/>
                </a:rPr>
                <a:t>Travel Logic</a:t>
              </a:r>
            </a:p>
            <a:p>
              <a:pPr algn="just" marL="647697" indent="-323848" lvl="1">
                <a:lnSpc>
                  <a:spcPts val="4199"/>
                </a:lnSpc>
                <a:buFont typeface="Arial"/>
                <a:buChar char="•"/>
              </a:pPr>
              <a:r>
                <a:rPr lang="en-US" sz="2999">
                  <a:solidFill>
                    <a:srgbClr val="FFFFFF"/>
                  </a:solidFill>
                  <a:latin typeface="Poppins Light"/>
                  <a:ea typeface="Poppins Light"/>
                  <a:cs typeface="Poppins Light"/>
                  <a:sym typeface="Poppins Light"/>
                </a:rPr>
                <a:t>Initial Desired Speed: define el valor inicial de la velocidad del objeto. </a:t>
              </a:r>
            </a:p>
            <a:p>
              <a:pPr algn="just" marL="647697" indent="-323848" lvl="1">
                <a:lnSpc>
                  <a:spcPts val="4199"/>
                </a:lnSpc>
                <a:buFont typeface="Arial"/>
                <a:buChar char="•"/>
              </a:pPr>
              <a:r>
                <a:rPr lang="en-US" sz="2999">
                  <a:solidFill>
                    <a:srgbClr val="FFFFFF"/>
                  </a:solidFill>
                  <a:latin typeface="Poppins Light"/>
                  <a:ea typeface="Poppins Light"/>
                  <a:cs typeface="Poppins Light"/>
                  <a:sym typeface="Poppins Light"/>
                </a:rPr>
                <a:t>Initial Travel Mode: define el modo de viaje inicial para el objeto. </a:t>
              </a:r>
            </a:p>
            <a:p>
              <a:pPr algn="just" marL="647697" indent="-323848" lvl="1">
                <a:lnSpc>
                  <a:spcPts val="4199"/>
                </a:lnSpc>
                <a:buFont typeface="Arial"/>
                <a:buChar char="•"/>
              </a:pPr>
              <a:r>
                <a:rPr lang="en-US" sz="2999">
                  <a:solidFill>
                    <a:srgbClr val="FFFFFF"/>
                  </a:solidFill>
                  <a:latin typeface="Poppins Light"/>
                  <a:ea typeface="Poppins Light"/>
                  <a:cs typeface="Poppins Light"/>
                  <a:sym typeface="Poppins Light"/>
                </a:rPr>
                <a:t>Initial Network: define la red inicial que seguirá el objeto para realizar su recorrido.</a:t>
              </a:r>
            </a:p>
            <a:p>
              <a:pPr algn="just">
                <a:lnSpc>
                  <a:spcPts val="4199"/>
                </a:lnSpc>
              </a:pPr>
            </a:p>
            <a:p>
              <a:pPr algn="just">
                <a:lnSpc>
                  <a:spcPts val="4199"/>
                </a:lnSpc>
              </a:pPr>
            </a:p>
            <a:p>
              <a:pPr algn="just">
                <a:lnSpc>
                  <a:spcPts val="3499"/>
                </a:lnSpc>
              </a:pPr>
            </a:p>
          </p:txBody>
        </p:sp>
        <p:sp>
          <p:nvSpPr>
            <p:cNvPr name="AutoShape 4" id="4"/>
            <p:cNvSpPr/>
            <p:nvPr/>
          </p:nvSpPr>
          <p:spPr>
            <a:xfrm>
              <a:off x="0" y="12700"/>
              <a:ext cx="15062102" cy="0"/>
            </a:xfrm>
            <a:prstGeom prst="line">
              <a:avLst/>
            </a:prstGeom>
            <a:ln cap="rnd" w="25400">
              <a:solidFill>
                <a:srgbClr val="10B5BF"/>
              </a:solidFill>
              <a:prstDash val="solid"/>
              <a:headEnd type="none" len="sm" w="sm"/>
              <a:tailEnd type="none" len="sm" w="sm"/>
            </a:ln>
          </p:spPr>
        </p:sp>
      </p:grpSp>
      <p:sp>
        <p:nvSpPr>
          <p:cNvPr name="Freeform 5" id="5"/>
          <p:cNvSpPr/>
          <p:nvPr/>
        </p:nvSpPr>
        <p:spPr>
          <a:xfrm flipH="false" flipV="false" rot="0">
            <a:off x="8769747" y="6064976"/>
            <a:ext cx="9027328" cy="3697263"/>
          </a:xfrm>
          <a:custGeom>
            <a:avLst/>
            <a:gdLst/>
            <a:ahLst/>
            <a:cxnLst/>
            <a:rect r="r" b="b" t="t" l="l"/>
            <a:pathLst>
              <a:path h="3697263" w="9027328">
                <a:moveTo>
                  <a:pt x="0" y="0"/>
                </a:moveTo>
                <a:lnTo>
                  <a:pt x="9027327" y="0"/>
                </a:lnTo>
                <a:lnTo>
                  <a:pt x="9027327" y="3697263"/>
                </a:lnTo>
                <a:lnTo>
                  <a:pt x="0" y="3697263"/>
                </a:lnTo>
                <a:lnTo>
                  <a:pt x="0" y="0"/>
                </a:lnTo>
                <a:close/>
              </a:path>
            </a:pathLst>
          </a:custGeom>
          <a:blipFill>
            <a:blip r:embed="rId2"/>
            <a:stretch>
              <a:fillRect l="0" t="0" r="0" b="0"/>
            </a:stretch>
          </a:blipFill>
        </p:spPr>
      </p:sp>
      <p:grpSp>
        <p:nvGrpSpPr>
          <p:cNvPr name="Group 6" id="6"/>
          <p:cNvGrpSpPr/>
          <p:nvPr/>
        </p:nvGrpSpPr>
        <p:grpSpPr>
          <a:xfrm rot="0">
            <a:off x="1028700" y="307181"/>
            <a:ext cx="8238001" cy="1443038"/>
            <a:chOff x="0" y="0"/>
            <a:chExt cx="10984002" cy="1924050"/>
          </a:xfrm>
        </p:grpSpPr>
        <p:sp>
          <p:nvSpPr>
            <p:cNvPr name="TextBox 7" id="7"/>
            <p:cNvSpPr txBox="true"/>
            <p:nvPr/>
          </p:nvSpPr>
          <p:spPr>
            <a:xfrm rot="0">
              <a:off x="0" y="-9525"/>
              <a:ext cx="10984002" cy="1635125"/>
            </a:xfrm>
            <a:prstGeom prst="rect">
              <a:avLst/>
            </a:prstGeom>
          </p:spPr>
          <p:txBody>
            <a:bodyPr anchor="t" rtlCol="false" tIns="0" lIns="0" bIns="0" rIns="0">
              <a:spAutoFit/>
            </a:bodyPr>
            <a:lstStyle/>
            <a:p>
              <a:pPr algn="l">
                <a:lnSpc>
                  <a:spcPts val="9600"/>
                </a:lnSpc>
              </a:pPr>
              <a:r>
                <a:rPr lang="en-US" sz="8000">
                  <a:solidFill>
                    <a:srgbClr val="FFFFFF"/>
                  </a:solidFill>
                  <a:latin typeface="Poppins Medium"/>
                  <a:ea typeface="Poppins Medium"/>
                  <a:cs typeface="Poppins Medium"/>
                  <a:sym typeface="Poppins Medium"/>
                </a:rPr>
                <a:t>VEHICLE</a:t>
              </a:r>
            </a:p>
          </p:txBody>
        </p:sp>
        <p:sp>
          <p:nvSpPr>
            <p:cNvPr name="TextBox 8" id="8"/>
            <p:cNvSpPr txBox="true"/>
            <p:nvPr/>
          </p:nvSpPr>
          <p:spPr>
            <a:xfrm rot="0">
              <a:off x="0" y="1270000"/>
              <a:ext cx="10984002" cy="654051"/>
            </a:xfrm>
            <a:prstGeom prst="rect">
              <a:avLst/>
            </a:prstGeom>
          </p:spPr>
          <p:txBody>
            <a:bodyPr anchor="t" rtlCol="false" tIns="0" lIns="0" bIns="0" rIns="0">
              <a:spAutoFit/>
            </a:bodyPr>
            <a:lstStyle/>
            <a:p>
              <a:pPr algn="l">
                <a:lnSpc>
                  <a:spcPts val="4199"/>
                </a:lnSpc>
              </a:pPr>
              <a:r>
                <a:rPr lang="en-US" sz="2999">
                  <a:solidFill>
                    <a:srgbClr val="00C4CC"/>
                  </a:solidFill>
                  <a:latin typeface="Poppins Light Bold"/>
                  <a:ea typeface="Poppins Light Bold"/>
                  <a:cs typeface="Poppins Light Bold"/>
                  <a:sym typeface="Poppins Light Bold"/>
                </a:rPr>
                <a:t>Vehículo</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028700" y="2238639"/>
            <a:ext cx="11296577" cy="5969978"/>
            <a:chOff x="0" y="0"/>
            <a:chExt cx="15062102" cy="7959971"/>
          </a:xfrm>
        </p:grpSpPr>
        <p:sp>
          <p:nvSpPr>
            <p:cNvPr name="TextBox 3" id="3"/>
            <p:cNvSpPr txBox="true"/>
            <p:nvPr/>
          </p:nvSpPr>
          <p:spPr>
            <a:xfrm rot="0">
              <a:off x="0" y="426754"/>
              <a:ext cx="15062102" cy="7533217"/>
            </a:xfrm>
            <a:prstGeom prst="rect">
              <a:avLst/>
            </a:prstGeom>
          </p:spPr>
          <p:txBody>
            <a:bodyPr anchor="t" rtlCol="false" tIns="0" lIns="0" bIns="0" rIns="0">
              <a:spAutoFit/>
            </a:bodyPr>
            <a:lstStyle/>
            <a:p>
              <a:pPr algn="just">
                <a:lnSpc>
                  <a:spcPts val="4199"/>
                </a:lnSpc>
              </a:pPr>
              <a:r>
                <a:rPr lang="en-US" sz="2999">
                  <a:solidFill>
                    <a:srgbClr val="FFFFFF"/>
                  </a:solidFill>
                  <a:latin typeface="Poppins Light"/>
                  <a:ea typeface="Poppins Light"/>
                  <a:cs typeface="Poppins Light"/>
                  <a:sym typeface="Poppins Light"/>
                </a:rPr>
                <a:t>Travel Logic</a:t>
              </a:r>
            </a:p>
            <a:p>
              <a:pPr algn="just" marL="647697" indent="-323848" lvl="1">
                <a:lnSpc>
                  <a:spcPts val="4199"/>
                </a:lnSpc>
                <a:buFont typeface="Arial"/>
                <a:buChar char="•"/>
              </a:pPr>
              <a:r>
                <a:rPr lang="en-US" sz="2999">
                  <a:solidFill>
                    <a:srgbClr val="FFFFFF"/>
                  </a:solidFill>
                  <a:latin typeface="Poppins Light"/>
                  <a:ea typeface="Poppins Light"/>
                  <a:cs typeface="Poppins Light"/>
                  <a:sym typeface="Poppins Light"/>
                </a:rPr>
                <a:t>Free Space Steering Behavior: define el comportamiento utilizado para dirigir el objeto cuando viaja en el espacio libre hacia un destino. </a:t>
              </a:r>
            </a:p>
            <a:p>
              <a:pPr algn="just">
                <a:lnSpc>
                  <a:spcPts val="4199"/>
                </a:lnSpc>
              </a:pPr>
              <a:r>
                <a:rPr lang="en-US" sz="2999">
                  <a:solidFill>
                    <a:srgbClr val="FFFFFF"/>
                  </a:solidFill>
                  <a:latin typeface="Poppins Light"/>
                  <a:ea typeface="Poppins Light"/>
                  <a:cs typeface="Poppins Light"/>
                  <a:sym typeface="Poppins Light"/>
                </a:rPr>
                <a:t>Routing Logic</a:t>
              </a:r>
            </a:p>
            <a:p>
              <a:pPr algn="just" marL="647697" indent="-323848" lvl="1">
                <a:lnSpc>
                  <a:spcPts val="4199"/>
                </a:lnSpc>
                <a:buFont typeface="Arial"/>
                <a:buChar char="•"/>
              </a:pPr>
              <a:r>
                <a:rPr lang="en-US" sz="2999">
                  <a:solidFill>
                    <a:srgbClr val="FFFFFF"/>
                  </a:solidFill>
                  <a:latin typeface="Poppins Light"/>
                  <a:ea typeface="Poppins Light"/>
                  <a:cs typeface="Poppins Light"/>
                  <a:sym typeface="Poppins Light"/>
                </a:rPr>
                <a:t>Initial Priority: define el valor de prioridad inicial para el objeto. </a:t>
              </a:r>
            </a:p>
            <a:p>
              <a:pPr algn="just">
                <a:lnSpc>
                  <a:spcPts val="4199"/>
                </a:lnSpc>
              </a:pPr>
            </a:p>
            <a:p>
              <a:pPr algn="just">
                <a:lnSpc>
                  <a:spcPts val="4199"/>
                </a:lnSpc>
              </a:pPr>
            </a:p>
            <a:p>
              <a:pPr algn="just">
                <a:lnSpc>
                  <a:spcPts val="4199"/>
                </a:lnSpc>
              </a:pPr>
            </a:p>
            <a:p>
              <a:pPr algn="just">
                <a:lnSpc>
                  <a:spcPts val="3499"/>
                </a:lnSpc>
              </a:pPr>
            </a:p>
          </p:txBody>
        </p:sp>
        <p:sp>
          <p:nvSpPr>
            <p:cNvPr name="AutoShape 4" id="4"/>
            <p:cNvSpPr/>
            <p:nvPr/>
          </p:nvSpPr>
          <p:spPr>
            <a:xfrm>
              <a:off x="0" y="12700"/>
              <a:ext cx="15062102" cy="0"/>
            </a:xfrm>
            <a:prstGeom prst="line">
              <a:avLst/>
            </a:prstGeom>
            <a:ln cap="rnd" w="25400">
              <a:solidFill>
                <a:srgbClr val="10B5BF"/>
              </a:solidFill>
              <a:prstDash val="solid"/>
              <a:headEnd type="none" len="sm" w="sm"/>
              <a:tailEnd type="none" len="sm" w="sm"/>
            </a:ln>
          </p:spPr>
        </p:sp>
      </p:grpSp>
      <p:sp>
        <p:nvSpPr>
          <p:cNvPr name="Freeform 5" id="5"/>
          <p:cNvSpPr/>
          <p:nvPr/>
        </p:nvSpPr>
        <p:spPr>
          <a:xfrm flipH="false" flipV="false" rot="0">
            <a:off x="12472817" y="5426787"/>
            <a:ext cx="5417544" cy="4534685"/>
          </a:xfrm>
          <a:custGeom>
            <a:avLst/>
            <a:gdLst/>
            <a:ahLst/>
            <a:cxnLst/>
            <a:rect r="r" b="b" t="t" l="l"/>
            <a:pathLst>
              <a:path h="4534685" w="5417544">
                <a:moveTo>
                  <a:pt x="0" y="0"/>
                </a:moveTo>
                <a:lnTo>
                  <a:pt x="5417544" y="0"/>
                </a:lnTo>
                <a:lnTo>
                  <a:pt x="5417544" y="4534685"/>
                </a:lnTo>
                <a:lnTo>
                  <a:pt x="0" y="4534685"/>
                </a:lnTo>
                <a:lnTo>
                  <a:pt x="0" y="0"/>
                </a:lnTo>
                <a:close/>
              </a:path>
            </a:pathLst>
          </a:custGeom>
          <a:blipFill>
            <a:blip r:embed="rId2"/>
            <a:stretch>
              <a:fillRect l="0" t="0" r="0" b="0"/>
            </a:stretch>
          </a:blipFill>
        </p:spPr>
      </p:sp>
      <p:grpSp>
        <p:nvGrpSpPr>
          <p:cNvPr name="Group 6" id="6"/>
          <p:cNvGrpSpPr/>
          <p:nvPr/>
        </p:nvGrpSpPr>
        <p:grpSpPr>
          <a:xfrm rot="0">
            <a:off x="1028700" y="307181"/>
            <a:ext cx="8238001" cy="1443038"/>
            <a:chOff x="0" y="0"/>
            <a:chExt cx="10984002" cy="1924050"/>
          </a:xfrm>
        </p:grpSpPr>
        <p:sp>
          <p:nvSpPr>
            <p:cNvPr name="TextBox 7" id="7"/>
            <p:cNvSpPr txBox="true"/>
            <p:nvPr/>
          </p:nvSpPr>
          <p:spPr>
            <a:xfrm rot="0">
              <a:off x="0" y="-9525"/>
              <a:ext cx="10984002" cy="1635125"/>
            </a:xfrm>
            <a:prstGeom prst="rect">
              <a:avLst/>
            </a:prstGeom>
          </p:spPr>
          <p:txBody>
            <a:bodyPr anchor="t" rtlCol="false" tIns="0" lIns="0" bIns="0" rIns="0">
              <a:spAutoFit/>
            </a:bodyPr>
            <a:lstStyle/>
            <a:p>
              <a:pPr algn="l">
                <a:lnSpc>
                  <a:spcPts val="9600"/>
                </a:lnSpc>
              </a:pPr>
              <a:r>
                <a:rPr lang="en-US" sz="8000">
                  <a:solidFill>
                    <a:srgbClr val="FFFFFF"/>
                  </a:solidFill>
                  <a:latin typeface="Poppins Medium"/>
                  <a:ea typeface="Poppins Medium"/>
                  <a:cs typeface="Poppins Medium"/>
                  <a:sym typeface="Poppins Medium"/>
                </a:rPr>
                <a:t>VEHICLE</a:t>
              </a:r>
            </a:p>
          </p:txBody>
        </p:sp>
        <p:sp>
          <p:nvSpPr>
            <p:cNvPr name="TextBox 8" id="8"/>
            <p:cNvSpPr txBox="true"/>
            <p:nvPr/>
          </p:nvSpPr>
          <p:spPr>
            <a:xfrm rot="0">
              <a:off x="0" y="1270000"/>
              <a:ext cx="10984002" cy="654051"/>
            </a:xfrm>
            <a:prstGeom prst="rect">
              <a:avLst/>
            </a:prstGeom>
          </p:spPr>
          <p:txBody>
            <a:bodyPr anchor="t" rtlCol="false" tIns="0" lIns="0" bIns="0" rIns="0">
              <a:spAutoFit/>
            </a:bodyPr>
            <a:lstStyle/>
            <a:p>
              <a:pPr algn="l">
                <a:lnSpc>
                  <a:spcPts val="4199"/>
                </a:lnSpc>
              </a:pPr>
              <a:r>
                <a:rPr lang="en-US" sz="2999">
                  <a:solidFill>
                    <a:srgbClr val="00C4CC"/>
                  </a:solidFill>
                  <a:latin typeface="Poppins Light Bold"/>
                  <a:ea typeface="Poppins Light Bold"/>
                  <a:cs typeface="Poppins Light Bold"/>
                  <a:sym typeface="Poppins Light Bold"/>
                </a:rPr>
                <a:t>Vehículo</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028700" y="2238639"/>
            <a:ext cx="11296577" cy="6493853"/>
            <a:chOff x="0" y="0"/>
            <a:chExt cx="15062102" cy="8658471"/>
          </a:xfrm>
        </p:grpSpPr>
        <p:sp>
          <p:nvSpPr>
            <p:cNvPr name="TextBox 3" id="3"/>
            <p:cNvSpPr txBox="true"/>
            <p:nvPr/>
          </p:nvSpPr>
          <p:spPr>
            <a:xfrm rot="0">
              <a:off x="0" y="426754"/>
              <a:ext cx="15062102" cy="8231717"/>
            </a:xfrm>
            <a:prstGeom prst="rect">
              <a:avLst/>
            </a:prstGeom>
          </p:spPr>
          <p:txBody>
            <a:bodyPr anchor="t" rtlCol="false" tIns="0" lIns="0" bIns="0" rIns="0">
              <a:spAutoFit/>
            </a:bodyPr>
            <a:lstStyle/>
            <a:p>
              <a:pPr algn="just">
                <a:lnSpc>
                  <a:spcPts val="4199"/>
                </a:lnSpc>
              </a:pPr>
            </a:p>
            <a:p>
              <a:pPr algn="just">
                <a:lnSpc>
                  <a:spcPts val="4199"/>
                </a:lnSpc>
              </a:pPr>
              <a:r>
                <a:rPr lang="en-US" sz="2999">
                  <a:solidFill>
                    <a:srgbClr val="FFFFFF"/>
                  </a:solidFill>
                  <a:latin typeface="Poppins Light"/>
                  <a:ea typeface="Poppins Light"/>
                  <a:cs typeface="Poppins Light"/>
                  <a:sym typeface="Poppins Light"/>
                </a:rPr>
                <a:t>Routing Logic</a:t>
              </a:r>
            </a:p>
            <a:p>
              <a:pPr algn="just" marL="647697" indent="-323848" lvl="1">
                <a:lnSpc>
                  <a:spcPts val="4199"/>
                </a:lnSpc>
                <a:buFont typeface="Arial"/>
                <a:buChar char="•"/>
              </a:pPr>
              <a:r>
                <a:rPr lang="en-US" sz="2999">
                  <a:solidFill>
                    <a:srgbClr val="FFFFFF"/>
                  </a:solidFill>
                  <a:latin typeface="Poppins Light"/>
                  <a:ea typeface="Poppins Light"/>
                  <a:cs typeface="Poppins Light"/>
                  <a:sym typeface="Poppins Light"/>
                </a:rPr>
                <a:t>IInitial Node (Home): define la ubicación inicial del objeto, proporcionándole un nodo origen, el cual hará efecto al inicio de la ejecución de la simulación. </a:t>
              </a:r>
            </a:p>
            <a:p>
              <a:pPr algn="just" marL="647697" indent="-323848" lvl="1">
                <a:lnSpc>
                  <a:spcPts val="4199"/>
                </a:lnSpc>
                <a:buFont typeface="Arial"/>
                <a:buChar char="•"/>
              </a:pPr>
              <a:r>
                <a:rPr lang="en-US" sz="2999">
                  <a:solidFill>
                    <a:srgbClr val="FFFFFF"/>
                  </a:solidFill>
                  <a:latin typeface="Poppins Light"/>
                  <a:ea typeface="Poppins Light"/>
                  <a:cs typeface="Poppins Light"/>
                  <a:sym typeface="Poppins Light"/>
                </a:rPr>
                <a:t>Routing Type: especifica el comportamiento de enrutamiento del objeto.</a:t>
              </a:r>
            </a:p>
            <a:p>
              <a:pPr algn="just">
                <a:lnSpc>
                  <a:spcPts val="4199"/>
                </a:lnSpc>
              </a:pPr>
            </a:p>
            <a:p>
              <a:pPr algn="just">
                <a:lnSpc>
                  <a:spcPts val="4199"/>
                </a:lnSpc>
              </a:pPr>
            </a:p>
            <a:p>
              <a:pPr algn="just">
                <a:lnSpc>
                  <a:spcPts val="4199"/>
                </a:lnSpc>
              </a:pPr>
            </a:p>
            <a:p>
              <a:pPr algn="just">
                <a:lnSpc>
                  <a:spcPts val="4199"/>
                </a:lnSpc>
              </a:pPr>
            </a:p>
            <a:p>
              <a:pPr algn="just">
                <a:lnSpc>
                  <a:spcPts val="3499"/>
                </a:lnSpc>
              </a:pPr>
            </a:p>
          </p:txBody>
        </p:sp>
        <p:sp>
          <p:nvSpPr>
            <p:cNvPr name="AutoShape 4" id="4"/>
            <p:cNvSpPr/>
            <p:nvPr/>
          </p:nvSpPr>
          <p:spPr>
            <a:xfrm>
              <a:off x="0" y="12700"/>
              <a:ext cx="15062102" cy="0"/>
            </a:xfrm>
            <a:prstGeom prst="line">
              <a:avLst/>
            </a:prstGeom>
            <a:ln cap="rnd" w="25400">
              <a:solidFill>
                <a:srgbClr val="10B5BF"/>
              </a:solidFill>
              <a:prstDash val="solid"/>
              <a:headEnd type="none" len="sm" w="sm"/>
              <a:tailEnd type="none" len="sm" w="sm"/>
            </a:ln>
          </p:spPr>
        </p:sp>
      </p:grpSp>
      <p:sp>
        <p:nvSpPr>
          <p:cNvPr name="Freeform 5" id="5"/>
          <p:cNvSpPr/>
          <p:nvPr/>
        </p:nvSpPr>
        <p:spPr>
          <a:xfrm flipH="false" flipV="false" rot="0">
            <a:off x="12472817" y="5426787"/>
            <a:ext cx="5417544" cy="4534685"/>
          </a:xfrm>
          <a:custGeom>
            <a:avLst/>
            <a:gdLst/>
            <a:ahLst/>
            <a:cxnLst/>
            <a:rect r="r" b="b" t="t" l="l"/>
            <a:pathLst>
              <a:path h="4534685" w="5417544">
                <a:moveTo>
                  <a:pt x="0" y="0"/>
                </a:moveTo>
                <a:lnTo>
                  <a:pt x="5417544" y="0"/>
                </a:lnTo>
                <a:lnTo>
                  <a:pt x="5417544" y="4534685"/>
                </a:lnTo>
                <a:lnTo>
                  <a:pt x="0" y="4534685"/>
                </a:lnTo>
                <a:lnTo>
                  <a:pt x="0" y="0"/>
                </a:lnTo>
                <a:close/>
              </a:path>
            </a:pathLst>
          </a:custGeom>
          <a:blipFill>
            <a:blip r:embed="rId2"/>
            <a:stretch>
              <a:fillRect l="0" t="0" r="0" b="0"/>
            </a:stretch>
          </a:blipFill>
        </p:spPr>
      </p:sp>
      <p:grpSp>
        <p:nvGrpSpPr>
          <p:cNvPr name="Group 6" id="6"/>
          <p:cNvGrpSpPr/>
          <p:nvPr/>
        </p:nvGrpSpPr>
        <p:grpSpPr>
          <a:xfrm rot="0">
            <a:off x="1028700" y="307181"/>
            <a:ext cx="8238001" cy="1443038"/>
            <a:chOff x="0" y="0"/>
            <a:chExt cx="10984002" cy="1924050"/>
          </a:xfrm>
        </p:grpSpPr>
        <p:sp>
          <p:nvSpPr>
            <p:cNvPr name="TextBox 7" id="7"/>
            <p:cNvSpPr txBox="true"/>
            <p:nvPr/>
          </p:nvSpPr>
          <p:spPr>
            <a:xfrm rot="0">
              <a:off x="0" y="-9525"/>
              <a:ext cx="10984002" cy="1635125"/>
            </a:xfrm>
            <a:prstGeom prst="rect">
              <a:avLst/>
            </a:prstGeom>
          </p:spPr>
          <p:txBody>
            <a:bodyPr anchor="t" rtlCol="false" tIns="0" lIns="0" bIns="0" rIns="0">
              <a:spAutoFit/>
            </a:bodyPr>
            <a:lstStyle/>
            <a:p>
              <a:pPr algn="l">
                <a:lnSpc>
                  <a:spcPts val="9600"/>
                </a:lnSpc>
              </a:pPr>
              <a:r>
                <a:rPr lang="en-US" sz="8000">
                  <a:solidFill>
                    <a:srgbClr val="FFFFFF"/>
                  </a:solidFill>
                  <a:latin typeface="Poppins Medium"/>
                  <a:ea typeface="Poppins Medium"/>
                  <a:cs typeface="Poppins Medium"/>
                  <a:sym typeface="Poppins Medium"/>
                </a:rPr>
                <a:t>VEHICLE</a:t>
              </a:r>
            </a:p>
          </p:txBody>
        </p:sp>
        <p:sp>
          <p:nvSpPr>
            <p:cNvPr name="TextBox 8" id="8"/>
            <p:cNvSpPr txBox="true"/>
            <p:nvPr/>
          </p:nvSpPr>
          <p:spPr>
            <a:xfrm rot="0">
              <a:off x="0" y="1270000"/>
              <a:ext cx="10984002" cy="654051"/>
            </a:xfrm>
            <a:prstGeom prst="rect">
              <a:avLst/>
            </a:prstGeom>
          </p:spPr>
          <p:txBody>
            <a:bodyPr anchor="t" rtlCol="false" tIns="0" lIns="0" bIns="0" rIns="0">
              <a:spAutoFit/>
            </a:bodyPr>
            <a:lstStyle/>
            <a:p>
              <a:pPr algn="l">
                <a:lnSpc>
                  <a:spcPts val="4199"/>
                </a:lnSpc>
              </a:pPr>
              <a:r>
                <a:rPr lang="en-US" sz="2999">
                  <a:solidFill>
                    <a:srgbClr val="00C4CC"/>
                  </a:solidFill>
                  <a:latin typeface="Poppins Light Bold"/>
                  <a:ea typeface="Poppins Light Bold"/>
                  <a:cs typeface="Poppins Light Bold"/>
                  <a:sym typeface="Poppins Light Bold"/>
                </a:rPr>
                <a:t>Vehículo</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028700" y="2238639"/>
            <a:ext cx="11296577" cy="7541603"/>
            <a:chOff x="0" y="0"/>
            <a:chExt cx="15062102" cy="10055471"/>
          </a:xfrm>
        </p:grpSpPr>
        <p:sp>
          <p:nvSpPr>
            <p:cNvPr name="TextBox 3" id="3"/>
            <p:cNvSpPr txBox="true"/>
            <p:nvPr/>
          </p:nvSpPr>
          <p:spPr>
            <a:xfrm rot="0">
              <a:off x="0" y="426754"/>
              <a:ext cx="15062102" cy="9628717"/>
            </a:xfrm>
            <a:prstGeom prst="rect">
              <a:avLst/>
            </a:prstGeom>
          </p:spPr>
          <p:txBody>
            <a:bodyPr anchor="t" rtlCol="false" tIns="0" lIns="0" bIns="0" rIns="0">
              <a:spAutoFit/>
            </a:bodyPr>
            <a:lstStyle/>
            <a:p>
              <a:pPr algn="just">
                <a:lnSpc>
                  <a:spcPts val="4199"/>
                </a:lnSpc>
              </a:pPr>
            </a:p>
            <a:p>
              <a:pPr algn="just">
                <a:lnSpc>
                  <a:spcPts val="4199"/>
                </a:lnSpc>
              </a:pPr>
              <a:r>
                <a:rPr lang="en-US" sz="2999">
                  <a:solidFill>
                    <a:srgbClr val="FFFFFF"/>
                  </a:solidFill>
                  <a:latin typeface="Poppins Light"/>
                  <a:ea typeface="Poppins Light"/>
                  <a:cs typeface="Poppins Light"/>
                  <a:sym typeface="Poppins Light"/>
                </a:rPr>
                <a:t>Routing Logic</a:t>
              </a:r>
            </a:p>
            <a:p>
              <a:pPr algn="just" marL="647697" indent="-323848" lvl="1">
                <a:lnSpc>
                  <a:spcPts val="4199"/>
                </a:lnSpc>
                <a:buFont typeface="Arial"/>
                <a:buChar char="•"/>
              </a:pPr>
              <a:r>
                <a:rPr lang="en-US" sz="2999">
                  <a:solidFill>
                    <a:srgbClr val="FFFFFF"/>
                  </a:solidFill>
                  <a:latin typeface="Poppins Light"/>
                  <a:ea typeface="Poppins Light"/>
                  <a:cs typeface="Poppins Light"/>
                  <a:sym typeface="Poppins Light"/>
                </a:rPr>
                <a:t>Idle Action: especifica la acción que realizará el objeto cuando ya no tenga ninguna tarea que realizar. </a:t>
              </a:r>
            </a:p>
            <a:p>
              <a:pPr algn="just" marL="647697" indent="-323848" lvl="1">
                <a:lnSpc>
                  <a:spcPts val="4199"/>
                </a:lnSpc>
                <a:buFont typeface="Arial"/>
                <a:buChar char="•"/>
              </a:pPr>
              <a:r>
                <a:rPr lang="en-US" sz="2999">
                  <a:solidFill>
                    <a:srgbClr val="FFFFFF"/>
                  </a:solidFill>
                  <a:latin typeface="Poppins Light"/>
                  <a:ea typeface="Poppins Light"/>
                  <a:cs typeface="Poppins Light"/>
                  <a:sym typeface="Poppins Light"/>
                </a:rPr>
                <a:t>Off Shift Action: define la acción que realizará el objeto cuando termina su horario de trabajo. Si el objeto se encuentra ocupado o transportando terminará primero sus tareas. </a:t>
              </a:r>
            </a:p>
            <a:p>
              <a:pPr algn="just">
                <a:lnSpc>
                  <a:spcPts val="4199"/>
                </a:lnSpc>
              </a:pPr>
            </a:p>
            <a:p>
              <a:pPr algn="just">
                <a:lnSpc>
                  <a:spcPts val="4199"/>
                </a:lnSpc>
              </a:pPr>
            </a:p>
            <a:p>
              <a:pPr algn="just">
                <a:lnSpc>
                  <a:spcPts val="4199"/>
                </a:lnSpc>
              </a:pPr>
            </a:p>
            <a:p>
              <a:pPr algn="just">
                <a:lnSpc>
                  <a:spcPts val="4199"/>
                </a:lnSpc>
              </a:pPr>
            </a:p>
            <a:p>
              <a:pPr algn="just">
                <a:lnSpc>
                  <a:spcPts val="4199"/>
                </a:lnSpc>
              </a:pPr>
            </a:p>
            <a:p>
              <a:pPr algn="just">
                <a:lnSpc>
                  <a:spcPts val="3499"/>
                </a:lnSpc>
              </a:pPr>
            </a:p>
          </p:txBody>
        </p:sp>
        <p:sp>
          <p:nvSpPr>
            <p:cNvPr name="AutoShape 4" id="4"/>
            <p:cNvSpPr/>
            <p:nvPr/>
          </p:nvSpPr>
          <p:spPr>
            <a:xfrm>
              <a:off x="0" y="12700"/>
              <a:ext cx="15062102" cy="0"/>
            </a:xfrm>
            <a:prstGeom prst="line">
              <a:avLst/>
            </a:prstGeom>
            <a:ln cap="rnd" w="25400">
              <a:solidFill>
                <a:srgbClr val="10B5BF"/>
              </a:solidFill>
              <a:prstDash val="solid"/>
              <a:headEnd type="none" len="sm" w="sm"/>
              <a:tailEnd type="none" len="sm" w="sm"/>
            </a:ln>
          </p:spPr>
        </p:sp>
      </p:grpSp>
      <p:sp>
        <p:nvSpPr>
          <p:cNvPr name="Freeform 5" id="5"/>
          <p:cNvSpPr/>
          <p:nvPr/>
        </p:nvSpPr>
        <p:spPr>
          <a:xfrm flipH="false" flipV="false" rot="0">
            <a:off x="12472817" y="5426787"/>
            <a:ext cx="5417544" cy="4534685"/>
          </a:xfrm>
          <a:custGeom>
            <a:avLst/>
            <a:gdLst/>
            <a:ahLst/>
            <a:cxnLst/>
            <a:rect r="r" b="b" t="t" l="l"/>
            <a:pathLst>
              <a:path h="4534685" w="5417544">
                <a:moveTo>
                  <a:pt x="0" y="0"/>
                </a:moveTo>
                <a:lnTo>
                  <a:pt x="5417544" y="0"/>
                </a:lnTo>
                <a:lnTo>
                  <a:pt x="5417544" y="4534685"/>
                </a:lnTo>
                <a:lnTo>
                  <a:pt x="0" y="4534685"/>
                </a:lnTo>
                <a:lnTo>
                  <a:pt x="0" y="0"/>
                </a:lnTo>
                <a:close/>
              </a:path>
            </a:pathLst>
          </a:custGeom>
          <a:blipFill>
            <a:blip r:embed="rId2"/>
            <a:stretch>
              <a:fillRect l="0" t="0" r="0" b="0"/>
            </a:stretch>
          </a:blipFill>
        </p:spPr>
      </p:sp>
      <p:grpSp>
        <p:nvGrpSpPr>
          <p:cNvPr name="Group 6" id="6"/>
          <p:cNvGrpSpPr/>
          <p:nvPr/>
        </p:nvGrpSpPr>
        <p:grpSpPr>
          <a:xfrm rot="0">
            <a:off x="1028700" y="307181"/>
            <a:ext cx="8238001" cy="1443038"/>
            <a:chOff x="0" y="0"/>
            <a:chExt cx="10984002" cy="1924050"/>
          </a:xfrm>
        </p:grpSpPr>
        <p:sp>
          <p:nvSpPr>
            <p:cNvPr name="TextBox 7" id="7"/>
            <p:cNvSpPr txBox="true"/>
            <p:nvPr/>
          </p:nvSpPr>
          <p:spPr>
            <a:xfrm rot="0">
              <a:off x="0" y="-9525"/>
              <a:ext cx="10984002" cy="1635125"/>
            </a:xfrm>
            <a:prstGeom prst="rect">
              <a:avLst/>
            </a:prstGeom>
          </p:spPr>
          <p:txBody>
            <a:bodyPr anchor="t" rtlCol="false" tIns="0" lIns="0" bIns="0" rIns="0">
              <a:spAutoFit/>
            </a:bodyPr>
            <a:lstStyle/>
            <a:p>
              <a:pPr algn="l">
                <a:lnSpc>
                  <a:spcPts val="9600"/>
                </a:lnSpc>
              </a:pPr>
              <a:r>
                <a:rPr lang="en-US" sz="8000">
                  <a:solidFill>
                    <a:srgbClr val="FFFFFF"/>
                  </a:solidFill>
                  <a:latin typeface="Poppins Medium"/>
                  <a:ea typeface="Poppins Medium"/>
                  <a:cs typeface="Poppins Medium"/>
                  <a:sym typeface="Poppins Medium"/>
                </a:rPr>
                <a:t>VEHICLE</a:t>
              </a:r>
            </a:p>
          </p:txBody>
        </p:sp>
        <p:sp>
          <p:nvSpPr>
            <p:cNvPr name="TextBox 8" id="8"/>
            <p:cNvSpPr txBox="true"/>
            <p:nvPr/>
          </p:nvSpPr>
          <p:spPr>
            <a:xfrm rot="0">
              <a:off x="0" y="1270000"/>
              <a:ext cx="10984002" cy="654051"/>
            </a:xfrm>
            <a:prstGeom prst="rect">
              <a:avLst/>
            </a:prstGeom>
          </p:spPr>
          <p:txBody>
            <a:bodyPr anchor="t" rtlCol="false" tIns="0" lIns="0" bIns="0" rIns="0">
              <a:spAutoFit/>
            </a:bodyPr>
            <a:lstStyle/>
            <a:p>
              <a:pPr algn="l">
                <a:lnSpc>
                  <a:spcPts val="4199"/>
                </a:lnSpc>
              </a:pPr>
              <a:r>
                <a:rPr lang="en-US" sz="2999">
                  <a:solidFill>
                    <a:srgbClr val="00C4CC"/>
                  </a:solidFill>
                  <a:latin typeface="Poppins Light Bold"/>
                  <a:ea typeface="Poppins Light Bold"/>
                  <a:cs typeface="Poppins Light Bold"/>
                  <a:sym typeface="Poppins Light Bold"/>
                </a:rPr>
                <a:t>Vehículo</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028700" y="1926736"/>
            <a:ext cx="11296577" cy="6433528"/>
            <a:chOff x="0" y="0"/>
            <a:chExt cx="15062102" cy="8578037"/>
          </a:xfrm>
        </p:grpSpPr>
        <p:sp>
          <p:nvSpPr>
            <p:cNvPr name="TextBox 3" id="3"/>
            <p:cNvSpPr txBox="true"/>
            <p:nvPr/>
          </p:nvSpPr>
          <p:spPr>
            <a:xfrm rot="0">
              <a:off x="0" y="445804"/>
              <a:ext cx="15062102" cy="8132233"/>
            </a:xfrm>
            <a:prstGeom prst="rect">
              <a:avLst/>
            </a:prstGeom>
          </p:spPr>
          <p:txBody>
            <a:bodyPr anchor="t" rtlCol="false" tIns="0" lIns="0" bIns="0" rIns="0">
              <a:spAutoFit/>
            </a:bodyPr>
            <a:lstStyle/>
            <a:p>
              <a:pPr algn="just">
                <a:lnSpc>
                  <a:spcPts val="3499"/>
                </a:lnSpc>
              </a:pPr>
              <a:r>
                <a:rPr lang="en-US" sz="2499">
                  <a:solidFill>
                    <a:srgbClr val="FFFFFF"/>
                  </a:solidFill>
                  <a:latin typeface="Poppins Light"/>
                  <a:ea typeface="Poppins Light"/>
                  <a:cs typeface="Poppins Light"/>
                  <a:sym typeface="Poppins Light"/>
                </a:rPr>
                <a:t>El Lift Truck en Simio es un recurso móvil utilizado para transportar entidades entre diferentes ubicaciones dentro de un modelo de simulación, como en un almacén o un sistema de producción.</a:t>
              </a:r>
            </a:p>
            <a:p>
              <a:pPr algn="just">
                <a:lnSpc>
                  <a:spcPts val="3499"/>
                </a:lnSpc>
              </a:pPr>
              <a:r>
                <a:rPr lang="en-US" sz="2499">
                  <a:solidFill>
                    <a:srgbClr val="FFFFFF"/>
                  </a:solidFill>
                  <a:latin typeface="Poppins Light"/>
                  <a:ea typeface="Poppins Light"/>
                  <a:cs typeface="Poppins Light"/>
                  <a:sym typeface="Poppins Light"/>
                </a:rPr>
                <a:t>Funcionamiento básico:</a:t>
              </a:r>
            </a:p>
            <a:p>
              <a:pPr algn="just" marL="539749" indent="-269875" lvl="1">
                <a:lnSpc>
                  <a:spcPts val="3499"/>
                </a:lnSpc>
                <a:buAutoNum type="arabicPeriod" startAt="1"/>
              </a:pPr>
              <a:r>
                <a:rPr lang="en-US" sz="2499">
                  <a:solidFill>
                    <a:srgbClr val="FFFFFF"/>
                  </a:solidFill>
                  <a:latin typeface="Poppins Light"/>
                  <a:ea typeface="Poppins Light"/>
                  <a:cs typeface="Poppins Light"/>
                  <a:sym typeface="Poppins Light"/>
                </a:rPr>
                <a:t>P</a:t>
              </a:r>
              <a:r>
                <a:rPr lang="en-US" sz="2499">
                  <a:solidFill>
                    <a:srgbClr val="FFFFFF"/>
                  </a:solidFill>
                  <a:latin typeface="Poppins Light"/>
                  <a:ea typeface="Poppins Light"/>
                  <a:cs typeface="Poppins Light"/>
                  <a:sym typeface="Poppins Light"/>
                </a:rPr>
                <a:t>uede cargar una o más entidades, dependiendo de su capacidad configurada.</a:t>
              </a:r>
            </a:p>
            <a:p>
              <a:pPr algn="just" marL="539749" indent="-269875" lvl="1">
                <a:lnSpc>
                  <a:spcPts val="3499"/>
                </a:lnSpc>
                <a:buAutoNum type="arabicPeriod" startAt="1"/>
              </a:pPr>
              <a:r>
                <a:rPr lang="en-US" sz="2499">
                  <a:solidFill>
                    <a:srgbClr val="FFFFFF"/>
                  </a:solidFill>
                  <a:latin typeface="Poppins Light"/>
                  <a:ea typeface="Poppins Light"/>
                  <a:cs typeface="Poppins Light"/>
                  <a:sym typeface="Poppins Light"/>
                </a:rPr>
                <a:t>Utiliza una estrategia de selección de tareas para determinar cuál tarea realizar a continuación.</a:t>
              </a:r>
            </a:p>
            <a:p>
              <a:pPr algn="just" marL="539749" indent="-269875" lvl="1">
                <a:lnSpc>
                  <a:spcPts val="3499"/>
                </a:lnSpc>
                <a:buAutoNum type="arabicPeriod" startAt="1"/>
              </a:pPr>
              <a:r>
                <a:rPr lang="en-US" sz="2499">
                  <a:solidFill>
                    <a:srgbClr val="FFFFFF"/>
                  </a:solidFill>
                  <a:latin typeface="Poppins Light"/>
                  <a:ea typeface="Poppins Light"/>
                  <a:cs typeface="Poppins Light"/>
                  <a:sym typeface="Poppins Light"/>
                </a:rPr>
                <a:t>Se mueve entre nodos de red o directamente a sus destinos, siguiendo un modo de viaje específico (por ejemplo, utilizando una red de caminos si es posible).</a:t>
              </a:r>
            </a:p>
            <a:p>
              <a:pPr algn="just" marL="539749" indent="-269875" lvl="1">
                <a:lnSpc>
                  <a:spcPts val="3499"/>
                </a:lnSpc>
                <a:buAutoNum type="arabicPeriod" startAt="1"/>
              </a:pPr>
              <a:r>
                <a:rPr lang="en-US" sz="2499">
                  <a:solidFill>
                    <a:srgbClr val="FFFFFF"/>
                  </a:solidFill>
                  <a:latin typeface="Poppins Light"/>
                  <a:ea typeface="Poppins Light"/>
                  <a:cs typeface="Poppins Light"/>
                  <a:sym typeface="Poppins Light"/>
                </a:rPr>
                <a:t>Tiene tiempos configurables para cargar y descargar entidades, y puede realizar estas acciones en ubicaciones específicas, como racks o estaciones de trabajo.</a:t>
              </a:r>
            </a:p>
          </p:txBody>
        </p:sp>
        <p:sp>
          <p:nvSpPr>
            <p:cNvPr name="AutoShape 4" id="4"/>
            <p:cNvSpPr/>
            <p:nvPr/>
          </p:nvSpPr>
          <p:spPr>
            <a:xfrm>
              <a:off x="0" y="12700"/>
              <a:ext cx="15062102" cy="0"/>
            </a:xfrm>
            <a:prstGeom prst="line">
              <a:avLst/>
            </a:prstGeom>
            <a:ln cap="rnd" w="25400">
              <a:solidFill>
                <a:srgbClr val="10B5BF"/>
              </a:solidFill>
              <a:prstDash val="solid"/>
              <a:headEnd type="none" len="sm" w="sm"/>
              <a:tailEnd type="none" len="sm" w="sm"/>
            </a:ln>
          </p:spPr>
        </p:sp>
      </p:grpSp>
      <p:sp>
        <p:nvSpPr>
          <p:cNvPr name="Freeform 5" id="5"/>
          <p:cNvSpPr/>
          <p:nvPr/>
        </p:nvSpPr>
        <p:spPr>
          <a:xfrm flipH="false" flipV="false" rot="0">
            <a:off x="12752255" y="2238639"/>
            <a:ext cx="5102835" cy="5809722"/>
          </a:xfrm>
          <a:custGeom>
            <a:avLst/>
            <a:gdLst/>
            <a:ahLst/>
            <a:cxnLst/>
            <a:rect r="r" b="b" t="t" l="l"/>
            <a:pathLst>
              <a:path h="5809722" w="5102835">
                <a:moveTo>
                  <a:pt x="0" y="0"/>
                </a:moveTo>
                <a:lnTo>
                  <a:pt x="5102835" y="0"/>
                </a:lnTo>
                <a:lnTo>
                  <a:pt x="5102835" y="5809722"/>
                </a:lnTo>
                <a:lnTo>
                  <a:pt x="0" y="5809722"/>
                </a:lnTo>
                <a:lnTo>
                  <a:pt x="0" y="0"/>
                </a:lnTo>
                <a:close/>
              </a:path>
            </a:pathLst>
          </a:custGeom>
          <a:blipFill>
            <a:blip r:embed="rId2"/>
            <a:stretch>
              <a:fillRect l="0" t="0" r="0" b="0"/>
            </a:stretch>
          </a:blipFill>
        </p:spPr>
      </p:sp>
      <p:grpSp>
        <p:nvGrpSpPr>
          <p:cNvPr name="Group 6" id="6"/>
          <p:cNvGrpSpPr/>
          <p:nvPr/>
        </p:nvGrpSpPr>
        <p:grpSpPr>
          <a:xfrm rot="0">
            <a:off x="1028700" y="307181"/>
            <a:ext cx="8238001" cy="1443038"/>
            <a:chOff x="0" y="0"/>
            <a:chExt cx="10984002" cy="1924050"/>
          </a:xfrm>
        </p:grpSpPr>
        <p:sp>
          <p:nvSpPr>
            <p:cNvPr name="TextBox 7" id="7"/>
            <p:cNvSpPr txBox="true"/>
            <p:nvPr/>
          </p:nvSpPr>
          <p:spPr>
            <a:xfrm rot="0">
              <a:off x="0" y="-9525"/>
              <a:ext cx="10984002" cy="1635125"/>
            </a:xfrm>
            <a:prstGeom prst="rect">
              <a:avLst/>
            </a:prstGeom>
          </p:spPr>
          <p:txBody>
            <a:bodyPr anchor="t" rtlCol="false" tIns="0" lIns="0" bIns="0" rIns="0">
              <a:spAutoFit/>
            </a:bodyPr>
            <a:lstStyle/>
            <a:p>
              <a:pPr algn="l">
                <a:lnSpc>
                  <a:spcPts val="9600"/>
                </a:lnSpc>
              </a:pPr>
              <a:r>
                <a:rPr lang="en-US" sz="8000">
                  <a:solidFill>
                    <a:srgbClr val="FFFFFF"/>
                  </a:solidFill>
                  <a:latin typeface="Poppins Medium"/>
                  <a:ea typeface="Poppins Medium"/>
                  <a:cs typeface="Poppins Medium"/>
                  <a:sym typeface="Poppins Medium"/>
                </a:rPr>
                <a:t>LIFT TRUCK</a:t>
              </a:r>
            </a:p>
          </p:txBody>
        </p:sp>
        <p:sp>
          <p:nvSpPr>
            <p:cNvPr name="TextBox 8" id="8"/>
            <p:cNvSpPr txBox="true"/>
            <p:nvPr/>
          </p:nvSpPr>
          <p:spPr>
            <a:xfrm rot="0">
              <a:off x="0" y="1270000"/>
              <a:ext cx="10984002" cy="654051"/>
            </a:xfrm>
            <a:prstGeom prst="rect">
              <a:avLst/>
            </a:prstGeom>
          </p:spPr>
          <p:txBody>
            <a:bodyPr anchor="t" rtlCol="false" tIns="0" lIns="0" bIns="0" rIns="0">
              <a:spAutoFit/>
            </a:bodyPr>
            <a:lstStyle/>
            <a:p>
              <a:pPr algn="l">
                <a:lnSpc>
                  <a:spcPts val="4199"/>
                </a:lnSpc>
              </a:pPr>
              <a:r>
                <a:rPr lang="en-US" sz="2999">
                  <a:solidFill>
                    <a:srgbClr val="00C4CC"/>
                  </a:solidFill>
                  <a:latin typeface="Poppins Light Bold"/>
                  <a:ea typeface="Poppins Light Bold"/>
                  <a:cs typeface="Poppins Light Bold"/>
                  <a:sym typeface="Poppins Light Bold"/>
                </a:rPr>
                <a:t>Montacargas</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028700" y="3758241"/>
            <a:ext cx="15968709" cy="4680928"/>
            <a:chOff x="0" y="0"/>
            <a:chExt cx="21291612" cy="6241237"/>
          </a:xfrm>
        </p:grpSpPr>
        <p:sp>
          <p:nvSpPr>
            <p:cNvPr name="TextBox 3" id="3"/>
            <p:cNvSpPr txBox="true"/>
            <p:nvPr/>
          </p:nvSpPr>
          <p:spPr>
            <a:xfrm rot="0">
              <a:off x="0" y="445804"/>
              <a:ext cx="21291612" cy="5795433"/>
            </a:xfrm>
            <a:prstGeom prst="rect">
              <a:avLst/>
            </a:prstGeom>
          </p:spPr>
          <p:txBody>
            <a:bodyPr anchor="t" rtlCol="false" tIns="0" lIns="0" bIns="0" rIns="0">
              <a:spAutoFit/>
            </a:bodyPr>
            <a:lstStyle/>
            <a:p>
              <a:pPr algn="just">
                <a:lnSpc>
                  <a:spcPts val="3499"/>
                </a:lnSpc>
              </a:pPr>
              <a:r>
                <a:rPr lang="en-US" sz="2499">
                  <a:solidFill>
                    <a:srgbClr val="FFFFFF"/>
                  </a:solidFill>
                  <a:latin typeface="Poppins Light"/>
                  <a:ea typeface="Poppins Light"/>
                  <a:cs typeface="Poppins Light"/>
                  <a:sym typeface="Poppins Light"/>
                </a:rPr>
                <a:t>Transport Logic</a:t>
              </a:r>
            </a:p>
            <a:p>
              <a:pPr algn="just" marL="539749" indent="-269875" lvl="1">
                <a:lnSpc>
                  <a:spcPts val="3499"/>
                </a:lnSpc>
                <a:buFont typeface="Arial"/>
                <a:buChar char="•"/>
              </a:pPr>
              <a:r>
                <a:rPr lang="en-US" sz="2499">
                  <a:solidFill>
                    <a:srgbClr val="FFFFFF"/>
                  </a:solidFill>
                  <a:latin typeface="Poppins Light"/>
                  <a:ea typeface="Poppins Light"/>
                  <a:cs typeface="Poppins Light"/>
                  <a:sym typeface="Poppins Light"/>
                </a:rPr>
                <a:t>Initial Ride Capacity: Define la capacidad inicial de transporte del camión de elevación, es decir, cuántas entidades puede transportar a la vez.</a:t>
              </a:r>
            </a:p>
            <a:p>
              <a:pPr algn="just" marL="539749" indent="-269875" lvl="1">
                <a:lnSpc>
                  <a:spcPts val="3499"/>
                </a:lnSpc>
                <a:buFont typeface="Arial"/>
                <a:buChar char="•"/>
              </a:pPr>
              <a:r>
                <a:rPr lang="en-US" sz="2499">
                  <a:solidFill>
                    <a:srgbClr val="FFFFFF"/>
                  </a:solidFill>
                  <a:latin typeface="Poppins Light"/>
                  <a:ea typeface="Poppins Light"/>
                  <a:cs typeface="Poppins Light"/>
                  <a:sym typeface="Poppins Light"/>
                </a:rPr>
                <a:t>Load Time: Tiempo que toma cargar una entidad en el camión de elevación. </a:t>
              </a:r>
            </a:p>
            <a:p>
              <a:pPr algn="just" marL="539749" indent="-269875" lvl="1">
                <a:lnSpc>
                  <a:spcPts val="3499"/>
                </a:lnSpc>
                <a:buFont typeface="Arial"/>
                <a:buChar char="•"/>
              </a:pPr>
              <a:r>
                <a:rPr lang="en-US" sz="2499">
                  <a:solidFill>
                    <a:srgbClr val="FFFFFF"/>
                  </a:solidFill>
                  <a:latin typeface="Poppins Light"/>
                  <a:ea typeface="Poppins Light"/>
                  <a:cs typeface="Poppins Light"/>
                  <a:sym typeface="Poppins Light"/>
                </a:rPr>
                <a:t>Unload Time: Tiempo que toma descargar una entidad del camión de elevación. </a:t>
              </a:r>
            </a:p>
            <a:p>
              <a:pPr algn="just" marL="539749" indent="-269875" lvl="1">
                <a:lnSpc>
                  <a:spcPts val="3499"/>
                </a:lnSpc>
                <a:buFont typeface="Arial"/>
                <a:buChar char="•"/>
              </a:pPr>
              <a:r>
                <a:rPr lang="en-US" sz="2499">
                  <a:solidFill>
                    <a:srgbClr val="FFFFFF"/>
                  </a:solidFill>
                  <a:latin typeface="Poppins Light"/>
                  <a:ea typeface="Poppins Light"/>
                  <a:cs typeface="Poppins Light"/>
                  <a:sym typeface="Poppins Light"/>
                </a:rPr>
                <a:t>Minimum Dwell Time Type: Tipo de tiempo mínimo de permanencia, es decir, cuánto tiempo debe permanecer el camión en una ubicación antes de moverse al siguiente destino. Por defecto está configurado como No Requirement, lo que significa que no hay un tiempo mínimo establecido.</a:t>
              </a:r>
            </a:p>
            <a:p>
              <a:pPr algn="just" marL="539749" indent="-269875" lvl="1">
                <a:lnSpc>
                  <a:spcPts val="3499"/>
                </a:lnSpc>
                <a:buFont typeface="Arial"/>
                <a:buChar char="•"/>
              </a:pPr>
              <a:r>
                <a:rPr lang="en-US" sz="2499">
                  <a:solidFill>
                    <a:srgbClr val="FFFFFF"/>
                  </a:solidFill>
                  <a:latin typeface="Poppins Light"/>
                  <a:ea typeface="Poppins Light"/>
                  <a:cs typeface="Poppins Light"/>
                  <a:sym typeface="Poppins Light"/>
                </a:rPr>
                <a:t>Vertical Lift Speed: Velocidad de elevación vertical del camión.</a:t>
              </a:r>
            </a:p>
            <a:p>
              <a:pPr algn="just" marL="539749" indent="-269875" lvl="1">
                <a:lnSpc>
                  <a:spcPts val="3499"/>
                </a:lnSpc>
                <a:buFont typeface="Arial"/>
                <a:buChar char="•"/>
              </a:pPr>
              <a:r>
                <a:rPr lang="en-US" sz="2499">
                  <a:solidFill>
                    <a:srgbClr val="FFFFFF"/>
                  </a:solidFill>
                  <a:latin typeface="Poppins Light"/>
                  <a:ea typeface="Poppins Light"/>
                  <a:cs typeface="Poppins Light"/>
                  <a:sym typeface="Poppins Light"/>
                </a:rPr>
                <a:t>Lift Travel Height: Altura máxima a la que el camión puede elevarse.</a:t>
              </a:r>
            </a:p>
          </p:txBody>
        </p:sp>
        <p:sp>
          <p:nvSpPr>
            <p:cNvPr name="AutoShape 4" id="4"/>
            <p:cNvSpPr/>
            <p:nvPr/>
          </p:nvSpPr>
          <p:spPr>
            <a:xfrm>
              <a:off x="0" y="12700"/>
              <a:ext cx="21291612" cy="0"/>
            </a:xfrm>
            <a:prstGeom prst="line">
              <a:avLst/>
            </a:prstGeom>
            <a:ln cap="rnd" w="25400">
              <a:solidFill>
                <a:srgbClr val="10B5BF"/>
              </a:solidFill>
              <a:prstDash val="solid"/>
              <a:headEnd type="none" len="sm" w="sm"/>
              <a:tailEnd type="none" len="sm" w="sm"/>
            </a:ln>
          </p:spPr>
        </p:sp>
      </p:grpSp>
      <p:sp>
        <p:nvSpPr>
          <p:cNvPr name="Freeform 5" id="5"/>
          <p:cNvSpPr/>
          <p:nvPr/>
        </p:nvSpPr>
        <p:spPr>
          <a:xfrm flipH="false" flipV="false" rot="0">
            <a:off x="9405891" y="1028700"/>
            <a:ext cx="7853409" cy="2394992"/>
          </a:xfrm>
          <a:custGeom>
            <a:avLst/>
            <a:gdLst/>
            <a:ahLst/>
            <a:cxnLst/>
            <a:rect r="r" b="b" t="t" l="l"/>
            <a:pathLst>
              <a:path h="2394992" w="7853409">
                <a:moveTo>
                  <a:pt x="0" y="0"/>
                </a:moveTo>
                <a:lnTo>
                  <a:pt x="7853409" y="0"/>
                </a:lnTo>
                <a:lnTo>
                  <a:pt x="7853409" y="2394992"/>
                </a:lnTo>
                <a:lnTo>
                  <a:pt x="0" y="2394992"/>
                </a:lnTo>
                <a:lnTo>
                  <a:pt x="0" y="0"/>
                </a:lnTo>
                <a:close/>
              </a:path>
            </a:pathLst>
          </a:custGeom>
          <a:blipFill>
            <a:blip r:embed="rId2"/>
            <a:stretch>
              <a:fillRect l="0" t="0" r="0" b="-209967"/>
            </a:stretch>
          </a:blipFill>
        </p:spPr>
      </p:sp>
      <p:grpSp>
        <p:nvGrpSpPr>
          <p:cNvPr name="Group 6" id="6"/>
          <p:cNvGrpSpPr/>
          <p:nvPr/>
        </p:nvGrpSpPr>
        <p:grpSpPr>
          <a:xfrm rot="0">
            <a:off x="1028700" y="307181"/>
            <a:ext cx="8238001" cy="1443038"/>
            <a:chOff x="0" y="0"/>
            <a:chExt cx="10984002" cy="1924050"/>
          </a:xfrm>
        </p:grpSpPr>
        <p:sp>
          <p:nvSpPr>
            <p:cNvPr name="TextBox 7" id="7"/>
            <p:cNvSpPr txBox="true"/>
            <p:nvPr/>
          </p:nvSpPr>
          <p:spPr>
            <a:xfrm rot="0">
              <a:off x="0" y="-9525"/>
              <a:ext cx="10984002" cy="1635125"/>
            </a:xfrm>
            <a:prstGeom prst="rect">
              <a:avLst/>
            </a:prstGeom>
          </p:spPr>
          <p:txBody>
            <a:bodyPr anchor="t" rtlCol="false" tIns="0" lIns="0" bIns="0" rIns="0">
              <a:spAutoFit/>
            </a:bodyPr>
            <a:lstStyle/>
            <a:p>
              <a:pPr algn="l">
                <a:lnSpc>
                  <a:spcPts val="9600"/>
                </a:lnSpc>
              </a:pPr>
              <a:r>
                <a:rPr lang="en-US" sz="8000">
                  <a:solidFill>
                    <a:srgbClr val="FFFFFF"/>
                  </a:solidFill>
                  <a:latin typeface="Poppins Medium"/>
                  <a:ea typeface="Poppins Medium"/>
                  <a:cs typeface="Poppins Medium"/>
                  <a:sym typeface="Poppins Medium"/>
                </a:rPr>
                <a:t>LIFT TRUCK</a:t>
              </a:r>
            </a:p>
          </p:txBody>
        </p:sp>
        <p:sp>
          <p:nvSpPr>
            <p:cNvPr name="TextBox 8" id="8"/>
            <p:cNvSpPr txBox="true"/>
            <p:nvPr/>
          </p:nvSpPr>
          <p:spPr>
            <a:xfrm rot="0">
              <a:off x="0" y="1270000"/>
              <a:ext cx="10984002" cy="654051"/>
            </a:xfrm>
            <a:prstGeom prst="rect">
              <a:avLst/>
            </a:prstGeom>
          </p:spPr>
          <p:txBody>
            <a:bodyPr anchor="t" rtlCol="false" tIns="0" lIns="0" bIns="0" rIns="0">
              <a:spAutoFit/>
            </a:bodyPr>
            <a:lstStyle/>
            <a:p>
              <a:pPr algn="l">
                <a:lnSpc>
                  <a:spcPts val="4199"/>
                </a:lnSpc>
              </a:pPr>
              <a:r>
                <a:rPr lang="en-US" sz="2999">
                  <a:solidFill>
                    <a:srgbClr val="00C4CC"/>
                  </a:solidFill>
                  <a:latin typeface="Poppins Light Bold"/>
                  <a:ea typeface="Poppins Light Bold"/>
                  <a:cs typeface="Poppins Light Bold"/>
                  <a:sym typeface="Poppins Light Bold"/>
                </a:rPr>
                <a:t>Montacargas</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159645" y="2773531"/>
            <a:ext cx="15968709" cy="5557228"/>
            <a:chOff x="0" y="0"/>
            <a:chExt cx="21291612" cy="7409637"/>
          </a:xfrm>
        </p:grpSpPr>
        <p:sp>
          <p:nvSpPr>
            <p:cNvPr name="TextBox 3" id="3"/>
            <p:cNvSpPr txBox="true"/>
            <p:nvPr/>
          </p:nvSpPr>
          <p:spPr>
            <a:xfrm rot="0">
              <a:off x="0" y="445804"/>
              <a:ext cx="21291612" cy="6963833"/>
            </a:xfrm>
            <a:prstGeom prst="rect">
              <a:avLst/>
            </a:prstGeom>
          </p:spPr>
          <p:txBody>
            <a:bodyPr anchor="t" rtlCol="false" tIns="0" lIns="0" bIns="0" rIns="0">
              <a:spAutoFit/>
            </a:bodyPr>
            <a:lstStyle/>
            <a:p>
              <a:pPr algn="just">
                <a:lnSpc>
                  <a:spcPts val="3499"/>
                </a:lnSpc>
              </a:pPr>
              <a:r>
                <a:rPr lang="en-US" sz="2499">
                  <a:solidFill>
                    <a:srgbClr val="FFFFFF"/>
                  </a:solidFill>
                  <a:latin typeface="Poppins Light"/>
                  <a:ea typeface="Poppins Light"/>
                  <a:cs typeface="Poppins Light"/>
                  <a:sym typeface="Poppins Light"/>
                </a:rPr>
                <a:t>Travel Logic</a:t>
              </a:r>
            </a:p>
            <a:p>
              <a:pPr algn="just" marL="539749" indent="-269875" lvl="1">
                <a:lnSpc>
                  <a:spcPts val="3499"/>
                </a:lnSpc>
                <a:buFont typeface="Arial"/>
                <a:buChar char="•"/>
              </a:pPr>
              <a:r>
                <a:rPr lang="en-US" sz="2499">
                  <a:solidFill>
                    <a:srgbClr val="FFFFFF"/>
                  </a:solidFill>
                  <a:latin typeface="Poppins Light"/>
                  <a:ea typeface="Poppins Light"/>
                  <a:cs typeface="Poppins Light"/>
                  <a:sym typeface="Poppins Light"/>
                </a:rPr>
                <a:t>Initial Desired Speed: Velocidad deseada inicial del camión.</a:t>
              </a:r>
            </a:p>
            <a:p>
              <a:pPr algn="just" marL="539749" indent="-269875" lvl="1">
                <a:lnSpc>
                  <a:spcPts val="3499"/>
                </a:lnSpc>
                <a:buFont typeface="Arial"/>
                <a:buChar char="•"/>
              </a:pPr>
              <a:r>
                <a:rPr lang="en-US" sz="2499">
                  <a:solidFill>
                    <a:srgbClr val="FFFFFF"/>
                  </a:solidFill>
                  <a:latin typeface="Poppins Light"/>
                  <a:ea typeface="Poppins Light"/>
                  <a:cs typeface="Poppins Light"/>
                  <a:sym typeface="Poppins Light"/>
                </a:rPr>
                <a:t>Initial Travel Mode: Modo de viaje inicial. Aquí se muestra Network If Possible, lo que significa que el camión usará una red de caminos si es posible.</a:t>
              </a:r>
            </a:p>
            <a:p>
              <a:pPr algn="just" marL="539749" indent="-269875" lvl="1">
                <a:lnSpc>
                  <a:spcPts val="3499"/>
                </a:lnSpc>
                <a:buFont typeface="Arial"/>
                <a:buChar char="•"/>
              </a:pPr>
              <a:r>
                <a:rPr lang="en-US" sz="2499">
                  <a:solidFill>
                    <a:srgbClr val="FFFFFF"/>
                  </a:solidFill>
                  <a:latin typeface="Poppins Light"/>
                  <a:ea typeface="Poppins Light"/>
                  <a:cs typeface="Poppins Light"/>
                  <a:sym typeface="Poppins Light"/>
                </a:rPr>
                <a:t>Initial Network: Red inicial a utilizar. Configurado como Global, lo que indica que puede utilizar cualquier red disponible en el modelo.</a:t>
              </a:r>
            </a:p>
            <a:p>
              <a:pPr algn="just" marL="539749" indent="-269875" lvl="1">
                <a:lnSpc>
                  <a:spcPts val="3499"/>
                </a:lnSpc>
                <a:buFont typeface="Arial"/>
                <a:buChar char="•"/>
              </a:pPr>
              <a:r>
                <a:rPr lang="en-US" sz="2499">
                  <a:solidFill>
                    <a:srgbClr val="FFFFFF"/>
                  </a:solidFill>
                  <a:latin typeface="Poppins Light"/>
                  <a:ea typeface="Poppins Light"/>
                  <a:cs typeface="Poppins Light"/>
                  <a:sym typeface="Poppins Light"/>
                </a:rPr>
                <a:t>Network Turnaround Method: Método que el camión usa para darse la vuelta en la red. Configurado en Rotate In Place, lo que significa que el camión girará en su lugar para cambiar de dirección.</a:t>
              </a:r>
            </a:p>
            <a:p>
              <a:pPr algn="just" marL="539749" indent="-269875" lvl="1">
                <a:lnSpc>
                  <a:spcPts val="3499"/>
                </a:lnSpc>
                <a:buFont typeface="Arial"/>
                <a:buChar char="•"/>
              </a:pPr>
              <a:r>
                <a:rPr lang="en-US" sz="2499">
                  <a:solidFill>
                    <a:srgbClr val="FFFFFF"/>
                  </a:solidFill>
                  <a:latin typeface="Poppins Light"/>
                  <a:ea typeface="Poppins Light"/>
                  <a:cs typeface="Poppins Light"/>
                  <a:sym typeface="Poppins Light"/>
                </a:rPr>
                <a:t>Free Space Steering Behavior: Comportamiento de dirección en espacios libres. Está configurado como Direct To Destination, lo que significa que el camión se moverá directamente hacia su destino en espacios abiertos.</a:t>
              </a:r>
            </a:p>
          </p:txBody>
        </p:sp>
        <p:sp>
          <p:nvSpPr>
            <p:cNvPr name="AutoShape 4" id="4"/>
            <p:cNvSpPr/>
            <p:nvPr/>
          </p:nvSpPr>
          <p:spPr>
            <a:xfrm>
              <a:off x="0" y="12700"/>
              <a:ext cx="21291612" cy="0"/>
            </a:xfrm>
            <a:prstGeom prst="line">
              <a:avLst/>
            </a:prstGeom>
            <a:ln cap="rnd" w="25400">
              <a:solidFill>
                <a:srgbClr val="10B5BF"/>
              </a:solidFill>
              <a:prstDash val="solid"/>
              <a:headEnd type="none" len="sm" w="sm"/>
              <a:tailEnd type="none" len="sm" w="sm"/>
            </a:ln>
          </p:spPr>
        </p:sp>
      </p:grpSp>
      <p:sp>
        <p:nvSpPr>
          <p:cNvPr name="Freeform 5" id="5"/>
          <p:cNvSpPr/>
          <p:nvPr/>
        </p:nvSpPr>
        <p:spPr>
          <a:xfrm flipH="false" flipV="false" rot="0">
            <a:off x="9405891" y="924608"/>
            <a:ext cx="7853409" cy="1651222"/>
          </a:xfrm>
          <a:custGeom>
            <a:avLst/>
            <a:gdLst/>
            <a:ahLst/>
            <a:cxnLst/>
            <a:rect r="r" b="b" t="t" l="l"/>
            <a:pathLst>
              <a:path h="1651222" w="7853409">
                <a:moveTo>
                  <a:pt x="0" y="0"/>
                </a:moveTo>
                <a:lnTo>
                  <a:pt x="7853409" y="0"/>
                </a:lnTo>
                <a:lnTo>
                  <a:pt x="7853409" y="1651222"/>
                </a:lnTo>
                <a:lnTo>
                  <a:pt x="0" y="1651222"/>
                </a:lnTo>
                <a:lnTo>
                  <a:pt x="0" y="0"/>
                </a:lnTo>
                <a:close/>
              </a:path>
            </a:pathLst>
          </a:custGeom>
          <a:blipFill>
            <a:blip r:embed="rId2"/>
            <a:stretch>
              <a:fillRect l="0" t="-136399" r="0" b="-213188"/>
            </a:stretch>
          </a:blipFill>
        </p:spPr>
      </p:sp>
      <p:grpSp>
        <p:nvGrpSpPr>
          <p:cNvPr name="Group 6" id="6"/>
          <p:cNvGrpSpPr/>
          <p:nvPr/>
        </p:nvGrpSpPr>
        <p:grpSpPr>
          <a:xfrm rot="0">
            <a:off x="1028700" y="307181"/>
            <a:ext cx="8238001" cy="1443038"/>
            <a:chOff x="0" y="0"/>
            <a:chExt cx="10984002" cy="1924050"/>
          </a:xfrm>
        </p:grpSpPr>
        <p:sp>
          <p:nvSpPr>
            <p:cNvPr name="TextBox 7" id="7"/>
            <p:cNvSpPr txBox="true"/>
            <p:nvPr/>
          </p:nvSpPr>
          <p:spPr>
            <a:xfrm rot="0">
              <a:off x="0" y="-9525"/>
              <a:ext cx="10984002" cy="1635125"/>
            </a:xfrm>
            <a:prstGeom prst="rect">
              <a:avLst/>
            </a:prstGeom>
          </p:spPr>
          <p:txBody>
            <a:bodyPr anchor="t" rtlCol="false" tIns="0" lIns="0" bIns="0" rIns="0">
              <a:spAutoFit/>
            </a:bodyPr>
            <a:lstStyle/>
            <a:p>
              <a:pPr algn="l">
                <a:lnSpc>
                  <a:spcPts val="9600"/>
                </a:lnSpc>
              </a:pPr>
              <a:r>
                <a:rPr lang="en-US" sz="8000">
                  <a:solidFill>
                    <a:srgbClr val="FFFFFF"/>
                  </a:solidFill>
                  <a:latin typeface="Poppins Medium"/>
                  <a:ea typeface="Poppins Medium"/>
                  <a:cs typeface="Poppins Medium"/>
                  <a:sym typeface="Poppins Medium"/>
                </a:rPr>
                <a:t>LIFT TRUCK</a:t>
              </a:r>
            </a:p>
          </p:txBody>
        </p:sp>
        <p:sp>
          <p:nvSpPr>
            <p:cNvPr name="TextBox 8" id="8"/>
            <p:cNvSpPr txBox="true"/>
            <p:nvPr/>
          </p:nvSpPr>
          <p:spPr>
            <a:xfrm rot="0">
              <a:off x="0" y="1270000"/>
              <a:ext cx="10984002" cy="654051"/>
            </a:xfrm>
            <a:prstGeom prst="rect">
              <a:avLst/>
            </a:prstGeom>
          </p:spPr>
          <p:txBody>
            <a:bodyPr anchor="t" rtlCol="false" tIns="0" lIns="0" bIns="0" rIns="0">
              <a:spAutoFit/>
            </a:bodyPr>
            <a:lstStyle/>
            <a:p>
              <a:pPr algn="l">
                <a:lnSpc>
                  <a:spcPts val="4199"/>
                </a:lnSpc>
              </a:pPr>
              <a:r>
                <a:rPr lang="en-US" sz="2999">
                  <a:solidFill>
                    <a:srgbClr val="00C4CC"/>
                  </a:solidFill>
                  <a:latin typeface="Poppins Light Bold"/>
                  <a:ea typeface="Poppins Light Bold"/>
                  <a:cs typeface="Poppins Light Bold"/>
                  <a:sym typeface="Poppins Light Bold"/>
                </a:rPr>
                <a:t>Montacargas</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159645" y="2773531"/>
            <a:ext cx="15968709" cy="5557228"/>
            <a:chOff x="0" y="0"/>
            <a:chExt cx="21291612" cy="7409637"/>
          </a:xfrm>
        </p:grpSpPr>
        <p:sp>
          <p:nvSpPr>
            <p:cNvPr name="TextBox 3" id="3"/>
            <p:cNvSpPr txBox="true"/>
            <p:nvPr/>
          </p:nvSpPr>
          <p:spPr>
            <a:xfrm rot="0">
              <a:off x="0" y="445804"/>
              <a:ext cx="21291612" cy="6963833"/>
            </a:xfrm>
            <a:prstGeom prst="rect">
              <a:avLst/>
            </a:prstGeom>
          </p:spPr>
          <p:txBody>
            <a:bodyPr anchor="t" rtlCol="false" tIns="0" lIns="0" bIns="0" rIns="0">
              <a:spAutoFit/>
            </a:bodyPr>
            <a:lstStyle/>
            <a:p>
              <a:pPr algn="just">
                <a:lnSpc>
                  <a:spcPts val="3499"/>
                </a:lnSpc>
              </a:pPr>
              <a:r>
                <a:rPr lang="en-US" sz="2499">
                  <a:solidFill>
                    <a:srgbClr val="FFFFFF"/>
                  </a:solidFill>
                  <a:latin typeface="Poppins Light"/>
                  <a:ea typeface="Poppins Light"/>
                  <a:cs typeface="Poppins Light"/>
                  <a:sym typeface="Poppins Light"/>
                </a:rPr>
                <a:t>Routing Logic</a:t>
              </a:r>
            </a:p>
            <a:p>
              <a:pPr algn="just" marL="539749" indent="-269875" lvl="1">
                <a:lnSpc>
                  <a:spcPts val="3499"/>
                </a:lnSpc>
                <a:buFont typeface="Arial"/>
                <a:buChar char="•"/>
              </a:pPr>
              <a:r>
                <a:rPr lang="en-US" sz="2499">
                  <a:solidFill>
                    <a:srgbClr val="FFFFFF"/>
                  </a:solidFill>
                  <a:latin typeface="Poppins Light"/>
                  <a:ea typeface="Poppins Light"/>
                  <a:cs typeface="Poppins Light"/>
                  <a:sym typeface="Poppins Light"/>
                </a:rPr>
                <a:t>Initial Priority: Prioridad inicial asignada al camión en comparación con otros recursos móviles.</a:t>
              </a:r>
            </a:p>
            <a:p>
              <a:pPr algn="just" marL="539749" indent="-269875" lvl="1">
                <a:lnSpc>
                  <a:spcPts val="3499"/>
                </a:lnSpc>
                <a:buFont typeface="Arial"/>
                <a:buChar char="•"/>
              </a:pPr>
              <a:r>
                <a:rPr lang="en-US" sz="2499">
                  <a:solidFill>
                    <a:srgbClr val="FFFFFF"/>
                  </a:solidFill>
                  <a:latin typeface="Poppins Light"/>
                  <a:ea typeface="Poppins Light"/>
                  <a:cs typeface="Poppins Light"/>
                  <a:sym typeface="Poppins Light"/>
                </a:rPr>
                <a:t>Initial Node (Home): Nodo inicial o punto de inicio para el camión. Aquí está configurado como Output@Rack1, lo que significa que el camión comenzará su operación desde el punto de salida en el rack Rack1.</a:t>
              </a:r>
            </a:p>
            <a:p>
              <a:pPr algn="just" marL="539749" indent="-269875" lvl="1">
                <a:lnSpc>
                  <a:spcPts val="3499"/>
                </a:lnSpc>
                <a:buFont typeface="Arial"/>
                <a:buChar char="•"/>
              </a:pPr>
              <a:r>
                <a:rPr lang="en-US" sz="2499">
                  <a:solidFill>
                    <a:srgbClr val="FFFFFF"/>
                  </a:solidFill>
                  <a:latin typeface="Poppins Light"/>
                  <a:ea typeface="Poppins Light"/>
                  <a:cs typeface="Poppins Light"/>
                  <a:sym typeface="Poppins Light"/>
                </a:rPr>
                <a:t>Routing Type: Tipo de enrutamiento, configurado como On Demand, lo que indica que el camión se moverá según sea necesario.</a:t>
              </a:r>
            </a:p>
            <a:p>
              <a:pPr algn="just" marL="539749" indent="-269875" lvl="1">
                <a:lnSpc>
                  <a:spcPts val="3499"/>
                </a:lnSpc>
                <a:buFont typeface="Arial"/>
                <a:buChar char="•"/>
              </a:pPr>
              <a:r>
                <a:rPr lang="en-US" sz="2499">
                  <a:solidFill>
                    <a:srgbClr val="FFFFFF"/>
                  </a:solidFill>
                  <a:latin typeface="Poppins Light"/>
                  <a:ea typeface="Poppins Light"/>
                  <a:cs typeface="Poppins Light"/>
                  <a:sym typeface="Poppins Light"/>
                </a:rPr>
                <a:t>Idle Action: Acción que realiza el camión cuando está inactivo. Está configurado como Remain In Place, lo que significa que el camión permanecerá en su posición actual cuando no tenga tareas.</a:t>
              </a:r>
            </a:p>
            <a:p>
              <a:pPr algn="just" marL="539749" indent="-269875" lvl="1">
                <a:lnSpc>
                  <a:spcPts val="3499"/>
                </a:lnSpc>
                <a:buFont typeface="Arial"/>
                <a:buChar char="•"/>
              </a:pPr>
              <a:r>
                <a:rPr lang="en-US" sz="2499">
                  <a:solidFill>
                    <a:srgbClr val="FFFFFF"/>
                  </a:solidFill>
                  <a:latin typeface="Poppins Light"/>
                  <a:ea typeface="Poppins Light"/>
                  <a:cs typeface="Poppins Light"/>
                  <a:sym typeface="Poppins Light"/>
                </a:rPr>
                <a:t>Off Shift Action: Acción que realiza el camión cuando no está en turno. Aquí está configurado como Go To Home, lo que indica que el camión regresará a su posición inicial cuando no esté en turno.</a:t>
              </a:r>
            </a:p>
          </p:txBody>
        </p:sp>
        <p:sp>
          <p:nvSpPr>
            <p:cNvPr name="AutoShape 4" id="4"/>
            <p:cNvSpPr/>
            <p:nvPr/>
          </p:nvSpPr>
          <p:spPr>
            <a:xfrm>
              <a:off x="0" y="12700"/>
              <a:ext cx="21291612" cy="0"/>
            </a:xfrm>
            <a:prstGeom prst="line">
              <a:avLst/>
            </a:prstGeom>
            <a:ln cap="rnd" w="25400">
              <a:solidFill>
                <a:srgbClr val="10B5BF"/>
              </a:solidFill>
              <a:prstDash val="solid"/>
              <a:headEnd type="none" len="sm" w="sm"/>
              <a:tailEnd type="none" len="sm" w="sm"/>
            </a:ln>
          </p:spPr>
        </p:sp>
      </p:grpSp>
      <p:sp>
        <p:nvSpPr>
          <p:cNvPr name="Freeform 5" id="5"/>
          <p:cNvSpPr/>
          <p:nvPr/>
        </p:nvSpPr>
        <p:spPr>
          <a:xfrm flipH="false" flipV="false" rot="0">
            <a:off x="9405891" y="961273"/>
            <a:ext cx="7853409" cy="1577892"/>
          </a:xfrm>
          <a:custGeom>
            <a:avLst/>
            <a:gdLst/>
            <a:ahLst/>
            <a:cxnLst/>
            <a:rect r="r" b="b" t="t" l="l"/>
            <a:pathLst>
              <a:path h="1577892" w="7853409">
                <a:moveTo>
                  <a:pt x="0" y="0"/>
                </a:moveTo>
                <a:lnTo>
                  <a:pt x="7853409" y="0"/>
                </a:lnTo>
                <a:lnTo>
                  <a:pt x="7853409" y="1577892"/>
                </a:lnTo>
                <a:lnTo>
                  <a:pt x="0" y="1577892"/>
                </a:lnTo>
                <a:lnTo>
                  <a:pt x="0" y="0"/>
                </a:lnTo>
                <a:close/>
              </a:path>
            </a:pathLst>
          </a:custGeom>
          <a:blipFill>
            <a:blip r:embed="rId2"/>
            <a:stretch>
              <a:fillRect l="0" t="-242323" r="0" b="-128158"/>
            </a:stretch>
          </a:blipFill>
        </p:spPr>
      </p:sp>
      <p:grpSp>
        <p:nvGrpSpPr>
          <p:cNvPr name="Group 6" id="6"/>
          <p:cNvGrpSpPr/>
          <p:nvPr/>
        </p:nvGrpSpPr>
        <p:grpSpPr>
          <a:xfrm rot="0">
            <a:off x="1028700" y="307181"/>
            <a:ext cx="8238001" cy="1443038"/>
            <a:chOff x="0" y="0"/>
            <a:chExt cx="10984002" cy="1924050"/>
          </a:xfrm>
        </p:grpSpPr>
        <p:sp>
          <p:nvSpPr>
            <p:cNvPr name="TextBox 7" id="7"/>
            <p:cNvSpPr txBox="true"/>
            <p:nvPr/>
          </p:nvSpPr>
          <p:spPr>
            <a:xfrm rot="0">
              <a:off x="0" y="-9525"/>
              <a:ext cx="10984002" cy="1635125"/>
            </a:xfrm>
            <a:prstGeom prst="rect">
              <a:avLst/>
            </a:prstGeom>
          </p:spPr>
          <p:txBody>
            <a:bodyPr anchor="t" rtlCol="false" tIns="0" lIns="0" bIns="0" rIns="0">
              <a:spAutoFit/>
            </a:bodyPr>
            <a:lstStyle/>
            <a:p>
              <a:pPr algn="l">
                <a:lnSpc>
                  <a:spcPts val="9600"/>
                </a:lnSpc>
              </a:pPr>
              <a:r>
                <a:rPr lang="en-US" sz="8000">
                  <a:solidFill>
                    <a:srgbClr val="FFFFFF"/>
                  </a:solidFill>
                  <a:latin typeface="Poppins Medium"/>
                  <a:ea typeface="Poppins Medium"/>
                  <a:cs typeface="Poppins Medium"/>
                  <a:sym typeface="Poppins Medium"/>
                </a:rPr>
                <a:t>LIFT TRUCK</a:t>
              </a:r>
            </a:p>
          </p:txBody>
        </p:sp>
        <p:sp>
          <p:nvSpPr>
            <p:cNvPr name="TextBox 8" id="8"/>
            <p:cNvSpPr txBox="true"/>
            <p:nvPr/>
          </p:nvSpPr>
          <p:spPr>
            <a:xfrm rot="0">
              <a:off x="0" y="1270000"/>
              <a:ext cx="10984002" cy="654051"/>
            </a:xfrm>
            <a:prstGeom prst="rect">
              <a:avLst/>
            </a:prstGeom>
          </p:spPr>
          <p:txBody>
            <a:bodyPr anchor="t" rtlCol="false" tIns="0" lIns="0" bIns="0" rIns="0">
              <a:spAutoFit/>
            </a:bodyPr>
            <a:lstStyle/>
            <a:p>
              <a:pPr algn="l">
                <a:lnSpc>
                  <a:spcPts val="4199"/>
                </a:lnSpc>
              </a:pPr>
              <a:r>
                <a:rPr lang="en-US" sz="2999">
                  <a:solidFill>
                    <a:srgbClr val="00C4CC"/>
                  </a:solidFill>
                  <a:latin typeface="Poppins Light Bold"/>
                  <a:ea typeface="Poppins Light Bold"/>
                  <a:cs typeface="Poppins Light Bold"/>
                  <a:sym typeface="Poppins Light Bold"/>
                </a:rPr>
                <a:t>Montacargas</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Freeform 2" id="2"/>
          <p:cNvSpPr/>
          <p:nvPr/>
        </p:nvSpPr>
        <p:spPr>
          <a:xfrm flipH="false" flipV="false" rot="0">
            <a:off x="4223792" y="4170878"/>
            <a:ext cx="9840416" cy="5529084"/>
          </a:xfrm>
          <a:custGeom>
            <a:avLst/>
            <a:gdLst/>
            <a:ahLst/>
            <a:cxnLst/>
            <a:rect r="r" b="b" t="t" l="l"/>
            <a:pathLst>
              <a:path h="5529084" w="9840416">
                <a:moveTo>
                  <a:pt x="0" y="0"/>
                </a:moveTo>
                <a:lnTo>
                  <a:pt x="9840416" y="0"/>
                </a:lnTo>
                <a:lnTo>
                  <a:pt x="9840416" y="5529084"/>
                </a:lnTo>
                <a:lnTo>
                  <a:pt x="0" y="5529084"/>
                </a:lnTo>
                <a:lnTo>
                  <a:pt x="0" y="0"/>
                </a:lnTo>
                <a:close/>
              </a:path>
            </a:pathLst>
          </a:custGeom>
          <a:blipFill>
            <a:blip r:embed="rId2"/>
            <a:stretch>
              <a:fillRect l="0" t="0" r="0" b="0"/>
            </a:stretch>
          </a:blipFill>
        </p:spPr>
      </p:sp>
      <p:sp>
        <p:nvSpPr>
          <p:cNvPr name="TextBox 3" id="3"/>
          <p:cNvSpPr txBox="true"/>
          <p:nvPr/>
        </p:nvSpPr>
        <p:spPr>
          <a:xfrm rot="0">
            <a:off x="4515207" y="761655"/>
            <a:ext cx="9257585" cy="3012013"/>
          </a:xfrm>
          <a:prstGeom prst="rect">
            <a:avLst/>
          </a:prstGeom>
        </p:spPr>
        <p:txBody>
          <a:bodyPr anchor="t" rtlCol="false" tIns="0" lIns="0" bIns="0" rIns="0">
            <a:spAutoFit/>
          </a:bodyPr>
          <a:lstStyle/>
          <a:p>
            <a:pPr algn="ctr">
              <a:lnSpc>
                <a:spcPts val="11732"/>
              </a:lnSpc>
            </a:pPr>
            <a:r>
              <a:rPr lang="en-US" b="true" sz="10666">
                <a:solidFill>
                  <a:srgbClr val="FFFFFF"/>
                </a:solidFill>
                <a:latin typeface="Poppins Medium Bold"/>
                <a:ea typeface="Poppins Medium Bold"/>
                <a:cs typeface="Poppins Medium Bold"/>
                <a:sym typeface="Poppins Medium Bold"/>
              </a:rPr>
              <a:t>Pongamoslo a prueba</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294964" y="2262611"/>
            <a:ext cx="15698073" cy="5761778"/>
            <a:chOff x="0" y="0"/>
            <a:chExt cx="4134472" cy="1517505"/>
          </a:xfrm>
        </p:grpSpPr>
        <p:sp>
          <p:nvSpPr>
            <p:cNvPr name="Freeform 3" id="3"/>
            <p:cNvSpPr/>
            <p:nvPr/>
          </p:nvSpPr>
          <p:spPr>
            <a:xfrm flipH="false" flipV="false" rot="0">
              <a:off x="0" y="0"/>
              <a:ext cx="4134472" cy="1517505"/>
            </a:xfrm>
            <a:custGeom>
              <a:avLst/>
              <a:gdLst/>
              <a:ahLst/>
              <a:cxnLst/>
              <a:rect r="r" b="b" t="t" l="l"/>
              <a:pathLst>
                <a:path h="1517505" w="4134472">
                  <a:moveTo>
                    <a:pt x="25152" y="0"/>
                  </a:moveTo>
                  <a:lnTo>
                    <a:pt x="4109320" y="0"/>
                  </a:lnTo>
                  <a:cubicBezTo>
                    <a:pt x="4123211" y="0"/>
                    <a:pt x="4134472" y="11261"/>
                    <a:pt x="4134472" y="25152"/>
                  </a:cubicBezTo>
                  <a:lnTo>
                    <a:pt x="4134472" y="1492353"/>
                  </a:lnTo>
                  <a:cubicBezTo>
                    <a:pt x="4134472" y="1506244"/>
                    <a:pt x="4123211" y="1517505"/>
                    <a:pt x="4109320" y="1517505"/>
                  </a:cubicBezTo>
                  <a:lnTo>
                    <a:pt x="25152" y="1517505"/>
                  </a:lnTo>
                  <a:cubicBezTo>
                    <a:pt x="18481" y="1517505"/>
                    <a:pt x="12084" y="1514855"/>
                    <a:pt x="7367" y="1510138"/>
                  </a:cubicBezTo>
                  <a:cubicBezTo>
                    <a:pt x="2650" y="1505421"/>
                    <a:pt x="0" y="1499024"/>
                    <a:pt x="0" y="1492353"/>
                  </a:cubicBezTo>
                  <a:lnTo>
                    <a:pt x="0" y="25152"/>
                  </a:lnTo>
                  <a:cubicBezTo>
                    <a:pt x="0" y="11261"/>
                    <a:pt x="11261" y="0"/>
                    <a:pt x="25152" y="0"/>
                  </a:cubicBezTo>
                  <a:close/>
                </a:path>
              </a:pathLst>
            </a:custGeom>
            <a:solidFill>
              <a:srgbClr val="7A7B7B"/>
            </a:solidFill>
          </p:spPr>
        </p:sp>
        <p:sp>
          <p:nvSpPr>
            <p:cNvPr name="TextBox 4" id="4"/>
            <p:cNvSpPr txBox="true"/>
            <p:nvPr/>
          </p:nvSpPr>
          <p:spPr>
            <a:xfrm>
              <a:off x="0" y="-57150"/>
              <a:ext cx="4134472" cy="1574655"/>
            </a:xfrm>
            <a:prstGeom prst="rect">
              <a:avLst/>
            </a:prstGeom>
          </p:spPr>
          <p:txBody>
            <a:bodyPr anchor="ctr" rtlCol="false" tIns="50800" lIns="50800" bIns="50800" rIns="50800"/>
            <a:lstStyle/>
            <a:p>
              <a:pPr algn="ctr">
                <a:lnSpc>
                  <a:spcPts val="3639"/>
                </a:lnSpc>
              </a:pPr>
            </a:p>
          </p:txBody>
        </p:sp>
      </p:grpSp>
      <p:sp>
        <p:nvSpPr>
          <p:cNvPr name="TextBox 5" id="5"/>
          <p:cNvSpPr txBox="true"/>
          <p:nvPr/>
        </p:nvSpPr>
        <p:spPr>
          <a:xfrm rot="0">
            <a:off x="1585087" y="2461648"/>
            <a:ext cx="15117826" cy="5334000"/>
          </a:xfrm>
          <a:prstGeom prst="rect">
            <a:avLst/>
          </a:prstGeom>
        </p:spPr>
        <p:txBody>
          <a:bodyPr anchor="t" rtlCol="false" tIns="0" lIns="0" bIns="0" rIns="0">
            <a:spAutoFit/>
          </a:bodyPr>
          <a:lstStyle/>
          <a:p>
            <a:pPr algn="just">
              <a:lnSpc>
                <a:spcPts val="4200"/>
              </a:lnSpc>
            </a:pPr>
            <a:r>
              <a:rPr lang="en-US" sz="3500">
                <a:solidFill>
                  <a:srgbClr val="FFFFFF"/>
                </a:solidFill>
                <a:latin typeface="Poppins Medium"/>
                <a:ea typeface="Poppins Medium"/>
                <a:cs typeface="Poppins Medium"/>
                <a:sym typeface="Poppins Medium"/>
              </a:rPr>
              <a:t>En la venta de ropa “Pantera”, llegan 2 tipos de productos al almacen, vienen en cajas con capacidad de 50, las cajas traen una camisas y la otra zapatos, los cuales se empaquetan al inicio y se guardan en un rack con capacidad de 50 por cada nivel y cuenta con 3 niveles, para tener un orden en el almacen, se separan ambos productos para no almacenarlos en el mismo rack, se utiliza un monta cargas para poder realizar el proceso de despacho de las cajas.</a:t>
            </a:r>
          </a:p>
          <a:p>
            <a:pPr algn="just">
              <a:lnSpc>
                <a:spcPts val="4200"/>
              </a:lnSpc>
              <a:spcBef>
                <a:spcPct val="0"/>
              </a:spcBef>
            </a:pPr>
            <a:r>
              <a:rPr lang="en-US" sz="3500">
                <a:solidFill>
                  <a:srgbClr val="FFFFFF"/>
                </a:solidFill>
                <a:latin typeface="Poppins Medium"/>
                <a:ea typeface="Poppins Medium"/>
                <a:cs typeface="Poppins Medium"/>
                <a:sym typeface="Poppins Medium"/>
              </a:rPr>
              <a:t>Para llevar un inventario de cuantas cajas tienen los racks, se le solicita mostrar cuantas cajas hay en cada rack.</a:t>
            </a:r>
          </a:p>
        </p:txBody>
      </p:sp>
      <p:sp>
        <p:nvSpPr>
          <p:cNvPr name="TextBox 6" id="6"/>
          <p:cNvSpPr txBox="true"/>
          <p:nvPr/>
        </p:nvSpPr>
        <p:spPr>
          <a:xfrm rot="0">
            <a:off x="1529800" y="533383"/>
            <a:ext cx="15228400" cy="1412875"/>
          </a:xfrm>
          <a:prstGeom prst="rect">
            <a:avLst/>
          </a:prstGeom>
        </p:spPr>
        <p:txBody>
          <a:bodyPr anchor="t" rtlCol="false" tIns="0" lIns="0" bIns="0" rIns="0">
            <a:spAutoFit/>
          </a:bodyPr>
          <a:lstStyle/>
          <a:p>
            <a:pPr algn="ctr">
              <a:lnSpc>
                <a:spcPts val="10999"/>
              </a:lnSpc>
            </a:pPr>
            <a:r>
              <a:rPr lang="en-US" b="true" sz="9999">
                <a:solidFill>
                  <a:srgbClr val="FFFFFF"/>
                </a:solidFill>
                <a:latin typeface="Poppins Medium Bold"/>
                <a:ea typeface="Poppins Medium Bold"/>
                <a:cs typeface="Poppins Medium Bold"/>
                <a:sym typeface="Poppins Medium Bold"/>
              </a:rPr>
              <a:t>Ejemplo</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1487970" y="4428069"/>
            <a:ext cx="15312059" cy="1526113"/>
          </a:xfrm>
          <a:prstGeom prst="rect">
            <a:avLst/>
          </a:prstGeom>
        </p:spPr>
        <p:txBody>
          <a:bodyPr anchor="t" rtlCol="false" tIns="0" lIns="0" bIns="0" rIns="0">
            <a:spAutoFit/>
          </a:bodyPr>
          <a:lstStyle/>
          <a:p>
            <a:pPr algn="ctr">
              <a:lnSpc>
                <a:spcPts val="11732"/>
              </a:lnSpc>
            </a:pPr>
            <a:r>
              <a:rPr lang="en-US" b="true" sz="10666">
                <a:solidFill>
                  <a:srgbClr val="FFFFFF"/>
                </a:solidFill>
                <a:latin typeface="Poppins Medium Bold"/>
                <a:ea typeface="Poppins Medium Bold"/>
                <a:cs typeface="Poppins Medium Bold"/>
                <a:sym typeface="Poppins Medium Bold"/>
              </a:rPr>
              <a:t>¿Dudas?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DAGVeM1HOIw</dc:identifier>
  <dcterms:modified xsi:type="dcterms:W3CDTF">2011-08-01T06:04:30Z</dcterms:modified>
  <cp:revision>1</cp:revision>
  <dc:title>Workers</dc:title>
</cp:coreProperties>
</file>