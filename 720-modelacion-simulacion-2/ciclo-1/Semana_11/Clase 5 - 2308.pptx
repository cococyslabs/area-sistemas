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rial Bold" charset="1" panose="020B0802020202020204"/>
      <p:regular r:id="rId22"/>
    </p:embeddedFont>
    <p:embeddedFont>
      <p:font typeface="Arimo Bold" charset="1" panose="020B0704020202020204"/>
      <p:regular r:id="rId23"/>
    </p:embeddedFont>
    <p:embeddedFont>
      <p:font typeface="Poppins Medium Bold" charset="1" panose="02000000000000000000"/>
      <p:regular r:id="rId24"/>
    </p:embeddedFont>
    <p:embeddedFont>
      <p:font typeface="Poppins Medium" charset="1" panose="02000000000000000000"/>
      <p:regular r:id="rId25"/>
    </p:embeddedFont>
    <p:embeddedFont>
      <p:font typeface="Poppins Light" charset="1" panose="02000000000000000000"/>
      <p:regular r:id="rId26"/>
    </p:embeddedFont>
    <p:embeddedFont>
      <p:font typeface="Poppins Light Bold" charset="1" panose="02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
            <a:ext cx="18288000" cy="10286998"/>
          </a:xfrm>
          <a:custGeom>
            <a:avLst/>
            <a:gdLst/>
            <a:ahLst/>
            <a:cxnLst/>
            <a:rect r="r" b="b" t="t" l="l"/>
            <a:pathLst>
              <a:path h="10286998" w="18288000">
                <a:moveTo>
                  <a:pt x="0" y="0"/>
                </a:moveTo>
                <a:lnTo>
                  <a:pt x="18288000" y="0"/>
                </a:lnTo>
                <a:lnTo>
                  <a:pt x="18288000" y="10286998"/>
                </a:lnTo>
                <a:lnTo>
                  <a:pt x="0" y="10286998"/>
                </a:lnTo>
                <a:lnTo>
                  <a:pt x="0" y="0"/>
                </a:lnTo>
                <a:close/>
              </a:path>
            </a:pathLst>
          </a:custGeom>
          <a:blipFill>
            <a:blip r:embed="rId2"/>
            <a:stretch>
              <a:fillRect l="0" t="-92" r="0" b="-92"/>
            </a:stretch>
          </a:blipFill>
        </p:spPr>
      </p:sp>
      <p:graphicFrame>
        <p:nvGraphicFramePr>
          <p:cNvPr name="Table 3" id="3"/>
          <p:cNvGraphicFramePr>
            <a:graphicFrameLocks noGrp="true"/>
          </p:cNvGraphicFramePr>
          <p:nvPr/>
        </p:nvGraphicFramePr>
        <p:xfrm>
          <a:off x="10656400" y="1940050"/>
          <a:ext cx="7366000" cy="2209800"/>
        </p:xfrm>
        <a:graphic>
          <a:graphicData uri="http://schemas.openxmlformats.org/drawingml/2006/table">
            <a:tbl>
              <a:tblPr/>
              <a:tblGrid>
                <a:gridCol w="3030168"/>
                <a:gridCol w="4335832"/>
              </a:tblGrid>
              <a:tr h="1379919">
                <a:tc>
                  <a:txBody>
                    <a:bodyPr anchor="t" rtlCol="false"/>
                    <a:lstStyle/>
                    <a:p>
                      <a:pPr algn="ctr">
                        <a:lnSpc>
                          <a:spcPts val="3408"/>
                        </a:lnSpc>
                        <a:defRPr/>
                      </a:pPr>
                      <a:r>
                        <a:rPr lang="en-US" b="true" sz="2840">
                          <a:solidFill>
                            <a:srgbClr val="000000"/>
                          </a:solidFill>
                          <a:latin typeface="Arial Bold"/>
                          <a:ea typeface="Arial Bold"/>
                          <a:cs typeface="Arial Bold"/>
                          <a:sym typeface="Arial Bold"/>
                        </a:rPr>
                        <a:t>Día, Fecha:</a:t>
                      </a:r>
                      <a:endParaRPr lang="en-US" sz="1100"/>
                    </a:p>
                  </a:txBody>
                  <a:tcPr marL="91425" marR="91425" marT="91425" marB="91425"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Arimo Bold"/>
                          <a:ea typeface="Arimo Bold"/>
                          <a:cs typeface="Arimo Bold"/>
                          <a:sym typeface="Arimo Bold"/>
                        </a:rPr>
                        <a:t>Viernes</a:t>
                      </a:r>
                      <a:endParaRPr lang="en-US" sz="1100"/>
                    </a:p>
                    <a:p>
                      <a:pPr algn="ctr">
                        <a:lnSpc>
                          <a:spcPts val="4200"/>
                        </a:lnSpc>
                      </a:pPr>
                      <a:r>
                        <a:rPr lang="en-US" sz="3000" b="true">
                          <a:solidFill>
                            <a:srgbClr val="000000"/>
                          </a:solidFill>
                          <a:latin typeface="Arimo Bold"/>
                          <a:ea typeface="Arimo Bold"/>
                          <a:cs typeface="Arimo Bold"/>
                          <a:sym typeface="Arimo Bold"/>
                        </a:rPr>
                        <a:t>23 / 08 / 2024</a:t>
                      </a:r>
                    </a:p>
                  </a:txBody>
                  <a:tcPr marL="91425" marR="91425" marT="91425" marB="91425"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29881">
                <a:tc>
                  <a:txBody>
                    <a:bodyPr anchor="t" rtlCol="false"/>
                    <a:lstStyle/>
                    <a:p>
                      <a:pPr algn="ctr">
                        <a:lnSpc>
                          <a:spcPts val="3408"/>
                        </a:lnSpc>
                        <a:defRPr/>
                      </a:pPr>
                      <a:r>
                        <a:rPr lang="en-US" b="true" sz="2840">
                          <a:solidFill>
                            <a:srgbClr val="000000"/>
                          </a:solidFill>
                          <a:latin typeface="Arial Bold"/>
                          <a:ea typeface="Arial Bold"/>
                          <a:cs typeface="Arial Bold"/>
                          <a:sym typeface="Arial Bold"/>
                        </a:rPr>
                        <a:t>Hora de inicio:</a:t>
                      </a:r>
                      <a:endParaRPr lang="en-US" sz="1100"/>
                    </a:p>
                  </a:txBody>
                  <a:tcPr marL="91425" marR="91425" marT="91425" marB="91425"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Arimo Bold"/>
                          <a:ea typeface="Arimo Bold"/>
                          <a:cs typeface="Arimo Bold"/>
                          <a:sym typeface="Arimo Bold"/>
                        </a:rPr>
                        <a:t>15:40</a:t>
                      </a:r>
                      <a:endParaRPr lang="en-US" sz="1100"/>
                    </a:p>
                  </a:txBody>
                  <a:tcPr marL="91425" marR="91425" marT="91425" marB="91425"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2971775" y="4512775"/>
            <a:ext cx="13401150" cy="1051200"/>
          </a:xfrm>
          <a:prstGeom prst="rect">
            <a:avLst/>
          </a:prstGeom>
        </p:spPr>
        <p:txBody>
          <a:bodyPr anchor="t" rtlCol="false" tIns="0" lIns="0" bIns="0" rIns="0">
            <a:spAutoFit/>
          </a:bodyPr>
          <a:lstStyle/>
          <a:p>
            <a:pPr algn="l">
              <a:lnSpc>
                <a:spcPts val="5999"/>
              </a:lnSpc>
            </a:pPr>
            <a:r>
              <a:rPr lang="en-US" b="true" sz="4999">
                <a:solidFill>
                  <a:srgbClr val="000000"/>
                </a:solidFill>
                <a:latin typeface="Arial Bold"/>
                <a:ea typeface="Arial Bold"/>
                <a:cs typeface="Arial Bold"/>
                <a:sym typeface="Arial Bold"/>
              </a:rPr>
              <a:t>Modelación y Simulación 2 [A]</a:t>
            </a:r>
          </a:p>
        </p:txBody>
      </p:sp>
      <p:sp>
        <p:nvSpPr>
          <p:cNvPr name="TextBox 5" id="5"/>
          <p:cNvSpPr txBox="true"/>
          <p:nvPr/>
        </p:nvSpPr>
        <p:spPr>
          <a:xfrm rot="0">
            <a:off x="2971775" y="5661100"/>
            <a:ext cx="10990350" cy="888075"/>
          </a:xfrm>
          <a:prstGeom prst="rect">
            <a:avLst/>
          </a:prstGeom>
        </p:spPr>
        <p:txBody>
          <a:bodyPr anchor="t" rtlCol="false" tIns="0" lIns="0" bIns="0" rIns="0">
            <a:spAutoFit/>
          </a:bodyPr>
          <a:lstStyle/>
          <a:p>
            <a:pPr algn="l">
              <a:lnSpc>
                <a:spcPts val="4800"/>
              </a:lnSpc>
            </a:pPr>
            <a:r>
              <a:rPr lang="en-US" b="true" sz="4000">
                <a:solidFill>
                  <a:srgbClr val="000000"/>
                </a:solidFill>
                <a:latin typeface="Arial Bold"/>
                <a:ea typeface="Arial Bold"/>
                <a:cs typeface="Arial Bold"/>
                <a:sym typeface="Arial Bold"/>
              </a:rPr>
              <a:t>André Joaquin Ortega De Paz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a:off x="10330503" y="3334116"/>
            <a:ext cx="6492240" cy="0"/>
          </a:xfrm>
          <a:prstGeom prst="line">
            <a:avLst/>
          </a:prstGeom>
          <a:ln cap="flat" w="38100">
            <a:solidFill>
              <a:srgbClr val="00C4CC"/>
            </a:solidFill>
            <a:prstDash val="solid"/>
            <a:headEnd type="none" len="sm" w="sm"/>
            <a:tailEnd type="none" len="sm" w="sm"/>
          </a:ln>
        </p:spPr>
      </p:sp>
      <p:sp>
        <p:nvSpPr>
          <p:cNvPr name="AutoShape 3" id="3"/>
          <p:cNvSpPr/>
          <p:nvPr/>
        </p:nvSpPr>
        <p:spPr>
          <a:xfrm>
            <a:off x="10330503" y="4302378"/>
            <a:ext cx="6492240" cy="0"/>
          </a:xfrm>
          <a:prstGeom prst="line">
            <a:avLst/>
          </a:prstGeom>
          <a:ln cap="flat" w="38100">
            <a:solidFill>
              <a:srgbClr val="00C4CC"/>
            </a:solidFill>
            <a:prstDash val="solid"/>
            <a:headEnd type="none" len="sm" w="sm"/>
            <a:tailEnd type="none" len="sm" w="sm"/>
          </a:ln>
        </p:spPr>
      </p:sp>
      <p:sp>
        <p:nvSpPr>
          <p:cNvPr name="AutoShape 4" id="4"/>
          <p:cNvSpPr/>
          <p:nvPr/>
        </p:nvSpPr>
        <p:spPr>
          <a:xfrm>
            <a:off x="10330503" y="5255379"/>
            <a:ext cx="6492240" cy="0"/>
          </a:xfrm>
          <a:prstGeom prst="line">
            <a:avLst/>
          </a:prstGeom>
          <a:ln cap="flat" w="38100">
            <a:solidFill>
              <a:srgbClr val="00C4CC"/>
            </a:solidFill>
            <a:prstDash val="solid"/>
            <a:headEnd type="none" len="sm" w="sm"/>
            <a:tailEnd type="none" len="sm" w="sm"/>
          </a:ln>
        </p:spPr>
      </p:sp>
      <p:sp>
        <p:nvSpPr>
          <p:cNvPr name="AutoShape 5" id="5"/>
          <p:cNvSpPr/>
          <p:nvPr/>
        </p:nvSpPr>
        <p:spPr>
          <a:xfrm>
            <a:off x="10330503" y="6208379"/>
            <a:ext cx="6492240" cy="0"/>
          </a:xfrm>
          <a:prstGeom prst="line">
            <a:avLst/>
          </a:prstGeom>
          <a:ln cap="flat" w="38100">
            <a:solidFill>
              <a:srgbClr val="00C4CC"/>
            </a:solidFill>
            <a:prstDash val="solid"/>
            <a:headEnd type="none" len="sm" w="sm"/>
            <a:tailEnd type="none" len="sm" w="sm"/>
          </a:ln>
        </p:spPr>
      </p:sp>
      <p:sp>
        <p:nvSpPr>
          <p:cNvPr name="TextBox 6" id="6"/>
          <p:cNvSpPr txBox="true"/>
          <p:nvPr/>
        </p:nvSpPr>
        <p:spPr>
          <a:xfrm rot="0">
            <a:off x="1279869" y="1220245"/>
            <a:ext cx="7271904" cy="1151471"/>
          </a:xfrm>
          <a:prstGeom prst="rect">
            <a:avLst/>
          </a:prstGeom>
        </p:spPr>
        <p:txBody>
          <a:bodyPr anchor="t" rtlCol="false" tIns="0" lIns="0" bIns="0" rIns="0">
            <a:spAutoFit/>
          </a:bodyPr>
          <a:lstStyle/>
          <a:p>
            <a:pPr algn="ctr">
              <a:lnSpc>
                <a:spcPts val="8983"/>
              </a:lnSpc>
            </a:pPr>
            <a:r>
              <a:rPr lang="en-US" b="true" sz="8166">
                <a:solidFill>
                  <a:srgbClr val="FFFFFF"/>
                </a:solidFill>
                <a:latin typeface="Poppins Medium Bold"/>
                <a:ea typeface="Poppins Medium Bold"/>
                <a:cs typeface="Poppins Medium Bold"/>
                <a:sym typeface="Poppins Medium Bold"/>
              </a:rPr>
              <a:t>Anuncios</a:t>
            </a:r>
          </a:p>
        </p:txBody>
      </p:sp>
      <p:sp>
        <p:nvSpPr>
          <p:cNvPr name="TextBox 7" id="7"/>
          <p:cNvSpPr txBox="true"/>
          <p:nvPr/>
        </p:nvSpPr>
        <p:spPr>
          <a:xfrm rot="0">
            <a:off x="10330503" y="4626228"/>
            <a:ext cx="6492240" cy="374035"/>
          </a:xfrm>
          <a:prstGeom prst="rect">
            <a:avLst/>
          </a:prstGeom>
        </p:spPr>
        <p:txBody>
          <a:bodyPr anchor="t" rtlCol="false" tIns="0" lIns="0" bIns="0" rIns="0">
            <a:spAutoFit/>
          </a:bodyPr>
          <a:lstStyle/>
          <a:p>
            <a:pPr algn="l">
              <a:lnSpc>
                <a:spcPts val="2861"/>
              </a:lnSpc>
            </a:pPr>
            <a:r>
              <a:rPr lang="en-US" sz="2600">
                <a:solidFill>
                  <a:srgbClr val="FFFFFF"/>
                </a:solidFill>
                <a:latin typeface="Poppins Medium"/>
                <a:ea typeface="Poppins Medium"/>
                <a:cs typeface="Poppins Medium"/>
                <a:sym typeface="Poppins Medium"/>
              </a:rPr>
              <a:t>Ejemplo</a:t>
            </a:r>
          </a:p>
        </p:txBody>
      </p:sp>
      <p:sp>
        <p:nvSpPr>
          <p:cNvPr name="TextBox 8" id="8"/>
          <p:cNvSpPr txBox="true"/>
          <p:nvPr/>
        </p:nvSpPr>
        <p:spPr>
          <a:xfrm rot="0">
            <a:off x="10330503" y="5579229"/>
            <a:ext cx="6492240" cy="374035"/>
          </a:xfrm>
          <a:prstGeom prst="rect">
            <a:avLst/>
          </a:prstGeom>
        </p:spPr>
        <p:txBody>
          <a:bodyPr anchor="t" rtlCol="false" tIns="0" lIns="0" bIns="0" rIns="0">
            <a:spAutoFit/>
          </a:bodyPr>
          <a:lstStyle/>
          <a:p>
            <a:pPr algn="l">
              <a:lnSpc>
                <a:spcPts val="2861"/>
              </a:lnSpc>
            </a:pPr>
            <a:r>
              <a:rPr lang="en-US" sz="2600">
                <a:solidFill>
                  <a:srgbClr val="FFFFFF"/>
                </a:solidFill>
                <a:latin typeface="Poppins Medium"/>
                <a:ea typeface="Poppins Medium"/>
                <a:cs typeface="Poppins Medium"/>
                <a:sym typeface="Poppins Medium"/>
              </a:rPr>
              <a:t>Lectura fase 1 del proyecto</a:t>
            </a:r>
          </a:p>
        </p:txBody>
      </p:sp>
      <p:sp>
        <p:nvSpPr>
          <p:cNvPr name="TextBox 9" id="9"/>
          <p:cNvSpPr txBox="true"/>
          <p:nvPr/>
        </p:nvSpPr>
        <p:spPr>
          <a:xfrm rot="0">
            <a:off x="10330503" y="3642593"/>
            <a:ext cx="6492240" cy="374035"/>
          </a:xfrm>
          <a:prstGeom prst="rect">
            <a:avLst/>
          </a:prstGeom>
        </p:spPr>
        <p:txBody>
          <a:bodyPr anchor="t" rtlCol="false" tIns="0" lIns="0" bIns="0" rIns="0">
            <a:spAutoFit/>
          </a:bodyPr>
          <a:lstStyle/>
          <a:p>
            <a:pPr algn="l">
              <a:lnSpc>
                <a:spcPts val="2861"/>
              </a:lnSpc>
            </a:pPr>
            <a:r>
              <a:rPr lang="en-US" sz="2600">
                <a:solidFill>
                  <a:srgbClr val="FFFFFF"/>
                </a:solidFill>
                <a:latin typeface="Poppins Medium"/>
                <a:ea typeface="Poppins Medium"/>
                <a:cs typeface="Poppins Medium"/>
                <a:sym typeface="Poppins Medium"/>
              </a:rPr>
              <a:t>Finanzas</a:t>
            </a:r>
          </a:p>
        </p:txBody>
      </p:sp>
      <p:sp>
        <p:nvSpPr>
          <p:cNvPr name="AutoShape 10" id="10"/>
          <p:cNvSpPr/>
          <p:nvPr/>
        </p:nvSpPr>
        <p:spPr>
          <a:xfrm>
            <a:off x="10330503" y="7161379"/>
            <a:ext cx="6492240" cy="0"/>
          </a:xfrm>
          <a:prstGeom prst="line">
            <a:avLst/>
          </a:prstGeom>
          <a:ln cap="flat" w="38100">
            <a:solidFill>
              <a:srgbClr val="00C4CC"/>
            </a:solidFill>
            <a:prstDash val="solid"/>
            <a:headEnd type="none" len="sm" w="sm"/>
            <a:tailEnd type="none" len="sm" w="sm"/>
          </a:ln>
        </p:spPr>
      </p:sp>
      <p:sp>
        <p:nvSpPr>
          <p:cNvPr name="TextBox 11" id="11"/>
          <p:cNvSpPr txBox="true"/>
          <p:nvPr/>
        </p:nvSpPr>
        <p:spPr>
          <a:xfrm rot="0">
            <a:off x="10330503" y="6532229"/>
            <a:ext cx="6492240" cy="374035"/>
          </a:xfrm>
          <a:prstGeom prst="rect">
            <a:avLst/>
          </a:prstGeom>
        </p:spPr>
        <p:txBody>
          <a:bodyPr anchor="t" rtlCol="false" tIns="0" lIns="0" bIns="0" rIns="0">
            <a:spAutoFit/>
          </a:bodyPr>
          <a:lstStyle/>
          <a:p>
            <a:pPr algn="l">
              <a:lnSpc>
                <a:spcPts val="2861"/>
              </a:lnSpc>
            </a:pPr>
            <a:r>
              <a:rPr lang="en-US" sz="2600">
                <a:solidFill>
                  <a:srgbClr val="FFFFFF"/>
                </a:solidFill>
                <a:latin typeface="Poppins Medium"/>
                <a:ea typeface="Poppins Medium"/>
                <a:cs typeface="Poppins Medium"/>
                <a:sym typeface="Poppins Medium"/>
              </a:rPr>
              <a:t>Tarea #2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487970" y="3794125"/>
            <a:ext cx="15312059" cy="2803525"/>
          </a:xfrm>
          <a:prstGeom prst="rect">
            <a:avLst/>
          </a:prstGeom>
        </p:spPr>
        <p:txBody>
          <a:bodyPr anchor="t" rtlCol="false" tIns="0" lIns="0" bIns="0" rIns="0">
            <a:spAutoFit/>
          </a:bodyPr>
          <a:lstStyle/>
          <a:p>
            <a:pPr algn="ctr">
              <a:lnSpc>
                <a:spcPts val="10999"/>
              </a:lnSpc>
            </a:pPr>
            <a:r>
              <a:rPr lang="en-US" b="true" sz="9999">
                <a:solidFill>
                  <a:srgbClr val="FFFFFF"/>
                </a:solidFill>
                <a:latin typeface="Poppins Medium Bold"/>
                <a:ea typeface="Poppins Medium Bold"/>
                <a:cs typeface="Poppins Medium Bold"/>
                <a:sym typeface="Poppins Medium Bold"/>
              </a:rPr>
              <a:t>LECTURA DE PROYECTO FASE 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0763378" y="580403"/>
            <a:ext cx="5529119" cy="4070814"/>
          </a:xfrm>
          <a:custGeom>
            <a:avLst/>
            <a:gdLst/>
            <a:ahLst/>
            <a:cxnLst/>
            <a:rect r="r" b="b" t="t" l="l"/>
            <a:pathLst>
              <a:path h="4070814" w="5529119">
                <a:moveTo>
                  <a:pt x="0" y="0"/>
                </a:moveTo>
                <a:lnTo>
                  <a:pt x="5529119" y="0"/>
                </a:lnTo>
                <a:lnTo>
                  <a:pt x="5529119" y="4070813"/>
                </a:lnTo>
                <a:lnTo>
                  <a:pt x="0" y="4070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771187"/>
            <a:ext cx="8851539" cy="1412875"/>
          </a:xfrm>
          <a:prstGeom prst="rect">
            <a:avLst/>
          </a:prstGeom>
        </p:spPr>
        <p:txBody>
          <a:bodyPr anchor="t" rtlCol="false" tIns="0" lIns="0" bIns="0" rIns="0">
            <a:spAutoFit/>
          </a:bodyPr>
          <a:lstStyle/>
          <a:p>
            <a:pPr algn="ctr">
              <a:lnSpc>
                <a:spcPts val="10999"/>
              </a:lnSpc>
            </a:pPr>
            <a:r>
              <a:rPr lang="en-US" b="true" sz="9999">
                <a:solidFill>
                  <a:srgbClr val="FFFFFF"/>
                </a:solidFill>
                <a:latin typeface="Poppins Medium Bold"/>
                <a:ea typeface="Poppins Medium Bold"/>
                <a:cs typeface="Poppins Medium Bold"/>
                <a:sym typeface="Poppins Medium Bold"/>
              </a:rPr>
              <a:t>FINANZAS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585346" y="1750219"/>
            <a:ext cx="15117309" cy="3850056"/>
            <a:chOff x="0" y="0"/>
            <a:chExt cx="20156411" cy="5133408"/>
          </a:xfrm>
        </p:grpSpPr>
        <p:sp>
          <p:nvSpPr>
            <p:cNvPr name="TextBox 3" id="3"/>
            <p:cNvSpPr txBox="true"/>
            <p:nvPr/>
          </p:nvSpPr>
          <p:spPr>
            <a:xfrm rot="0">
              <a:off x="0" y="0"/>
              <a:ext cx="20156411" cy="800100"/>
            </a:xfrm>
            <a:prstGeom prst="rect">
              <a:avLst/>
            </a:prstGeom>
          </p:spPr>
          <p:txBody>
            <a:bodyPr anchor="t" rtlCol="false" tIns="0" lIns="0" bIns="0" rIns="0">
              <a:spAutoFit/>
            </a:bodyPr>
            <a:lstStyle/>
            <a:p>
              <a:pPr algn="ctr">
                <a:lnSpc>
                  <a:spcPts val="4799"/>
                </a:lnSpc>
              </a:pPr>
            </a:p>
          </p:txBody>
        </p:sp>
        <p:sp>
          <p:nvSpPr>
            <p:cNvPr name="TextBox 4" id="4"/>
            <p:cNvSpPr txBox="true"/>
            <p:nvPr/>
          </p:nvSpPr>
          <p:spPr>
            <a:xfrm rot="0">
              <a:off x="0" y="1685357"/>
              <a:ext cx="20156411" cy="3448051"/>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La opción Financials es introducida al modelo, ya sea por medio de la adición de elementos del tipo centro de costos (Cost Center Elements), y la asignación del valor en el CostCenter.Cost o el CostCenter.Cost.Rate mediante el step Assign utilizado en un proceso. También puede ser utilizando la propiedad financials en los componentes.</a:t>
              </a:r>
            </a:p>
          </p:txBody>
        </p:sp>
        <p:sp>
          <p:nvSpPr>
            <p:cNvPr name="AutoShape 5" id="5"/>
            <p:cNvSpPr/>
            <p:nvPr/>
          </p:nvSpPr>
          <p:spPr>
            <a:xfrm>
              <a:off x="0" y="1271304"/>
              <a:ext cx="20156411" cy="0"/>
            </a:xfrm>
            <a:prstGeom prst="line">
              <a:avLst/>
            </a:prstGeom>
            <a:ln cap="rnd" w="25400">
              <a:solidFill>
                <a:srgbClr val="10B5BF"/>
              </a:solidFill>
              <a:prstDash val="solid"/>
              <a:headEnd type="none" len="sm" w="sm"/>
              <a:tailEnd type="none" len="sm" w="sm"/>
            </a:ln>
          </p:spPr>
        </p:sp>
      </p:grpSp>
      <p:sp>
        <p:nvSpPr>
          <p:cNvPr name="Freeform 6" id="6"/>
          <p:cNvSpPr/>
          <p:nvPr/>
        </p:nvSpPr>
        <p:spPr>
          <a:xfrm flipH="false" flipV="false" rot="0">
            <a:off x="4600095" y="6411772"/>
            <a:ext cx="9087810" cy="1616409"/>
          </a:xfrm>
          <a:custGeom>
            <a:avLst/>
            <a:gdLst/>
            <a:ahLst/>
            <a:cxnLst/>
            <a:rect r="r" b="b" t="t" l="l"/>
            <a:pathLst>
              <a:path h="1616409" w="9087810">
                <a:moveTo>
                  <a:pt x="0" y="0"/>
                </a:moveTo>
                <a:lnTo>
                  <a:pt x="9087810" y="0"/>
                </a:lnTo>
                <a:lnTo>
                  <a:pt x="9087810" y="1616409"/>
                </a:lnTo>
                <a:lnTo>
                  <a:pt x="0" y="1616409"/>
                </a:lnTo>
                <a:lnTo>
                  <a:pt x="0" y="0"/>
                </a:lnTo>
                <a:close/>
              </a:path>
            </a:pathLst>
          </a:custGeom>
          <a:blipFill>
            <a:blip r:embed="rId2"/>
            <a:stretch>
              <a:fillRect l="0" t="0" r="0" b="0"/>
            </a:stretch>
          </a:blipFill>
        </p:spPr>
      </p:sp>
      <p:grpSp>
        <p:nvGrpSpPr>
          <p:cNvPr name="Group 7" id="7"/>
          <p:cNvGrpSpPr/>
          <p:nvPr/>
        </p:nvGrpSpPr>
        <p:grpSpPr>
          <a:xfrm rot="0">
            <a:off x="1028700" y="307181"/>
            <a:ext cx="10113763" cy="1443038"/>
            <a:chOff x="0" y="0"/>
            <a:chExt cx="13485018" cy="1924050"/>
          </a:xfrm>
        </p:grpSpPr>
        <p:sp>
          <p:nvSpPr>
            <p:cNvPr name="TextBox 8" id="8"/>
            <p:cNvSpPr txBox="true"/>
            <p:nvPr/>
          </p:nvSpPr>
          <p:spPr>
            <a:xfrm rot="0">
              <a:off x="0" y="-9525"/>
              <a:ext cx="13485018"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FINANCIALS</a:t>
              </a:r>
            </a:p>
          </p:txBody>
        </p:sp>
        <p:sp>
          <p:nvSpPr>
            <p:cNvPr name="TextBox 9" id="9"/>
            <p:cNvSpPr txBox="true"/>
            <p:nvPr/>
          </p:nvSpPr>
          <p:spPr>
            <a:xfrm rot="0">
              <a:off x="0" y="1270000"/>
              <a:ext cx="13485018"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Finanzas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416476" y="1750219"/>
            <a:ext cx="15455049" cy="3326181"/>
            <a:chOff x="0" y="0"/>
            <a:chExt cx="20606732" cy="4434908"/>
          </a:xfrm>
        </p:grpSpPr>
        <p:sp>
          <p:nvSpPr>
            <p:cNvPr name="TextBox 3" id="3"/>
            <p:cNvSpPr txBox="true"/>
            <p:nvPr/>
          </p:nvSpPr>
          <p:spPr>
            <a:xfrm rot="0">
              <a:off x="0" y="0"/>
              <a:ext cx="20606732" cy="800100"/>
            </a:xfrm>
            <a:prstGeom prst="rect">
              <a:avLst/>
            </a:prstGeom>
          </p:spPr>
          <p:txBody>
            <a:bodyPr anchor="t" rtlCol="false" tIns="0" lIns="0" bIns="0" rIns="0">
              <a:spAutoFit/>
            </a:bodyPr>
            <a:lstStyle/>
            <a:p>
              <a:pPr algn="ctr">
                <a:lnSpc>
                  <a:spcPts val="4799"/>
                </a:lnSpc>
              </a:pPr>
            </a:p>
          </p:txBody>
        </p:sp>
        <p:sp>
          <p:nvSpPr>
            <p:cNvPr name="TextBox 4" id="4"/>
            <p:cNvSpPr txBox="true"/>
            <p:nvPr/>
          </p:nvSpPr>
          <p:spPr>
            <a:xfrm rot="0">
              <a:off x="0" y="1685357"/>
              <a:ext cx="20606732" cy="2749551"/>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Para configurar la moneda y cambios, tendremos que hacer los siguientes pasos:</a:t>
              </a:r>
            </a:p>
            <a:p>
              <a:pPr algn="just">
                <a:lnSpc>
                  <a:spcPts val="4199"/>
                </a:lnSpc>
              </a:pPr>
              <a:r>
                <a:rPr lang="en-US" sz="2999">
                  <a:solidFill>
                    <a:srgbClr val="FFFFFF"/>
                  </a:solidFill>
                  <a:latin typeface="Poppins Light"/>
                  <a:ea typeface="Poppins Light"/>
                  <a:cs typeface="Poppins Light"/>
                  <a:sym typeface="Poppins Light"/>
                </a:rPr>
                <a:t>Vamos a la </a:t>
              </a:r>
              <a:r>
                <a:rPr lang="en-US" sz="2999">
                  <a:solidFill>
                    <a:srgbClr val="FFFFFF"/>
                  </a:solidFill>
                  <a:latin typeface="Poppins Light"/>
                  <a:ea typeface="Poppins Light"/>
                  <a:cs typeface="Poppins Light"/>
                  <a:sym typeface="Poppins Light"/>
                </a:rPr>
                <a:t>Pestaña RUN, damos click en Opciones Avanzadas, seleccionamos la opción de Financials y ahi nos desplegara un menu donde podremos colocar una moneda por defecto y realizar conversiones.</a:t>
              </a:r>
            </a:p>
          </p:txBody>
        </p:sp>
        <p:sp>
          <p:nvSpPr>
            <p:cNvPr name="AutoShape 5" id="5"/>
            <p:cNvSpPr/>
            <p:nvPr/>
          </p:nvSpPr>
          <p:spPr>
            <a:xfrm>
              <a:off x="0" y="1271304"/>
              <a:ext cx="20606732" cy="0"/>
            </a:xfrm>
            <a:prstGeom prst="line">
              <a:avLst/>
            </a:prstGeom>
            <a:ln cap="rnd" w="25400">
              <a:solidFill>
                <a:srgbClr val="10B5BF"/>
              </a:solidFill>
              <a:prstDash val="solid"/>
              <a:headEnd type="none" len="sm" w="sm"/>
              <a:tailEnd type="none" len="sm" w="sm"/>
            </a:ln>
          </p:spPr>
        </p:sp>
      </p:grpSp>
      <p:sp>
        <p:nvSpPr>
          <p:cNvPr name="Freeform 6" id="6"/>
          <p:cNvSpPr/>
          <p:nvPr/>
        </p:nvSpPr>
        <p:spPr>
          <a:xfrm flipH="false" flipV="false" rot="0">
            <a:off x="3200844" y="5345561"/>
            <a:ext cx="11886313" cy="4550692"/>
          </a:xfrm>
          <a:custGeom>
            <a:avLst/>
            <a:gdLst/>
            <a:ahLst/>
            <a:cxnLst/>
            <a:rect r="r" b="b" t="t" l="l"/>
            <a:pathLst>
              <a:path h="4550692" w="11886313">
                <a:moveTo>
                  <a:pt x="0" y="0"/>
                </a:moveTo>
                <a:lnTo>
                  <a:pt x="11886312" y="0"/>
                </a:lnTo>
                <a:lnTo>
                  <a:pt x="11886312" y="4550692"/>
                </a:lnTo>
                <a:lnTo>
                  <a:pt x="0" y="4550692"/>
                </a:lnTo>
                <a:lnTo>
                  <a:pt x="0" y="0"/>
                </a:lnTo>
                <a:close/>
              </a:path>
            </a:pathLst>
          </a:custGeom>
          <a:blipFill>
            <a:blip r:embed="rId2"/>
            <a:stretch>
              <a:fillRect l="0" t="0" r="0" b="0"/>
            </a:stretch>
          </a:blipFill>
        </p:spPr>
      </p:sp>
      <p:grpSp>
        <p:nvGrpSpPr>
          <p:cNvPr name="Group 7" id="7"/>
          <p:cNvGrpSpPr/>
          <p:nvPr/>
        </p:nvGrpSpPr>
        <p:grpSpPr>
          <a:xfrm rot="0">
            <a:off x="1028700" y="307181"/>
            <a:ext cx="10113763" cy="1443038"/>
            <a:chOff x="0" y="0"/>
            <a:chExt cx="13485018" cy="1924050"/>
          </a:xfrm>
        </p:grpSpPr>
        <p:sp>
          <p:nvSpPr>
            <p:cNvPr name="TextBox 8" id="8"/>
            <p:cNvSpPr txBox="true"/>
            <p:nvPr/>
          </p:nvSpPr>
          <p:spPr>
            <a:xfrm rot="0">
              <a:off x="0" y="-9525"/>
              <a:ext cx="13485018"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FINANCIALS</a:t>
              </a:r>
            </a:p>
          </p:txBody>
        </p:sp>
        <p:sp>
          <p:nvSpPr>
            <p:cNvPr name="TextBox 9" id="9"/>
            <p:cNvSpPr txBox="true"/>
            <p:nvPr/>
          </p:nvSpPr>
          <p:spPr>
            <a:xfrm rot="0">
              <a:off x="0" y="1270000"/>
              <a:ext cx="13485018"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Cambiar tipo de divisas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668328" y="2956535"/>
            <a:ext cx="7727524" cy="4373931"/>
            <a:chOff x="0" y="0"/>
            <a:chExt cx="10303366" cy="5831908"/>
          </a:xfrm>
        </p:grpSpPr>
        <p:sp>
          <p:nvSpPr>
            <p:cNvPr name="TextBox 3" id="3"/>
            <p:cNvSpPr txBox="true"/>
            <p:nvPr/>
          </p:nvSpPr>
          <p:spPr>
            <a:xfrm rot="0">
              <a:off x="0" y="0"/>
              <a:ext cx="10303366" cy="800100"/>
            </a:xfrm>
            <a:prstGeom prst="rect">
              <a:avLst/>
            </a:prstGeom>
          </p:spPr>
          <p:txBody>
            <a:bodyPr anchor="t" rtlCol="false" tIns="0" lIns="0" bIns="0" rIns="0">
              <a:spAutoFit/>
            </a:bodyPr>
            <a:lstStyle/>
            <a:p>
              <a:pPr algn="ctr">
                <a:lnSpc>
                  <a:spcPts val="4799"/>
                </a:lnSpc>
              </a:pPr>
            </a:p>
          </p:txBody>
        </p:sp>
        <p:sp>
          <p:nvSpPr>
            <p:cNvPr name="TextBox 4" id="4"/>
            <p:cNvSpPr txBox="true"/>
            <p:nvPr/>
          </p:nvSpPr>
          <p:spPr>
            <a:xfrm rot="0">
              <a:off x="0" y="1685357"/>
              <a:ext cx="10303366" cy="4146551"/>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Podremos indicar que tipo de cambios realizaremos, esto con el fin de tener un control de las divisas en nuestro modelo.</a:t>
              </a:r>
            </a:p>
            <a:p>
              <a:pPr algn="just">
                <a:lnSpc>
                  <a:spcPts val="4199"/>
                </a:lnSpc>
              </a:pPr>
              <a:r>
                <a:rPr lang="en-US" sz="2999">
                  <a:solidFill>
                    <a:srgbClr val="FFFFFF"/>
                  </a:solidFill>
                  <a:latin typeface="Poppins Light"/>
                  <a:ea typeface="Poppins Light"/>
                  <a:cs typeface="Poppins Light"/>
                  <a:sym typeface="Poppins Light"/>
                </a:rPr>
                <a:t>Esto tiene la función de facilitar los cambios de divisas de ser necesario en los servidores.</a:t>
              </a:r>
            </a:p>
          </p:txBody>
        </p:sp>
        <p:sp>
          <p:nvSpPr>
            <p:cNvPr name="AutoShape 5" id="5"/>
            <p:cNvSpPr/>
            <p:nvPr/>
          </p:nvSpPr>
          <p:spPr>
            <a:xfrm>
              <a:off x="0" y="1271304"/>
              <a:ext cx="10303366" cy="0"/>
            </a:xfrm>
            <a:prstGeom prst="line">
              <a:avLst/>
            </a:prstGeom>
            <a:ln cap="rnd" w="25400">
              <a:solidFill>
                <a:srgbClr val="10B5BF"/>
              </a:solidFill>
              <a:prstDash val="solid"/>
              <a:headEnd type="none" len="sm" w="sm"/>
              <a:tailEnd type="none" len="sm" w="sm"/>
            </a:ln>
          </p:spPr>
        </p:sp>
      </p:grpSp>
      <p:sp>
        <p:nvSpPr>
          <p:cNvPr name="Freeform 6" id="6"/>
          <p:cNvSpPr/>
          <p:nvPr/>
        </p:nvSpPr>
        <p:spPr>
          <a:xfrm flipH="false" flipV="false" rot="0">
            <a:off x="10318943" y="2478467"/>
            <a:ext cx="6940357" cy="5330065"/>
          </a:xfrm>
          <a:custGeom>
            <a:avLst/>
            <a:gdLst/>
            <a:ahLst/>
            <a:cxnLst/>
            <a:rect r="r" b="b" t="t" l="l"/>
            <a:pathLst>
              <a:path h="5330065" w="6940357">
                <a:moveTo>
                  <a:pt x="0" y="0"/>
                </a:moveTo>
                <a:lnTo>
                  <a:pt x="6940357" y="0"/>
                </a:lnTo>
                <a:lnTo>
                  <a:pt x="6940357" y="5330066"/>
                </a:lnTo>
                <a:lnTo>
                  <a:pt x="0" y="5330066"/>
                </a:lnTo>
                <a:lnTo>
                  <a:pt x="0" y="0"/>
                </a:lnTo>
                <a:close/>
              </a:path>
            </a:pathLst>
          </a:custGeom>
          <a:blipFill>
            <a:blip r:embed="rId2"/>
            <a:stretch>
              <a:fillRect l="0" t="0" r="0" b="0"/>
            </a:stretch>
          </a:blipFill>
        </p:spPr>
      </p:sp>
      <p:grpSp>
        <p:nvGrpSpPr>
          <p:cNvPr name="Group 7" id="7"/>
          <p:cNvGrpSpPr/>
          <p:nvPr/>
        </p:nvGrpSpPr>
        <p:grpSpPr>
          <a:xfrm rot="0">
            <a:off x="1028700" y="307181"/>
            <a:ext cx="10113763" cy="1443038"/>
            <a:chOff x="0" y="0"/>
            <a:chExt cx="13485018" cy="1924050"/>
          </a:xfrm>
        </p:grpSpPr>
        <p:sp>
          <p:nvSpPr>
            <p:cNvPr name="TextBox 8" id="8"/>
            <p:cNvSpPr txBox="true"/>
            <p:nvPr/>
          </p:nvSpPr>
          <p:spPr>
            <a:xfrm rot="0">
              <a:off x="0" y="-9525"/>
              <a:ext cx="13485018"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FINANCIALS</a:t>
              </a:r>
            </a:p>
          </p:txBody>
        </p:sp>
        <p:sp>
          <p:nvSpPr>
            <p:cNvPr name="TextBox 9" id="9"/>
            <p:cNvSpPr txBox="true"/>
            <p:nvPr/>
          </p:nvSpPr>
          <p:spPr>
            <a:xfrm rot="0">
              <a:off x="0" y="1270000"/>
              <a:ext cx="13485018"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Indicar que el valor de las divisas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312772" y="2694597"/>
            <a:ext cx="8521701" cy="4897806"/>
            <a:chOff x="0" y="0"/>
            <a:chExt cx="11362268" cy="6530408"/>
          </a:xfrm>
        </p:grpSpPr>
        <p:sp>
          <p:nvSpPr>
            <p:cNvPr name="TextBox 3" id="3"/>
            <p:cNvSpPr txBox="true"/>
            <p:nvPr/>
          </p:nvSpPr>
          <p:spPr>
            <a:xfrm rot="0">
              <a:off x="0" y="0"/>
              <a:ext cx="11362268" cy="800100"/>
            </a:xfrm>
            <a:prstGeom prst="rect">
              <a:avLst/>
            </a:prstGeom>
          </p:spPr>
          <p:txBody>
            <a:bodyPr anchor="t" rtlCol="false" tIns="0" lIns="0" bIns="0" rIns="0">
              <a:spAutoFit/>
            </a:bodyPr>
            <a:lstStyle/>
            <a:p>
              <a:pPr algn="ctr">
                <a:lnSpc>
                  <a:spcPts val="4799"/>
                </a:lnSpc>
              </a:pPr>
            </a:p>
          </p:txBody>
        </p:sp>
        <p:sp>
          <p:nvSpPr>
            <p:cNvPr name="TextBox 4" id="4"/>
            <p:cNvSpPr txBox="true"/>
            <p:nvPr/>
          </p:nvSpPr>
          <p:spPr>
            <a:xfrm rot="0">
              <a:off x="0" y="1685357"/>
              <a:ext cx="11362268" cy="4845051"/>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Podemos configurar la capacidad financiera de un servidor en la pestaña de Financials, podemos configurar el Input Buffer y el Output Buffer, tambien podemos indicar en que tipo de divisas vamos a trabajar, e inclusive podemos indicarle costos por usar el servicio.</a:t>
              </a:r>
            </a:p>
          </p:txBody>
        </p:sp>
        <p:sp>
          <p:nvSpPr>
            <p:cNvPr name="AutoShape 5" id="5"/>
            <p:cNvSpPr/>
            <p:nvPr/>
          </p:nvSpPr>
          <p:spPr>
            <a:xfrm>
              <a:off x="0" y="1271304"/>
              <a:ext cx="11362268" cy="0"/>
            </a:xfrm>
            <a:prstGeom prst="line">
              <a:avLst/>
            </a:prstGeom>
            <a:ln cap="rnd" w="25400">
              <a:solidFill>
                <a:srgbClr val="10B5BF"/>
              </a:solidFill>
              <a:prstDash val="solid"/>
              <a:headEnd type="none" len="sm" w="sm"/>
              <a:tailEnd type="none" len="sm" w="sm"/>
            </a:ln>
          </p:spPr>
        </p:sp>
      </p:grpSp>
      <p:sp>
        <p:nvSpPr>
          <p:cNvPr name="Freeform 6" id="6"/>
          <p:cNvSpPr/>
          <p:nvPr/>
        </p:nvSpPr>
        <p:spPr>
          <a:xfrm flipH="false" flipV="false" rot="0">
            <a:off x="11404284" y="1451863"/>
            <a:ext cx="5855016" cy="7383274"/>
          </a:xfrm>
          <a:custGeom>
            <a:avLst/>
            <a:gdLst/>
            <a:ahLst/>
            <a:cxnLst/>
            <a:rect r="r" b="b" t="t" l="l"/>
            <a:pathLst>
              <a:path h="7383274" w="5855016">
                <a:moveTo>
                  <a:pt x="0" y="0"/>
                </a:moveTo>
                <a:lnTo>
                  <a:pt x="5855016" y="0"/>
                </a:lnTo>
                <a:lnTo>
                  <a:pt x="5855016" y="7383274"/>
                </a:lnTo>
                <a:lnTo>
                  <a:pt x="0" y="7383274"/>
                </a:lnTo>
                <a:lnTo>
                  <a:pt x="0" y="0"/>
                </a:lnTo>
                <a:close/>
              </a:path>
            </a:pathLst>
          </a:custGeom>
          <a:blipFill>
            <a:blip r:embed="rId2"/>
            <a:stretch>
              <a:fillRect l="0" t="0" r="0" b="0"/>
            </a:stretch>
          </a:blipFill>
        </p:spPr>
      </p:sp>
      <p:grpSp>
        <p:nvGrpSpPr>
          <p:cNvPr name="Group 7" id="7"/>
          <p:cNvGrpSpPr/>
          <p:nvPr/>
        </p:nvGrpSpPr>
        <p:grpSpPr>
          <a:xfrm rot="0">
            <a:off x="1028700" y="307181"/>
            <a:ext cx="10113763" cy="1443038"/>
            <a:chOff x="0" y="0"/>
            <a:chExt cx="13485018" cy="1924050"/>
          </a:xfrm>
        </p:grpSpPr>
        <p:sp>
          <p:nvSpPr>
            <p:cNvPr name="TextBox 8" id="8"/>
            <p:cNvSpPr txBox="true"/>
            <p:nvPr/>
          </p:nvSpPr>
          <p:spPr>
            <a:xfrm rot="0">
              <a:off x="0" y="-9525"/>
              <a:ext cx="13485018"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FINANCIALS</a:t>
              </a:r>
            </a:p>
          </p:txBody>
        </p:sp>
        <p:sp>
          <p:nvSpPr>
            <p:cNvPr name="TextBox 9" id="9"/>
            <p:cNvSpPr txBox="true"/>
            <p:nvPr/>
          </p:nvSpPr>
          <p:spPr>
            <a:xfrm rot="0">
              <a:off x="0" y="1270000"/>
              <a:ext cx="13485018"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Finanzas de un servidor</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3565033" y="3735349"/>
            <a:ext cx="11580586" cy="3326181"/>
            <a:chOff x="0" y="0"/>
            <a:chExt cx="15440782" cy="4434908"/>
          </a:xfrm>
        </p:grpSpPr>
        <p:sp>
          <p:nvSpPr>
            <p:cNvPr name="TextBox 3" id="3"/>
            <p:cNvSpPr txBox="true"/>
            <p:nvPr/>
          </p:nvSpPr>
          <p:spPr>
            <a:xfrm rot="0">
              <a:off x="0" y="0"/>
              <a:ext cx="15440782" cy="800100"/>
            </a:xfrm>
            <a:prstGeom prst="rect">
              <a:avLst/>
            </a:prstGeom>
          </p:spPr>
          <p:txBody>
            <a:bodyPr anchor="t" rtlCol="false" tIns="0" lIns="0" bIns="0" rIns="0">
              <a:spAutoFit/>
            </a:bodyPr>
            <a:lstStyle/>
            <a:p>
              <a:pPr algn="ctr">
                <a:lnSpc>
                  <a:spcPts val="4799"/>
                </a:lnSpc>
              </a:pPr>
            </a:p>
          </p:txBody>
        </p:sp>
        <p:sp>
          <p:nvSpPr>
            <p:cNvPr name="TextBox 4" id="4"/>
            <p:cNvSpPr txBox="true"/>
            <p:nvPr/>
          </p:nvSpPr>
          <p:spPr>
            <a:xfrm rot="0">
              <a:off x="0" y="1685357"/>
              <a:ext cx="15440782" cy="2749551"/>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Si nos dirigimos a la pestaña de Definitions y seleccionamos la opcion de Elements, podremos crear una variable para manejar las finanzas de manera mas sencilla, para esto daremos click en la opcion de Cost Center y la generara/.</a:t>
              </a:r>
            </a:p>
          </p:txBody>
        </p:sp>
        <p:sp>
          <p:nvSpPr>
            <p:cNvPr name="AutoShape 5" id="5"/>
            <p:cNvSpPr/>
            <p:nvPr/>
          </p:nvSpPr>
          <p:spPr>
            <a:xfrm>
              <a:off x="0" y="1271304"/>
              <a:ext cx="15440782" cy="0"/>
            </a:xfrm>
            <a:prstGeom prst="line">
              <a:avLst/>
            </a:prstGeom>
            <a:ln cap="rnd" w="25400">
              <a:solidFill>
                <a:srgbClr val="10B5BF"/>
              </a:solidFill>
              <a:prstDash val="solid"/>
              <a:headEnd type="none" len="sm" w="sm"/>
              <a:tailEnd type="none" len="sm" w="sm"/>
            </a:ln>
          </p:spPr>
        </p:sp>
      </p:grpSp>
      <p:sp>
        <p:nvSpPr>
          <p:cNvPr name="Freeform 6" id="6"/>
          <p:cNvSpPr/>
          <p:nvPr/>
        </p:nvSpPr>
        <p:spPr>
          <a:xfrm flipH="false" flipV="false" rot="0">
            <a:off x="2954258" y="2034205"/>
            <a:ext cx="14402900" cy="1627814"/>
          </a:xfrm>
          <a:custGeom>
            <a:avLst/>
            <a:gdLst/>
            <a:ahLst/>
            <a:cxnLst/>
            <a:rect r="r" b="b" t="t" l="l"/>
            <a:pathLst>
              <a:path h="1627814" w="14402900">
                <a:moveTo>
                  <a:pt x="0" y="0"/>
                </a:moveTo>
                <a:lnTo>
                  <a:pt x="14402900" y="0"/>
                </a:lnTo>
                <a:lnTo>
                  <a:pt x="14402900" y="1627814"/>
                </a:lnTo>
                <a:lnTo>
                  <a:pt x="0" y="1627814"/>
                </a:lnTo>
                <a:lnTo>
                  <a:pt x="0" y="0"/>
                </a:lnTo>
                <a:close/>
              </a:path>
            </a:pathLst>
          </a:custGeom>
          <a:blipFill>
            <a:blip r:embed="rId2"/>
            <a:stretch>
              <a:fillRect l="0" t="0" r="0" b="0"/>
            </a:stretch>
          </a:blipFill>
        </p:spPr>
      </p:sp>
      <p:grpSp>
        <p:nvGrpSpPr>
          <p:cNvPr name="Group 7" id="7"/>
          <p:cNvGrpSpPr/>
          <p:nvPr/>
        </p:nvGrpSpPr>
        <p:grpSpPr>
          <a:xfrm rot="0">
            <a:off x="10292895" y="1823548"/>
            <a:ext cx="1483328" cy="1650938"/>
            <a:chOff x="0" y="0"/>
            <a:chExt cx="390671" cy="434815"/>
          </a:xfrm>
        </p:grpSpPr>
        <p:sp>
          <p:nvSpPr>
            <p:cNvPr name="Freeform 8" id="8"/>
            <p:cNvSpPr/>
            <p:nvPr/>
          </p:nvSpPr>
          <p:spPr>
            <a:xfrm flipH="false" flipV="false" rot="0">
              <a:off x="0" y="0"/>
              <a:ext cx="390671" cy="434815"/>
            </a:xfrm>
            <a:custGeom>
              <a:avLst/>
              <a:gdLst/>
              <a:ahLst/>
              <a:cxnLst/>
              <a:rect r="r" b="b" t="t" l="l"/>
              <a:pathLst>
                <a:path h="434815" w="390671">
                  <a:moveTo>
                    <a:pt x="195335" y="0"/>
                  </a:moveTo>
                  <a:lnTo>
                    <a:pt x="195335" y="0"/>
                  </a:lnTo>
                  <a:cubicBezTo>
                    <a:pt x="303216" y="0"/>
                    <a:pt x="390671" y="87455"/>
                    <a:pt x="390671" y="195335"/>
                  </a:cubicBezTo>
                  <a:lnTo>
                    <a:pt x="390671" y="239480"/>
                  </a:lnTo>
                  <a:cubicBezTo>
                    <a:pt x="390671" y="347360"/>
                    <a:pt x="303216" y="434815"/>
                    <a:pt x="195335" y="434815"/>
                  </a:cubicBezTo>
                  <a:lnTo>
                    <a:pt x="195335" y="434815"/>
                  </a:lnTo>
                  <a:cubicBezTo>
                    <a:pt x="87455" y="434815"/>
                    <a:pt x="0" y="347360"/>
                    <a:pt x="0" y="239480"/>
                  </a:cubicBezTo>
                  <a:lnTo>
                    <a:pt x="0" y="195335"/>
                  </a:lnTo>
                  <a:cubicBezTo>
                    <a:pt x="0" y="87455"/>
                    <a:pt x="87455" y="0"/>
                    <a:pt x="195335" y="0"/>
                  </a:cubicBezTo>
                  <a:close/>
                </a:path>
              </a:pathLst>
            </a:custGeom>
            <a:solidFill>
              <a:srgbClr val="000000">
                <a:alpha val="0"/>
              </a:srgbClr>
            </a:solidFill>
            <a:ln w="171450" cap="rnd">
              <a:solidFill>
                <a:srgbClr val="C2444F"/>
              </a:solidFill>
              <a:prstDash val="solid"/>
              <a:round/>
            </a:ln>
          </p:spPr>
        </p:sp>
        <p:sp>
          <p:nvSpPr>
            <p:cNvPr name="TextBox 9" id="9"/>
            <p:cNvSpPr txBox="true"/>
            <p:nvPr/>
          </p:nvSpPr>
          <p:spPr>
            <a:xfrm>
              <a:off x="0" y="19050"/>
              <a:ext cx="390671" cy="415765"/>
            </a:xfrm>
            <a:prstGeom prst="rect">
              <a:avLst/>
            </a:prstGeom>
          </p:spPr>
          <p:txBody>
            <a:bodyPr anchor="ctr" rtlCol="false" tIns="50800" lIns="50800" bIns="50800" rIns="50800"/>
            <a:lstStyle/>
            <a:p>
              <a:pPr algn="ctr">
                <a:lnSpc>
                  <a:spcPts val="2861"/>
                </a:lnSpc>
              </a:pPr>
            </a:p>
          </p:txBody>
        </p:sp>
      </p:grpSp>
      <p:sp>
        <p:nvSpPr>
          <p:cNvPr name="Freeform 10" id="10"/>
          <p:cNvSpPr/>
          <p:nvPr/>
        </p:nvSpPr>
        <p:spPr>
          <a:xfrm flipH="false" flipV="false" rot="0">
            <a:off x="1188064" y="2202059"/>
            <a:ext cx="1550546" cy="7056241"/>
          </a:xfrm>
          <a:custGeom>
            <a:avLst/>
            <a:gdLst/>
            <a:ahLst/>
            <a:cxnLst/>
            <a:rect r="r" b="b" t="t" l="l"/>
            <a:pathLst>
              <a:path h="7056241" w="1550546">
                <a:moveTo>
                  <a:pt x="0" y="0"/>
                </a:moveTo>
                <a:lnTo>
                  <a:pt x="1550546" y="0"/>
                </a:lnTo>
                <a:lnTo>
                  <a:pt x="1550546" y="7056241"/>
                </a:lnTo>
                <a:lnTo>
                  <a:pt x="0" y="7056241"/>
                </a:lnTo>
                <a:lnTo>
                  <a:pt x="0" y="0"/>
                </a:lnTo>
                <a:close/>
              </a:path>
            </a:pathLst>
          </a:custGeom>
          <a:blipFill>
            <a:blip r:embed="rId3"/>
            <a:stretch>
              <a:fillRect l="0" t="0" r="0" b="-49967"/>
            </a:stretch>
          </a:blipFill>
        </p:spPr>
      </p:sp>
      <p:grpSp>
        <p:nvGrpSpPr>
          <p:cNvPr name="Group 11" id="11"/>
          <p:cNvGrpSpPr/>
          <p:nvPr/>
        </p:nvGrpSpPr>
        <p:grpSpPr>
          <a:xfrm rot="0">
            <a:off x="1028700" y="307181"/>
            <a:ext cx="10113763" cy="1443038"/>
            <a:chOff x="0" y="0"/>
            <a:chExt cx="13485018" cy="1924050"/>
          </a:xfrm>
        </p:grpSpPr>
        <p:sp>
          <p:nvSpPr>
            <p:cNvPr name="TextBox 12" id="12"/>
            <p:cNvSpPr txBox="true"/>
            <p:nvPr/>
          </p:nvSpPr>
          <p:spPr>
            <a:xfrm rot="0">
              <a:off x="0" y="-9525"/>
              <a:ext cx="13485018"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FINANCIALS</a:t>
              </a:r>
            </a:p>
          </p:txBody>
        </p:sp>
        <p:sp>
          <p:nvSpPr>
            <p:cNvPr name="TextBox 13" id="13"/>
            <p:cNvSpPr txBox="true"/>
            <p:nvPr/>
          </p:nvSpPr>
          <p:spPr>
            <a:xfrm rot="0">
              <a:off x="0" y="1270000"/>
              <a:ext cx="13485018"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Creacion de variable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1122972"/>
            <a:ext cx="9064535" cy="8041056"/>
            <a:chOff x="0" y="0"/>
            <a:chExt cx="12086046" cy="10721408"/>
          </a:xfrm>
        </p:grpSpPr>
        <p:sp>
          <p:nvSpPr>
            <p:cNvPr name="TextBox 3" id="3"/>
            <p:cNvSpPr txBox="true"/>
            <p:nvPr/>
          </p:nvSpPr>
          <p:spPr>
            <a:xfrm rot="0">
              <a:off x="0" y="0"/>
              <a:ext cx="12086046" cy="800100"/>
            </a:xfrm>
            <a:prstGeom prst="rect">
              <a:avLst/>
            </a:prstGeom>
          </p:spPr>
          <p:txBody>
            <a:bodyPr anchor="t" rtlCol="false" tIns="0" lIns="0" bIns="0" rIns="0">
              <a:spAutoFit/>
            </a:bodyPr>
            <a:lstStyle/>
            <a:p>
              <a:pPr algn="ctr">
                <a:lnSpc>
                  <a:spcPts val="4799"/>
                </a:lnSpc>
              </a:pPr>
            </a:p>
          </p:txBody>
        </p:sp>
        <p:sp>
          <p:nvSpPr>
            <p:cNvPr name="TextBox 4" id="4"/>
            <p:cNvSpPr txBox="true"/>
            <p:nvPr/>
          </p:nvSpPr>
          <p:spPr>
            <a:xfrm rot="0">
              <a:off x="0" y="1685357"/>
              <a:ext cx="12086046" cy="9036051"/>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Los elementos que utilizaremos seran:</a:t>
              </a:r>
            </a:p>
            <a:p>
              <a:pPr algn="just">
                <a:lnSpc>
                  <a:spcPts val="4199"/>
                </a:lnSpc>
              </a:pP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Initial Cost</a:t>
              </a:r>
              <a:r>
                <a:rPr lang="en-US" sz="2999">
                  <a:solidFill>
                    <a:srgbClr val="FFFFFF"/>
                  </a:solidFill>
                  <a:latin typeface="Poppins Light"/>
                  <a:ea typeface="Poppins Light"/>
                  <a:cs typeface="Poppins Light"/>
                  <a:sym typeface="Poppins Light"/>
                </a:rPr>
                <a:t>: Como su nombre lo indica, este nos servira para colocar valores iniciales a la variable.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Initial Cost Rate: Indica el costo que tendra la varibale y que ira creciendo con el tiempo.</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Units: Esta opcion nos da la oportunidad de escoger sobre que moneda vamos a trabajar, tambien, podemos indicarle que cobrara en otra moneda por la cantidad de tiempo, como lo pueden ser segundos, minutos, horas, dias, etc.</a:t>
              </a:r>
            </a:p>
          </p:txBody>
        </p:sp>
        <p:sp>
          <p:nvSpPr>
            <p:cNvPr name="AutoShape 5" id="5"/>
            <p:cNvSpPr/>
            <p:nvPr/>
          </p:nvSpPr>
          <p:spPr>
            <a:xfrm>
              <a:off x="0" y="1271304"/>
              <a:ext cx="12086046" cy="0"/>
            </a:xfrm>
            <a:prstGeom prst="line">
              <a:avLst/>
            </a:prstGeom>
            <a:ln cap="rnd" w="25400">
              <a:solidFill>
                <a:srgbClr val="10B5BF"/>
              </a:solidFill>
              <a:prstDash val="solid"/>
              <a:headEnd type="none" len="sm" w="sm"/>
              <a:tailEnd type="none" len="sm" w="sm"/>
            </a:ln>
          </p:spPr>
        </p:sp>
      </p:grpSp>
      <p:sp>
        <p:nvSpPr>
          <p:cNvPr name="Freeform 6" id="6"/>
          <p:cNvSpPr/>
          <p:nvPr/>
        </p:nvSpPr>
        <p:spPr>
          <a:xfrm flipH="false" flipV="false" rot="0">
            <a:off x="11517921" y="424755"/>
            <a:ext cx="5032103" cy="1875732"/>
          </a:xfrm>
          <a:custGeom>
            <a:avLst/>
            <a:gdLst/>
            <a:ahLst/>
            <a:cxnLst/>
            <a:rect r="r" b="b" t="t" l="l"/>
            <a:pathLst>
              <a:path h="1875732" w="5032103">
                <a:moveTo>
                  <a:pt x="0" y="0"/>
                </a:moveTo>
                <a:lnTo>
                  <a:pt x="5032103" y="0"/>
                </a:lnTo>
                <a:lnTo>
                  <a:pt x="5032103" y="1875731"/>
                </a:lnTo>
                <a:lnTo>
                  <a:pt x="0" y="1875731"/>
                </a:lnTo>
                <a:lnTo>
                  <a:pt x="0" y="0"/>
                </a:lnTo>
                <a:close/>
              </a:path>
            </a:pathLst>
          </a:custGeom>
          <a:blipFill>
            <a:blip r:embed="rId2"/>
            <a:stretch>
              <a:fillRect l="0" t="0" r="0" b="-24285"/>
            </a:stretch>
          </a:blipFill>
        </p:spPr>
      </p:sp>
      <p:sp>
        <p:nvSpPr>
          <p:cNvPr name="Freeform 7" id="7"/>
          <p:cNvSpPr/>
          <p:nvPr/>
        </p:nvSpPr>
        <p:spPr>
          <a:xfrm flipH="false" flipV="false" rot="0">
            <a:off x="10685878" y="2995933"/>
            <a:ext cx="6573422" cy="4295134"/>
          </a:xfrm>
          <a:custGeom>
            <a:avLst/>
            <a:gdLst/>
            <a:ahLst/>
            <a:cxnLst/>
            <a:rect r="r" b="b" t="t" l="l"/>
            <a:pathLst>
              <a:path h="4295134" w="6573422">
                <a:moveTo>
                  <a:pt x="0" y="0"/>
                </a:moveTo>
                <a:lnTo>
                  <a:pt x="6573422" y="0"/>
                </a:lnTo>
                <a:lnTo>
                  <a:pt x="6573422" y="4295134"/>
                </a:lnTo>
                <a:lnTo>
                  <a:pt x="0" y="4295134"/>
                </a:lnTo>
                <a:lnTo>
                  <a:pt x="0" y="0"/>
                </a:lnTo>
                <a:close/>
              </a:path>
            </a:pathLst>
          </a:custGeom>
          <a:blipFill>
            <a:blip r:embed="rId3"/>
            <a:stretch>
              <a:fillRect l="0" t="0" r="0" b="0"/>
            </a:stretch>
          </a:blipFill>
        </p:spPr>
      </p:sp>
      <p:grpSp>
        <p:nvGrpSpPr>
          <p:cNvPr name="Group 8" id="8"/>
          <p:cNvGrpSpPr/>
          <p:nvPr/>
        </p:nvGrpSpPr>
        <p:grpSpPr>
          <a:xfrm rot="0">
            <a:off x="1028700" y="307181"/>
            <a:ext cx="10113763" cy="1443038"/>
            <a:chOff x="0" y="0"/>
            <a:chExt cx="13485018" cy="1924050"/>
          </a:xfrm>
        </p:grpSpPr>
        <p:sp>
          <p:nvSpPr>
            <p:cNvPr name="TextBox 9" id="9"/>
            <p:cNvSpPr txBox="true"/>
            <p:nvPr/>
          </p:nvSpPr>
          <p:spPr>
            <a:xfrm rot="0">
              <a:off x="0" y="-9525"/>
              <a:ext cx="13485018"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FINANCIALS</a:t>
              </a:r>
            </a:p>
          </p:txBody>
        </p:sp>
        <p:sp>
          <p:nvSpPr>
            <p:cNvPr name="TextBox 10" id="10"/>
            <p:cNvSpPr txBox="true"/>
            <p:nvPr/>
          </p:nvSpPr>
          <p:spPr>
            <a:xfrm rot="0">
              <a:off x="0" y="1270000"/>
              <a:ext cx="13485018"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Como usar Cost Center</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862961" y="2824706"/>
            <a:ext cx="14562079" cy="4897806"/>
            <a:chOff x="0" y="0"/>
            <a:chExt cx="19416105" cy="6530408"/>
          </a:xfrm>
        </p:grpSpPr>
        <p:sp>
          <p:nvSpPr>
            <p:cNvPr name="TextBox 3" id="3"/>
            <p:cNvSpPr txBox="true"/>
            <p:nvPr/>
          </p:nvSpPr>
          <p:spPr>
            <a:xfrm rot="0">
              <a:off x="0" y="0"/>
              <a:ext cx="19416105" cy="800100"/>
            </a:xfrm>
            <a:prstGeom prst="rect">
              <a:avLst/>
            </a:prstGeom>
          </p:spPr>
          <p:txBody>
            <a:bodyPr anchor="t" rtlCol="false" tIns="0" lIns="0" bIns="0" rIns="0">
              <a:spAutoFit/>
            </a:bodyPr>
            <a:lstStyle/>
            <a:p>
              <a:pPr algn="ctr">
                <a:lnSpc>
                  <a:spcPts val="4799"/>
                </a:lnSpc>
              </a:pPr>
            </a:p>
          </p:txBody>
        </p:sp>
        <p:sp>
          <p:nvSpPr>
            <p:cNvPr name="TextBox 4" id="4"/>
            <p:cNvSpPr txBox="true"/>
            <p:nvPr/>
          </p:nvSpPr>
          <p:spPr>
            <a:xfrm rot="0">
              <a:off x="0" y="1685357"/>
              <a:ext cx="19416105" cy="4845051"/>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Podemos asignar la variable a un servidor, para poder realizarlo, unicamente seleccionamos el server que deseamos usar, abrimos la pestaña de Financials y podremos mandar a llamar la variable.</a:t>
              </a:r>
            </a:p>
            <a:p>
              <a:pPr algn="just">
                <a:lnSpc>
                  <a:spcPts val="4199"/>
                </a:lnSpc>
              </a:pPr>
            </a:p>
            <a:p>
              <a:pPr algn="just">
                <a:lnSpc>
                  <a:spcPts val="4199"/>
                </a:lnSpc>
              </a:pPr>
              <a:r>
                <a:rPr lang="en-US" sz="2999">
                  <a:solidFill>
                    <a:srgbClr val="FFFFFF"/>
                  </a:solidFill>
                  <a:latin typeface="Poppins Light"/>
                  <a:ea typeface="Poppins Light"/>
                  <a:cs typeface="Poppins Light"/>
                  <a:sym typeface="Poppins Light"/>
                </a:rPr>
                <a:t>Para utilizar la variable en un status label, tendremos que seleccionar el status que deseamos utilizar y le asignamos la expression CostCenter1.Cost o bien NOMBREVARIABLE.Cost</a:t>
              </a:r>
            </a:p>
          </p:txBody>
        </p:sp>
        <p:sp>
          <p:nvSpPr>
            <p:cNvPr name="AutoShape 5" id="5"/>
            <p:cNvSpPr/>
            <p:nvPr/>
          </p:nvSpPr>
          <p:spPr>
            <a:xfrm>
              <a:off x="0" y="1271304"/>
              <a:ext cx="19416105" cy="0"/>
            </a:xfrm>
            <a:prstGeom prst="line">
              <a:avLst/>
            </a:prstGeom>
            <a:ln cap="rnd" w="25400">
              <a:solidFill>
                <a:srgbClr val="10B5BF"/>
              </a:solidFill>
              <a:prstDash val="solid"/>
              <a:headEnd type="none" len="sm" w="sm"/>
              <a:tailEnd type="none" len="sm" w="sm"/>
            </a:ln>
          </p:spPr>
        </p:sp>
      </p:grpSp>
      <p:sp>
        <p:nvSpPr>
          <p:cNvPr name="Freeform 6" id="6"/>
          <p:cNvSpPr/>
          <p:nvPr/>
        </p:nvSpPr>
        <p:spPr>
          <a:xfrm flipH="false" flipV="false" rot="0">
            <a:off x="1862961" y="1983864"/>
            <a:ext cx="8956385" cy="1681684"/>
          </a:xfrm>
          <a:custGeom>
            <a:avLst/>
            <a:gdLst/>
            <a:ahLst/>
            <a:cxnLst/>
            <a:rect r="r" b="b" t="t" l="l"/>
            <a:pathLst>
              <a:path h="1681684" w="8956385">
                <a:moveTo>
                  <a:pt x="0" y="0"/>
                </a:moveTo>
                <a:lnTo>
                  <a:pt x="8956384" y="0"/>
                </a:lnTo>
                <a:lnTo>
                  <a:pt x="8956384" y="1681684"/>
                </a:lnTo>
                <a:lnTo>
                  <a:pt x="0" y="1681684"/>
                </a:lnTo>
                <a:lnTo>
                  <a:pt x="0" y="0"/>
                </a:lnTo>
                <a:close/>
              </a:path>
            </a:pathLst>
          </a:custGeom>
          <a:blipFill>
            <a:blip r:embed="rId2"/>
            <a:stretch>
              <a:fillRect l="0" t="0" r="0" b="0"/>
            </a:stretch>
          </a:blipFill>
        </p:spPr>
      </p:sp>
      <p:sp>
        <p:nvSpPr>
          <p:cNvPr name="Freeform 7" id="7"/>
          <p:cNvSpPr/>
          <p:nvPr/>
        </p:nvSpPr>
        <p:spPr>
          <a:xfrm flipH="false" flipV="false" rot="0">
            <a:off x="8515371" y="7347027"/>
            <a:ext cx="7909669" cy="2100493"/>
          </a:xfrm>
          <a:custGeom>
            <a:avLst/>
            <a:gdLst/>
            <a:ahLst/>
            <a:cxnLst/>
            <a:rect r="r" b="b" t="t" l="l"/>
            <a:pathLst>
              <a:path h="2100493" w="7909669">
                <a:moveTo>
                  <a:pt x="0" y="0"/>
                </a:moveTo>
                <a:lnTo>
                  <a:pt x="7909668" y="0"/>
                </a:lnTo>
                <a:lnTo>
                  <a:pt x="7909668" y="2100492"/>
                </a:lnTo>
                <a:lnTo>
                  <a:pt x="0" y="2100492"/>
                </a:lnTo>
                <a:lnTo>
                  <a:pt x="0" y="0"/>
                </a:lnTo>
                <a:close/>
              </a:path>
            </a:pathLst>
          </a:custGeom>
          <a:blipFill>
            <a:blip r:embed="rId3"/>
            <a:stretch>
              <a:fillRect l="0" t="0" r="0" b="0"/>
            </a:stretch>
          </a:blipFill>
        </p:spPr>
      </p:sp>
      <p:grpSp>
        <p:nvGrpSpPr>
          <p:cNvPr name="Group 8" id="8"/>
          <p:cNvGrpSpPr/>
          <p:nvPr/>
        </p:nvGrpSpPr>
        <p:grpSpPr>
          <a:xfrm rot="0">
            <a:off x="1028700" y="307181"/>
            <a:ext cx="10113763" cy="1443038"/>
            <a:chOff x="0" y="0"/>
            <a:chExt cx="13485018" cy="1924050"/>
          </a:xfrm>
        </p:grpSpPr>
        <p:sp>
          <p:nvSpPr>
            <p:cNvPr name="TextBox 9" id="9"/>
            <p:cNvSpPr txBox="true"/>
            <p:nvPr/>
          </p:nvSpPr>
          <p:spPr>
            <a:xfrm rot="0">
              <a:off x="0" y="-9525"/>
              <a:ext cx="13485018"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FINANCIALS</a:t>
              </a:r>
            </a:p>
          </p:txBody>
        </p:sp>
        <p:sp>
          <p:nvSpPr>
            <p:cNvPr name="TextBox 10" id="10"/>
            <p:cNvSpPr txBox="true"/>
            <p:nvPr/>
          </p:nvSpPr>
          <p:spPr>
            <a:xfrm rot="0">
              <a:off x="0" y="1270000"/>
              <a:ext cx="13485018"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Como podemos asignar Cost Center</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3596832" y="3610777"/>
            <a:ext cx="11094336" cy="5893866"/>
          </a:xfrm>
          <a:custGeom>
            <a:avLst/>
            <a:gdLst/>
            <a:ahLst/>
            <a:cxnLst/>
            <a:rect r="r" b="b" t="t" l="l"/>
            <a:pathLst>
              <a:path h="5893866" w="11094336">
                <a:moveTo>
                  <a:pt x="0" y="0"/>
                </a:moveTo>
                <a:lnTo>
                  <a:pt x="11094336" y="0"/>
                </a:lnTo>
                <a:lnTo>
                  <a:pt x="11094336" y="5893867"/>
                </a:lnTo>
                <a:lnTo>
                  <a:pt x="0" y="5893867"/>
                </a:lnTo>
                <a:lnTo>
                  <a:pt x="0" y="0"/>
                </a:lnTo>
                <a:close/>
              </a:path>
            </a:pathLst>
          </a:custGeom>
          <a:blipFill>
            <a:blip r:embed="rId2"/>
            <a:stretch>
              <a:fillRect l="0" t="0" r="0" b="0"/>
            </a:stretch>
          </a:blipFill>
        </p:spPr>
      </p:sp>
      <p:sp>
        <p:nvSpPr>
          <p:cNvPr name="TextBox 3" id="3"/>
          <p:cNvSpPr txBox="true"/>
          <p:nvPr/>
        </p:nvSpPr>
        <p:spPr>
          <a:xfrm rot="0">
            <a:off x="1487970" y="1532068"/>
            <a:ext cx="15312059" cy="1526113"/>
          </a:xfrm>
          <a:prstGeom prst="rect">
            <a:avLst/>
          </a:prstGeom>
        </p:spPr>
        <p:txBody>
          <a:bodyPr anchor="t" rtlCol="false" tIns="0" lIns="0" bIns="0" rIns="0">
            <a:spAutoFit/>
          </a:bodyPr>
          <a:lstStyle/>
          <a:p>
            <a:pPr algn="ctr">
              <a:lnSpc>
                <a:spcPts val="11732"/>
              </a:lnSpc>
            </a:pPr>
            <a:r>
              <a:rPr lang="en-US" b="true" sz="10666">
                <a:solidFill>
                  <a:srgbClr val="FFFFFF"/>
                </a:solidFill>
                <a:latin typeface="Poppins Medium Bold"/>
                <a:ea typeface="Poppins Medium Bold"/>
                <a:cs typeface="Poppins Medium Bold"/>
                <a:sym typeface="Poppins Medium Bold"/>
              </a:rPr>
              <a:t>Hora del ejemplo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624056" y="1719630"/>
            <a:ext cx="15039888" cy="5211724"/>
            <a:chOff x="0" y="0"/>
            <a:chExt cx="3961123" cy="1372635"/>
          </a:xfrm>
        </p:grpSpPr>
        <p:sp>
          <p:nvSpPr>
            <p:cNvPr name="Freeform 3" id="3"/>
            <p:cNvSpPr/>
            <p:nvPr/>
          </p:nvSpPr>
          <p:spPr>
            <a:xfrm flipH="false" flipV="false" rot="0">
              <a:off x="0" y="0"/>
              <a:ext cx="3961123" cy="1372635"/>
            </a:xfrm>
            <a:custGeom>
              <a:avLst/>
              <a:gdLst/>
              <a:ahLst/>
              <a:cxnLst/>
              <a:rect r="r" b="b" t="t" l="l"/>
              <a:pathLst>
                <a:path h="1372635" w="3961123">
                  <a:moveTo>
                    <a:pt x="26253" y="0"/>
                  </a:moveTo>
                  <a:lnTo>
                    <a:pt x="3934870" y="0"/>
                  </a:lnTo>
                  <a:cubicBezTo>
                    <a:pt x="3949369" y="0"/>
                    <a:pt x="3961123" y="11754"/>
                    <a:pt x="3961123" y="26253"/>
                  </a:cubicBezTo>
                  <a:lnTo>
                    <a:pt x="3961123" y="1346383"/>
                  </a:lnTo>
                  <a:cubicBezTo>
                    <a:pt x="3961123" y="1360881"/>
                    <a:pt x="3949369" y="1372635"/>
                    <a:pt x="3934870" y="1372635"/>
                  </a:cubicBezTo>
                  <a:lnTo>
                    <a:pt x="26253" y="1372635"/>
                  </a:lnTo>
                  <a:cubicBezTo>
                    <a:pt x="19290" y="1372635"/>
                    <a:pt x="12613" y="1369869"/>
                    <a:pt x="7689" y="1364946"/>
                  </a:cubicBezTo>
                  <a:cubicBezTo>
                    <a:pt x="2766" y="1360023"/>
                    <a:pt x="0" y="1353345"/>
                    <a:pt x="0" y="1346383"/>
                  </a:cubicBezTo>
                  <a:lnTo>
                    <a:pt x="0" y="26253"/>
                  </a:lnTo>
                  <a:cubicBezTo>
                    <a:pt x="0" y="11754"/>
                    <a:pt x="11754" y="0"/>
                    <a:pt x="26253" y="0"/>
                  </a:cubicBezTo>
                  <a:close/>
                </a:path>
              </a:pathLst>
            </a:custGeom>
            <a:solidFill>
              <a:srgbClr val="7A7B7B"/>
            </a:solidFill>
          </p:spPr>
        </p:sp>
        <p:sp>
          <p:nvSpPr>
            <p:cNvPr name="TextBox 4" id="4"/>
            <p:cNvSpPr txBox="true"/>
            <p:nvPr/>
          </p:nvSpPr>
          <p:spPr>
            <a:xfrm>
              <a:off x="0" y="-57150"/>
              <a:ext cx="3961123" cy="1429785"/>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0">
            <a:off x="13208633" y="7020050"/>
            <a:ext cx="2419938" cy="3189374"/>
          </a:xfrm>
          <a:custGeom>
            <a:avLst/>
            <a:gdLst/>
            <a:ahLst/>
            <a:cxnLst/>
            <a:rect r="r" b="b" t="t" l="l"/>
            <a:pathLst>
              <a:path h="3189374" w="2419938">
                <a:moveTo>
                  <a:pt x="0" y="0"/>
                </a:moveTo>
                <a:lnTo>
                  <a:pt x="2419937" y="0"/>
                </a:lnTo>
                <a:lnTo>
                  <a:pt x="2419937" y="3189374"/>
                </a:lnTo>
                <a:lnTo>
                  <a:pt x="0" y="3189374"/>
                </a:lnTo>
                <a:lnTo>
                  <a:pt x="0" y="0"/>
                </a:lnTo>
                <a:close/>
              </a:path>
            </a:pathLst>
          </a:custGeom>
          <a:blipFill>
            <a:blip r:embed="rId2"/>
            <a:stretch>
              <a:fillRect l="0" t="0" r="0" b="0"/>
            </a:stretch>
          </a:blipFill>
        </p:spPr>
      </p:sp>
      <p:sp>
        <p:nvSpPr>
          <p:cNvPr name="Freeform 6" id="6"/>
          <p:cNvSpPr/>
          <p:nvPr/>
        </p:nvSpPr>
        <p:spPr>
          <a:xfrm flipH="false" flipV="false" rot="0">
            <a:off x="2908901" y="6940879"/>
            <a:ext cx="2170466" cy="3189374"/>
          </a:xfrm>
          <a:custGeom>
            <a:avLst/>
            <a:gdLst/>
            <a:ahLst/>
            <a:cxnLst/>
            <a:rect r="r" b="b" t="t" l="l"/>
            <a:pathLst>
              <a:path h="3189374" w="2170466">
                <a:moveTo>
                  <a:pt x="0" y="0"/>
                </a:moveTo>
                <a:lnTo>
                  <a:pt x="2170466" y="0"/>
                </a:lnTo>
                <a:lnTo>
                  <a:pt x="2170466" y="3189375"/>
                </a:lnTo>
                <a:lnTo>
                  <a:pt x="0" y="3189375"/>
                </a:lnTo>
                <a:lnTo>
                  <a:pt x="0" y="0"/>
                </a:lnTo>
                <a:close/>
              </a:path>
            </a:pathLst>
          </a:custGeom>
          <a:blipFill>
            <a:blip r:embed="rId3"/>
            <a:stretch>
              <a:fillRect l="-39201" t="0" r="-39725" b="0"/>
            </a:stretch>
          </a:blipFill>
        </p:spPr>
      </p:sp>
      <p:sp>
        <p:nvSpPr>
          <p:cNvPr name="Freeform 7" id="7"/>
          <p:cNvSpPr/>
          <p:nvPr/>
        </p:nvSpPr>
        <p:spPr>
          <a:xfrm flipH="false" flipV="false" rot="0">
            <a:off x="390472" y="98267"/>
            <a:ext cx="2194997" cy="2688749"/>
          </a:xfrm>
          <a:custGeom>
            <a:avLst/>
            <a:gdLst/>
            <a:ahLst/>
            <a:cxnLst/>
            <a:rect r="r" b="b" t="t" l="l"/>
            <a:pathLst>
              <a:path h="2688749" w="2194997">
                <a:moveTo>
                  <a:pt x="0" y="0"/>
                </a:moveTo>
                <a:lnTo>
                  <a:pt x="2194997" y="0"/>
                </a:lnTo>
                <a:lnTo>
                  <a:pt x="2194997" y="2688749"/>
                </a:lnTo>
                <a:lnTo>
                  <a:pt x="0" y="26887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760142" y="1810892"/>
            <a:ext cx="14767717" cy="5048250"/>
          </a:xfrm>
          <a:prstGeom prst="rect">
            <a:avLst/>
          </a:prstGeom>
        </p:spPr>
        <p:txBody>
          <a:bodyPr anchor="t" rtlCol="false" tIns="0" lIns="0" bIns="0" rIns="0">
            <a:spAutoFit/>
          </a:bodyPr>
          <a:lstStyle/>
          <a:p>
            <a:pPr algn="just">
              <a:lnSpc>
                <a:spcPts val="3300"/>
              </a:lnSpc>
            </a:pPr>
            <a:r>
              <a:rPr lang="en-US" sz="3000">
                <a:solidFill>
                  <a:srgbClr val="FFFFFF"/>
                </a:solidFill>
                <a:latin typeface="Poppins Medium"/>
                <a:ea typeface="Poppins Medium"/>
                <a:cs typeface="Poppins Medium"/>
                <a:sym typeface="Poppins Medium"/>
              </a:rPr>
              <a:t>En el aeropuerto internacional “GringoLandia”, se ha visto que por el verano llegan muchas personas de Guatemala y de Europa, con lo cual se realizan un cambio de divisas de quetzales a dolares, y de euros a dolares, en cada vuelo que aterriza considere que llegan 50 personas, con lo cual, se solicita que usted haga un modelo para ver los ingresos que se generan con los cambios. La tasa de llegada es una distribucion de Poisson y llega un vuelo cada 15 minutos.</a:t>
            </a:r>
          </a:p>
          <a:p>
            <a:pPr algn="just">
              <a:lnSpc>
                <a:spcPts val="3300"/>
              </a:lnSpc>
            </a:pPr>
            <a:r>
              <a:rPr lang="en-US" sz="3000">
                <a:solidFill>
                  <a:srgbClr val="FFFFFF"/>
                </a:solidFill>
                <a:latin typeface="Poppins Medium"/>
                <a:ea typeface="Poppins Medium"/>
                <a:cs typeface="Poppins Medium"/>
                <a:sym typeface="Poppins Medium"/>
              </a:rPr>
              <a:t>Para redondear las ganancias, se tomaran que los cambios seran de por cada dolar que demos, recibiremos Q7 y para los euros sera de por cada dolar, recibiremos €0.91, se contara con 2 servidores, 1 para cada divisa y el tiempo de atencion sera uniforme, tomando de 5 a 8 minutos.</a:t>
            </a:r>
          </a:p>
          <a:p>
            <a:pPr algn="just">
              <a:lnSpc>
                <a:spcPts val="3300"/>
              </a:lnSpc>
            </a:pPr>
            <a:r>
              <a:rPr lang="en-US" sz="3000">
                <a:solidFill>
                  <a:srgbClr val="FFFFFF"/>
                </a:solidFill>
                <a:latin typeface="Poppins Medium"/>
                <a:ea typeface="Poppins Medium"/>
                <a:cs typeface="Poppins Medium"/>
                <a:sym typeface="Poppins Medium"/>
              </a:rPr>
              <a:t>Se quiere que de un analisis de las ganancias.</a:t>
            </a:r>
          </a:p>
        </p:txBody>
      </p:sp>
      <p:sp>
        <p:nvSpPr>
          <p:cNvPr name="Freeform 9" id="9"/>
          <p:cNvSpPr/>
          <p:nvPr/>
        </p:nvSpPr>
        <p:spPr>
          <a:xfrm flipH="false" flipV="false" rot="0">
            <a:off x="7499828" y="6921079"/>
            <a:ext cx="3288345" cy="3288345"/>
          </a:xfrm>
          <a:custGeom>
            <a:avLst/>
            <a:gdLst/>
            <a:ahLst/>
            <a:cxnLst/>
            <a:rect r="r" b="b" t="t" l="l"/>
            <a:pathLst>
              <a:path h="3288345" w="3288345">
                <a:moveTo>
                  <a:pt x="0" y="0"/>
                </a:moveTo>
                <a:lnTo>
                  <a:pt x="3288344" y="0"/>
                </a:lnTo>
                <a:lnTo>
                  <a:pt x="3288344" y="3288345"/>
                </a:lnTo>
                <a:lnTo>
                  <a:pt x="0" y="3288345"/>
                </a:lnTo>
                <a:lnTo>
                  <a:pt x="0" y="0"/>
                </a:lnTo>
                <a:close/>
              </a:path>
            </a:pathLst>
          </a:custGeom>
          <a:blipFill>
            <a:blip r:embed="rId6"/>
            <a:stretch>
              <a:fillRect l="0" t="0" r="0" b="0"/>
            </a:stretch>
          </a:blipFill>
        </p:spPr>
      </p:sp>
      <p:sp>
        <p:nvSpPr>
          <p:cNvPr name="TextBox 10" id="10"/>
          <p:cNvSpPr txBox="true"/>
          <p:nvPr/>
        </p:nvSpPr>
        <p:spPr>
          <a:xfrm rot="0">
            <a:off x="1487970" y="193517"/>
            <a:ext cx="15312059" cy="1526113"/>
          </a:xfrm>
          <a:prstGeom prst="rect">
            <a:avLst/>
          </a:prstGeom>
        </p:spPr>
        <p:txBody>
          <a:bodyPr anchor="t" rtlCol="false" tIns="0" lIns="0" bIns="0" rIns="0">
            <a:spAutoFit/>
          </a:bodyPr>
          <a:lstStyle/>
          <a:p>
            <a:pPr algn="ctr">
              <a:lnSpc>
                <a:spcPts val="11732"/>
              </a:lnSpc>
            </a:pPr>
            <a:r>
              <a:rPr lang="en-US" b="true" sz="10666">
                <a:solidFill>
                  <a:srgbClr val="FFFFFF"/>
                </a:solidFill>
                <a:latin typeface="Poppins Medium Bold"/>
                <a:ea typeface="Poppins Medium Bold"/>
                <a:cs typeface="Poppins Medium Bold"/>
                <a:sym typeface="Poppins Medium Bold"/>
              </a:rPr>
              <a:t>Ejemplo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624056" y="1719630"/>
            <a:ext cx="15039888" cy="6313285"/>
            <a:chOff x="0" y="0"/>
            <a:chExt cx="3961123" cy="1662758"/>
          </a:xfrm>
        </p:grpSpPr>
        <p:sp>
          <p:nvSpPr>
            <p:cNvPr name="Freeform 3" id="3"/>
            <p:cNvSpPr/>
            <p:nvPr/>
          </p:nvSpPr>
          <p:spPr>
            <a:xfrm flipH="false" flipV="false" rot="0">
              <a:off x="0" y="0"/>
              <a:ext cx="3961123" cy="1662758"/>
            </a:xfrm>
            <a:custGeom>
              <a:avLst/>
              <a:gdLst/>
              <a:ahLst/>
              <a:cxnLst/>
              <a:rect r="r" b="b" t="t" l="l"/>
              <a:pathLst>
                <a:path h="1662758" w="3961123">
                  <a:moveTo>
                    <a:pt x="26253" y="0"/>
                  </a:moveTo>
                  <a:lnTo>
                    <a:pt x="3934870" y="0"/>
                  </a:lnTo>
                  <a:cubicBezTo>
                    <a:pt x="3949369" y="0"/>
                    <a:pt x="3961123" y="11754"/>
                    <a:pt x="3961123" y="26253"/>
                  </a:cubicBezTo>
                  <a:lnTo>
                    <a:pt x="3961123" y="1636506"/>
                  </a:lnTo>
                  <a:cubicBezTo>
                    <a:pt x="3961123" y="1643468"/>
                    <a:pt x="3958357" y="1650146"/>
                    <a:pt x="3953434" y="1655069"/>
                  </a:cubicBezTo>
                  <a:cubicBezTo>
                    <a:pt x="3948511" y="1659992"/>
                    <a:pt x="3941833" y="1662758"/>
                    <a:pt x="3934870" y="1662758"/>
                  </a:cubicBezTo>
                  <a:lnTo>
                    <a:pt x="26253" y="1662758"/>
                  </a:lnTo>
                  <a:cubicBezTo>
                    <a:pt x="11754" y="1662758"/>
                    <a:pt x="0" y="1651004"/>
                    <a:pt x="0" y="1636506"/>
                  </a:cubicBezTo>
                  <a:lnTo>
                    <a:pt x="0" y="26253"/>
                  </a:lnTo>
                  <a:cubicBezTo>
                    <a:pt x="0" y="11754"/>
                    <a:pt x="11754" y="0"/>
                    <a:pt x="26253" y="0"/>
                  </a:cubicBezTo>
                  <a:close/>
                </a:path>
              </a:pathLst>
            </a:custGeom>
            <a:solidFill>
              <a:srgbClr val="7A7B7B"/>
            </a:solidFill>
          </p:spPr>
        </p:sp>
        <p:sp>
          <p:nvSpPr>
            <p:cNvPr name="TextBox 4" id="4"/>
            <p:cNvSpPr txBox="true"/>
            <p:nvPr/>
          </p:nvSpPr>
          <p:spPr>
            <a:xfrm>
              <a:off x="0" y="-57150"/>
              <a:ext cx="3961123" cy="1719908"/>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0">
            <a:off x="11775041" y="6547193"/>
            <a:ext cx="4149577" cy="3739807"/>
          </a:xfrm>
          <a:custGeom>
            <a:avLst/>
            <a:gdLst/>
            <a:ahLst/>
            <a:cxnLst/>
            <a:rect r="r" b="b" t="t" l="l"/>
            <a:pathLst>
              <a:path h="3739807" w="4149577">
                <a:moveTo>
                  <a:pt x="0" y="0"/>
                </a:moveTo>
                <a:lnTo>
                  <a:pt x="4149577" y="0"/>
                </a:lnTo>
                <a:lnTo>
                  <a:pt x="4149577" y="3739807"/>
                </a:lnTo>
                <a:lnTo>
                  <a:pt x="0" y="3739807"/>
                </a:lnTo>
                <a:lnTo>
                  <a:pt x="0" y="0"/>
                </a:lnTo>
                <a:close/>
              </a:path>
            </a:pathLst>
          </a:custGeom>
          <a:blipFill>
            <a:blip r:embed="rId2"/>
            <a:stretch>
              <a:fillRect l="0" t="0" r="0" b="0"/>
            </a:stretch>
          </a:blipFill>
        </p:spPr>
      </p:sp>
      <p:sp>
        <p:nvSpPr>
          <p:cNvPr name="TextBox 6" id="6"/>
          <p:cNvSpPr txBox="true"/>
          <p:nvPr/>
        </p:nvSpPr>
        <p:spPr>
          <a:xfrm rot="0">
            <a:off x="1487970" y="193517"/>
            <a:ext cx="15312059" cy="1526113"/>
          </a:xfrm>
          <a:prstGeom prst="rect">
            <a:avLst/>
          </a:prstGeom>
        </p:spPr>
        <p:txBody>
          <a:bodyPr anchor="t" rtlCol="false" tIns="0" lIns="0" bIns="0" rIns="0">
            <a:spAutoFit/>
          </a:bodyPr>
          <a:lstStyle/>
          <a:p>
            <a:pPr algn="ctr">
              <a:lnSpc>
                <a:spcPts val="11732"/>
              </a:lnSpc>
            </a:pPr>
            <a:r>
              <a:rPr lang="en-US" b="true" sz="10666">
                <a:solidFill>
                  <a:srgbClr val="FFFFFF"/>
                </a:solidFill>
                <a:latin typeface="Poppins Medium Bold"/>
                <a:ea typeface="Poppins Medium Bold"/>
                <a:cs typeface="Poppins Medium Bold"/>
                <a:sym typeface="Poppins Medium Bold"/>
              </a:rPr>
              <a:t>Ejemplo</a:t>
            </a:r>
          </a:p>
        </p:txBody>
      </p:sp>
      <p:sp>
        <p:nvSpPr>
          <p:cNvPr name="TextBox 7" id="7"/>
          <p:cNvSpPr txBox="true"/>
          <p:nvPr/>
        </p:nvSpPr>
        <p:spPr>
          <a:xfrm rot="0">
            <a:off x="1760142" y="1727365"/>
            <a:ext cx="14767717" cy="6305550"/>
          </a:xfrm>
          <a:prstGeom prst="rect">
            <a:avLst/>
          </a:prstGeom>
        </p:spPr>
        <p:txBody>
          <a:bodyPr anchor="t" rtlCol="false" tIns="0" lIns="0" bIns="0" rIns="0">
            <a:spAutoFit/>
          </a:bodyPr>
          <a:lstStyle/>
          <a:p>
            <a:pPr algn="just">
              <a:lnSpc>
                <a:spcPts val="3300"/>
              </a:lnSpc>
            </a:pPr>
            <a:r>
              <a:rPr lang="en-US" sz="3000">
                <a:solidFill>
                  <a:srgbClr val="FFFFFF"/>
                </a:solidFill>
                <a:latin typeface="Poppins Medium"/>
                <a:ea typeface="Poppins Medium"/>
                <a:cs typeface="Poppins Medium"/>
                <a:sym typeface="Poppins Medium"/>
              </a:rPr>
              <a:t>Se piensa contratar a un ingeniero para brindarle mantenimiento a un data center, el costo de servicio del 1er ingeniero es en dolares y viene de Estados Unidos y nos solicita $800 para cubrir gastos de viajes, este ingeniero cobra por cada hora de servicio $25.37.</a:t>
            </a:r>
          </a:p>
          <a:p>
            <a:pPr algn="just">
              <a:lnSpc>
                <a:spcPts val="3300"/>
              </a:lnSpc>
            </a:pPr>
          </a:p>
          <a:p>
            <a:pPr algn="just">
              <a:lnSpc>
                <a:spcPts val="3300"/>
              </a:lnSpc>
            </a:pPr>
            <a:r>
              <a:rPr lang="en-US" sz="3000">
                <a:solidFill>
                  <a:srgbClr val="FFFFFF"/>
                </a:solidFill>
                <a:latin typeface="Poppins Medium"/>
                <a:ea typeface="Poppins Medium"/>
                <a:cs typeface="Poppins Medium"/>
                <a:sym typeface="Poppins Medium"/>
              </a:rPr>
              <a:t>Para el 2do ingeniero, este vendra de Alemania y requiere para sus gastos de viajes €1000, y cobra €11.13 por cada hora.</a:t>
            </a:r>
          </a:p>
          <a:p>
            <a:pPr algn="just">
              <a:lnSpc>
                <a:spcPts val="3300"/>
              </a:lnSpc>
            </a:pPr>
          </a:p>
          <a:p>
            <a:pPr algn="just">
              <a:lnSpc>
                <a:spcPts val="3300"/>
              </a:lnSpc>
            </a:pPr>
            <a:r>
              <a:rPr lang="en-US" sz="3000">
                <a:solidFill>
                  <a:srgbClr val="FFFFFF"/>
                </a:solidFill>
                <a:latin typeface="Poppins Medium"/>
                <a:ea typeface="Poppins Medium"/>
                <a:cs typeface="Poppins Medium"/>
                <a:sym typeface="Poppins Medium"/>
              </a:rPr>
              <a:t>Con lo cual se solicita a usted, para que pueda generar un modelo para encontrar al que cobre menos. Tomar en cuenta que el plazo que se tome en darle mantenimiento a 1 servidor sera aproximadamente 12 horas.</a:t>
            </a:r>
          </a:p>
          <a:p>
            <a:pPr algn="just">
              <a:lnSpc>
                <a:spcPts val="3300"/>
              </a:lnSpc>
            </a:pPr>
          </a:p>
          <a:p>
            <a:pPr algn="just">
              <a:lnSpc>
                <a:spcPts val="3300"/>
              </a:lnSpc>
            </a:pPr>
            <a:r>
              <a:rPr lang="en-US" sz="3000">
                <a:solidFill>
                  <a:srgbClr val="FFFFFF"/>
                </a:solidFill>
                <a:latin typeface="Poppins Medium"/>
                <a:ea typeface="Poppins Medium"/>
                <a:cs typeface="Poppins Medium"/>
                <a:sym typeface="Poppins Medium"/>
              </a:rPr>
              <a:t>Que ingeniero es el que cobro menos?</a:t>
            </a:r>
          </a:p>
          <a:p>
            <a:pPr algn="just">
              <a:lnSpc>
                <a:spcPts val="3300"/>
              </a:lnSpc>
            </a:pPr>
            <a:r>
              <a:rPr lang="en-US" sz="3000">
                <a:solidFill>
                  <a:srgbClr val="FFFFFF"/>
                </a:solidFill>
                <a:latin typeface="Poppins Medium"/>
                <a:ea typeface="Poppins Medium"/>
                <a:cs typeface="Poppins Medium"/>
                <a:sym typeface="Poppins Medium"/>
              </a:rPr>
              <a:t>Y en 24 horas?</a:t>
            </a:r>
          </a:p>
          <a:p>
            <a:pPr algn="just">
              <a:lnSpc>
                <a:spcPts val="3300"/>
              </a:lnSpc>
            </a:pPr>
            <a:r>
              <a:rPr lang="en-US" sz="3000">
                <a:solidFill>
                  <a:srgbClr val="FFFFFF"/>
                </a:solidFill>
                <a:latin typeface="Poppins Medium"/>
                <a:ea typeface="Poppins Medium"/>
                <a:cs typeface="Poppins Medium"/>
                <a:sym typeface="Poppins Medium"/>
              </a:rPr>
              <a:t>Y en 48 horas?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487970" y="1532068"/>
            <a:ext cx="15312059" cy="1526113"/>
          </a:xfrm>
          <a:prstGeom prst="rect">
            <a:avLst/>
          </a:prstGeom>
        </p:spPr>
        <p:txBody>
          <a:bodyPr anchor="t" rtlCol="false" tIns="0" lIns="0" bIns="0" rIns="0">
            <a:spAutoFit/>
          </a:bodyPr>
          <a:lstStyle/>
          <a:p>
            <a:pPr algn="ctr">
              <a:lnSpc>
                <a:spcPts val="11732"/>
              </a:lnSpc>
            </a:pPr>
            <a:r>
              <a:rPr lang="en-US" b="true" sz="10666">
                <a:solidFill>
                  <a:srgbClr val="FFFFFF"/>
                </a:solidFill>
                <a:latin typeface="Poppins Medium Bold"/>
                <a:ea typeface="Poppins Medium Bold"/>
                <a:cs typeface="Poppins Medium Bold"/>
                <a:sym typeface="Poppins Medium Bold"/>
              </a:rPr>
              <a:t>¿Dudas?</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487970" y="4489450"/>
            <a:ext cx="15312059" cy="1412875"/>
          </a:xfrm>
          <a:prstGeom prst="rect">
            <a:avLst/>
          </a:prstGeom>
        </p:spPr>
        <p:txBody>
          <a:bodyPr anchor="t" rtlCol="false" tIns="0" lIns="0" bIns="0" rIns="0">
            <a:spAutoFit/>
          </a:bodyPr>
          <a:lstStyle/>
          <a:p>
            <a:pPr algn="ctr">
              <a:lnSpc>
                <a:spcPts val="10999"/>
              </a:lnSpc>
            </a:pPr>
            <a:r>
              <a:rPr lang="en-US" b="true" sz="9999">
                <a:solidFill>
                  <a:srgbClr val="FFFFFF"/>
                </a:solidFill>
                <a:latin typeface="Poppins Medium Bold"/>
                <a:ea typeface="Poppins Medium Bold"/>
                <a:cs typeface="Poppins Medium Bold"/>
                <a:sym typeface="Poppins Medium Bold"/>
              </a:rPr>
              <a:t>TAREA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DAGLKYZifH4</dc:identifier>
  <dcterms:modified xsi:type="dcterms:W3CDTF">2011-08-01T06:04:30Z</dcterms:modified>
  <cp:revision>1</cp:revision>
  <dc:title>Clase 5 - 23/08</dc:title>
</cp:coreProperties>
</file>