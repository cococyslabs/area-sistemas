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5143500" cx="9144000"/>
  <p:notesSz cx="6858000" cy="9144000"/>
  <p:embeddedFontLst>
    <p:embeddedFont>
      <p:font typeface="Marcellus"/>
      <p:regular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q3b/S/AuLye3Bv71hAfBitOtp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903FB2-A52F-47DC-84BB-9D75EA6B49DC}">
  <a:tblStyle styleId="{0B903FB2-A52F-47DC-84BB-9D75EA6B49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Marcellus-regular.fntdata"/><Relationship Id="rId21" Type="http://schemas.openxmlformats.org/officeDocument/2006/relationships/slide" Target="slides/slide13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8eea0071e0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28eea0071e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8eea0071e0_4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28eea0071e0_4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8eea0071e0_4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28eea0071e0_4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d52947fa1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2d52947fa1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d52947fa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g2d52947fa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a0071e0_2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28eea0071e0_2_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g28eea0071e0_2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8eea0071e0_2_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28eea0071e0_2_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28eea0071e0_2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8eea0071e0_2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28eea0071e0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8eea0071e0_2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28eea0071e0_2_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28eea0071e0_2_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28eea0071e0_2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8eea0071e0_2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28eea0071e0_2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8eea0071e0_2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28eea0071e0_2_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28eea0071e0_2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8eea0071e0_2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28eea0071e0_2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a0071e0_2_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28eea0071e0_2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28eea0071e0_2_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28eea0071e0_2_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28eea0071e0_2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a0071e0_2_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28eea0071e0_2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8eea0071e0_2_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28eea0071e0_2_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28eea0071e0_2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8eea0071e0_2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g28eea0071e0_4_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6" name="Google Shape;56;g28eea0071e0_4_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28eea0071e0_4_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g28eea0071e0_4_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g28eea0071e0_4_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g28eea0071e0_4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eea0071e0_4_17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784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g28eea0071e0_4_17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64" name="Google Shape;64;g28eea0071e0_4_17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28eea0071e0_4_17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78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28eea0071e0_4_17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28eea0071e0_4_17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g28eea0071e0_4_1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9" name="Google Shape;69;g28eea0071e0_4_1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70" name="Google Shape;70;g28eea0071e0_4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eea0071e0_4_11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28eea0071e0_4_11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  <a:defRPr/>
            </a:lvl1pPr>
            <a:lvl2pPr indent="-325755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○"/>
              <a:defRPr/>
            </a:lvl2pPr>
            <a:lvl3pPr indent="-325755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■"/>
              <a:defRPr/>
            </a:lvl3pPr>
            <a:lvl4pPr indent="-32575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●"/>
              <a:defRPr/>
            </a:lvl4pPr>
            <a:lvl5pPr indent="-325754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○"/>
              <a:defRPr/>
            </a:lvl5pPr>
            <a:lvl6pPr indent="-325754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■"/>
              <a:defRPr/>
            </a:lvl6pPr>
            <a:lvl7pPr indent="-325754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●"/>
              <a:defRPr/>
            </a:lvl7pPr>
            <a:lvl8pPr indent="-325754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○"/>
              <a:defRPr/>
            </a:lvl8pPr>
            <a:lvl9pPr indent="-325754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530"/>
              <a:buChar char="■"/>
              <a:defRPr/>
            </a:lvl9pPr>
          </a:lstStyle>
          <a:p/>
        </p:txBody>
      </p:sp>
      <p:sp>
        <p:nvSpPr>
          <p:cNvPr id="74" name="Google Shape;74;g28eea0071e0_4_11"/>
          <p:cNvSpPr txBox="1"/>
          <p:nvPr>
            <p:ph idx="10" type="dt"/>
          </p:nvPr>
        </p:nvSpPr>
        <p:spPr>
          <a:xfrm>
            <a:off x="5973318" y="4704588"/>
            <a:ext cx="245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28eea0071e0_4_11"/>
          <p:cNvSpPr txBox="1"/>
          <p:nvPr>
            <p:ph idx="11" type="ftr"/>
          </p:nvPr>
        </p:nvSpPr>
        <p:spPr>
          <a:xfrm>
            <a:off x="816102" y="4704588"/>
            <a:ext cx="474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28eea0071e0_4_11"/>
          <p:cNvSpPr txBox="1"/>
          <p:nvPr>
            <p:ph idx="12" type="sldNum"/>
          </p:nvPr>
        </p:nvSpPr>
        <p:spPr>
          <a:xfrm>
            <a:off x="8483346" y="4704588"/>
            <a:ext cx="48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28eea0071e0_4_2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79" name="Google Shape;79;g28eea0071e0_4_2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28eea0071e0_4_2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28eea0071e0_4_2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8eea0071e0_4_2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8eea0071e0_4_2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8eea0071e0_4_2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8eea0071e0_4_2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8eea0071e0_4_2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28eea0071e0_4_2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8eea0071e0_4_2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28eea0071e0_4_2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8eea0071e0_4_2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8eea0071e0_4_2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8eea0071e0_4_2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28eea0071e0_4_2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28eea0071e0_4_2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28eea0071e0_4_2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28eea0071e0_4_2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g28eea0071e0_4_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28eea0071e0_4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28eea0071e0_4_4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01" name="Google Shape;101;g28eea0071e0_4_4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28eea0071e0_4_4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g28eea0071e0_4_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g28eea0071e0_4_49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g28eea0071e0_4_49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g28eea0071e0_4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g28eea0071e0_4_5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09" name="Google Shape;109;g28eea0071e0_4_5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28eea0071e0_4_5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g28eea0071e0_4_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g28eea0071e0_4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g28eea0071e0_4_6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15" name="Google Shape;115;g28eea0071e0_4_6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28eea0071e0_4_6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g28eea0071e0_4_63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" name="Google Shape;118;g28eea0071e0_4_63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g28eea0071e0_4_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g28eea0071e0_4_7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22" name="Google Shape;122;g28eea0071e0_4_7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8eea0071e0_4_7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8eea0071e0_4_7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28eea0071e0_4_7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8eea0071e0_4_7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8eea0071e0_4_7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8eea0071e0_4_7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28eea0071e0_4_7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28eea0071e0_4_7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28eea0071e0_4_7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28eea0071e0_4_7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28eea0071e0_4_7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28eea0071e0_4_7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28eea0071e0_4_7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28eea0071e0_4_7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28eea0071e0_4_7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28eea0071e0_4_7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28eea0071e0_4_7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g28eea0071e0_4_7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g28eea0071e0_4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g28eea0071e0_4_9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44" name="Google Shape;144;g28eea0071e0_4_9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8eea0071e0_4_9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g28eea0071e0_4_9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7" name="Google Shape;147;g28eea0071e0_4_9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8" name="Google Shape;148;g28eea0071e0_4_9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g28eea0071e0_4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g28eea0071e0_4_10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52" name="Google Shape;152;g28eea0071e0_4_10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28eea0071e0_4_10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28eea0071e0_4_10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5" name="Google Shape;155;g28eea0071e0_4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g28eea0071e0_4_10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8" name="Google Shape;158;g28eea0071e0_4_10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28eea0071e0_4_10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28eea0071e0_4_10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28eea0071e0_4_10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28eea0071e0_4_10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28eea0071e0_4_10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28eea0071e0_4_10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28eea0071e0_4_10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28eea0071e0_4_10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28eea0071e0_4_10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28eea0071e0_4_10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28eea0071e0_4_10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28eea0071e0_4_10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28eea0071e0_4_10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28eea0071e0_4_10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28eea0071e0_4_10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28eea0071e0_4_10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28eea0071e0_4_10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09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g28eea0071e0_4_106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7" name="Google Shape;177;g28eea0071e0_4_10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8" name="Google Shape;178;g28eea0071e0_4_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8eea0071e0_4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8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  <a:defRPr/>
            </a:lvl1pPr>
            <a:lvl2pPr indent="-325755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○"/>
              <a:defRPr/>
            </a:lvl2pPr>
            <a:lvl3pPr indent="-325755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■"/>
              <a:defRPr/>
            </a:lvl3pPr>
            <a:lvl4pPr indent="-325755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●"/>
              <a:defRPr/>
            </a:lvl4pPr>
            <a:lvl5pPr indent="-325754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○"/>
              <a:defRPr/>
            </a:lvl5pPr>
            <a:lvl6pPr indent="-325754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■"/>
              <a:defRPr/>
            </a:lvl6pPr>
            <a:lvl7pPr indent="-325754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●"/>
              <a:defRPr/>
            </a:lvl7pPr>
            <a:lvl8pPr indent="-325754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30"/>
              <a:buChar char="○"/>
              <a:defRPr/>
            </a:lvl8pPr>
            <a:lvl9pPr indent="-325754" lvl="8" marL="411480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SzPts val="1530"/>
              <a:buChar char="■"/>
              <a:defRPr/>
            </a:lvl9pPr>
          </a:lstStyle>
          <a:p/>
        </p:txBody>
      </p:sp>
      <p:sp>
        <p:nvSpPr>
          <p:cNvPr id="188" name="Google Shape;188;p48"/>
          <p:cNvSpPr txBox="1"/>
          <p:nvPr>
            <p:ph idx="10" type="dt"/>
          </p:nvPr>
        </p:nvSpPr>
        <p:spPr>
          <a:xfrm>
            <a:off x="5973318" y="4704588"/>
            <a:ext cx="2455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48"/>
          <p:cNvSpPr txBox="1"/>
          <p:nvPr>
            <p:ph idx="11" type="ftr"/>
          </p:nvPr>
        </p:nvSpPr>
        <p:spPr>
          <a:xfrm>
            <a:off x="816102" y="4704588"/>
            <a:ext cx="474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48"/>
          <p:cNvSpPr txBox="1"/>
          <p:nvPr>
            <p:ph idx="12" type="sldNum"/>
          </p:nvPr>
        </p:nvSpPr>
        <p:spPr>
          <a:xfrm>
            <a:off x="8483346" y="4704588"/>
            <a:ext cx="480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ckwel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4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95" name="Google Shape;195;p4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" name="Google Shape;198;p4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1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117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51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203" name="Google Shape;203;p51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1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117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1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1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5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08" name="Google Shape;208;p5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09" name="Google Shape;20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5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2" name="Google Shape;212;p5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5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5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5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34" name="Google Shape;234;p5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5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7" name="Google Shape;237;p5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53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5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42" name="Google Shape;242;p5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5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5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5" name="Google Shape;24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5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48" name="Google Shape;248;p5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55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1" name="Google Shape;251;p55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56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255" name="Google Shape;255;p56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6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6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56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56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5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56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56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56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56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6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6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6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56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6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6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6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56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77" name="Google Shape;277;p5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5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5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0" name="Google Shape;280;p57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81" name="Google Shape;281;p5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2" name="Google Shape;28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58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285" name="Google Shape;285;p58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8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58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288" name="Google Shape;28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59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91" name="Google Shape;291;p5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5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5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5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5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5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5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5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49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59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10" name="Google Shape;310;p59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1" name="Google Shape;31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8eea0071e0_2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8eea0071e0_2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8eea0071e0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14141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eea0071e0_4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g28eea0071e0_4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g28eea0071e0_4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141414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4" name="Google Shape;18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28eea0071e0_2_4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7" name="Google Shape;317;g28eea0071e0_2_45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{0B903FB2-A52F-47DC-84BB-9D75EA6B49DC}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Sábado, </a:t>
                      </a:r>
                      <a:r>
                        <a:rPr lang="es"/>
                        <a:t>00</a:t>
                      </a:r>
                      <a:r>
                        <a:rPr lang="es" sz="1400" u="none" cap="none" strike="noStrike"/>
                        <a:t>/</a:t>
                      </a:r>
                      <a:r>
                        <a:rPr lang="es"/>
                        <a:t>0</a:t>
                      </a:r>
                      <a:r>
                        <a:rPr lang="es" sz="1400" u="none" cap="none" strike="noStrike"/>
                        <a:t>0/202</a:t>
                      </a:r>
                      <a:r>
                        <a:rPr lang="es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00</a:t>
                      </a:r>
                      <a:r>
                        <a:rPr lang="es" sz="1400" u="none" cap="none" strike="noStrike"/>
                        <a:t>:</a:t>
                      </a:r>
                      <a:r>
                        <a:rPr lang="es"/>
                        <a:t>0</a:t>
                      </a:r>
                      <a:r>
                        <a:rPr lang="e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8" name="Google Shape;318;g28eea0071e0_2_45"/>
          <p:cNvSpPr txBox="1"/>
          <p:nvPr/>
        </p:nvSpPr>
        <p:spPr>
          <a:xfrm>
            <a:off x="1440175" y="2258300"/>
            <a:ext cx="558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Modelación y Simulación 2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[Sección </a:t>
            </a:r>
            <a:r>
              <a:rPr lang="es" sz="2500"/>
              <a:t>#</a:t>
            </a: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28eea0071e0_2_45"/>
          <p:cNvSpPr txBox="1"/>
          <p:nvPr/>
        </p:nvSpPr>
        <p:spPr>
          <a:xfrm>
            <a:off x="1778700" y="3212600"/>
            <a:ext cx="558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/>
              <a:t>Nombre auxiliar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8eea0071e0_4_131"/>
          <p:cNvSpPr txBox="1"/>
          <p:nvPr>
            <p:ph type="title"/>
          </p:nvPr>
        </p:nvSpPr>
        <p:spPr>
          <a:xfrm>
            <a:off x="1297500" y="620700"/>
            <a:ext cx="70389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">
                <a:solidFill>
                  <a:srgbClr val="6AA84F"/>
                </a:solidFill>
              </a:rPr>
              <a:t>AGENDA DE LA CLASE</a:t>
            </a:r>
            <a:endParaRPr b="1">
              <a:solidFill>
                <a:srgbClr val="6AA84F"/>
              </a:solidFill>
            </a:endParaRPr>
          </a:p>
        </p:txBody>
      </p:sp>
      <p:sp>
        <p:nvSpPr>
          <p:cNvPr id="325" name="Google Shape;325;g28eea0071e0_4_131"/>
          <p:cNvSpPr txBox="1"/>
          <p:nvPr>
            <p:ph idx="1" type="body"/>
          </p:nvPr>
        </p:nvSpPr>
        <p:spPr>
          <a:xfrm>
            <a:off x="1297500" y="1340600"/>
            <a:ext cx="7038900" cy="29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Uso de la tabla pivote de resultados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Visualización y generación de reportes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Generación y visualización de dashboards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331" name="Google Shape;331;p3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En una clínica existen varios tipos de servicio al que los pacientes llegan para poder adquirirlos, los tipos de pacientes que llegan a la clínica son: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b="0" i="0" sz="1800" u="none" strike="noStrike">
              <a:latin typeface="Marcellus"/>
              <a:ea typeface="Marcellus"/>
              <a:cs typeface="Marcellus"/>
              <a:sym typeface="Marcellus"/>
            </a:endParaRPr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Paciente sin cita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Solo Laboratorio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Solo Rayos-X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Solo MRI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120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Solo EKG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337" name="Google Shape;337;p4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7160" lvl="0" marL="1371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La clínica cuenta con diferentes estaciones a las que cada paciente según su tipo tienen que pasar para ser atendidos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Registro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Asignación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Tratamiento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Lab</a:t>
            </a:r>
            <a:endParaRPr b="0" i="0" sz="1800" u="none" strike="noStrike">
              <a:latin typeface="Marcellus"/>
              <a:ea typeface="Marcellus"/>
              <a:cs typeface="Marcellus"/>
              <a:sym typeface="Marcellus"/>
            </a:endParaRPr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Xray</a:t>
            </a:r>
            <a:endParaRPr b="0" i="0" sz="1800" u="none" strike="noStrike">
              <a:latin typeface="Marcellus"/>
              <a:ea typeface="Marcellus"/>
              <a:cs typeface="Marcellus"/>
              <a:sym typeface="Marcellus"/>
            </a:endParaRPr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MRI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EKG</a:t>
            </a:r>
            <a:endParaRPr/>
          </a:p>
          <a:p>
            <a:pPr indent="-137160" lvl="0" marL="137160" rtl="0" algn="l">
              <a:lnSpc>
                <a:spcPct val="90000"/>
              </a:lnSpc>
              <a:spcBef>
                <a:spcPts val="900"/>
              </a:spcBef>
              <a:spcAft>
                <a:spcPts val="120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Caja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rcellus"/>
              <a:buNone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CADA TIPO DE PACIENTE TIENE LA SIGUIENTE RUTA EN LA CLÍNICA SEGÚN LA SIGUIENTE TABLA:</a:t>
            </a:r>
            <a:endParaRPr/>
          </a:p>
        </p:txBody>
      </p:sp>
      <p:pic>
        <p:nvPicPr>
          <p:cNvPr id="343" name="Google Shape;34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860" y="1317304"/>
            <a:ext cx="8253900" cy="30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arcellus"/>
              <a:buNone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PARA LA LLEGADA DE CADA PACIENTE EN LA CLÍNICA SE HA HECHO UN</a:t>
            </a:r>
            <a:b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</a:b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ESTUDIO Y SE HA ESTABLECIDO PARA LOS PACIENTES SIN CITA UNA TABLA DE</a:t>
            </a:r>
            <a:b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</a:b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LLEGADA EN EL HORARIO QUE ATIENDE LA CLÍNICA Y PARA LOS DEMÁS EXISTE</a:t>
            </a:r>
            <a:b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</a:b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UNA DISTRIBUCIÓN EXPONENCIAL CON UNA MEDIA.</a:t>
            </a:r>
            <a:endParaRPr/>
          </a:p>
        </p:txBody>
      </p:sp>
      <p:pic>
        <p:nvPicPr>
          <p:cNvPr id="349" name="Google Shape;3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386" y="1664538"/>
            <a:ext cx="3150758" cy="3115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125" y="1664538"/>
            <a:ext cx="3940785" cy="29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rcellus"/>
              <a:buNone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LAS TASAS DE SERVICIO, CAPACIDAD Y HORARIOS DE CADA ÁREA DE ATENCIÓN EN LA CLÍNICA VIENE DADA POR LA SIGUIENTE TABLA</a:t>
            </a:r>
            <a:endParaRPr/>
          </a:p>
        </p:txBody>
      </p:sp>
      <p:pic>
        <p:nvPicPr>
          <p:cNvPr id="356" name="Google Shape;35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9402" y="1301917"/>
            <a:ext cx="3843000" cy="36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362" name="Google Shape;362;p8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7160" lvl="0" marL="13716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Realice la simulación de un día laboral en la clínica teniendo en cuenta todos los aspectos antes mencionados, el horario es de 8:00 - 18:00 horas, luego conteste las siguientes preguntas.</a:t>
            </a:r>
            <a:endParaRPr/>
          </a:p>
          <a:p>
            <a:pPr indent="-40005" lvl="0" marL="13716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>
              <a:latin typeface="Marcellus"/>
              <a:ea typeface="Marcellus"/>
              <a:cs typeface="Marcellus"/>
              <a:sym typeface="Marcellus"/>
            </a:endParaRPr>
          </a:p>
          <a:p>
            <a:pPr indent="-137160" lvl="0" marL="13716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¿Qué tanto son utilizadas cada área?</a:t>
            </a:r>
            <a:endParaRPr/>
          </a:p>
          <a:p>
            <a:pPr indent="-137160" lvl="0" marL="13716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¿Cantidad de pacientes atendidos por tipo?</a:t>
            </a:r>
            <a:endParaRPr/>
          </a:p>
          <a:p>
            <a:pPr indent="-137160" lvl="0" marL="13716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¿Cantidad de pacientes atendidos en total?</a:t>
            </a:r>
            <a:endParaRPr/>
          </a:p>
          <a:p>
            <a:pPr indent="-137160" lvl="0" marL="13716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¿Tiempo promedio en el sistema?</a:t>
            </a:r>
            <a:endParaRPr/>
          </a:p>
          <a:p>
            <a:pPr indent="-137160" lvl="0" marL="137160" rtl="0" algn="just">
              <a:lnSpc>
                <a:spcPct val="90000"/>
              </a:lnSpc>
              <a:spcBef>
                <a:spcPts val="900"/>
              </a:spcBef>
              <a:spcAft>
                <a:spcPts val="1200"/>
              </a:spcAft>
              <a:buSzPts val="1530"/>
              <a:buChar char="●"/>
            </a:pPr>
            <a:r>
              <a:rPr b="0" i="0" lang="es" sz="1800" u="none" strike="noStrike">
                <a:latin typeface="Marcellus"/>
                <a:ea typeface="Marcellus"/>
                <a:cs typeface="Marcellus"/>
                <a:sym typeface="Marcellus"/>
              </a:rPr>
              <a:t>¿Se atienden a todos los pacientes?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8eea0071e0_4_146"/>
          <p:cNvSpPr txBox="1"/>
          <p:nvPr>
            <p:ph type="ctrTitle"/>
          </p:nvPr>
        </p:nvSpPr>
        <p:spPr>
          <a:xfrm>
            <a:off x="3009025" y="1201750"/>
            <a:ext cx="5803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s">
                <a:solidFill>
                  <a:srgbClr val="6AA84F"/>
                </a:solidFill>
              </a:rPr>
              <a:t>Ejemplo: Rate Tables y Work Schedule</a:t>
            </a:r>
            <a:endParaRPr b="1">
              <a:solidFill>
                <a:srgbClr val="6AA84F"/>
              </a:solidFill>
            </a:endParaRPr>
          </a:p>
        </p:txBody>
      </p:sp>
      <p:grpSp>
        <p:nvGrpSpPr>
          <p:cNvPr id="368" name="Google Shape;368;g28eea0071e0_4_146"/>
          <p:cNvGrpSpPr/>
          <p:nvPr/>
        </p:nvGrpSpPr>
        <p:grpSpPr>
          <a:xfrm>
            <a:off x="435525" y="3206300"/>
            <a:ext cx="4335600" cy="1664400"/>
            <a:chOff x="366550" y="2260375"/>
            <a:chExt cx="4335600" cy="1664400"/>
          </a:xfrm>
        </p:grpSpPr>
        <p:sp>
          <p:nvSpPr>
            <p:cNvPr id="369" name="Google Shape;369;g28eea0071e0_4_146"/>
            <p:cNvSpPr/>
            <p:nvPr/>
          </p:nvSpPr>
          <p:spPr>
            <a:xfrm>
              <a:off x="366550" y="2260375"/>
              <a:ext cx="4335600" cy="1664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0" name="Google Shape;370;g28eea0071e0_4_1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3088" y="2566411"/>
              <a:ext cx="3102526" cy="1052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ANÁLISIS DE RESULTADOS</a:t>
            </a:r>
            <a:endParaRPr/>
          </a:p>
        </p:txBody>
      </p:sp>
      <p:sp>
        <p:nvSpPr>
          <p:cNvPr id="376" name="Google Shape;376;p14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7160" lvl="0" marL="137160" rtl="0" algn="just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530"/>
              <a:buChar char="●"/>
            </a:pPr>
            <a:r>
              <a:rPr b="0" i="0" lang="es" sz="1800" u="none" strike="noStrike">
                <a:latin typeface="Arial"/>
                <a:ea typeface="Arial"/>
                <a:cs typeface="Arial"/>
                <a:sym typeface="Arial"/>
              </a:rPr>
              <a:t>La pestaña Results muestra datos de resultados de una(s) ejecución(es) de simulación. Permite al usuario analizar interactivamente los resultados en forma de una tabla dinámica rotativa. Puede arrastrar y soltar columnas en la tabla para rotar o "pivotar" los datos. También puede filtrar y ordenar la información que se muestra.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d52947fa1d_0_1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Tabla pivote</a:t>
            </a:r>
            <a:endParaRPr/>
          </a:p>
        </p:txBody>
      </p:sp>
      <p:pic>
        <p:nvPicPr>
          <p:cNvPr id="382" name="Google Shape;382;g2d52947fa1d_0_1"/>
          <p:cNvPicPr preferRelativeResize="0"/>
          <p:nvPr/>
        </p:nvPicPr>
        <p:blipFill rotWithShape="1">
          <a:blip r:embed="rId3">
            <a:alphaModFix/>
          </a:blip>
          <a:srcRect b="46763" l="0" r="0" t="0"/>
          <a:stretch/>
        </p:blipFill>
        <p:spPr>
          <a:xfrm>
            <a:off x="981850" y="1570375"/>
            <a:ext cx="7736725" cy="255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 txBox="1"/>
          <p:nvPr>
            <p:ph idx="1" type="body"/>
          </p:nvPr>
        </p:nvSpPr>
        <p:spPr>
          <a:xfrm>
            <a:off x="481263" y="445168"/>
            <a:ext cx="78648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3362" lvl="0" marL="11430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86"/>
              <a:buChar char="●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Las siguientes categorías ayudan a organizar los datos de resultados:</a:t>
            </a:r>
            <a:endParaRPr b="0"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Content: categoría utilizada para estadísticas sobre la cantidad de cosas dentro o sobre algo, como NumberInSystem o NumberOnLink.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Throughput: categoría utilizada para totales en artículos ingresados ​​/ creados o artículos salidos / destruidos.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Capacity: categoría utilizada para las estadísticas relacionadas con la capacidad, incluido el número de unidades asignadas a lo largo del tiempo, las unidades programadas y la utilización del objeto. La utilización programada se calcula en función de las unidades utilizadas divididas por las unidades programadas.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FlowTime: categoría utilizada para el tiempo de entidad en el sistema (población o por sumidero) o tiempo de entidad en el enlace.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HoldingTime: categoría utilizada para el tiempo de entidad retenido en una ubicación de estación o retenido en un lote.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ResourceState: categoría utilizada para mostrar las ocurrencias, el porcentaje y los tiempos promedio en cada uno de los estados de recursos en los que puede estar un objeto.</a:t>
            </a:r>
            <a:endParaRPr sz="1107"/>
          </a:p>
          <a:p>
            <a:pPr indent="-136223" lvl="0" marL="13716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1286"/>
              <a:buFont typeface="Arial"/>
              <a:buChar char="•"/>
            </a:pPr>
            <a:r>
              <a:rPr b="0" i="0" lang="es" sz="1495" u="none" strike="noStrike">
                <a:latin typeface="Arial"/>
                <a:ea typeface="Arial"/>
                <a:cs typeface="Arial"/>
                <a:sym typeface="Arial"/>
              </a:rPr>
              <a:t>Costs: categoría utilizada para mostrar los valores finales de costo para cada objeto o centro de costo, además de la Población. Estadísticas de costos para objetos de tipo Entidad y Transportador.</a:t>
            </a:r>
            <a:endParaRPr sz="1107"/>
          </a:p>
          <a:p>
            <a:pPr indent="-68341" lvl="0" marL="137160" rtl="0" algn="l">
              <a:lnSpc>
                <a:spcPct val="70000"/>
              </a:lnSpc>
              <a:spcBef>
                <a:spcPts val="900"/>
              </a:spcBef>
              <a:spcAft>
                <a:spcPts val="1200"/>
              </a:spcAft>
              <a:buSzPts val="988"/>
              <a:buNone/>
            </a:pPr>
            <a:r>
              <a:t/>
            </a:r>
            <a:endParaRPr sz="1107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d52947fa1d_0_7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Rockwell"/>
              <a:buNone/>
            </a:pPr>
            <a:r>
              <a:rPr lang="es"/>
              <a:t>Dashboards</a:t>
            </a:r>
            <a:endParaRPr/>
          </a:p>
        </p:txBody>
      </p:sp>
      <p:pic>
        <p:nvPicPr>
          <p:cNvPr id="393" name="Google Shape;393;g2d52947fa1d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738" y="1413074"/>
            <a:ext cx="8042522" cy="326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