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Open Sans" charset="1" panose="020B0606030504020204"/>
      <p:regular r:id="rId28"/>
    </p:embeddedFont>
    <p:embeddedFont>
      <p:font typeface="Open Sans Bold" charset="1" panose="020B080603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1EFB2"/>
        </a:solidFill>
      </p:bgPr>
    </p:bg>
    <p:spTree>
      <p:nvGrpSpPr>
        <p:cNvPr id="1" name=""/>
        <p:cNvGrpSpPr/>
        <p:nvPr/>
      </p:nvGrpSpPr>
      <p:grpSpPr>
        <a:xfrm>
          <a:off x="0" y="0"/>
          <a:ext cx="0" cy="0"/>
          <a:chOff x="0" y="0"/>
          <a:chExt cx="0" cy="0"/>
        </a:xfrm>
      </p:grpSpPr>
      <p:sp>
        <p:nvSpPr>
          <p:cNvPr name="Freeform 2" id="2"/>
          <p:cNvSpPr/>
          <p:nvPr/>
        </p:nvSpPr>
        <p:spPr>
          <a:xfrm flipH="false" flipV="false" rot="0">
            <a:off x="12221478" y="2365824"/>
            <a:ext cx="4757422" cy="6428948"/>
          </a:xfrm>
          <a:custGeom>
            <a:avLst/>
            <a:gdLst/>
            <a:ahLst/>
            <a:cxnLst/>
            <a:rect r="r" b="b" t="t" l="l"/>
            <a:pathLst>
              <a:path h="6428948" w="4757422">
                <a:moveTo>
                  <a:pt x="0" y="0"/>
                </a:moveTo>
                <a:lnTo>
                  <a:pt x="4757421" y="0"/>
                </a:lnTo>
                <a:lnTo>
                  <a:pt x="4757421" y="6428949"/>
                </a:lnTo>
                <a:lnTo>
                  <a:pt x="0" y="64289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98596" y="0"/>
            <a:ext cx="6489404" cy="1930598"/>
          </a:xfrm>
          <a:custGeom>
            <a:avLst/>
            <a:gdLst/>
            <a:ahLst/>
            <a:cxnLst/>
            <a:rect r="r" b="b" t="t" l="l"/>
            <a:pathLst>
              <a:path h="1930598" w="6489404">
                <a:moveTo>
                  <a:pt x="0" y="0"/>
                </a:moveTo>
                <a:lnTo>
                  <a:pt x="6489404" y="0"/>
                </a:lnTo>
                <a:lnTo>
                  <a:pt x="6489404" y="1930598"/>
                </a:lnTo>
                <a:lnTo>
                  <a:pt x="0" y="1930598"/>
                </a:lnTo>
                <a:lnTo>
                  <a:pt x="0" y="0"/>
                </a:lnTo>
                <a:close/>
              </a:path>
            </a:pathLst>
          </a:custGeom>
          <a:blipFill>
            <a:blip r:embed="rId4"/>
            <a:stretch>
              <a:fillRect l="0" t="0" r="0" b="0"/>
            </a:stretch>
          </a:blipFill>
        </p:spPr>
      </p:sp>
      <p:sp>
        <p:nvSpPr>
          <p:cNvPr name="TextBox 4" id="4"/>
          <p:cNvSpPr txBox="true"/>
          <p:nvPr/>
        </p:nvSpPr>
        <p:spPr>
          <a:xfrm rot="0">
            <a:off x="1566854" y="3228975"/>
            <a:ext cx="8613455" cy="2552700"/>
          </a:xfrm>
          <a:prstGeom prst="rect">
            <a:avLst/>
          </a:prstGeom>
        </p:spPr>
        <p:txBody>
          <a:bodyPr anchor="t" rtlCol="false" tIns="0" lIns="0" bIns="0" rIns="0">
            <a:spAutoFit/>
          </a:bodyPr>
          <a:lstStyle/>
          <a:p>
            <a:pPr algn="ctr">
              <a:lnSpc>
                <a:spcPts val="10080"/>
              </a:lnSpc>
            </a:pPr>
            <a:r>
              <a:rPr lang="en-US" sz="8400">
                <a:solidFill>
                  <a:srgbClr val="2A2A2A"/>
                </a:solidFill>
                <a:latin typeface="Open Sans"/>
                <a:ea typeface="Open Sans"/>
                <a:cs typeface="Open Sans"/>
                <a:sym typeface="Open Sans"/>
              </a:rPr>
              <a:t>Unidad 5</a:t>
            </a:r>
          </a:p>
          <a:p>
            <a:pPr algn="ctr">
              <a:lnSpc>
                <a:spcPts val="10080"/>
              </a:lnSpc>
            </a:pPr>
            <a:r>
              <a:rPr lang="en-US" sz="8400">
                <a:solidFill>
                  <a:srgbClr val="2A2A2A"/>
                </a:solidFill>
                <a:latin typeface="Open Sans"/>
                <a:ea typeface="Open Sans"/>
                <a:cs typeface="Open Sans"/>
                <a:sym typeface="Open Sans"/>
              </a:rPr>
              <a:t>Libreria de Flujos </a:t>
            </a:r>
          </a:p>
        </p:txBody>
      </p:sp>
      <p:sp>
        <p:nvSpPr>
          <p:cNvPr name="TextBox 5" id="5"/>
          <p:cNvSpPr txBox="true"/>
          <p:nvPr/>
        </p:nvSpPr>
        <p:spPr>
          <a:xfrm rot="0">
            <a:off x="1028700" y="921067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
        <p:nvSpPr>
          <p:cNvPr name="TextBox 6" id="6"/>
          <p:cNvSpPr txBox="true"/>
          <p:nvPr/>
        </p:nvSpPr>
        <p:spPr>
          <a:xfrm rot="0">
            <a:off x="1028700" y="8751706"/>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8293848"/>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8" id="8"/>
          <p:cNvSpPr txBox="true"/>
          <p:nvPr/>
        </p:nvSpPr>
        <p:spPr>
          <a:xfrm rot="0">
            <a:off x="1028700" y="7833473"/>
            <a:ext cx="371802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Segundo semestre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3550" y="1727086"/>
            <a:ext cx="6590377" cy="2191964"/>
            <a:chOff x="0" y="0"/>
            <a:chExt cx="8787170" cy="2922618"/>
          </a:xfrm>
        </p:grpSpPr>
        <p:sp>
          <p:nvSpPr>
            <p:cNvPr name="TextBox 3" id="3"/>
            <p:cNvSpPr txBox="true"/>
            <p:nvPr/>
          </p:nvSpPr>
          <p:spPr>
            <a:xfrm rot="0">
              <a:off x="0" y="0"/>
              <a:ext cx="8787170" cy="1828800"/>
            </a:xfrm>
            <a:prstGeom prst="rect">
              <a:avLst/>
            </a:prstGeom>
          </p:spPr>
          <p:txBody>
            <a:bodyPr anchor="t" rtlCol="false" tIns="0" lIns="0" bIns="0" rIns="0">
              <a:spAutoFit/>
            </a:bodyPr>
            <a:lstStyle/>
            <a:p>
              <a:pPr algn="l">
                <a:lnSpc>
                  <a:spcPts val="10800"/>
                </a:lnSpc>
              </a:pPr>
              <a:r>
                <a:rPr lang="en-US" sz="9000">
                  <a:solidFill>
                    <a:srgbClr val="2A2A2A"/>
                  </a:solidFill>
                  <a:latin typeface="Open Sans"/>
                  <a:ea typeface="Open Sans"/>
                  <a:cs typeface="Open Sans"/>
                  <a:sym typeface="Open Sans"/>
                </a:rPr>
                <a:t>Agenda</a:t>
              </a:r>
            </a:p>
          </p:txBody>
        </p:sp>
        <p:sp>
          <p:nvSpPr>
            <p:cNvPr name="TextBox 4" id="4"/>
            <p:cNvSpPr txBox="true"/>
            <p:nvPr/>
          </p:nvSpPr>
          <p:spPr>
            <a:xfrm rot="0">
              <a:off x="0" y="2313018"/>
              <a:ext cx="8787170" cy="609600"/>
            </a:xfrm>
            <a:prstGeom prst="rect">
              <a:avLst/>
            </a:prstGeom>
          </p:spPr>
          <p:txBody>
            <a:bodyPr anchor="t" rtlCol="false" tIns="0" lIns="0" bIns="0" rIns="0">
              <a:spAutoFit/>
            </a:bodyPr>
            <a:lstStyle/>
            <a:p>
              <a:pPr algn="l">
                <a:lnSpc>
                  <a:spcPts val="3600"/>
                </a:lnSpc>
              </a:pPr>
              <a:r>
                <a:rPr lang="en-US" sz="3000" b="true">
                  <a:solidFill>
                    <a:srgbClr val="2A2A2A"/>
                  </a:solidFill>
                  <a:latin typeface="Open Sans Bold"/>
                  <a:ea typeface="Open Sans Bold"/>
                  <a:cs typeface="Open Sans Bold"/>
                  <a:sym typeface="Open Sans Bold"/>
                </a:rPr>
                <a:t>Recordatorios</a:t>
              </a:r>
            </a:p>
          </p:txBody>
        </p:sp>
      </p:grpSp>
      <p:sp>
        <p:nvSpPr>
          <p:cNvPr name="Freeform 5" id="5"/>
          <p:cNvSpPr/>
          <p:nvPr/>
        </p:nvSpPr>
        <p:spPr>
          <a:xfrm flipH="false" flipV="false" rot="0">
            <a:off x="1733550" y="4797871"/>
            <a:ext cx="5997460" cy="3762043"/>
          </a:xfrm>
          <a:custGeom>
            <a:avLst/>
            <a:gdLst/>
            <a:ahLst/>
            <a:cxnLst/>
            <a:rect r="r" b="b" t="t" l="l"/>
            <a:pathLst>
              <a:path h="3762043" w="5997460">
                <a:moveTo>
                  <a:pt x="0" y="0"/>
                </a:moveTo>
                <a:lnTo>
                  <a:pt x="5997460" y="0"/>
                </a:lnTo>
                <a:lnTo>
                  <a:pt x="5997460" y="3762043"/>
                </a:lnTo>
                <a:lnTo>
                  <a:pt x="0" y="37620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333949" y="3059713"/>
            <a:ext cx="6077873" cy="5500201"/>
            <a:chOff x="0" y="0"/>
            <a:chExt cx="8103830" cy="7333602"/>
          </a:xfrm>
        </p:grpSpPr>
        <p:sp>
          <p:nvSpPr>
            <p:cNvPr name="AutoShape 7" id="7"/>
            <p:cNvSpPr/>
            <p:nvPr/>
          </p:nvSpPr>
          <p:spPr>
            <a:xfrm>
              <a:off x="0" y="6350"/>
              <a:ext cx="8103830" cy="0"/>
            </a:xfrm>
            <a:prstGeom prst="line">
              <a:avLst/>
            </a:prstGeom>
            <a:ln cap="rnd" w="12700">
              <a:solidFill>
                <a:srgbClr val="399D4E"/>
              </a:solidFill>
              <a:prstDash val="solid"/>
              <a:headEnd type="none" len="sm" w="sm"/>
              <a:tailEnd type="none" len="sm" w="sm"/>
            </a:ln>
          </p:spPr>
        </p:sp>
        <p:sp>
          <p:nvSpPr>
            <p:cNvPr name="TextBox 8" id="8"/>
            <p:cNvSpPr txBox="true"/>
            <p:nvPr/>
          </p:nvSpPr>
          <p:spPr>
            <a:xfrm rot="0">
              <a:off x="0" y="497603"/>
              <a:ext cx="8103830" cy="547158"/>
            </a:xfrm>
            <a:prstGeom prst="rect">
              <a:avLst/>
            </a:prstGeom>
          </p:spPr>
          <p:txBody>
            <a:bodyPr anchor="t" rtlCol="false" tIns="0" lIns="0" bIns="0" rIns="0">
              <a:spAutoFit/>
            </a:bodyPr>
            <a:lstStyle/>
            <a:p>
              <a:pPr algn="l">
                <a:lnSpc>
                  <a:spcPts val="3499"/>
                </a:lnSpc>
              </a:pPr>
              <a:r>
                <a:rPr lang="en-US" sz="2499">
                  <a:solidFill>
                    <a:srgbClr val="2A2A2A"/>
                  </a:solidFill>
                  <a:latin typeface="Open Sans"/>
                  <a:ea typeface="Open Sans"/>
                  <a:cs typeface="Open Sans"/>
                  <a:sym typeface="Open Sans"/>
                </a:rPr>
                <a:t>Componentes basicos</a:t>
              </a:r>
            </a:p>
          </p:txBody>
        </p:sp>
        <p:sp>
          <p:nvSpPr>
            <p:cNvPr name="AutoShape 9" id="9"/>
            <p:cNvSpPr/>
            <p:nvPr/>
          </p:nvSpPr>
          <p:spPr>
            <a:xfrm>
              <a:off x="0" y="1578560"/>
              <a:ext cx="8103830" cy="0"/>
            </a:xfrm>
            <a:prstGeom prst="line">
              <a:avLst/>
            </a:prstGeom>
            <a:ln cap="rnd" w="12700">
              <a:solidFill>
                <a:srgbClr val="399D4E"/>
              </a:solidFill>
              <a:prstDash val="solid"/>
              <a:headEnd type="none" len="sm" w="sm"/>
              <a:tailEnd type="none" len="sm" w="sm"/>
            </a:ln>
          </p:spPr>
        </p:sp>
        <p:sp>
          <p:nvSpPr>
            <p:cNvPr name="TextBox 10" id="10"/>
            <p:cNvSpPr txBox="true"/>
            <p:nvPr/>
          </p:nvSpPr>
          <p:spPr>
            <a:xfrm rot="0">
              <a:off x="0" y="2060288"/>
              <a:ext cx="8103830" cy="556683"/>
            </a:xfrm>
            <a:prstGeom prst="rect">
              <a:avLst/>
            </a:prstGeom>
          </p:spPr>
          <p:txBody>
            <a:bodyPr anchor="t" rtlCol="false" tIns="0" lIns="0" bIns="0" rIns="0">
              <a:spAutoFit/>
            </a:bodyPr>
            <a:lstStyle/>
            <a:p>
              <a:pPr algn="l">
                <a:lnSpc>
                  <a:spcPts val="3500"/>
                </a:lnSpc>
              </a:pPr>
              <a:r>
                <a:rPr lang="en-US" sz="2500">
                  <a:solidFill>
                    <a:srgbClr val="2A2A2A"/>
                  </a:solidFill>
                  <a:latin typeface="Open Sans"/>
                  <a:ea typeface="Open Sans"/>
                  <a:cs typeface="Open Sans"/>
                  <a:sym typeface="Open Sans"/>
                </a:rPr>
                <a:t>Aplicacion de la libreria de flujos</a:t>
              </a:r>
            </a:p>
          </p:txBody>
        </p:sp>
        <p:sp>
          <p:nvSpPr>
            <p:cNvPr name="AutoShape 11" id="11"/>
            <p:cNvSpPr/>
            <p:nvPr/>
          </p:nvSpPr>
          <p:spPr>
            <a:xfrm>
              <a:off x="0" y="3150770"/>
              <a:ext cx="8103830" cy="0"/>
            </a:xfrm>
            <a:prstGeom prst="line">
              <a:avLst/>
            </a:prstGeom>
            <a:ln cap="rnd" w="12700">
              <a:solidFill>
                <a:srgbClr val="399D4E"/>
              </a:solidFill>
              <a:prstDash val="solid"/>
              <a:headEnd type="none" len="sm" w="sm"/>
              <a:tailEnd type="none" len="sm" w="sm"/>
            </a:ln>
          </p:spPr>
        </p:sp>
        <p:sp>
          <p:nvSpPr>
            <p:cNvPr name="TextBox 12" id="12"/>
            <p:cNvSpPr txBox="true"/>
            <p:nvPr/>
          </p:nvSpPr>
          <p:spPr>
            <a:xfrm rot="0">
              <a:off x="0" y="3642023"/>
              <a:ext cx="8103830" cy="547158"/>
            </a:xfrm>
            <a:prstGeom prst="rect">
              <a:avLst/>
            </a:prstGeom>
          </p:spPr>
          <p:txBody>
            <a:bodyPr anchor="t" rtlCol="false" tIns="0" lIns="0" bIns="0" rIns="0">
              <a:spAutoFit/>
            </a:bodyPr>
            <a:lstStyle/>
            <a:p>
              <a:pPr algn="l">
                <a:lnSpc>
                  <a:spcPts val="3499"/>
                </a:lnSpc>
              </a:pPr>
              <a:r>
                <a:rPr lang="en-US" sz="2499">
                  <a:solidFill>
                    <a:srgbClr val="2A2A2A"/>
                  </a:solidFill>
                  <a:latin typeface="Open Sans"/>
                  <a:ea typeface="Open Sans"/>
                  <a:cs typeface="Open Sans"/>
                  <a:sym typeface="Open Sans"/>
                </a:rPr>
                <a:t>Ejemplo</a:t>
              </a:r>
            </a:p>
          </p:txBody>
        </p:sp>
        <p:sp>
          <p:nvSpPr>
            <p:cNvPr name="AutoShape 13" id="13"/>
            <p:cNvSpPr/>
            <p:nvPr/>
          </p:nvSpPr>
          <p:spPr>
            <a:xfrm>
              <a:off x="0" y="4722980"/>
              <a:ext cx="8103830" cy="0"/>
            </a:xfrm>
            <a:prstGeom prst="line">
              <a:avLst/>
            </a:prstGeom>
            <a:ln cap="rnd" w="12700">
              <a:solidFill>
                <a:srgbClr val="399D4E"/>
              </a:solidFill>
              <a:prstDash val="solid"/>
              <a:headEnd type="none" len="sm" w="sm"/>
              <a:tailEnd type="none" len="sm" w="sm"/>
            </a:ln>
          </p:spPr>
        </p:sp>
        <p:sp>
          <p:nvSpPr>
            <p:cNvPr name="TextBox 14" id="14"/>
            <p:cNvSpPr txBox="true"/>
            <p:nvPr/>
          </p:nvSpPr>
          <p:spPr>
            <a:xfrm rot="0">
              <a:off x="0" y="6776918"/>
              <a:ext cx="8103830" cy="556683"/>
            </a:xfrm>
            <a:prstGeom prst="rect">
              <a:avLst/>
            </a:prstGeom>
          </p:spPr>
          <p:txBody>
            <a:bodyPr anchor="t" rtlCol="false" tIns="0" lIns="0" bIns="0" rIns="0">
              <a:spAutoFit/>
            </a:bodyPr>
            <a:lstStyle/>
            <a:p>
              <a:pPr algn="l">
                <a:lnSpc>
                  <a:spcPts val="3500"/>
                </a:lnSpc>
              </a:pP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803653" y="3924300"/>
            <a:ext cx="12680694" cy="1219200"/>
          </a:xfrm>
          <a:prstGeom prst="rect">
            <a:avLst/>
          </a:prstGeom>
        </p:spPr>
        <p:txBody>
          <a:bodyPr anchor="t" rtlCol="false" tIns="0" lIns="0" bIns="0" rIns="0">
            <a:spAutoFit/>
          </a:bodyPr>
          <a:lstStyle/>
          <a:p>
            <a:pPr algn="ctr">
              <a:lnSpc>
                <a:spcPts val="9600"/>
              </a:lnSpc>
            </a:pPr>
            <a:r>
              <a:rPr lang="en-US" sz="8000">
                <a:solidFill>
                  <a:srgbClr val="2A2A2A"/>
                </a:solidFill>
                <a:latin typeface="Open Sans"/>
                <a:ea typeface="Open Sans"/>
                <a:cs typeface="Open Sans"/>
                <a:sym typeface="Open Sans"/>
              </a:rPr>
              <a:t>Libreria de flujos en SIMIO</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248148"/>
            <a:ext cx="16230600" cy="4581526"/>
          </a:xfrm>
          <a:prstGeom prst="rect">
            <a:avLst/>
          </a:prstGeom>
        </p:spPr>
        <p:txBody>
          <a:bodyPr anchor="t" rtlCol="false" tIns="0" lIns="0" bIns="0" rIns="0">
            <a:spAutoFit/>
          </a:bodyPr>
          <a:lstStyle/>
          <a:p>
            <a:pPr algn="just">
              <a:lnSpc>
                <a:spcPts val="5249"/>
              </a:lnSpc>
            </a:pPr>
            <a:r>
              <a:rPr lang="en-US" sz="3749">
                <a:solidFill>
                  <a:srgbClr val="2A2A2A"/>
                </a:solidFill>
                <a:latin typeface="Open Sans"/>
                <a:ea typeface="Open Sans"/>
                <a:cs typeface="Open Sans"/>
                <a:sym typeface="Open Sans"/>
              </a:rPr>
              <a:t>Flow Library es u</a:t>
            </a:r>
            <a:r>
              <a:rPr lang="en-US" sz="3749">
                <a:solidFill>
                  <a:srgbClr val="2A2A2A"/>
                </a:solidFill>
                <a:latin typeface="Open Sans"/>
                <a:ea typeface="Open Sans"/>
                <a:cs typeface="Open Sans"/>
                <a:sym typeface="Open Sans"/>
              </a:rPr>
              <a:t>na biblioteca avanzada que permite modelar flujos de materiales o productos de manera continua, lo que resulta especialmente útil para sistemas donde las entidades no se mueven como tal, sino como flujos homogéneos. Se utiliza frecuentemente para simular líquidos, gases, polvo, granulados u otros materiales que fluyen en lugar de moverse de manera individual.</a:t>
            </a:r>
          </a:p>
          <a:p>
            <a:pPr algn="just">
              <a:lnSpc>
                <a:spcPts val="5249"/>
              </a:lnSpc>
            </a:pPr>
          </a:p>
        </p:txBody>
      </p:sp>
      <p:sp>
        <p:nvSpPr>
          <p:cNvPr name="AutoShape 3" id="3"/>
          <p:cNvSpPr/>
          <p:nvPr/>
        </p:nvSpPr>
        <p:spPr>
          <a:xfrm rot="0">
            <a:off x="17560817" y="0"/>
            <a:ext cx="6896061" cy="10287000"/>
          </a:xfrm>
          <a:prstGeom prst="rect">
            <a:avLst/>
          </a:prstGeom>
          <a:solidFill>
            <a:srgbClr val="399D4E"/>
          </a:solidFill>
        </p:spPr>
      </p:sp>
      <p:sp>
        <p:nvSpPr>
          <p:cNvPr name="AutoShape 4" id="4"/>
          <p:cNvSpPr/>
          <p:nvPr/>
        </p:nvSpPr>
        <p:spPr>
          <a:xfrm rot="0">
            <a:off x="-30423480" y="0"/>
            <a:ext cx="31177040" cy="10287000"/>
          </a:xfrm>
          <a:prstGeom prst="rect">
            <a:avLst/>
          </a:prstGeom>
          <a:solidFill>
            <a:srgbClr val="399D4E"/>
          </a:solidFill>
        </p:spPr>
      </p:sp>
      <p:sp>
        <p:nvSpPr>
          <p:cNvPr name="TextBox 5" id="5"/>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¿QUE ES FLOW LIBRARY?</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028700" y="1819497"/>
            <a:ext cx="16230600" cy="7867651"/>
          </a:xfrm>
          <a:prstGeom prst="rect">
            <a:avLst/>
          </a:prstGeom>
        </p:spPr>
        <p:txBody>
          <a:bodyPr anchor="t" rtlCol="false" tIns="0" lIns="0" bIns="0" rIns="0">
            <a:spAutoFit/>
          </a:bodyPr>
          <a:lstStyle/>
          <a:p>
            <a:pPr algn="just">
              <a:lnSpc>
                <a:spcPts val="5249"/>
              </a:lnSpc>
            </a:pPr>
            <a:r>
              <a:rPr lang="en-US" sz="3749">
                <a:solidFill>
                  <a:srgbClr val="2A2A2A"/>
                </a:solidFill>
                <a:latin typeface="Open Sans"/>
                <a:ea typeface="Open Sans"/>
                <a:cs typeface="Open Sans"/>
                <a:sym typeface="Open Sans"/>
              </a:rPr>
              <a:t>Se puede utilizar para representar</a:t>
            </a:r>
            <a:r>
              <a:rPr lang="en-US" sz="3749">
                <a:solidFill>
                  <a:srgbClr val="2A2A2A"/>
                </a:solidFill>
                <a:latin typeface="Open Sans"/>
                <a:ea typeface="Open Sans"/>
                <a:cs typeface="Open Sans"/>
                <a:sym typeface="Open Sans"/>
              </a:rPr>
              <a:t> una fuente infinita/finita de flujo de fluido u otra masa de un tipo de entidad especificado.</a:t>
            </a:r>
          </a:p>
          <a:p>
            <a:pPr algn="just">
              <a:lnSpc>
                <a:spcPts val="5249"/>
              </a:lnSpc>
            </a:pPr>
          </a:p>
          <a:p>
            <a:pPr algn="just">
              <a:lnSpc>
                <a:spcPts val="5249"/>
              </a:lnSpc>
            </a:pPr>
            <a:r>
              <a:rPr lang="en-US" sz="3749">
                <a:solidFill>
                  <a:srgbClr val="2A2A2A"/>
                </a:solidFill>
                <a:latin typeface="Open Sans"/>
                <a:ea typeface="Open Sans"/>
                <a:cs typeface="Open Sans"/>
                <a:sym typeface="Open Sans"/>
              </a:rPr>
              <a:t>Stopping Conditions (Condiciones de Detención)</a:t>
            </a:r>
          </a:p>
          <a:p>
            <a:pPr algn="just" marL="809617" indent="-404808" lvl="1">
              <a:lnSpc>
                <a:spcPts val="5249"/>
              </a:lnSpc>
              <a:buFont typeface="Arial"/>
              <a:buChar char="•"/>
            </a:pPr>
            <a:r>
              <a:rPr lang="en-US" sz="3749">
                <a:solidFill>
                  <a:srgbClr val="2A2A2A"/>
                </a:solidFill>
                <a:latin typeface="Open Sans"/>
                <a:ea typeface="Open Sans"/>
                <a:cs typeface="Open Sans"/>
                <a:sym typeface="Open Sans"/>
              </a:rPr>
              <a:t>Maximum Volume: Determina el volumen máximo que debe generar antes de detenerse. </a:t>
            </a:r>
          </a:p>
          <a:p>
            <a:pPr algn="just" marL="809617" indent="-404808" lvl="1">
              <a:lnSpc>
                <a:spcPts val="5249"/>
              </a:lnSpc>
              <a:buFont typeface="Arial"/>
              <a:buChar char="•"/>
            </a:pPr>
            <a:r>
              <a:rPr lang="en-US" sz="3749">
                <a:solidFill>
                  <a:srgbClr val="2A2A2A"/>
                </a:solidFill>
                <a:latin typeface="Open Sans"/>
                <a:ea typeface="Open Sans"/>
                <a:cs typeface="Open Sans"/>
                <a:sym typeface="Open Sans"/>
              </a:rPr>
              <a:t>Maximum Weight: Define el peso máximo que debe producir antes de detenerse. </a:t>
            </a:r>
          </a:p>
          <a:p>
            <a:pPr algn="just" marL="809617" indent="-404808" lvl="1">
              <a:lnSpc>
                <a:spcPts val="5249"/>
              </a:lnSpc>
              <a:buFont typeface="Arial"/>
              <a:buChar char="•"/>
            </a:pPr>
            <a:r>
              <a:rPr lang="en-US" sz="3749">
                <a:solidFill>
                  <a:srgbClr val="2A2A2A"/>
                </a:solidFill>
                <a:latin typeface="Open Sans"/>
                <a:ea typeface="Open Sans"/>
                <a:cs typeface="Open Sans"/>
                <a:sym typeface="Open Sans"/>
              </a:rPr>
              <a:t>Maximum Time: Establece el tiempo máximo durante el cual el FlowSource debe operar. </a:t>
            </a:r>
          </a:p>
          <a:p>
            <a:pPr algn="just" marL="809617" indent="-404808" lvl="1">
              <a:lnSpc>
                <a:spcPts val="5249"/>
              </a:lnSpc>
              <a:buFont typeface="Arial"/>
              <a:buChar char="•"/>
            </a:pPr>
            <a:r>
              <a:rPr lang="en-US" sz="3749">
                <a:solidFill>
                  <a:srgbClr val="2A2A2A"/>
                </a:solidFill>
                <a:latin typeface="Open Sans"/>
                <a:ea typeface="Open Sans"/>
                <a:cs typeface="Open Sans"/>
                <a:sym typeface="Open Sans"/>
              </a:rPr>
              <a:t>Stop Event Name: Permite especificar un evento que detenga la producción. </a:t>
            </a:r>
          </a:p>
        </p:txBody>
      </p:sp>
      <p:sp>
        <p:nvSpPr>
          <p:cNvPr name="TextBox 5" id="5"/>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FLOWSOURCE - ORIGEN DEL FLUJO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6365187" y="4663499"/>
            <a:ext cx="5557625" cy="2672519"/>
          </a:xfrm>
          <a:custGeom>
            <a:avLst/>
            <a:gdLst/>
            <a:ahLst/>
            <a:cxnLst/>
            <a:rect r="r" b="b" t="t" l="l"/>
            <a:pathLst>
              <a:path h="2672519" w="5557625">
                <a:moveTo>
                  <a:pt x="0" y="0"/>
                </a:moveTo>
                <a:lnTo>
                  <a:pt x="5557626" y="0"/>
                </a:lnTo>
                <a:lnTo>
                  <a:pt x="5557626" y="2672519"/>
                </a:lnTo>
                <a:lnTo>
                  <a:pt x="0" y="2672519"/>
                </a:lnTo>
                <a:lnTo>
                  <a:pt x="0" y="0"/>
                </a:lnTo>
                <a:close/>
              </a:path>
            </a:pathLst>
          </a:custGeom>
          <a:blipFill>
            <a:blip r:embed="rId2"/>
            <a:stretch>
              <a:fillRect l="0" t="0" r="0" b="0"/>
            </a:stretch>
          </a:blipFill>
        </p:spPr>
      </p:sp>
      <p:sp>
        <p:nvSpPr>
          <p:cNvPr name="TextBox 5" id="5"/>
          <p:cNvSpPr txBox="true"/>
          <p:nvPr/>
        </p:nvSpPr>
        <p:spPr>
          <a:xfrm rot="0">
            <a:off x="1028700" y="2768023"/>
            <a:ext cx="16230600" cy="638176"/>
          </a:xfrm>
          <a:prstGeom prst="rect">
            <a:avLst/>
          </a:prstGeom>
        </p:spPr>
        <p:txBody>
          <a:bodyPr anchor="t" rtlCol="false" tIns="0" lIns="0" bIns="0" rIns="0">
            <a:spAutoFit/>
          </a:bodyPr>
          <a:lstStyle/>
          <a:p>
            <a:pPr algn="just">
              <a:lnSpc>
                <a:spcPts val="5249"/>
              </a:lnSpc>
            </a:pPr>
            <a:r>
              <a:rPr lang="en-US" sz="3749">
                <a:solidFill>
                  <a:srgbClr val="2A2A2A"/>
                </a:solidFill>
                <a:latin typeface="Open Sans"/>
                <a:ea typeface="Open Sans"/>
                <a:cs typeface="Open Sans"/>
                <a:sym typeface="Open Sans"/>
              </a:rPr>
              <a:t> Destruye el flujo que ha terminado de procesarse.</a:t>
            </a:r>
          </a:p>
        </p:txBody>
      </p:sp>
      <p:sp>
        <p:nvSpPr>
          <p:cNvPr name="TextBox 6" id="6"/>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FLOWSINK - SALIDA DEL FLUJO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12515430" y="1585912"/>
            <a:ext cx="4339364" cy="2534876"/>
          </a:xfrm>
          <a:custGeom>
            <a:avLst/>
            <a:gdLst/>
            <a:ahLst/>
            <a:cxnLst/>
            <a:rect r="r" b="b" t="t" l="l"/>
            <a:pathLst>
              <a:path h="2534876" w="4339364">
                <a:moveTo>
                  <a:pt x="0" y="0"/>
                </a:moveTo>
                <a:lnTo>
                  <a:pt x="4339364" y="0"/>
                </a:lnTo>
                <a:lnTo>
                  <a:pt x="4339364" y="2534876"/>
                </a:lnTo>
                <a:lnTo>
                  <a:pt x="0" y="2534876"/>
                </a:lnTo>
                <a:lnTo>
                  <a:pt x="0" y="0"/>
                </a:lnTo>
                <a:close/>
              </a:path>
            </a:pathLst>
          </a:custGeom>
          <a:blipFill>
            <a:blip r:embed="rId2"/>
            <a:stretch>
              <a:fillRect l="0" t="0" r="0" b="0"/>
            </a:stretch>
          </a:blipFill>
        </p:spPr>
      </p:sp>
      <p:sp>
        <p:nvSpPr>
          <p:cNvPr name="TextBox 5" id="5"/>
          <p:cNvSpPr txBox="true"/>
          <p:nvPr/>
        </p:nvSpPr>
        <p:spPr>
          <a:xfrm rot="0">
            <a:off x="1028700" y="1992082"/>
            <a:ext cx="9969126" cy="74472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Su objetivo principal es actuar como un nodo de control para manejar las tasas de flujo y regular el movimiento de los flujos entre distintos procesos o etapas.</a:t>
            </a:r>
          </a:p>
          <a:p>
            <a:pPr algn="just">
              <a:lnSpc>
                <a:spcPts val="4269"/>
              </a:lnSpc>
            </a:pPr>
            <a:r>
              <a:rPr lang="en-US" sz="3049">
                <a:solidFill>
                  <a:srgbClr val="2A2A2A"/>
                </a:solidFill>
                <a:latin typeface="Open Sans"/>
                <a:ea typeface="Open Sans"/>
                <a:cs typeface="Open Sans"/>
                <a:sym typeface="Open Sans"/>
              </a:rPr>
              <a:t>Flow Regulator Logic</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Flow Rate Unit Type: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Especifica el tipo de unidad que se usa para medir la tasa de flujo.</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Maximum Flow Rate: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Define la tasa máxima inicial de flujo permitida a través del nodo. </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Output Yield Factor:</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Es un factor que se aplica a la tasa de salida del flujo para ajustar el rendimiento. </a:t>
            </a:r>
          </a:p>
        </p:txBody>
      </p:sp>
      <p:sp>
        <p:nvSpPr>
          <p:cNvPr name="Freeform 6" id="6"/>
          <p:cNvSpPr/>
          <p:nvPr/>
        </p:nvSpPr>
        <p:spPr>
          <a:xfrm flipH="false" flipV="false" rot="0">
            <a:off x="11809584" y="4317408"/>
            <a:ext cx="5449716" cy="5388655"/>
          </a:xfrm>
          <a:custGeom>
            <a:avLst/>
            <a:gdLst/>
            <a:ahLst/>
            <a:cxnLst/>
            <a:rect r="r" b="b" t="t" l="l"/>
            <a:pathLst>
              <a:path h="5388655" w="5449716">
                <a:moveTo>
                  <a:pt x="0" y="0"/>
                </a:moveTo>
                <a:lnTo>
                  <a:pt x="5449716" y="0"/>
                </a:lnTo>
                <a:lnTo>
                  <a:pt x="5449716" y="5388655"/>
                </a:lnTo>
                <a:lnTo>
                  <a:pt x="0" y="5388655"/>
                </a:lnTo>
                <a:lnTo>
                  <a:pt x="0" y="0"/>
                </a:lnTo>
                <a:close/>
              </a:path>
            </a:pathLst>
          </a:custGeom>
          <a:blipFill>
            <a:blip r:embed="rId3"/>
            <a:stretch>
              <a:fillRect l="0" t="0" r="0" b="0"/>
            </a:stretch>
          </a:blipFill>
        </p:spPr>
      </p:sp>
      <p:sp>
        <p:nvSpPr>
          <p:cNvPr name="TextBox 7" id="7"/>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FLOWNODE - NODO DEL FLUJO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12515430" y="1585912"/>
            <a:ext cx="4339364" cy="2534876"/>
          </a:xfrm>
          <a:custGeom>
            <a:avLst/>
            <a:gdLst/>
            <a:ahLst/>
            <a:cxnLst/>
            <a:rect r="r" b="b" t="t" l="l"/>
            <a:pathLst>
              <a:path h="2534876" w="4339364">
                <a:moveTo>
                  <a:pt x="0" y="0"/>
                </a:moveTo>
                <a:lnTo>
                  <a:pt x="4339364" y="0"/>
                </a:lnTo>
                <a:lnTo>
                  <a:pt x="4339364" y="2534876"/>
                </a:lnTo>
                <a:lnTo>
                  <a:pt x="0" y="2534876"/>
                </a:lnTo>
                <a:lnTo>
                  <a:pt x="0" y="0"/>
                </a:lnTo>
                <a:close/>
              </a:path>
            </a:pathLst>
          </a:custGeom>
          <a:blipFill>
            <a:blip r:embed="rId2"/>
            <a:stretch>
              <a:fillRect l="0" t="0" r="0" b="0"/>
            </a:stretch>
          </a:blipFill>
        </p:spPr>
      </p:sp>
      <p:sp>
        <p:nvSpPr>
          <p:cNvPr name="TextBox 5" id="5"/>
          <p:cNvSpPr txBox="true"/>
          <p:nvPr/>
        </p:nvSpPr>
        <p:spPr>
          <a:xfrm rot="0">
            <a:off x="1028700" y="1725382"/>
            <a:ext cx="9969126" cy="7980681"/>
          </a:xfrm>
          <a:prstGeom prst="rect">
            <a:avLst/>
          </a:prstGeom>
        </p:spPr>
        <p:txBody>
          <a:bodyPr anchor="t" rtlCol="false" tIns="0" lIns="0" bIns="0" rIns="0">
            <a:spAutoFit/>
          </a:bodyPr>
          <a:lstStyle/>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Output Entity Type: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Define el tipo de entidad de salida inicial que se generará a partir del flujo procesado.</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Regulator Initially Enabled:</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Controla si el regulador de flujo está habilitado al inicio de la</a:t>
            </a:r>
            <a:r>
              <a:rPr lang="en-US" sz="3049">
                <a:solidFill>
                  <a:srgbClr val="2A2A2A"/>
                </a:solidFill>
                <a:latin typeface="Open Sans"/>
                <a:ea typeface="Open Sans"/>
                <a:cs typeface="Open Sans"/>
                <a:sym typeface="Open Sans"/>
              </a:rPr>
              <a:t> simulación. Si lo dejamos en True significa que el paso de la entidad esta permitido.</a:t>
            </a:r>
          </a:p>
          <a:p>
            <a:pPr algn="just">
              <a:lnSpc>
                <a:spcPts val="4269"/>
              </a:lnSpc>
            </a:pPr>
            <a:r>
              <a:rPr lang="en-US" sz="3049">
                <a:solidFill>
                  <a:srgbClr val="2A2A2A"/>
                </a:solidFill>
                <a:latin typeface="Open Sans"/>
                <a:ea typeface="Open Sans"/>
                <a:cs typeface="Open Sans"/>
                <a:sym typeface="Open Sans"/>
              </a:rPr>
              <a:t>Input Flow Control</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Flow Control Mode: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Determina el modo en que el nodo maneja los flujos entrantes. Si lo dejamos como Single Flow (No Merging), significa que solo se permite que un solo flujo entre al nodo y no se permite la combinación (merging) de varios flujos.</a:t>
            </a:r>
          </a:p>
        </p:txBody>
      </p:sp>
      <p:sp>
        <p:nvSpPr>
          <p:cNvPr name="Freeform 6" id="6"/>
          <p:cNvSpPr/>
          <p:nvPr/>
        </p:nvSpPr>
        <p:spPr>
          <a:xfrm flipH="false" flipV="false" rot="0">
            <a:off x="11809584" y="4317408"/>
            <a:ext cx="5449716" cy="5388655"/>
          </a:xfrm>
          <a:custGeom>
            <a:avLst/>
            <a:gdLst/>
            <a:ahLst/>
            <a:cxnLst/>
            <a:rect r="r" b="b" t="t" l="l"/>
            <a:pathLst>
              <a:path h="5388655" w="5449716">
                <a:moveTo>
                  <a:pt x="0" y="0"/>
                </a:moveTo>
                <a:lnTo>
                  <a:pt x="5449716" y="0"/>
                </a:lnTo>
                <a:lnTo>
                  <a:pt x="5449716" y="5388655"/>
                </a:lnTo>
                <a:lnTo>
                  <a:pt x="0" y="5388655"/>
                </a:lnTo>
                <a:lnTo>
                  <a:pt x="0" y="0"/>
                </a:lnTo>
                <a:close/>
              </a:path>
            </a:pathLst>
          </a:custGeom>
          <a:blipFill>
            <a:blip r:embed="rId3"/>
            <a:stretch>
              <a:fillRect l="0" t="0" r="0" b="0"/>
            </a:stretch>
          </a:blipFill>
        </p:spPr>
      </p:sp>
      <p:sp>
        <p:nvSpPr>
          <p:cNvPr name="TextBox 7" id="7"/>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FLOWNODE - NODO DEL FLUJO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12515430" y="1585912"/>
            <a:ext cx="4339364" cy="2534876"/>
          </a:xfrm>
          <a:custGeom>
            <a:avLst/>
            <a:gdLst/>
            <a:ahLst/>
            <a:cxnLst/>
            <a:rect r="r" b="b" t="t" l="l"/>
            <a:pathLst>
              <a:path h="2534876" w="4339364">
                <a:moveTo>
                  <a:pt x="0" y="0"/>
                </a:moveTo>
                <a:lnTo>
                  <a:pt x="4339364" y="0"/>
                </a:lnTo>
                <a:lnTo>
                  <a:pt x="4339364" y="2534876"/>
                </a:lnTo>
                <a:lnTo>
                  <a:pt x="0" y="2534876"/>
                </a:lnTo>
                <a:lnTo>
                  <a:pt x="0" y="0"/>
                </a:lnTo>
                <a:close/>
              </a:path>
            </a:pathLst>
          </a:custGeom>
          <a:blipFill>
            <a:blip r:embed="rId2"/>
            <a:stretch>
              <a:fillRect l="0" t="0" r="0" b="0"/>
            </a:stretch>
          </a:blipFill>
        </p:spPr>
      </p:sp>
      <p:sp>
        <p:nvSpPr>
          <p:cNvPr name="TextBox 5" id="5"/>
          <p:cNvSpPr txBox="true"/>
          <p:nvPr/>
        </p:nvSpPr>
        <p:spPr>
          <a:xfrm rot="0">
            <a:off x="1028700" y="1992082"/>
            <a:ext cx="10476084" cy="7447281"/>
          </a:xfrm>
          <a:prstGeom prst="rect">
            <a:avLst/>
          </a:prstGeom>
        </p:spPr>
        <p:txBody>
          <a:bodyPr anchor="t" rtlCol="false" tIns="0" lIns="0" bIns="0" rIns="0">
            <a:spAutoFit/>
          </a:bodyPr>
          <a:lstStyle/>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Inbound Link Rule: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Define la regla que controla cómo se distribuyen los flujos entrantes basados en los enlaces.</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Switch </a:t>
            </a:r>
            <a:r>
              <a:rPr lang="en-US" sz="3049">
                <a:solidFill>
                  <a:srgbClr val="2A2A2A"/>
                </a:solidFill>
                <a:latin typeface="Open Sans"/>
                <a:ea typeface="Open Sans"/>
                <a:cs typeface="Open Sans"/>
                <a:sym typeface="Open Sans"/>
              </a:rPr>
              <a:t>Control Variable: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Permite controlar las condiciones bajo</a:t>
            </a:r>
            <a:r>
              <a:rPr lang="en-US" sz="3049">
                <a:solidFill>
                  <a:srgbClr val="2A2A2A"/>
                </a:solidFill>
                <a:latin typeface="Open Sans"/>
                <a:ea typeface="Open Sans"/>
                <a:cs typeface="Open Sans"/>
                <a:sym typeface="Open Sans"/>
              </a:rPr>
              <a:t> las cuales se debe cambiar la ruta del flujo entrante. </a:t>
            </a:r>
          </a:p>
          <a:p>
            <a:pPr algn="just">
              <a:lnSpc>
                <a:spcPts val="4269"/>
              </a:lnSpc>
            </a:pPr>
            <a:r>
              <a:rPr lang="en-US" sz="3049">
                <a:solidFill>
                  <a:srgbClr val="2A2A2A"/>
                </a:solidFill>
                <a:latin typeface="Open Sans"/>
                <a:ea typeface="Open Sans"/>
                <a:cs typeface="Open Sans"/>
                <a:sym typeface="Open Sans"/>
              </a:rPr>
              <a:t>Out</a:t>
            </a:r>
            <a:r>
              <a:rPr lang="en-US" sz="3049">
                <a:solidFill>
                  <a:srgbClr val="2A2A2A"/>
                </a:solidFill>
                <a:latin typeface="Open Sans"/>
                <a:ea typeface="Open Sans"/>
                <a:cs typeface="Open Sans"/>
                <a:sym typeface="Open Sans"/>
              </a:rPr>
              <a:t>put Flow Control</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Flow Control Mode: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Al </a:t>
            </a:r>
            <a:r>
              <a:rPr lang="en-US" sz="3049">
                <a:solidFill>
                  <a:srgbClr val="2A2A2A"/>
                </a:solidFill>
                <a:latin typeface="Open Sans"/>
                <a:ea typeface="Open Sans"/>
                <a:cs typeface="Open Sans"/>
                <a:sym typeface="Open Sans"/>
              </a:rPr>
              <a:t>igual que el modo de control de entrada, determina cómo se maneja el flujo de salida. Está configurado por defecto como Single Flow (No Splitting), lo que hace que el flujo saliente será único y no se permitirá la división (splitting).</a:t>
            </a:r>
          </a:p>
          <a:p>
            <a:pPr algn="just">
              <a:lnSpc>
                <a:spcPts val="4269"/>
              </a:lnSpc>
            </a:pPr>
          </a:p>
        </p:txBody>
      </p:sp>
      <p:sp>
        <p:nvSpPr>
          <p:cNvPr name="Freeform 6" id="6"/>
          <p:cNvSpPr/>
          <p:nvPr/>
        </p:nvSpPr>
        <p:spPr>
          <a:xfrm flipH="false" flipV="false" rot="0">
            <a:off x="11809584" y="4317408"/>
            <a:ext cx="5449716" cy="5388655"/>
          </a:xfrm>
          <a:custGeom>
            <a:avLst/>
            <a:gdLst/>
            <a:ahLst/>
            <a:cxnLst/>
            <a:rect r="r" b="b" t="t" l="l"/>
            <a:pathLst>
              <a:path h="5388655" w="5449716">
                <a:moveTo>
                  <a:pt x="0" y="0"/>
                </a:moveTo>
                <a:lnTo>
                  <a:pt x="5449716" y="0"/>
                </a:lnTo>
                <a:lnTo>
                  <a:pt x="5449716" y="5388655"/>
                </a:lnTo>
                <a:lnTo>
                  <a:pt x="0" y="5388655"/>
                </a:lnTo>
                <a:lnTo>
                  <a:pt x="0" y="0"/>
                </a:lnTo>
                <a:close/>
              </a:path>
            </a:pathLst>
          </a:custGeom>
          <a:blipFill>
            <a:blip r:embed="rId3"/>
            <a:stretch>
              <a:fillRect l="0" t="0" r="0" b="0"/>
            </a:stretch>
          </a:blipFill>
        </p:spPr>
      </p:sp>
      <p:sp>
        <p:nvSpPr>
          <p:cNvPr name="TextBox 7" id="7"/>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FLOWNODE - NODO DEL FLUJO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12515430" y="1585912"/>
            <a:ext cx="4339364" cy="2534876"/>
          </a:xfrm>
          <a:custGeom>
            <a:avLst/>
            <a:gdLst/>
            <a:ahLst/>
            <a:cxnLst/>
            <a:rect r="r" b="b" t="t" l="l"/>
            <a:pathLst>
              <a:path h="2534876" w="4339364">
                <a:moveTo>
                  <a:pt x="0" y="0"/>
                </a:moveTo>
                <a:lnTo>
                  <a:pt x="4339364" y="0"/>
                </a:lnTo>
                <a:lnTo>
                  <a:pt x="4339364" y="2534876"/>
                </a:lnTo>
                <a:lnTo>
                  <a:pt x="0" y="2534876"/>
                </a:lnTo>
                <a:lnTo>
                  <a:pt x="0" y="0"/>
                </a:lnTo>
                <a:close/>
              </a:path>
            </a:pathLst>
          </a:custGeom>
          <a:blipFill>
            <a:blip r:embed="rId2"/>
            <a:stretch>
              <a:fillRect l="0" t="0" r="0" b="0"/>
            </a:stretch>
          </a:blipFill>
        </p:spPr>
      </p:sp>
      <p:sp>
        <p:nvSpPr>
          <p:cNvPr name="TextBox 5" id="5"/>
          <p:cNvSpPr txBox="true"/>
          <p:nvPr/>
        </p:nvSpPr>
        <p:spPr>
          <a:xfrm rot="0">
            <a:off x="1028700" y="2525482"/>
            <a:ext cx="10476084" cy="63804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Dynamic Updating</a:t>
            </a:r>
          </a:p>
          <a:p>
            <a:pPr algn="just">
              <a:lnSpc>
                <a:spcPts val="4269"/>
              </a:lnSpc>
            </a:pPr>
            <a:r>
              <a:rPr lang="en-US" sz="3049">
                <a:solidFill>
                  <a:srgbClr val="2A2A2A"/>
                </a:solidFill>
                <a:latin typeface="Open Sans"/>
                <a:ea typeface="Open Sans"/>
                <a:cs typeface="Open Sans"/>
                <a:sym typeface="Open Sans"/>
              </a:rPr>
              <a:t>P</a:t>
            </a:r>
            <a:r>
              <a:rPr lang="en-US" sz="3049">
                <a:solidFill>
                  <a:srgbClr val="2A2A2A"/>
                </a:solidFill>
                <a:latin typeface="Open Sans"/>
                <a:ea typeface="Open Sans"/>
                <a:cs typeface="Open Sans"/>
                <a:sym typeface="Open Sans"/>
              </a:rPr>
              <a:t>ermite cambiar dinámicamente las propiedades del Flow Node durante la simulación.</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Si se</a:t>
            </a:r>
            <a:r>
              <a:rPr lang="en-US" sz="3049">
                <a:solidFill>
                  <a:srgbClr val="2A2A2A"/>
                </a:solidFill>
                <a:latin typeface="Open Sans"/>
                <a:ea typeface="Open Sans"/>
                <a:cs typeface="Open Sans"/>
                <a:sym typeface="Open Sans"/>
              </a:rPr>
              <a:t> habilita, las propiedades como la tasa de flujo o</a:t>
            </a:r>
            <a:r>
              <a:rPr lang="en-US" sz="3049">
                <a:solidFill>
                  <a:srgbClr val="2A2A2A"/>
                </a:solidFill>
                <a:latin typeface="Open Sans"/>
                <a:ea typeface="Open Sans"/>
                <a:cs typeface="Open Sans"/>
                <a:sym typeface="Open Sans"/>
              </a:rPr>
              <a:t> las reglas de control se pueden modificar en respuesta a eventos o condiciones definidas, haciendo que el Flow Node se adapte a situaciones cambiantes dentro del modelo.</a:t>
            </a:r>
          </a:p>
          <a:p>
            <a:pPr algn="just">
              <a:lnSpc>
                <a:spcPts val="4269"/>
              </a:lnSpc>
            </a:pPr>
            <a:r>
              <a:rPr lang="en-US" sz="3049">
                <a:solidFill>
                  <a:srgbClr val="2A2A2A"/>
                </a:solidFill>
                <a:latin typeface="Open Sans"/>
                <a:ea typeface="Open Sans"/>
                <a:cs typeface="Open Sans"/>
                <a:sym typeface="Open Sans"/>
              </a:rPr>
              <a:t>Add-On Process Triggers</a:t>
            </a:r>
          </a:p>
          <a:p>
            <a:pPr algn="just">
              <a:lnSpc>
                <a:spcPts val="4269"/>
              </a:lnSpc>
            </a:pPr>
            <a:r>
              <a:rPr lang="en-US" sz="3049">
                <a:solidFill>
                  <a:srgbClr val="2A2A2A"/>
                </a:solidFill>
                <a:latin typeface="Open Sans"/>
                <a:ea typeface="Open Sans"/>
                <a:cs typeface="Open Sans"/>
                <a:sym typeface="Open Sans"/>
              </a:rPr>
              <a:t>Permite definir procesos adicionales que se disparan cuando ocurre un evento específico dentro del nodo, como cuando el flujo entra, sale o se detiene.</a:t>
            </a:r>
          </a:p>
        </p:txBody>
      </p:sp>
      <p:sp>
        <p:nvSpPr>
          <p:cNvPr name="Freeform 6" id="6"/>
          <p:cNvSpPr/>
          <p:nvPr/>
        </p:nvSpPr>
        <p:spPr>
          <a:xfrm flipH="false" flipV="false" rot="0">
            <a:off x="11809584" y="4317408"/>
            <a:ext cx="5449716" cy="5388655"/>
          </a:xfrm>
          <a:custGeom>
            <a:avLst/>
            <a:gdLst/>
            <a:ahLst/>
            <a:cxnLst/>
            <a:rect r="r" b="b" t="t" l="l"/>
            <a:pathLst>
              <a:path h="5388655" w="5449716">
                <a:moveTo>
                  <a:pt x="0" y="0"/>
                </a:moveTo>
                <a:lnTo>
                  <a:pt x="5449716" y="0"/>
                </a:lnTo>
                <a:lnTo>
                  <a:pt x="5449716" y="5388655"/>
                </a:lnTo>
                <a:lnTo>
                  <a:pt x="0" y="5388655"/>
                </a:lnTo>
                <a:lnTo>
                  <a:pt x="0" y="0"/>
                </a:lnTo>
                <a:close/>
              </a:path>
            </a:pathLst>
          </a:custGeom>
          <a:blipFill>
            <a:blip r:embed="rId3"/>
            <a:stretch>
              <a:fillRect l="0" t="0" r="0" b="0"/>
            </a:stretch>
          </a:blipFill>
        </p:spPr>
      </p:sp>
      <p:sp>
        <p:nvSpPr>
          <p:cNvPr name="TextBox 7" id="7"/>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FLOWNODE - NODO DEL FLUJO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028700" y="1992082"/>
            <a:ext cx="10781634" cy="74472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Utilizado para modelar el almacenamiento y manejo de flujos continuos de material. </a:t>
            </a:r>
          </a:p>
          <a:p>
            <a:pPr algn="just">
              <a:lnSpc>
                <a:spcPts val="4269"/>
              </a:lnSpc>
            </a:pPr>
          </a:p>
          <a:p>
            <a:pPr algn="just">
              <a:lnSpc>
                <a:spcPts val="4269"/>
              </a:lnSpc>
            </a:pPr>
            <a:r>
              <a:rPr lang="en-US" sz="3049">
                <a:solidFill>
                  <a:srgbClr val="2A2A2A"/>
                </a:solidFill>
                <a:latin typeface="Open Sans"/>
                <a:ea typeface="Open Sans"/>
                <a:cs typeface="Open Sans"/>
                <a:sym typeface="Open Sans"/>
              </a:rPr>
              <a:t>Flow Storage Logic</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Capacity Un</a:t>
            </a:r>
            <a:r>
              <a:rPr lang="en-US" sz="3049">
                <a:solidFill>
                  <a:srgbClr val="2A2A2A"/>
                </a:solidFill>
                <a:latin typeface="Open Sans"/>
                <a:ea typeface="Open Sans"/>
                <a:cs typeface="Open Sans"/>
                <a:sym typeface="Open Sans"/>
              </a:rPr>
              <a:t>it Type:</a:t>
            </a:r>
            <a:r>
              <a:rPr lang="en-US" sz="3049">
                <a:solidFill>
                  <a:srgbClr val="2A2A2A"/>
                </a:solidFill>
                <a:latin typeface="Open Sans"/>
                <a:ea typeface="Open Sans"/>
                <a:cs typeface="Open Sans"/>
                <a:sym typeface="Open Sans"/>
              </a:rPr>
              <a:t> Indica el tipo de unidad que se utiliza para definir</a:t>
            </a:r>
            <a:r>
              <a:rPr lang="en-US" sz="3049">
                <a:solidFill>
                  <a:srgbClr val="2A2A2A"/>
                </a:solidFill>
                <a:latin typeface="Open Sans"/>
                <a:ea typeface="Open Sans"/>
                <a:cs typeface="Open Sans"/>
                <a:sym typeface="Open Sans"/>
              </a:rPr>
              <a:t> la capacidad del tanque.</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Volume Capacity: Especifica la capacidad inicial del tanque.</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Units: Define las unidades que se están utilizando para medir la capacidad de volumen.</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a:t>
            </a:r>
            <a:r>
              <a:rPr lang="en-US" sz="3049">
                <a:solidFill>
                  <a:srgbClr val="2A2A2A"/>
                </a:solidFill>
                <a:latin typeface="Open Sans"/>
                <a:ea typeface="Open Sans"/>
                <a:cs typeface="Open Sans"/>
                <a:sym typeface="Open Sans"/>
              </a:rPr>
              <a:t>nitial Contents: Muestra cuántas unidades de material hay en el tanque al inicio de la simulación.</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Auto Refill Mode: Determina si el tanque debe recargarse automáticamente o no. </a:t>
            </a:r>
          </a:p>
        </p:txBody>
      </p:sp>
      <p:sp>
        <p:nvSpPr>
          <p:cNvPr name="Freeform 5" id="5"/>
          <p:cNvSpPr/>
          <p:nvPr/>
        </p:nvSpPr>
        <p:spPr>
          <a:xfrm flipH="false" flipV="false" rot="0">
            <a:off x="13390598" y="251956"/>
            <a:ext cx="2589028" cy="2794256"/>
          </a:xfrm>
          <a:custGeom>
            <a:avLst/>
            <a:gdLst/>
            <a:ahLst/>
            <a:cxnLst/>
            <a:rect r="r" b="b" t="t" l="l"/>
            <a:pathLst>
              <a:path h="2794256" w="2589028">
                <a:moveTo>
                  <a:pt x="0" y="0"/>
                </a:moveTo>
                <a:lnTo>
                  <a:pt x="2589028" y="0"/>
                </a:lnTo>
                <a:lnTo>
                  <a:pt x="2589028" y="2794255"/>
                </a:lnTo>
                <a:lnTo>
                  <a:pt x="0" y="2794255"/>
                </a:lnTo>
                <a:lnTo>
                  <a:pt x="0" y="0"/>
                </a:lnTo>
                <a:close/>
              </a:path>
            </a:pathLst>
          </a:custGeom>
          <a:blipFill>
            <a:blip r:embed="rId2"/>
            <a:stretch>
              <a:fillRect l="0" t="0" r="0" b="0"/>
            </a:stretch>
          </a:blipFill>
        </p:spPr>
      </p:sp>
      <p:sp>
        <p:nvSpPr>
          <p:cNvPr name="Freeform 6" id="6"/>
          <p:cNvSpPr/>
          <p:nvPr/>
        </p:nvSpPr>
        <p:spPr>
          <a:xfrm flipH="false" flipV="false" rot="0">
            <a:off x="12096084" y="3046211"/>
            <a:ext cx="5178056" cy="6725612"/>
          </a:xfrm>
          <a:custGeom>
            <a:avLst/>
            <a:gdLst/>
            <a:ahLst/>
            <a:cxnLst/>
            <a:rect r="r" b="b" t="t" l="l"/>
            <a:pathLst>
              <a:path h="6725612" w="5178056">
                <a:moveTo>
                  <a:pt x="0" y="0"/>
                </a:moveTo>
                <a:lnTo>
                  <a:pt x="5178056" y="0"/>
                </a:lnTo>
                <a:lnTo>
                  <a:pt x="5178056" y="6725613"/>
                </a:lnTo>
                <a:lnTo>
                  <a:pt x="0" y="6725613"/>
                </a:lnTo>
                <a:lnTo>
                  <a:pt x="0" y="0"/>
                </a:lnTo>
                <a:close/>
              </a:path>
            </a:pathLst>
          </a:custGeom>
          <a:blipFill>
            <a:blip r:embed="rId3"/>
            <a:stretch>
              <a:fillRect l="0" t="0" r="0" b="-11618"/>
            </a:stretch>
          </a:blipFill>
        </p:spPr>
      </p:sp>
      <p:sp>
        <p:nvSpPr>
          <p:cNvPr name="TextBox 7" id="7"/>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TANK - TANQUE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028700" y="1458682"/>
            <a:ext cx="10197303" cy="85140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Tank Level Marks (Niveles de Marcas del Tanque)</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Low-Low Mark: Representa el nivel más bajo de material antes de que se considere que el tanque está críticamente vacío.</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Low Mark: Def</a:t>
            </a:r>
            <a:r>
              <a:rPr lang="en-US" sz="3049">
                <a:solidFill>
                  <a:srgbClr val="2A2A2A"/>
                </a:solidFill>
                <a:latin typeface="Open Sans"/>
                <a:ea typeface="Open Sans"/>
                <a:cs typeface="Open Sans"/>
                <a:sym typeface="Open Sans"/>
              </a:rPr>
              <a:t>ine el</a:t>
            </a:r>
            <a:r>
              <a:rPr lang="en-US" sz="3049">
                <a:solidFill>
                  <a:srgbClr val="2A2A2A"/>
                </a:solidFill>
                <a:latin typeface="Open Sans"/>
                <a:ea typeface="Open Sans"/>
                <a:cs typeface="Open Sans"/>
                <a:sym typeface="Open Sans"/>
              </a:rPr>
              <a:t> nivel bajo, dentro de la zona de advertencia.</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Mid Mark: Marca el nive</a:t>
            </a:r>
            <a:r>
              <a:rPr lang="en-US" sz="3049">
                <a:solidFill>
                  <a:srgbClr val="2A2A2A"/>
                </a:solidFill>
                <a:latin typeface="Open Sans"/>
                <a:ea typeface="Open Sans"/>
                <a:cs typeface="Open Sans"/>
                <a:sym typeface="Open Sans"/>
              </a:rPr>
              <a:t>l medio del tanque. Si el flujo llega a este nivel, puede indicar que el tanque está a la mitad de su capacidad. </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High Mark: Indica un nivel alto dentro del tanque. Lo defini como 1000 Liters, cuando el nivel de flujo lo alcance se activará un evento asociado a este nivel.</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H</a:t>
            </a:r>
            <a:r>
              <a:rPr lang="en-US" sz="3049">
                <a:solidFill>
                  <a:srgbClr val="2A2A2A"/>
                </a:solidFill>
                <a:latin typeface="Open Sans"/>
                <a:ea typeface="Open Sans"/>
                <a:cs typeface="Open Sans"/>
                <a:sym typeface="Open Sans"/>
              </a:rPr>
              <a:t>igh-High Mark: Marca un nivel críticamente alto. Si el tanque alcanza este nivel, es posible que se necesiten acciones inmediatas para evitar el desbordamiento.</a:t>
            </a:r>
          </a:p>
        </p:txBody>
      </p:sp>
      <p:sp>
        <p:nvSpPr>
          <p:cNvPr name="Freeform 5" id="5"/>
          <p:cNvSpPr/>
          <p:nvPr/>
        </p:nvSpPr>
        <p:spPr>
          <a:xfrm flipH="false" flipV="false" rot="0">
            <a:off x="11521781" y="1413633"/>
            <a:ext cx="5743257" cy="7459734"/>
          </a:xfrm>
          <a:custGeom>
            <a:avLst/>
            <a:gdLst/>
            <a:ahLst/>
            <a:cxnLst/>
            <a:rect r="r" b="b" t="t" l="l"/>
            <a:pathLst>
              <a:path h="7459734" w="5743257">
                <a:moveTo>
                  <a:pt x="0" y="0"/>
                </a:moveTo>
                <a:lnTo>
                  <a:pt x="5743257" y="0"/>
                </a:lnTo>
                <a:lnTo>
                  <a:pt x="5743257" y="7459734"/>
                </a:lnTo>
                <a:lnTo>
                  <a:pt x="0" y="7459734"/>
                </a:lnTo>
                <a:lnTo>
                  <a:pt x="0" y="0"/>
                </a:lnTo>
                <a:close/>
              </a:path>
            </a:pathLst>
          </a:custGeom>
          <a:blipFill>
            <a:blip r:embed="rId2"/>
            <a:stretch>
              <a:fillRect l="0" t="0" r="0" b="-11618"/>
            </a:stretch>
          </a:blipFill>
        </p:spPr>
      </p:sp>
      <p:sp>
        <p:nvSpPr>
          <p:cNvPr name="TextBox 6" id="6"/>
          <p:cNvSpPr txBox="true"/>
          <p:nvPr/>
        </p:nvSpPr>
        <p:spPr>
          <a:xfrm rot="0">
            <a:off x="1028700" y="481013"/>
            <a:ext cx="13656412"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TANK - TANQUE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028700" y="2258782"/>
            <a:ext cx="7733634" cy="69138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Flow Storage Logic</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Capacity Unit Type: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Indica el tipo de unidad para la capac</a:t>
            </a:r>
            <a:r>
              <a:rPr lang="en-US" sz="3049">
                <a:solidFill>
                  <a:srgbClr val="2A2A2A"/>
                </a:solidFill>
                <a:latin typeface="Open Sans"/>
                <a:ea typeface="Open Sans"/>
                <a:cs typeface="Open Sans"/>
                <a:sym typeface="Open Sans"/>
              </a:rPr>
              <a:t>i</a:t>
            </a:r>
            <a:r>
              <a:rPr lang="en-US" sz="3049">
                <a:solidFill>
                  <a:srgbClr val="2A2A2A"/>
                </a:solidFill>
                <a:latin typeface="Open Sans"/>
                <a:ea typeface="Open Sans"/>
                <a:cs typeface="Open Sans"/>
                <a:sym typeface="Open Sans"/>
              </a:rPr>
              <a:t>dad de almacena</a:t>
            </a:r>
            <a:r>
              <a:rPr lang="en-US" sz="3049">
                <a:solidFill>
                  <a:srgbClr val="2A2A2A"/>
                </a:solidFill>
                <a:latin typeface="Open Sans"/>
                <a:ea typeface="Open Sans"/>
                <a:cs typeface="Open Sans"/>
                <a:sym typeface="Open Sans"/>
              </a:rPr>
              <a:t>miento. </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Volume Capacity:</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Define la capacidad inicial de almacenamiento del contenedor.</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Units:</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Indica las unidades de medida para el volumen.</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Initial Contents:</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Muestra la cantidad de contenido que hay al inicio de la simulación.</a:t>
            </a:r>
          </a:p>
        </p:txBody>
      </p:sp>
      <p:sp>
        <p:nvSpPr>
          <p:cNvPr name="Freeform 5" id="5"/>
          <p:cNvSpPr/>
          <p:nvPr/>
        </p:nvSpPr>
        <p:spPr>
          <a:xfrm flipH="false" flipV="false" rot="0">
            <a:off x="11904934" y="313595"/>
            <a:ext cx="2513282" cy="3648725"/>
          </a:xfrm>
          <a:custGeom>
            <a:avLst/>
            <a:gdLst/>
            <a:ahLst/>
            <a:cxnLst/>
            <a:rect r="r" b="b" t="t" l="l"/>
            <a:pathLst>
              <a:path h="3648725" w="2513282">
                <a:moveTo>
                  <a:pt x="0" y="0"/>
                </a:moveTo>
                <a:lnTo>
                  <a:pt x="2513283" y="0"/>
                </a:lnTo>
                <a:lnTo>
                  <a:pt x="2513283" y="3648724"/>
                </a:lnTo>
                <a:lnTo>
                  <a:pt x="0" y="3648724"/>
                </a:lnTo>
                <a:lnTo>
                  <a:pt x="0" y="0"/>
                </a:lnTo>
                <a:close/>
              </a:path>
            </a:pathLst>
          </a:custGeom>
          <a:blipFill>
            <a:blip r:embed="rId2"/>
            <a:stretch>
              <a:fillRect l="0" t="0" r="0" b="0"/>
            </a:stretch>
          </a:blipFill>
        </p:spPr>
      </p:sp>
      <p:sp>
        <p:nvSpPr>
          <p:cNvPr name="Freeform 6" id="6"/>
          <p:cNvSpPr/>
          <p:nvPr/>
        </p:nvSpPr>
        <p:spPr>
          <a:xfrm flipH="false" flipV="false" rot="0">
            <a:off x="9970562" y="4201889"/>
            <a:ext cx="6382028" cy="5354536"/>
          </a:xfrm>
          <a:custGeom>
            <a:avLst/>
            <a:gdLst/>
            <a:ahLst/>
            <a:cxnLst/>
            <a:rect r="r" b="b" t="t" l="l"/>
            <a:pathLst>
              <a:path h="5354536" w="6382028">
                <a:moveTo>
                  <a:pt x="0" y="0"/>
                </a:moveTo>
                <a:lnTo>
                  <a:pt x="6382028" y="0"/>
                </a:lnTo>
                <a:lnTo>
                  <a:pt x="6382028" y="5354536"/>
                </a:lnTo>
                <a:lnTo>
                  <a:pt x="0" y="5354536"/>
                </a:lnTo>
                <a:lnTo>
                  <a:pt x="0" y="0"/>
                </a:lnTo>
                <a:close/>
              </a:path>
            </a:pathLst>
          </a:custGeom>
          <a:blipFill>
            <a:blip r:embed="rId3"/>
            <a:stretch>
              <a:fillRect l="0" t="0" r="0" b="0"/>
            </a:stretch>
          </a:blipFill>
        </p:spPr>
      </p:sp>
      <p:sp>
        <p:nvSpPr>
          <p:cNvPr name="TextBox 7" id="7"/>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CONTAINERENTITY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11064823" y="3709810"/>
            <a:ext cx="6194477" cy="6072542"/>
          </a:xfrm>
          <a:custGeom>
            <a:avLst/>
            <a:gdLst/>
            <a:ahLst/>
            <a:cxnLst/>
            <a:rect r="r" b="b" t="t" l="l"/>
            <a:pathLst>
              <a:path h="6072542" w="6194477">
                <a:moveTo>
                  <a:pt x="0" y="0"/>
                </a:moveTo>
                <a:lnTo>
                  <a:pt x="6194477" y="0"/>
                </a:lnTo>
                <a:lnTo>
                  <a:pt x="6194477" y="6072542"/>
                </a:lnTo>
                <a:lnTo>
                  <a:pt x="0" y="6072542"/>
                </a:lnTo>
                <a:lnTo>
                  <a:pt x="0" y="0"/>
                </a:lnTo>
                <a:close/>
              </a:path>
            </a:pathLst>
          </a:custGeom>
          <a:blipFill>
            <a:blip r:embed="rId2"/>
            <a:stretch>
              <a:fillRect l="-1254" t="0" r="0" b="-15072"/>
            </a:stretch>
          </a:blipFill>
        </p:spPr>
      </p:sp>
      <p:sp>
        <p:nvSpPr>
          <p:cNvPr name="Freeform 5" id="5"/>
          <p:cNvSpPr/>
          <p:nvPr/>
        </p:nvSpPr>
        <p:spPr>
          <a:xfrm flipH="false" flipV="false" rot="0">
            <a:off x="11720427" y="606658"/>
            <a:ext cx="4883270" cy="2967265"/>
          </a:xfrm>
          <a:custGeom>
            <a:avLst/>
            <a:gdLst/>
            <a:ahLst/>
            <a:cxnLst/>
            <a:rect r="r" b="b" t="t" l="l"/>
            <a:pathLst>
              <a:path h="2967265" w="4883270">
                <a:moveTo>
                  <a:pt x="0" y="0"/>
                </a:moveTo>
                <a:lnTo>
                  <a:pt x="4883269" y="0"/>
                </a:lnTo>
                <a:lnTo>
                  <a:pt x="4883269" y="2967265"/>
                </a:lnTo>
                <a:lnTo>
                  <a:pt x="0" y="2967265"/>
                </a:lnTo>
                <a:lnTo>
                  <a:pt x="0" y="0"/>
                </a:lnTo>
                <a:close/>
              </a:path>
            </a:pathLst>
          </a:custGeom>
          <a:blipFill>
            <a:blip r:embed="rId3"/>
            <a:stretch>
              <a:fillRect l="0" t="0" r="0" b="0"/>
            </a:stretch>
          </a:blipFill>
        </p:spPr>
      </p:sp>
      <p:sp>
        <p:nvSpPr>
          <p:cNvPr name="TextBox 6" id="6"/>
          <p:cNvSpPr txBox="true"/>
          <p:nvPr/>
        </p:nvSpPr>
        <p:spPr>
          <a:xfrm rot="0">
            <a:off x="1028700" y="1458682"/>
            <a:ext cx="9731323" cy="85140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Process Logic</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Capacity Type: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Indica el tipo de capac</a:t>
            </a:r>
            <a:r>
              <a:rPr lang="en-US" sz="3049">
                <a:solidFill>
                  <a:srgbClr val="2A2A2A"/>
                </a:solidFill>
                <a:latin typeface="Open Sans"/>
                <a:ea typeface="Open Sans"/>
                <a:cs typeface="Open Sans"/>
                <a:sym typeface="Open Sans"/>
              </a:rPr>
              <a:t>i</a:t>
            </a:r>
            <a:r>
              <a:rPr lang="en-US" sz="3049">
                <a:solidFill>
                  <a:srgbClr val="2A2A2A"/>
                </a:solidFill>
                <a:latin typeface="Open Sans"/>
                <a:ea typeface="Open Sans"/>
                <a:cs typeface="Open Sans"/>
                <a:sym typeface="Open Sans"/>
              </a:rPr>
              <a:t>dad utilizada por el F</a:t>
            </a:r>
            <a:r>
              <a:rPr lang="en-US" sz="3049">
                <a:solidFill>
                  <a:srgbClr val="2A2A2A"/>
                </a:solidFill>
                <a:latin typeface="Open Sans"/>
                <a:ea typeface="Open Sans"/>
                <a:cs typeface="Open Sans"/>
                <a:sym typeface="Open Sans"/>
              </a:rPr>
              <a:t>iller.</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Ra</a:t>
            </a:r>
            <a:r>
              <a:rPr lang="en-US" sz="3049">
                <a:solidFill>
                  <a:srgbClr val="2A2A2A"/>
                </a:solidFill>
                <a:latin typeface="Open Sans"/>
                <a:ea typeface="Open Sans"/>
                <a:cs typeface="Open Sans"/>
                <a:sym typeface="Open Sans"/>
              </a:rPr>
              <a:t>nking Rule: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Define la regla de clasificación para determinar en qué orden se procesarán las entidades que lleguen. </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Dy</a:t>
            </a:r>
            <a:r>
              <a:rPr lang="en-US" sz="3049">
                <a:solidFill>
                  <a:srgbClr val="2A2A2A"/>
                </a:solidFill>
                <a:latin typeface="Open Sans"/>
                <a:ea typeface="Open Sans"/>
                <a:cs typeface="Open Sans"/>
                <a:sym typeface="Open Sans"/>
              </a:rPr>
              <a:t>namic Selection Rule: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Indica si se debe usar alguna regla dinámica para seleccionar las entidades o flujos para el procesamiento.</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Transfer-</a:t>
            </a:r>
            <a:r>
              <a:rPr lang="en-US" sz="3049">
                <a:solidFill>
                  <a:srgbClr val="2A2A2A"/>
                </a:solidFill>
                <a:latin typeface="Open Sans"/>
                <a:ea typeface="Open Sans"/>
                <a:cs typeface="Open Sans"/>
                <a:sym typeface="Open Sans"/>
              </a:rPr>
              <a:t>In Time: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Especifica el tiempo que tarda una entidad en ser transferida desde una ubicación anterior al Filler.</a:t>
            </a:r>
          </a:p>
        </p:txBody>
      </p:sp>
      <p:sp>
        <p:nvSpPr>
          <p:cNvPr name="TextBox 7" id="7"/>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FILLER - RELLENADOR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560817"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Freeform 4" id="4"/>
          <p:cNvSpPr/>
          <p:nvPr/>
        </p:nvSpPr>
        <p:spPr>
          <a:xfrm flipH="false" flipV="false" rot="0">
            <a:off x="9929309" y="1901767"/>
            <a:ext cx="7329991" cy="7185704"/>
          </a:xfrm>
          <a:custGeom>
            <a:avLst/>
            <a:gdLst/>
            <a:ahLst/>
            <a:cxnLst/>
            <a:rect r="r" b="b" t="t" l="l"/>
            <a:pathLst>
              <a:path h="7185704" w="7329991">
                <a:moveTo>
                  <a:pt x="0" y="0"/>
                </a:moveTo>
                <a:lnTo>
                  <a:pt x="7329991" y="0"/>
                </a:lnTo>
                <a:lnTo>
                  <a:pt x="7329991" y="7185704"/>
                </a:lnTo>
                <a:lnTo>
                  <a:pt x="0" y="7185704"/>
                </a:lnTo>
                <a:lnTo>
                  <a:pt x="0" y="0"/>
                </a:lnTo>
                <a:close/>
              </a:path>
            </a:pathLst>
          </a:custGeom>
          <a:blipFill>
            <a:blip r:embed="rId2"/>
            <a:stretch>
              <a:fillRect l="-1254" t="0" r="0" b="-15072"/>
            </a:stretch>
          </a:blipFill>
        </p:spPr>
      </p:sp>
      <p:sp>
        <p:nvSpPr>
          <p:cNvPr name="TextBox 5" id="5"/>
          <p:cNvSpPr txBox="true"/>
          <p:nvPr/>
        </p:nvSpPr>
        <p:spPr>
          <a:xfrm rot="0">
            <a:off x="1028700" y="2127110"/>
            <a:ext cx="7725644" cy="5313681"/>
          </a:xfrm>
          <a:prstGeom prst="rect">
            <a:avLst/>
          </a:prstGeom>
        </p:spPr>
        <p:txBody>
          <a:bodyPr anchor="t" rtlCol="false" tIns="0" lIns="0" bIns="0" rIns="0">
            <a:spAutoFit/>
          </a:bodyPr>
          <a:lstStyle/>
          <a:p>
            <a:pPr algn="just">
              <a:lnSpc>
                <a:spcPts val="4269"/>
              </a:lnSpc>
            </a:pPr>
            <a:r>
              <a:rPr lang="en-US" sz="3049">
                <a:solidFill>
                  <a:srgbClr val="2A2A2A"/>
                </a:solidFill>
                <a:latin typeface="Open Sans"/>
                <a:ea typeface="Open Sans"/>
                <a:cs typeface="Open Sans"/>
                <a:sym typeface="Open Sans"/>
              </a:rPr>
              <a:t>Process Logic</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Fill Target Type: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Def</a:t>
            </a:r>
            <a:r>
              <a:rPr lang="en-US" sz="3049">
                <a:solidFill>
                  <a:srgbClr val="2A2A2A"/>
                </a:solidFill>
                <a:latin typeface="Open Sans"/>
                <a:ea typeface="Open Sans"/>
                <a:cs typeface="Open Sans"/>
                <a:sym typeface="Open Sans"/>
              </a:rPr>
              <a:t>ine cómo se llena el F</a:t>
            </a:r>
            <a:r>
              <a:rPr lang="en-US" sz="3049">
                <a:solidFill>
                  <a:srgbClr val="2A2A2A"/>
                </a:solidFill>
                <a:latin typeface="Open Sans"/>
                <a:ea typeface="Open Sans"/>
                <a:cs typeface="Open Sans"/>
                <a:sym typeface="Open Sans"/>
              </a:rPr>
              <a:t>iller.</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Stop Ear</a:t>
            </a:r>
            <a:r>
              <a:rPr lang="en-US" sz="3049">
                <a:solidFill>
                  <a:srgbClr val="2A2A2A"/>
                </a:solidFill>
                <a:latin typeface="Open Sans"/>
                <a:ea typeface="Open Sans"/>
                <a:cs typeface="Open Sans"/>
                <a:sym typeface="Open Sans"/>
              </a:rPr>
              <a:t>ly Triggers:</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Indica cuántas filas de condiciones de parada temprana están configuradas para el Filler.</a:t>
            </a:r>
          </a:p>
          <a:p>
            <a:pPr algn="just" marL="658491" indent="-329245" lvl="1">
              <a:lnSpc>
                <a:spcPts val="4269"/>
              </a:lnSpc>
              <a:buFont typeface="Arial"/>
              <a:buChar char="•"/>
            </a:pPr>
            <a:r>
              <a:rPr lang="en-US" sz="3049">
                <a:solidFill>
                  <a:srgbClr val="2A2A2A"/>
                </a:solidFill>
                <a:latin typeface="Open Sans"/>
                <a:ea typeface="Open Sans"/>
                <a:cs typeface="Open Sans"/>
                <a:sym typeface="Open Sans"/>
              </a:rPr>
              <a:t>Off</a:t>
            </a:r>
            <a:r>
              <a:rPr lang="en-US" sz="3049">
                <a:solidFill>
                  <a:srgbClr val="2A2A2A"/>
                </a:solidFill>
                <a:latin typeface="Open Sans"/>
                <a:ea typeface="Open Sans"/>
                <a:cs typeface="Open Sans"/>
                <a:sym typeface="Open Sans"/>
              </a:rPr>
              <a:t> Shift Rule:</a:t>
            </a:r>
          </a:p>
          <a:p>
            <a:pPr algn="just" marL="1316981" indent="-438994" lvl="2">
              <a:lnSpc>
                <a:spcPts val="4269"/>
              </a:lnSpc>
              <a:buFont typeface="Arial"/>
              <a:buChar char="⚬"/>
            </a:pPr>
            <a:r>
              <a:rPr lang="en-US" sz="3049">
                <a:solidFill>
                  <a:srgbClr val="2A2A2A"/>
                </a:solidFill>
                <a:latin typeface="Open Sans"/>
                <a:ea typeface="Open Sans"/>
                <a:cs typeface="Open Sans"/>
                <a:sym typeface="Open Sans"/>
              </a:rPr>
              <a:t>D</a:t>
            </a:r>
            <a:r>
              <a:rPr lang="en-US" sz="3049">
                <a:solidFill>
                  <a:srgbClr val="2A2A2A"/>
                </a:solidFill>
                <a:latin typeface="Open Sans"/>
                <a:ea typeface="Open Sans"/>
                <a:cs typeface="Open Sans"/>
                <a:sym typeface="Open Sans"/>
              </a:rPr>
              <a:t>efine el comportamiento del Filler cuando está fuera de turno.</a:t>
            </a:r>
          </a:p>
        </p:txBody>
      </p:sp>
      <p:sp>
        <p:nvSpPr>
          <p:cNvPr name="TextBox 6" id="6"/>
          <p:cNvSpPr txBox="true"/>
          <p:nvPr/>
        </p:nvSpPr>
        <p:spPr>
          <a:xfrm rot="0">
            <a:off x="1028700" y="481013"/>
            <a:ext cx="16230600" cy="1104900"/>
          </a:xfrm>
          <a:prstGeom prst="rect">
            <a:avLst/>
          </a:prstGeom>
        </p:spPr>
        <p:txBody>
          <a:bodyPr anchor="t" rtlCol="false" tIns="0" lIns="0" bIns="0" rIns="0">
            <a:spAutoFit/>
          </a:bodyPr>
          <a:lstStyle/>
          <a:p>
            <a:pPr algn="l">
              <a:lnSpc>
                <a:spcPts val="8790"/>
              </a:lnSpc>
            </a:pPr>
            <a:r>
              <a:rPr lang="en-US" sz="7325">
                <a:solidFill>
                  <a:srgbClr val="2A2A2A"/>
                </a:solidFill>
                <a:latin typeface="Open Sans"/>
                <a:ea typeface="Open Sans"/>
                <a:cs typeface="Open Sans"/>
                <a:sym typeface="Open Sans"/>
              </a:rPr>
              <a:t>FILLER - RELLENADOR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A1EFB2"/>
        </a:solidFill>
      </p:bgPr>
    </p:bg>
    <p:spTree>
      <p:nvGrpSpPr>
        <p:cNvPr id="1" name=""/>
        <p:cNvGrpSpPr/>
        <p:nvPr/>
      </p:nvGrpSpPr>
      <p:grpSpPr>
        <a:xfrm>
          <a:off x="0" y="0"/>
          <a:ext cx="0" cy="0"/>
          <a:chOff x="0" y="0"/>
          <a:chExt cx="0" cy="0"/>
        </a:xfrm>
      </p:grpSpPr>
      <p:sp>
        <p:nvSpPr>
          <p:cNvPr name="TextBox 2" id="2"/>
          <p:cNvSpPr txBox="true"/>
          <p:nvPr/>
        </p:nvSpPr>
        <p:spPr>
          <a:xfrm rot="0">
            <a:off x="2415886" y="4548154"/>
            <a:ext cx="7010767" cy="1533525"/>
          </a:xfrm>
          <a:prstGeom prst="rect">
            <a:avLst/>
          </a:prstGeom>
        </p:spPr>
        <p:txBody>
          <a:bodyPr anchor="t" rtlCol="false" tIns="0" lIns="0" bIns="0" rIns="0">
            <a:spAutoFit/>
          </a:bodyPr>
          <a:lstStyle/>
          <a:p>
            <a:pPr algn="l">
              <a:lnSpc>
                <a:spcPts val="12000"/>
              </a:lnSpc>
            </a:pPr>
            <a:r>
              <a:rPr lang="en-US" sz="10000">
                <a:solidFill>
                  <a:srgbClr val="2A2A2A"/>
                </a:solidFill>
                <a:latin typeface="Open Sans"/>
                <a:ea typeface="Open Sans"/>
                <a:cs typeface="Open Sans"/>
                <a:sym typeface="Open Sans"/>
              </a:rPr>
              <a:t>Ejemplo !</a:t>
            </a:r>
          </a:p>
        </p:txBody>
      </p:sp>
      <p:sp>
        <p:nvSpPr>
          <p:cNvPr name="Freeform 3" id="3"/>
          <p:cNvSpPr/>
          <p:nvPr/>
        </p:nvSpPr>
        <p:spPr>
          <a:xfrm flipH="false" flipV="false" rot="0">
            <a:off x="10282646" y="0"/>
            <a:ext cx="8005354" cy="10287000"/>
          </a:xfrm>
          <a:custGeom>
            <a:avLst/>
            <a:gdLst/>
            <a:ahLst/>
            <a:cxnLst/>
            <a:rect r="r" b="b" t="t" l="l"/>
            <a:pathLst>
              <a:path h="10287000" w="8005354">
                <a:moveTo>
                  <a:pt x="0" y="0"/>
                </a:moveTo>
                <a:lnTo>
                  <a:pt x="8005354" y="0"/>
                </a:lnTo>
                <a:lnTo>
                  <a:pt x="8005354" y="10287000"/>
                </a:lnTo>
                <a:lnTo>
                  <a:pt x="0" y="10287000"/>
                </a:lnTo>
                <a:lnTo>
                  <a:pt x="0" y="0"/>
                </a:lnTo>
                <a:close/>
              </a:path>
            </a:pathLst>
          </a:custGeom>
          <a:blipFill>
            <a:blip r:embed="rId2"/>
            <a:stretch>
              <a:fillRect l="0" t="-8365" r="0" b="-8365"/>
            </a:stretch>
          </a:blipFill>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7604042"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324649" y="2295854"/>
            <a:ext cx="15638701" cy="6078930"/>
          </a:xfrm>
          <a:prstGeom prst="rect">
            <a:avLst/>
          </a:prstGeom>
        </p:spPr>
        <p:txBody>
          <a:bodyPr anchor="t" rtlCol="false" tIns="0" lIns="0" bIns="0" rIns="0">
            <a:spAutoFit/>
          </a:bodyPr>
          <a:lstStyle/>
          <a:p>
            <a:pPr algn="just">
              <a:lnSpc>
                <a:spcPts val="4072"/>
              </a:lnSpc>
            </a:pPr>
            <a:r>
              <a:rPr lang="en-US" sz="2909">
                <a:solidFill>
                  <a:srgbClr val="2A2A2A"/>
                </a:solidFill>
                <a:latin typeface="Open Sans"/>
                <a:ea typeface="Open Sans"/>
                <a:cs typeface="Open Sans"/>
                <a:sym typeface="Open Sans"/>
              </a:rPr>
              <a:t>En la embotelladora “Pura Agua”, tienen 3 tipos de botellas, las cuales son pequeña, mediana y grande donde les caben 250ml, 500ml y 1L respectivamente y se sabe que las tasas de llegada son exponenciales y es de 0.25, 0.5 y 1 respectivamente, se tiene en cuenta que cada 24 horas salen 5000L de gaseosa para ser almacenada en un tanque con capacidad de 3000L, se espera hasta que llegue a 1500L el tanque para comenzar a llenar las botellas, una vez se llenan las botellas proceden a salir del sistema.</a:t>
            </a:r>
          </a:p>
          <a:p>
            <a:pPr algn="just">
              <a:lnSpc>
                <a:spcPts val="4072"/>
              </a:lnSpc>
            </a:pPr>
            <a:r>
              <a:rPr lang="en-US" sz="2909">
                <a:solidFill>
                  <a:srgbClr val="2A2A2A"/>
                </a:solidFill>
                <a:latin typeface="Open Sans"/>
                <a:ea typeface="Open Sans"/>
                <a:cs typeface="Open Sans"/>
                <a:sym typeface="Open Sans"/>
              </a:rPr>
              <a:t>Tomar en cuenta que los caudales son de 1L/s.</a:t>
            </a:r>
          </a:p>
          <a:p>
            <a:pPr algn="just">
              <a:lnSpc>
                <a:spcPts val="4072"/>
              </a:lnSpc>
            </a:pPr>
          </a:p>
          <a:p>
            <a:pPr algn="just">
              <a:lnSpc>
                <a:spcPts val="4072"/>
              </a:lnSpc>
            </a:pPr>
            <a:r>
              <a:rPr lang="en-US" sz="2909">
                <a:solidFill>
                  <a:srgbClr val="2A2A2A"/>
                </a:solidFill>
                <a:latin typeface="Open Sans"/>
                <a:ea typeface="Open Sans"/>
                <a:cs typeface="Open Sans"/>
                <a:sym typeface="Open Sans"/>
              </a:rPr>
              <a:t>Se le solicita que muestre cuanto liquido hay en el tanque.</a:t>
            </a:r>
          </a:p>
          <a:p>
            <a:pPr algn="just">
              <a:lnSpc>
                <a:spcPts val="4072"/>
              </a:lnSpc>
            </a:pPr>
            <a:r>
              <a:rPr lang="en-US" sz="2909">
                <a:solidFill>
                  <a:srgbClr val="2A2A2A"/>
                </a:solidFill>
                <a:latin typeface="Open Sans"/>
                <a:ea typeface="Open Sans"/>
                <a:cs typeface="Open Sans"/>
                <a:sym typeface="Open Sans"/>
              </a:rPr>
              <a:t>Muestre un conteo de las botellas que han salido del sistema. </a:t>
            </a:r>
          </a:p>
          <a:p>
            <a:pPr algn="just">
              <a:lnSpc>
                <a:spcPts val="4072"/>
              </a:lnSpc>
            </a:pPr>
            <a:r>
              <a:rPr lang="en-US" sz="2909">
                <a:solidFill>
                  <a:srgbClr val="2A2A2A"/>
                </a:solidFill>
                <a:latin typeface="Open Sans"/>
                <a:ea typeface="Open Sans"/>
                <a:cs typeface="Open Sans"/>
                <a:sym typeface="Open Sans"/>
              </a:rPr>
              <a:t>Responda, cree que es necesario aumentar o disminuir la cantidad de gaseosa producida? Cuantas botellas han salido del sistema</a:t>
            </a:r>
          </a:p>
        </p:txBody>
      </p:sp>
      <p:sp>
        <p:nvSpPr>
          <p:cNvPr name="TextBox 5" id="5"/>
          <p:cNvSpPr txBox="true"/>
          <p:nvPr/>
        </p:nvSpPr>
        <p:spPr>
          <a:xfrm rot="0">
            <a:off x="1028700" y="1038225"/>
            <a:ext cx="16230600" cy="1104900"/>
          </a:xfrm>
          <a:prstGeom prst="rect">
            <a:avLst/>
          </a:prstGeom>
        </p:spPr>
        <p:txBody>
          <a:bodyPr anchor="t" rtlCol="false" tIns="0" lIns="0" bIns="0" rIns="0">
            <a:spAutoFit/>
          </a:bodyPr>
          <a:lstStyle/>
          <a:p>
            <a:pPr algn="ctr">
              <a:lnSpc>
                <a:spcPts val="8790"/>
              </a:lnSpc>
            </a:pPr>
            <a:r>
              <a:rPr lang="en-US" sz="7325">
                <a:solidFill>
                  <a:srgbClr val="2A2A2A"/>
                </a:solidFill>
                <a:latin typeface="Open Sans"/>
                <a:ea typeface="Open Sans"/>
                <a:cs typeface="Open Sans"/>
                <a:sym typeface="Open Sans"/>
              </a:rPr>
              <a:t>EJEMPLO</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7604042" y="0"/>
            <a:ext cx="6896061" cy="10287000"/>
          </a:xfrm>
          <a:prstGeom prst="rect">
            <a:avLst/>
          </a:prstGeom>
          <a:solidFill>
            <a:srgbClr val="399D4E"/>
          </a:solidFill>
        </p:spPr>
      </p:sp>
      <p:sp>
        <p:nvSpPr>
          <p:cNvPr name="AutoShape 3" id="3"/>
          <p:cNvSpPr/>
          <p:nvPr/>
        </p:nvSpPr>
        <p:spPr>
          <a:xfrm rot="0">
            <a:off x="-30423480" y="0"/>
            <a:ext cx="31177040" cy="10287000"/>
          </a:xfrm>
          <a:prstGeom prst="rect">
            <a:avLst/>
          </a:prstGeom>
          <a:solidFill>
            <a:srgbClr val="399D4E"/>
          </a:solidFill>
        </p:spPr>
      </p:sp>
      <p:sp>
        <p:nvSpPr>
          <p:cNvPr name="TextBox 4" id="4"/>
          <p:cNvSpPr txBox="true"/>
          <p:nvPr/>
        </p:nvSpPr>
        <p:spPr>
          <a:xfrm rot="0">
            <a:off x="1324649" y="2373119"/>
            <a:ext cx="15638701" cy="6587697"/>
          </a:xfrm>
          <a:prstGeom prst="rect">
            <a:avLst/>
          </a:prstGeom>
        </p:spPr>
        <p:txBody>
          <a:bodyPr anchor="t" rtlCol="false" tIns="0" lIns="0" bIns="0" rIns="0">
            <a:spAutoFit/>
          </a:bodyPr>
          <a:lstStyle/>
          <a:p>
            <a:pPr algn="just">
              <a:lnSpc>
                <a:spcPts val="4072"/>
              </a:lnSpc>
            </a:pPr>
            <a:r>
              <a:rPr lang="en-US" sz="2909">
                <a:solidFill>
                  <a:srgbClr val="2A2A2A"/>
                </a:solidFill>
                <a:latin typeface="Open Sans"/>
                <a:ea typeface="Open Sans"/>
                <a:cs typeface="Open Sans"/>
                <a:sym typeface="Open Sans"/>
              </a:rPr>
              <a:t>En la embotelladora “Agua Quemante”, tienen 2 tipos de botellas, las cuales tienen capacidad de 1/8L y 1L respectivamente y se sabe que las tasas de llegada son exponenciales y es de 0.25 y 0.5 respectivamente, se tiene en cuenta que cada 24 horas salen 4000L de agua que quema para ser almacenada en 2 tanques con capacidad de 1000L y 2000L, se deja a su discrecion la marca de altura para abrir la llave, una vez se llenan las botellas proceden a salir del sistema.</a:t>
            </a:r>
          </a:p>
          <a:p>
            <a:pPr algn="just">
              <a:lnSpc>
                <a:spcPts val="4072"/>
              </a:lnSpc>
            </a:pPr>
          </a:p>
          <a:p>
            <a:pPr algn="just">
              <a:lnSpc>
                <a:spcPts val="4072"/>
              </a:lnSpc>
            </a:pPr>
            <a:r>
              <a:rPr lang="en-US" sz="2909">
                <a:solidFill>
                  <a:srgbClr val="2A2A2A"/>
                </a:solidFill>
                <a:latin typeface="Open Sans"/>
                <a:ea typeface="Open Sans"/>
                <a:cs typeface="Open Sans"/>
                <a:sym typeface="Open Sans"/>
              </a:rPr>
              <a:t>Tomar en cuenta que los caudales son de 2L/s.</a:t>
            </a:r>
          </a:p>
          <a:p>
            <a:pPr algn="just">
              <a:lnSpc>
                <a:spcPts val="4072"/>
              </a:lnSpc>
            </a:pPr>
            <a:r>
              <a:rPr lang="en-US" sz="2909">
                <a:solidFill>
                  <a:srgbClr val="2A2A2A"/>
                </a:solidFill>
                <a:latin typeface="Open Sans"/>
                <a:ea typeface="Open Sans"/>
                <a:cs typeface="Open Sans"/>
                <a:sym typeface="Open Sans"/>
              </a:rPr>
              <a:t>Se le solicita que muestre cuanto liquido hay en el tanque.</a:t>
            </a:r>
          </a:p>
          <a:p>
            <a:pPr algn="just">
              <a:lnSpc>
                <a:spcPts val="4072"/>
              </a:lnSpc>
            </a:pPr>
            <a:r>
              <a:rPr lang="en-US" sz="2909">
                <a:solidFill>
                  <a:srgbClr val="2A2A2A"/>
                </a:solidFill>
                <a:latin typeface="Open Sans"/>
                <a:ea typeface="Open Sans"/>
                <a:cs typeface="Open Sans"/>
                <a:sym typeface="Open Sans"/>
              </a:rPr>
              <a:t>Muestre un conteo de las botellas que han salido del sistema. </a:t>
            </a:r>
          </a:p>
          <a:p>
            <a:pPr algn="just">
              <a:lnSpc>
                <a:spcPts val="4072"/>
              </a:lnSpc>
            </a:pPr>
            <a:r>
              <a:rPr lang="en-US" sz="2909">
                <a:solidFill>
                  <a:srgbClr val="2A2A2A"/>
                </a:solidFill>
                <a:latin typeface="Open Sans"/>
                <a:ea typeface="Open Sans"/>
                <a:cs typeface="Open Sans"/>
                <a:sym typeface="Open Sans"/>
              </a:rPr>
              <a:t>Responda, cree que es necesario aumentar o disminuir la cantidad de agua producida? Cuantas botellas han salido del sistema</a:t>
            </a:r>
          </a:p>
          <a:p>
            <a:pPr algn="just">
              <a:lnSpc>
                <a:spcPts val="4072"/>
              </a:lnSpc>
            </a:pPr>
          </a:p>
        </p:txBody>
      </p:sp>
      <p:sp>
        <p:nvSpPr>
          <p:cNvPr name="TextBox 5" id="5"/>
          <p:cNvSpPr txBox="true"/>
          <p:nvPr/>
        </p:nvSpPr>
        <p:spPr>
          <a:xfrm rot="0">
            <a:off x="1028700" y="1038225"/>
            <a:ext cx="16230600" cy="1104900"/>
          </a:xfrm>
          <a:prstGeom prst="rect">
            <a:avLst/>
          </a:prstGeom>
        </p:spPr>
        <p:txBody>
          <a:bodyPr anchor="t" rtlCol="false" tIns="0" lIns="0" bIns="0" rIns="0">
            <a:spAutoFit/>
          </a:bodyPr>
          <a:lstStyle/>
          <a:p>
            <a:pPr algn="ctr">
              <a:lnSpc>
                <a:spcPts val="8790"/>
              </a:lnSpc>
            </a:pPr>
            <a:r>
              <a:rPr lang="en-US" sz="7325">
                <a:solidFill>
                  <a:srgbClr val="2A2A2A"/>
                </a:solidFill>
                <a:latin typeface="Open Sans"/>
                <a:ea typeface="Open Sans"/>
                <a:cs typeface="Open Sans"/>
                <a:sym typeface="Open Sans"/>
              </a:rPr>
              <a:t>EJEMPLO</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A1EFB2"/>
        </a:solidFill>
      </p:bgPr>
    </p:bg>
    <p:spTree>
      <p:nvGrpSpPr>
        <p:cNvPr id="1" name=""/>
        <p:cNvGrpSpPr/>
        <p:nvPr/>
      </p:nvGrpSpPr>
      <p:grpSpPr>
        <a:xfrm>
          <a:off x="0" y="0"/>
          <a:ext cx="0" cy="0"/>
          <a:chOff x="0" y="0"/>
          <a:chExt cx="0" cy="0"/>
        </a:xfrm>
      </p:grpSpPr>
      <p:sp>
        <p:nvSpPr>
          <p:cNvPr name="TextBox 2" id="2"/>
          <p:cNvSpPr txBox="true"/>
          <p:nvPr/>
        </p:nvSpPr>
        <p:spPr>
          <a:xfrm rot="0">
            <a:off x="1028700" y="1143153"/>
            <a:ext cx="7010767" cy="1762125"/>
          </a:xfrm>
          <a:prstGeom prst="rect">
            <a:avLst/>
          </a:prstGeom>
        </p:spPr>
        <p:txBody>
          <a:bodyPr anchor="t" rtlCol="false" tIns="0" lIns="0" bIns="0" rIns="0">
            <a:spAutoFit/>
          </a:bodyPr>
          <a:lstStyle/>
          <a:p>
            <a:pPr algn="ctr">
              <a:lnSpc>
                <a:spcPts val="6959"/>
              </a:lnSpc>
            </a:pPr>
            <a:r>
              <a:rPr lang="en-US" sz="5799">
                <a:solidFill>
                  <a:srgbClr val="2A2A2A"/>
                </a:solidFill>
                <a:latin typeface="Open Sans"/>
                <a:ea typeface="Open Sans"/>
                <a:cs typeface="Open Sans"/>
                <a:sym typeface="Open Sans"/>
              </a:rPr>
              <a:t>Conceptos clave aprendidos</a:t>
            </a:r>
          </a:p>
        </p:txBody>
      </p:sp>
      <p:sp>
        <p:nvSpPr>
          <p:cNvPr name="Freeform 3" id="3"/>
          <p:cNvSpPr/>
          <p:nvPr/>
        </p:nvSpPr>
        <p:spPr>
          <a:xfrm flipH="false" flipV="false" rot="0">
            <a:off x="10282646" y="0"/>
            <a:ext cx="8005354" cy="10287000"/>
          </a:xfrm>
          <a:custGeom>
            <a:avLst/>
            <a:gdLst/>
            <a:ahLst/>
            <a:cxnLst/>
            <a:rect r="r" b="b" t="t" l="l"/>
            <a:pathLst>
              <a:path h="10287000" w="8005354">
                <a:moveTo>
                  <a:pt x="0" y="0"/>
                </a:moveTo>
                <a:lnTo>
                  <a:pt x="8005354" y="0"/>
                </a:lnTo>
                <a:lnTo>
                  <a:pt x="8005354" y="10287000"/>
                </a:lnTo>
                <a:lnTo>
                  <a:pt x="0" y="10287000"/>
                </a:lnTo>
                <a:lnTo>
                  <a:pt x="0" y="0"/>
                </a:lnTo>
                <a:close/>
              </a:path>
            </a:pathLst>
          </a:custGeom>
          <a:blipFill>
            <a:blip r:embed="rId2"/>
            <a:stretch>
              <a:fillRect l="0" t="-8365" r="0" b="-8365"/>
            </a:stretch>
          </a:blipFill>
        </p:spPr>
      </p:sp>
      <p:grpSp>
        <p:nvGrpSpPr>
          <p:cNvPr name="Group 4" id="4"/>
          <p:cNvGrpSpPr/>
          <p:nvPr/>
        </p:nvGrpSpPr>
        <p:grpSpPr>
          <a:xfrm rot="0">
            <a:off x="1465682" y="5274140"/>
            <a:ext cx="12270792" cy="2132496"/>
            <a:chOff x="0" y="0"/>
            <a:chExt cx="16361055" cy="2843328"/>
          </a:xfrm>
        </p:grpSpPr>
        <p:sp>
          <p:nvSpPr>
            <p:cNvPr name="TextBox 5" id="5"/>
            <p:cNvSpPr txBox="true"/>
            <p:nvPr/>
          </p:nvSpPr>
          <p:spPr>
            <a:xfrm rot="0">
              <a:off x="0" y="-9525"/>
              <a:ext cx="16361055" cy="1334560"/>
            </a:xfrm>
            <a:prstGeom prst="rect">
              <a:avLst/>
            </a:prstGeom>
          </p:spPr>
          <p:txBody>
            <a:bodyPr anchor="t" rtlCol="false" tIns="0" lIns="0" bIns="0" rIns="0">
              <a:spAutoFit/>
            </a:bodyPr>
            <a:lstStyle/>
            <a:p>
              <a:pPr algn="just" marL="703925" indent="-351963" lvl="1">
                <a:lnSpc>
                  <a:spcPts val="3912"/>
                </a:lnSpc>
                <a:buFont typeface="Arial"/>
                <a:buChar char="•"/>
              </a:pPr>
              <a:r>
                <a:rPr lang="en-US" sz="3260">
                  <a:solidFill>
                    <a:srgbClr val="2A2A2A"/>
                  </a:solidFill>
                  <a:latin typeface="Open Sans"/>
                  <a:ea typeface="Open Sans"/>
                  <a:cs typeface="Open Sans"/>
                  <a:sym typeface="Open Sans"/>
                </a:rPr>
                <a:t>Libreria de flujos</a:t>
              </a:r>
            </a:p>
            <a:p>
              <a:pPr algn="just" marL="703925" indent="-351963" lvl="1">
                <a:lnSpc>
                  <a:spcPts val="3912"/>
                </a:lnSpc>
                <a:buFont typeface="Arial"/>
                <a:buChar char="•"/>
              </a:pPr>
              <a:r>
                <a:rPr lang="en-US" sz="3260">
                  <a:solidFill>
                    <a:srgbClr val="2A2A2A"/>
                  </a:solidFill>
                  <a:latin typeface="Open Sans"/>
                  <a:ea typeface="Open Sans"/>
                  <a:cs typeface="Open Sans"/>
                  <a:sym typeface="Open Sans"/>
                </a:rPr>
                <a:t>Componentes clave</a:t>
              </a:r>
            </a:p>
          </p:txBody>
        </p:sp>
        <p:sp>
          <p:nvSpPr>
            <p:cNvPr name="TextBox 6" id="6"/>
            <p:cNvSpPr txBox="true"/>
            <p:nvPr/>
          </p:nvSpPr>
          <p:spPr>
            <a:xfrm rot="0">
              <a:off x="0" y="2253130"/>
              <a:ext cx="16361055" cy="462427"/>
            </a:xfrm>
            <a:prstGeom prst="rect">
              <a:avLst/>
            </a:prstGeom>
          </p:spPr>
          <p:txBody>
            <a:bodyPr anchor="t" rtlCol="false" tIns="0" lIns="0" bIns="0" rIns="0">
              <a:spAutoFit/>
            </a:bodyPr>
            <a:lstStyle/>
            <a:p>
              <a:pPr algn="l">
                <a:lnSpc>
                  <a:spcPts val="2999"/>
                </a:lnSpc>
              </a:pP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A1EFB2"/>
        </a:solidFill>
      </p:bgPr>
    </p:bg>
    <p:spTree>
      <p:nvGrpSpPr>
        <p:cNvPr id="1" name=""/>
        <p:cNvGrpSpPr/>
        <p:nvPr/>
      </p:nvGrpSpPr>
      <p:grpSpPr>
        <a:xfrm>
          <a:off x="0" y="0"/>
          <a:ext cx="0" cy="0"/>
          <a:chOff x="0" y="0"/>
          <a:chExt cx="0" cy="0"/>
        </a:xfrm>
      </p:grpSpPr>
      <p:sp>
        <p:nvSpPr>
          <p:cNvPr name="TextBox 2" id="2"/>
          <p:cNvSpPr txBox="true"/>
          <p:nvPr/>
        </p:nvSpPr>
        <p:spPr>
          <a:xfrm rot="0">
            <a:off x="9757154" y="1676564"/>
            <a:ext cx="7034868" cy="1965325"/>
          </a:xfrm>
          <a:prstGeom prst="rect">
            <a:avLst/>
          </a:prstGeom>
        </p:spPr>
        <p:txBody>
          <a:bodyPr anchor="t" rtlCol="false" tIns="0" lIns="0" bIns="0" rIns="0">
            <a:spAutoFit/>
          </a:bodyPr>
          <a:lstStyle/>
          <a:p>
            <a:pPr algn="ctr" marL="0" indent="0" lvl="0">
              <a:lnSpc>
                <a:spcPts val="7699"/>
              </a:lnSpc>
              <a:spcBef>
                <a:spcPct val="0"/>
              </a:spcBef>
            </a:pPr>
            <a:r>
              <a:rPr lang="en-US" b="true" sz="6999">
                <a:solidFill>
                  <a:srgbClr val="2A2A2A"/>
                </a:solidFill>
                <a:latin typeface="Open Sans Bold"/>
                <a:ea typeface="Open Sans Bold"/>
                <a:cs typeface="Open Sans Bold"/>
                <a:sym typeface="Open Sans Bold"/>
              </a:rPr>
              <a:t>Valor de la semana</a:t>
            </a:r>
          </a:p>
        </p:txBody>
      </p:sp>
      <p:sp>
        <p:nvSpPr>
          <p:cNvPr name="Freeform 3" id="3"/>
          <p:cNvSpPr/>
          <p:nvPr/>
        </p:nvSpPr>
        <p:spPr>
          <a:xfrm flipH="false" flipV="false" rot="0">
            <a:off x="0" y="0"/>
            <a:ext cx="8005354" cy="10287000"/>
          </a:xfrm>
          <a:custGeom>
            <a:avLst/>
            <a:gdLst/>
            <a:ahLst/>
            <a:cxnLst/>
            <a:rect r="r" b="b" t="t" l="l"/>
            <a:pathLst>
              <a:path h="10287000" w="8005354">
                <a:moveTo>
                  <a:pt x="0" y="0"/>
                </a:moveTo>
                <a:lnTo>
                  <a:pt x="8005354" y="0"/>
                </a:lnTo>
                <a:lnTo>
                  <a:pt x="8005354" y="10287000"/>
                </a:lnTo>
                <a:lnTo>
                  <a:pt x="0" y="10287000"/>
                </a:lnTo>
                <a:lnTo>
                  <a:pt x="0" y="0"/>
                </a:lnTo>
                <a:close/>
              </a:path>
            </a:pathLst>
          </a:custGeom>
          <a:blipFill>
            <a:blip r:embed="rId2"/>
            <a:stretch>
              <a:fillRect l="-46255" t="0" r="-46255" b="0"/>
            </a:stretch>
          </a:blipFill>
        </p:spPr>
      </p:sp>
      <p:sp>
        <p:nvSpPr>
          <p:cNvPr name="TextBox 4" id="4"/>
          <p:cNvSpPr txBox="true"/>
          <p:nvPr/>
        </p:nvSpPr>
        <p:spPr>
          <a:xfrm rot="0">
            <a:off x="8701904" y="5069953"/>
            <a:ext cx="9145367" cy="2033906"/>
          </a:xfrm>
          <a:prstGeom prst="rect">
            <a:avLst/>
          </a:prstGeom>
        </p:spPr>
        <p:txBody>
          <a:bodyPr anchor="t" rtlCol="false" tIns="0" lIns="0" bIns="0" rIns="0">
            <a:spAutoFit/>
          </a:bodyPr>
          <a:lstStyle/>
          <a:p>
            <a:pPr algn="ctr" marL="0" indent="0" lvl="0">
              <a:lnSpc>
                <a:spcPts val="5390"/>
              </a:lnSpc>
              <a:spcBef>
                <a:spcPct val="0"/>
              </a:spcBef>
            </a:pPr>
            <a:r>
              <a:rPr lang="en-US" sz="4900">
                <a:solidFill>
                  <a:srgbClr val="2A2A2A"/>
                </a:solidFill>
                <a:latin typeface="Open Sans"/>
                <a:ea typeface="Open Sans"/>
                <a:cs typeface="Open Sans"/>
                <a:sym typeface="Open Sans"/>
              </a:rPr>
              <a:t>Honestidad, para realizar el examen corto lo mas transparente posible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A1EFB2"/>
        </a:solidFill>
      </p:bgPr>
    </p:bg>
    <p:spTree>
      <p:nvGrpSpPr>
        <p:cNvPr id="1" name=""/>
        <p:cNvGrpSpPr/>
        <p:nvPr/>
      </p:nvGrpSpPr>
      <p:grpSpPr>
        <a:xfrm>
          <a:off x="0" y="0"/>
          <a:ext cx="0" cy="0"/>
          <a:chOff x="0" y="0"/>
          <a:chExt cx="0" cy="0"/>
        </a:xfrm>
      </p:grpSpPr>
      <p:grpSp>
        <p:nvGrpSpPr>
          <p:cNvPr name="Group 2" id="2"/>
          <p:cNvGrpSpPr/>
          <p:nvPr/>
        </p:nvGrpSpPr>
        <p:grpSpPr>
          <a:xfrm rot="0">
            <a:off x="1514475" y="3322628"/>
            <a:ext cx="9238327" cy="3641744"/>
            <a:chOff x="0" y="0"/>
            <a:chExt cx="12317770" cy="4855659"/>
          </a:xfrm>
        </p:grpSpPr>
        <p:sp>
          <p:nvSpPr>
            <p:cNvPr name="TextBox 3" id="3"/>
            <p:cNvSpPr txBox="true"/>
            <p:nvPr/>
          </p:nvSpPr>
          <p:spPr>
            <a:xfrm rot="0">
              <a:off x="0" y="0"/>
              <a:ext cx="12317770" cy="1625600"/>
            </a:xfrm>
            <a:prstGeom prst="rect">
              <a:avLst/>
            </a:prstGeom>
          </p:spPr>
          <p:txBody>
            <a:bodyPr anchor="t" rtlCol="false" tIns="0" lIns="0" bIns="0" rIns="0">
              <a:spAutoFit/>
            </a:bodyPr>
            <a:lstStyle/>
            <a:p>
              <a:pPr algn="l">
                <a:lnSpc>
                  <a:spcPts val="9600"/>
                </a:lnSpc>
              </a:pPr>
              <a:r>
                <a:rPr lang="en-US" sz="8000">
                  <a:solidFill>
                    <a:srgbClr val="2A2A2A"/>
                  </a:solidFill>
                  <a:latin typeface="Open Sans"/>
                  <a:ea typeface="Open Sans"/>
                  <a:cs typeface="Open Sans"/>
                  <a:sym typeface="Open Sans"/>
                </a:rPr>
                <a:t>Referencias </a:t>
              </a:r>
            </a:p>
          </p:txBody>
        </p:sp>
        <p:sp>
          <p:nvSpPr>
            <p:cNvPr name="TextBox 4" id="4"/>
            <p:cNvSpPr txBox="true"/>
            <p:nvPr/>
          </p:nvSpPr>
          <p:spPr>
            <a:xfrm rot="0">
              <a:off x="0" y="2615167"/>
              <a:ext cx="12317770" cy="2103332"/>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2A2A2A"/>
                  </a:solidFill>
                  <a:latin typeface="Open Sans"/>
                  <a:ea typeface="Open Sans"/>
                  <a:cs typeface="Open Sans"/>
                  <a:sym typeface="Open Sans"/>
                </a:rPr>
                <a:t>Laguna, Manuel; Marklund, Johan. Business Process Modeling, Simulation and Design – </a:t>
              </a:r>
              <a:r>
                <a:rPr lang="en-US" sz="2300">
                  <a:solidFill>
                    <a:srgbClr val="2A2A2A"/>
                  </a:solidFill>
                  <a:latin typeface="Open Sans"/>
                  <a:ea typeface="Open Sans"/>
                  <a:cs typeface="Open Sans"/>
                  <a:sym typeface="Open Sans"/>
                </a:rPr>
                <a:t>3era Edición. CRC Press. 2019</a:t>
              </a:r>
            </a:p>
            <a:p>
              <a:pPr algn="l" marL="496570" indent="-248285" lvl="1">
                <a:lnSpc>
                  <a:spcPts val="3219"/>
                </a:lnSpc>
                <a:buFont typeface="Arial"/>
                <a:buChar char="•"/>
              </a:pPr>
              <a:r>
                <a:rPr lang="en-US" sz="2299">
                  <a:solidFill>
                    <a:srgbClr val="2A2A2A"/>
                  </a:solidFill>
                  <a:latin typeface="Open Sans"/>
                  <a:ea typeface="Open Sans"/>
                  <a:cs typeface="Open Sans"/>
                  <a:sym typeface="Open Sans"/>
                </a:rPr>
                <a:t>Law, Averill M. Simulation Modeling &amp; Analysis – 4ta Edición. McGraw Hill, New York, USA 2007</a:t>
              </a:r>
            </a:p>
          </p:txBody>
        </p:sp>
      </p:grpSp>
      <p:grpSp>
        <p:nvGrpSpPr>
          <p:cNvPr name="Group 5" id="5"/>
          <p:cNvGrpSpPr/>
          <p:nvPr/>
        </p:nvGrpSpPr>
        <p:grpSpPr>
          <a:xfrm rot="0">
            <a:off x="11613450" y="1644074"/>
            <a:ext cx="5325085" cy="6998853"/>
            <a:chOff x="0" y="0"/>
            <a:chExt cx="7100114" cy="9331804"/>
          </a:xfrm>
        </p:grpSpPr>
        <p:sp>
          <p:nvSpPr>
            <p:cNvPr name="Freeform 6" id="6"/>
            <p:cNvSpPr/>
            <p:nvPr/>
          </p:nvSpPr>
          <p:spPr>
            <a:xfrm flipH="false" flipV="false" rot="0">
              <a:off x="0" y="5161799"/>
              <a:ext cx="6929012" cy="4170005"/>
            </a:xfrm>
            <a:custGeom>
              <a:avLst/>
              <a:gdLst/>
              <a:ahLst/>
              <a:cxnLst/>
              <a:rect r="r" b="b" t="t" l="l"/>
              <a:pathLst>
                <a:path h="4170005" w="6929012">
                  <a:moveTo>
                    <a:pt x="0" y="0"/>
                  </a:moveTo>
                  <a:lnTo>
                    <a:pt x="6929012" y="0"/>
                  </a:lnTo>
                  <a:lnTo>
                    <a:pt x="6929012" y="4170005"/>
                  </a:lnTo>
                  <a:lnTo>
                    <a:pt x="0" y="41700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435115" y="0"/>
              <a:ext cx="4664998" cy="6212468"/>
            </a:xfrm>
            <a:custGeom>
              <a:avLst/>
              <a:gdLst/>
              <a:ahLst/>
              <a:cxnLst/>
              <a:rect r="r" b="b" t="t" l="l"/>
              <a:pathLst>
                <a:path h="6212468" w="4664998">
                  <a:moveTo>
                    <a:pt x="0" y="0"/>
                  </a:moveTo>
                  <a:lnTo>
                    <a:pt x="4664999" y="0"/>
                  </a:lnTo>
                  <a:lnTo>
                    <a:pt x="4664999" y="6212468"/>
                  </a:lnTo>
                  <a:lnTo>
                    <a:pt x="0" y="6212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07663"/>
            <a:ext cx="2599435" cy="3371142"/>
          </a:xfrm>
          <a:custGeom>
            <a:avLst/>
            <a:gdLst/>
            <a:ahLst/>
            <a:cxnLst/>
            <a:rect r="r" b="b" t="t" l="l"/>
            <a:pathLst>
              <a:path h="3371142" w="2599435">
                <a:moveTo>
                  <a:pt x="0" y="0"/>
                </a:moveTo>
                <a:lnTo>
                  <a:pt x="2599435" y="0"/>
                </a:lnTo>
                <a:lnTo>
                  <a:pt x="2599435" y="3371143"/>
                </a:lnTo>
                <a:lnTo>
                  <a:pt x="0" y="3371143"/>
                </a:lnTo>
                <a:lnTo>
                  <a:pt x="0" y="0"/>
                </a:lnTo>
                <a:close/>
              </a:path>
            </a:pathLst>
          </a:custGeom>
          <a:blipFill>
            <a:blip r:embed="rId2"/>
            <a:stretch>
              <a:fillRect l="0" t="0" r="0" b="0"/>
            </a:stretch>
          </a:blipFill>
        </p:spPr>
      </p:sp>
      <p:grpSp>
        <p:nvGrpSpPr>
          <p:cNvPr name="Group 3" id="3"/>
          <p:cNvGrpSpPr/>
          <p:nvPr/>
        </p:nvGrpSpPr>
        <p:grpSpPr>
          <a:xfrm rot="0">
            <a:off x="6773554" y="3878806"/>
            <a:ext cx="5088626" cy="2529389"/>
            <a:chOff x="0" y="0"/>
            <a:chExt cx="6784835" cy="3372518"/>
          </a:xfrm>
        </p:grpSpPr>
        <p:sp>
          <p:nvSpPr>
            <p:cNvPr name="TextBox 4" id="4"/>
            <p:cNvSpPr txBox="true"/>
            <p:nvPr/>
          </p:nvSpPr>
          <p:spPr>
            <a:xfrm rot="0">
              <a:off x="0" y="0"/>
              <a:ext cx="6784835" cy="1828800"/>
            </a:xfrm>
            <a:prstGeom prst="rect">
              <a:avLst/>
            </a:prstGeom>
          </p:spPr>
          <p:txBody>
            <a:bodyPr anchor="t" rtlCol="false" tIns="0" lIns="0" bIns="0" rIns="0">
              <a:spAutoFit/>
            </a:bodyPr>
            <a:lstStyle/>
            <a:p>
              <a:pPr algn="l">
                <a:lnSpc>
                  <a:spcPts val="10800"/>
                </a:lnSpc>
              </a:pPr>
              <a:r>
                <a:rPr lang="en-US" sz="9000">
                  <a:solidFill>
                    <a:srgbClr val="2A2A2A"/>
                  </a:solidFill>
                  <a:latin typeface="Open Sans"/>
                  <a:ea typeface="Open Sans"/>
                  <a:cs typeface="Open Sans"/>
                  <a:sym typeface="Open Sans"/>
                </a:rPr>
                <a:t>¿Dudas?</a:t>
              </a:r>
            </a:p>
          </p:txBody>
        </p:sp>
        <p:sp>
          <p:nvSpPr>
            <p:cNvPr name="TextBox 5" id="5"/>
            <p:cNvSpPr txBox="true"/>
            <p:nvPr/>
          </p:nvSpPr>
          <p:spPr>
            <a:xfrm rot="0">
              <a:off x="0" y="2830440"/>
              <a:ext cx="6784835" cy="547158"/>
            </a:xfrm>
            <a:prstGeom prst="rect">
              <a:avLst/>
            </a:prstGeom>
          </p:spPr>
          <p:txBody>
            <a:bodyPr anchor="t" rtlCol="false" tIns="0" lIns="0" bIns="0" rIns="0">
              <a:spAutoFit/>
            </a:bodyPr>
            <a:lstStyle/>
            <a:p>
              <a:pPr algn="l">
                <a:lnSpc>
                  <a:spcPts val="3499"/>
                </a:lnSpc>
              </a:pPr>
            </a:p>
          </p:txBody>
        </p:sp>
      </p:grpSp>
      <p:sp>
        <p:nvSpPr>
          <p:cNvPr name="TextBox 6" id="6"/>
          <p:cNvSpPr txBox="true"/>
          <p:nvPr/>
        </p:nvSpPr>
        <p:spPr>
          <a:xfrm rot="0">
            <a:off x="3503052" y="6667120"/>
            <a:ext cx="11629629" cy="1000125"/>
          </a:xfrm>
          <a:prstGeom prst="rect">
            <a:avLst/>
          </a:prstGeom>
        </p:spPr>
        <p:txBody>
          <a:bodyPr anchor="t" rtlCol="false" tIns="0" lIns="0" bIns="0" rIns="0">
            <a:spAutoFit/>
          </a:bodyPr>
          <a:lstStyle/>
          <a:p>
            <a:pPr algn="ctr">
              <a:lnSpc>
                <a:spcPts val="3912"/>
              </a:lnSpc>
              <a:spcBef>
                <a:spcPct val="0"/>
              </a:spcBef>
            </a:pPr>
            <a:r>
              <a:rPr lang="en-US" sz="3260">
                <a:solidFill>
                  <a:srgbClr val="2A2A2A"/>
                </a:solidFill>
                <a:latin typeface="Open Sans"/>
                <a:ea typeface="Open Sans"/>
                <a:cs typeface="Open Sans"/>
                <a:sym typeface="Open Sans"/>
              </a:rPr>
              <a:t>Recuerda que tenemos nuestro foro semanal donde puedes</a:t>
            </a:r>
          </a:p>
          <a:p>
            <a:pPr algn="ctr">
              <a:lnSpc>
                <a:spcPts val="3912"/>
              </a:lnSpc>
              <a:spcBef>
                <a:spcPct val="0"/>
              </a:spcBef>
            </a:pPr>
            <a:r>
              <a:rPr lang="en-US" sz="3260">
                <a:solidFill>
                  <a:srgbClr val="2A2A2A"/>
                </a:solidFill>
                <a:latin typeface="Open Sans"/>
                <a:ea typeface="Open Sans"/>
                <a:cs typeface="Open Sans"/>
                <a:sym typeface="Open Sans"/>
              </a:rPr>
              <a:t>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DAGoavNjzGM</dc:identifier>
  <dcterms:modified xsi:type="dcterms:W3CDTF">2011-08-01T06:04:30Z</dcterms:modified>
  <cp:revision>1</cp:revision>
  <dc:title>Semana 9</dc:title>
</cp:coreProperties>
</file>