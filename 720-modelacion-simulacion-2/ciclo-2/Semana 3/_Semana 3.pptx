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Open Sans" charset="1" panose="020B0606030504020204"/>
      <p:regular r:id="rId26"/>
    </p:embeddedFont>
    <p:embeddedFont>
      <p:font typeface="Open Sans Bold" charset="1" panose="020B0806030504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E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21478" y="2365824"/>
            <a:ext cx="4757422" cy="6428948"/>
          </a:xfrm>
          <a:custGeom>
            <a:avLst/>
            <a:gdLst/>
            <a:ahLst/>
            <a:cxnLst/>
            <a:rect r="r" b="b" t="t" l="l"/>
            <a:pathLst>
              <a:path h="6428948" w="4757422">
                <a:moveTo>
                  <a:pt x="0" y="0"/>
                </a:moveTo>
                <a:lnTo>
                  <a:pt x="4757421" y="0"/>
                </a:lnTo>
                <a:lnTo>
                  <a:pt x="4757421" y="6428949"/>
                </a:lnTo>
                <a:lnTo>
                  <a:pt x="0" y="64289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8596" y="0"/>
            <a:ext cx="6489404" cy="1930598"/>
          </a:xfrm>
          <a:custGeom>
            <a:avLst/>
            <a:gdLst/>
            <a:ahLst/>
            <a:cxnLst/>
            <a:rect r="r" b="b" t="t" l="l"/>
            <a:pathLst>
              <a:path h="1930598" w="6489404">
                <a:moveTo>
                  <a:pt x="0" y="0"/>
                </a:moveTo>
                <a:lnTo>
                  <a:pt x="6489404" y="0"/>
                </a:lnTo>
                <a:lnTo>
                  <a:pt x="6489404" y="1930598"/>
                </a:lnTo>
                <a:lnTo>
                  <a:pt x="0" y="19305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66854" y="2590800"/>
            <a:ext cx="8613455" cy="382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84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Unidad 1</a:t>
            </a:r>
          </a:p>
          <a:p>
            <a:pPr algn="ctr">
              <a:lnSpc>
                <a:spcPts val="10080"/>
              </a:lnSpc>
            </a:pPr>
            <a:r>
              <a:rPr lang="en-US" sz="84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 Libreria Estandar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210675"/>
            <a:ext cx="640794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51706"/>
            <a:ext cx="352529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 de Ingenieria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8293848"/>
            <a:ext cx="6981379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Ingenieria de Ciencias Y Sistemas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833473"/>
            <a:ext cx="3718024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true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Segundo semestre 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33550" y="1727086"/>
            <a:ext cx="6590377" cy="2191964"/>
            <a:chOff x="0" y="0"/>
            <a:chExt cx="8787170" cy="292261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8787170" cy="182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Agenda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313018"/>
              <a:ext cx="8787170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2A2A2A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Recordatorios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33550" y="5143500"/>
            <a:ext cx="5997460" cy="3762043"/>
          </a:xfrm>
          <a:custGeom>
            <a:avLst/>
            <a:gdLst/>
            <a:ahLst/>
            <a:cxnLst/>
            <a:rect r="r" b="b" t="t" l="l"/>
            <a:pathLst>
              <a:path h="3762043" w="5997460">
                <a:moveTo>
                  <a:pt x="0" y="0"/>
                </a:moveTo>
                <a:lnTo>
                  <a:pt x="5997460" y="0"/>
                </a:lnTo>
                <a:lnTo>
                  <a:pt x="5997460" y="3762043"/>
                </a:lnTo>
                <a:lnTo>
                  <a:pt x="0" y="3762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381327" y="2393399"/>
            <a:ext cx="6077873" cy="5938351"/>
            <a:chOff x="0" y="0"/>
            <a:chExt cx="8103830" cy="7917802"/>
          </a:xfrm>
        </p:grpSpPr>
        <p:sp>
          <p:nvSpPr>
            <p:cNvPr name="AutoShape 7" id="7"/>
            <p:cNvSpPr/>
            <p:nvPr/>
          </p:nvSpPr>
          <p:spPr>
            <a:xfrm>
              <a:off x="0" y="6350"/>
              <a:ext cx="8103830" cy="0"/>
            </a:xfrm>
            <a:prstGeom prst="line">
              <a:avLst/>
            </a:prstGeom>
            <a:ln cap="rnd" w="12700">
              <a:solidFill>
                <a:srgbClr val="399D4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" id="8"/>
            <p:cNvSpPr txBox="true"/>
            <p:nvPr/>
          </p:nvSpPr>
          <p:spPr>
            <a:xfrm rot="0">
              <a:off x="0" y="497603"/>
              <a:ext cx="810383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Distribuciones</a:t>
              </a:r>
            </a:p>
          </p:txBody>
        </p:sp>
        <p:sp>
          <p:nvSpPr>
            <p:cNvPr name="AutoShape 9" id="9"/>
            <p:cNvSpPr/>
            <p:nvPr/>
          </p:nvSpPr>
          <p:spPr>
            <a:xfrm>
              <a:off x="0" y="1578560"/>
              <a:ext cx="8103830" cy="0"/>
            </a:xfrm>
            <a:prstGeom prst="line">
              <a:avLst/>
            </a:prstGeom>
            <a:ln cap="rnd" w="12700">
              <a:solidFill>
                <a:srgbClr val="399D4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2060288"/>
              <a:ext cx="8103830" cy="5566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00"/>
                </a:lnSpc>
              </a:pPr>
              <a:r>
                <a:rPr lang="en-US" sz="25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Probabilidades</a:t>
              </a:r>
            </a:p>
          </p:txBody>
        </p:sp>
        <p:sp>
          <p:nvSpPr>
            <p:cNvPr name="AutoShape 11" id="11"/>
            <p:cNvSpPr/>
            <p:nvPr/>
          </p:nvSpPr>
          <p:spPr>
            <a:xfrm>
              <a:off x="0" y="3150770"/>
              <a:ext cx="8103830" cy="0"/>
            </a:xfrm>
            <a:prstGeom prst="line">
              <a:avLst/>
            </a:prstGeom>
            <a:ln cap="rnd" w="12700">
              <a:solidFill>
                <a:srgbClr val="399D4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2" id="12"/>
            <p:cNvSpPr txBox="true"/>
            <p:nvPr/>
          </p:nvSpPr>
          <p:spPr>
            <a:xfrm rot="0">
              <a:off x="0" y="3642023"/>
              <a:ext cx="810383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Qué son las probabilidades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0" y="4722980"/>
              <a:ext cx="8103830" cy="0"/>
            </a:xfrm>
            <a:prstGeom prst="line">
              <a:avLst/>
            </a:prstGeom>
            <a:ln cap="rnd" w="12700">
              <a:solidFill>
                <a:srgbClr val="399D4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5214233"/>
              <a:ext cx="8103830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Ejemplo 1 </a:t>
              </a:r>
            </a:p>
          </p:txBody>
        </p:sp>
        <p:sp>
          <p:nvSpPr>
            <p:cNvPr name="AutoShape 15" id="15"/>
            <p:cNvSpPr/>
            <p:nvPr/>
          </p:nvSpPr>
          <p:spPr>
            <a:xfrm>
              <a:off x="0" y="6295190"/>
              <a:ext cx="8103830" cy="0"/>
            </a:xfrm>
            <a:prstGeom prst="line">
              <a:avLst/>
            </a:prstGeom>
            <a:ln cap="rnd" w="12700">
              <a:solidFill>
                <a:srgbClr val="399D4E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6786443"/>
              <a:ext cx="8103830" cy="11313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Ejemplo 2</a:t>
              </a:r>
            </a:p>
            <a:p>
              <a:pPr algn="l">
                <a:lnSpc>
                  <a:spcPts val="350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E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4475" y="3518843"/>
            <a:ext cx="9238327" cy="3249314"/>
            <a:chOff x="0" y="0"/>
            <a:chExt cx="12317770" cy="433241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2317770" cy="162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Video de la semana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96117"/>
              <a:ext cx="12317770" cy="15991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https://www.youtube.com/watch?v=xVBJrRF4r2g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13450" y="1644074"/>
            <a:ext cx="5325085" cy="6998853"/>
            <a:chOff x="0" y="0"/>
            <a:chExt cx="7100114" cy="9331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5161799"/>
              <a:ext cx="6929012" cy="4170005"/>
            </a:xfrm>
            <a:custGeom>
              <a:avLst/>
              <a:gdLst/>
              <a:ahLst/>
              <a:cxnLst/>
              <a:rect r="r" b="b" t="t" l="l"/>
              <a:pathLst>
                <a:path h="4170005" w="6929012">
                  <a:moveTo>
                    <a:pt x="0" y="0"/>
                  </a:moveTo>
                  <a:lnTo>
                    <a:pt x="6929012" y="0"/>
                  </a:lnTo>
                  <a:lnTo>
                    <a:pt x="6929012" y="4170005"/>
                  </a:lnTo>
                  <a:lnTo>
                    <a:pt x="0" y="4170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35115" y="0"/>
              <a:ext cx="4664998" cy="6212468"/>
            </a:xfrm>
            <a:custGeom>
              <a:avLst/>
              <a:gdLst/>
              <a:ahLst/>
              <a:cxnLst/>
              <a:rect r="r" b="b" t="t" l="l"/>
              <a:pathLst>
                <a:path h="6212468" w="4664998">
                  <a:moveTo>
                    <a:pt x="0" y="0"/>
                  </a:moveTo>
                  <a:lnTo>
                    <a:pt x="4664999" y="0"/>
                  </a:lnTo>
                  <a:lnTo>
                    <a:pt x="4664999" y="6212468"/>
                  </a:lnTo>
                  <a:lnTo>
                    <a:pt x="0" y="6212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91272" y="3588238"/>
            <a:ext cx="6326367" cy="3558581"/>
          </a:xfrm>
          <a:custGeom>
            <a:avLst/>
            <a:gdLst/>
            <a:ahLst/>
            <a:cxnLst/>
            <a:rect r="r" b="b" t="t" l="l"/>
            <a:pathLst>
              <a:path h="3558581" w="6326367">
                <a:moveTo>
                  <a:pt x="0" y="0"/>
                </a:moveTo>
                <a:lnTo>
                  <a:pt x="6326367" y="0"/>
                </a:lnTo>
                <a:lnTo>
                  <a:pt x="6326367" y="3558581"/>
                </a:lnTo>
                <a:lnTo>
                  <a:pt x="0" y="35585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324" y="3943765"/>
            <a:ext cx="10614526" cy="5501863"/>
          </a:xfrm>
          <a:custGeom>
            <a:avLst/>
            <a:gdLst/>
            <a:ahLst/>
            <a:cxnLst/>
            <a:rect r="r" b="b" t="t" l="l"/>
            <a:pathLst>
              <a:path h="5501863" w="10614526">
                <a:moveTo>
                  <a:pt x="0" y="0"/>
                </a:moveTo>
                <a:lnTo>
                  <a:pt x="10614526" y="0"/>
                </a:lnTo>
                <a:lnTo>
                  <a:pt x="10614526" y="5501863"/>
                </a:lnTo>
                <a:lnTo>
                  <a:pt x="0" y="5501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-546116" y="1179882"/>
            <a:ext cx="17805416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Distribuciones de probabilidad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399D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384635" y="421848"/>
            <a:ext cx="13518731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6"/>
              </a:lnSpc>
            </a:pPr>
            <a:r>
              <a:rPr lang="en-US" sz="8205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Qué son distribuciones de probabilidad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6179" y="3552268"/>
            <a:ext cx="16992140" cy="6067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2"/>
              </a:lnSpc>
            </a:pPr>
            <a:r>
              <a:rPr lang="en-US" sz="3368" b="true">
                <a:solidFill>
                  <a:srgbClr val="A1EF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Distribuciones y probabilidades son modelos matemáticos utilizados para evaluar y representar el comportamiento de un sistema bajo condiciones de incertidumbre. Estas herramientas permiten describir la variabilidad de eventos aleatorios, como el tiempo entre llegadas, la duración de procesos o la cantidad de productos defectuosos. </a:t>
            </a:r>
          </a:p>
          <a:p>
            <a:pPr algn="just">
              <a:lnSpc>
                <a:spcPts val="4042"/>
              </a:lnSpc>
            </a:pPr>
          </a:p>
          <a:p>
            <a:pPr algn="just">
              <a:lnSpc>
                <a:spcPts val="4042"/>
              </a:lnSpc>
            </a:pPr>
            <a:r>
              <a:rPr lang="en-US" b="true" sz="3368">
                <a:solidFill>
                  <a:srgbClr val="A1EFB2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Gracias a ellas, es posible simular escenarios reales, predecir resultados y tomar decisiones informadas en entornos complejos. Algunas de las distribuciones más comunes son la distribución exponencial, normal, uniforme y Poisson, cada una aplicable a diferentes tipos de procesos y fenómenos.</a:t>
            </a:r>
          </a:p>
          <a:p>
            <a:pPr algn="just">
              <a:lnSpc>
                <a:spcPts val="4042"/>
              </a:lnSpc>
            </a:pPr>
          </a:p>
          <a:p>
            <a:pPr algn="just">
              <a:lnSpc>
                <a:spcPts val="4042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44078" y="799723"/>
            <a:ext cx="158898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 Distribuciones Comunes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4" id="4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10133006" y="2329276"/>
            <a:ext cx="6507160" cy="3904296"/>
          </a:xfrm>
          <a:custGeom>
            <a:avLst/>
            <a:gdLst/>
            <a:ahLst/>
            <a:cxnLst/>
            <a:rect r="r" b="b" t="t" l="l"/>
            <a:pathLst>
              <a:path h="3904296" w="6507160">
                <a:moveTo>
                  <a:pt x="0" y="0"/>
                </a:moveTo>
                <a:lnTo>
                  <a:pt x="6507160" y="0"/>
                </a:lnTo>
                <a:lnTo>
                  <a:pt x="6507160" y="3904296"/>
                </a:lnTo>
                <a:lnTo>
                  <a:pt x="0" y="39042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5199" y="4784683"/>
            <a:ext cx="7397156" cy="3834193"/>
          </a:xfrm>
          <a:custGeom>
            <a:avLst/>
            <a:gdLst/>
            <a:ahLst/>
            <a:cxnLst/>
            <a:rect r="r" b="b" t="t" l="l"/>
            <a:pathLst>
              <a:path h="3834193" w="7397156">
                <a:moveTo>
                  <a:pt x="0" y="0"/>
                </a:moveTo>
                <a:lnTo>
                  <a:pt x="7397156" y="0"/>
                </a:lnTo>
                <a:lnTo>
                  <a:pt x="7397156" y="3834193"/>
                </a:lnTo>
                <a:lnTo>
                  <a:pt x="0" y="3834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8825"/>
            <a:ext cx="158898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Distribución Binomial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93859"/>
            <a:ext cx="16230600" cy="6913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 La distribución binomial modela el número de éxitos en n intentos independientes, donde cada intento tiene una probabilidad constante de éxito (p). Es ampliamente utilizada en situaciones donde se repite un experimento una cantidad fija de veces y cada resultado es clasificado como éxito o fracaso.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Ejemplo: Determinar cuántos chips de computadora defectuosos se encuentran en un lote de n unidades, cuando se sabe que cada chip tiene una probabilidad fija de ser defectuoso.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Características principales: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Variable discreta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Solo dos resultados posibles por intento (éxito o fracaso)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 probabilidad de éxito se mantiene constante en todos los intentos</a:t>
            </a:r>
          </a:p>
          <a:p>
            <a:pPr algn="just">
              <a:lnSpc>
                <a:spcPts val="4269"/>
              </a:lnSpc>
            </a:pPr>
          </a:p>
          <a:p>
            <a:pPr algn="l">
              <a:lnSpc>
                <a:spcPts val="426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5" id="5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8825"/>
            <a:ext cx="158898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Distribución Uniforme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16937"/>
            <a:ext cx="16230600" cy="744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 La distribución uniforme es empleada para modelar variables continuas que tienen la misma probabilidad de ocurrencia dentro de un intervalo definido [a, b]. Esta distribución asume que todos los valores del intervalo tienen la misma probabilidad, lo que la hace útil como una distribución de referencia en simulaciones o cuando no hay información previa sobre la distribución de los datos.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Ejemplo: Modelar el tiempo que tarda una máquina en completar un ciclo si se sabe que puede tomar cualquier valor entre 10 y 15 minutos con igual probabilidad.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Características principales: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Variable continua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Pr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obabilidad constante dentro del intervalo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Se utiliza frecuentemente como aproximación o estimación base cuando no se tiene suficiente información</a:t>
            </a:r>
          </a:p>
          <a:p>
            <a:pPr algn="just">
              <a:lnSpc>
                <a:spcPts val="4269"/>
              </a:lnSpc>
            </a:pPr>
          </a:p>
          <a:p>
            <a:pPr algn="l">
              <a:lnSpc>
                <a:spcPts val="426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5" id="5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38825"/>
            <a:ext cx="158898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Distribución Poisson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616937"/>
            <a:ext cx="16230600" cy="744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 La distribución uniforme es empleada para modelar variables continuas que tienen la misma probabilidad de ocurrencia dentro de un intervalo definido [a, b]. Esta distribución asume que todos los valores del intervalo tienen la misma probabilidad, lo que la hace útil como una distribución de referencia en simulaciones o cuando no hay información previa sobre la distribución de los datos.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Ejemplo: Modelar el tiempo que tarda una máquina en completar un ciclo si se sabe que puede tomar cualquier valor entre 10 y 15 minutos con igual probabilidad.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Características principales: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Variable continua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Pr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obabilidad constante dentro del intervalo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Se utiliza frecuentemente como aproximación o estimación base cuando no se tiene suficiente información</a:t>
            </a:r>
          </a:p>
          <a:p>
            <a:pPr algn="just">
              <a:lnSpc>
                <a:spcPts val="4269"/>
              </a:lnSpc>
            </a:pPr>
          </a:p>
          <a:p>
            <a:pPr algn="l">
              <a:lnSpc>
                <a:spcPts val="426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5" id="5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3" id="3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9423820" y="3662754"/>
            <a:ext cx="7510965" cy="3755482"/>
          </a:xfrm>
          <a:custGeom>
            <a:avLst/>
            <a:gdLst/>
            <a:ahLst/>
            <a:cxnLst/>
            <a:rect r="r" b="b" t="t" l="l"/>
            <a:pathLst>
              <a:path h="3755482" w="7510965">
                <a:moveTo>
                  <a:pt x="0" y="0"/>
                </a:moveTo>
                <a:lnTo>
                  <a:pt x="7510965" y="0"/>
                </a:lnTo>
                <a:lnTo>
                  <a:pt x="7510965" y="3755483"/>
                </a:lnTo>
                <a:lnTo>
                  <a:pt x="0" y="3755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38825"/>
            <a:ext cx="158898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Distribución Normal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38648"/>
            <a:ext cx="7769087" cy="851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9"/>
              </a:lnSpc>
            </a:pP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odela fenómenos continuos que resultan de la suma de varios factores aleatorios pequeños.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Características:</a:t>
            </a:r>
          </a:p>
          <a:p>
            <a:pPr algn="just">
              <a:lnSpc>
                <a:spcPts val="4269"/>
              </a:lnSpc>
            </a:pP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Tiene forma de campana (simétrica).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Definida por dos parámetros: media (μ) y desviación estándar (σ).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 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mayoría de los valores están cerca de la media.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Ej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emplo: Altu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a de personas, tiempo de ensamblaje de un producto.</a:t>
            </a:r>
          </a:p>
          <a:p>
            <a:pPr algn="just">
              <a:lnSpc>
                <a:spcPts val="4269"/>
              </a:lnSpc>
            </a:pPr>
          </a:p>
          <a:p>
            <a:pPr algn="just">
              <a:lnSpc>
                <a:spcPts val="4269"/>
              </a:lnSpc>
            </a:pPr>
          </a:p>
          <a:p>
            <a:pPr algn="l">
              <a:lnSpc>
                <a:spcPts val="426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3" id="3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1177551" y="3997632"/>
            <a:ext cx="5923022" cy="4453262"/>
          </a:xfrm>
          <a:custGeom>
            <a:avLst/>
            <a:gdLst/>
            <a:ahLst/>
            <a:cxnLst/>
            <a:rect r="r" b="b" t="t" l="l"/>
            <a:pathLst>
              <a:path h="4453262" w="5923022">
                <a:moveTo>
                  <a:pt x="0" y="0"/>
                </a:moveTo>
                <a:lnTo>
                  <a:pt x="5923022" y="0"/>
                </a:lnTo>
                <a:lnTo>
                  <a:pt x="5923022" y="4453262"/>
                </a:lnTo>
                <a:lnTo>
                  <a:pt x="0" y="4453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18" r="0" b="-3118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938825"/>
            <a:ext cx="158898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Distribución Exponencial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938648"/>
            <a:ext cx="9688607" cy="851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9"/>
              </a:lnSpc>
            </a:pP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odela el tiempo entre eventos que ocurren de manera aleatoria e independiente a una tasa constante. Es comúnmente usada para representar tiempos de espera o duración de procesos.</a:t>
            </a:r>
          </a:p>
          <a:p>
            <a:pPr algn="just">
              <a:lnSpc>
                <a:spcPts val="4269"/>
              </a:lnSpc>
            </a:pP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Características: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Solo t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iene un parámetro: la tasa λ (lambda).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Ti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ene la propiedad de sin memoria, es decir, l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a p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robabilidad de que ocurra un evento no depende del tiempo que ya ha pasado.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 media es 1/λ1/λ1/λ y la varianza es 1/λ21/λ^21/λ2.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Ej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emplo: Tiempo ent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r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 llegadas de clientes, fallas de una máquina.</a:t>
            </a:r>
          </a:p>
          <a:p>
            <a:pPr algn="l">
              <a:lnSpc>
                <a:spcPts val="426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3" id="3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0561787" y="4020549"/>
            <a:ext cx="6204511" cy="3166088"/>
          </a:xfrm>
          <a:custGeom>
            <a:avLst/>
            <a:gdLst/>
            <a:ahLst/>
            <a:cxnLst/>
            <a:rect r="r" b="b" t="t" l="l"/>
            <a:pathLst>
              <a:path h="3166088" w="6204511">
                <a:moveTo>
                  <a:pt x="0" y="0"/>
                </a:moveTo>
                <a:lnTo>
                  <a:pt x="6204511" y="0"/>
                </a:lnTo>
                <a:lnTo>
                  <a:pt x="6204511" y="3166088"/>
                </a:lnTo>
                <a:lnTo>
                  <a:pt x="0" y="3166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100345" y="851891"/>
            <a:ext cx="15889853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Distribución Triangular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4981" y="2182270"/>
            <a:ext cx="8812288" cy="744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S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 utiliza cuando solo se conocen tres valores: el mínimo, el más probable y el máximo. Es útil para estimaciones con información limitada.</a:t>
            </a:r>
          </a:p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Características: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Fác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il de entender y aplicar.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No 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necesita datos históricos, solo estimaciones expertas.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 for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ma es una pirámide (triángulo) definida por tres puntos: mínimo (a), moda (c) y máximo (b).</a:t>
            </a:r>
          </a:p>
          <a:p>
            <a:pPr algn="just" marL="658491" indent="-329245" lvl="1">
              <a:lnSpc>
                <a:spcPts val="4269"/>
              </a:lnSpc>
              <a:buFont typeface="Arial"/>
              <a:buChar char="•"/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Ej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emplo: Tiempo estimado para completar una tarea, duración de un proyecto con incertidumbre.</a:t>
            </a:r>
          </a:p>
          <a:p>
            <a:pPr algn="l">
              <a:lnSpc>
                <a:spcPts val="4269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70964" y="1038225"/>
            <a:ext cx="15889853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¿Cómo encontramos </a:t>
            </a:r>
          </a:p>
          <a:p>
            <a:pPr algn="ctr">
              <a:lnSpc>
                <a:spcPts val="8790"/>
              </a:lnSpc>
            </a:pPr>
            <a:r>
              <a:rPr lang="en-US" sz="7325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 distribución?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4" id="4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Freeform 5" id="5"/>
          <p:cNvSpPr/>
          <p:nvPr/>
        </p:nvSpPr>
        <p:spPr>
          <a:xfrm flipH="false" flipV="false" rot="0">
            <a:off x="10269630" y="4749631"/>
            <a:ext cx="6507160" cy="3904296"/>
          </a:xfrm>
          <a:custGeom>
            <a:avLst/>
            <a:gdLst/>
            <a:ahLst/>
            <a:cxnLst/>
            <a:rect r="r" b="b" t="t" l="l"/>
            <a:pathLst>
              <a:path h="3904296" w="6507160">
                <a:moveTo>
                  <a:pt x="0" y="0"/>
                </a:moveTo>
                <a:lnTo>
                  <a:pt x="6507160" y="0"/>
                </a:lnTo>
                <a:lnTo>
                  <a:pt x="6507160" y="3904297"/>
                </a:lnTo>
                <a:lnTo>
                  <a:pt x="0" y="39042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815199" y="4784683"/>
            <a:ext cx="7397156" cy="3834193"/>
          </a:xfrm>
          <a:custGeom>
            <a:avLst/>
            <a:gdLst/>
            <a:ahLst/>
            <a:cxnLst/>
            <a:rect r="r" b="b" t="t" l="l"/>
            <a:pathLst>
              <a:path h="3834193" w="7397156">
                <a:moveTo>
                  <a:pt x="0" y="0"/>
                </a:moveTo>
                <a:lnTo>
                  <a:pt x="7397156" y="0"/>
                </a:lnTo>
                <a:lnTo>
                  <a:pt x="7397156" y="3834193"/>
                </a:lnTo>
                <a:lnTo>
                  <a:pt x="0" y="3834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E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92036" y="3736776"/>
            <a:ext cx="7010767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0"/>
              </a:lnSpc>
            </a:pPr>
            <a:r>
              <a:rPr lang="en-US" sz="100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Ejemplo 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2646" y="0"/>
            <a:ext cx="8005354" cy="10287000"/>
          </a:xfrm>
          <a:custGeom>
            <a:avLst/>
            <a:gdLst/>
            <a:ahLst/>
            <a:cxnLst/>
            <a:rect r="r" b="b" t="t" l="l"/>
            <a:pathLst>
              <a:path h="10287000" w="8005354">
                <a:moveTo>
                  <a:pt x="0" y="0"/>
                </a:moveTo>
                <a:lnTo>
                  <a:pt x="8005354" y="0"/>
                </a:lnTo>
                <a:lnTo>
                  <a:pt x="80053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65" r="0" b="-8365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3" id="3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Freeform 4" id="4"/>
          <p:cNvSpPr/>
          <p:nvPr/>
        </p:nvSpPr>
        <p:spPr>
          <a:xfrm flipH="false" flipV="false" rot="0">
            <a:off x="1482283" y="5350883"/>
            <a:ext cx="11301259" cy="3178479"/>
          </a:xfrm>
          <a:custGeom>
            <a:avLst/>
            <a:gdLst/>
            <a:ahLst/>
            <a:cxnLst/>
            <a:rect r="r" b="b" t="t" l="l"/>
            <a:pathLst>
              <a:path h="3178479" w="11301259">
                <a:moveTo>
                  <a:pt x="0" y="0"/>
                </a:moveTo>
                <a:lnTo>
                  <a:pt x="11301259" y="0"/>
                </a:lnTo>
                <a:lnTo>
                  <a:pt x="11301259" y="3178479"/>
                </a:lnTo>
                <a:lnTo>
                  <a:pt x="0" y="3178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77227" y="5350883"/>
            <a:ext cx="3024513" cy="3024513"/>
          </a:xfrm>
          <a:custGeom>
            <a:avLst/>
            <a:gdLst/>
            <a:ahLst/>
            <a:cxnLst/>
            <a:rect r="r" b="b" t="t" l="l"/>
            <a:pathLst>
              <a:path h="3024513" w="3024513">
                <a:moveTo>
                  <a:pt x="0" y="0"/>
                </a:moveTo>
                <a:lnTo>
                  <a:pt x="3024513" y="0"/>
                </a:lnTo>
                <a:lnTo>
                  <a:pt x="3024513" y="3024513"/>
                </a:lnTo>
                <a:lnTo>
                  <a:pt x="0" y="30245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2283" y="1591883"/>
            <a:ext cx="15319457" cy="424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69"/>
              </a:lnSpc>
            </a:pP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En la tienda de electrónica “Tanooki”, se cuenta con tres áreas de ventas: componentes int</a:t>
            </a:r>
            <a:r>
              <a:rPr lang="en-US" sz="304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egrados, capacitores y transistores. El porcentaje de clientes que llega diariamente a cada una de estas áreas es del 40%, 40% y 20%, respectivamente. Cada área está atendida por su propio servidor, y los tiempos de servicio en cada uno de ellos se describen a continuación:</a:t>
            </a:r>
          </a:p>
          <a:p>
            <a:pPr algn="just">
              <a:lnSpc>
                <a:spcPts val="4269"/>
              </a:lnSpc>
            </a:pPr>
          </a:p>
          <a:p>
            <a:pPr algn="just">
              <a:lnSpc>
                <a:spcPts val="4269"/>
              </a:lnSpc>
            </a:pPr>
          </a:p>
          <a:p>
            <a:pPr algn="just">
              <a:lnSpc>
                <a:spcPts val="426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7560817" y="0"/>
            <a:ext cx="6896061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AutoShape 3" id="3"/>
          <p:cNvSpPr/>
          <p:nvPr/>
        </p:nvSpPr>
        <p:spPr>
          <a:xfrm rot="0">
            <a:off x="-30423480" y="0"/>
            <a:ext cx="31177040" cy="10287000"/>
          </a:xfrm>
          <a:prstGeom prst="rect">
            <a:avLst/>
          </a:prstGeom>
          <a:solidFill>
            <a:srgbClr val="399D4E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1028700" y="272759"/>
            <a:ext cx="16063357" cy="1174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 tienda de teléfonos “AppleStore” ofrece tres modelos de dispositivos: versión Normal, Pro y Pro Max. Cuenta con un inventario inicial de 25 unidades por cada modelo.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El sistema de inventario utiliza un punto d</a:t>
            </a: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 reorden: cuando la cantidad disponible de un modelo baja a 10 unidades, se realiza un pedido automáticamente. El tiempo estimado de reabastecimiento es de aproximadamente 20 minutos.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Los clientes llegan de forma uniforme, con un intervalo de entre 5 y 10 minutos entre cada llegada.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 probabilidad de compra por modelo es la siguiente: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Versión Normal: 40%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Versión Pro: 35%</a:t>
            </a:r>
          </a:p>
          <a:p>
            <a:pPr algn="just" marL="755651" indent="-377825" lvl="1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Versión Pro Max: 25%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El tiempo de atención a cada cliente también </a:t>
            </a:r>
          </a:p>
          <a:p>
            <a:pPr algn="just">
              <a:lnSpc>
                <a:spcPts val="4900"/>
              </a:lnSpc>
            </a:pPr>
            <a:r>
              <a:rPr lang="en-US" sz="35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es uniforme, variando entre 10 y 15 minutos.</a:t>
            </a: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</a:p>
          <a:p>
            <a:pPr algn="just">
              <a:lnSpc>
                <a:spcPts val="490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688367" y="6132353"/>
            <a:ext cx="4154647" cy="4154647"/>
          </a:xfrm>
          <a:custGeom>
            <a:avLst/>
            <a:gdLst/>
            <a:ahLst/>
            <a:cxnLst/>
            <a:rect r="r" b="b" t="t" l="l"/>
            <a:pathLst>
              <a:path h="4154647" w="4154647">
                <a:moveTo>
                  <a:pt x="0" y="0"/>
                </a:moveTo>
                <a:lnTo>
                  <a:pt x="4154646" y="0"/>
                </a:lnTo>
                <a:lnTo>
                  <a:pt x="4154646" y="4154647"/>
                </a:lnTo>
                <a:lnTo>
                  <a:pt x="0" y="41546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E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43153"/>
            <a:ext cx="7010767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9"/>
              </a:lnSpc>
            </a:pPr>
            <a:r>
              <a:rPr lang="en-US" sz="5799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Conceptos clave aprendidos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2646" y="0"/>
            <a:ext cx="8005354" cy="10287000"/>
          </a:xfrm>
          <a:custGeom>
            <a:avLst/>
            <a:gdLst/>
            <a:ahLst/>
            <a:cxnLst/>
            <a:rect r="r" b="b" t="t" l="l"/>
            <a:pathLst>
              <a:path h="10287000" w="8005354">
                <a:moveTo>
                  <a:pt x="0" y="0"/>
                </a:moveTo>
                <a:lnTo>
                  <a:pt x="8005354" y="0"/>
                </a:lnTo>
                <a:lnTo>
                  <a:pt x="80053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365" r="0" b="-8365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465682" y="4528808"/>
            <a:ext cx="12270792" cy="3623161"/>
            <a:chOff x="0" y="0"/>
            <a:chExt cx="16361055" cy="483088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16361055" cy="3322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703925" indent="-351963" lvl="1">
                <a:lnSpc>
                  <a:spcPts val="3912"/>
                </a:lnSpc>
                <a:buFont typeface="Arial"/>
                <a:buChar char="•"/>
              </a:pPr>
              <a:r>
                <a:rPr lang="en-US" sz="326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Tipos de distribuciones </a:t>
              </a:r>
            </a:p>
            <a:p>
              <a:pPr algn="just" marL="703925" indent="-351963" lvl="1">
                <a:lnSpc>
                  <a:spcPts val="3912"/>
                </a:lnSpc>
                <a:buFont typeface="Arial"/>
                <a:buChar char="•"/>
              </a:pPr>
              <a:r>
                <a:rPr lang="en-US" sz="326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Normal</a:t>
              </a:r>
            </a:p>
            <a:p>
              <a:pPr algn="just" marL="703925" indent="-351963" lvl="1">
                <a:lnSpc>
                  <a:spcPts val="3912"/>
                </a:lnSpc>
                <a:buFont typeface="Arial"/>
                <a:buChar char="•"/>
              </a:pPr>
              <a:r>
                <a:rPr lang="en-US" sz="326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Exponencial</a:t>
              </a:r>
            </a:p>
            <a:p>
              <a:pPr algn="just" marL="703925" indent="-351963" lvl="1">
                <a:lnSpc>
                  <a:spcPts val="3912"/>
                </a:lnSpc>
                <a:buFont typeface="Arial"/>
                <a:buChar char="•"/>
              </a:pPr>
              <a:r>
                <a:rPr lang="en-US" sz="326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Triangular </a:t>
              </a:r>
            </a:p>
            <a:p>
              <a:pPr algn="just" marL="703925" indent="-351963" lvl="1">
                <a:lnSpc>
                  <a:spcPts val="3912"/>
                </a:lnSpc>
                <a:buFont typeface="Arial"/>
                <a:buChar char="•"/>
              </a:pPr>
              <a:r>
                <a:rPr lang="en-US" sz="326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Uniforme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240683"/>
              <a:ext cx="16361055" cy="46242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99"/>
                </a:lnSpc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E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757154" y="1676564"/>
            <a:ext cx="7034868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699"/>
              </a:lnSpc>
              <a:spcBef>
                <a:spcPct val="0"/>
              </a:spcBef>
            </a:pPr>
            <a:r>
              <a:rPr lang="en-US" b="true" sz="6999">
                <a:solidFill>
                  <a:srgbClr val="2A2A2A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Valor de la semana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8005354" cy="10287000"/>
          </a:xfrm>
          <a:custGeom>
            <a:avLst/>
            <a:gdLst/>
            <a:ahLst/>
            <a:cxnLst/>
            <a:rect r="r" b="b" t="t" l="l"/>
            <a:pathLst>
              <a:path h="10287000" w="8005354">
                <a:moveTo>
                  <a:pt x="0" y="0"/>
                </a:moveTo>
                <a:lnTo>
                  <a:pt x="8005354" y="0"/>
                </a:lnTo>
                <a:lnTo>
                  <a:pt x="80053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6255" t="0" r="-4625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701904" y="4731815"/>
            <a:ext cx="9145367" cy="271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90"/>
              </a:lnSpc>
              <a:spcBef>
                <a:spcPct val="0"/>
              </a:spcBef>
            </a:pPr>
            <a:r>
              <a:rPr lang="en-US" sz="49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Etica, al momento de realizar simulaciones no realizar procesos ocultos para poder ejecutar las tareas.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1EF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14475" y="3322628"/>
            <a:ext cx="9238327" cy="3641744"/>
            <a:chOff x="0" y="0"/>
            <a:chExt cx="12317770" cy="485565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2317770" cy="162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00"/>
                </a:lnSpc>
              </a:pPr>
              <a:r>
                <a:rPr lang="en-US" sz="80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Referencias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615167"/>
              <a:ext cx="12317770" cy="21033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96571" indent="-248285" lvl="1">
                <a:lnSpc>
                  <a:spcPts val="3220"/>
                </a:lnSpc>
                <a:buFont typeface="Arial"/>
                <a:buChar char="•"/>
              </a:pPr>
              <a:r>
                <a:rPr lang="en-US" sz="23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Laguna, Manuel; Marklund, Johan. Business Process Modeling, Simulation and Design – </a:t>
              </a:r>
              <a:r>
                <a:rPr lang="en-US" sz="23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3era Edición. CRC Press. 2019</a:t>
              </a:r>
            </a:p>
            <a:p>
              <a:pPr algn="l" marL="496570" indent="-248285" lvl="1">
                <a:lnSpc>
                  <a:spcPts val="3219"/>
                </a:lnSpc>
                <a:buFont typeface="Arial"/>
                <a:buChar char="•"/>
              </a:pPr>
              <a:r>
                <a:rPr lang="en-US" sz="2299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Law, Averill M. Simulation Modeling &amp; Analysis – 4ta Edición. McGraw Hill, New York, USA 2007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13450" y="1644074"/>
            <a:ext cx="5325085" cy="6998853"/>
            <a:chOff x="0" y="0"/>
            <a:chExt cx="7100114" cy="93318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5161799"/>
              <a:ext cx="6929012" cy="4170005"/>
            </a:xfrm>
            <a:custGeom>
              <a:avLst/>
              <a:gdLst/>
              <a:ahLst/>
              <a:cxnLst/>
              <a:rect r="r" b="b" t="t" l="l"/>
              <a:pathLst>
                <a:path h="4170005" w="6929012">
                  <a:moveTo>
                    <a:pt x="0" y="0"/>
                  </a:moveTo>
                  <a:lnTo>
                    <a:pt x="6929012" y="0"/>
                  </a:lnTo>
                  <a:lnTo>
                    <a:pt x="6929012" y="4170005"/>
                  </a:lnTo>
                  <a:lnTo>
                    <a:pt x="0" y="4170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2435115" y="0"/>
              <a:ext cx="4664998" cy="6212468"/>
            </a:xfrm>
            <a:custGeom>
              <a:avLst/>
              <a:gdLst/>
              <a:ahLst/>
              <a:cxnLst/>
              <a:rect r="r" b="b" t="t" l="l"/>
              <a:pathLst>
                <a:path h="6212468" w="4664998">
                  <a:moveTo>
                    <a:pt x="0" y="0"/>
                  </a:moveTo>
                  <a:lnTo>
                    <a:pt x="4664999" y="0"/>
                  </a:lnTo>
                  <a:lnTo>
                    <a:pt x="4664999" y="6212468"/>
                  </a:lnTo>
                  <a:lnTo>
                    <a:pt x="0" y="62124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07663"/>
            <a:ext cx="2599435" cy="3371142"/>
          </a:xfrm>
          <a:custGeom>
            <a:avLst/>
            <a:gdLst/>
            <a:ahLst/>
            <a:cxnLst/>
            <a:rect r="r" b="b" t="t" l="l"/>
            <a:pathLst>
              <a:path h="3371142" w="2599435">
                <a:moveTo>
                  <a:pt x="0" y="0"/>
                </a:moveTo>
                <a:lnTo>
                  <a:pt x="2599435" y="0"/>
                </a:lnTo>
                <a:lnTo>
                  <a:pt x="2599435" y="3371143"/>
                </a:lnTo>
                <a:lnTo>
                  <a:pt x="0" y="33711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73554" y="3878806"/>
            <a:ext cx="5088626" cy="2529389"/>
            <a:chOff x="0" y="0"/>
            <a:chExt cx="6784835" cy="3372518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0"/>
              <a:ext cx="6784835" cy="182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0800"/>
                </a:lnSpc>
              </a:pPr>
              <a:r>
                <a:rPr lang="en-US" sz="9000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¿Dudas?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830440"/>
              <a:ext cx="6784835" cy="5471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49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503052" y="6667120"/>
            <a:ext cx="11629629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2"/>
              </a:lnSpc>
              <a:spcBef>
                <a:spcPct val="0"/>
              </a:spcBef>
            </a:pPr>
            <a:r>
              <a:rPr lang="en-US" sz="326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Recuerda que tenemos nuestro foro semanal donde puedes</a:t>
            </a:r>
          </a:p>
          <a:p>
            <a:pPr algn="ctr">
              <a:lnSpc>
                <a:spcPts val="3912"/>
              </a:lnSpc>
              <a:spcBef>
                <a:spcPct val="0"/>
              </a:spcBef>
            </a:pPr>
            <a:r>
              <a:rPr lang="en-US" sz="326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DAGof54-IAc</dc:identifier>
  <dcterms:modified xsi:type="dcterms:W3CDTF">2011-08-01T06:04:30Z</dcterms:modified>
  <cp:revision>1</cp:revision>
  <dc:title> Semana 3</dc:title>
</cp:coreProperties>
</file>