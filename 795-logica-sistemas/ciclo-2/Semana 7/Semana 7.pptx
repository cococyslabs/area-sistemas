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0287000" cx="18288000"/>
  <p:notesSz cx="6858000" cy="9144000"/>
  <p:embeddedFontLst>
    <p:embeddedFont>
      <p:font typeface="Play"/>
      <p:regular r:id="rId37"/>
      <p:bold r:id="rId38"/>
    </p:embeddedFont>
    <p:embeddedFont>
      <p:font typeface="Open Sans"/>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j9UfMOP/X8yG26goxgaV8cmmfG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Pl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1"/>
          <p:cNvSpPr/>
          <p:nvPr>
            <p:ph idx="2" type="pic"/>
          </p:nvPr>
        </p:nvSpPr>
        <p:spPr>
          <a:xfrm>
            <a:off x="1792288" y="612775"/>
            <a:ext cx="5486400" cy="4114800"/>
          </a:xfrm>
          <a:prstGeom prst="rect">
            <a:avLst/>
          </a:prstGeom>
          <a:noFill/>
          <a:ln>
            <a:noFill/>
          </a:ln>
        </p:spPr>
      </p:sp>
      <p:sp>
        <p:nvSpPr>
          <p:cNvPr id="64" name="Google Shape;64;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
          <p:cNvSpPr txBox="1"/>
          <p:nvPr/>
        </p:nvSpPr>
        <p:spPr>
          <a:xfrm>
            <a:off x="1028700" y="7658100"/>
            <a:ext cx="7284452"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5000">
                <a:solidFill>
                  <a:srgbClr val="131416"/>
                </a:solidFill>
                <a:latin typeface="Open Sans"/>
                <a:ea typeface="Open Sans"/>
                <a:cs typeface="Open Sans"/>
                <a:sym typeface="Open Sans"/>
              </a:rPr>
              <a:t>Lógica de Sistemas</a:t>
            </a:r>
            <a:endParaRPr/>
          </a:p>
        </p:txBody>
      </p:sp>
      <p:sp>
        <p:nvSpPr>
          <p:cNvPr id="86" name="Google Shape;86;p1"/>
          <p:cNvSpPr txBox="1"/>
          <p:nvPr/>
        </p:nvSpPr>
        <p:spPr>
          <a:xfrm>
            <a:off x="3272076" y="3355266"/>
            <a:ext cx="11205567" cy="136842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8000">
                <a:solidFill>
                  <a:srgbClr val="131416"/>
                </a:solidFill>
                <a:latin typeface="Open Sans"/>
                <a:ea typeface="Open Sans"/>
                <a:cs typeface="Open Sans"/>
                <a:sym typeface="Open Sans"/>
              </a:rPr>
              <a:t>Repaso Unidades 3 y 4</a:t>
            </a:r>
            <a:endParaRPr/>
          </a:p>
        </p:txBody>
      </p:sp>
      <p:sp>
        <p:nvSpPr>
          <p:cNvPr id="87" name="Google Shape;87;p1"/>
          <p:cNvSpPr txBox="1"/>
          <p:nvPr/>
        </p:nvSpPr>
        <p:spPr>
          <a:xfrm>
            <a:off x="1032329" y="8552543"/>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lang="en-US" sz="2499">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028051"/>
            <a:ext cx="6407944"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lang="en-US" sz="2499">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46843" y="9426656"/>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lang="en-US" sz="2499">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93" name="Shape 93"/>
        <p:cNvGrpSpPr/>
        <p:nvPr/>
      </p:nvGrpSpPr>
      <p:grpSpPr>
        <a:xfrm>
          <a:off x="0" y="0"/>
          <a:ext cx="0" cy="0"/>
          <a:chOff x="0" y="0"/>
          <a:chExt cx="0" cy="0"/>
        </a:xfrm>
      </p:grpSpPr>
      <p:grpSp>
        <p:nvGrpSpPr>
          <p:cNvPr id="94" name="Google Shape;94;p2"/>
          <p:cNvGrpSpPr/>
          <p:nvPr/>
        </p:nvGrpSpPr>
        <p:grpSpPr>
          <a:xfrm>
            <a:off x="176619" y="4520484"/>
            <a:ext cx="4613551" cy="845385"/>
            <a:chOff x="0" y="-76200"/>
            <a:chExt cx="1964221"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lang="en-US" sz="2799">
                  <a:solidFill>
                    <a:srgbClr val="000000"/>
                  </a:solidFill>
                  <a:latin typeface="Arial"/>
                  <a:ea typeface="Arial"/>
                  <a:cs typeface="Arial"/>
                  <a:sym typeface="Arial"/>
                </a:rPr>
                <a:t>Quizz</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lang="en-US" sz="2799">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 name="Google Shape;102;p2"/>
          <p:cNvGrpSpPr/>
          <p:nvPr/>
        </p:nvGrpSpPr>
        <p:grpSpPr>
          <a:xfrm>
            <a:off x="651750" y="-320617"/>
            <a:ext cx="6850801" cy="3120467"/>
            <a:chOff x="-6" y="-95250"/>
            <a:chExt cx="9134400" cy="4160623"/>
          </a:xfrm>
        </p:grpSpPr>
        <p:sp>
          <p:nvSpPr>
            <p:cNvPr id="103" name="Google Shape;103;p2"/>
            <p:cNvSpPr txBox="1"/>
            <p:nvPr/>
          </p:nvSpPr>
          <p:spPr>
            <a:xfrm>
              <a:off x="-6" y="986773"/>
              <a:ext cx="9134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5000">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5" name="Google Shape;105;p2"/>
          <p:cNvGrpSpPr/>
          <p:nvPr/>
        </p:nvGrpSpPr>
        <p:grpSpPr>
          <a:xfrm>
            <a:off x="10041000" y="97566"/>
            <a:ext cx="9507600" cy="2970059"/>
            <a:chOff x="-1454287" y="-76200"/>
            <a:chExt cx="12676800" cy="3960079"/>
          </a:xfrm>
        </p:grpSpPr>
        <p:sp>
          <p:nvSpPr>
            <p:cNvPr id="106" name="Google Shape;106;p2"/>
            <p:cNvSpPr txBox="1"/>
            <p:nvPr/>
          </p:nvSpPr>
          <p:spPr>
            <a:xfrm>
              <a:off x="-1454287" y="805279"/>
              <a:ext cx="126768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5000">
                  <a:solidFill>
                    <a:srgbClr val="131416"/>
                  </a:solidFill>
                  <a:latin typeface="Play"/>
                  <a:ea typeface="Play"/>
                  <a:cs typeface="Play"/>
                  <a:sym typeface="Play"/>
                </a:rPr>
                <a:t>Recursos</a:t>
              </a:r>
              <a:endParaRPr/>
            </a:p>
          </p:txBody>
        </p:sp>
        <p:sp>
          <p:nvSpPr>
            <p:cNvPr id="107" name="Google Shape;107;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8" name="Google Shape;108;p2"/>
          <p:cNvGrpSpPr/>
          <p:nvPr/>
        </p:nvGrpSpPr>
        <p:grpSpPr>
          <a:xfrm>
            <a:off x="10601661" y="5775657"/>
            <a:ext cx="7038974" cy="1786106"/>
            <a:chOff x="0" y="-47625"/>
            <a:chExt cx="1853886" cy="470415"/>
          </a:xfrm>
        </p:grpSpPr>
        <p:sp>
          <p:nvSpPr>
            <p:cNvPr id="109" name="Google Shape;109;p2"/>
            <p:cNvSpPr/>
            <p:nvPr/>
          </p:nvSpPr>
          <p:spPr>
            <a:xfrm>
              <a:off x="0" y="0"/>
              <a:ext cx="1853886" cy="422790"/>
            </a:xfrm>
            <a:custGeom>
              <a:rect b="b" l="l" r="r" t="t"/>
              <a:pathLst>
                <a:path extrusionOk="0" h="422790" w="1853886">
                  <a:moveTo>
                    <a:pt x="1650686" y="0"/>
                  </a:moveTo>
                  <a:lnTo>
                    <a:pt x="0" y="0"/>
                  </a:lnTo>
                  <a:lnTo>
                    <a:pt x="0" y="422790"/>
                  </a:lnTo>
                  <a:lnTo>
                    <a:pt x="1650686" y="422790"/>
                  </a:lnTo>
                  <a:lnTo>
                    <a:pt x="1853886" y="211395"/>
                  </a:lnTo>
                  <a:lnTo>
                    <a:pt x="165068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0" y="-47625"/>
              <a:ext cx="1739586" cy="470415"/>
            </a:xfrm>
            <a:prstGeom prst="rect">
              <a:avLst/>
            </a:prstGeom>
            <a:noFill/>
            <a:ln>
              <a:noFill/>
            </a:ln>
          </p:spPr>
          <p:txBody>
            <a:bodyPr anchorCtr="0" anchor="ctr" bIns="50800" lIns="50800" spcFirstLastPara="1" rIns="50800" wrap="square" tIns="50800">
              <a:noAutofit/>
            </a:bodyPr>
            <a:lstStyle/>
            <a:p>
              <a:pPr indent="0" lvl="0" marL="0" marR="0" rtl="0" algn="ctr">
                <a:lnSpc>
                  <a:spcPct val="148000"/>
                </a:lnSpc>
                <a:spcBef>
                  <a:spcPts val="0"/>
                </a:spcBef>
                <a:spcAft>
                  <a:spcPts val="0"/>
                </a:spcAft>
                <a:buNone/>
              </a:pPr>
              <a:r>
                <a:rPr b="1" lang="en-US" sz="2000">
                  <a:solidFill>
                    <a:srgbClr val="000000"/>
                  </a:solidFill>
                  <a:latin typeface="Arial"/>
                  <a:ea typeface="Arial"/>
                  <a:cs typeface="Arial"/>
                  <a:sym typeface="Arial"/>
                </a:rPr>
                <a:t>Link de Quizziz:</a:t>
              </a:r>
              <a:endParaRPr/>
            </a:p>
            <a:p>
              <a:pPr indent="0" lvl="0" marL="0" marR="0" rtl="0" algn="ctr">
                <a:lnSpc>
                  <a:spcPct val="148000"/>
                </a:lnSpc>
                <a:spcBef>
                  <a:spcPts val="0"/>
                </a:spcBef>
                <a:spcAft>
                  <a:spcPts val="0"/>
                </a:spcAft>
                <a:buNone/>
              </a:pPr>
              <a:r>
                <a:t/>
              </a:r>
              <a:endParaRPr b="1" sz="2000">
                <a:solidFill>
                  <a:srgbClr val="000000"/>
                </a:solidFill>
                <a:latin typeface="Arial"/>
                <a:ea typeface="Arial"/>
                <a:cs typeface="Arial"/>
                <a:sym typeface="Arial"/>
              </a:endParaRPr>
            </a:p>
            <a:p>
              <a:pPr indent="0" lvl="0" marL="0" marR="0" rtl="0" algn="ctr">
                <a:lnSpc>
                  <a:spcPct val="148000"/>
                </a:lnSpc>
                <a:spcBef>
                  <a:spcPts val="0"/>
                </a:spcBef>
                <a:spcAft>
                  <a:spcPts val="0"/>
                </a:spcAft>
                <a:buNone/>
              </a:pPr>
              <a:r>
                <a:rPr lang="en-US" sz="2000">
                  <a:solidFill>
                    <a:srgbClr val="000000"/>
                  </a:solidFill>
                  <a:latin typeface="Arial"/>
                  <a:ea typeface="Arial"/>
                  <a:cs typeface="Arial"/>
                  <a:sym typeface="Arial"/>
                </a:rPr>
                <a:t>https://create.kahoot.it/details/cc8e4463-cc27-42cc-8929-763d2174854c</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14" name="Shape 114"/>
        <p:cNvGrpSpPr/>
        <p:nvPr/>
      </p:nvGrpSpPr>
      <p:grpSpPr>
        <a:xfrm>
          <a:off x="0" y="0"/>
          <a:ext cx="0" cy="0"/>
          <a:chOff x="0" y="0"/>
          <a:chExt cx="0" cy="0"/>
        </a:xfrm>
      </p:grpSpPr>
      <p:sp>
        <p:nvSpPr>
          <p:cNvPr id="115" name="Google Shape;115;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lang="en-US" sz="6098">
                <a:solidFill>
                  <a:srgbClr val="131416"/>
                </a:solidFill>
                <a:latin typeface="Arial"/>
                <a:ea typeface="Arial"/>
                <a:cs typeface="Arial"/>
                <a:sym typeface="Arial"/>
              </a:rPr>
              <a:t>COMPETENCIA(S) QUE DESARROLLAREMOS</a:t>
            </a:r>
            <a:endParaRPr/>
          </a:p>
        </p:txBody>
      </p:sp>
      <p:sp>
        <p:nvSpPr>
          <p:cNvPr id="116" name="Google Shape;116;p3"/>
          <p:cNvSpPr txBox="1"/>
          <p:nvPr/>
        </p:nvSpPr>
        <p:spPr>
          <a:xfrm>
            <a:off x="1917751" y="2940050"/>
            <a:ext cx="13448312" cy="6318250"/>
          </a:xfrm>
          <a:prstGeom prst="rect">
            <a:avLst/>
          </a:prstGeom>
          <a:noFill/>
          <a:ln>
            <a:noFill/>
          </a:ln>
        </p:spPr>
        <p:txBody>
          <a:bodyPr anchorCtr="0" anchor="t" bIns="0" lIns="0" spcFirstLastPara="1" rIns="0" wrap="square" tIns="0">
            <a:spAutoFit/>
          </a:bodyPr>
          <a:lstStyle/>
          <a:p>
            <a:pPr indent="-431800" lvl="1" marL="863599" marR="0" rtl="0" algn="just">
              <a:lnSpc>
                <a:spcPct val="140010"/>
              </a:lnSpc>
              <a:spcBef>
                <a:spcPts val="0"/>
              </a:spcBef>
              <a:spcAft>
                <a:spcPts val="0"/>
              </a:spcAft>
              <a:buClr>
                <a:srgbClr val="131416"/>
              </a:buClr>
              <a:buSzPts val="3999"/>
              <a:buFont typeface="Arial"/>
              <a:buChar char="•"/>
            </a:pPr>
            <a:r>
              <a:rPr b="0" i="0" lang="en-US" sz="3999" u="none" cap="none" strike="noStrike">
                <a:solidFill>
                  <a:srgbClr val="131416"/>
                </a:solidFill>
                <a:latin typeface="Open Sans"/>
                <a:ea typeface="Open Sans"/>
                <a:cs typeface="Open Sans"/>
                <a:sym typeface="Open Sans"/>
              </a:rPr>
              <a:t>Construye árboles lógicos y tríadas de conceptos utilizando los contenidos desarrollados durante el curso para representar estructuras lógicas de pensamiento. </a:t>
            </a:r>
            <a:endParaRPr/>
          </a:p>
          <a:p>
            <a:pPr indent="0" lvl="0" marL="0" marR="0" rtl="0" algn="just">
              <a:lnSpc>
                <a:spcPct val="140010"/>
              </a:lnSpc>
              <a:spcBef>
                <a:spcPts val="0"/>
              </a:spcBef>
              <a:spcAft>
                <a:spcPts val="0"/>
              </a:spcAft>
              <a:buNone/>
            </a:pPr>
            <a:r>
              <a:t/>
            </a:r>
            <a:endParaRPr sz="3999">
              <a:solidFill>
                <a:srgbClr val="131416"/>
              </a:solidFill>
              <a:latin typeface="Open Sans"/>
              <a:ea typeface="Open Sans"/>
              <a:cs typeface="Open Sans"/>
              <a:sym typeface="Open Sans"/>
            </a:endParaRPr>
          </a:p>
          <a:p>
            <a:pPr indent="-431800" lvl="1" marL="863599" marR="0" rtl="0" algn="just">
              <a:lnSpc>
                <a:spcPct val="140010"/>
              </a:lnSpc>
              <a:spcBef>
                <a:spcPts val="0"/>
              </a:spcBef>
              <a:spcAft>
                <a:spcPts val="0"/>
              </a:spcAft>
              <a:buClr>
                <a:srgbClr val="131416"/>
              </a:buClr>
              <a:buSzPts val="3999"/>
              <a:buFont typeface="Arial"/>
              <a:buChar char="•"/>
            </a:pPr>
            <a:r>
              <a:rPr b="0" i="0" lang="en-US" sz="3999" u="none" cap="none" strike="noStrike">
                <a:solidFill>
                  <a:srgbClr val="131416"/>
                </a:solidFill>
                <a:latin typeface="Open Sans"/>
                <a:ea typeface="Open Sans"/>
                <a:cs typeface="Open Sans"/>
                <a:sym typeface="Open Sans"/>
              </a:rPr>
              <a:t>Reconoce proposiciones y razonamientos en el lenguaje por medio del análisis de textos y enunciados para distinguir los componentes lógicos del lenguaje.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20" name="Shape 120"/>
        <p:cNvGrpSpPr/>
        <p:nvPr/>
      </p:nvGrpSpPr>
      <p:grpSpPr>
        <a:xfrm>
          <a:off x="0" y="0"/>
          <a:ext cx="0" cy="0"/>
          <a:chOff x="0" y="0"/>
          <a:chExt cx="0" cy="0"/>
        </a:xfrm>
      </p:grpSpPr>
      <p:sp>
        <p:nvSpPr>
          <p:cNvPr id="121" name="Google Shape;121;p4"/>
          <p:cNvSpPr txBox="1"/>
          <p:nvPr/>
        </p:nvSpPr>
        <p:spPr>
          <a:xfrm>
            <a:off x="1374889" y="3027816"/>
            <a:ext cx="12625499" cy="6784193"/>
          </a:xfrm>
          <a:prstGeom prst="rect">
            <a:avLst/>
          </a:prstGeom>
          <a:noFill/>
          <a:ln>
            <a:noFill/>
          </a:ln>
        </p:spPr>
        <p:txBody>
          <a:bodyPr anchorCtr="0" anchor="t" bIns="0" lIns="0" spcFirstLastPara="1" rIns="0" wrap="square" tIns="0">
            <a:spAutoFit/>
          </a:bodyPr>
          <a:lstStyle/>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Triadas Parciales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Objetos </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Sinónimos y Homónimos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 Diagrama del árbol </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Operaciones Lógicas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Proposiciones</a:t>
            </a:r>
            <a:endParaRPr/>
          </a:p>
          <a:p>
            <a:pPr indent="-423887" lvl="1" marL="847775" marR="0" rtl="0" algn="l">
              <a:lnSpc>
                <a:spcPct val="173070"/>
              </a:lnSpc>
              <a:spcBef>
                <a:spcPts val="0"/>
              </a:spcBef>
              <a:spcAft>
                <a:spcPts val="0"/>
              </a:spcAft>
              <a:buClr>
                <a:srgbClr val="131416"/>
              </a:buClr>
              <a:buSzPts val="3925"/>
              <a:buFont typeface="Arial"/>
              <a:buChar char="•"/>
            </a:pPr>
            <a:r>
              <a:rPr b="0" i="0" lang="en-US" sz="3925" u="none" cap="none" strike="noStrike">
                <a:solidFill>
                  <a:srgbClr val="131416"/>
                </a:solidFill>
                <a:latin typeface="Arial"/>
                <a:ea typeface="Arial"/>
                <a:cs typeface="Arial"/>
                <a:sym typeface="Arial"/>
              </a:rPr>
              <a:t>Logica del Razonamiento</a:t>
            </a:r>
            <a:endParaRPr/>
          </a:p>
          <a:p>
            <a:pPr indent="0" lvl="0" marL="0" marR="0" rtl="0" algn="l">
              <a:lnSpc>
                <a:spcPct val="173025"/>
              </a:lnSpc>
              <a:spcBef>
                <a:spcPts val="0"/>
              </a:spcBef>
              <a:spcAft>
                <a:spcPts val="0"/>
              </a:spcAft>
              <a:buNone/>
            </a:pPr>
            <a:r>
              <a:t/>
            </a:r>
            <a:endParaRPr sz="3925">
              <a:solidFill>
                <a:srgbClr val="131416"/>
              </a:solidFill>
              <a:latin typeface="Arial"/>
              <a:ea typeface="Arial"/>
              <a:cs typeface="Arial"/>
              <a:sym typeface="Arial"/>
            </a:endParaRPr>
          </a:p>
        </p:txBody>
      </p:sp>
      <p:sp>
        <p:nvSpPr>
          <p:cNvPr id="122" name="Google Shape;122;p4"/>
          <p:cNvSpPr txBox="1"/>
          <p:nvPr/>
        </p:nvSpPr>
        <p:spPr>
          <a:xfrm>
            <a:off x="1374889" y="654364"/>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lang="en-US" sz="6098">
                <a:solidFill>
                  <a:srgbClr val="131416"/>
                </a:solidFill>
                <a:latin typeface="Arial"/>
                <a:ea typeface="Arial"/>
                <a:cs typeface="Arial"/>
                <a:sym typeface="Arial"/>
              </a:rPr>
              <a:t>CONTENIDO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26" name="Shape 126"/>
        <p:cNvGrpSpPr/>
        <p:nvPr/>
      </p:nvGrpSpPr>
      <p:grpSpPr>
        <a:xfrm>
          <a:off x="0" y="0"/>
          <a:ext cx="0" cy="0"/>
          <a:chOff x="0" y="0"/>
          <a:chExt cx="0" cy="0"/>
        </a:xfrm>
      </p:grpSpPr>
      <p:sp>
        <p:nvSpPr>
          <p:cNvPr id="127" name="Google Shape;127;p5"/>
          <p:cNvSpPr/>
          <p:nvPr/>
        </p:nvSpPr>
        <p:spPr>
          <a:xfrm>
            <a:off x="9144000" y="2919265"/>
            <a:ext cx="7908390" cy="4448470"/>
          </a:xfrm>
          <a:custGeom>
            <a:rect b="b" l="l" r="r" t="t"/>
            <a:pathLst>
              <a:path extrusionOk="0" h="4448470" w="7908390">
                <a:moveTo>
                  <a:pt x="0" y="0"/>
                </a:moveTo>
                <a:lnTo>
                  <a:pt x="7908390" y="0"/>
                </a:lnTo>
                <a:lnTo>
                  <a:pt x="7908390" y="4448470"/>
                </a:lnTo>
                <a:lnTo>
                  <a:pt x="0" y="44484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5"/>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¿QUE ES UN OBJETO?</a:t>
            </a:r>
            <a:endParaRPr/>
          </a:p>
        </p:txBody>
      </p:sp>
      <p:sp>
        <p:nvSpPr>
          <p:cNvPr id="129" name="Google Shape;129;p5"/>
          <p:cNvSpPr txBox="1"/>
          <p:nvPr/>
        </p:nvSpPr>
        <p:spPr>
          <a:xfrm>
            <a:off x="351713" y="2495368"/>
            <a:ext cx="8028233" cy="5549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500">
                <a:solidFill>
                  <a:srgbClr val="131416"/>
                </a:solidFill>
                <a:latin typeface="Open Sans"/>
                <a:ea typeface="Open Sans"/>
                <a:cs typeface="Open Sans"/>
                <a:sym typeface="Open Sans"/>
              </a:rPr>
              <a:t>Un objeto es cualquier cosa concreta o abstracta a la que se puede aplicar un concepto. Es una instancia particular que podemos percibir, describir o analizar gracias a los conceptos que poseemos.</a:t>
            </a:r>
            <a:endParaRPr/>
          </a:p>
          <a:p>
            <a:pPr indent="0" lvl="0" marL="0" marR="0" rtl="0" algn="just">
              <a:lnSpc>
                <a:spcPct val="140000"/>
              </a:lnSpc>
              <a:spcBef>
                <a:spcPts val="0"/>
              </a:spcBef>
              <a:spcAft>
                <a:spcPts val="0"/>
              </a:spcAft>
              <a:buNone/>
            </a:pPr>
            <a:r>
              <a:rPr b="1" lang="en-US" sz="3500">
                <a:solidFill>
                  <a:srgbClr val="131416"/>
                </a:solidFill>
                <a:latin typeface="Open Sans"/>
                <a:ea typeface="Open Sans"/>
                <a:cs typeface="Open Sans"/>
                <a:sym typeface="Open Sans"/>
              </a:rPr>
              <a:t>Ejemplo:</a:t>
            </a:r>
            <a:r>
              <a:rPr lang="en-US" sz="3500">
                <a:solidFill>
                  <a:srgbClr val="131416"/>
                </a:solidFill>
                <a:latin typeface="Open Sans"/>
                <a:ea typeface="Open Sans"/>
                <a:cs typeface="Open Sans"/>
                <a:sym typeface="Open Sans"/>
              </a:rPr>
              <a:t> Un celular específico que usas todos los días es un objeto del concepto general “teléfono móvil”.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33" name="Shape 133"/>
        <p:cNvGrpSpPr/>
        <p:nvPr/>
      </p:nvGrpSpPr>
      <p:grpSpPr>
        <a:xfrm>
          <a:off x="0" y="0"/>
          <a:ext cx="0" cy="0"/>
          <a:chOff x="0" y="0"/>
          <a:chExt cx="0" cy="0"/>
        </a:xfrm>
      </p:grpSpPr>
      <p:sp>
        <p:nvSpPr>
          <p:cNvPr id="134" name="Google Shape;134;p6"/>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TRIADAS DEL CONCEPTO</a:t>
            </a:r>
            <a:endParaRPr/>
          </a:p>
        </p:txBody>
      </p:sp>
      <p:sp>
        <p:nvSpPr>
          <p:cNvPr id="135" name="Google Shape;135;p6"/>
          <p:cNvSpPr txBox="1"/>
          <p:nvPr/>
        </p:nvSpPr>
        <p:spPr>
          <a:xfrm>
            <a:off x="1396015" y="1632672"/>
            <a:ext cx="15863285" cy="10115550"/>
          </a:xfrm>
          <a:prstGeom prst="rect">
            <a:avLst/>
          </a:prstGeom>
          <a:noFill/>
          <a:ln>
            <a:noFill/>
          </a:ln>
        </p:spPr>
        <p:txBody>
          <a:bodyPr anchorCtr="0" anchor="t" bIns="0" lIns="0" spcFirstLastPara="1" rIns="0" wrap="square" tIns="0">
            <a:spAutoFit/>
          </a:bodyPr>
          <a:lstStyle/>
          <a:p>
            <a:pPr indent="0" lvl="0" marL="0" marR="0" rtl="0" algn="just">
              <a:lnSpc>
                <a:spcPct val="233333"/>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Recordemos lo que son las triadas del concepto y que elementos la componen:</a:t>
            </a:r>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 el conjunto de tres elementos que usamos para comprender y reconocer un concepto, el nombre del concepto (símbolo), sus características principales (intensidad) y los ejemplos que lo representan (extensión).</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Los elementos que componen las triadas del concepto son:</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Símbolo:</a:t>
            </a:r>
            <a:r>
              <a:rPr b="0" i="0" lang="en-US" sz="3000" u="none" cap="none" strike="noStrike">
                <a:solidFill>
                  <a:srgbClr val="131416"/>
                </a:solidFill>
                <a:latin typeface="Open Sans"/>
                <a:ea typeface="Open Sans"/>
                <a:cs typeface="Open Sans"/>
                <a:sym typeface="Open Sans"/>
              </a:rPr>
              <a:t> Es la palabra o etiqueta con la que identificamos mentalmente una idea.</a:t>
            </a:r>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Intensidad: </a:t>
            </a:r>
            <a:r>
              <a:rPr b="0" i="0" lang="en-US" sz="3000" u="none" cap="none" strike="noStrike">
                <a:solidFill>
                  <a:srgbClr val="131416"/>
                </a:solidFill>
                <a:latin typeface="Open Sans"/>
                <a:ea typeface="Open Sans"/>
                <a:cs typeface="Open Sans"/>
                <a:sym typeface="Open Sans"/>
              </a:rPr>
              <a:t>Son las características esenciales que definen al concepto.</a:t>
            </a:r>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Extensión: </a:t>
            </a:r>
            <a:r>
              <a:rPr b="0" i="0" lang="en-US" sz="3000" u="none" cap="none" strike="noStrike">
                <a:solidFill>
                  <a:srgbClr val="131416"/>
                </a:solidFill>
                <a:latin typeface="Open Sans"/>
                <a:ea typeface="Open Sans"/>
                <a:cs typeface="Open Sans"/>
                <a:sym typeface="Open Sans"/>
              </a:rPr>
              <a:t>Son los ejemplos concretos que representan ese concepto.</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39" name="Shape 139"/>
        <p:cNvGrpSpPr/>
        <p:nvPr/>
      </p:nvGrpSpPr>
      <p:grpSpPr>
        <a:xfrm>
          <a:off x="0" y="0"/>
          <a:ext cx="0" cy="0"/>
          <a:chOff x="0" y="0"/>
          <a:chExt cx="0" cy="0"/>
        </a:xfrm>
      </p:grpSpPr>
      <p:sp>
        <p:nvSpPr>
          <p:cNvPr id="140" name="Google Shape;140;p7"/>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RECORDEMOS LAS TRIADAS PARCIALES</a:t>
            </a:r>
            <a:endParaRPr/>
          </a:p>
        </p:txBody>
      </p:sp>
      <p:sp>
        <p:nvSpPr>
          <p:cNvPr id="141" name="Google Shape;141;p7"/>
          <p:cNvSpPr txBox="1"/>
          <p:nvPr/>
        </p:nvSpPr>
        <p:spPr>
          <a:xfrm>
            <a:off x="743589" y="1538445"/>
            <a:ext cx="15863285" cy="8515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En alguna circunstancia, vemos triadas parciales, es decir triadas a las que les falta uno de los elementos que mencionamos con anterioridad, estos casos especiales son:</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Conceptos sin nombre:</a:t>
            </a:r>
            <a:r>
              <a:rPr b="0" i="0" lang="en-US" sz="3000" u="none" cap="none" strike="noStrike">
                <a:solidFill>
                  <a:srgbClr val="131416"/>
                </a:solidFill>
                <a:latin typeface="Open Sans"/>
                <a:ea typeface="Open Sans"/>
                <a:cs typeface="Open Sans"/>
                <a:sym typeface="Open Sans"/>
              </a:rPr>
              <a:t> Es decir las triadas que no cuentan con un símbolo ya que un concepto puede existir en nuestra mente sin tener un nombre específico. Sin embargo, al nombrarlo con un símbolo o palabra, podemos comunicarlo de forma más rápida y efectiva.</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Conceptos sin objeto: </a:t>
            </a:r>
            <a:r>
              <a:rPr b="0" i="0" lang="en-US" sz="3000" u="none" cap="none" strike="noStrike">
                <a:solidFill>
                  <a:srgbClr val="131416"/>
                </a:solidFill>
                <a:latin typeface="Open Sans"/>
                <a:ea typeface="Open Sans"/>
                <a:cs typeface="Open Sans"/>
                <a:sym typeface="Open Sans"/>
              </a:rPr>
              <a:t>Son conceptos que existen en nuestra mente, pero que no tienen un objeto real o presente asociado. Sirven para anticipar, imaginar o prevenir situaciones, aunque no exista un ejemplo concreto.  Es decir son las triadas que no cuentan con una extensión.</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Conceptos sin definición: </a:t>
            </a:r>
            <a:r>
              <a:rPr b="0" i="0" lang="en-US" sz="3000" u="none" cap="none" strike="noStrike">
                <a:solidFill>
                  <a:srgbClr val="131416"/>
                </a:solidFill>
                <a:latin typeface="Open Sans"/>
                <a:ea typeface="Open Sans"/>
                <a:cs typeface="Open Sans"/>
                <a:sym typeface="Open Sans"/>
              </a:rPr>
              <a:t>Son conceptos a los que se les asignan objetos o casos, pero no tienen una definición clara que explique qué los caracteriza o por qué pertenecen a ese concepto. Es decir que no cuentan con una intensidad.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45" name="Shape 145"/>
        <p:cNvGrpSpPr/>
        <p:nvPr/>
      </p:nvGrpSpPr>
      <p:grpSpPr>
        <a:xfrm>
          <a:off x="0" y="0"/>
          <a:ext cx="0" cy="0"/>
          <a:chOff x="0" y="0"/>
          <a:chExt cx="0" cy="0"/>
        </a:xfrm>
      </p:grpSpPr>
      <p:sp>
        <p:nvSpPr>
          <p:cNvPr id="146" name="Google Shape;146;p8"/>
          <p:cNvSpPr txBox="1"/>
          <p:nvPr/>
        </p:nvSpPr>
        <p:spPr>
          <a:xfrm>
            <a:off x="2797569" y="4309436"/>
            <a:ext cx="13991174" cy="163955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lang="en-US" sz="5498">
                <a:solidFill>
                  <a:srgbClr val="131416"/>
                </a:solidFill>
                <a:latin typeface="Arial"/>
                <a:ea typeface="Arial"/>
                <a:cs typeface="Arial"/>
                <a:sym typeface="Arial"/>
              </a:rPr>
              <a:t>OTROS EJEMPLOS DE TRIADAS PARCIALES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50" name="Shape 150"/>
        <p:cNvGrpSpPr/>
        <p:nvPr/>
      </p:nvGrpSpPr>
      <p:grpSpPr>
        <a:xfrm>
          <a:off x="0" y="0"/>
          <a:ext cx="0" cy="0"/>
          <a:chOff x="0" y="0"/>
          <a:chExt cx="0" cy="0"/>
        </a:xfrm>
      </p:grpSpPr>
      <p:sp>
        <p:nvSpPr>
          <p:cNvPr id="151" name="Google Shape;151;p9"/>
          <p:cNvSpPr/>
          <p:nvPr/>
        </p:nvSpPr>
        <p:spPr>
          <a:xfrm>
            <a:off x="1737645" y="2117623"/>
            <a:ext cx="14466521" cy="7522591"/>
          </a:xfrm>
          <a:custGeom>
            <a:rect b="b" l="l" r="r" t="t"/>
            <a:pathLst>
              <a:path extrusionOk="0" h="7522591" w="14466521">
                <a:moveTo>
                  <a:pt x="0" y="0"/>
                </a:moveTo>
                <a:lnTo>
                  <a:pt x="14466521" y="0"/>
                </a:lnTo>
                <a:lnTo>
                  <a:pt x="14466521" y="7522591"/>
                </a:lnTo>
                <a:lnTo>
                  <a:pt x="0" y="75225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9"/>
          <p:cNvSpPr txBox="1"/>
          <p:nvPr/>
        </p:nvSpPr>
        <p:spPr>
          <a:xfrm>
            <a:off x="1028700" y="782003"/>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EJEMPLO DE TRIADA DE CONCEPTOS SIN NOMBRE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56" name="Shape 156"/>
        <p:cNvGrpSpPr/>
        <p:nvPr/>
      </p:nvGrpSpPr>
      <p:grpSpPr>
        <a:xfrm>
          <a:off x="0" y="0"/>
          <a:ext cx="0" cy="0"/>
          <a:chOff x="0" y="0"/>
          <a:chExt cx="0" cy="0"/>
        </a:xfrm>
      </p:grpSpPr>
      <p:sp>
        <p:nvSpPr>
          <p:cNvPr id="157" name="Google Shape;157;p10"/>
          <p:cNvSpPr txBox="1"/>
          <p:nvPr/>
        </p:nvSpPr>
        <p:spPr>
          <a:xfrm>
            <a:off x="1028700" y="782003"/>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EJEMPLO DE TRIADA DE CONCEPTOS SIN OBJETO:</a:t>
            </a:r>
            <a:endParaRPr/>
          </a:p>
        </p:txBody>
      </p:sp>
      <p:sp>
        <p:nvSpPr>
          <p:cNvPr id="158" name="Google Shape;158;p10"/>
          <p:cNvSpPr/>
          <p:nvPr/>
        </p:nvSpPr>
        <p:spPr>
          <a:xfrm>
            <a:off x="2440212" y="2100948"/>
            <a:ext cx="13407576" cy="7642318"/>
          </a:xfrm>
          <a:custGeom>
            <a:rect b="b" l="l" r="r" t="t"/>
            <a:pathLst>
              <a:path extrusionOk="0" h="7642318" w="13407576">
                <a:moveTo>
                  <a:pt x="0" y="0"/>
                </a:moveTo>
                <a:lnTo>
                  <a:pt x="13407576" y="0"/>
                </a:lnTo>
                <a:lnTo>
                  <a:pt x="13407576" y="7642318"/>
                </a:lnTo>
                <a:lnTo>
                  <a:pt x="0" y="764231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62" name="Shape 162"/>
        <p:cNvGrpSpPr/>
        <p:nvPr/>
      </p:nvGrpSpPr>
      <p:grpSpPr>
        <a:xfrm>
          <a:off x="0" y="0"/>
          <a:ext cx="0" cy="0"/>
          <a:chOff x="0" y="0"/>
          <a:chExt cx="0" cy="0"/>
        </a:xfrm>
      </p:grpSpPr>
      <p:sp>
        <p:nvSpPr>
          <p:cNvPr id="163" name="Google Shape;163;p11"/>
          <p:cNvSpPr/>
          <p:nvPr/>
        </p:nvSpPr>
        <p:spPr>
          <a:xfrm>
            <a:off x="1983141" y="2035654"/>
            <a:ext cx="14188209" cy="7803515"/>
          </a:xfrm>
          <a:custGeom>
            <a:rect b="b" l="l" r="r" t="t"/>
            <a:pathLst>
              <a:path extrusionOk="0" h="7803515" w="14188209">
                <a:moveTo>
                  <a:pt x="0" y="0"/>
                </a:moveTo>
                <a:lnTo>
                  <a:pt x="14188209" y="0"/>
                </a:lnTo>
                <a:lnTo>
                  <a:pt x="14188209" y="7803515"/>
                </a:lnTo>
                <a:lnTo>
                  <a:pt x="0" y="780351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11"/>
          <p:cNvSpPr txBox="1"/>
          <p:nvPr/>
        </p:nvSpPr>
        <p:spPr>
          <a:xfrm>
            <a:off x="1028700" y="782003"/>
            <a:ext cx="15884411" cy="10407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EJEMPLO DE TRIADA DE CONCEPTOS SIN DEFINICIÓN: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68" name="Shape 168"/>
        <p:cNvGrpSpPr/>
        <p:nvPr/>
      </p:nvGrpSpPr>
      <p:grpSpPr>
        <a:xfrm>
          <a:off x="0" y="0"/>
          <a:ext cx="0" cy="0"/>
          <a:chOff x="0" y="0"/>
          <a:chExt cx="0" cy="0"/>
        </a:xfrm>
      </p:grpSpPr>
      <p:sp>
        <p:nvSpPr>
          <p:cNvPr id="169" name="Google Shape;169;p12"/>
          <p:cNvSpPr/>
          <p:nvPr/>
        </p:nvSpPr>
        <p:spPr>
          <a:xfrm>
            <a:off x="2340441" y="8199975"/>
            <a:ext cx="1827415" cy="182741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8B9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2"/>
          <p:cNvSpPr/>
          <p:nvPr/>
        </p:nvSpPr>
        <p:spPr>
          <a:xfrm>
            <a:off x="2628950" y="8802615"/>
            <a:ext cx="1250396" cy="909550"/>
          </a:xfrm>
          <a:custGeom>
            <a:rect b="b" l="l" r="r" t="t"/>
            <a:pathLst>
              <a:path extrusionOk="0" h="909550" w="1250396">
                <a:moveTo>
                  <a:pt x="0" y="0"/>
                </a:moveTo>
                <a:lnTo>
                  <a:pt x="1250396" y="0"/>
                </a:lnTo>
                <a:lnTo>
                  <a:pt x="1250396" y="909550"/>
                </a:lnTo>
                <a:lnTo>
                  <a:pt x="0" y="90955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1" name="Google Shape;171;p12"/>
          <p:cNvGrpSpPr/>
          <p:nvPr/>
        </p:nvGrpSpPr>
        <p:grpSpPr>
          <a:xfrm>
            <a:off x="4167856" y="8398388"/>
            <a:ext cx="3817938" cy="1313777"/>
            <a:chOff x="0" y="-28575"/>
            <a:chExt cx="1005548" cy="346015"/>
          </a:xfrm>
        </p:grpSpPr>
        <p:sp>
          <p:nvSpPr>
            <p:cNvPr id="172" name="Google Shape;172;p12"/>
            <p:cNvSpPr/>
            <p:nvPr/>
          </p:nvSpPr>
          <p:spPr>
            <a:xfrm>
              <a:off x="0" y="0"/>
              <a:ext cx="1005548" cy="317440"/>
            </a:xfrm>
            <a:custGeom>
              <a:rect b="b" l="l" r="r" t="t"/>
              <a:pathLst>
                <a:path extrusionOk="0" h="317440" w="1005548">
                  <a:moveTo>
                    <a:pt x="158720" y="0"/>
                  </a:moveTo>
                  <a:lnTo>
                    <a:pt x="846827" y="0"/>
                  </a:lnTo>
                  <a:cubicBezTo>
                    <a:pt x="888923" y="0"/>
                    <a:pt x="929294" y="16722"/>
                    <a:pt x="959059" y="46488"/>
                  </a:cubicBezTo>
                  <a:cubicBezTo>
                    <a:pt x="988825" y="76254"/>
                    <a:pt x="1005548" y="116625"/>
                    <a:pt x="1005548" y="158720"/>
                  </a:cubicBezTo>
                  <a:lnTo>
                    <a:pt x="1005548" y="158720"/>
                  </a:lnTo>
                  <a:cubicBezTo>
                    <a:pt x="1005548" y="200815"/>
                    <a:pt x="988825" y="241186"/>
                    <a:pt x="959059" y="270952"/>
                  </a:cubicBezTo>
                  <a:cubicBezTo>
                    <a:pt x="929294" y="300718"/>
                    <a:pt x="888923" y="317440"/>
                    <a:pt x="846827" y="317440"/>
                  </a:cubicBezTo>
                  <a:lnTo>
                    <a:pt x="158720" y="317440"/>
                  </a:lnTo>
                  <a:cubicBezTo>
                    <a:pt x="116625" y="317440"/>
                    <a:pt x="76254" y="300718"/>
                    <a:pt x="46488" y="270952"/>
                  </a:cubicBezTo>
                  <a:cubicBezTo>
                    <a:pt x="16722" y="241186"/>
                    <a:pt x="0" y="200815"/>
                    <a:pt x="0" y="158720"/>
                  </a:cubicBezTo>
                  <a:lnTo>
                    <a:pt x="0" y="158720"/>
                  </a:lnTo>
                  <a:cubicBezTo>
                    <a:pt x="0" y="116625"/>
                    <a:pt x="16722" y="76254"/>
                    <a:pt x="46488" y="46488"/>
                  </a:cubicBezTo>
                  <a:cubicBezTo>
                    <a:pt x="76254" y="16722"/>
                    <a:pt x="116625" y="0"/>
                    <a:pt x="158720" y="0"/>
                  </a:cubicBezTo>
                  <a:close/>
                </a:path>
              </a:pathLst>
            </a:custGeom>
            <a:solidFill>
              <a:srgbClr val="FFDE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txBox="1"/>
            <p:nvPr/>
          </p:nvSpPr>
          <p:spPr>
            <a:xfrm>
              <a:off x="0" y="-28575"/>
              <a:ext cx="1005548" cy="346015"/>
            </a:xfrm>
            <a:prstGeom prst="rect">
              <a:avLst/>
            </a:prstGeom>
            <a:noFill/>
            <a:ln>
              <a:noFill/>
            </a:ln>
          </p:spPr>
          <p:txBody>
            <a:bodyPr anchorCtr="0" anchor="ctr" bIns="50800" lIns="50800" spcFirstLastPara="1" rIns="50800" wrap="square" tIns="50800">
              <a:noAutofit/>
            </a:bodyPr>
            <a:lstStyle/>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Diferente símbolo</a:t>
              </a:r>
              <a:endParaRPr/>
            </a:p>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Misma Intensidad</a:t>
              </a:r>
              <a:endParaRPr/>
            </a:p>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Misma extensión </a:t>
              </a:r>
              <a:endParaRPr/>
            </a:p>
          </p:txBody>
        </p:sp>
      </p:grpSp>
      <p:sp>
        <p:nvSpPr>
          <p:cNvPr id="174" name="Google Shape;174;p12"/>
          <p:cNvSpPr/>
          <p:nvPr/>
        </p:nvSpPr>
        <p:spPr>
          <a:xfrm>
            <a:off x="1304633" y="2863697"/>
            <a:ext cx="15278684" cy="5137457"/>
          </a:xfrm>
          <a:custGeom>
            <a:rect b="b" l="l" r="r" t="t"/>
            <a:pathLst>
              <a:path extrusionOk="0" h="5137457" w="15278684">
                <a:moveTo>
                  <a:pt x="0" y="0"/>
                </a:moveTo>
                <a:lnTo>
                  <a:pt x="15278683" y="0"/>
                </a:lnTo>
                <a:lnTo>
                  <a:pt x="15278683" y="5137457"/>
                </a:lnTo>
                <a:lnTo>
                  <a:pt x="0" y="513745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2"/>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TRIADA DE SINÓNIMOS</a:t>
            </a:r>
            <a:endParaRPr/>
          </a:p>
        </p:txBody>
      </p:sp>
      <p:sp>
        <p:nvSpPr>
          <p:cNvPr id="176" name="Google Shape;176;p12"/>
          <p:cNvSpPr txBox="1"/>
          <p:nvPr/>
        </p:nvSpPr>
        <p:spPr>
          <a:xfrm>
            <a:off x="720032" y="1260793"/>
            <a:ext cx="15863285" cy="2374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500">
                <a:solidFill>
                  <a:srgbClr val="131416"/>
                </a:solidFill>
                <a:latin typeface="Open Sans"/>
                <a:ea typeface="Open Sans"/>
                <a:cs typeface="Open Sans"/>
                <a:sym typeface="Open Sans"/>
              </a:rPr>
              <a:t>Dibuje la pareja de tríadas que correspondan a sinónimos del concepto "Pelota".</a:t>
            </a:r>
            <a:endParaRPr/>
          </a:p>
          <a:p>
            <a:pPr indent="0" lvl="0" marL="0" marR="0" rtl="0" algn="just">
              <a:lnSpc>
                <a:spcPct val="140000"/>
              </a:lnSpc>
              <a:spcBef>
                <a:spcPts val="0"/>
              </a:spcBef>
              <a:spcAft>
                <a:spcPts val="0"/>
              </a:spcAft>
              <a:buNone/>
            </a:pPr>
            <a:r>
              <a:t/>
            </a:r>
            <a:endParaRPr sz="3500">
              <a:solidFill>
                <a:srgbClr val="131416"/>
              </a:solidFill>
              <a:latin typeface="Open Sans"/>
              <a:ea typeface="Open Sans"/>
              <a:cs typeface="Open Sans"/>
              <a:sym typeface="Open Sans"/>
            </a:endParaRPr>
          </a:p>
          <a:p>
            <a:pPr indent="0" lvl="0" marL="0" marR="0" rtl="0" algn="just">
              <a:lnSpc>
                <a:spcPct val="120000"/>
              </a:lnSpc>
              <a:spcBef>
                <a:spcPts val="0"/>
              </a:spcBef>
              <a:spcAft>
                <a:spcPts val="0"/>
              </a:spcAft>
              <a:buNone/>
            </a:pPr>
            <a:r>
              <a:t/>
            </a:r>
            <a:endParaRPr sz="3500">
              <a:solidFill>
                <a:srgbClr val="131416"/>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80" name="Shape 180"/>
        <p:cNvGrpSpPr/>
        <p:nvPr/>
      </p:nvGrpSpPr>
      <p:grpSpPr>
        <a:xfrm>
          <a:off x="0" y="0"/>
          <a:ext cx="0" cy="0"/>
          <a:chOff x="0" y="0"/>
          <a:chExt cx="0" cy="0"/>
        </a:xfrm>
      </p:grpSpPr>
      <p:sp>
        <p:nvSpPr>
          <p:cNvPr id="181" name="Google Shape;181;p13"/>
          <p:cNvSpPr/>
          <p:nvPr/>
        </p:nvSpPr>
        <p:spPr>
          <a:xfrm>
            <a:off x="2340441" y="8199975"/>
            <a:ext cx="1827415" cy="182741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8B9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2628950" y="8802615"/>
            <a:ext cx="1250396" cy="909550"/>
          </a:xfrm>
          <a:custGeom>
            <a:rect b="b" l="l" r="r" t="t"/>
            <a:pathLst>
              <a:path extrusionOk="0" h="909550" w="1250396">
                <a:moveTo>
                  <a:pt x="0" y="0"/>
                </a:moveTo>
                <a:lnTo>
                  <a:pt x="1250396" y="0"/>
                </a:lnTo>
                <a:lnTo>
                  <a:pt x="1250396" y="909550"/>
                </a:lnTo>
                <a:lnTo>
                  <a:pt x="0" y="90955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3" name="Google Shape;183;p13"/>
          <p:cNvGrpSpPr/>
          <p:nvPr/>
        </p:nvGrpSpPr>
        <p:grpSpPr>
          <a:xfrm>
            <a:off x="4167856" y="8398388"/>
            <a:ext cx="3817938" cy="1313777"/>
            <a:chOff x="0" y="-28575"/>
            <a:chExt cx="1005548" cy="346015"/>
          </a:xfrm>
        </p:grpSpPr>
        <p:sp>
          <p:nvSpPr>
            <p:cNvPr id="184" name="Google Shape;184;p13"/>
            <p:cNvSpPr/>
            <p:nvPr/>
          </p:nvSpPr>
          <p:spPr>
            <a:xfrm>
              <a:off x="0" y="0"/>
              <a:ext cx="1005548" cy="317440"/>
            </a:xfrm>
            <a:custGeom>
              <a:rect b="b" l="l" r="r" t="t"/>
              <a:pathLst>
                <a:path extrusionOk="0" h="317440" w="1005548">
                  <a:moveTo>
                    <a:pt x="158720" y="0"/>
                  </a:moveTo>
                  <a:lnTo>
                    <a:pt x="846827" y="0"/>
                  </a:lnTo>
                  <a:cubicBezTo>
                    <a:pt x="888923" y="0"/>
                    <a:pt x="929294" y="16722"/>
                    <a:pt x="959059" y="46488"/>
                  </a:cubicBezTo>
                  <a:cubicBezTo>
                    <a:pt x="988825" y="76254"/>
                    <a:pt x="1005548" y="116625"/>
                    <a:pt x="1005548" y="158720"/>
                  </a:cubicBezTo>
                  <a:lnTo>
                    <a:pt x="1005548" y="158720"/>
                  </a:lnTo>
                  <a:cubicBezTo>
                    <a:pt x="1005548" y="200815"/>
                    <a:pt x="988825" y="241186"/>
                    <a:pt x="959059" y="270952"/>
                  </a:cubicBezTo>
                  <a:cubicBezTo>
                    <a:pt x="929294" y="300718"/>
                    <a:pt x="888923" y="317440"/>
                    <a:pt x="846827" y="317440"/>
                  </a:cubicBezTo>
                  <a:lnTo>
                    <a:pt x="158720" y="317440"/>
                  </a:lnTo>
                  <a:cubicBezTo>
                    <a:pt x="116625" y="317440"/>
                    <a:pt x="76254" y="300718"/>
                    <a:pt x="46488" y="270952"/>
                  </a:cubicBezTo>
                  <a:cubicBezTo>
                    <a:pt x="16722" y="241186"/>
                    <a:pt x="0" y="200815"/>
                    <a:pt x="0" y="158720"/>
                  </a:cubicBezTo>
                  <a:lnTo>
                    <a:pt x="0" y="158720"/>
                  </a:lnTo>
                  <a:cubicBezTo>
                    <a:pt x="0" y="116625"/>
                    <a:pt x="16722" y="76254"/>
                    <a:pt x="46488" y="46488"/>
                  </a:cubicBezTo>
                  <a:cubicBezTo>
                    <a:pt x="76254" y="16722"/>
                    <a:pt x="116625" y="0"/>
                    <a:pt x="158720" y="0"/>
                  </a:cubicBezTo>
                  <a:close/>
                </a:path>
              </a:pathLst>
            </a:custGeom>
            <a:solidFill>
              <a:srgbClr val="FFDE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3"/>
            <p:cNvSpPr txBox="1"/>
            <p:nvPr/>
          </p:nvSpPr>
          <p:spPr>
            <a:xfrm>
              <a:off x="0" y="-28575"/>
              <a:ext cx="1005548" cy="346015"/>
            </a:xfrm>
            <a:prstGeom prst="rect">
              <a:avLst/>
            </a:prstGeom>
            <a:noFill/>
            <a:ln>
              <a:noFill/>
            </a:ln>
          </p:spPr>
          <p:txBody>
            <a:bodyPr anchorCtr="0" anchor="ctr" bIns="50800" lIns="50800" spcFirstLastPara="1" rIns="50800" wrap="square" tIns="50800">
              <a:noAutofit/>
            </a:bodyPr>
            <a:lstStyle/>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Mismo símbolo</a:t>
              </a:r>
              <a:endParaRPr/>
            </a:p>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Diferente Intensidad</a:t>
              </a:r>
              <a:endParaRPr/>
            </a:p>
            <a:p>
              <a:pPr indent="-248284" lvl="1" marL="496571" marR="0" rtl="0" algn="ctr">
                <a:lnSpc>
                  <a:spcPct val="127000"/>
                </a:lnSpc>
                <a:spcBef>
                  <a:spcPts val="0"/>
                </a:spcBef>
                <a:spcAft>
                  <a:spcPts val="0"/>
                </a:spcAft>
                <a:buClr>
                  <a:srgbClr val="292727"/>
                </a:buClr>
                <a:buSzPts val="2300"/>
                <a:buFont typeface="Arial"/>
                <a:buChar char="•"/>
              </a:pPr>
              <a:r>
                <a:rPr b="0" i="0" lang="en-US" sz="2300" u="none" cap="none" strike="noStrike">
                  <a:solidFill>
                    <a:srgbClr val="292727"/>
                  </a:solidFill>
                  <a:latin typeface="Arial"/>
                  <a:ea typeface="Arial"/>
                  <a:cs typeface="Arial"/>
                  <a:sym typeface="Arial"/>
                </a:rPr>
                <a:t>Diferente extensión </a:t>
              </a:r>
              <a:endParaRPr/>
            </a:p>
          </p:txBody>
        </p:sp>
      </p:grpSp>
      <p:sp>
        <p:nvSpPr>
          <p:cNvPr id="186" name="Google Shape;186;p13"/>
          <p:cNvSpPr/>
          <p:nvPr/>
        </p:nvSpPr>
        <p:spPr>
          <a:xfrm>
            <a:off x="720032" y="2896942"/>
            <a:ext cx="17311718" cy="4804002"/>
          </a:xfrm>
          <a:custGeom>
            <a:rect b="b" l="l" r="r" t="t"/>
            <a:pathLst>
              <a:path extrusionOk="0" h="4804002" w="17311718">
                <a:moveTo>
                  <a:pt x="0" y="0"/>
                </a:moveTo>
                <a:lnTo>
                  <a:pt x="17311718" y="0"/>
                </a:lnTo>
                <a:lnTo>
                  <a:pt x="17311718" y="4804001"/>
                </a:lnTo>
                <a:lnTo>
                  <a:pt x="0" y="48040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3"/>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TRIADA DE homónimos </a:t>
            </a:r>
            <a:endParaRPr/>
          </a:p>
        </p:txBody>
      </p:sp>
      <p:sp>
        <p:nvSpPr>
          <p:cNvPr id="188" name="Google Shape;188;p13"/>
          <p:cNvSpPr txBox="1"/>
          <p:nvPr/>
        </p:nvSpPr>
        <p:spPr>
          <a:xfrm>
            <a:off x="720032" y="1260793"/>
            <a:ext cx="15863285" cy="2374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500">
                <a:solidFill>
                  <a:srgbClr val="131416"/>
                </a:solidFill>
                <a:latin typeface="Open Sans"/>
                <a:ea typeface="Open Sans"/>
                <a:cs typeface="Open Sans"/>
                <a:sym typeface="Open Sans"/>
              </a:rPr>
              <a:t>Dibuje la pareja de tríadas que correspondan a sinónimos del concepto "Hoja".</a:t>
            </a:r>
            <a:endParaRPr/>
          </a:p>
          <a:p>
            <a:pPr indent="0" lvl="0" marL="0" marR="0" rtl="0" algn="just">
              <a:lnSpc>
                <a:spcPct val="140000"/>
              </a:lnSpc>
              <a:spcBef>
                <a:spcPts val="0"/>
              </a:spcBef>
              <a:spcAft>
                <a:spcPts val="0"/>
              </a:spcAft>
              <a:buNone/>
            </a:pPr>
            <a:r>
              <a:t/>
            </a:r>
            <a:endParaRPr sz="3500">
              <a:solidFill>
                <a:srgbClr val="131416"/>
              </a:solidFill>
              <a:latin typeface="Open Sans"/>
              <a:ea typeface="Open Sans"/>
              <a:cs typeface="Open Sans"/>
              <a:sym typeface="Open Sans"/>
            </a:endParaRPr>
          </a:p>
          <a:p>
            <a:pPr indent="0" lvl="0" marL="0" marR="0" rtl="0" algn="just">
              <a:lnSpc>
                <a:spcPct val="120000"/>
              </a:lnSpc>
              <a:spcBef>
                <a:spcPts val="0"/>
              </a:spcBef>
              <a:spcAft>
                <a:spcPts val="0"/>
              </a:spcAft>
              <a:buNone/>
            </a:pPr>
            <a:r>
              <a:t/>
            </a:r>
            <a:endParaRPr sz="3500">
              <a:solidFill>
                <a:srgbClr val="131416"/>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92" name="Shape 192"/>
        <p:cNvGrpSpPr/>
        <p:nvPr/>
      </p:nvGrpSpPr>
      <p:grpSpPr>
        <a:xfrm>
          <a:off x="0" y="0"/>
          <a:ext cx="0" cy="0"/>
          <a:chOff x="0" y="0"/>
          <a:chExt cx="0" cy="0"/>
        </a:xfrm>
      </p:grpSpPr>
      <p:sp>
        <p:nvSpPr>
          <p:cNvPr id="193" name="Google Shape;193;p14"/>
          <p:cNvSpPr/>
          <p:nvPr/>
        </p:nvSpPr>
        <p:spPr>
          <a:xfrm>
            <a:off x="437748" y="3080827"/>
            <a:ext cx="9383974" cy="5184646"/>
          </a:xfrm>
          <a:custGeom>
            <a:rect b="b" l="l" r="r" t="t"/>
            <a:pathLst>
              <a:path extrusionOk="0" h="5184646" w="9383974">
                <a:moveTo>
                  <a:pt x="0" y="0"/>
                </a:moveTo>
                <a:lnTo>
                  <a:pt x="9383974" y="0"/>
                </a:lnTo>
                <a:lnTo>
                  <a:pt x="9383974" y="5184646"/>
                </a:lnTo>
                <a:lnTo>
                  <a:pt x="0" y="518464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14"/>
          <p:cNvSpPr txBox="1"/>
          <p:nvPr/>
        </p:nvSpPr>
        <p:spPr>
          <a:xfrm>
            <a:off x="1374889" y="644839"/>
            <a:ext cx="13991174" cy="858503"/>
          </a:xfrm>
          <a:prstGeom prst="rect">
            <a:avLst/>
          </a:prstGeom>
          <a:noFill/>
          <a:ln>
            <a:noFill/>
          </a:ln>
        </p:spPr>
        <p:txBody>
          <a:bodyPr anchorCtr="0" anchor="t" bIns="0" lIns="0" spcFirstLastPara="1" rIns="0" wrap="square" tIns="0">
            <a:spAutoFit/>
          </a:bodyPr>
          <a:lstStyle/>
          <a:p>
            <a:pPr indent="0" lvl="0" marL="0" marR="0" rtl="0" algn="l">
              <a:lnSpc>
                <a:spcPct val="112986"/>
              </a:lnSpc>
              <a:spcBef>
                <a:spcPts val="0"/>
              </a:spcBef>
              <a:spcAft>
                <a:spcPts val="0"/>
              </a:spcAft>
              <a:buNone/>
            </a:pPr>
            <a:r>
              <a:rPr lang="en-US" sz="5498">
                <a:solidFill>
                  <a:srgbClr val="131416"/>
                </a:solidFill>
                <a:latin typeface="Arial"/>
                <a:ea typeface="Arial"/>
                <a:cs typeface="Arial"/>
                <a:sym typeface="Arial"/>
              </a:rPr>
              <a:t>DIAGRAMA DE ARBOL</a:t>
            </a:r>
            <a:endParaRPr/>
          </a:p>
        </p:txBody>
      </p:sp>
      <p:sp>
        <p:nvSpPr>
          <p:cNvPr id="195" name="Google Shape;195;p14"/>
          <p:cNvSpPr txBox="1"/>
          <p:nvPr/>
        </p:nvSpPr>
        <p:spPr>
          <a:xfrm>
            <a:off x="10322682" y="4078334"/>
            <a:ext cx="7632005" cy="2647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Un árbol lógico es una estructura jerárquica que organiza elementos según sus relaciones lógicas y niveles de generalidad, representando un esquema en forma de árbol invertido.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199" name="Shape 199"/>
        <p:cNvGrpSpPr/>
        <p:nvPr/>
      </p:nvGrpSpPr>
      <p:grpSpPr>
        <a:xfrm>
          <a:off x="0" y="0"/>
          <a:ext cx="0" cy="0"/>
          <a:chOff x="0" y="0"/>
          <a:chExt cx="0" cy="0"/>
        </a:xfrm>
      </p:grpSpPr>
      <p:sp>
        <p:nvSpPr>
          <p:cNvPr id="200" name="Google Shape;200;p15"/>
          <p:cNvSpPr txBox="1"/>
          <p:nvPr/>
        </p:nvSpPr>
        <p:spPr>
          <a:xfrm>
            <a:off x="852333" y="834551"/>
            <a:ext cx="16406967" cy="2327148"/>
          </a:xfrm>
          <a:prstGeom prst="rect">
            <a:avLst/>
          </a:prstGeom>
          <a:noFill/>
          <a:ln>
            <a:noFill/>
          </a:ln>
        </p:spPr>
        <p:txBody>
          <a:bodyPr anchorCtr="0" anchor="t" bIns="0" lIns="0" spcFirstLastPara="1" rIns="0" wrap="square" tIns="0">
            <a:spAutoFit/>
          </a:bodyPr>
          <a:lstStyle/>
          <a:p>
            <a:pPr indent="0" lvl="0" marL="0" marR="0" rtl="0" algn="ctr">
              <a:lnSpc>
                <a:spcPct val="112977"/>
              </a:lnSpc>
              <a:spcBef>
                <a:spcPts val="0"/>
              </a:spcBef>
              <a:spcAft>
                <a:spcPts val="0"/>
              </a:spcAft>
              <a:buNone/>
            </a:pPr>
            <a:r>
              <a:rPr lang="en-US" sz="4500">
                <a:solidFill>
                  <a:srgbClr val="131416"/>
                </a:solidFill>
                <a:latin typeface="Arial"/>
                <a:ea typeface="Arial"/>
                <a:cs typeface="Arial"/>
                <a:sym typeface="Arial"/>
              </a:rPr>
              <a:t>CARACTERISITCAS DE LOS ARBOLES LOGICOS</a:t>
            </a:r>
            <a:endParaRPr/>
          </a:p>
          <a:p>
            <a:pPr indent="0" lvl="0" marL="0" marR="0" rtl="0" algn="ctr">
              <a:lnSpc>
                <a:spcPct val="173266"/>
              </a:lnSpc>
              <a:spcBef>
                <a:spcPts val="0"/>
              </a:spcBef>
              <a:spcAft>
                <a:spcPts val="0"/>
              </a:spcAft>
              <a:buNone/>
            </a:pPr>
            <a:r>
              <a:t/>
            </a:r>
            <a:endParaRPr sz="4500">
              <a:solidFill>
                <a:srgbClr val="131416"/>
              </a:solidFill>
              <a:latin typeface="Arial"/>
              <a:ea typeface="Arial"/>
              <a:cs typeface="Arial"/>
              <a:sym typeface="Arial"/>
            </a:endParaRPr>
          </a:p>
        </p:txBody>
      </p:sp>
      <p:sp>
        <p:nvSpPr>
          <p:cNvPr id="201" name="Google Shape;201;p15"/>
          <p:cNvSpPr txBox="1"/>
          <p:nvPr/>
        </p:nvSpPr>
        <p:spPr>
          <a:xfrm>
            <a:off x="1934014" y="3183276"/>
            <a:ext cx="14900226" cy="4958674"/>
          </a:xfrm>
          <a:prstGeom prst="rect">
            <a:avLst/>
          </a:prstGeom>
          <a:noFill/>
          <a:ln>
            <a:noFill/>
          </a:ln>
        </p:spPr>
        <p:txBody>
          <a:bodyPr anchorCtr="0" anchor="t" bIns="0" lIns="0" spcFirstLastPara="1" rIns="0" wrap="square" tIns="0">
            <a:spAutoFit/>
          </a:bodyPr>
          <a:lstStyle/>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Es un grafo no dirigido</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No se utilizan flechas</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No tiene ciclos</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Todos los nodos estan conectados entre si por algun camino</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Jerárquico ya que los elementos se organizan por niveles</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La raíz es el nivel 0</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Tiene forma de árbol invertido</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No se deben colocar listas de conceptos en un solo nodo, solamente se colocan conceptos.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05" name="Shape 205"/>
        <p:cNvGrpSpPr/>
        <p:nvPr/>
      </p:nvGrpSpPr>
      <p:grpSpPr>
        <a:xfrm>
          <a:off x="0" y="0"/>
          <a:ext cx="0" cy="0"/>
          <a:chOff x="0" y="0"/>
          <a:chExt cx="0" cy="0"/>
        </a:xfrm>
      </p:grpSpPr>
      <p:sp>
        <p:nvSpPr>
          <p:cNvPr id="206" name="Google Shape;206;p16"/>
          <p:cNvSpPr/>
          <p:nvPr/>
        </p:nvSpPr>
        <p:spPr>
          <a:xfrm>
            <a:off x="363475" y="2125296"/>
            <a:ext cx="10877908" cy="6793146"/>
          </a:xfrm>
          <a:custGeom>
            <a:rect b="b" l="l" r="r" t="t"/>
            <a:pathLst>
              <a:path extrusionOk="0" h="6793146" w="10877908">
                <a:moveTo>
                  <a:pt x="0" y="0"/>
                </a:moveTo>
                <a:lnTo>
                  <a:pt x="10877908" y="0"/>
                </a:lnTo>
                <a:lnTo>
                  <a:pt x="10877908" y="6793146"/>
                </a:lnTo>
                <a:lnTo>
                  <a:pt x="0" y="6793146"/>
                </a:lnTo>
                <a:lnTo>
                  <a:pt x="0" y="0"/>
                </a:lnTo>
                <a:close/>
              </a:path>
            </a:pathLst>
          </a:custGeom>
          <a:blipFill rotWithShape="1">
            <a:blip r:embed="rId3">
              <a:alphaModFix/>
            </a:blip>
            <a:stretch>
              <a:fillRect b="0" l="-1206" r="-1005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6"/>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EJEMPLO DE ARBOL LOGICO</a:t>
            </a:r>
            <a:endParaRPr/>
          </a:p>
        </p:txBody>
      </p:sp>
      <p:sp>
        <p:nvSpPr>
          <p:cNvPr id="208" name="Google Shape;208;p16"/>
          <p:cNvSpPr txBox="1"/>
          <p:nvPr/>
        </p:nvSpPr>
        <p:spPr>
          <a:xfrm>
            <a:off x="11526488" y="3102519"/>
            <a:ext cx="6231212" cy="4781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arbol representa el analisis del objeto “Fruta”, como se puede observar este árbol cuenta con tres niveles, en la raíz del árbol (nivel 0) se coloca el concepto al que se aplica el análisis, el nivel 1 y  dos son los nodos hijo y el nivel tres que es el ultimo son los nodos hoja.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12" name="Shape 212"/>
        <p:cNvGrpSpPr/>
        <p:nvPr/>
      </p:nvGrpSpPr>
      <p:grpSpPr>
        <a:xfrm>
          <a:off x="0" y="0"/>
          <a:ext cx="0" cy="0"/>
          <a:chOff x="0" y="0"/>
          <a:chExt cx="0" cy="0"/>
        </a:xfrm>
      </p:grpSpPr>
      <p:sp>
        <p:nvSpPr>
          <p:cNvPr id="213" name="Google Shape;213;p17"/>
          <p:cNvSpPr txBox="1"/>
          <p:nvPr/>
        </p:nvSpPr>
        <p:spPr>
          <a:xfrm>
            <a:off x="651214" y="1567567"/>
            <a:ext cx="16126564" cy="7448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A los arboles lógicos se le pueden aplicar diferentes tipos de análisis, entre ellos podemos encontrar los siguientes:</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Memoria:</a:t>
            </a:r>
            <a:r>
              <a:rPr b="0" i="0" lang="en-US" sz="3000" u="none" cap="none" strike="noStrike">
                <a:solidFill>
                  <a:srgbClr val="131416"/>
                </a:solidFill>
                <a:latin typeface="Open Sans"/>
                <a:ea typeface="Open Sans"/>
                <a:cs typeface="Open Sans"/>
                <a:sym typeface="Open Sans"/>
              </a:rPr>
              <a:t> La memoria es una serie horizontal de objetos del mismo tipo lógico que pueden sustituirse entre sí, permitiendo agrupar elementos similares dentro de un mismo nivel del árbol.</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p:txBody>
      </p:sp>
      <p:sp>
        <p:nvSpPr>
          <p:cNvPr id="214" name="Google Shape;214;p17"/>
          <p:cNvSpPr/>
          <p:nvPr/>
        </p:nvSpPr>
        <p:spPr>
          <a:xfrm>
            <a:off x="3323423" y="5805050"/>
            <a:ext cx="11294965" cy="3623447"/>
          </a:xfrm>
          <a:custGeom>
            <a:rect b="b" l="l" r="r" t="t"/>
            <a:pathLst>
              <a:path extrusionOk="0" h="3623447" w="11294965">
                <a:moveTo>
                  <a:pt x="0" y="0"/>
                </a:moveTo>
                <a:lnTo>
                  <a:pt x="11294965" y="0"/>
                </a:lnTo>
                <a:lnTo>
                  <a:pt x="11294965" y="3623448"/>
                </a:lnTo>
                <a:lnTo>
                  <a:pt x="0" y="362344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7"/>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OPERACIONES LOGICAS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19" name="Shape 219"/>
        <p:cNvGrpSpPr/>
        <p:nvPr/>
      </p:nvGrpSpPr>
      <p:grpSpPr>
        <a:xfrm>
          <a:off x="0" y="0"/>
          <a:ext cx="0" cy="0"/>
          <a:chOff x="0" y="0"/>
          <a:chExt cx="0" cy="0"/>
        </a:xfrm>
      </p:grpSpPr>
      <p:sp>
        <p:nvSpPr>
          <p:cNvPr id="220" name="Google Shape;220;p18"/>
          <p:cNvSpPr txBox="1"/>
          <p:nvPr/>
        </p:nvSpPr>
        <p:spPr>
          <a:xfrm>
            <a:off x="1080718" y="1994319"/>
            <a:ext cx="16126564" cy="787082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US" sz="2499">
                <a:solidFill>
                  <a:srgbClr val="131416"/>
                </a:solidFill>
                <a:latin typeface="Open Sans"/>
                <a:ea typeface="Open Sans"/>
                <a:cs typeface="Open Sans"/>
                <a:sym typeface="Open Sans"/>
              </a:rPr>
              <a:t>El análisis en profundidad permite descomponer un concepto en niveles más específicos o generales. Aunque los niveles pueden numerarse, lo esencial es conservar el orden lógico: hacia arriba se generaliza, hacia abajo se subdivide. Así se logra un análisis más detallado.</a:t>
            </a:r>
            <a:endParaRPr/>
          </a:p>
          <a:p>
            <a:pPr indent="0" lvl="0" marL="0" marR="0" rtl="0" algn="just">
              <a:lnSpc>
                <a:spcPct val="140016"/>
              </a:lnSpc>
              <a:spcBef>
                <a:spcPts val="0"/>
              </a:spcBef>
              <a:spcAft>
                <a:spcPts val="0"/>
              </a:spcAft>
              <a:buNone/>
            </a:pPr>
            <a:r>
              <a:t/>
            </a:r>
            <a:endParaRPr sz="2499">
              <a:solidFill>
                <a:srgbClr val="131416"/>
              </a:solidFill>
              <a:latin typeface="Open Sans"/>
              <a:ea typeface="Open Sans"/>
              <a:cs typeface="Open Sans"/>
              <a:sym typeface="Open Sans"/>
            </a:endParaRPr>
          </a:p>
          <a:p>
            <a:pPr indent="0" lvl="0" marL="0" marR="0" rtl="0" algn="just">
              <a:lnSpc>
                <a:spcPct val="140016"/>
              </a:lnSpc>
              <a:spcBef>
                <a:spcPts val="0"/>
              </a:spcBef>
              <a:spcAft>
                <a:spcPts val="0"/>
              </a:spcAft>
              <a:buNone/>
            </a:pPr>
            <a:r>
              <a:rPr lang="en-US" sz="2499">
                <a:solidFill>
                  <a:srgbClr val="131416"/>
                </a:solidFill>
                <a:latin typeface="Open Sans"/>
                <a:ea typeface="Open Sans"/>
                <a:cs typeface="Open Sans"/>
                <a:sym typeface="Open Sans"/>
              </a:rPr>
              <a:t>Los métodos que desglosan un concepto son: </a:t>
            </a:r>
            <a:endParaRPr/>
          </a:p>
          <a:p>
            <a:pPr indent="-269874" lvl="1" marL="53974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Análisis:</a:t>
            </a:r>
            <a:endParaRPr/>
          </a:p>
          <a:p>
            <a:pPr indent="-359833" lvl="2" marL="107949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Por especialización:</a:t>
            </a:r>
            <a:r>
              <a:rPr b="0" i="0" lang="en-US" sz="2499" u="none" cap="none" strike="noStrike">
                <a:solidFill>
                  <a:srgbClr val="131416"/>
                </a:solidFill>
                <a:latin typeface="Open Sans"/>
                <a:ea typeface="Open Sans"/>
                <a:cs typeface="Open Sans"/>
                <a:sym typeface="Open Sans"/>
              </a:rPr>
              <a:t> En este tipo de análisis se generan sub-conceptos a partir del concepto raíz. </a:t>
            </a:r>
            <a:endParaRPr/>
          </a:p>
          <a:p>
            <a:pPr indent="-359833" lvl="2" marL="107949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Por descomposición:</a:t>
            </a:r>
            <a:r>
              <a:rPr b="0" i="0" lang="en-US" sz="2499" u="none" cap="none" strike="noStrike">
                <a:solidFill>
                  <a:srgbClr val="131416"/>
                </a:solidFill>
                <a:latin typeface="Open Sans"/>
                <a:ea typeface="Open Sans"/>
                <a:cs typeface="Open Sans"/>
                <a:sym typeface="Open Sans"/>
              </a:rPr>
              <a:t> Se divide el concepto en todas sus partes o en los subelementos que lo componen.</a:t>
            </a:r>
            <a:endParaRPr/>
          </a:p>
          <a:p>
            <a:pPr indent="-359833" lvl="2" marL="107949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Por atributos:</a:t>
            </a:r>
            <a:r>
              <a:rPr b="0" i="0" lang="en-US" sz="2499" u="none" cap="none" strike="noStrike">
                <a:solidFill>
                  <a:srgbClr val="131416"/>
                </a:solidFill>
                <a:latin typeface="Open Sans"/>
                <a:ea typeface="Open Sans"/>
                <a:cs typeface="Open Sans"/>
                <a:sym typeface="Open Sans"/>
              </a:rPr>
              <a:t> Se separa en sus componentes, donde cada componente es un subconjunto del objeto. Este tipo de análisis permite reconocer el tipo al que pertenece el objeto y los elementos que lo conforman.</a:t>
            </a:r>
            <a:endParaRPr/>
          </a:p>
          <a:p>
            <a:pPr indent="0" lvl="0" marL="0" marR="0" rtl="0" algn="just">
              <a:lnSpc>
                <a:spcPct val="140016"/>
              </a:lnSpc>
              <a:spcBef>
                <a:spcPts val="0"/>
              </a:spcBef>
              <a:spcAft>
                <a:spcPts val="0"/>
              </a:spcAft>
              <a:buNone/>
            </a:pPr>
            <a:r>
              <a:t/>
            </a:r>
            <a:endParaRPr sz="2499">
              <a:solidFill>
                <a:srgbClr val="131416"/>
              </a:solidFill>
              <a:latin typeface="Open Sans"/>
              <a:ea typeface="Open Sans"/>
              <a:cs typeface="Open Sans"/>
              <a:sym typeface="Open Sans"/>
            </a:endParaRPr>
          </a:p>
          <a:p>
            <a:pPr indent="-269874" lvl="1" marL="53974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Síntesis:</a:t>
            </a:r>
            <a:endParaRPr/>
          </a:p>
          <a:p>
            <a:pPr indent="-359833" lvl="2" marL="107949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Por generalización:</a:t>
            </a:r>
            <a:r>
              <a:rPr b="0" i="0" lang="en-US" sz="2499" u="none" cap="none" strike="noStrike">
                <a:solidFill>
                  <a:srgbClr val="131416"/>
                </a:solidFill>
                <a:latin typeface="Open Sans"/>
                <a:ea typeface="Open Sans"/>
                <a:cs typeface="Open Sans"/>
                <a:sym typeface="Open Sans"/>
              </a:rPr>
              <a:t> Se reúnen todos los subconjuntos del sistema hasta llegar a una abstracción que defina el concepto general.</a:t>
            </a:r>
            <a:endParaRPr/>
          </a:p>
          <a:p>
            <a:pPr indent="-359833" lvl="2" marL="1079499" marR="0" rtl="0" algn="just">
              <a:lnSpc>
                <a:spcPct val="140016"/>
              </a:lnSpc>
              <a:spcBef>
                <a:spcPts val="0"/>
              </a:spcBef>
              <a:spcAft>
                <a:spcPts val="0"/>
              </a:spcAft>
              <a:buClr>
                <a:srgbClr val="131416"/>
              </a:buClr>
              <a:buSzPts val="2499"/>
              <a:buFont typeface="Arial"/>
              <a:buChar char="⚬"/>
            </a:pPr>
            <a:r>
              <a:rPr b="1" i="0" lang="en-US" sz="2499" u="none" cap="none" strike="noStrike">
                <a:solidFill>
                  <a:srgbClr val="131416"/>
                </a:solidFill>
                <a:latin typeface="Open Sans"/>
                <a:ea typeface="Open Sans"/>
                <a:cs typeface="Open Sans"/>
                <a:sym typeface="Open Sans"/>
              </a:rPr>
              <a:t>Por composición:</a:t>
            </a:r>
            <a:r>
              <a:rPr b="0" i="0" lang="en-US" sz="2499" u="none" cap="none" strike="noStrike">
                <a:solidFill>
                  <a:srgbClr val="131416"/>
                </a:solidFill>
                <a:latin typeface="Open Sans"/>
                <a:ea typeface="Open Sans"/>
                <a:cs typeface="Open Sans"/>
                <a:sym typeface="Open Sans"/>
              </a:rPr>
              <a:t> Se integran todas las partes o conceptos que conforman el objeto para entenderlo como un todo.</a:t>
            </a:r>
            <a:endParaRPr/>
          </a:p>
        </p:txBody>
      </p:sp>
      <p:sp>
        <p:nvSpPr>
          <p:cNvPr id="221" name="Google Shape;221;p18"/>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ANÁLISIS EN PROFUNDIDAD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25" name="Shape 225"/>
        <p:cNvGrpSpPr/>
        <p:nvPr/>
      </p:nvGrpSpPr>
      <p:grpSpPr>
        <a:xfrm>
          <a:off x="0" y="0"/>
          <a:ext cx="0" cy="0"/>
          <a:chOff x="0" y="0"/>
          <a:chExt cx="0" cy="0"/>
        </a:xfrm>
      </p:grpSpPr>
      <p:sp>
        <p:nvSpPr>
          <p:cNvPr id="226" name="Google Shape;226;p19"/>
          <p:cNvSpPr/>
          <p:nvPr/>
        </p:nvSpPr>
        <p:spPr>
          <a:xfrm>
            <a:off x="215417" y="2437385"/>
            <a:ext cx="11135972" cy="6416852"/>
          </a:xfrm>
          <a:custGeom>
            <a:rect b="b" l="l" r="r" t="t"/>
            <a:pathLst>
              <a:path extrusionOk="0" h="6416852" w="11135972">
                <a:moveTo>
                  <a:pt x="0" y="0"/>
                </a:moveTo>
                <a:lnTo>
                  <a:pt x="11135972" y="0"/>
                </a:lnTo>
                <a:lnTo>
                  <a:pt x="11135972" y="6416853"/>
                </a:lnTo>
                <a:lnTo>
                  <a:pt x="0" y="641685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9"/>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ARBOL POR ESPECIALIZACION</a:t>
            </a:r>
            <a:endParaRPr/>
          </a:p>
        </p:txBody>
      </p:sp>
      <p:sp>
        <p:nvSpPr>
          <p:cNvPr id="228" name="Google Shape;228;p19"/>
          <p:cNvSpPr txBox="1"/>
          <p:nvPr/>
        </p:nvSpPr>
        <p:spPr>
          <a:xfrm>
            <a:off x="11614037" y="4324350"/>
            <a:ext cx="6231212" cy="1581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árbol representa el análisis  por especialización del concepto  “Animal”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32" name="Shape 232"/>
        <p:cNvGrpSpPr/>
        <p:nvPr/>
      </p:nvGrpSpPr>
      <p:grpSpPr>
        <a:xfrm>
          <a:off x="0" y="0"/>
          <a:ext cx="0" cy="0"/>
          <a:chOff x="0" y="0"/>
          <a:chExt cx="0" cy="0"/>
        </a:xfrm>
      </p:grpSpPr>
      <p:sp>
        <p:nvSpPr>
          <p:cNvPr id="233" name="Google Shape;233;p20"/>
          <p:cNvSpPr/>
          <p:nvPr/>
        </p:nvSpPr>
        <p:spPr>
          <a:xfrm>
            <a:off x="1028700" y="2659292"/>
            <a:ext cx="9378655" cy="6194708"/>
          </a:xfrm>
          <a:custGeom>
            <a:rect b="b" l="l" r="r" t="t"/>
            <a:pathLst>
              <a:path extrusionOk="0" h="6194708" w="9378655">
                <a:moveTo>
                  <a:pt x="0" y="0"/>
                </a:moveTo>
                <a:lnTo>
                  <a:pt x="9378655" y="0"/>
                </a:lnTo>
                <a:lnTo>
                  <a:pt x="9378655" y="6194708"/>
                </a:lnTo>
                <a:lnTo>
                  <a:pt x="0" y="619470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0"/>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ARBOL POR DESCOMPOSICION</a:t>
            </a:r>
            <a:endParaRPr/>
          </a:p>
        </p:txBody>
      </p:sp>
      <p:sp>
        <p:nvSpPr>
          <p:cNvPr id="235" name="Google Shape;235;p20"/>
          <p:cNvSpPr txBox="1"/>
          <p:nvPr/>
        </p:nvSpPr>
        <p:spPr>
          <a:xfrm>
            <a:off x="11614037" y="4324350"/>
            <a:ext cx="6231212" cy="1581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árbol representa el análisis  por descomposición del concepto  “Bicicleta”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39" name="Shape 239"/>
        <p:cNvGrpSpPr/>
        <p:nvPr/>
      </p:nvGrpSpPr>
      <p:grpSpPr>
        <a:xfrm>
          <a:off x="0" y="0"/>
          <a:ext cx="0" cy="0"/>
          <a:chOff x="0" y="0"/>
          <a:chExt cx="0" cy="0"/>
        </a:xfrm>
      </p:grpSpPr>
      <p:sp>
        <p:nvSpPr>
          <p:cNvPr id="240" name="Google Shape;240;p21"/>
          <p:cNvSpPr/>
          <p:nvPr/>
        </p:nvSpPr>
        <p:spPr>
          <a:xfrm>
            <a:off x="661820" y="2613145"/>
            <a:ext cx="10045907" cy="6213826"/>
          </a:xfrm>
          <a:custGeom>
            <a:rect b="b" l="l" r="r" t="t"/>
            <a:pathLst>
              <a:path extrusionOk="0" h="6213826" w="10045907">
                <a:moveTo>
                  <a:pt x="0" y="0"/>
                </a:moveTo>
                <a:lnTo>
                  <a:pt x="10045906" y="0"/>
                </a:lnTo>
                <a:lnTo>
                  <a:pt x="10045906" y="6213825"/>
                </a:lnTo>
                <a:lnTo>
                  <a:pt x="0" y="621382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1"/>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ARBOL POR ATRIBUTOS</a:t>
            </a:r>
            <a:endParaRPr/>
          </a:p>
        </p:txBody>
      </p:sp>
      <p:sp>
        <p:nvSpPr>
          <p:cNvPr id="242" name="Google Shape;242;p21"/>
          <p:cNvSpPr txBox="1"/>
          <p:nvPr/>
        </p:nvSpPr>
        <p:spPr>
          <a:xfrm>
            <a:off x="11614037" y="4324350"/>
            <a:ext cx="6231212" cy="1581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árbol representa el análisis  por atributos del concepto  “Manzana”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46" name="Shape 246"/>
        <p:cNvGrpSpPr/>
        <p:nvPr/>
      </p:nvGrpSpPr>
      <p:grpSpPr>
        <a:xfrm>
          <a:off x="0" y="0"/>
          <a:ext cx="0" cy="0"/>
          <a:chOff x="0" y="0"/>
          <a:chExt cx="0" cy="0"/>
        </a:xfrm>
      </p:grpSpPr>
      <p:sp>
        <p:nvSpPr>
          <p:cNvPr id="247" name="Google Shape;247;p22"/>
          <p:cNvSpPr/>
          <p:nvPr/>
        </p:nvSpPr>
        <p:spPr>
          <a:xfrm>
            <a:off x="766137" y="2251060"/>
            <a:ext cx="9516769" cy="7103095"/>
          </a:xfrm>
          <a:custGeom>
            <a:rect b="b" l="l" r="r" t="t"/>
            <a:pathLst>
              <a:path extrusionOk="0" h="7103095" w="9516769">
                <a:moveTo>
                  <a:pt x="0" y="0"/>
                </a:moveTo>
                <a:lnTo>
                  <a:pt x="9516769" y="0"/>
                </a:lnTo>
                <a:lnTo>
                  <a:pt x="9516769" y="7103095"/>
                </a:lnTo>
                <a:lnTo>
                  <a:pt x="0" y="7103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2"/>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ARBOL POR GENERALIZACION</a:t>
            </a:r>
            <a:endParaRPr/>
          </a:p>
        </p:txBody>
      </p:sp>
      <p:sp>
        <p:nvSpPr>
          <p:cNvPr id="249" name="Google Shape;249;p22"/>
          <p:cNvSpPr txBox="1"/>
          <p:nvPr/>
        </p:nvSpPr>
        <p:spPr>
          <a:xfrm>
            <a:off x="11614037" y="4324350"/>
            <a:ext cx="6231212" cy="1581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árbol representa el análisis  por generalización del concepto  “Mamíferos domésticos”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53" name="Shape 253"/>
        <p:cNvGrpSpPr/>
        <p:nvPr/>
      </p:nvGrpSpPr>
      <p:grpSpPr>
        <a:xfrm>
          <a:off x="0" y="0"/>
          <a:ext cx="0" cy="0"/>
          <a:chOff x="0" y="0"/>
          <a:chExt cx="0" cy="0"/>
        </a:xfrm>
      </p:grpSpPr>
      <p:sp>
        <p:nvSpPr>
          <p:cNvPr id="254" name="Google Shape;254;p23"/>
          <p:cNvSpPr/>
          <p:nvPr/>
        </p:nvSpPr>
        <p:spPr>
          <a:xfrm>
            <a:off x="454406" y="2809910"/>
            <a:ext cx="10427251" cy="6191180"/>
          </a:xfrm>
          <a:custGeom>
            <a:rect b="b" l="l" r="r" t="t"/>
            <a:pathLst>
              <a:path extrusionOk="0" h="6191180" w="10427251">
                <a:moveTo>
                  <a:pt x="0" y="0"/>
                </a:moveTo>
                <a:lnTo>
                  <a:pt x="10427251" y="0"/>
                </a:lnTo>
                <a:lnTo>
                  <a:pt x="10427251" y="6191180"/>
                </a:lnTo>
                <a:lnTo>
                  <a:pt x="0" y="61911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23"/>
          <p:cNvSpPr txBox="1"/>
          <p:nvPr/>
        </p:nvSpPr>
        <p:spPr>
          <a:xfrm>
            <a:off x="1028700" y="571944"/>
            <a:ext cx="14976106" cy="787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5000">
                <a:solidFill>
                  <a:srgbClr val="131416"/>
                </a:solidFill>
                <a:latin typeface="Arial"/>
                <a:ea typeface="Arial"/>
                <a:cs typeface="Arial"/>
                <a:sym typeface="Arial"/>
              </a:rPr>
              <a:t>ARBOL POR COMPOSICIÓN</a:t>
            </a:r>
            <a:endParaRPr/>
          </a:p>
        </p:txBody>
      </p:sp>
      <p:sp>
        <p:nvSpPr>
          <p:cNvPr id="256" name="Google Shape;256;p23"/>
          <p:cNvSpPr txBox="1"/>
          <p:nvPr/>
        </p:nvSpPr>
        <p:spPr>
          <a:xfrm>
            <a:off x="11614037" y="4324350"/>
            <a:ext cx="6231212" cy="1581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Este árbol representa el análisis  por Composición del concepto  “Computadora”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60" name="Shape 260"/>
        <p:cNvGrpSpPr/>
        <p:nvPr/>
      </p:nvGrpSpPr>
      <p:grpSpPr>
        <a:xfrm>
          <a:off x="0" y="0"/>
          <a:ext cx="0" cy="0"/>
          <a:chOff x="0" y="0"/>
          <a:chExt cx="0" cy="0"/>
        </a:xfrm>
      </p:grpSpPr>
      <p:sp>
        <p:nvSpPr>
          <p:cNvPr id="261" name="Google Shape;261;p24"/>
          <p:cNvSpPr txBox="1"/>
          <p:nvPr/>
        </p:nvSpPr>
        <p:spPr>
          <a:xfrm>
            <a:off x="651214" y="1567567"/>
            <a:ext cx="1612656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Inordinación: </a:t>
            </a:r>
            <a:r>
              <a:rPr lang="en-US" sz="3000">
                <a:solidFill>
                  <a:srgbClr val="131416"/>
                </a:solidFill>
                <a:latin typeface="Open Sans"/>
                <a:ea typeface="Open Sans"/>
                <a:cs typeface="Open Sans"/>
                <a:sym typeface="Open Sans"/>
              </a:rPr>
              <a:t>El concepto se ubica en un punto intermedio del árbol lógico; no es ni la raíz (nivel general) ni una hoja (nivel más específico).</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t/>
            </a:r>
            <a:endParaRPr b="1" sz="3000">
              <a:solidFill>
                <a:srgbClr val="131416"/>
              </a:solidFill>
              <a:latin typeface="Open Sans"/>
              <a:ea typeface="Open Sans"/>
              <a:cs typeface="Open Sans"/>
              <a:sym typeface="Open Sans"/>
            </a:endParaRPr>
          </a:p>
        </p:txBody>
      </p:sp>
      <p:sp>
        <p:nvSpPr>
          <p:cNvPr id="262" name="Google Shape;262;p24"/>
          <p:cNvSpPr/>
          <p:nvPr/>
        </p:nvSpPr>
        <p:spPr>
          <a:xfrm>
            <a:off x="3063866" y="3737289"/>
            <a:ext cx="11301259" cy="5876655"/>
          </a:xfrm>
          <a:custGeom>
            <a:rect b="b" l="l" r="r" t="t"/>
            <a:pathLst>
              <a:path extrusionOk="0" h="5876655" w="11301259">
                <a:moveTo>
                  <a:pt x="0" y="0"/>
                </a:moveTo>
                <a:lnTo>
                  <a:pt x="11301259" y="0"/>
                </a:lnTo>
                <a:lnTo>
                  <a:pt x="11301259" y="5876655"/>
                </a:lnTo>
                <a:lnTo>
                  <a:pt x="0" y="587665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66" name="Shape 266"/>
        <p:cNvGrpSpPr/>
        <p:nvPr/>
      </p:nvGrpSpPr>
      <p:grpSpPr>
        <a:xfrm>
          <a:off x="0" y="0"/>
          <a:ext cx="0" cy="0"/>
          <a:chOff x="0" y="0"/>
          <a:chExt cx="0" cy="0"/>
        </a:xfrm>
      </p:grpSpPr>
      <p:sp>
        <p:nvSpPr>
          <p:cNvPr id="267" name="Google Shape;267;p25"/>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LÓGICA DE LAS PROPOSICIONES</a:t>
            </a:r>
            <a:endParaRPr/>
          </a:p>
        </p:txBody>
      </p:sp>
      <p:sp>
        <p:nvSpPr>
          <p:cNvPr id="268" name="Google Shape;268;p25"/>
          <p:cNvSpPr txBox="1"/>
          <p:nvPr/>
        </p:nvSpPr>
        <p:spPr>
          <a:xfrm>
            <a:off x="1338901" y="1917765"/>
            <a:ext cx="16126564" cy="9302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Una proposición es un enunciado que puede ser verdadero o falso, pero no ambos a la vez. Generalmente son oraciones enunciativas y constituyen la base de la lógica matemática.</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Componentes de una proposición</a:t>
            </a:r>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Premisas:</a:t>
            </a:r>
            <a:r>
              <a:rPr b="0" i="0" lang="en-US" sz="3000" u="none" cap="none" strike="noStrike">
                <a:solidFill>
                  <a:srgbClr val="131416"/>
                </a:solidFill>
                <a:latin typeface="Open Sans"/>
                <a:ea typeface="Open Sans"/>
                <a:cs typeface="Open Sans"/>
                <a:sym typeface="Open Sans"/>
              </a:rPr>
              <a:t> Son las proposiciones que sirven de base a un razonamiento. Pueden ser verdaderas o falsas y afirman o niegan algo.</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323850" lvl="1" marL="647700" marR="0" rtl="0" algn="just">
              <a:lnSpc>
                <a:spcPct val="140000"/>
              </a:lnSpc>
              <a:spcBef>
                <a:spcPts val="0"/>
              </a:spcBef>
              <a:spcAft>
                <a:spcPts val="0"/>
              </a:spcAft>
              <a:buClr>
                <a:srgbClr val="131416"/>
              </a:buClr>
              <a:buSzPts val="3000"/>
              <a:buFont typeface="Arial"/>
              <a:buChar char="•"/>
            </a:pPr>
            <a:r>
              <a:rPr b="1" i="0" lang="en-US" sz="3000" u="none" cap="none" strike="noStrike">
                <a:solidFill>
                  <a:srgbClr val="131416"/>
                </a:solidFill>
                <a:latin typeface="Open Sans"/>
                <a:ea typeface="Open Sans"/>
                <a:cs typeface="Open Sans"/>
                <a:sym typeface="Open Sans"/>
              </a:rPr>
              <a:t>Conclusión:</a:t>
            </a:r>
            <a:r>
              <a:rPr b="0" i="0" lang="en-US" sz="3000" u="none" cap="none" strike="noStrike">
                <a:solidFill>
                  <a:srgbClr val="131416"/>
                </a:solidFill>
                <a:latin typeface="Open Sans"/>
                <a:ea typeface="Open Sans"/>
                <a:cs typeface="Open Sans"/>
                <a:sym typeface="Open Sans"/>
              </a:rPr>
              <a:t> Es la proposición final que se deduce de las premisas.</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Las proposiciones se evalúan con valores excluyentes: Verdadero (V) o Falso (F).</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Ejemplos de proposiciones</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El cielo es azul.</a:t>
            </a:r>
            <a:endParaRPr/>
          </a:p>
          <a:p>
            <a:pPr indent="-323850" lvl="1" marL="647700" marR="0" rtl="0" algn="just">
              <a:lnSpc>
                <a:spcPct val="140000"/>
              </a:lnSpc>
              <a:spcBef>
                <a:spcPts val="0"/>
              </a:spcBef>
              <a:spcAft>
                <a:spcPts val="0"/>
              </a:spcAft>
              <a:buClr>
                <a:srgbClr val="131416"/>
              </a:buClr>
              <a:buSzPts val="3000"/>
              <a:buFont typeface="Arial"/>
              <a:buChar char="•"/>
            </a:pPr>
            <a:r>
              <a:rPr b="0" i="0" lang="en-US" sz="3000" u="none" cap="none" strike="noStrike">
                <a:solidFill>
                  <a:srgbClr val="131416"/>
                </a:solidFill>
                <a:latin typeface="Open Sans"/>
                <a:ea typeface="Open Sans"/>
                <a:cs typeface="Open Sans"/>
                <a:sym typeface="Open Sans"/>
              </a:rPr>
              <a:t>La raíz cuadrada de 25 es 4.</a:t>
            </a:r>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72" name="Shape 272"/>
        <p:cNvGrpSpPr/>
        <p:nvPr/>
      </p:nvGrpSpPr>
      <p:grpSpPr>
        <a:xfrm>
          <a:off x="0" y="0"/>
          <a:ext cx="0" cy="0"/>
          <a:chOff x="0" y="0"/>
          <a:chExt cx="0" cy="0"/>
        </a:xfrm>
      </p:grpSpPr>
      <p:sp>
        <p:nvSpPr>
          <p:cNvPr id="273" name="Google Shape;273;p26"/>
          <p:cNvSpPr txBox="1"/>
          <p:nvPr/>
        </p:nvSpPr>
        <p:spPr>
          <a:xfrm>
            <a:off x="1028700" y="782002"/>
            <a:ext cx="15884411" cy="545465"/>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lang="en-US" sz="3500">
                <a:solidFill>
                  <a:srgbClr val="131416"/>
                </a:solidFill>
                <a:latin typeface="Arial"/>
                <a:ea typeface="Arial"/>
                <a:cs typeface="Arial"/>
                <a:sym typeface="Arial"/>
              </a:rPr>
              <a:t> CLASIFICACIÓN DE LA PROPOSICIONES</a:t>
            </a:r>
            <a:endParaRPr/>
          </a:p>
        </p:txBody>
      </p:sp>
      <p:sp>
        <p:nvSpPr>
          <p:cNvPr id="274" name="Google Shape;274;p26"/>
          <p:cNvSpPr txBox="1"/>
          <p:nvPr/>
        </p:nvSpPr>
        <p:spPr>
          <a:xfrm>
            <a:off x="1338901" y="1917765"/>
            <a:ext cx="16126564" cy="9207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 </a:t>
            </a:r>
            <a:r>
              <a:rPr lang="en-US" sz="3000">
                <a:solidFill>
                  <a:srgbClr val="131416"/>
                </a:solidFill>
                <a:latin typeface="Open Sans"/>
                <a:ea typeface="Open Sans"/>
                <a:cs typeface="Open Sans"/>
                <a:sym typeface="Open Sans"/>
              </a:rPr>
              <a:t>En la lógica se distinguen dos tipos de proposiciones:</a:t>
            </a:r>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1. Proposiciones Simples o Automáticas:</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Esta no se pueden descomponer en dos expresiones que sean proposiciones.</a:t>
            </a:r>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Juan es pequeño.</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La raíz cuadra de 25 es 5</a:t>
            </a:r>
            <a:endParaRPr/>
          </a:p>
          <a:p>
            <a:pPr indent="0" lvl="0" marL="0" marR="0" rtl="0" algn="just">
              <a:lnSpc>
                <a:spcPct val="140000"/>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2. Proposiciones Compuestas o Moleculares:</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Es una proposición formada por dos o más proposiciones simples o compuestas. Son las proposiciones en las que aparecen las partículas gramaticales como: No, o, y, si…. Entonces, si y solo si</a:t>
            </a:r>
            <a:endParaRPr/>
          </a:p>
          <a:p>
            <a:pPr indent="0" lvl="0" marL="0" marR="0" rtl="0" algn="just">
              <a:lnSpc>
                <a:spcPct val="140000"/>
              </a:lnSpc>
              <a:spcBef>
                <a:spcPts val="0"/>
              </a:spcBef>
              <a:spcAft>
                <a:spcPts val="0"/>
              </a:spcAft>
              <a:buNone/>
            </a:pPr>
            <a:r>
              <a:rPr b="1" lang="en-US" sz="3000">
                <a:solidFill>
                  <a:srgbClr val="131416"/>
                </a:solidFill>
                <a:latin typeface="Open Sans"/>
                <a:ea typeface="Open Sans"/>
                <a:cs typeface="Open Sans"/>
                <a:sym typeface="Open Sans"/>
              </a:rPr>
              <a:t>Ejemplo:</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 5 es mayor que 4 y 6 es menor que 7.</a:t>
            </a:r>
            <a:endParaRPr/>
          </a:p>
          <a:p>
            <a:pPr indent="0" lvl="0" marL="0" marR="0" rtl="0" algn="just">
              <a:lnSpc>
                <a:spcPct val="140000"/>
              </a:lnSpc>
              <a:spcBef>
                <a:spcPts val="0"/>
              </a:spcBef>
              <a:spcAft>
                <a:spcPts val="0"/>
              </a:spcAft>
              <a:buNone/>
            </a:pPr>
            <a:r>
              <a:rPr lang="en-US" sz="3000">
                <a:solidFill>
                  <a:srgbClr val="131416"/>
                </a:solidFill>
                <a:latin typeface="Open Sans"/>
                <a:ea typeface="Open Sans"/>
                <a:cs typeface="Open Sans"/>
                <a:sym typeface="Open Sans"/>
              </a:rPr>
              <a:t>Aprenderé a programar solo si soy contantes y practico mucho. </a:t>
            </a:r>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a:p>
            <a:pPr indent="0" lvl="0" marL="0" marR="0" rtl="0" algn="just">
              <a:lnSpc>
                <a:spcPct val="116633"/>
              </a:lnSpc>
              <a:spcBef>
                <a:spcPts val="0"/>
              </a:spcBef>
              <a:spcAft>
                <a:spcPts val="0"/>
              </a:spcAft>
              <a:buNone/>
            </a:pPr>
            <a:r>
              <a:t/>
            </a:r>
            <a:endParaRPr sz="3000">
              <a:solidFill>
                <a:srgbClr val="131416"/>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78" name="Shape 278"/>
        <p:cNvGrpSpPr/>
        <p:nvPr/>
      </p:nvGrpSpPr>
      <p:grpSpPr>
        <a:xfrm>
          <a:off x="0" y="0"/>
          <a:ext cx="0" cy="0"/>
          <a:chOff x="0" y="0"/>
          <a:chExt cx="0" cy="0"/>
        </a:xfrm>
      </p:grpSpPr>
      <p:sp>
        <p:nvSpPr>
          <p:cNvPr id="279" name="Google Shape;279;p27"/>
          <p:cNvSpPr txBox="1"/>
          <p:nvPr/>
        </p:nvSpPr>
        <p:spPr>
          <a:xfrm>
            <a:off x="852333" y="834551"/>
            <a:ext cx="16406967" cy="1688973"/>
          </a:xfrm>
          <a:prstGeom prst="rect">
            <a:avLst/>
          </a:prstGeom>
          <a:noFill/>
          <a:ln>
            <a:noFill/>
          </a:ln>
        </p:spPr>
        <p:txBody>
          <a:bodyPr anchorCtr="0" anchor="t" bIns="0" lIns="0" spcFirstLastPara="1" rIns="0" wrap="square" tIns="0">
            <a:spAutoFit/>
          </a:bodyPr>
          <a:lstStyle/>
          <a:p>
            <a:pPr indent="0" lvl="0" marL="0" marR="0" rtl="0" algn="ctr">
              <a:lnSpc>
                <a:spcPct val="112977"/>
              </a:lnSpc>
              <a:spcBef>
                <a:spcPts val="0"/>
              </a:spcBef>
              <a:spcAft>
                <a:spcPts val="0"/>
              </a:spcAft>
              <a:buNone/>
            </a:pPr>
            <a:r>
              <a:rPr lang="en-US" sz="4500">
                <a:solidFill>
                  <a:srgbClr val="131416"/>
                </a:solidFill>
                <a:latin typeface="Arial"/>
                <a:ea typeface="Arial"/>
                <a:cs typeface="Arial"/>
                <a:sym typeface="Arial"/>
              </a:rPr>
              <a:t>CONCEPTOS CLAVE APRENDIDOS </a:t>
            </a:r>
            <a:endParaRPr/>
          </a:p>
          <a:p>
            <a:pPr indent="0" lvl="0" marL="0" marR="0" rtl="0" algn="ctr">
              <a:lnSpc>
                <a:spcPct val="173266"/>
              </a:lnSpc>
              <a:spcBef>
                <a:spcPts val="0"/>
              </a:spcBef>
              <a:spcAft>
                <a:spcPts val="0"/>
              </a:spcAft>
              <a:buNone/>
            </a:pPr>
            <a:r>
              <a:t/>
            </a:r>
            <a:endParaRPr sz="4500">
              <a:solidFill>
                <a:srgbClr val="131416"/>
              </a:solidFill>
              <a:latin typeface="Arial"/>
              <a:ea typeface="Arial"/>
              <a:cs typeface="Arial"/>
              <a:sym typeface="Arial"/>
            </a:endParaRPr>
          </a:p>
        </p:txBody>
      </p:sp>
      <p:sp>
        <p:nvSpPr>
          <p:cNvPr id="280" name="Google Shape;280;p27"/>
          <p:cNvSpPr txBox="1"/>
          <p:nvPr/>
        </p:nvSpPr>
        <p:spPr>
          <a:xfrm>
            <a:off x="1605703" y="1963602"/>
            <a:ext cx="14900226" cy="5982314"/>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Objeto:</a:t>
            </a:r>
            <a:r>
              <a:rPr b="0" i="0" lang="en-US" sz="2799" u="none" cap="none" strike="noStrike">
                <a:solidFill>
                  <a:srgbClr val="131416"/>
                </a:solidFill>
                <a:latin typeface="Arial"/>
                <a:ea typeface="Arial"/>
                <a:cs typeface="Arial"/>
                <a:sym typeface="Arial"/>
              </a:rPr>
              <a:t> cualquier cosa concreta o abstracta a la que se puede aplicar un concepto.</a:t>
            </a:r>
            <a:endParaRPr/>
          </a:p>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Triadas del concepto:</a:t>
            </a:r>
            <a:r>
              <a:rPr b="0" i="0" lang="en-US" sz="2799" u="none" cap="none" strike="noStrike">
                <a:solidFill>
                  <a:srgbClr val="131416"/>
                </a:solidFill>
                <a:latin typeface="Arial"/>
                <a:ea typeface="Arial"/>
                <a:cs typeface="Arial"/>
                <a:sym typeface="Arial"/>
              </a:rPr>
              <a:t> conjunto de tres elementos mentales que usamos para comprender y reconocer un concepto.</a:t>
            </a:r>
            <a:endParaRPr/>
          </a:p>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Diagrama de árbol:</a:t>
            </a:r>
            <a:r>
              <a:rPr b="0" i="0" lang="en-US" sz="2799" u="none" cap="none" strike="noStrike">
                <a:solidFill>
                  <a:srgbClr val="131416"/>
                </a:solidFill>
                <a:latin typeface="Arial"/>
                <a:ea typeface="Arial"/>
                <a:cs typeface="Arial"/>
                <a:sym typeface="Arial"/>
              </a:rPr>
              <a:t>  el árbol lógico es una estructura jerárquica que organiza elementos según sus relaciones lógicas y niveles de generalidad.</a:t>
            </a:r>
            <a:endParaRPr/>
          </a:p>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Memoria:</a:t>
            </a:r>
            <a:r>
              <a:rPr b="0" i="0" lang="en-US" sz="2799" u="none" cap="none" strike="noStrike">
                <a:solidFill>
                  <a:srgbClr val="131416"/>
                </a:solidFill>
                <a:latin typeface="Arial"/>
                <a:ea typeface="Arial"/>
                <a:cs typeface="Arial"/>
                <a:sym typeface="Arial"/>
              </a:rPr>
              <a:t> La memoria es una serie horizontal de objetos del mismo tipo lógico que pueden sustituirse entre sí.</a:t>
            </a:r>
            <a:endParaRPr/>
          </a:p>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Premisas:</a:t>
            </a:r>
            <a:r>
              <a:rPr b="0" i="0" lang="en-US" sz="2799" u="none" cap="none" strike="noStrike">
                <a:solidFill>
                  <a:srgbClr val="131416"/>
                </a:solidFill>
                <a:latin typeface="Arial"/>
                <a:ea typeface="Arial"/>
                <a:cs typeface="Arial"/>
                <a:sym typeface="Arial"/>
              </a:rPr>
              <a:t> Son las proposiciones que sirven de base a un razonamiento. Pueden ser verdaderas o falsas.</a:t>
            </a:r>
            <a:endParaRPr/>
          </a:p>
          <a:p>
            <a:pPr indent="-302260" lvl="1" marL="604519" marR="0" rtl="0" algn="l">
              <a:lnSpc>
                <a:spcPct val="140014"/>
              </a:lnSpc>
              <a:spcBef>
                <a:spcPts val="0"/>
              </a:spcBef>
              <a:spcAft>
                <a:spcPts val="0"/>
              </a:spcAft>
              <a:buClr>
                <a:srgbClr val="131416"/>
              </a:buClr>
              <a:buSzPts val="2799"/>
              <a:buFont typeface="Arial"/>
              <a:buChar char="•"/>
            </a:pPr>
            <a:r>
              <a:rPr b="1" i="0" lang="en-US" sz="2799" u="none" cap="none" strike="noStrike">
                <a:solidFill>
                  <a:srgbClr val="131416"/>
                </a:solidFill>
                <a:latin typeface="Arial"/>
                <a:ea typeface="Arial"/>
                <a:cs typeface="Arial"/>
                <a:sym typeface="Arial"/>
              </a:rPr>
              <a:t>Conclusión: </a:t>
            </a:r>
            <a:r>
              <a:rPr b="0" i="0" lang="en-US" sz="2799" u="none" cap="none" strike="noStrike">
                <a:solidFill>
                  <a:srgbClr val="131416"/>
                </a:solidFill>
                <a:latin typeface="Arial"/>
                <a:ea typeface="Arial"/>
                <a:cs typeface="Arial"/>
                <a:sym typeface="Arial"/>
              </a:rPr>
              <a:t>Es la proposición final que se deduce de las premisas.</a:t>
            </a:r>
            <a:endParaRPr/>
          </a:p>
          <a:p>
            <a:pPr indent="0" lvl="0" marL="0" marR="0" rtl="0" algn="l">
              <a:lnSpc>
                <a:spcPct val="157627"/>
              </a:lnSpc>
              <a:spcBef>
                <a:spcPts val="0"/>
              </a:spcBef>
              <a:spcAft>
                <a:spcPts val="0"/>
              </a:spcAft>
              <a:buNone/>
            </a:pPr>
            <a:r>
              <a:t/>
            </a:r>
            <a:endParaRPr sz="2799">
              <a:solidFill>
                <a:srgbClr val="131416"/>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84" name="Shape 284"/>
        <p:cNvGrpSpPr/>
        <p:nvPr/>
      </p:nvGrpSpPr>
      <p:grpSpPr>
        <a:xfrm>
          <a:off x="0" y="0"/>
          <a:ext cx="0" cy="0"/>
          <a:chOff x="0" y="0"/>
          <a:chExt cx="0" cy="0"/>
        </a:xfrm>
      </p:grpSpPr>
      <p:sp>
        <p:nvSpPr>
          <p:cNvPr id="285" name="Google Shape;285;p28"/>
          <p:cNvSpPr/>
          <p:nvPr/>
        </p:nvSpPr>
        <p:spPr>
          <a:xfrm>
            <a:off x="11604433" y="2375597"/>
            <a:ext cx="4910696" cy="5023327"/>
          </a:xfrm>
          <a:custGeom>
            <a:rect b="b" l="l" r="r" t="t"/>
            <a:pathLst>
              <a:path extrusionOk="0" h="5023327" w="4910696">
                <a:moveTo>
                  <a:pt x="0" y="0"/>
                </a:moveTo>
                <a:lnTo>
                  <a:pt x="4910696" y="0"/>
                </a:lnTo>
                <a:lnTo>
                  <a:pt x="4910696" y="5023327"/>
                </a:lnTo>
                <a:lnTo>
                  <a:pt x="0" y="502332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28"/>
          <p:cNvSpPr txBox="1"/>
          <p:nvPr/>
        </p:nvSpPr>
        <p:spPr>
          <a:xfrm>
            <a:off x="897376" y="2013966"/>
            <a:ext cx="8640435" cy="791083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lang="en-US" sz="2799">
                <a:solidFill>
                  <a:srgbClr val="131416"/>
                </a:solidFill>
                <a:latin typeface="Arial"/>
                <a:ea typeface="Arial"/>
                <a:cs typeface="Arial"/>
                <a:sym typeface="Arial"/>
              </a:rPr>
              <a:t>Asumir con compromiso el estudio, la preparación y la presentación del parcial, cumpliendo con los tiempos y criterios establecidos.</a:t>
            </a:r>
            <a:endParaRPr/>
          </a:p>
          <a:p>
            <a:pPr indent="0" lvl="0" marL="0" marR="0" rtl="0" algn="l">
              <a:lnSpc>
                <a:spcPct val="140014"/>
              </a:lnSpc>
              <a:spcBef>
                <a:spcPts val="0"/>
              </a:spcBef>
              <a:spcAft>
                <a:spcPts val="0"/>
              </a:spcAft>
              <a:buNone/>
            </a:pPr>
            <a:r>
              <a:t/>
            </a:r>
            <a:endParaRPr sz="2799">
              <a:solidFill>
                <a:srgbClr val="131416"/>
              </a:solidFill>
              <a:latin typeface="Arial"/>
              <a:ea typeface="Arial"/>
              <a:cs typeface="Arial"/>
              <a:sym typeface="Arial"/>
            </a:endParaRPr>
          </a:p>
          <a:p>
            <a:pPr indent="0" lvl="0" marL="0" marR="0" rtl="0" algn="l">
              <a:lnSpc>
                <a:spcPct val="140014"/>
              </a:lnSpc>
              <a:spcBef>
                <a:spcPts val="0"/>
              </a:spcBef>
              <a:spcAft>
                <a:spcPts val="0"/>
              </a:spcAft>
              <a:buNone/>
            </a:pPr>
            <a:r>
              <a:rPr lang="en-US" sz="2799">
                <a:solidFill>
                  <a:srgbClr val="131416"/>
                </a:solidFill>
                <a:latin typeface="Arial"/>
                <a:ea typeface="Arial"/>
                <a:cs typeface="Arial"/>
                <a:sym typeface="Arial"/>
              </a:rPr>
              <a:t>Aplicación en clase:</a:t>
            </a:r>
            <a:endParaRPr/>
          </a:p>
          <a:p>
            <a:pPr indent="-302260" lvl="1" marL="604519" marR="0" rtl="0" algn="l">
              <a:lnSpc>
                <a:spcPct val="140014"/>
              </a:lnSpc>
              <a:spcBef>
                <a:spcPts val="0"/>
              </a:spcBef>
              <a:spcAft>
                <a:spcPts val="0"/>
              </a:spcAft>
              <a:buClr>
                <a:srgbClr val="131416"/>
              </a:buClr>
              <a:buSzPts val="2799"/>
              <a:buFont typeface="Arial"/>
              <a:buChar char="•"/>
            </a:pPr>
            <a:r>
              <a:rPr b="0" i="0" lang="en-US" sz="2799" u="none" cap="none" strike="noStrike">
                <a:solidFill>
                  <a:srgbClr val="131416"/>
                </a:solidFill>
                <a:latin typeface="Arial"/>
                <a:ea typeface="Arial"/>
                <a:cs typeface="Arial"/>
                <a:sym typeface="Arial"/>
              </a:rPr>
              <a:t>Ser responsable implica argumentar con claridad y verdad, lo cual es esencial al formular proposiciones lógicas.</a:t>
            </a:r>
            <a:endParaRPr/>
          </a:p>
          <a:p>
            <a:pPr indent="-302260" lvl="1" marL="604519" marR="0" rtl="0" algn="l">
              <a:lnSpc>
                <a:spcPct val="140014"/>
              </a:lnSpc>
              <a:spcBef>
                <a:spcPts val="0"/>
              </a:spcBef>
              <a:spcAft>
                <a:spcPts val="0"/>
              </a:spcAft>
              <a:buClr>
                <a:srgbClr val="131416"/>
              </a:buClr>
              <a:buSzPts val="2799"/>
              <a:buFont typeface="Arial"/>
              <a:buChar char="•"/>
            </a:pPr>
            <a:r>
              <a:rPr b="0" i="0" lang="en-US" sz="2799" u="none" cap="none" strike="noStrike">
                <a:solidFill>
                  <a:srgbClr val="131416"/>
                </a:solidFill>
                <a:latin typeface="Arial"/>
                <a:ea typeface="Arial"/>
                <a:cs typeface="Arial"/>
                <a:sym typeface="Arial"/>
              </a:rPr>
              <a:t>Al construir premisas y conclusiones, se espera que el estudiante analice con seriedad lo que afirma o niega.</a:t>
            </a:r>
            <a:endParaRPr/>
          </a:p>
          <a:p>
            <a:pPr indent="-302260" lvl="1" marL="604519" marR="0" rtl="0" algn="l">
              <a:lnSpc>
                <a:spcPct val="140014"/>
              </a:lnSpc>
              <a:spcBef>
                <a:spcPts val="0"/>
              </a:spcBef>
              <a:spcAft>
                <a:spcPts val="0"/>
              </a:spcAft>
              <a:buClr>
                <a:srgbClr val="131416"/>
              </a:buClr>
              <a:buSzPts val="2799"/>
              <a:buFont typeface="Arial"/>
              <a:buChar char="•"/>
            </a:pPr>
            <a:r>
              <a:rPr b="0" i="0" lang="en-US" sz="2799" u="none" cap="none" strike="noStrike">
                <a:solidFill>
                  <a:srgbClr val="131416"/>
                </a:solidFill>
                <a:latin typeface="Arial"/>
                <a:ea typeface="Arial"/>
                <a:cs typeface="Arial"/>
                <a:sym typeface="Arial"/>
              </a:rPr>
              <a:t>La lógica nos enseña que toda afirmación tiene consecuencias, igual que nuestras acciones en la vida diaria.</a:t>
            </a:r>
            <a:endParaRPr/>
          </a:p>
          <a:p>
            <a:pPr indent="0" lvl="0" marL="0" marR="0" rtl="0" algn="l">
              <a:lnSpc>
                <a:spcPct val="140014"/>
              </a:lnSpc>
              <a:spcBef>
                <a:spcPts val="0"/>
              </a:spcBef>
              <a:spcAft>
                <a:spcPts val="0"/>
              </a:spcAft>
              <a:buNone/>
            </a:pPr>
            <a:r>
              <a:t/>
            </a:r>
            <a:endParaRPr sz="2799">
              <a:solidFill>
                <a:srgbClr val="131416"/>
              </a:solidFill>
              <a:latin typeface="Arial"/>
              <a:ea typeface="Arial"/>
              <a:cs typeface="Arial"/>
              <a:sym typeface="Arial"/>
            </a:endParaRPr>
          </a:p>
        </p:txBody>
      </p:sp>
      <p:sp>
        <p:nvSpPr>
          <p:cNvPr id="287" name="Google Shape;287;p28"/>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lang="en-US" sz="6900">
                <a:solidFill>
                  <a:srgbClr val="131416"/>
                </a:solidFill>
                <a:latin typeface="Arial"/>
                <a:ea typeface="Arial"/>
                <a:cs typeface="Arial"/>
                <a:sym typeface="Arial"/>
              </a:rPr>
              <a:t>RESPONSABILIDAD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91" name="Shape 291"/>
        <p:cNvGrpSpPr/>
        <p:nvPr/>
      </p:nvGrpSpPr>
      <p:grpSpPr>
        <a:xfrm>
          <a:off x="0" y="0"/>
          <a:ext cx="0" cy="0"/>
          <a:chOff x="0" y="0"/>
          <a:chExt cx="0" cy="0"/>
        </a:xfrm>
      </p:grpSpPr>
      <p:sp>
        <p:nvSpPr>
          <p:cNvPr id="292" name="Google Shape;292;p29"/>
          <p:cNvSpPr/>
          <p:nvPr/>
        </p:nvSpPr>
        <p:spPr>
          <a:xfrm>
            <a:off x="3608418" y="3695607"/>
            <a:ext cx="11301259" cy="6003794"/>
          </a:xfrm>
          <a:custGeom>
            <a:rect b="b" l="l" r="r" t="t"/>
            <a:pathLst>
              <a:path extrusionOk="0" h="6003794" w="11301259">
                <a:moveTo>
                  <a:pt x="0" y="0"/>
                </a:moveTo>
                <a:lnTo>
                  <a:pt x="11301259" y="0"/>
                </a:lnTo>
                <a:lnTo>
                  <a:pt x="11301259" y="6003794"/>
                </a:lnTo>
                <a:lnTo>
                  <a:pt x="0" y="60037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29"/>
          <p:cNvSpPr txBox="1"/>
          <p:nvPr/>
        </p:nvSpPr>
        <p:spPr>
          <a:xfrm>
            <a:off x="2507390" y="1009650"/>
            <a:ext cx="13503315" cy="1197610"/>
          </a:xfrm>
          <a:prstGeom prst="rect">
            <a:avLst/>
          </a:prstGeom>
          <a:noFill/>
          <a:ln>
            <a:noFill/>
          </a:ln>
        </p:spPr>
        <p:txBody>
          <a:bodyPr anchorCtr="0" anchor="t" bIns="0" lIns="0" spcFirstLastPara="1" rIns="0" wrap="square" tIns="0">
            <a:spAutoFit/>
          </a:bodyPr>
          <a:lstStyle/>
          <a:p>
            <a:pPr indent="0" lvl="0" marL="0" marR="0" rtl="0" algn="ctr">
              <a:lnSpc>
                <a:spcPct val="113003"/>
              </a:lnSpc>
              <a:spcBef>
                <a:spcPts val="0"/>
              </a:spcBef>
              <a:spcAft>
                <a:spcPts val="0"/>
              </a:spcAft>
              <a:buNone/>
            </a:pPr>
            <a:r>
              <a:rPr lang="en-US" sz="3999">
                <a:solidFill>
                  <a:srgbClr val="131416"/>
                </a:solidFill>
                <a:latin typeface="Arial"/>
                <a:ea typeface="Arial"/>
                <a:cs typeface="Arial"/>
                <a:sym typeface="Arial"/>
              </a:rPr>
              <a:t>EVALUACIÓN DE CONOCIMIENTOS ADQUIRIDOS </a:t>
            </a:r>
            <a:endParaRPr/>
          </a:p>
        </p:txBody>
      </p:sp>
      <p:sp>
        <p:nvSpPr>
          <p:cNvPr id="294" name="Google Shape;294;p29"/>
          <p:cNvSpPr txBox="1"/>
          <p:nvPr/>
        </p:nvSpPr>
        <p:spPr>
          <a:xfrm>
            <a:off x="1207032" y="2442064"/>
            <a:ext cx="16257244" cy="164397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lang="en-US" sz="3151">
                <a:solidFill>
                  <a:srgbClr val="131416"/>
                </a:solidFill>
                <a:latin typeface="Arial"/>
                <a:ea typeface="Arial"/>
                <a:cs typeface="Arial"/>
                <a:sym typeface="Arial"/>
              </a:rPr>
              <a:t>Duración: 15 minutos</a:t>
            </a:r>
            <a:endParaRPr/>
          </a:p>
          <a:p>
            <a:pPr indent="0" lvl="0" marL="0" marR="0" rtl="0" algn="just">
              <a:lnSpc>
                <a:spcPct val="140019"/>
              </a:lnSpc>
              <a:spcBef>
                <a:spcPts val="0"/>
              </a:spcBef>
              <a:spcAft>
                <a:spcPts val="0"/>
              </a:spcAft>
              <a:buNone/>
            </a:pPr>
            <a:r>
              <a:rPr lang="en-US" sz="3151">
                <a:solidFill>
                  <a:srgbClr val="131416"/>
                </a:solidFill>
                <a:latin typeface="Arial"/>
                <a:ea typeface="Arial"/>
                <a:cs typeface="Arial"/>
                <a:sym typeface="Arial"/>
              </a:rPr>
              <a:t>https://create.kahoot.it/details/cc8e4463-cc27-42cc-8929-763d2174854c</a:t>
            </a:r>
            <a:endParaRPr/>
          </a:p>
          <a:p>
            <a:pPr indent="0" lvl="0" marL="0" marR="0" rtl="0" algn="just">
              <a:lnSpc>
                <a:spcPct val="140019"/>
              </a:lnSpc>
              <a:spcBef>
                <a:spcPts val="0"/>
              </a:spcBef>
              <a:spcAft>
                <a:spcPts val="0"/>
              </a:spcAft>
              <a:buNone/>
            </a:pPr>
            <a:r>
              <a:t/>
            </a:r>
            <a:endParaRPr sz="3151">
              <a:solidFill>
                <a:srgbClr val="131416"/>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298" name="Shape 298"/>
        <p:cNvGrpSpPr/>
        <p:nvPr/>
      </p:nvGrpSpPr>
      <p:grpSpPr>
        <a:xfrm>
          <a:off x="0" y="0"/>
          <a:ext cx="0" cy="0"/>
          <a:chOff x="0" y="0"/>
          <a:chExt cx="0" cy="0"/>
        </a:xfrm>
      </p:grpSpPr>
      <p:sp>
        <p:nvSpPr>
          <p:cNvPr id="299" name="Google Shape;299;p30"/>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lang="en-US" sz="6900">
                <a:solidFill>
                  <a:srgbClr val="131416"/>
                </a:solidFill>
                <a:latin typeface="Arial"/>
                <a:ea typeface="Arial"/>
                <a:cs typeface="Arial"/>
                <a:sym typeface="Arial"/>
              </a:rPr>
              <a:t>REFERENCIAS </a:t>
            </a:r>
            <a:endParaRPr/>
          </a:p>
        </p:txBody>
      </p:sp>
      <p:sp>
        <p:nvSpPr>
          <p:cNvPr id="300" name="Google Shape;300;p30"/>
          <p:cNvSpPr txBox="1"/>
          <p:nvPr/>
        </p:nvSpPr>
        <p:spPr>
          <a:xfrm>
            <a:off x="1207032" y="2442064"/>
            <a:ext cx="16257244" cy="6063574"/>
          </a:xfrm>
          <a:prstGeom prst="rect">
            <a:avLst/>
          </a:prstGeom>
          <a:noFill/>
          <a:ln>
            <a:noFill/>
          </a:ln>
        </p:spPr>
        <p:txBody>
          <a:bodyPr anchorCtr="0" anchor="t" bIns="0" lIns="0" spcFirstLastPara="1" rIns="0" wrap="square" tIns="0">
            <a:spAutoFit/>
          </a:bodyPr>
          <a:lstStyle/>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El lenguaje y Las proposiciones. (s/f). Scribd. Recuperado el 22 de mayo de 2025, de https://es.scribd.com/document/375932984/El-Lenguaje-y-Las-Proposiciones</a:t>
            </a:r>
            <a:endParaRPr/>
          </a:p>
          <a:p>
            <a:pPr indent="0" lvl="0" marL="0" marR="0" rtl="0" algn="just">
              <a:lnSpc>
                <a:spcPct val="140019"/>
              </a:lnSpc>
              <a:spcBef>
                <a:spcPts val="0"/>
              </a:spcBef>
              <a:spcAft>
                <a:spcPts val="0"/>
              </a:spcAft>
              <a:buNone/>
            </a:pPr>
            <a:r>
              <a:t/>
            </a:r>
            <a:endParaRPr sz="3151">
              <a:solidFill>
                <a:srgbClr val="131416"/>
              </a:solidFill>
              <a:latin typeface="Arial"/>
              <a:ea typeface="Arial"/>
              <a:cs typeface="Arial"/>
              <a:sym typeface="Arial"/>
            </a:endParaRPr>
          </a:p>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 Universidad de San Carlos de Guatemala. (s.f.). Unidad 3: Lógica del Concepto [Material del curso Lógica de Sistemas, Facultad de Ingeniería]. Plataforma UEDI.</a:t>
            </a:r>
            <a:endParaRPr/>
          </a:p>
          <a:p>
            <a:pPr indent="0" lvl="0" marL="0" marR="0" rtl="0" algn="just">
              <a:lnSpc>
                <a:spcPct val="140019"/>
              </a:lnSpc>
              <a:spcBef>
                <a:spcPts val="0"/>
              </a:spcBef>
              <a:spcAft>
                <a:spcPts val="0"/>
              </a:spcAft>
              <a:buNone/>
            </a:pPr>
            <a:r>
              <a:t/>
            </a:r>
            <a:endParaRPr sz="3151">
              <a:solidFill>
                <a:srgbClr val="131416"/>
              </a:solidFill>
              <a:latin typeface="Arial"/>
              <a:ea typeface="Arial"/>
              <a:cs typeface="Arial"/>
              <a:sym typeface="Arial"/>
            </a:endParaRPr>
          </a:p>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Universidad de San Carlos de Guatemala. (s.f.). Unidad 4: El Lenguaje y la Lógica de las proposiciones [Material del curso Lógica de Sistemas, Facultad de Ingeniería]. Plataforma UEDI.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E59"/>
        </a:solidFill>
      </p:bgPr>
    </p:bg>
    <p:spTree>
      <p:nvGrpSpPr>
        <p:cNvPr id="304" name="Shape 304"/>
        <p:cNvGrpSpPr/>
        <p:nvPr/>
      </p:nvGrpSpPr>
      <p:grpSpPr>
        <a:xfrm>
          <a:off x="0" y="0"/>
          <a:ext cx="0" cy="0"/>
          <a:chOff x="0" y="0"/>
          <a:chExt cx="0" cy="0"/>
        </a:xfrm>
      </p:grpSpPr>
      <p:sp>
        <p:nvSpPr>
          <p:cNvPr id="305" name="Google Shape;305;p31"/>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lang="en-US" sz="6099">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sz="6099">
              <a:solidFill>
                <a:srgbClr val="131416"/>
              </a:solidFill>
              <a:latin typeface="Arial"/>
              <a:ea typeface="Arial"/>
              <a:cs typeface="Arial"/>
              <a:sym typeface="Arial"/>
            </a:endParaRPr>
          </a:p>
        </p:txBody>
      </p:sp>
      <p:sp>
        <p:nvSpPr>
          <p:cNvPr id="306" name="Google Shape;306;p31"/>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lang="en-US" sz="5000">
                <a:solidFill>
                  <a:srgbClr val="131416"/>
                </a:solidFill>
                <a:latin typeface="Arial"/>
                <a:ea typeface="Arial"/>
                <a:cs typeface="Arial"/>
                <a:sym typeface="Arial"/>
              </a:rPr>
              <a:t>DUDAS</a:t>
            </a:r>
            <a:endParaRPr/>
          </a:p>
        </p:txBody>
      </p:sp>
      <p:sp>
        <p:nvSpPr>
          <p:cNvPr id="307" name="Google Shape;307;p31"/>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31"/>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lang="en-US" sz="2000">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