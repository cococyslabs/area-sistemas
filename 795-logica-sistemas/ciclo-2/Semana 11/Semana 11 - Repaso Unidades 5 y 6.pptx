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Open Sans Bold" charset="1" panose="020B0806030504020204"/>
      <p:regular r:id="rId44"/>
    </p:embeddedFont>
    <p:embeddedFont>
      <p:font typeface="Garet" charset="1" panose="00000000000000000000"/>
      <p:regular r:id="rId45"/>
    </p:embeddedFont>
    <p:embeddedFont>
      <p:font typeface="Playlist Script" charset="1" panose="00000000000000000000"/>
      <p:regular r:id="rId46"/>
    </p:embeddedFont>
    <p:embeddedFont>
      <p:font typeface="Open Sans" charset="1" panose="020B0606030504020204"/>
      <p:regular r:id="rId47"/>
    </p:embeddedFont>
    <p:embeddedFont>
      <p:font typeface="Horizon" charset="1" panose="02000500000000000000"/>
      <p:regular r:id="rId48"/>
    </p:embeddedFont>
    <p:embeddedFont>
      <p:font typeface="Garet Bold" charset="1" panose="000000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3" id="3"/>
          <p:cNvSpPr txBox="true"/>
          <p:nvPr/>
        </p:nvSpPr>
        <p:spPr>
          <a:xfrm rot="0">
            <a:off x="945148" y="7834026"/>
            <a:ext cx="5953839" cy="863600"/>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Lógica de Sistemas</a:t>
            </a:r>
          </a:p>
        </p:txBody>
      </p:sp>
      <p:sp>
        <p:nvSpPr>
          <p:cNvPr name="TextBox 4" id="4"/>
          <p:cNvSpPr txBox="true"/>
          <p:nvPr/>
        </p:nvSpPr>
        <p:spPr>
          <a:xfrm rot="0">
            <a:off x="3272299" y="3355266"/>
            <a:ext cx="11205121" cy="1368424"/>
          </a:xfrm>
          <a:prstGeom prst="rect">
            <a:avLst/>
          </a:prstGeom>
        </p:spPr>
        <p:txBody>
          <a:bodyPr anchor="t" rtlCol="false" tIns="0" lIns="0" bIns="0" rIns="0">
            <a:spAutoFit/>
          </a:bodyPr>
          <a:lstStyle/>
          <a:p>
            <a:pPr algn="ctr">
              <a:lnSpc>
                <a:spcPts val="11200"/>
              </a:lnSpc>
            </a:pPr>
            <a:r>
              <a:rPr lang="en-US" sz="8000" b="true">
                <a:solidFill>
                  <a:srgbClr val="131416"/>
                </a:solidFill>
                <a:latin typeface="Open Sans Bold"/>
                <a:ea typeface="Open Sans Bold"/>
                <a:cs typeface="Open Sans Bold"/>
                <a:sym typeface="Open Sans Bold"/>
              </a:rPr>
              <a:t>Repaso Unidades 5 y 6</a:t>
            </a:r>
          </a:p>
        </p:txBody>
      </p:sp>
      <p:sp>
        <p:nvSpPr>
          <p:cNvPr name="TextBox 5" id="5"/>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1964221" cy="283723"/>
          </a:xfrm>
        </p:grpSpPr>
        <p:sp>
          <p:nvSpPr>
            <p:cNvPr name="Freeform 3" id="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4" id="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TEMA 1</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13" id="13"/>
          <p:cNvGrpSpPr/>
          <p:nvPr/>
        </p:nvGrpSpPr>
        <p:grpSpPr>
          <a:xfrm rot="0">
            <a:off x="11131715" y="154716"/>
            <a:ext cx="8416862" cy="2844707"/>
            <a:chOff x="0" y="0"/>
            <a:chExt cx="11222483" cy="3792943"/>
          </a:xfrm>
        </p:grpSpPr>
        <p:sp>
          <p:nvSpPr>
            <p:cNvPr name="TextBox 14" id="14"/>
            <p:cNvSpPr txBox="true"/>
            <p:nvPr/>
          </p:nvSpPr>
          <p:spPr>
            <a:xfrm rot="0">
              <a:off x="0" y="805268"/>
              <a:ext cx="11222483"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15" id="15"/>
            <p:cNvSpPr txBox="true"/>
            <p:nvPr/>
          </p:nvSpPr>
          <p:spPr>
            <a:xfrm rot="0">
              <a:off x="0" y="-76200"/>
              <a:ext cx="11222483" cy="747545"/>
            </a:xfrm>
            <a:prstGeom prst="rect">
              <a:avLst/>
            </a:prstGeom>
          </p:spPr>
          <p:txBody>
            <a:bodyPr anchor="t" rtlCol="false" tIns="0" lIns="0" bIns="0" rIns="0">
              <a:spAutoFit/>
            </a:bodyPr>
            <a:lstStyle/>
            <a:p>
              <a:pPr algn="l">
                <a:lnSpc>
                  <a:spcPts val="4625"/>
                </a:lnSpc>
              </a:pPr>
            </a:p>
          </p:txBody>
        </p:sp>
      </p:grpSp>
      <p:grpSp>
        <p:nvGrpSpPr>
          <p:cNvPr name="Group 16" id="16"/>
          <p:cNvGrpSpPr/>
          <p:nvPr/>
        </p:nvGrpSpPr>
        <p:grpSpPr>
          <a:xfrm rot="0">
            <a:off x="11739805" y="3232617"/>
            <a:ext cx="5353646" cy="1267162"/>
            <a:chOff x="0" y="0"/>
            <a:chExt cx="1410014" cy="333738"/>
          </a:xfrm>
        </p:grpSpPr>
        <p:sp>
          <p:nvSpPr>
            <p:cNvPr name="Freeform 17" id="17"/>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18" id="18"/>
            <p:cNvSpPr txBox="true"/>
            <p:nvPr/>
          </p:nvSpPr>
          <p:spPr>
            <a:xfrm>
              <a:off x="0" y="-47625"/>
              <a:ext cx="1295714" cy="381363"/>
            </a:xfrm>
            <a:prstGeom prst="rect">
              <a:avLst/>
            </a:prstGeom>
          </p:spPr>
          <p:txBody>
            <a:bodyPr anchor="ctr" rtlCol="false" tIns="50800" lIns="50800" bIns="50800" rIns="50800"/>
            <a:lstStyle/>
            <a:p>
              <a:pPr algn="ctr">
                <a:lnSpc>
                  <a:spcPts val="2960"/>
                </a:lnSpc>
              </a:pPr>
              <a:r>
                <a:rPr lang="en-US" sz="2000" spc="58">
                  <a:solidFill>
                    <a:srgbClr val="000000"/>
                  </a:solidFill>
                  <a:latin typeface="Garet"/>
                  <a:ea typeface="Garet"/>
                  <a:cs typeface="Garet"/>
                  <a:sym typeface="Garet"/>
                </a:rPr>
                <a:t>Link del Video: https://youtu.be/2_HZZS492eM </a:t>
              </a:r>
            </a:p>
          </p:txBody>
        </p:sp>
      </p:grpSp>
      <p:grpSp>
        <p:nvGrpSpPr>
          <p:cNvPr name="Group 19" id="19"/>
          <p:cNvGrpSpPr/>
          <p:nvPr/>
        </p:nvGrpSpPr>
        <p:grpSpPr>
          <a:xfrm rot="0">
            <a:off x="176619" y="5623280"/>
            <a:ext cx="4613551" cy="666407"/>
            <a:chOff x="0" y="0"/>
            <a:chExt cx="1964221" cy="283723"/>
          </a:xfrm>
        </p:grpSpPr>
        <p:sp>
          <p:nvSpPr>
            <p:cNvPr name="Freeform 20" id="20"/>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21" id="21"/>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TEMA 2</a:t>
              </a:r>
            </a:p>
          </p:txBody>
        </p:sp>
      </p:grpSp>
      <p:grpSp>
        <p:nvGrpSpPr>
          <p:cNvPr name="Group 22" id="22"/>
          <p:cNvGrpSpPr/>
          <p:nvPr/>
        </p:nvGrpSpPr>
        <p:grpSpPr>
          <a:xfrm rot="0">
            <a:off x="176619" y="6604853"/>
            <a:ext cx="4613551" cy="666407"/>
            <a:chOff x="0" y="0"/>
            <a:chExt cx="1964221" cy="283723"/>
          </a:xfrm>
        </p:grpSpPr>
        <p:sp>
          <p:nvSpPr>
            <p:cNvPr name="Freeform 23" id="2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24" id="2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TEMA 3</a:t>
              </a:r>
            </a:p>
          </p:txBody>
        </p:sp>
      </p:grpSp>
      <p:grpSp>
        <p:nvGrpSpPr>
          <p:cNvPr name="Group 25" id="25"/>
          <p:cNvGrpSpPr/>
          <p:nvPr/>
        </p:nvGrpSpPr>
        <p:grpSpPr>
          <a:xfrm rot="0">
            <a:off x="176619" y="7528435"/>
            <a:ext cx="4613551" cy="666407"/>
            <a:chOff x="0" y="0"/>
            <a:chExt cx="1964221" cy="283723"/>
          </a:xfrm>
        </p:grpSpPr>
        <p:sp>
          <p:nvSpPr>
            <p:cNvPr name="Freeform 26" id="26"/>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27" id="27"/>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TEMA 4</a:t>
              </a:r>
            </a:p>
          </p:txBody>
        </p:sp>
      </p:grpSp>
      <p:grpSp>
        <p:nvGrpSpPr>
          <p:cNvPr name="Group 28" id="28"/>
          <p:cNvGrpSpPr/>
          <p:nvPr/>
        </p:nvGrpSpPr>
        <p:grpSpPr>
          <a:xfrm rot="0">
            <a:off x="176619" y="8591893"/>
            <a:ext cx="4613551" cy="666407"/>
            <a:chOff x="0" y="0"/>
            <a:chExt cx="1964221" cy="283723"/>
          </a:xfrm>
        </p:grpSpPr>
        <p:sp>
          <p:nvSpPr>
            <p:cNvPr name="Freeform 29" id="29"/>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30" id="30"/>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TEMA 5</a:t>
              </a:r>
            </a:p>
          </p:txBody>
        </p:sp>
      </p:grpSp>
      <p:sp>
        <p:nvSpPr>
          <p:cNvPr name="Freeform 31" id="31"/>
          <p:cNvSpPr/>
          <p:nvPr/>
        </p:nvSpPr>
        <p:spPr>
          <a:xfrm flipH="false" flipV="false" rot="0">
            <a:off x="878654" y="5623280"/>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878654" y="6604853"/>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878654" y="7604635"/>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4" id="34"/>
          <p:cNvSpPr/>
          <p:nvPr/>
        </p:nvSpPr>
        <p:spPr>
          <a:xfrm flipH="false" flipV="false" rot="0">
            <a:off x="878654" y="8605540"/>
            <a:ext cx="453358" cy="550094"/>
          </a:xfrm>
          <a:custGeom>
            <a:avLst/>
            <a:gdLst/>
            <a:ahLst/>
            <a:cxnLst/>
            <a:rect r="r" b="b" t="t" l="l"/>
            <a:pathLst>
              <a:path h="550094" w="453358">
                <a:moveTo>
                  <a:pt x="0" y="0"/>
                </a:moveTo>
                <a:lnTo>
                  <a:pt x="453359" y="0"/>
                </a:lnTo>
                <a:lnTo>
                  <a:pt x="453359" y="550095"/>
                </a:lnTo>
                <a:lnTo>
                  <a:pt x="0" y="5500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5" id="35"/>
          <p:cNvSpPr/>
          <p:nvPr/>
        </p:nvSpPr>
        <p:spPr>
          <a:xfrm flipH="false" flipV="false" rot="0">
            <a:off x="6488300" y="5365870"/>
            <a:ext cx="4626468" cy="4575998"/>
          </a:xfrm>
          <a:custGeom>
            <a:avLst/>
            <a:gdLst/>
            <a:ahLst/>
            <a:cxnLst/>
            <a:rect r="r" b="b" t="t" l="l"/>
            <a:pathLst>
              <a:path h="4575998" w="4626468">
                <a:moveTo>
                  <a:pt x="0" y="0"/>
                </a:moveTo>
                <a:lnTo>
                  <a:pt x="4626468" y="0"/>
                </a:lnTo>
                <a:lnTo>
                  <a:pt x="4626468" y="4575997"/>
                </a:lnTo>
                <a:lnTo>
                  <a:pt x="0" y="45759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6" id="36"/>
          <p:cNvSpPr txBox="true"/>
          <p:nvPr/>
        </p:nvSpPr>
        <p:spPr>
          <a:xfrm rot="0">
            <a:off x="7087316" y="6295138"/>
            <a:ext cx="3428436" cy="2730118"/>
          </a:xfrm>
          <a:prstGeom prst="rect">
            <a:avLst/>
          </a:prstGeom>
        </p:spPr>
        <p:txBody>
          <a:bodyPr anchor="t" rtlCol="false" tIns="0" lIns="0" bIns="0" rIns="0">
            <a:spAutoFit/>
          </a:bodyPr>
          <a:lstStyle/>
          <a:p>
            <a:pPr algn="ctr">
              <a:lnSpc>
                <a:spcPts val="3137"/>
              </a:lnSpc>
            </a:pPr>
            <a:r>
              <a:rPr lang="en-US" sz="2241">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374889" y="654364"/>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1917751" y="2940050"/>
            <a:ext cx="13448312" cy="4908550"/>
          </a:xfrm>
          <a:prstGeom prst="rect">
            <a:avLst/>
          </a:prstGeom>
        </p:spPr>
        <p:txBody>
          <a:bodyPr anchor="t" rtlCol="false" tIns="0" lIns="0" bIns="0" rIns="0">
            <a:spAutoFit/>
          </a:bodyPr>
          <a:lstStyle/>
          <a:p>
            <a:pPr algn="just" marL="863599" indent="-431800" lvl="1">
              <a:lnSpc>
                <a:spcPts val="5599"/>
              </a:lnSpc>
              <a:buFont typeface="Arial"/>
              <a:buChar char="•"/>
            </a:pPr>
            <a:r>
              <a:rPr lang="en-US" sz="3999">
                <a:solidFill>
                  <a:srgbClr val="131416"/>
                </a:solidFill>
                <a:latin typeface="Open Sans"/>
                <a:ea typeface="Open Sans"/>
                <a:cs typeface="Open Sans"/>
                <a:sym typeface="Open Sans"/>
              </a:rPr>
              <a:t>Evalúa razonamientos y falacias utilizando ejercicios escritos y discusiones dirigidas en la resolución de dilemas lógicos </a:t>
            </a:r>
          </a:p>
          <a:p>
            <a:pPr algn="just" marL="863599" indent="-431800" lvl="1">
              <a:lnSpc>
                <a:spcPts val="5599"/>
              </a:lnSpc>
              <a:buFont typeface="Arial"/>
              <a:buChar char="•"/>
            </a:pPr>
            <a:r>
              <a:rPr lang="en-US" sz="3999">
                <a:solidFill>
                  <a:srgbClr val="131416"/>
                </a:solidFill>
                <a:latin typeface="Open Sans"/>
                <a:ea typeface="Open Sans"/>
                <a:cs typeface="Open Sans"/>
                <a:sym typeface="Open Sans"/>
              </a:rPr>
              <a:t>Comprende los modelos mentales y paradigmas mediante el análisis de ejemplos y situaciones cotidianas en actividades de reflexión y discusión grupal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374889" y="1401006"/>
            <a:ext cx="12625499" cy="8498693"/>
          </a:xfrm>
          <a:prstGeom prst="rect">
            <a:avLst/>
          </a:prstGeom>
        </p:spPr>
        <p:txBody>
          <a:bodyPr anchor="t" rtlCol="false" tIns="0" lIns="0" bIns="0" rIns="0">
            <a:spAutoFit/>
          </a:bodyPr>
          <a:lstStyle/>
          <a:p>
            <a:pPr algn="l" marL="847776" indent="-423888" lvl="1">
              <a:lnSpc>
                <a:spcPts val="6793"/>
              </a:lnSpc>
              <a:buFont typeface="Arial"/>
              <a:buChar char="•"/>
            </a:pPr>
            <a:r>
              <a:rPr lang="en-US" sz="3926">
                <a:solidFill>
                  <a:srgbClr val="131416"/>
                </a:solidFill>
                <a:latin typeface="Garet"/>
                <a:ea typeface="Garet"/>
                <a:cs typeface="Garet"/>
                <a:sym typeface="Garet"/>
              </a:rPr>
              <a:t>El Razonamiento</a:t>
            </a:r>
          </a:p>
          <a:p>
            <a:pPr algn="l" marL="847776" indent="-423888" lvl="1">
              <a:lnSpc>
                <a:spcPts val="6793"/>
              </a:lnSpc>
              <a:buFont typeface="Arial"/>
              <a:buChar char="•"/>
            </a:pPr>
            <a:r>
              <a:rPr lang="en-US" sz="3926">
                <a:solidFill>
                  <a:srgbClr val="131416"/>
                </a:solidFill>
                <a:latin typeface="Garet"/>
                <a:ea typeface="Garet"/>
                <a:cs typeface="Garet"/>
                <a:sym typeface="Garet"/>
              </a:rPr>
              <a:t>Clasificación de los razonamientos</a:t>
            </a:r>
          </a:p>
          <a:p>
            <a:pPr algn="l" marL="847776" indent="-423888" lvl="1">
              <a:lnSpc>
                <a:spcPts val="6793"/>
              </a:lnSpc>
              <a:buFont typeface="Arial"/>
              <a:buChar char="•"/>
            </a:pPr>
            <a:r>
              <a:rPr lang="en-US" sz="3926">
                <a:solidFill>
                  <a:srgbClr val="131416"/>
                </a:solidFill>
                <a:latin typeface="Garet"/>
                <a:ea typeface="Garet"/>
                <a:cs typeface="Garet"/>
                <a:sym typeface="Garet"/>
              </a:rPr>
              <a:t>La inferencia</a:t>
            </a:r>
          </a:p>
          <a:p>
            <a:pPr algn="l" marL="847776" indent="-423888" lvl="1">
              <a:lnSpc>
                <a:spcPts val="6793"/>
              </a:lnSpc>
              <a:buFont typeface="Arial"/>
              <a:buChar char="•"/>
            </a:pPr>
            <a:r>
              <a:rPr lang="en-US" sz="3926">
                <a:solidFill>
                  <a:srgbClr val="131416"/>
                </a:solidFill>
                <a:latin typeface="Garet"/>
                <a:ea typeface="Garet"/>
                <a:cs typeface="Garet"/>
                <a:sym typeface="Garet"/>
              </a:rPr>
              <a:t>Falacias</a:t>
            </a:r>
          </a:p>
          <a:p>
            <a:pPr algn="l" marL="847776" indent="-423888" lvl="1">
              <a:lnSpc>
                <a:spcPts val="6793"/>
              </a:lnSpc>
              <a:buFont typeface="Arial"/>
              <a:buChar char="•"/>
            </a:pPr>
            <a:r>
              <a:rPr lang="en-US" sz="3926">
                <a:solidFill>
                  <a:srgbClr val="131416"/>
                </a:solidFill>
                <a:latin typeface="Garet"/>
                <a:ea typeface="Garet"/>
                <a:cs typeface="Garet"/>
                <a:sym typeface="Garet"/>
              </a:rPr>
              <a:t>Definición y utilidad de los paradigmas</a:t>
            </a:r>
          </a:p>
          <a:p>
            <a:pPr algn="l" marL="847776" indent="-423888" lvl="1">
              <a:lnSpc>
                <a:spcPts val="6793"/>
              </a:lnSpc>
              <a:buFont typeface="Arial"/>
              <a:buChar char="•"/>
            </a:pPr>
            <a:r>
              <a:rPr lang="en-US" sz="3926">
                <a:solidFill>
                  <a:srgbClr val="131416"/>
                </a:solidFill>
                <a:latin typeface="Garet"/>
                <a:ea typeface="Garet"/>
                <a:cs typeface="Garet"/>
                <a:sym typeface="Garet"/>
              </a:rPr>
              <a:t>Características del ser humano que determinan los paradigmas</a:t>
            </a:r>
          </a:p>
          <a:p>
            <a:pPr algn="l" marL="847776" indent="-423888" lvl="1">
              <a:lnSpc>
                <a:spcPts val="6793"/>
              </a:lnSpc>
              <a:buFont typeface="Arial"/>
              <a:buChar char="•"/>
            </a:pPr>
            <a:r>
              <a:rPr lang="en-US" sz="3926">
                <a:solidFill>
                  <a:srgbClr val="131416"/>
                </a:solidFill>
                <a:latin typeface="Garet"/>
                <a:ea typeface="Garet"/>
                <a:cs typeface="Garet"/>
                <a:sym typeface="Garet"/>
              </a:rPr>
              <a:t>Historias de paradigmas</a:t>
            </a:r>
          </a:p>
          <a:p>
            <a:pPr algn="l" marL="847776" indent="-423888" lvl="1">
              <a:lnSpc>
                <a:spcPts val="6793"/>
              </a:lnSpc>
              <a:buFont typeface="Arial"/>
              <a:buChar char="•"/>
            </a:pPr>
            <a:r>
              <a:rPr lang="en-US" sz="3926">
                <a:solidFill>
                  <a:srgbClr val="131416"/>
                </a:solidFill>
                <a:latin typeface="Garet"/>
                <a:ea typeface="Garet"/>
                <a:cs typeface="Garet"/>
                <a:sym typeface="Garet"/>
              </a:rPr>
              <a:t>Consecuencias del uso de paradigmas</a:t>
            </a:r>
          </a:p>
          <a:p>
            <a:pPr algn="l">
              <a:lnSpc>
                <a:spcPts val="6793"/>
              </a:lnSpc>
            </a:pPr>
          </a:p>
        </p:txBody>
      </p:sp>
      <p:sp>
        <p:nvSpPr>
          <p:cNvPr name="TextBox 3" id="3"/>
          <p:cNvSpPr txBox="true"/>
          <p:nvPr/>
        </p:nvSpPr>
        <p:spPr>
          <a:xfrm rot="0">
            <a:off x="1374889" y="654364"/>
            <a:ext cx="13991174" cy="937141"/>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CONTENIDO</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LÓGICA DEL RAZONAMIENTO</a:t>
            </a:r>
          </a:p>
        </p:txBody>
      </p:sp>
      <p:sp>
        <p:nvSpPr>
          <p:cNvPr name="TextBox 3" id="3"/>
          <p:cNvSpPr txBox="true"/>
          <p:nvPr/>
        </p:nvSpPr>
        <p:spPr>
          <a:xfrm rot="0">
            <a:off x="351713" y="2495368"/>
            <a:ext cx="17245268" cy="5549900"/>
          </a:xfrm>
          <a:prstGeom prst="rect">
            <a:avLst/>
          </a:prstGeom>
        </p:spPr>
        <p:txBody>
          <a:bodyPr anchor="t" rtlCol="false" tIns="0" lIns="0" bIns="0" rIns="0">
            <a:spAutoFit/>
          </a:bodyPr>
          <a:lstStyle/>
          <a:p>
            <a:pPr algn="just">
              <a:lnSpc>
                <a:spcPts val="4900"/>
              </a:lnSpc>
            </a:pPr>
            <a:r>
              <a:rPr lang="en-US" sz="3500" b="true">
                <a:solidFill>
                  <a:srgbClr val="FB4836"/>
                </a:solidFill>
                <a:latin typeface="Open Sans Bold"/>
                <a:ea typeface="Open Sans Bold"/>
                <a:cs typeface="Open Sans Bold"/>
                <a:sym typeface="Open Sans Bold"/>
              </a:rPr>
              <a:t>El Razonamiento</a:t>
            </a:r>
          </a:p>
          <a:p>
            <a:pPr algn="just">
              <a:lnSpc>
                <a:spcPts val="4900"/>
              </a:lnSpc>
            </a:pPr>
            <a:r>
              <a:rPr lang="en-US" sz="3500" b="true">
                <a:solidFill>
                  <a:srgbClr val="004AAD"/>
                </a:solidFill>
                <a:latin typeface="Open Sans Bold"/>
                <a:ea typeface="Open Sans Bold"/>
                <a:cs typeface="Open Sans Bold"/>
                <a:sym typeface="Open Sans Bold"/>
              </a:rPr>
              <a:t>Premisa: </a:t>
            </a:r>
            <a:r>
              <a:rPr lang="en-US" sz="3500">
                <a:solidFill>
                  <a:srgbClr val="131416"/>
                </a:solidFill>
                <a:latin typeface="Open Sans"/>
                <a:ea typeface="Open Sans"/>
                <a:cs typeface="Open Sans"/>
                <a:sym typeface="Open Sans"/>
              </a:rPr>
              <a:t>Es una proposición o juicio a partir de la cual se infiere (obtiene una</a:t>
            </a:r>
          </a:p>
          <a:p>
            <a:pPr algn="just">
              <a:lnSpc>
                <a:spcPts val="4900"/>
              </a:lnSpc>
            </a:pPr>
            <a:r>
              <a:rPr lang="en-US" sz="3500">
                <a:solidFill>
                  <a:srgbClr val="131416"/>
                </a:solidFill>
                <a:latin typeface="Open Sans"/>
                <a:ea typeface="Open Sans"/>
                <a:cs typeface="Open Sans"/>
                <a:sym typeface="Open Sans"/>
              </a:rPr>
              <a:t>consecuencia o se deduce algo de otra cosa) otra proposición o juicio que se designa como conclusión. En términos generales, “La premisa es la razón que se da para una conclusión”.</a:t>
            </a:r>
          </a:p>
          <a:p>
            <a:pPr algn="just">
              <a:lnSpc>
                <a:spcPts val="4900"/>
              </a:lnSpc>
            </a:pPr>
          </a:p>
          <a:p>
            <a:pPr algn="just">
              <a:lnSpc>
                <a:spcPts val="4900"/>
              </a:lnSpc>
            </a:pPr>
            <a:r>
              <a:rPr lang="en-US" sz="3500" b="true">
                <a:solidFill>
                  <a:srgbClr val="FB4836"/>
                </a:solidFill>
                <a:latin typeface="Open Sans Bold"/>
                <a:ea typeface="Open Sans Bold"/>
                <a:cs typeface="Open Sans Bold"/>
                <a:sym typeface="Open Sans Bold"/>
              </a:rPr>
              <a:t>Ejemplo:</a:t>
            </a:r>
            <a:r>
              <a:rPr lang="en-US" sz="3500">
                <a:solidFill>
                  <a:srgbClr val="FB4836"/>
                </a:solidFill>
                <a:latin typeface="Open Sans"/>
                <a:ea typeface="Open Sans"/>
                <a:cs typeface="Open Sans"/>
                <a:sym typeface="Open Sans"/>
              </a:rPr>
              <a:t> </a:t>
            </a:r>
            <a:r>
              <a:rPr lang="en-US" sz="3500">
                <a:solidFill>
                  <a:srgbClr val="131416"/>
                </a:solidFill>
                <a:latin typeface="Open Sans"/>
                <a:ea typeface="Open Sans"/>
                <a:cs typeface="Open Sans"/>
                <a:sym typeface="Open Sans"/>
              </a:rPr>
              <a:t>Los planetas son redondos, la Tierra es un planeta, por lo tanto; la Tierra es redonda</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Las premisas son: “Los planetas son redondos” y “La Tierra es un planeta”</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CONCLUSIÓN</a:t>
            </a:r>
          </a:p>
        </p:txBody>
      </p:sp>
      <p:sp>
        <p:nvSpPr>
          <p:cNvPr name="TextBox 3" id="3"/>
          <p:cNvSpPr txBox="true"/>
          <p:nvPr/>
        </p:nvSpPr>
        <p:spPr>
          <a:xfrm rot="0">
            <a:off x="1396015" y="1632672"/>
            <a:ext cx="15863285" cy="9582150"/>
          </a:xfrm>
          <a:prstGeom prst="rect">
            <a:avLst/>
          </a:prstGeom>
        </p:spPr>
        <p:txBody>
          <a:bodyPr anchor="t" rtlCol="false" tIns="0" lIns="0" bIns="0" rIns="0">
            <a:spAutoFit/>
          </a:bodyPr>
          <a:lstStyle/>
          <a:p>
            <a:pPr algn="just">
              <a:lnSpc>
                <a:spcPts val="4200"/>
              </a:lnSpc>
            </a:pPr>
          </a:p>
          <a:p>
            <a:pPr algn="just">
              <a:lnSpc>
                <a:spcPts val="4200"/>
              </a:lnSpc>
            </a:pPr>
            <a:r>
              <a:rPr lang="en-US" sz="3000">
                <a:solidFill>
                  <a:srgbClr val="131416"/>
                </a:solidFill>
                <a:latin typeface="Open Sans"/>
                <a:ea typeface="Open Sans"/>
                <a:cs typeface="Open Sans"/>
                <a:sym typeface="Open Sans"/>
              </a:rPr>
              <a:t>Es una proposición o juicio que se infiere de la o las premisas. Al igual que estas,</a:t>
            </a:r>
          </a:p>
          <a:p>
            <a:pPr algn="just">
              <a:lnSpc>
                <a:spcPts val="4200"/>
              </a:lnSpc>
            </a:pPr>
            <a:r>
              <a:rPr lang="en-US" sz="3000">
                <a:solidFill>
                  <a:srgbClr val="131416"/>
                </a:solidFill>
                <a:latin typeface="Open Sans"/>
                <a:ea typeface="Open Sans"/>
                <a:cs typeface="Open Sans"/>
                <a:sym typeface="Open Sans"/>
              </a:rPr>
              <a:t>la conclusión puede ubicarse en cualquier lugar del razonamiento, pues su distinción</a:t>
            </a:r>
          </a:p>
          <a:p>
            <a:pPr algn="just">
              <a:lnSpc>
                <a:spcPts val="4200"/>
              </a:lnSpc>
            </a:pPr>
            <a:r>
              <a:rPr lang="en-US" sz="3000">
                <a:solidFill>
                  <a:srgbClr val="131416"/>
                </a:solidFill>
                <a:latin typeface="Open Sans"/>
                <a:ea typeface="Open Sans"/>
                <a:cs typeface="Open Sans"/>
                <a:sym typeface="Open Sans"/>
              </a:rPr>
              <a:t>no es espacial o gramatical sino lógica y su característica esencial es que en ella se</a:t>
            </a:r>
          </a:p>
          <a:p>
            <a:pPr algn="just">
              <a:lnSpc>
                <a:spcPts val="4200"/>
              </a:lnSpc>
            </a:pPr>
            <a:r>
              <a:rPr lang="en-US" sz="3000">
                <a:solidFill>
                  <a:srgbClr val="131416"/>
                </a:solidFill>
                <a:latin typeface="Open Sans"/>
                <a:ea typeface="Open Sans"/>
                <a:cs typeface="Open Sans"/>
                <a:sym typeface="Open Sans"/>
              </a:rPr>
              <a:t>expresa el punto de arribo de la o de las razones explicadas en la o las premisas del</a:t>
            </a:r>
          </a:p>
          <a:p>
            <a:pPr algn="just">
              <a:lnSpc>
                <a:spcPts val="4200"/>
              </a:lnSpc>
            </a:pPr>
            <a:r>
              <a:rPr lang="en-US" sz="3000">
                <a:solidFill>
                  <a:srgbClr val="131416"/>
                </a:solidFill>
                <a:latin typeface="Open Sans"/>
                <a:ea typeface="Open Sans"/>
                <a:cs typeface="Open Sans"/>
                <a:sym typeface="Open Sans"/>
              </a:rPr>
              <a:t>razonamiento.</a:t>
            </a:r>
          </a:p>
          <a:p>
            <a:pPr algn="just">
              <a:lnSpc>
                <a:spcPts val="4200"/>
              </a:lnSpc>
            </a:pPr>
          </a:p>
          <a:p>
            <a:pPr algn="just">
              <a:lnSpc>
                <a:spcPts val="4200"/>
              </a:lnSpc>
            </a:pPr>
            <a:r>
              <a:rPr lang="en-US" b="true" sz="3000">
                <a:solidFill>
                  <a:srgbClr val="FB4836"/>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Los planetas son redondos, la Tierra es un planeta, por lo tanto; la Tierra es redonda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La conclusión es: La Tierra es redonda</a:t>
            </a: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EL RAZONAMIENTO O ARGUMENTO</a:t>
            </a:r>
          </a:p>
        </p:txBody>
      </p:sp>
      <p:sp>
        <p:nvSpPr>
          <p:cNvPr name="TextBox 3" id="3"/>
          <p:cNvSpPr txBox="true"/>
          <p:nvPr/>
        </p:nvSpPr>
        <p:spPr>
          <a:xfrm rot="0">
            <a:off x="743589" y="1538445"/>
            <a:ext cx="17280605" cy="85153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 una estructura lógica formada por una o más premisas y conclusión. Si una estructura no p</a:t>
            </a:r>
            <a:r>
              <a:rPr lang="en-US" sz="3000">
                <a:solidFill>
                  <a:srgbClr val="131416"/>
                </a:solidFill>
                <a:latin typeface="Open Sans"/>
                <a:ea typeface="Open Sans"/>
                <a:cs typeface="Open Sans"/>
                <a:sym typeface="Open Sans"/>
              </a:rPr>
              <a:t>osee conclusión, sea explicita o n</a:t>
            </a:r>
            <a:r>
              <a:rPr lang="en-US" sz="3000">
                <a:solidFill>
                  <a:srgbClr val="131416"/>
                </a:solidFill>
                <a:latin typeface="Open Sans"/>
                <a:ea typeface="Open Sans"/>
                <a:cs typeface="Open Sans"/>
                <a:sym typeface="Open Sans"/>
              </a:rPr>
              <a:t>o,</a:t>
            </a:r>
            <a:r>
              <a:rPr lang="en-US" sz="3000">
                <a:solidFill>
                  <a:srgbClr val="131416"/>
                </a:solidFill>
                <a:latin typeface="Open Sans"/>
                <a:ea typeface="Open Sans"/>
                <a:cs typeface="Open Sans"/>
                <a:sym typeface="Open Sans"/>
              </a:rPr>
              <a:t> no es un argumento. De igual form</a:t>
            </a:r>
            <a:r>
              <a:rPr lang="en-US" sz="3000">
                <a:solidFill>
                  <a:srgbClr val="131416"/>
                </a:solidFill>
                <a:latin typeface="Open Sans"/>
                <a:ea typeface="Open Sans"/>
                <a:cs typeface="Open Sans"/>
                <a:sym typeface="Open Sans"/>
              </a:rPr>
              <a:t>a si </a:t>
            </a:r>
            <a:r>
              <a:rPr lang="en-US" sz="3000">
                <a:solidFill>
                  <a:srgbClr val="131416"/>
                </a:solidFill>
                <a:latin typeface="Open Sans"/>
                <a:ea typeface="Open Sans"/>
                <a:cs typeface="Open Sans"/>
                <a:sym typeface="Open Sans"/>
              </a:rPr>
              <a:t>tenemos conclusión sin premisa, tampoco es un argumento.</a:t>
            </a:r>
          </a:p>
          <a:p>
            <a:pPr algn="just">
              <a:lnSpc>
                <a:spcPts val="4200"/>
              </a:lnSpc>
            </a:pPr>
          </a:p>
          <a:p>
            <a:pPr algn="just">
              <a:lnSpc>
                <a:spcPts val="4200"/>
              </a:lnSpc>
            </a:pPr>
            <a:r>
              <a:rPr lang="en-US" b="true" sz="3000">
                <a:solidFill>
                  <a:srgbClr val="FB4836"/>
                </a:solidFill>
                <a:latin typeface="Open Sans Bold"/>
                <a:ea typeface="Open Sans Bold"/>
                <a:cs typeface="Open Sans Bold"/>
                <a:sym typeface="Open Sans Bold"/>
              </a:rPr>
              <a:t>Ejemplos:</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Los planetas son redondos, la Tierra es un planeta, por lo tanto; la Tierra es redonda.</a:t>
            </a:r>
          </a:p>
          <a:p>
            <a:pPr algn="just">
              <a:lnSpc>
                <a:spcPts val="4200"/>
              </a:lnSpc>
            </a:pPr>
            <a:r>
              <a:rPr lang="en-US" sz="3000">
                <a:solidFill>
                  <a:srgbClr val="131416"/>
                </a:solidFill>
                <a:latin typeface="Open Sans"/>
                <a:ea typeface="Open Sans"/>
                <a:cs typeface="Open Sans"/>
                <a:sym typeface="Open Sans"/>
              </a:rPr>
              <a:t>Los moluscos son animales de cuerpo blando envueltos en un manto, protegidos por una cubierta calcárea. El caracol y la ostra están protegidos por una cubierta calcárea; por lo tanto, el caracol y la ostra son moluscos.</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La premisa y la conclusión de cada uno de los ejemplos se describen anteriormente.</a:t>
            </a:r>
          </a:p>
          <a:p>
            <a:pPr algn="just">
              <a:lnSpc>
                <a:spcPts val="4200"/>
              </a:lnSpc>
            </a:pPr>
          </a:p>
          <a:p>
            <a:pPr algn="just">
              <a:lnSpc>
                <a:spcPts val="4200"/>
              </a:lnSpc>
            </a:pPr>
          </a:p>
          <a:p>
            <a:pPr algn="just">
              <a:lnSpc>
                <a:spcPts val="4200"/>
              </a:lnSpc>
            </a:pPr>
          </a:p>
          <a:p>
            <a:pPr algn="just">
              <a:lnSpc>
                <a:spcPts val="4200"/>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761534"/>
            <a:ext cx="13991174" cy="1639553"/>
          </a:xfrm>
          <a:prstGeom prst="rect">
            <a:avLst/>
          </a:prstGeom>
        </p:spPr>
        <p:txBody>
          <a:bodyPr anchor="t" rtlCol="false" tIns="0" lIns="0" bIns="0" rIns="0">
            <a:spAutoFit/>
          </a:bodyPr>
          <a:lstStyle/>
          <a:p>
            <a:pPr algn="l">
              <a:lnSpc>
                <a:spcPts val="6212"/>
              </a:lnSpc>
            </a:pPr>
            <a:r>
              <a:rPr lang="en-US" sz="5498">
                <a:solidFill>
                  <a:srgbClr val="004AAD"/>
                </a:solidFill>
                <a:latin typeface="Horizon"/>
                <a:ea typeface="Horizon"/>
                <a:cs typeface="Horizon"/>
                <a:sym typeface="Horizon"/>
              </a:rPr>
              <a:t>CLASIFICACIÓN DEL RAZONAMIENTO</a:t>
            </a:r>
          </a:p>
        </p:txBody>
      </p:sp>
      <p:sp>
        <p:nvSpPr>
          <p:cNvPr name="TextBox 3" id="3"/>
          <p:cNvSpPr txBox="true"/>
          <p:nvPr/>
        </p:nvSpPr>
        <p:spPr>
          <a:xfrm rot="0">
            <a:off x="720919" y="2737104"/>
            <a:ext cx="17567081" cy="5981065"/>
          </a:xfrm>
          <a:prstGeom prst="rect">
            <a:avLst/>
          </a:prstGeom>
        </p:spPr>
        <p:txBody>
          <a:bodyPr anchor="t" rtlCol="false" tIns="0" lIns="0" bIns="0" rIns="0">
            <a:spAutoFit/>
          </a:bodyPr>
          <a:lstStyle/>
          <a:p>
            <a:pPr algn="l">
              <a:lnSpc>
                <a:spcPts val="4759"/>
              </a:lnSpc>
            </a:pPr>
            <a:r>
              <a:rPr lang="en-US" sz="3399">
                <a:solidFill>
                  <a:srgbClr val="000000"/>
                </a:solidFill>
                <a:latin typeface="Open Sans"/>
                <a:ea typeface="Open Sans"/>
                <a:cs typeface="Open Sans"/>
                <a:sym typeface="Open Sans"/>
              </a:rPr>
              <a:t>Formas en las que podemos Clasificar el razonamiento:</a:t>
            </a:r>
          </a:p>
          <a:p>
            <a:pPr algn="l">
              <a:lnSpc>
                <a:spcPts val="4759"/>
              </a:lnSpc>
            </a:pPr>
          </a:p>
          <a:p>
            <a:pPr algn="l">
              <a:lnSpc>
                <a:spcPts val="4759"/>
              </a:lnSpc>
            </a:pPr>
            <a:r>
              <a:rPr lang="en-US" sz="3399" b="true">
                <a:solidFill>
                  <a:srgbClr val="000000"/>
                </a:solidFill>
                <a:latin typeface="Open Sans Bold"/>
                <a:ea typeface="Open Sans Bold"/>
                <a:cs typeface="Open Sans Bold"/>
                <a:sym typeface="Open Sans Bold"/>
              </a:rPr>
              <a:t>Según su estructura formal:</a:t>
            </a:r>
            <a:r>
              <a:rPr lang="en-US" sz="3399">
                <a:solidFill>
                  <a:srgbClr val="000000"/>
                </a:solidFill>
                <a:latin typeface="Open Sans"/>
                <a:ea typeface="Open Sans"/>
                <a:cs typeface="Open Sans"/>
                <a:sym typeface="Open Sans"/>
              </a:rPr>
              <a:t> Este razonamiento se da cuando nuestro interés es puramente formal, es decir, las formas de los razonamientos y no sus contenidos.</a:t>
            </a:r>
          </a:p>
          <a:p>
            <a:pPr algn="l">
              <a:lnSpc>
                <a:spcPts val="4759"/>
              </a:lnSpc>
            </a:pPr>
            <a:r>
              <a:rPr lang="en-US" sz="3399" b="true">
                <a:solidFill>
                  <a:srgbClr val="FB4836"/>
                </a:solidFill>
                <a:latin typeface="Open Sans Bold"/>
                <a:ea typeface="Open Sans Bold"/>
                <a:cs typeface="Open Sans Bold"/>
                <a:sym typeface="Open Sans Bold"/>
              </a:rPr>
              <a:t>Ejemplo:</a:t>
            </a:r>
          </a:p>
          <a:p>
            <a:pPr algn="l">
              <a:lnSpc>
                <a:spcPts val="4759"/>
              </a:lnSpc>
            </a:pPr>
            <a:r>
              <a:rPr lang="en-US" sz="3399">
                <a:solidFill>
                  <a:srgbClr val="000000"/>
                </a:solidFill>
                <a:latin typeface="Open Sans"/>
                <a:ea typeface="Open Sans"/>
                <a:cs typeface="Open Sans"/>
                <a:sym typeface="Open Sans"/>
              </a:rPr>
              <a:t>P--&gt; Q, P :. Q</a:t>
            </a:r>
          </a:p>
          <a:p>
            <a:pPr algn="l">
              <a:lnSpc>
                <a:spcPts val="4759"/>
              </a:lnSpc>
            </a:pPr>
          </a:p>
          <a:p>
            <a:pPr algn="l">
              <a:lnSpc>
                <a:spcPts val="4759"/>
              </a:lnSpc>
            </a:pPr>
            <a:r>
              <a:rPr lang="en-US" sz="3399">
                <a:solidFill>
                  <a:srgbClr val="000000"/>
                </a:solidFill>
                <a:latin typeface="Open Sans"/>
                <a:ea typeface="Open Sans"/>
                <a:cs typeface="Open Sans"/>
                <a:sym typeface="Open Sans"/>
              </a:rPr>
              <a:t>La expresión no define nada explícito por lo que lo único que nos muestra es la relación entre P y Q, en este caso importa nada más la forma de la expresión y no el contenido de la misma.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3150041" y="5811416"/>
            <a:ext cx="11301259" cy="3446884"/>
          </a:xfrm>
          <a:custGeom>
            <a:avLst/>
            <a:gdLst/>
            <a:ahLst/>
            <a:cxnLst/>
            <a:rect r="r" b="b" t="t" l="l"/>
            <a:pathLst>
              <a:path h="3446884" w="11301259">
                <a:moveTo>
                  <a:pt x="0" y="0"/>
                </a:moveTo>
                <a:lnTo>
                  <a:pt x="11301259" y="0"/>
                </a:lnTo>
                <a:lnTo>
                  <a:pt x="11301259" y="3446884"/>
                </a:lnTo>
                <a:lnTo>
                  <a:pt x="0" y="3446884"/>
                </a:lnTo>
                <a:lnTo>
                  <a:pt x="0" y="0"/>
                </a:lnTo>
                <a:close/>
              </a:path>
            </a:pathLst>
          </a:custGeom>
          <a:blipFill>
            <a:blip r:embed="rId2"/>
            <a:stretch>
              <a:fillRect l="0" t="0" r="0" b="0"/>
            </a:stretch>
          </a:blipFill>
        </p:spPr>
      </p:sp>
      <p:sp>
        <p:nvSpPr>
          <p:cNvPr name="TextBox 3" id="3"/>
          <p:cNvSpPr txBox="true"/>
          <p:nvPr/>
        </p:nvSpPr>
        <p:spPr>
          <a:xfrm rot="0">
            <a:off x="360459" y="962660"/>
            <a:ext cx="17567081" cy="418084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Según su estructura:</a:t>
            </a:r>
            <a:r>
              <a:rPr lang="en-US" sz="3399">
                <a:solidFill>
                  <a:srgbClr val="000000"/>
                </a:solidFill>
                <a:latin typeface="Open Sans"/>
                <a:ea typeface="Open Sans"/>
                <a:cs typeface="Open Sans"/>
                <a:sym typeface="Open Sans"/>
              </a:rPr>
              <a:t> Este razonamiento fundamenta su funcionamiento en el contenido haciendo una abstracción de la forma.</a:t>
            </a:r>
          </a:p>
          <a:p>
            <a:pPr algn="l">
              <a:lnSpc>
                <a:spcPts val="4759"/>
              </a:lnSpc>
            </a:pPr>
            <a:r>
              <a:rPr lang="en-US" sz="3399" b="true">
                <a:solidFill>
                  <a:srgbClr val="FB4836"/>
                </a:solidFill>
                <a:latin typeface="Open Sans Bold"/>
                <a:ea typeface="Open Sans Bold"/>
                <a:cs typeface="Open Sans Bold"/>
                <a:sym typeface="Open Sans Bold"/>
              </a:rPr>
              <a:t>Ejemplo:</a:t>
            </a:r>
          </a:p>
          <a:p>
            <a:pPr algn="l">
              <a:lnSpc>
                <a:spcPts val="4759"/>
              </a:lnSpc>
            </a:pPr>
            <a:r>
              <a:rPr lang="en-US" sz="3399">
                <a:solidFill>
                  <a:srgbClr val="000000"/>
                </a:solidFill>
                <a:latin typeface="Open Sans"/>
                <a:ea typeface="Open Sans"/>
                <a:cs typeface="Open Sans"/>
                <a:sym typeface="Open Sans"/>
              </a:rPr>
              <a:t>El mosquito es un insecto tan conocido como molesto, Dentro de la trompa del mosquito hay piezas delgadas y afiladas, las cuales resultan de la transformación de</a:t>
            </a:r>
          </a:p>
          <a:p>
            <a:pPr algn="l">
              <a:lnSpc>
                <a:spcPts val="4759"/>
              </a:lnSpc>
            </a:pPr>
            <a:r>
              <a:rPr lang="en-US" sz="3399">
                <a:solidFill>
                  <a:srgbClr val="000000"/>
                </a:solidFill>
                <a:latin typeface="Open Sans"/>
                <a:ea typeface="Open Sans"/>
                <a:cs typeface="Open Sans"/>
                <a:sym typeface="Open Sans"/>
              </a:rPr>
              <a:t>las mandíbulas que le sirven para picar y chupar sangre. Por lo tanto, cualquier</a:t>
            </a:r>
          </a:p>
          <a:p>
            <a:pPr algn="l">
              <a:lnSpc>
                <a:spcPts val="4759"/>
              </a:lnSpc>
            </a:pPr>
            <a:r>
              <a:rPr lang="en-US" sz="3399">
                <a:solidFill>
                  <a:srgbClr val="000000"/>
                </a:solidFill>
                <a:latin typeface="Open Sans"/>
                <a:ea typeface="Open Sans"/>
                <a:cs typeface="Open Sans"/>
                <a:sym typeface="Open Sans"/>
              </a:rPr>
              <a:t>mosquito chupa de la sangre de sus víctimas.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SEGUN SU TIPO DE INFERENCIA</a:t>
            </a:r>
          </a:p>
        </p:txBody>
      </p:sp>
      <p:sp>
        <p:nvSpPr>
          <p:cNvPr name="TextBox 3" id="3"/>
          <p:cNvSpPr txBox="true"/>
          <p:nvPr/>
        </p:nvSpPr>
        <p:spPr>
          <a:xfrm rot="0">
            <a:off x="160220" y="1459293"/>
            <a:ext cx="18602833" cy="9581515"/>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Deductivo: </a:t>
            </a:r>
            <a:r>
              <a:rPr lang="en-US" sz="3399">
                <a:solidFill>
                  <a:srgbClr val="000000"/>
                </a:solidFill>
                <a:latin typeface="Open Sans"/>
                <a:ea typeface="Open Sans"/>
                <a:cs typeface="Open Sans"/>
                <a:sym typeface="Open Sans"/>
              </a:rPr>
              <a:t>Es aquel que concluimos ciertos pensamientos particulares a partir de otros generales. </a:t>
            </a:r>
            <a:r>
              <a:rPr lang="en-US" sz="3399" b="true">
                <a:solidFill>
                  <a:srgbClr val="FB4836"/>
                </a:solidFill>
                <a:latin typeface="Open Sans Bold"/>
                <a:ea typeface="Open Sans Bold"/>
                <a:cs typeface="Open Sans Bold"/>
                <a:sym typeface="Open Sans Bold"/>
              </a:rPr>
              <a:t>Ejemplo:</a:t>
            </a:r>
          </a:p>
          <a:p>
            <a:pPr algn="l">
              <a:lnSpc>
                <a:spcPts val="4759"/>
              </a:lnSpc>
            </a:pPr>
          </a:p>
          <a:p>
            <a:pPr algn="l">
              <a:lnSpc>
                <a:spcPts val="4759"/>
              </a:lnSpc>
            </a:pPr>
            <a:r>
              <a:rPr lang="en-US" sz="3399">
                <a:solidFill>
                  <a:srgbClr val="000000"/>
                </a:solidFill>
                <a:latin typeface="Open Sans"/>
                <a:ea typeface="Open Sans"/>
                <a:cs typeface="Open Sans"/>
                <a:sym typeface="Open Sans"/>
              </a:rPr>
              <a:t>Si vemos una película japonesa y en ella aparecen monstruos, y</a:t>
            </a:r>
          </a:p>
          <a:p>
            <a:pPr algn="l">
              <a:lnSpc>
                <a:spcPts val="4759"/>
              </a:lnSpc>
            </a:pPr>
            <a:r>
              <a:rPr lang="en-US" sz="3399">
                <a:solidFill>
                  <a:srgbClr val="000000"/>
                </a:solidFill>
                <a:latin typeface="Open Sans"/>
                <a:ea typeface="Open Sans"/>
                <a:cs typeface="Open Sans"/>
                <a:sym typeface="Open Sans"/>
              </a:rPr>
              <a:t>después vemos otra de la misma nación donde también aparecen</a:t>
            </a:r>
          </a:p>
          <a:p>
            <a:pPr algn="l">
              <a:lnSpc>
                <a:spcPts val="4759"/>
              </a:lnSpc>
            </a:pPr>
            <a:r>
              <a:rPr lang="en-US" sz="3399">
                <a:solidFill>
                  <a:srgbClr val="000000"/>
                </a:solidFill>
                <a:latin typeface="Open Sans"/>
                <a:ea typeface="Open Sans"/>
                <a:cs typeface="Open Sans"/>
                <a:sym typeface="Open Sans"/>
              </a:rPr>
              <a:t>monstruos, entonces comentamos: “En todas las películas japonesas</a:t>
            </a:r>
          </a:p>
          <a:p>
            <a:pPr algn="l">
              <a:lnSpc>
                <a:spcPts val="4759"/>
              </a:lnSpc>
            </a:pPr>
            <a:r>
              <a:rPr lang="en-US" sz="3399">
                <a:solidFill>
                  <a:srgbClr val="000000"/>
                </a:solidFill>
                <a:latin typeface="Open Sans"/>
                <a:ea typeface="Open Sans"/>
                <a:cs typeface="Open Sans"/>
                <a:sym typeface="Open Sans"/>
              </a:rPr>
              <a:t>aparecen monstruos”, lo cual no es válido, ya que solo se tomaron dos</a:t>
            </a:r>
          </a:p>
          <a:p>
            <a:pPr algn="l">
              <a:lnSpc>
                <a:spcPts val="4759"/>
              </a:lnSpc>
            </a:pPr>
            <a:r>
              <a:rPr lang="en-US" sz="3399">
                <a:solidFill>
                  <a:srgbClr val="000000"/>
                </a:solidFill>
                <a:latin typeface="Open Sans"/>
                <a:ea typeface="Open Sans"/>
                <a:cs typeface="Open Sans"/>
                <a:sym typeface="Open Sans"/>
              </a:rPr>
              <a:t>casos particulares.</a:t>
            </a:r>
          </a:p>
          <a:p>
            <a:pPr algn="l">
              <a:lnSpc>
                <a:spcPts val="4759"/>
              </a:lnSpc>
            </a:pPr>
            <a:r>
              <a:rPr lang="en-US" sz="3399">
                <a:solidFill>
                  <a:srgbClr val="000000"/>
                </a:solidFill>
                <a:latin typeface="Open Sans"/>
                <a:ea typeface="Open Sans"/>
                <a:cs typeface="Open Sans"/>
                <a:sym typeface="Open Sans"/>
              </a:rPr>
              <a:t>Como ocurre con todo razonamiento inductivo, la conclusión no se</a:t>
            </a:r>
          </a:p>
          <a:p>
            <a:pPr algn="l">
              <a:lnSpc>
                <a:spcPts val="4759"/>
              </a:lnSpc>
            </a:pPr>
            <a:r>
              <a:rPr lang="en-US" sz="3399">
                <a:solidFill>
                  <a:srgbClr val="000000"/>
                </a:solidFill>
                <a:latin typeface="Open Sans"/>
                <a:ea typeface="Open Sans"/>
                <a:cs typeface="Open Sans"/>
                <a:sym typeface="Open Sans"/>
              </a:rPr>
              <a:t>prueba, pero se hace más probable.</a:t>
            </a:r>
          </a:p>
          <a:p>
            <a:pPr algn="l" marL="734059" indent="-367030" lvl="1">
              <a:lnSpc>
                <a:spcPts val="4759"/>
              </a:lnSpc>
              <a:buFont typeface="Arial"/>
              <a:buChar char="•"/>
            </a:pPr>
            <a:r>
              <a:rPr lang="en-US" sz="3399">
                <a:solidFill>
                  <a:srgbClr val="000000"/>
                </a:solidFill>
                <a:latin typeface="Open Sans"/>
                <a:ea typeface="Open Sans"/>
                <a:cs typeface="Open Sans"/>
                <a:sym typeface="Open Sans"/>
              </a:rPr>
              <a:t>El cisne 1 es blanco</a:t>
            </a:r>
          </a:p>
          <a:p>
            <a:pPr algn="l" marL="734059" indent="-367030" lvl="1">
              <a:lnSpc>
                <a:spcPts val="4759"/>
              </a:lnSpc>
              <a:buFont typeface="Arial"/>
              <a:buChar char="•"/>
            </a:pPr>
            <a:r>
              <a:rPr lang="en-US" sz="3399">
                <a:solidFill>
                  <a:srgbClr val="000000"/>
                </a:solidFill>
                <a:latin typeface="Open Sans"/>
                <a:ea typeface="Open Sans"/>
                <a:cs typeface="Open Sans"/>
                <a:sym typeface="Open Sans"/>
              </a:rPr>
              <a:t>El cisne 2 es blanco</a:t>
            </a:r>
          </a:p>
          <a:p>
            <a:pPr algn="l" marL="734059" indent="-367030" lvl="1">
              <a:lnSpc>
                <a:spcPts val="4759"/>
              </a:lnSpc>
              <a:buFont typeface="Arial"/>
              <a:buChar char="•"/>
            </a:pPr>
            <a:r>
              <a:rPr lang="en-US" sz="3399">
                <a:solidFill>
                  <a:srgbClr val="000000"/>
                </a:solidFill>
                <a:latin typeface="Open Sans"/>
                <a:ea typeface="Open Sans"/>
                <a:cs typeface="Open Sans"/>
                <a:sym typeface="Open Sans"/>
              </a:rPr>
              <a:t>El cisne 3 es blanco</a:t>
            </a:r>
          </a:p>
          <a:p>
            <a:pPr algn="l" marL="0" indent="0" lvl="0">
              <a:lnSpc>
                <a:spcPts val="4759"/>
              </a:lnSpc>
              <a:spcBef>
                <a:spcPct val="0"/>
              </a:spcBef>
            </a:pPr>
            <a:r>
              <a:rPr lang="en-US" sz="3399">
                <a:solidFill>
                  <a:srgbClr val="000000"/>
                </a:solidFill>
                <a:latin typeface="Open Sans"/>
                <a:ea typeface="Open Sans"/>
                <a:cs typeface="Open Sans"/>
                <a:sym typeface="Open Sans"/>
              </a:rPr>
              <a:t>Todos los cisnes son blancos</a:t>
            </a:r>
          </a:p>
          <a:p>
            <a:pPr algn="l" marL="0" indent="0" lvl="0">
              <a:lnSpc>
                <a:spcPts val="4759"/>
              </a:lnSpc>
              <a:spcBef>
                <a:spcPct val="0"/>
              </a:spcBef>
            </a:pPr>
          </a:p>
          <a:p>
            <a:pPr algn="l" marL="0" indent="0" lvl="0">
              <a:lnSpc>
                <a:spcPts val="475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0" y="1413516"/>
            <a:ext cx="18602833" cy="658114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Inductivo: </a:t>
            </a:r>
            <a:r>
              <a:rPr lang="en-US" sz="3399">
                <a:solidFill>
                  <a:srgbClr val="000000"/>
                </a:solidFill>
                <a:latin typeface="Open Sans"/>
                <a:ea typeface="Open Sans"/>
                <a:cs typeface="Open Sans"/>
                <a:sym typeface="Open Sans"/>
              </a:rPr>
              <a:t>En este razonamiento, a partir de un número de observaciones particulares, se concluyen leyes generales; o sea aquel en que los casos particulares conducen a ideas generales. </a:t>
            </a:r>
            <a:r>
              <a:rPr lang="en-US" sz="3399" b="true">
                <a:solidFill>
                  <a:srgbClr val="FB4836"/>
                </a:solidFill>
                <a:latin typeface="Open Sans Bold"/>
                <a:ea typeface="Open Sans Bold"/>
                <a:cs typeface="Open Sans Bold"/>
                <a:sym typeface="Open Sans Bold"/>
              </a:rPr>
              <a:t>Ejemplo:</a:t>
            </a:r>
          </a:p>
          <a:p>
            <a:pPr algn="l">
              <a:lnSpc>
                <a:spcPts val="4759"/>
              </a:lnSpc>
            </a:pPr>
          </a:p>
          <a:p>
            <a:pPr algn="l">
              <a:lnSpc>
                <a:spcPts val="4759"/>
              </a:lnSpc>
            </a:pPr>
            <a:r>
              <a:rPr lang="en-US" sz="3399">
                <a:solidFill>
                  <a:srgbClr val="000000"/>
                </a:solidFill>
                <a:latin typeface="Open Sans"/>
                <a:ea typeface="Open Sans"/>
                <a:cs typeface="Open Sans"/>
                <a:sym typeface="Open Sans"/>
              </a:rPr>
              <a:t>Un par de zapatos nuevos nos darán buen resultado porque otros pares de zapatos comprados anteriormente en la misma tienda era</a:t>
            </a:r>
            <a:r>
              <a:rPr lang="en-US" sz="3399">
                <a:solidFill>
                  <a:srgbClr val="000000"/>
                </a:solidFill>
                <a:latin typeface="Open Sans"/>
                <a:ea typeface="Open Sans"/>
                <a:cs typeface="Open Sans"/>
                <a:sym typeface="Open Sans"/>
              </a:rPr>
              <a:t>n de buena calidad.</a:t>
            </a:r>
          </a:p>
          <a:p>
            <a:pPr algn="l">
              <a:lnSpc>
                <a:spcPts val="4759"/>
              </a:lnSpc>
            </a:pPr>
          </a:p>
          <a:p>
            <a:pPr algn="l">
              <a:lnSpc>
                <a:spcPts val="4759"/>
              </a:lnSpc>
            </a:pPr>
            <a:r>
              <a:rPr lang="en-US" sz="3399">
                <a:solidFill>
                  <a:srgbClr val="000000"/>
                </a:solidFill>
                <a:latin typeface="Open Sans"/>
                <a:ea typeface="Open Sans"/>
                <a:cs typeface="Open Sans"/>
                <a:sym typeface="Open Sans"/>
              </a:rPr>
              <a:t>Este razonamiento no es seguro, pues es posible que los nuevos zapatos no salgan</a:t>
            </a:r>
          </a:p>
          <a:p>
            <a:pPr algn="l">
              <a:lnSpc>
                <a:spcPts val="4759"/>
              </a:lnSpc>
              <a:spcBef>
                <a:spcPct val="0"/>
              </a:spcBef>
            </a:pPr>
            <a:r>
              <a:rPr lang="en-US" sz="3399">
                <a:solidFill>
                  <a:srgbClr val="000000"/>
                </a:solidFill>
                <a:latin typeface="Open Sans"/>
                <a:ea typeface="Open Sans"/>
                <a:cs typeface="Open Sans"/>
                <a:sym typeface="Open Sans"/>
              </a:rPr>
              <a:t> buenos.</a:t>
            </a:r>
          </a:p>
          <a:p>
            <a:pPr algn="l" marL="0" indent="0" lvl="0">
              <a:lnSpc>
                <a:spcPts val="4759"/>
              </a:lnSpc>
              <a:spcBef>
                <a:spcPct val="0"/>
              </a:spcBef>
            </a:pPr>
          </a:p>
          <a:p>
            <a:pPr algn="l" marL="0" indent="0" lvl="0">
              <a:lnSpc>
                <a:spcPts val="475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0" y="1413516"/>
            <a:ext cx="18602833" cy="658114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Analógico: </a:t>
            </a:r>
            <a:r>
              <a:rPr lang="en-US" sz="3399">
                <a:solidFill>
                  <a:srgbClr val="000000"/>
                </a:solidFill>
                <a:latin typeface="Open Sans"/>
                <a:ea typeface="Open Sans"/>
                <a:cs typeface="Open Sans"/>
                <a:sym typeface="Open Sans"/>
              </a:rPr>
              <a:t>En este razonamiento, obtenemos conclusiones estableciendo</a:t>
            </a:r>
          </a:p>
          <a:p>
            <a:pPr algn="l">
              <a:lnSpc>
                <a:spcPts val="4759"/>
              </a:lnSpc>
            </a:pPr>
            <a:r>
              <a:rPr lang="en-US" sz="3399">
                <a:solidFill>
                  <a:srgbClr val="000000"/>
                </a:solidFill>
                <a:latin typeface="Open Sans"/>
                <a:ea typeface="Open Sans"/>
                <a:cs typeface="Open Sans"/>
                <a:sym typeface="Open Sans"/>
              </a:rPr>
              <a:t>analogías o comparaciones y es el que normalmente utilizamos en nuestras</a:t>
            </a:r>
          </a:p>
          <a:p>
            <a:pPr algn="l">
              <a:lnSpc>
                <a:spcPts val="4759"/>
              </a:lnSpc>
            </a:pPr>
            <a:r>
              <a:rPr lang="en-US" sz="3399">
                <a:solidFill>
                  <a:srgbClr val="000000"/>
                </a:solidFill>
                <a:latin typeface="Open Sans"/>
                <a:ea typeface="Open Sans"/>
                <a:cs typeface="Open Sans"/>
                <a:sym typeface="Open Sans"/>
              </a:rPr>
              <a:t>decisiones cotidianas. </a:t>
            </a:r>
            <a:r>
              <a:rPr lang="en-US" sz="3399" b="true">
                <a:solidFill>
                  <a:srgbClr val="FB4836"/>
                </a:solidFill>
                <a:latin typeface="Open Sans Bold"/>
                <a:ea typeface="Open Sans Bold"/>
                <a:cs typeface="Open Sans Bold"/>
                <a:sym typeface="Open Sans Bold"/>
              </a:rPr>
              <a:t>Ejemplo:</a:t>
            </a:r>
          </a:p>
          <a:p>
            <a:pPr algn="l">
              <a:lnSpc>
                <a:spcPts val="4759"/>
              </a:lnSpc>
            </a:pPr>
          </a:p>
          <a:p>
            <a:pPr algn="l">
              <a:lnSpc>
                <a:spcPts val="4759"/>
              </a:lnSpc>
            </a:pPr>
            <a:r>
              <a:rPr lang="en-US" sz="3399">
                <a:solidFill>
                  <a:srgbClr val="000000"/>
                </a:solidFill>
                <a:latin typeface="Open Sans"/>
                <a:ea typeface="Open Sans"/>
                <a:cs typeface="Open Sans"/>
                <a:sym typeface="Open Sans"/>
              </a:rPr>
              <a:t>Un par de zapatos nuevos nos darán buen resultado porque otros pares de zapatos comprados anteriormente en la misma tienda era</a:t>
            </a:r>
            <a:r>
              <a:rPr lang="en-US" sz="3399">
                <a:solidFill>
                  <a:srgbClr val="000000"/>
                </a:solidFill>
                <a:latin typeface="Open Sans"/>
                <a:ea typeface="Open Sans"/>
                <a:cs typeface="Open Sans"/>
                <a:sym typeface="Open Sans"/>
              </a:rPr>
              <a:t>n de buena calidad.</a:t>
            </a:r>
          </a:p>
          <a:p>
            <a:pPr algn="l">
              <a:lnSpc>
                <a:spcPts val="4759"/>
              </a:lnSpc>
            </a:pPr>
          </a:p>
          <a:p>
            <a:pPr algn="l">
              <a:lnSpc>
                <a:spcPts val="4759"/>
              </a:lnSpc>
            </a:pPr>
            <a:r>
              <a:rPr lang="en-US" sz="3399">
                <a:solidFill>
                  <a:srgbClr val="000000"/>
                </a:solidFill>
                <a:latin typeface="Open Sans"/>
                <a:ea typeface="Open Sans"/>
                <a:cs typeface="Open Sans"/>
                <a:sym typeface="Open Sans"/>
              </a:rPr>
              <a:t>Este razonamiento no es seguro, pues es posible que los nuevos zapatos no salgan</a:t>
            </a:r>
          </a:p>
          <a:p>
            <a:pPr algn="l">
              <a:lnSpc>
                <a:spcPts val="4759"/>
              </a:lnSpc>
              <a:spcBef>
                <a:spcPct val="0"/>
              </a:spcBef>
            </a:pPr>
            <a:r>
              <a:rPr lang="en-US" sz="3399">
                <a:solidFill>
                  <a:srgbClr val="000000"/>
                </a:solidFill>
                <a:latin typeface="Open Sans"/>
                <a:ea typeface="Open Sans"/>
                <a:cs typeface="Open Sans"/>
                <a:sym typeface="Open Sans"/>
              </a:rPr>
              <a:t> buenos.</a:t>
            </a:r>
          </a:p>
          <a:p>
            <a:pPr algn="l" marL="0" indent="0" lvl="0">
              <a:lnSpc>
                <a:spcPts val="4759"/>
              </a:lnSpc>
              <a:spcBef>
                <a:spcPct val="0"/>
              </a:spcBef>
            </a:pPr>
          </a:p>
          <a:p>
            <a:pPr algn="l" marL="0" indent="0" lvl="0">
              <a:lnSpc>
                <a:spcPts val="475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LA INFERENCIA</a:t>
            </a:r>
          </a:p>
        </p:txBody>
      </p:sp>
      <p:sp>
        <p:nvSpPr>
          <p:cNvPr name="TextBox 3" id="3"/>
          <p:cNvSpPr txBox="true"/>
          <p:nvPr/>
        </p:nvSpPr>
        <p:spPr>
          <a:xfrm rot="0">
            <a:off x="0" y="1688179"/>
            <a:ext cx="18288000" cy="5380990"/>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Open Sans"/>
                <a:ea typeface="Open Sans"/>
                <a:cs typeface="Open Sans"/>
                <a:sym typeface="Open Sans"/>
              </a:rPr>
              <a:t>Es una operación lógica que se efectúa en el razonamiento, l</a:t>
            </a:r>
            <a:r>
              <a:rPr lang="en-US" sz="3399" strike="noStrike" u="none">
                <a:solidFill>
                  <a:srgbClr val="000000"/>
                </a:solidFill>
                <a:latin typeface="Open Sans"/>
                <a:ea typeface="Open Sans"/>
                <a:cs typeface="Open Sans"/>
                <a:sym typeface="Open Sans"/>
              </a:rPr>
              <a:t>a</a:t>
            </a:r>
            <a:r>
              <a:rPr lang="en-US" sz="3399" strike="noStrike" u="none">
                <a:solidFill>
                  <a:srgbClr val="000000"/>
                </a:solidFill>
                <a:latin typeface="Open Sans"/>
                <a:ea typeface="Open Sans"/>
                <a:cs typeface="Open Sans"/>
                <a:sym typeface="Open Sans"/>
              </a:rPr>
              <a:t> cual consiste en </a:t>
            </a:r>
            <a:r>
              <a:rPr lang="en-US" sz="3399" strike="noStrike" u="none">
                <a:solidFill>
                  <a:srgbClr val="000000"/>
                </a:solidFill>
                <a:latin typeface="Open Sans"/>
                <a:ea typeface="Open Sans"/>
                <a:cs typeface="Open Sans"/>
                <a:sym typeface="Open Sans"/>
              </a:rPr>
              <a:t>d</a:t>
            </a:r>
            <a:r>
              <a:rPr lang="en-US" sz="3399" strike="noStrike" u="none">
                <a:solidFill>
                  <a:srgbClr val="000000"/>
                </a:solidFill>
                <a:latin typeface="Open Sans"/>
                <a:ea typeface="Open Sans"/>
                <a:cs typeface="Open Sans"/>
                <a:sym typeface="Open Sans"/>
              </a:rPr>
              <a:t>erivar</a:t>
            </a:r>
          </a:p>
          <a:p>
            <a:pPr algn="l" marL="0" indent="0" lvl="0">
              <a:lnSpc>
                <a:spcPts val="4759"/>
              </a:lnSpc>
              <a:spcBef>
                <a:spcPct val="0"/>
              </a:spcBef>
            </a:pPr>
            <a:r>
              <a:rPr lang="en-US" sz="3399" strike="noStrike" u="none">
                <a:solidFill>
                  <a:srgbClr val="000000"/>
                </a:solidFill>
                <a:latin typeface="Open Sans"/>
                <a:ea typeface="Open Sans"/>
                <a:cs typeface="Open Sans"/>
                <a:sym typeface="Open Sans"/>
              </a:rPr>
              <a:t>o induc</a:t>
            </a:r>
            <a:r>
              <a:rPr lang="en-US" sz="3399" strike="noStrike" u="none">
                <a:solidFill>
                  <a:srgbClr val="000000"/>
                </a:solidFill>
                <a:latin typeface="Open Sans"/>
                <a:ea typeface="Open Sans"/>
                <a:cs typeface="Open Sans"/>
                <a:sym typeface="Open Sans"/>
              </a:rPr>
              <a:t>ir un</a:t>
            </a:r>
            <a:r>
              <a:rPr lang="en-US" sz="3399" strike="noStrike" u="none">
                <a:solidFill>
                  <a:srgbClr val="000000"/>
                </a:solidFill>
                <a:latin typeface="Open Sans"/>
                <a:ea typeface="Open Sans"/>
                <a:cs typeface="Open Sans"/>
                <a:sym typeface="Open Sans"/>
              </a:rPr>
              <a:t>a conclusión a</a:t>
            </a:r>
            <a:r>
              <a:rPr lang="en-US" sz="3399" strike="noStrike" u="none">
                <a:solidFill>
                  <a:srgbClr val="000000"/>
                </a:solidFill>
                <a:latin typeface="Open Sans"/>
                <a:ea typeface="Open Sans"/>
                <a:cs typeface="Open Sans"/>
                <a:sym typeface="Open Sans"/>
              </a:rPr>
              <a:t> p</a:t>
            </a:r>
            <a:r>
              <a:rPr lang="en-US" sz="3399" strike="noStrike" u="none">
                <a:solidFill>
                  <a:srgbClr val="000000"/>
                </a:solidFill>
                <a:latin typeface="Open Sans"/>
                <a:ea typeface="Open Sans"/>
                <a:cs typeface="Open Sans"/>
                <a:sym typeface="Open Sans"/>
              </a:rPr>
              <a:t>artir de una </a:t>
            </a:r>
            <a:r>
              <a:rPr lang="en-US" sz="3399" strike="noStrike" u="none">
                <a:solidFill>
                  <a:srgbClr val="000000"/>
                </a:solidFill>
                <a:latin typeface="Open Sans"/>
                <a:ea typeface="Open Sans"/>
                <a:cs typeface="Open Sans"/>
                <a:sym typeface="Open Sans"/>
              </a:rPr>
              <a:t>o</a:t>
            </a:r>
            <a:r>
              <a:rPr lang="en-US" sz="3399" strike="noStrike" u="none">
                <a:solidFill>
                  <a:srgbClr val="000000"/>
                </a:solidFill>
                <a:latin typeface="Open Sans"/>
                <a:ea typeface="Open Sans"/>
                <a:cs typeface="Open Sans"/>
                <a:sym typeface="Open Sans"/>
              </a:rPr>
              <a:t> varias premisas. Se pueden </a:t>
            </a:r>
            <a:r>
              <a:rPr lang="en-US" sz="3399" strike="noStrike" u="none">
                <a:solidFill>
                  <a:srgbClr val="000000"/>
                </a:solidFill>
                <a:latin typeface="Open Sans"/>
                <a:ea typeface="Open Sans"/>
                <a:cs typeface="Open Sans"/>
                <a:sym typeface="Open Sans"/>
              </a:rPr>
              <a:t>c</a:t>
            </a:r>
            <a:r>
              <a:rPr lang="en-US" sz="3399" strike="noStrike" u="none">
                <a:solidFill>
                  <a:srgbClr val="000000"/>
                </a:solidFill>
                <a:latin typeface="Open Sans"/>
                <a:ea typeface="Open Sans"/>
                <a:cs typeface="Open Sans"/>
                <a:sym typeface="Open Sans"/>
              </a:rPr>
              <a:t>lasificar de acuerdo con</a:t>
            </a:r>
            <a:r>
              <a:rPr lang="en-US" sz="3399" strike="noStrike" u="none">
                <a:solidFill>
                  <a:srgbClr val="000000"/>
                </a:solidFill>
                <a:latin typeface="Open Sans"/>
                <a:ea typeface="Open Sans"/>
                <a:cs typeface="Open Sans"/>
                <a:sym typeface="Open Sans"/>
              </a:rPr>
              <a:t> el número de premisas que contenga el razonamiento.</a:t>
            </a:r>
          </a:p>
          <a:p>
            <a:pPr algn="l" marL="0" indent="0" lvl="0">
              <a:lnSpc>
                <a:spcPts val="4759"/>
              </a:lnSpc>
              <a:spcBef>
                <a:spcPct val="0"/>
              </a:spcBef>
            </a:pPr>
          </a:p>
          <a:p>
            <a:pPr algn="l" marL="0" indent="0" lvl="0">
              <a:lnSpc>
                <a:spcPts val="4759"/>
              </a:lnSpc>
              <a:spcBef>
                <a:spcPct val="0"/>
              </a:spcBef>
            </a:pPr>
            <a:r>
              <a:rPr lang="en-US" b="true" sz="3399" strike="noStrike" u="none">
                <a:solidFill>
                  <a:srgbClr val="FB4836"/>
                </a:solidFill>
                <a:latin typeface="Open Sans Bold"/>
                <a:ea typeface="Open Sans Bold"/>
                <a:cs typeface="Open Sans Bold"/>
                <a:sym typeface="Open Sans Bold"/>
              </a:rPr>
              <a:t>Ejemplo:</a:t>
            </a:r>
          </a:p>
          <a:p>
            <a:pPr algn="l" marL="0" indent="0" lvl="0">
              <a:lnSpc>
                <a:spcPts val="4759"/>
              </a:lnSpc>
              <a:spcBef>
                <a:spcPct val="0"/>
              </a:spcBef>
            </a:pPr>
            <a:r>
              <a:rPr lang="en-US" sz="3399" strike="noStrike" u="none">
                <a:solidFill>
                  <a:srgbClr val="000000"/>
                </a:solidFill>
                <a:latin typeface="Open Sans"/>
                <a:ea typeface="Open Sans"/>
                <a:cs typeface="Open Sans"/>
                <a:sym typeface="Open Sans"/>
              </a:rPr>
              <a:t>Un número racional es positivo si, y solo si no es negativo. Ningún número que es</a:t>
            </a:r>
          </a:p>
          <a:p>
            <a:pPr algn="l" marL="0" indent="0" lvl="0">
              <a:lnSpc>
                <a:spcPts val="4759"/>
              </a:lnSpc>
              <a:spcBef>
                <a:spcPct val="0"/>
              </a:spcBef>
            </a:pPr>
            <a:r>
              <a:rPr lang="en-US" sz="3399" strike="noStrike" u="none">
                <a:solidFill>
                  <a:srgbClr val="000000"/>
                </a:solidFill>
                <a:latin typeface="Open Sans"/>
                <a:ea typeface="Open Sans"/>
                <a:cs typeface="Open Sans"/>
                <a:sym typeface="Open Sans"/>
              </a:rPr>
              <a:t>racional negativo es primo. Por lo tanto, todo número primo es racional positivo</a:t>
            </a:r>
          </a:p>
          <a:p>
            <a:pPr algn="l" marL="734059" indent="-367030" lvl="1">
              <a:lnSpc>
                <a:spcPts val="4759"/>
              </a:lnSpc>
              <a:buFont typeface="Arial"/>
              <a:buChar char="•"/>
            </a:pPr>
            <a:r>
              <a:rPr lang="en-US" sz="3399" strike="noStrike" u="none">
                <a:solidFill>
                  <a:srgbClr val="000000"/>
                </a:solidFill>
                <a:latin typeface="Open Sans"/>
                <a:ea typeface="Open Sans"/>
                <a:cs typeface="Open Sans"/>
                <a:sym typeface="Open Sans"/>
              </a:rPr>
              <a:t>Es una inferencia mediata, pues tiene dos premisas: “Un número racional es positivo si, y solo si no es negativo” y “Ningún número racional negativo es primo”.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2340"/>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2"/>
            <a:stretch>
              <a:fillRect l="0" t="0" r="0" b="0"/>
            </a:stretch>
          </a:blipFill>
        </p:spPr>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REGLAS DE INFERENCIA</a:t>
            </a:r>
          </a:p>
        </p:txBody>
      </p:sp>
      <p:sp>
        <p:nvSpPr>
          <p:cNvPr name="TextBox 4" id="4"/>
          <p:cNvSpPr txBox="true"/>
          <p:nvPr/>
        </p:nvSpPr>
        <p:spPr>
          <a:xfrm rot="0">
            <a:off x="720032" y="1260793"/>
            <a:ext cx="15863285" cy="1136650"/>
          </a:xfrm>
          <a:prstGeom prst="rect">
            <a:avLst/>
          </a:prstGeom>
        </p:spPr>
        <p:txBody>
          <a:bodyPr anchor="t" rtlCol="false" tIns="0" lIns="0" bIns="0" rIns="0">
            <a:spAutoFit/>
          </a:bodyPr>
          <a:lstStyle/>
          <a:p>
            <a:pPr algn="just">
              <a:lnSpc>
                <a:spcPts val="4900"/>
              </a:lnSpc>
            </a:pPr>
            <a:r>
              <a:rPr lang="en-US" sz="3500" b="true">
                <a:solidFill>
                  <a:srgbClr val="131416"/>
                </a:solidFill>
                <a:latin typeface="Open Sans Bold"/>
                <a:ea typeface="Open Sans Bold"/>
                <a:cs typeface="Open Sans Bold"/>
                <a:sym typeface="Open Sans Bold"/>
              </a:rPr>
              <a:t>Modus Ponendo Ponens (PP)</a:t>
            </a:r>
          </a:p>
          <a:p>
            <a:pPr algn="just">
              <a:lnSpc>
                <a:spcPts val="420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2749270" y="2901342"/>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2"/>
            <a:stretch>
              <a:fillRect l="0" t="0" r="0" b="0"/>
            </a:stretch>
          </a:blipFill>
        </p:spPr>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MODUS T</a:t>
            </a:r>
            <a:r>
              <a:rPr lang="en-US" sz="3500">
                <a:solidFill>
                  <a:srgbClr val="131416"/>
                </a:solidFill>
                <a:latin typeface="Horizon"/>
                <a:ea typeface="Horizon"/>
                <a:cs typeface="Horizon"/>
                <a:sym typeface="Horizon"/>
              </a:rPr>
              <a:t>ollendoTollens (TT)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2760935" y="1965021"/>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2"/>
            <a:stretch>
              <a:fillRect l="0" t="0" r="0" b="0"/>
            </a:stretch>
          </a:blipFill>
        </p:spPr>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MODUS T</a:t>
            </a:r>
            <a:r>
              <a:rPr lang="en-US" sz="3500">
                <a:solidFill>
                  <a:srgbClr val="131416"/>
                </a:solidFill>
                <a:latin typeface="Horizon"/>
                <a:ea typeface="Horizon"/>
                <a:cs typeface="Horizon"/>
                <a:sym typeface="Horizon"/>
              </a:rPr>
              <a:t>ollendo Ponens (TT)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2719846" y="1965021"/>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2"/>
            <a:stretch>
              <a:fillRect l="0" t="0" r="0" b="0"/>
            </a:stretch>
          </a:blipFill>
        </p:spPr>
      </p:sp>
      <p:sp>
        <p:nvSpPr>
          <p:cNvPr name="TextBox 3" id="3"/>
          <p:cNvSpPr txBox="true"/>
          <p:nvPr/>
        </p:nvSpPr>
        <p:spPr>
          <a:xfrm rot="0">
            <a:off x="1374889" y="644839"/>
            <a:ext cx="13991174" cy="858503"/>
          </a:xfrm>
          <a:prstGeom prst="rect">
            <a:avLst/>
          </a:prstGeom>
        </p:spPr>
        <p:txBody>
          <a:bodyPr anchor="t" rtlCol="false" tIns="0" lIns="0" bIns="0" rIns="0">
            <a:spAutoFit/>
          </a:bodyPr>
          <a:lstStyle/>
          <a:p>
            <a:pPr algn="l">
              <a:lnSpc>
                <a:spcPts val="6212"/>
              </a:lnSpc>
            </a:pPr>
            <a:r>
              <a:rPr lang="en-US" sz="5498">
                <a:solidFill>
                  <a:srgbClr val="131416"/>
                </a:solidFill>
                <a:latin typeface="Horizon"/>
                <a:ea typeface="Horizon"/>
                <a:cs typeface="Horizon"/>
                <a:sym typeface="Horizon"/>
              </a:rPr>
              <a:t>DOBLE NEGACIÓN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1965021"/>
            <a:ext cx="11301259" cy="6356958"/>
          </a:xfrm>
          <a:custGeom>
            <a:avLst/>
            <a:gdLst/>
            <a:ahLst/>
            <a:cxnLst/>
            <a:rect r="r" b="b" t="t" l="l"/>
            <a:pathLst>
              <a:path h="6356958" w="11301259">
                <a:moveTo>
                  <a:pt x="0" y="0"/>
                </a:moveTo>
                <a:lnTo>
                  <a:pt x="11301258" y="0"/>
                </a:lnTo>
                <a:lnTo>
                  <a:pt x="11301258" y="6356958"/>
                </a:lnTo>
                <a:lnTo>
                  <a:pt x="0" y="6356958"/>
                </a:lnTo>
                <a:lnTo>
                  <a:pt x="0" y="0"/>
                </a:lnTo>
                <a:close/>
              </a:path>
            </a:pathLst>
          </a:custGeom>
          <a:blipFill>
            <a:blip r:embed="rId2"/>
            <a:stretch>
              <a:fillRect l="0" t="0" r="0" b="0"/>
            </a:stretch>
          </a:blipFill>
        </p:spPr>
      </p:sp>
      <p:sp>
        <p:nvSpPr>
          <p:cNvPr name="TextBox 3" id="3"/>
          <p:cNvSpPr txBox="true"/>
          <p:nvPr/>
        </p:nvSpPr>
        <p:spPr>
          <a:xfrm rot="0">
            <a:off x="852333" y="834551"/>
            <a:ext cx="16406967" cy="697230"/>
          </a:xfrm>
          <a:prstGeom prst="rect">
            <a:avLst/>
          </a:prstGeom>
        </p:spPr>
        <p:txBody>
          <a:bodyPr anchor="t" rtlCol="false" tIns="0" lIns="0" bIns="0" rIns="0">
            <a:spAutoFit/>
          </a:bodyPr>
          <a:lstStyle/>
          <a:p>
            <a:pPr algn="ctr">
              <a:lnSpc>
                <a:spcPts val="5084"/>
              </a:lnSpc>
            </a:pPr>
            <a:r>
              <a:rPr lang="en-US" sz="4500">
                <a:solidFill>
                  <a:srgbClr val="131416"/>
                </a:solidFill>
                <a:latin typeface="Horizon"/>
                <a:ea typeface="Horizon"/>
                <a:cs typeface="Horizon"/>
                <a:sym typeface="Horizon"/>
              </a:rPr>
              <a:t>CONJUNCION</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571944"/>
            <a:ext cx="14976106" cy="787400"/>
          </a:xfrm>
          <a:prstGeom prst="rect">
            <a:avLst/>
          </a:prstGeom>
        </p:spPr>
        <p:txBody>
          <a:bodyPr anchor="t" rtlCol="false" tIns="0" lIns="0" bIns="0" rIns="0">
            <a:spAutoFit/>
          </a:bodyPr>
          <a:lstStyle/>
          <a:p>
            <a:pPr algn="l">
              <a:lnSpc>
                <a:spcPts val="5650"/>
              </a:lnSpc>
            </a:pPr>
            <a:r>
              <a:rPr lang="en-US" sz="5000">
                <a:solidFill>
                  <a:srgbClr val="004AAD"/>
                </a:solidFill>
                <a:latin typeface="Horizon"/>
                <a:ea typeface="Horizon"/>
                <a:cs typeface="Horizon"/>
                <a:sym typeface="Horizon"/>
              </a:rPr>
              <a:t>FALACIAS </a:t>
            </a:r>
          </a:p>
        </p:txBody>
      </p:sp>
      <p:sp>
        <p:nvSpPr>
          <p:cNvPr name="TextBox 3" id="3"/>
          <p:cNvSpPr txBox="true"/>
          <p:nvPr/>
        </p:nvSpPr>
        <p:spPr>
          <a:xfrm rot="0">
            <a:off x="706792" y="1637648"/>
            <a:ext cx="16874416" cy="69151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 un razonamiento inválido que pretende su validez, a partir de elementos psicológicos y no lógicos; es decir que, a través de la intimidación, la amenaza, el insulto, etc. Cuando las únicas razones que se deben atender para la validez de un razonamiento tienen que ser lógicas.</a:t>
            </a:r>
          </a:p>
          <a:p>
            <a:pPr algn="just">
              <a:lnSpc>
                <a:spcPts val="4200"/>
              </a:lnSpc>
            </a:pPr>
            <a:r>
              <a:rPr lang="en-US" sz="3000">
                <a:solidFill>
                  <a:srgbClr val="131416"/>
                </a:solidFill>
                <a:latin typeface="Open Sans"/>
                <a:ea typeface="Open Sans"/>
                <a:cs typeface="Open Sans"/>
                <a:sym typeface="Open Sans"/>
              </a:rPr>
              <a:t>Las falacias Causales se clasifican en:</a:t>
            </a:r>
            <a:r>
              <a:rPr lang="en-US" sz="3000" b="true">
                <a:solidFill>
                  <a:srgbClr val="131416"/>
                </a:solidFill>
                <a:latin typeface="Open Sans Bold"/>
                <a:ea typeface="Open Sans Bold"/>
                <a:cs typeface="Open Sans Bold"/>
                <a:sym typeface="Open Sans Bold"/>
              </a:rPr>
              <a:t> Falacias de Atingencia y Falacias de Ambigüedad.</a:t>
            </a:r>
          </a:p>
          <a:p>
            <a:pPr algn="just">
              <a:lnSpc>
                <a:spcPts val="4200"/>
              </a:lnSpc>
            </a:pPr>
            <a:r>
              <a:rPr lang="en-US" sz="3000" b="true">
                <a:solidFill>
                  <a:srgbClr val="FB4836"/>
                </a:solidFill>
                <a:latin typeface="Open Sans Bold"/>
                <a:ea typeface="Open Sans Bold"/>
                <a:cs typeface="Open Sans Bold"/>
                <a:sym typeface="Open Sans Bold"/>
              </a:rPr>
              <a:t>Ejemplos:</a:t>
            </a:r>
          </a:p>
          <a:p>
            <a:pPr algn="just">
              <a:lnSpc>
                <a:spcPts val="4200"/>
              </a:lnSpc>
            </a:pP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Si puedo cargar las piezas de mi automóvil, puedo cargar mi automóvil</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Siempre me han gustado las películas de suspenso que exhiben en este cine. Seguramente la función de esta noche me gustara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Los Reyes Magos existen porque son Magos</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De la misma manera las falacias lógicas se clasifican en Falacias Formales y no formales.</a:t>
            </a:r>
          </a:p>
          <a:p>
            <a:pPr algn="just">
              <a:lnSpc>
                <a:spcPts val="4200"/>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786547" y="2094005"/>
            <a:ext cx="16126564" cy="74485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Estas falacias se cometen cuando no existe ninguna atingencia (relación, conexión o</a:t>
            </a:r>
          </a:p>
          <a:p>
            <a:pPr algn="just">
              <a:lnSpc>
                <a:spcPts val="4200"/>
              </a:lnSpc>
            </a:pPr>
            <a:r>
              <a:rPr lang="en-US" sz="3000">
                <a:solidFill>
                  <a:srgbClr val="131416"/>
                </a:solidFill>
                <a:latin typeface="Open Sans"/>
                <a:ea typeface="Open Sans"/>
                <a:cs typeface="Open Sans"/>
                <a:sym typeface="Open Sans"/>
              </a:rPr>
              <a:t>correspondencia) lógica, aunque sí psicológica, entre las premisas y conclusión. La verdad o falsedad de las premisas no tiene ninguna r</a:t>
            </a:r>
            <a:r>
              <a:rPr lang="en-US" sz="3000">
                <a:solidFill>
                  <a:srgbClr val="131416"/>
                </a:solidFill>
                <a:latin typeface="Open Sans"/>
                <a:ea typeface="Open Sans"/>
                <a:cs typeface="Open Sans"/>
                <a:sym typeface="Open Sans"/>
              </a:rPr>
              <a:t>e</a:t>
            </a:r>
            <a:r>
              <a:rPr lang="en-US" sz="3000">
                <a:solidFill>
                  <a:srgbClr val="131416"/>
                </a:solidFill>
                <a:latin typeface="Open Sans"/>
                <a:ea typeface="Open Sans"/>
                <a:cs typeface="Open Sans"/>
                <a:sym typeface="Open Sans"/>
              </a:rPr>
              <a:t>lación lógica c</a:t>
            </a:r>
            <a:r>
              <a:rPr lang="en-US" sz="3000">
                <a:solidFill>
                  <a:srgbClr val="131416"/>
                </a:solidFill>
                <a:latin typeface="Open Sans"/>
                <a:ea typeface="Open Sans"/>
                <a:cs typeface="Open Sans"/>
                <a:sym typeface="Open Sans"/>
              </a:rPr>
              <a:t>o</a:t>
            </a:r>
            <a:r>
              <a:rPr lang="en-US" sz="3000">
                <a:solidFill>
                  <a:srgbClr val="131416"/>
                </a:solidFill>
                <a:latin typeface="Open Sans"/>
                <a:ea typeface="Open Sans"/>
                <a:cs typeface="Open Sans"/>
                <a:sym typeface="Open Sans"/>
              </a:rPr>
              <a:t>n la ve</a:t>
            </a:r>
            <a:r>
              <a:rPr lang="en-US" sz="3000">
                <a:solidFill>
                  <a:srgbClr val="131416"/>
                </a:solidFill>
                <a:latin typeface="Open Sans"/>
                <a:ea typeface="Open Sans"/>
                <a:cs typeface="Open Sans"/>
                <a:sym typeface="Open Sans"/>
              </a:rPr>
              <a:t>r</a:t>
            </a:r>
            <a:r>
              <a:rPr lang="en-US" sz="3000">
                <a:solidFill>
                  <a:srgbClr val="131416"/>
                </a:solidFill>
                <a:latin typeface="Open Sans"/>
                <a:ea typeface="Open Sans"/>
                <a:cs typeface="Open Sans"/>
                <a:sym typeface="Open Sans"/>
              </a:rPr>
              <a:t>d</a:t>
            </a:r>
            <a:r>
              <a:rPr lang="en-US" sz="3000">
                <a:solidFill>
                  <a:srgbClr val="131416"/>
                </a:solidFill>
                <a:latin typeface="Open Sans"/>
                <a:ea typeface="Open Sans"/>
                <a:cs typeface="Open Sans"/>
                <a:sym typeface="Open Sans"/>
              </a:rPr>
              <a:t>a</a:t>
            </a:r>
            <a:r>
              <a:rPr lang="en-US" sz="3000">
                <a:solidFill>
                  <a:srgbClr val="131416"/>
                </a:solidFill>
                <a:latin typeface="Open Sans"/>
                <a:ea typeface="Open Sans"/>
                <a:cs typeface="Open Sans"/>
                <a:sym typeface="Open Sans"/>
              </a:rPr>
              <a:t>d o falsedad de la</a:t>
            </a:r>
          </a:p>
          <a:p>
            <a:pPr algn="just">
              <a:lnSpc>
                <a:spcPts val="4200"/>
              </a:lnSpc>
            </a:pPr>
            <a:r>
              <a:rPr lang="en-US" sz="3000">
                <a:solidFill>
                  <a:srgbClr val="131416"/>
                </a:solidFill>
                <a:latin typeface="Open Sans"/>
                <a:ea typeface="Open Sans"/>
                <a:cs typeface="Open Sans"/>
                <a:sym typeface="Open Sans"/>
              </a:rPr>
              <a:t>conclusión; pero, si existe un nexo entre premisas y conclusión, aunque es de carácter</a:t>
            </a:r>
          </a:p>
          <a:p>
            <a:pPr algn="just">
              <a:lnSpc>
                <a:spcPts val="4200"/>
              </a:lnSpc>
            </a:pPr>
            <a:r>
              <a:rPr lang="en-US" sz="3000">
                <a:solidFill>
                  <a:srgbClr val="131416"/>
                </a:solidFill>
                <a:latin typeface="Open Sans"/>
                <a:ea typeface="Open Sans"/>
                <a:cs typeface="Open Sans"/>
                <a:sym typeface="Open Sans"/>
              </a:rPr>
              <a:t>psicológico. En otras palabras, la conclusión no tiene nada que ver con lo que se dicen en las premisas, en términos lógicos. </a:t>
            </a:r>
            <a:r>
              <a:rPr lang="en-US" sz="3000" b="true">
                <a:solidFill>
                  <a:srgbClr val="FB4836"/>
                </a:solidFill>
                <a:latin typeface="Open Sans Bold"/>
                <a:ea typeface="Open Sans Bold"/>
                <a:cs typeface="Open Sans Bold"/>
                <a:sym typeface="Open Sans Bold"/>
              </a:rPr>
              <a:t>Ejemplo:</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El agua es indispensable para todo ser humano; por lo tanto, debe ser </a:t>
            </a:r>
            <a:r>
              <a:rPr lang="en-US" sz="3000">
                <a:solidFill>
                  <a:srgbClr val="131416"/>
                </a:solidFill>
                <a:latin typeface="Open Sans"/>
                <a:ea typeface="Open Sans"/>
                <a:cs typeface="Open Sans"/>
                <a:sym typeface="Open Sans"/>
              </a:rPr>
              <a:t>e</a:t>
            </a:r>
            <a:r>
              <a:rPr lang="en-US" sz="3000">
                <a:solidFill>
                  <a:srgbClr val="131416"/>
                </a:solidFill>
                <a:latin typeface="Open Sans"/>
                <a:ea typeface="Open Sans"/>
                <a:cs typeface="Open Sans"/>
                <a:sym typeface="Open Sans"/>
              </a:rPr>
              <a:t>c</a:t>
            </a:r>
            <a:r>
              <a:rPr lang="en-US" sz="3000">
                <a:solidFill>
                  <a:srgbClr val="131416"/>
                </a:solidFill>
                <a:latin typeface="Open Sans"/>
                <a:ea typeface="Open Sans"/>
                <a:cs typeface="Open Sans"/>
                <a:sym typeface="Open Sans"/>
              </a:rPr>
              <a:t>o</a:t>
            </a:r>
            <a:r>
              <a:rPr lang="en-US" sz="3000">
                <a:solidFill>
                  <a:srgbClr val="131416"/>
                </a:solidFill>
                <a:latin typeface="Open Sans"/>
                <a:ea typeface="Open Sans"/>
                <a:cs typeface="Open Sans"/>
                <a:sym typeface="Open Sans"/>
              </a:rPr>
              <a:t>nómicamente</a:t>
            </a: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p:txBody>
      </p:sp>
      <p:sp>
        <p:nvSpPr>
          <p:cNvPr name="TextBox 3" id="3"/>
          <p:cNvSpPr txBox="true"/>
          <p:nvPr/>
        </p:nvSpPr>
        <p:spPr>
          <a:xfrm rot="0">
            <a:off x="1028700" y="782003"/>
            <a:ext cx="15884411" cy="10407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CLASIFICACIONES DE LA FALACIA DE ANTINGENCIA</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132736" y="2612311"/>
            <a:ext cx="16126564" cy="34893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Contra la Persona (Argumentum ad hominem)</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Apelación a la Fuerza (Argumentum ad baculum)</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 Argumento por ignorancia (Argumentum ad ignorantiam)</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Lla</a:t>
            </a:r>
            <a:r>
              <a:rPr lang="en-US" sz="2499">
                <a:solidFill>
                  <a:srgbClr val="131416"/>
                </a:solidFill>
                <a:latin typeface="Open Sans"/>
                <a:ea typeface="Open Sans"/>
                <a:cs typeface="Open Sans"/>
                <a:sym typeface="Open Sans"/>
              </a:rPr>
              <a:t>mado a la p</a:t>
            </a:r>
            <a:r>
              <a:rPr lang="en-US" sz="2499">
                <a:solidFill>
                  <a:srgbClr val="131416"/>
                </a:solidFill>
                <a:latin typeface="Open Sans"/>
                <a:ea typeface="Open Sans"/>
                <a:cs typeface="Open Sans"/>
                <a:sym typeface="Open Sans"/>
              </a:rPr>
              <a:t>ie</a:t>
            </a:r>
            <a:r>
              <a:rPr lang="en-US" sz="2499">
                <a:solidFill>
                  <a:srgbClr val="131416"/>
                </a:solidFill>
                <a:latin typeface="Open Sans"/>
                <a:ea typeface="Open Sans"/>
                <a:cs typeface="Open Sans"/>
                <a:sym typeface="Open Sans"/>
              </a:rPr>
              <a:t>d</a:t>
            </a:r>
            <a:r>
              <a:rPr lang="en-US" sz="2499">
                <a:solidFill>
                  <a:srgbClr val="131416"/>
                </a:solidFill>
                <a:latin typeface="Open Sans"/>
                <a:ea typeface="Open Sans"/>
                <a:cs typeface="Open Sans"/>
                <a:sym typeface="Open Sans"/>
              </a:rPr>
              <a:t>a</a:t>
            </a:r>
            <a:r>
              <a:rPr lang="en-US" sz="2499">
                <a:solidFill>
                  <a:srgbClr val="131416"/>
                </a:solidFill>
                <a:latin typeface="Open Sans"/>
                <a:ea typeface="Open Sans"/>
                <a:cs typeface="Open Sans"/>
                <a:sym typeface="Open Sans"/>
              </a:rPr>
              <a:t>d (Argumentum ad misericordiam)</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Acepta</a:t>
            </a:r>
            <a:r>
              <a:rPr lang="en-US" sz="2499">
                <a:solidFill>
                  <a:srgbClr val="131416"/>
                </a:solidFill>
                <a:latin typeface="Open Sans"/>
                <a:ea typeface="Open Sans"/>
                <a:cs typeface="Open Sans"/>
                <a:sym typeface="Open Sans"/>
              </a:rPr>
              <a:t>ción</a:t>
            </a:r>
            <a:r>
              <a:rPr lang="en-US" sz="2499">
                <a:solidFill>
                  <a:srgbClr val="131416"/>
                </a:solidFill>
                <a:latin typeface="Open Sans"/>
                <a:ea typeface="Open Sans"/>
                <a:cs typeface="Open Sans"/>
                <a:sym typeface="Open Sans"/>
              </a:rPr>
              <a:t> popul</a:t>
            </a:r>
            <a:r>
              <a:rPr lang="en-US" sz="2499">
                <a:solidFill>
                  <a:srgbClr val="131416"/>
                </a:solidFill>
                <a:latin typeface="Open Sans"/>
                <a:ea typeface="Open Sans"/>
                <a:cs typeface="Open Sans"/>
                <a:sym typeface="Open Sans"/>
              </a:rPr>
              <a:t>ar</a:t>
            </a:r>
            <a:r>
              <a:rPr lang="en-US" sz="2499">
                <a:solidFill>
                  <a:srgbClr val="131416"/>
                </a:solidFill>
                <a:latin typeface="Open Sans"/>
                <a:ea typeface="Open Sans"/>
                <a:cs typeface="Open Sans"/>
                <a:sym typeface="Open Sans"/>
              </a:rPr>
              <a:t> (Argumentum ad populum)</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Apelación a la autoridad (Argumentum</a:t>
            </a:r>
            <a:r>
              <a:rPr lang="en-US" sz="2499">
                <a:solidFill>
                  <a:srgbClr val="131416"/>
                </a:solidFill>
                <a:latin typeface="Open Sans"/>
                <a:ea typeface="Open Sans"/>
                <a:cs typeface="Open Sans"/>
                <a:sym typeface="Open Sans"/>
              </a:rPr>
              <a:t> a</a:t>
            </a:r>
            <a:r>
              <a:rPr lang="en-US" sz="2499">
                <a:solidFill>
                  <a:srgbClr val="131416"/>
                </a:solidFill>
                <a:latin typeface="Open Sans"/>
                <a:ea typeface="Open Sans"/>
                <a:cs typeface="Open Sans"/>
                <a:sym typeface="Open Sans"/>
              </a:rPr>
              <a:t>d verecundiam)</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La causa falsa</a:t>
            </a:r>
          </a:p>
          <a:p>
            <a:pPr algn="just" marL="539749" indent="-269875" lvl="1">
              <a:lnSpc>
                <a:spcPts val="3499"/>
              </a:lnSpc>
              <a:buFont typeface="Arial"/>
              <a:buChar char="•"/>
            </a:pPr>
            <a:r>
              <a:rPr lang="en-US" sz="2499">
                <a:solidFill>
                  <a:srgbClr val="131416"/>
                </a:solidFill>
                <a:latin typeface="Open Sans"/>
                <a:ea typeface="Open Sans"/>
                <a:cs typeface="Open Sans"/>
                <a:sym typeface="Open Sans"/>
              </a:rPr>
              <a:t>L</a:t>
            </a:r>
            <a:r>
              <a:rPr lang="en-US" sz="2499">
                <a:solidFill>
                  <a:srgbClr val="131416"/>
                </a:solidFill>
                <a:latin typeface="Open Sans"/>
                <a:ea typeface="Open Sans"/>
                <a:cs typeface="Open Sans"/>
                <a:sym typeface="Open Sans"/>
              </a:rPr>
              <a:t>a pregunta compleja</a:t>
            </a:r>
          </a:p>
        </p:txBody>
      </p:sp>
      <p:sp>
        <p:nvSpPr>
          <p:cNvPr name="TextBox 3" id="3"/>
          <p:cNvSpPr txBox="true"/>
          <p:nvPr/>
        </p:nvSpPr>
        <p:spPr>
          <a:xfrm rot="0">
            <a:off x="1028700" y="782003"/>
            <a:ext cx="15884411" cy="1040765"/>
          </a:xfrm>
          <a:prstGeom prst="rect">
            <a:avLst/>
          </a:prstGeom>
        </p:spPr>
        <p:txBody>
          <a:bodyPr anchor="t" rtlCol="false" tIns="0" lIns="0" bIns="0" rIns="0">
            <a:spAutoFit/>
          </a:bodyPr>
          <a:lstStyle/>
          <a:p>
            <a:pPr algn="l">
              <a:lnSpc>
                <a:spcPts val="3955"/>
              </a:lnSpc>
            </a:pPr>
            <a:r>
              <a:rPr lang="en-US" sz="3500">
                <a:solidFill>
                  <a:srgbClr val="004AAD"/>
                </a:solidFill>
                <a:latin typeface="Horizon"/>
                <a:ea typeface="Horizon"/>
                <a:cs typeface="Horizon"/>
                <a:sym typeface="Horizon"/>
              </a:rPr>
              <a:t>CLASIFICACIÓN DE LAS FALACIAS DE ANTINGENCIA</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571944"/>
            <a:ext cx="14976106" cy="1501775"/>
          </a:xfrm>
          <a:prstGeom prst="rect">
            <a:avLst/>
          </a:prstGeom>
        </p:spPr>
        <p:txBody>
          <a:bodyPr anchor="t" rtlCol="false" tIns="0" lIns="0" bIns="0" rIns="0">
            <a:spAutoFit/>
          </a:bodyPr>
          <a:lstStyle/>
          <a:p>
            <a:pPr algn="l">
              <a:lnSpc>
                <a:spcPts val="5650"/>
              </a:lnSpc>
            </a:pPr>
            <a:r>
              <a:rPr lang="en-US" sz="5000">
                <a:solidFill>
                  <a:srgbClr val="004AAD"/>
                </a:solidFill>
                <a:latin typeface="Horizon"/>
                <a:ea typeface="Horizon"/>
                <a:cs typeface="Horizon"/>
                <a:sym typeface="Horizon"/>
              </a:rPr>
              <a:t>MODELOS MENTALES Y PARADIGMAS</a:t>
            </a:r>
            <a:r>
              <a:rPr lang="en-US" sz="5000">
                <a:solidFill>
                  <a:srgbClr val="131416"/>
                </a:solidFill>
                <a:latin typeface="Horizon"/>
                <a:ea typeface="Horizon"/>
                <a:cs typeface="Horizon"/>
                <a:sym typeface="Horizon"/>
              </a:rPr>
              <a:t> </a:t>
            </a:r>
          </a:p>
        </p:txBody>
      </p:sp>
      <p:sp>
        <p:nvSpPr>
          <p:cNvPr name="TextBox 3" id="3"/>
          <p:cNvSpPr txBox="true"/>
          <p:nvPr/>
        </p:nvSpPr>
        <p:spPr>
          <a:xfrm rot="0">
            <a:off x="1028700" y="2630593"/>
            <a:ext cx="17538186" cy="3714750"/>
          </a:xfrm>
          <a:prstGeom prst="rect">
            <a:avLst/>
          </a:prstGeom>
        </p:spPr>
        <p:txBody>
          <a:bodyPr anchor="t" rtlCol="false" tIns="0" lIns="0" bIns="0" rIns="0">
            <a:spAutoFit/>
          </a:bodyPr>
          <a:lstStyle/>
          <a:p>
            <a:pPr algn="just">
              <a:lnSpc>
                <a:spcPts val="4200"/>
              </a:lnSpc>
            </a:pPr>
            <a:r>
              <a:rPr lang="en-US" sz="3000" b="true">
                <a:solidFill>
                  <a:srgbClr val="131416"/>
                </a:solidFill>
                <a:latin typeface="Open Sans Bold"/>
                <a:ea typeface="Open Sans Bold"/>
                <a:cs typeface="Open Sans Bold"/>
                <a:sym typeface="Open Sans Bold"/>
              </a:rPr>
              <a:t>¿Qué es un paradigma?</a:t>
            </a:r>
          </a:p>
          <a:p>
            <a:pPr algn="just">
              <a:lnSpc>
                <a:spcPts val="4200"/>
              </a:lnSpc>
            </a:pPr>
            <a:r>
              <a:rPr lang="en-US" sz="3000">
                <a:solidFill>
                  <a:srgbClr val="131416"/>
                </a:solidFill>
                <a:latin typeface="Open Sans"/>
                <a:ea typeface="Open Sans"/>
                <a:cs typeface="Open Sans"/>
                <a:sym typeface="Open Sans"/>
              </a:rPr>
              <a:t>Paradigma proviene del griego paradigma que quiere decir “modelo, patrón,</a:t>
            </a:r>
          </a:p>
          <a:p>
            <a:pPr algn="just">
              <a:lnSpc>
                <a:spcPts val="4200"/>
              </a:lnSpc>
            </a:pPr>
            <a:r>
              <a:rPr lang="en-US" sz="3000">
                <a:solidFill>
                  <a:srgbClr val="131416"/>
                </a:solidFill>
                <a:latin typeface="Open Sans"/>
                <a:ea typeface="Open Sans"/>
                <a:cs typeface="Open Sans"/>
                <a:sym typeface="Open Sans"/>
              </a:rPr>
              <a:t>ejemplo”. Thomas S. Kuhn un historiador científico, llevó el concepto de paradigma</a:t>
            </a:r>
          </a:p>
          <a:p>
            <a:pPr algn="just">
              <a:lnSpc>
                <a:spcPts val="4200"/>
              </a:lnSpc>
            </a:pPr>
            <a:r>
              <a:rPr lang="en-US" sz="3000">
                <a:solidFill>
                  <a:srgbClr val="131416"/>
                </a:solidFill>
                <a:latin typeface="Open Sans"/>
                <a:ea typeface="Open Sans"/>
                <a:cs typeface="Open Sans"/>
                <a:sym typeface="Open Sans"/>
              </a:rPr>
              <a:t>al mundo de la ciencia y la tecnología. Un paradigma puede hacer dos cosas: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Establecer o definir límites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Indicar cómo comportarse dentro de los límites para tener éxito.</a:t>
            </a:r>
          </a:p>
          <a:p>
            <a:pPr algn="just">
              <a:lnSpc>
                <a:spcPts val="4200"/>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7401838" y="3775539"/>
            <a:ext cx="6459843" cy="6077658"/>
          </a:xfrm>
          <a:custGeom>
            <a:avLst/>
            <a:gdLst/>
            <a:ahLst/>
            <a:cxnLst/>
            <a:rect r="r" b="b" t="t" l="l"/>
            <a:pathLst>
              <a:path h="6077658" w="6459843">
                <a:moveTo>
                  <a:pt x="0" y="0"/>
                </a:moveTo>
                <a:lnTo>
                  <a:pt x="6459843" y="0"/>
                </a:lnTo>
                <a:lnTo>
                  <a:pt x="6459843" y="6077659"/>
                </a:lnTo>
                <a:lnTo>
                  <a:pt x="0" y="6077659"/>
                </a:lnTo>
                <a:lnTo>
                  <a:pt x="0" y="0"/>
                </a:lnTo>
                <a:close/>
              </a:path>
            </a:pathLst>
          </a:custGeom>
          <a:blipFill>
            <a:blip r:embed="rId2"/>
            <a:stretch>
              <a:fillRect l="0" t="0" r="0" b="0"/>
            </a:stretch>
          </a:blipFill>
        </p:spPr>
      </p:sp>
      <p:sp>
        <p:nvSpPr>
          <p:cNvPr name="TextBox 3" id="3"/>
          <p:cNvSpPr txBox="true"/>
          <p:nvPr/>
        </p:nvSpPr>
        <p:spPr>
          <a:xfrm rot="0">
            <a:off x="1028700" y="571944"/>
            <a:ext cx="14976106" cy="787400"/>
          </a:xfrm>
          <a:prstGeom prst="rect">
            <a:avLst/>
          </a:prstGeom>
        </p:spPr>
        <p:txBody>
          <a:bodyPr anchor="t" rtlCol="false" tIns="0" lIns="0" bIns="0" rIns="0">
            <a:spAutoFit/>
          </a:bodyPr>
          <a:lstStyle/>
          <a:p>
            <a:pPr algn="l">
              <a:lnSpc>
                <a:spcPts val="5650"/>
              </a:lnSpc>
            </a:pPr>
            <a:r>
              <a:rPr lang="en-US" sz="5000">
                <a:solidFill>
                  <a:srgbClr val="004AAD"/>
                </a:solidFill>
                <a:latin typeface="Horizon"/>
                <a:ea typeface="Horizon"/>
                <a:cs typeface="Horizon"/>
                <a:sym typeface="Horizon"/>
              </a:rPr>
              <a:t>PRINCIPIOS Y PARADIGMAS</a:t>
            </a:r>
          </a:p>
        </p:txBody>
      </p:sp>
      <p:sp>
        <p:nvSpPr>
          <p:cNvPr name="TextBox 4" id="4"/>
          <p:cNvSpPr txBox="true"/>
          <p:nvPr/>
        </p:nvSpPr>
        <p:spPr>
          <a:xfrm rot="0">
            <a:off x="375729" y="1486162"/>
            <a:ext cx="17912271" cy="26479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Los paradigmas son la contraparte de los principios. Toda situación implica principios y paradigmas. La diferencia es que en tanto los principios son eternos y universales, externos a nosotros, los paradigmas cambian de tiempo en tiempo, de lugar a lugar y dependen internamente de nosotros.</a:t>
            </a:r>
          </a:p>
          <a:p>
            <a:pPr algn="just">
              <a:lnSpc>
                <a:spcPts val="4200"/>
              </a:lnSpc>
            </a:pPr>
            <a:r>
              <a:rPr lang="en-US" sz="3000">
                <a:solidFill>
                  <a:srgbClr val="131416"/>
                </a:solidFill>
                <a:latin typeface="Open Sans"/>
                <a:ea typeface="Open Sans"/>
                <a:cs typeface="Open Sans"/>
                <a:sym typeface="Open Sans"/>
              </a:rPr>
              <a:t>Los principios son leyes universales, en tanto que los paradigmas podemos decir que son manifestaciones culturales locales.</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571944"/>
            <a:ext cx="14976106" cy="1501775"/>
          </a:xfrm>
          <a:prstGeom prst="rect">
            <a:avLst/>
          </a:prstGeom>
        </p:spPr>
        <p:txBody>
          <a:bodyPr anchor="t" rtlCol="false" tIns="0" lIns="0" bIns="0" rIns="0">
            <a:spAutoFit/>
          </a:bodyPr>
          <a:lstStyle/>
          <a:p>
            <a:pPr algn="l">
              <a:lnSpc>
                <a:spcPts val="5650"/>
              </a:lnSpc>
            </a:pPr>
            <a:r>
              <a:rPr lang="en-US" sz="5000">
                <a:solidFill>
                  <a:srgbClr val="004AAD"/>
                </a:solidFill>
                <a:latin typeface="Horizon"/>
                <a:ea typeface="Horizon"/>
                <a:cs typeface="Horizon"/>
                <a:sym typeface="Horizon"/>
              </a:rPr>
              <a:t>¿PARA QUE SIRVEN LOS PARADIGMAS?</a:t>
            </a:r>
          </a:p>
        </p:txBody>
      </p:sp>
      <p:sp>
        <p:nvSpPr>
          <p:cNvPr name="TextBox 3" id="3"/>
          <p:cNvSpPr txBox="true"/>
          <p:nvPr/>
        </p:nvSpPr>
        <p:spPr>
          <a:xfrm rot="0">
            <a:off x="764836" y="2699259"/>
            <a:ext cx="17149080" cy="3714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Los paradigmas sirven para entender la realidad, guiarnos en ella, tomar decisiones. En otras palabras, son los que establecen las reglas del juego. Son nuestro patrón, nuestro marco de referencia.</a:t>
            </a:r>
          </a:p>
          <a:p>
            <a:pPr algn="just">
              <a:lnSpc>
                <a:spcPts val="4200"/>
              </a:lnSpc>
            </a:pPr>
            <a:r>
              <a:rPr lang="en-US" sz="3000">
                <a:solidFill>
                  <a:srgbClr val="131416"/>
                </a:solidFill>
                <a:latin typeface="Open Sans"/>
                <a:ea typeface="Open Sans"/>
                <a:cs typeface="Open Sans"/>
                <a:sym typeface="Open Sans"/>
              </a:rPr>
              <a:t>No siempre están claras esas reglas, algunas veces son implícitas, invisibles, por eso necesitamos conocer nuestro paradigma, poderlo confrontar con otros, ver sus límites, para poderlo cambiar o romper, de que podamos modificarlo o construir uno nuevo. Los hombres que se anticipan a los cambios de paradigma son los pioneros.</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571944"/>
            <a:ext cx="14976106" cy="2216150"/>
          </a:xfrm>
          <a:prstGeom prst="rect">
            <a:avLst/>
          </a:prstGeom>
        </p:spPr>
        <p:txBody>
          <a:bodyPr anchor="t" rtlCol="false" tIns="0" lIns="0" bIns="0" rIns="0">
            <a:spAutoFit/>
          </a:bodyPr>
          <a:lstStyle/>
          <a:p>
            <a:pPr algn="l">
              <a:lnSpc>
                <a:spcPts val="5650"/>
              </a:lnSpc>
            </a:pPr>
            <a:r>
              <a:rPr lang="en-US" sz="5000">
                <a:solidFill>
                  <a:srgbClr val="004AAD"/>
                </a:solidFill>
                <a:latin typeface="Horizon"/>
                <a:ea typeface="Horizon"/>
                <a:cs typeface="Horizon"/>
                <a:sym typeface="Horizon"/>
              </a:rPr>
              <a:t>CARACTERÍSTICAS Y ASPECTOS QUE DETERMINAN LOS PARADIGMAS</a:t>
            </a:r>
          </a:p>
        </p:txBody>
      </p:sp>
      <p:sp>
        <p:nvSpPr>
          <p:cNvPr name="TextBox 3" id="3"/>
          <p:cNvSpPr txBox="true"/>
          <p:nvPr/>
        </p:nvSpPr>
        <p:spPr>
          <a:xfrm rot="0">
            <a:off x="1314162" y="3271474"/>
            <a:ext cx="17217746" cy="158115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El creador o inventor de paradigmas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El pionero de paradigmas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El colono.</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571944"/>
            <a:ext cx="14976106" cy="1501775"/>
          </a:xfrm>
          <a:prstGeom prst="rect">
            <a:avLst/>
          </a:prstGeom>
        </p:spPr>
        <p:txBody>
          <a:bodyPr anchor="t" rtlCol="false" tIns="0" lIns="0" bIns="0" rIns="0">
            <a:spAutoFit/>
          </a:bodyPr>
          <a:lstStyle/>
          <a:p>
            <a:pPr algn="l">
              <a:lnSpc>
                <a:spcPts val="5650"/>
              </a:lnSpc>
            </a:pPr>
            <a:r>
              <a:rPr lang="en-US" sz="5000">
                <a:solidFill>
                  <a:srgbClr val="004AAD"/>
                </a:solidFill>
                <a:latin typeface="Horizon"/>
                <a:ea typeface="Horizon"/>
                <a:cs typeface="Horizon"/>
                <a:sym typeface="Horizon"/>
              </a:rPr>
              <a:t>FUENTES DE MODELOS MENTALES Y PARADIGMAS</a:t>
            </a:r>
          </a:p>
        </p:txBody>
      </p:sp>
      <p:sp>
        <p:nvSpPr>
          <p:cNvPr name="TextBox 3" id="3"/>
          <p:cNvSpPr txBox="true"/>
          <p:nvPr/>
        </p:nvSpPr>
        <p:spPr>
          <a:xfrm rot="0">
            <a:off x="535950" y="2012600"/>
            <a:ext cx="17752050" cy="31813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Los filtros a través de los cuales los seres humanos organizamos y damos</a:t>
            </a:r>
          </a:p>
          <a:p>
            <a:pPr algn="just">
              <a:lnSpc>
                <a:spcPts val="4200"/>
              </a:lnSpc>
            </a:pPr>
            <a:r>
              <a:rPr lang="en-US" sz="3000">
                <a:solidFill>
                  <a:srgbClr val="131416"/>
                </a:solidFill>
                <a:latin typeface="Open Sans"/>
                <a:ea typeface="Open Sans"/>
                <a:cs typeface="Open Sans"/>
                <a:sym typeface="Open Sans"/>
              </a:rPr>
              <a:t>sentido a nuestras experiencias provienen de cuatro fuentes:</a:t>
            </a:r>
          </a:p>
          <a:p>
            <a:pPr algn="just" marL="647700" indent="-323850" lvl="1">
              <a:lnSpc>
                <a:spcPts val="4200"/>
              </a:lnSpc>
              <a:buAutoNum type="arabicPeriod" startAt="1"/>
            </a:pPr>
            <a:r>
              <a:rPr lang="en-US" sz="3000">
                <a:solidFill>
                  <a:srgbClr val="131416"/>
                </a:solidFill>
                <a:latin typeface="Open Sans"/>
                <a:ea typeface="Open Sans"/>
                <a:cs typeface="Open Sans"/>
                <a:sym typeface="Open Sans"/>
              </a:rPr>
              <a:t>Biología</a:t>
            </a:r>
          </a:p>
          <a:p>
            <a:pPr algn="just" marL="647700" indent="-323850" lvl="1">
              <a:lnSpc>
                <a:spcPts val="4200"/>
              </a:lnSpc>
              <a:buAutoNum type="arabicPeriod" startAt="1"/>
            </a:pPr>
            <a:r>
              <a:rPr lang="en-US" sz="3000">
                <a:solidFill>
                  <a:srgbClr val="131416"/>
                </a:solidFill>
                <a:latin typeface="Open Sans"/>
                <a:ea typeface="Open Sans"/>
                <a:cs typeface="Open Sans"/>
                <a:sym typeface="Open Sans"/>
              </a:rPr>
              <a:t>Lenguaje</a:t>
            </a:r>
          </a:p>
          <a:p>
            <a:pPr algn="just" marL="647700" indent="-323850" lvl="1">
              <a:lnSpc>
                <a:spcPts val="4200"/>
              </a:lnSpc>
              <a:buAutoNum type="arabicPeriod" startAt="1"/>
            </a:pPr>
            <a:r>
              <a:rPr lang="en-US" sz="3000">
                <a:solidFill>
                  <a:srgbClr val="131416"/>
                </a:solidFill>
                <a:latin typeface="Open Sans"/>
                <a:ea typeface="Open Sans"/>
                <a:cs typeface="Open Sans"/>
                <a:sym typeface="Open Sans"/>
              </a:rPr>
              <a:t>Cultura</a:t>
            </a:r>
          </a:p>
          <a:p>
            <a:pPr algn="just" marL="647700" indent="-323850" lvl="1">
              <a:lnSpc>
                <a:spcPts val="4200"/>
              </a:lnSpc>
              <a:buAutoNum type="arabicPeriod" startAt="1"/>
            </a:pPr>
            <a:r>
              <a:rPr lang="en-US" sz="3000">
                <a:solidFill>
                  <a:srgbClr val="131416"/>
                </a:solidFill>
                <a:latin typeface="Open Sans"/>
                <a:ea typeface="Open Sans"/>
                <a:cs typeface="Open Sans"/>
                <a:sym typeface="Open Sans"/>
              </a:rPr>
              <a:t>Historia personal</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651214" y="1567567"/>
            <a:ext cx="16126564" cy="5848350"/>
          </a:xfrm>
          <a:prstGeom prst="rect">
            <a:avLst/>
          </a:prstGeom>
        </p:spPr>
        <p:txBody>
          <a:bodyPr anchor="t" rtlCol="false" tIns="0" lIns="0" bIns="0" rIns="0">
            <a:spAutoFit/>
          </a:bodyPr>
          <a:lstStyle/>
          <a:p>
            <a:pPr algn="just">
              <a:lnSpc>
                <a:spcPts val="4200"/>
              </a:lnSpc>
            </a:pPr>
            <a:r>
              <a:rPr lang="en-US" sz="3000" b="true">
                <a:solidFill>
                  <a:srgbClr val="004AAD"/>
                </a:solidFill>
                <a:latin typeface="Open Sans Bold"/>
                <a:ea typeface="Open Sans Bold"/>
                <a:cs typeface="Open Sans Bold"/>
                <a:sym typeface="Open Sans Bold"/>
              </a:rPr>
              <a:t>Biología</a:t>
            </a:r>
          </a:p>
          <a:p>
            <a:pPr algn="just">
              <a:lnSpc>
                <a:spcPts val="4200"/>
              </a:lnSpc>
            </a:pPr>
            <a:r>
              <a:rPr lang="en-US" sz="3000">
                <a:solidFill>
                  <a:srgbClr val="131416"/>
                </a:solidFill>
                <a:latin typeface="Open Sans"/>
                <a:ea typeface="Open Sans"/>
                <a:cs typeface="Open Sans"/>
                <a:sym typeface="Open Sans"/>
              </a:rPr>
              <a:t>El primer filtro de los modelos mentales es el sistema nervioso. Las personas</a:t>
            </a:r>
          </a:p>
          <a:p>
            <a:pPr algn="just">
              <a:lnSpc>
                <a:spcPts val="4200"/>
              </a:lnSpc>
            </a:pPr>
            <a:r>
              <a:rPr lang="en-US" sz="3000">
                <a:solidFill>
                  <a:srgbClr val="131416"/>
                </a:solidFill>
                <a:latin typeface="Open Sans"/>
                <a:ea typeface="Open Sans"/>
                <a:cs typeface="Open Sans"/>
                <a:sym typeface="Open Sans"/>
              </a:rPr>
              <a:t>tenemos limitaciones fisiológicas, que nos impiden percibir ciertos</a:t>
            </a:r>
          </a:p>
          <a:p>
            <a:pPr algn="just">
              <a:lnSpc>
                <a:spcPts val="4200"/>
              </a:lnSpc>
            </a:pPr>
            <a:r>
              <a:rPr lang="en-US" sz="3000">
                <a:solidFill>
                  <a:srgbClr val="131416"/>
                </a:solidFill>
                <a:latin typeface="Open Sans"/>
                <a:ea typeface="Open Sans"/>
                <a:cs typeface="Open Sans"/>
                <a:sym typeface="Open Sans"/>
              </a:rPr>
              <a:t>fenómenos con los sentidos. El alcance del oído humano, por ejemplo, es de</a:t>
            </a:r>
          </a:p>
          <a:p>
            <a:pPr algn="just">
              <a:lnSpc>
                <a:spcPts val="4200"/>
              </a:lnSpc>
            </a:pPr>
            <a:r>
              <a:rPr lang="en-US" sz="3000">
                <a:solidFill>
                  <a:srgbClr val="131416"/>
                </a:solidFill>
                <a:latin typeface="Open Sans"/>
                <a:ea typeface="Open Sans"/>
                <a:cs typeface="Open Sans"/>
                <a:sym typeface="Open Sans"/>
              </a:rPr>
              <a:t>20 a 20,000 vibraciones por segundo, mientras que los perros, por e</a:t>
            </a:r>
            <a:r>
              <a:rPr lang="en-US" sz="3000">
                <a:solidFill>
                  <a:srgbClr val="131416"/>
                </a:solidFill>
                <a:latin typeface="Open Sans"/>
                <a:ea typeface="Open Sans"/>
                <a:cs typeface="Open Sans"/>
                <a:sym typeface="Open Sans"/>
              </a:rPr>
              <a:t>jemplo,</a:t>
            </a:r>
          </a:p>
          <a:p>
            <a:pPr algn="just">
              <a:lnSpc>
                <a:spcPts val="4200"/>
              </a:lnSpc>
            </a:pPr>
            <a:r>
              <a:rPr lang="en-US" sz="3000">
                <a:solidFill>
                  <a:srgbClr val="131416"/>
                </a:solidFill>
                <a:latin typeface="Open Sans"/>
                <a:ea typeface="Open Sans"/>
                <a:cs typeface="Open Sans"/>
                <a:sym typeface="Open Sans"/>
              </a:rPr>
              <a:t>pueden oír tonos más agudos y los elefantes tonos más graves.</a:t>
            </a: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492022" y="1322661"/>
            <a:ext cx="16973443" cy="5035550"/>
          </a:xfrm>
          <a:prstGeom prst="rect">
            <a:avLst/>
          </a:prstGeom>
        </p:spPr>
        <p:txBody>
          <a:bodyPr anchor="t" rtlCol="false" tIns="0" lIns="0" bIns="0" rIns="0">
            <a:spAutoFit/>
          </a:bodyPr>
          <a:lstStyle/>
          <a:p>
            <a:pPr algn="just">
              <a:lnSpc>
                <a:spcPts val="4200"/>
              </a:lnSpc>
            </a:pPr>
            <a:r>
              <a:rPr lang="en-US" sz="3000" b="true">
                <a:solidFill>
                  <a:srgbClr val="004AAD"/>
                </a:solidFill>
                <a:latin typeface="Open Sans Bold"/>
                <a:ea typeface="Open Sans Bold"/>
                <a:cs typeface="Open Sans Bold"/>
                <a:sym typeface="Open Sans Bold"/>
              </a:rPr>
              <a:t>Lenguaje</a:t>
            </a:r>
          </a:p>
          <a:p>
            <a:pPr algn="just">
              <a:lnSpc>
                <a:spcPts val="4200"/>
              </a:lnSpc>
            </a:pPr>
            <a:r>
              <a:rPr lang="en-US" sz="3000">
                <a:solidFill>
                  <a:srgbClr val="131416"/>
                </a:solidFill>
                <a:latin typeface="Open Sans"/>
                <a:ea typeface="Open Sans"/>
                <a:cs typeface="Open Sans"/>
                <a:sym typeface="Open Sans"/>
              </a:rPr>
              <a:t>El segundo filtro de los model</a:t>
            </a:r>
            <a:r>
              <a:rPr lang="en-US" sz="3000">
                <a:solidFill>
                  <a:srgbClr val="131416"/>
                </a:solidFill>
                <a:latin typeface="Open Sans"/>
                <a:ea typeface="Open Sans"/>
                <a:cs typeface="Open Sans"/>
                <a:sym typeface="Open Sans"/>
              </a:rPr>
              <a:t>os mentales e</a:t>
            </a:r>
            <a:r>
              <a:rPr lang="en-US" sz="3000">
                <a:solidFill>
                  <a:srgbClr val="131416"/>
                </a:solidFill>
                <a:latin typeface="Open Sans"/>
                <a:ea typeface="Open Sans"/>
                <a:cs typeface="Open Sans"/>
                <a:sym typeface="Open Sans"/>
              </a:rPr>
              <a:t>s el lenguaje. El lenguaje es el medio en el que se estructura la conci</a:t>
            </a:r>
            <a:r>
              <a:rPr lang="en-US" sz="3000">
                <a:solidFill>
                  <a:srgbClr val="131416"/>
                </a:solidFill>
                <a:latin typeface="Open Sans"/>
                <a:ea typeface="Open Sans"/>
                <a:cs typeface="Open Sans"/>
                <a:sym typeface="Open Sans"/>
              </a:rPr>
              <a:t>encia </a:t>
            </a:r>
            <a:r>
              <a:rPr lang="en-US" sz="3000">
                <a:solidFill>
                  <a:srgbClr val="131416"/>
                </a:solidFill>
                <a:latin typeface="Open Sans"/>
                <a:ea typeface="Open Sans"/>
                <a:cs typeface="Open Sans"/>
                <a:sym typeface="Open Sans"/>
              </a:rPr>
              <a:t>del ser humano. El l</a:t>
            </a:r>
            <a:r>
              <a:rPr lang="en-US" sz="3000">
                <a:solidFill>
                  <a:srgbClr val="131416"/>
                </a:solidFill>
                <a:latin typeface="Open Sans"/>
                <a:ea typeface="Open Sans"/>
                <a:cs typeface="Open Sans"/>
                <a:sym typeface="Open Sans"/>
              </a:rPr>
              <a:t>en</a:t>
            </a:r>
            <a:r>
              <a:rPr lang="en-US" sz="3000">
                <a:solidFill>
                  <a:srgbClr val="131416"/>
                </a:solidFill>
                <a:latin typeface="Open Sans"/>
                <a:ea typeface="Open Sans"/>
                <a:cs typeface="Open Sans"/>
                <a:sym typeface="Open Sans"/>
              </a:rPr>
              <a:t>g</a:t>
            </a:r>
            <a:r>
              <a:rPr lang="en-US" sz="3000">
                <a:solidFill>
                  <a:srgbClr val="131416"/>
                </a:solidFill>
                <a:latin typeface="Open Sans"/>
                <a:ea typeface="Open Sans"/>
                <a:cs typeface="Open Sans"/>
                <a:sym typeface="Open Sans"/>
              </a:rPr>
              <a:t>ua</a:t>
            </a:r>
            <a:r>
              <a:rPr lang="en-US" sz="3000">
                <a:solidFill>
                  <a:srgbClr val="131416"/>
                </a:solidFill>
                <a:latin typeface="Open Sans"/>
                <a:ea typeface="Open Sans"/>
                <a:cs typeface="Open Sans"/>
                <a:sym typeface="Open Sans"/>
              </a:rPr>
              <a:t>je</a:t>
            </a:r>
            <a:r>
              <a:rPr lang="en-US" sz="3000">
                <a:solidFill>
                  <a:srgbClr val="131416"/>
                </a:solidFill>
                <a:latin typeface="Open Sans"/>
                <a:ea typeface="Open Sans"/>
                <a:cs typeface="Open Sans"/>
                <a:sym typeface="Open Sans"/>
              </a:rPr>
              <a:t> es</a:t>
            </a:r>
            <a:r>
              <a:rPr lang="en-US" sz="3000">
                <a:solidFill>
                  <a:srgbClr val="131416"/>
                </a:solidFill>
                <a:latin typeface="Open Sans"/>
                <a:ea typeface="Open Sans"/>
                <a:cs typeface="Open Sans"/>
                <a:sym typeface="Open Sans"/>
              </a:rPr>
              <a:t> el espacio de sentido en el que la realidad aparece en forma inteligible y </a:t>
            </a:r>
            <a:r>
              <a:rPr lang="en-US" sz="3000">
                <a:solidFill>
                  <a:srgbClr val="131416"/>
                </a:solidFill>
                <a:latin typeface="Open Sans"/>
                <a:ea typeface="Open Sans"/>
                <a:cs typeface="Open Sans"/>
                <a:sym typeface="Open Sans"/>
              </a:rPr>
              <a:t>c</a:t>
            </a:r>
            <a:r>
              <a:rPr lang="en-US" sz="3000">
                <a:solidFill>
                  <a:srgbClr val="131416"/>
                </a:solidFill>
                <a:latin typeface="Open Sans"/>
                <a:ea typeface="Open Sans"/>
                <a:cs typeface="Open Sans"/>
                <a:sym typeface="Open Sans"/>
              </a:rPr>
              <a:t>o</a:t>
            </a:r>
            <a:r>
              <a:rPr lang="en-US" sz="3000">
                <a:solidFill>
                  <a:srgbClr val="131416"/>
                </a:solidFill>
                <a:latin typeface="Open Sans"/>
                <a:ea typeface="Open Sans"/>
                <a:cs typeface="Open Sans"/>
                <a:sym typeface="Open Sans"/>
              </a:rPr>
              <a:t>mu</a:t>
            </a:r>
            <a:r>
              <a:rPr lang="en-US" sz="3000">
                <a:solidFill>
                  <a:srgbClr val="131416"/>
                </a:solidFill>
                <a:latin typeface="Open Sans"/>
                <a:ea typeface="Open Sans"/>
                <a:cs typeface="Open Sans"/>
                <a:sym typeface="Open Sans"/>
              </a:rPr>
              <a:t>n</a:t>
            </a:r>
            <a:r>
              <a:rPr lang="en-US" sz="3000">
                <a:solidFill>
                  <a:srgbClr val="131416"/>
                </a:solidFill>
                <a:latin typeface="Open Sans"/>
                <a:ea typeface="Open Sans"/>
                <a:cs typeface="Open Sans"/>
                <a:sym typeface="Open Sans"/>
              </a:rPr>
              <a:t>i</a:t>
            </a:r>
            <a:r>
              <a:rPr lang="en-US" sz="3000">
                <a:solidFill>
                  <a:srgbClr val="131416"/>
                </a:solidFill>
                <a:latin typeface="Open Sans"/>
                <a:ea typeface="Open Sans"/>
                <a:cs typeface="Open Sans"/>
                <a:sym typeface="Open Sans"/>
              </a:rPr>
              <a:t>c</a:t>
            </a:r>
            <a:r>
              <a:rPr lang="en-US" sz="3000">
                <a:solidFill>
                  <a:srgbClr val="131416"/>
                </a:solidFill>
                <a:latin typeface="Open Sans"/>
                <a:ea typeface="Open Sans"/>
                <a:cs typeface="Open Sans"/>
                <a:sym typeface="Open Sans"/>
              </a:rPr>
              <a:t>ab</a:t>
            </a:r>
            <a:r>
              <a:rPr lang="en-US" sz="3000">
                <a:solidFill>
                  <a:srgbClr val="131416"/>
                </a:solidFill>
                <a:latin typeface="Open Sans"/>
                <a:ea typeface="Open Sans"/>
                <a:cs typeface="Open Sans"/>
                <a:sym typeface="Open Sans"/>
              </a:rPr>
              <a:t>l</a:t>
            </a:r>
            <a:r>
              <a:rPr lang="en-US" sz="3000">
                <a:solidFill>
                  <a:srgbClr val="131416"/>
                </a:solidFill>
                <a:latin typeface="Open Sans"/>
                <a:ea typeface="Open Sans"/>
                <a:cs typeface="Open Sans"/>
                <a:sym typeface="Open Sans"/>
              </a:rPr>
              <a:t>e. Gracias al lenguaje podemos comunicarnos con nosotros mismos y con los demás acerca de lo que existe a nuestro alrededor y en nuestro interior. El lenguaje hace comprensible tanto</a:t>
            </a:r>
            <a:r>
              <a:rPr lang="en-US" sz="3000">
                <a:solidFill>
                  <a:srgbClr val="131416"/>
                </a:solidFill>
                <a:latin typeface="Open Sans"/>
                <a:ea typeface="Open Sans"/>
                <a:cs typeface="Open Sans"/>
                <a:sym typeface="Open Sans"/>
              </a:rPr>
              <a:t> al mundo como al sujeto que lo experimenta.</a:t>
            </a:r>
          </a:p>
          <a:p>
            <a:pPr algn="just">
              <a:lnSpc>
                <a:spcPts val="3499"/>
              </a:lnSpc>
            </a:pPr>
          </a:p>
          <a:p>
            <a:pPr algn="just">
              <a:lnSpc>
                <a:spcPts val="3499"/>
              </a:lnSpc>
            </a:pPr>
          </a:p>
          <a:p>
            <a:pPr algn="just">
              <a:lnSpc>
                <a:spcPts val="3499"/>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2832917" y="3779134"/>
            <a:ext cx="10882632" cy="2728731"/>
          </a:xfrm>
          <a:custGeom>
            <a:avLst/>
            <a:gdLst/>
            <a:ahLst/>
            <a:cxnLst/>
            <a:rect r="r" b="b" t="t" l="l"/>
            <a:pathLst>
              <a:path h="2728731" w="10882632">
                <a:moveTo>
                  <a:pt x="0" y="0"/>
                </a:moveTo>
                <a:lnTo>
                  <a:pt x="10882632" y="0"/>
                </a:lnTo>
                <a:lnTo>
                  <a:pt x="10882632" y="2728732"/>
                </a:lnTo>
                <a:lnTo>
                  <a:pt x="0" y="2728732"/>
                </a:lnTo>
                <a:lnTo>
                  <a:pt x="0" y="0"/>
                </a:lnTo>
                <a:close/>
              </a:path>
            </a:pathLst>
          </a:custGeom>
          <a:blipFill>
            <a:blip r:embed="rId2"/>
            <a:stretch>
              <a:fillRect l="0" t="0" r="0" b="0"/>
            </a:stretch>
          </a:blipFill>
        </p:spPr>
      </p:sp>
      <p:sp>
        <p:nvSpPr>
          <p:cNvPr name="TextBox 3" id="3"/>
          <p:cNvSpPr txBox="true"/>
          <p:nvPr/>
        </p:nvSpPr>
        <p:spPr>
          <a:xfrm rot="0">
            <a:off x="1338901" y="1917765"/>
            <a:ext cx="16126564" cy="2901950"/>
          </a:xfrm>
          <a:prstGeom prst="rect">
            <a:avLst/>
          </a:prstGeom>
        </p:spPr>
        <p:txBody>
          <a:bodyPr anchor="t" rtlCol="false" tIns="0" lIns="0" bIns="0" rIns="0">
            <a:spAutoFit/>
          </a:bodyPr>
          <a:lstStyle/>
          <a:p>
            <a:pPr algn="just">
              <a:lnSpc>
                <a:spcPts val="4200"/>
              </a:lnSpc>
            </a:pPr>
            <a:r>
              <a:rPr lang="en-US" sz="3000" b="true">
                <a:solidFill>
                  <a:srgbClr val="004AAD"/>
                </a:solidFill>
                <a:latin typeface="Open Sans Bold"/>
                <a:ea typeface="Open Sans Bold"/>
                <a:cs typeface="Open Sans Bold"/>
                <a:sym typeface="Open Sans Bold"/>
              </a:rPr>
              <a:t>Cultura</a:t>
            </a:r>
          </a:p>
          <a:p>
            <a:pPr algn="just">
              <a:lnSpc>
                <a:spcPts val="4200"/>
              </a:lnSpc>
            </a:pPr>
            <a:r>
              <a:rPr lang="en-US" sz="3000">
                <a:solidFill>
                  <a:srgbClr val="131416"/>
                </a:solidFill>
                <a:latin typeface="Open Sans"/>
                <a:ea typeface="Open Sans"/>
                <a:cs typeface="Open Sans"/>
                <a:sym typeface="Open Sans"/>
              </a:rPr>
              <a:t>La tercera fuente de los model</a:t>
            </a:r>
            <a:r>
              <a:rPr lang="en-US" sz="3000">
                <a:solidFill>
                  <a:srgbClr val="131416"/>
                </a:solidFill>
                <a:latin typeface="Open Sans"/>
                <a:ea typeface="Open Sans"/>
                <a:cs typeface="Open Sans"/>
                <a:sym typeface="Open Sans"/>
              </a:rPr>
              <a:t>os mentale</a:t>
            </a:r>
            <a:r>
              <a:rPr lang="en-US" sz="3000">
                <a:solidFill>
                  <a:srgbClr val="131416"/>
                </a:solidFill>
                <a:latin typeface="Open Sans"/>
                <a:ea typeface="Open Sans"/>
                <a:cs typeface="Open Sans"/>
                <a:sym typeface="Open Sans"/>
              </a:rPr>
              <a:t>s es la cultura. Uno podría</a:t>
            </a:r>
          </a:p>
          <a:p>
            <a:pPr algn="just">
              <a:lnSpc>
                <a:spcPts val="4200"/>
              </a:lnSpc>
            </a:pPr>
            <a:r>
              <a:rPr lang="en-US" sz="3000">
                <a:solidFill>
                  <a:srgbClr val="131416"/>
                </a:solidFill>
                <a:latin typeface="Open Sans"/>
                <a:ea typeface="Open Sans"/>
                <a:cs typeface="Open Sans"/>
                <a:sym typeface="Open Sans"/>
              </a:rPr>
              <a:t>considerar la cultura como un mod</a:t>
            </a:r>
            <a:r>
              <a:rPr lang="en-US" sz="3000">
                <a:solidFill>
                  <a:srgbClr val="131416"/>
                </a:solidFill>
                <a:latin typeface="Open Sans"/>
                <a:ea typeface="Open Sans"/>
                <a:cs typeface="Open Sans"/>
                <a:sym typeface="Open Sans"/>
              </a:rPr>
              <a:t>elo ment</a:t>
            </a:r>
            <a:r>
              <a:rPr lang="en-US" sz="3000">
                <a:solidFill>
                  <a:srgbClr val="131416"/>
                </a:solidFill>
                <a:latin typeface="Open Sans"/>
                <a:ea typeface="Open Sans"/>
                <a:cs typeface="Open Sans"/>
                <a:sym typeface="Open Sans"/>
              </a:rPr>
              <a:t>al colectivo.</a:t>
            </a:r>
          </a:p>
          <a:p>
            <a:pPr algn="just">
              <a:lnSpc>
                <a:spcPts val="3499"/>
              </a:lnSpc>
            </a:pPr>
          </a:p>
          <a:p>
            <a:pPr algn="just">
              <a:lnSpc>
                <a:spcPts val="3499"/>
              </a:lnSpc>
            </a:pPr>
          </a:p>
          <a:p>
            <a:pPr algn="just">
              <a:lnSpc>
                <a:spcPts val="3499"/>
              </a:lnSpc>
            </a:pP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897376" y="2013966"/>
            <a:ext cx="17390624" cy="4939030"/>
          </a:xfrm>
          <a:prstGeom prst="rect">
            <a:avLst/>
          </a:prstGeom>
        </p:spPr>
        <p:txBody>
          <a:bodyPr anchor="t" rtlCol="false" tIns="0" lIns="0" bIns="0" rIns="0">
            <a:spAutoFit/>
          </a:bodyPr>
          <a:lstStyle/>
          <a:p>
            <a:pPr algn="l">
              <a:lnSpc>
                <a:spcPts val="3919"/>
              </a:lnSpc>
            </a:pPr>
            <a:r>
              <a:rPr lang="en-US" sz="2799" b="true">
                <a:solidFill>
                  <a:srgbClr val="004AAD"/>
                </a:solidFill>
                <a:latin typeface="Garet Bold"/>
                <a:ea typeface="Garet Bold"/>
                <a:cs typeface="Garet Bold"/>
                <a:sym typeface="Garet Bold"/>
              </a:rPr>
              <a:t>Historia personal</a:t>
            </a:r>
          </a:p>
          <a:p>
            <a:pPr algn="l">
              <a:lnSpc>
                <a:spcPts val="3919"/>
              </a:lnSpc>
            </a:pPr>
            <a:r>
              <a:rPr lang="en-US" sz="2799">
                <a:solidFill>
                  <a:srgbClr val="131416"/>
                </a:solidFill>
                <a:latin typeface="Garet"/>
                <a:ea typeface="Garet"/>
                <a:cs typeface="Garet"/>
                <a:sym typeface="Garet"/>
              </a:rPr>
              <a:t>La cuarta fuerza que da forma a los modelos mentales es la historia personal: raza, sexo, nacionalidad, origen étnico, influencias familiares, condición social y económica, nivel de edu</a:t>
            </a:r>
            <a:r>
              <a:rPr lang="en-US" sz="2799">
                <a:solidFill>
                  <a:srgbClr val="131416"/>
                </a:solidFill>
                <a:latin typeface="Garet"/>
                <a:ea typeface="Garet"/>
                <a:cs typeface="Garet"/>
                <a:sym typeface="Garet"/>
              </a:rPr>
              <a:t>cación, la forma en que uno fu</a:t>
            </a:r>
            <a:r>
              <a:rPr lang="en-US" sz="2799">
                <a:solidFill>
                  <a:srgbClr val="131416"/>
                </a:solidFill>
                <a:latin typeface="Garet"/>
                <a:ea typeface="Garet"/>
                <a:cs typeface="Garet"/>
                <a:sym typeface="Garet"/>
              </a:rPr>
              <a:t>e tratado por sus padres, hermanos, maestros y compañeros de la infancia, la manera en que uno comenzó a trabajar y se volvió autosuficiente, etc. Todas estas experiencias informan al modelo mental que uno utiliza</a:t>
            </a:r>
            <a:r>
              <a:rPr lang="en-US" sz="2799">
                <a:solidFill>
                  <a:srgbClr val="131416"/>
                </a:solidFill>
                <a:latin typeface="Garet"/>
                <a:ea typeface="Garet"/>
                <a:cs typeface="Garet"/>
                <a:sym typeface="Garet"/>
              </a:rPr>
              <a:t> para navegar por el mundo. De igual manera que las experiencias de aprendizaje colectivas se</a:t>
            </a:r>
          </a:p>
          <a:p>
            <a:pPr algn="l">
              <a:lnSpc>
                <a:spcPts val="3919"/>
              </a:lnSpc>
            </a:pPr>
            <a:r>
              <a:rPr lang="en-US" sz="2799">
                <a:solidFill>
                  <a:srgbClr val="131416"/>
                </a:solidFill>
                <a:latin typeface="Garet"/>
                <a:ea typeface="Garet"/>
                <a:cs typeface="Garet"/>
                <a:sym typeface="Garet"/>
              </a:rPr>
              <a:t>convierten en la cultura, las experiencias de aprendizaje personales se alojan en los estratos más básicos de la conciencia y crean predisposiciones automáticas a interpretar y actuar.</a:t>
            </a:r>
          </a:p>
          <a:p>
            <a:pPr algn="l">
              <a:lnSpc>
                <a:spcPts val="3919"/>
              </a:lnSpc>
            </a:pP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897376" y="2013966"/>
            <a:ext cx="17390624" cy="4939030"/>
          </a:xfrm>
          <a:prstGeom prst="rect">
            <a:avLst/>
          </a:prstGeom>
        </p:spPr>
        <p:txBody>
          <a:bodyPr anchor="t" rtlCol="false" tIns="0" lIns="0" bIns="0" rIns="0">
            <a:spAutoFit/>
          </a:bodyPr>
          <a:lstStyle/>
          <a:p>
            <a:pPr algn="l">
              <a:lnSpc>
                <a:spcPts val="3919"/>
              </a:lnSpc>
            </a:pPr>
            <a:r>
              <a:rPr lang="en-US" sz="2799" b="true">
                <a:solidFill>
                  <a:srgbClr val="004AAD"/>
                </a:solidFill>
                <a:latin typeface="Garet Bold"/>
                <a:ea typeface="Garet Bold"/>
                <a:cs typeface="Garet Bold"/>
                <a:sym typeface="Garet Bold"/>
              </a:rPr>
              <a:t>Historias de paradigmas</a:t>
            </a:r>
          </a:p>
          <a:p>
            <a:pPr algn="l">
              <a:lnSpc>
                <a:spcPts val="3919"/>
              </a:lnSpc>
            </a:pPr>
            <a:r>
              <a:rPr lang="en-US" sz="2799">
                <a:solidFill>
                  <a:srgbClr val="000000"/>
                </a:solidFill>
                <a:latin typeface="Garet"/>
                <a:ea typeface="Garet"/>
                <a:cs typeface="Garet"/>
                <a:sym typeface="Garet"/>
              </a:rPr>
              <a:t>Cuando la gente pensaba que la tierra era plana o cuadrada. Luego se descubrió que era</a:t>
            </a:r>
          </a:p>
          <a:p>
            <a:pPr algn="l">
              <a:lnSpc>
                <a:spcPts val="3919"/>
              </a:lnSpc>
            </a:pPr>
            <a:r>
              <a:rPr lang="en-US" sz="2799">
                <a:solidFill>
                  <a:srgbClr val="000000"/>
                </a:solidFill>
                <a:latin typeface="Garet"/>
                <a:ea typeface="Garet"/>
                <a:cs typeface="Garet"/>
                <a:sym typeface="Garet"/>
              </a:rPr>
              <a:t>redonda. Ahora sabemos que es como una piedra amorf</a:t>
            </a:r>
            <a:r>
              <a:rPr lang="en-US" sz="2799">
                <a:solidFill>
                  <a:srgbClr val="000000"/>
                </a:solidFill>
                <a:latin typeface="Garet"/>
                <a:ea typeface="Garet"/>
                <a:cs typeface="Garet"/>
                <a:sym typeface="Garet"/>
              </a:rPr>
              <a:t>a, achatada, pero nada que ver con</a:t>
            </a:r>
          </a:p>
          <a:p>
            <a:pPr algn="l">
              <a:lnSpc>
                <a:spcPts val="3919"/>
              </a:lnSpc>
            </a:pPr>
            <a:r>
              <a:rPr lang="en-US" sz="2799">
                <a:solidFill>
                  <a:srgbClr val="000000"/>
                </a:solidFill>
                <a:latin typeface="Garet"/>
                <a:ea typeface="Garet"/>
                <a:cs typeface="Garet"/>
                <a:sym typeface="Garet"/>
              </a:rPr>
              <a:t>una esf</a:t>
            </a:r>
            <a:r>
              <a:rPr lang="en-US" sz="2799">
                <a:solidFill>
                  <a:srgbClr val="000000"/>
                </a:solidFill>
                <a:latin typeface="Garet"/>
                <a:ea typeface="Garet"/>
                <a:cs typeface="Garet"/>
                <a:sym typeface="Garet"/>
              </a:rPr>
              <a:t>era.</a:t>
            </a:r>
          </a:p>
          <a:p>
            <a:pPr algn="l">
              <a:lnSpc>
                <a:spcPts val="3919"/>
              </a:lnSpc>
            </a:pPr>
            <a:r>
              <a:rPr lang="en-US" sz="2799">
                <a:solidFill>
                  <a:srgbClr val="000000"/>
                </a:solidFill>
                <a:latin typeface="Garet"/>
                <a:ea typeface="Garet"/>
                <a:cs typeface="Garet"/>
                <a:sym typeface="Garet"/>
              </a:rPr>
              <a:t>Cuando la gente pensaba que la tierra era el centro del universo. Ahora sabemos que ni</a:t>
            </a:r>
          </a:p>
          <a:p>
            <a:pPr algn="l">
              <a:lnSpc>
                <a:spcPts val="3919"/>
              </a:lnSpc>
            </a:pPr>
            <a:r>
              <a:rPr lang="en-US" sz="2799">
                <a:solidFill>
                  <a:srgbClr val="000000"/>
                </a:solidFill>
                <a:latin typeface="Garet"/>
                <a:ea typeface="Garet"/>
                <a:cs typeface="Garet"/>
                <a:sym typeface="Garet"/>
              </a:rPr>
              <a:t>siquiera es el centro del sistema solar. El sentido común decía que el sol giraba</a:t>
            </a:r>
            <a:r>
              <a:rPr lang="en-US" sz="2799">
                <a:solidFill>
                  <a:srgbClr val="000000"/>
                </a:solidFill>
                <a:latin typeface="Garet"/>
                <a:ea typeface="Garet"/>
                <a:cs typeface="Garet"/>
                <a:sym typeface="Garet"/>
              </a:rPr>
              <a:t> alrededor de</a:t>
            </a:r>
          </a:p>
          <a:p>
            <a:pPr algn="l">
              <a:lnSpc>
                <a:spcPts val="3919"/>
              </a:lnSpc>
            </a:pPr>
            <a:r>
              <a:rPr lang="en-US" sz="2799">
                <a:solidFill>
                  <a:srgbClr val="000000"/>
                </a:solidFill>
                <a:latin typeface="Garet"/>
                <a:ea typeface="Garet"/>
                <a:cs typeface="Garet"/>
                <a:sym typeface="Garet"/>
              </a:rPr>
              <a:t>la tierra, porque así se percibe -en el paradigma del que está ubicado sobre la faz de la</a:t>
            </a:r>
          </a:p>
          <a:p>
            <a:pPr algn="l">
              <a:lnSpc>
                <a:spcPts val="3919"/>
              </a:lnSpc>
            </a:pPr>
            <a:r>
              <a:rPr lang="en-US" sz="2799">
                <a:solidFill>
                  <a:srgbClr val="000000"/>
                </a:solidFill>
                <a:latin typeface="Garet"/>
                <a:ea typeface="Garet"/>
                <a:cs typeface="Garet"/>
                <a:sym typeface="Garet"/>
              </a:rPr>
              <a:t>Tierra, pero en realidad sabemos que es al revés, que la tierra gira alrededor del Sol. Lutero</a:t>
            </a:r>
          </a:p>
          <a:p>
            <a:pPr algn="l">
              <a:lnSpc>
                <a:spcPts val="3919"/>
              </a:lnSpc>
            </a:pPr>
            <a:r>
              <a:rPr lang="en-US" sz="2799">
                <a:solidFill>
                  <a:srgbClr val="000000"/>
                </a:solidFill>
                <a:latin typeface="Garet"/>
                <a:ea typeface="Garet"/>
                <a:cs typeface="Garet"/>
                <a:sym typeface="Garet"/>
              </a:rPr>
              <a:t>calificó a Copérnico de “loco que quiere poner la astronomía de cabeza” por poner a la Tierra</a:t>
            </a:r>
          </a:p>
          <a:p>
            <a:pPr algn="l">
              <a:lnSpc>
                <a:spcPts val="3919"/>
              </a:lnSpc>
            </a:pPr>
            <a:r>
              <a:rPr lang="en-US" sz="2799">
                <a:solidFill>
                  <a:srgbClr val="000000"/>
                </a:solidFill>
                <a:latin typeface="Garet"/>
                <a:ea typeface="Garet"/>
                <a:cs typeface="Garet"/>
                <a:sym typeface="Garet"/>
              </a:rPr>
              <a:t>a girar alrededor del Sol.</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758153" y="2233676"/>
            <a:ext cx="17390624" cy="3453130"/>
          </a:xfrm>
          <a:prstGeom prst="rect">
            <a:avLst/>
          </a:prstGeom>
        </p:spPr>
        <p:txBody>
          <a:bodyPr anchor="t" rtlCol="false" tIns="0" lIns="0" bIns="0" rIns="0">
            <a:spAutoFit/>
          </a:bodyPr>
          <a:lstStyle/>
          <a:p>
            <a:pPr algn="l">
              <a:lnSpc>
                <a:spcPts val="3919"/>
              </a:lnSpc>
            </a:pPr>
            <a:r>
              <a:rPr lang="en-US" sz="2799" b="true">
                <a:solidFill>
                  <a:srgbClr val="000000"/>
                </a:solidFill>
                <a:latin typeface="Garet Bold"/>
                <a:ea typeface="Garet Bold"/>
                <a:cs typeface="Garet Bold"/>
                <a:sym typeface="Garet Bold"/>
              </a:rPr>
              <a:t>Efecto Paradigma</a:t>
            </a:r>
          </a:p>
          <a:p>
            <a:pPr algn="l">
              <a:lnSpc>
                <a:spcPts val="3919"/>
              </a:lnSpc>
            </a:pPr>
            <a:r>
              <a:rPr lang="en-US" sz="2799">
                <a:solidFill>
                  <a:srgbClr val="000000"/>
                </a:solidFill>
                <a:latin typeface="Garet"/>
                <a:ea typeface="Garet"/>
                <a:cs typeface="Garet"/>
                <a:sym typeface="Garet"/>
              </a:rPr>
              <a:t>El efecto paradigma manifiesta que la realidad que percibimos está determinada por</a:t>
            </a:r>
          </a:p>
          <a:p>
            <a:pPr algn="l">
              <a:lnSpc>
                <a:spcPts val="3919"/>
              </a:lnSpc>
            </a:pPr>
            <a:r>
              <a:rPr lang="en-US" sz="2799">
                <a:solidFill>
                  <a:srgbClr val="000000"/>
                </a:solidFill>
                <a:latin typeface="Garet"/>
                <a:ea typeface="Garet"/>
                <a:cs typeface="Garet"/>
                <a:sym typeface="Garet"/>
              </a:rPr>
              <a:t>nuestros paradigm</a:t>
            </a:r>
            <a:r>
              <a:rPr lang="en-US" sz="2799">
                <a:solidFill>
                  <a:srgbClr val="000000"/>
                </a:solidFill>
                <a:latin typeface="Garet"/>
                <a:ea typeface="Garet"/>
                <a:cs typeface="Garet"/>
                <a:sym typeface="Garet"/>
              </a:rPr>
              <a:t>as. Esto se puede ver manif</a:t>
            </a:r>
            <a:r>
              <a:rPr lang="en-US" sz="2799">
                <a:solidFill>
                  <a:srgbClr val="000000"/>
                </a:solidFill>
                <a:latin typeface="Garet"/>
                <a:ea typeface="Garet"/>
                <a:cs typeface="Garet"/>
                <a:sym typeface="Garet"/>
              </a:rPr>
              <a:t>estado en la forma en que las personas pueden</a:t>
            </a:r>
          </a:p>
          <a:p>
            <a:pPr algn="l">
              <a:lnSpc>
                <a:spcPts val="3919"/>
              </a:lnSpc>
            </a:pPr>
            <a:r>
              <a:rPr lang="en-US" sz="2799">
                <a:solidFill>
                  <a:srgbClr val="000000"/>
                </a:solidFill>
                <a:latin typeface="Garet"/>
                <a:ea typeface="Garet"/>
                <a:cs typeface="Garet"/>
                <a:sym typeface="Garet"/>
              </a:rPr>
              <a:t>ver las cosas, lo que a una persona le parece obvio, puede ser casi imperceptib</a:t>
            </a:r>
            <a:r>
              <a:rPr lang="en-US" sz="2799">
                <a:solidFill>
                  <a:srgbClr val="000000"/>
                </a:solidFill>
                <a:latin typeface="Garet"/>
                <a:ea typeface="Garet"/>
                <a:cs typeface="Garet"/>
                <a:sym typeface="Garet"/>
              </a:rPr>
              <a:t>le para otra ya</a:t>
            </a:r>
          </a:p>
          <a:p>
            <a:pPr algn="l">
              <a:lnSpc>
                <a:spcPts val="3919"/>
              </a:lnSpc>
            </a:pPr>
            <a:r>
              <a:rPr lang="en-US" sz="2799">
                <a:solidFill>
                  <a:srgbClr val="000000"/>
                </a:solidFill>
                <a:latin typeface="Garet"/>
                <a:ea typeface="Garet"/>
                <a:cs typeface="Garet"/>
                <a:sym typeface="Garet"/>
              </a:rPr>
              <a:t>que ambos tienen un paradigma diferente. Este efecto paradigma puede observarse en</a:t>
            </a:r>
          </a:p>
          <a:p>
            <a:pPr algn="l">
              <a:lnSpc>
                <a:spcPts val="3919"/>
              </a:lnSpc>
            </a:pPr>
            <a:r>
              <a:rPr lang="en-US" sz="2799">
                <a:solidFill>
                  <a:srgbClr val="000000"/>
                </a:solidFill>
                <a:latin typeface="Garet"/>
                <a:ea typeface="Garet"/>
                <a:cs typeface="Garet"/>
                <a:sym typeface="Garet"/>
              </a:rPr>
              <a:t>diferentes campos como la lingüística, la antropología, la psicología cognitiva, al igual que en</a:t>
            </a:r>
          </a:p>
          <a:p>
            <a:pPr algn="l">
              <a:lnSpc>
                <a:spcPts val="3919"/>
              </a:lnSpc>
            </a:pPr>
            <a:r>
              <a:rPr lang="en-US" sz="2799">
                <a:solidFill>
                  <a:srgbClr val="000000"/>
                </a:solidFill>
                <a:latin typeface="Garet"/>
                <a:ea typeface="Garet"/>
                <a:cs typeface="Garet"/>
                <a:sym typeface="Garet"/>
              </a:rPr>
              <a:t>muchas áreas de negocios y la educación.</a:t>
            </a:r>
          </a:p>
        </p:txBody>
      </p:sp>
      <p:sp>
        <p:nvSpPr>
          <p:cNvPr name="TextBox 3" id="3"/>
          <p:cNvSpPr txBox="true"/>
          <p:nvPr/>
        </p:nvSpPr>
        <p:spPr>
          <a:xfrm rot="0">
            <a:off x="0" y="595249"/>
            <a:ext cx="18148777" cy="1695577"/>
          </a:xfrm>
          <a:prstGeom prst="rect">
            <a:avLst/>
          </a:prstGeom>
        </p:spPr>
        <p:txBody>
          <a:bodyPr anchor="t" rtlCol="false" tIns="0" lIns="0" bIns="0" rIns="0">
            <a:spAutoFit/>
          </a:bodyPr>
          <a:lstStyle/>
          <a:p>
            <a:pPr algn="l">
              <a:lnSpc>
                <a:spcPts val="6343"/>
              </a:lnSpc>
              <a:spcBef>
                <a:spcPct val="0"/>
              </a:spcBef>
            </a:pPr>
            <a:r>
              <a:rPr lang="en-US" sz="6099">
                <a:solidFill>
                  <a:srgbClr val="004AAD"/>
                </a:solidFill>
                <a:latin typeface="Horizon"/>
                <a:ea typeface="Horizon"/>
                <a:cs typeface="Horizon"/>
                <a:sym typeface="Horizon"/>
              </a:rPr>
              <a:t>CONS</a:t>
            </a:r>
            <a:r>
              <a:rPr lang="en-US" b="true" sz="6099">
                <a:solidFill>
                  <a:srgbClr val="004AAD"/>
                </a:solidFill>
                <a:latin typeface="Horizon"/>
                <a:ea typeface="Horizon"/>
                <a:cs typeface="Horizon"/>
                <a:sym typeface="Horizon"/>
              </a:rPr>
              <a:t>ECUENCIAS DEL USO DE PARADIGMAS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3716763" y="4197597"/>
            <a:ext cx="10854475" cy="3585562"/>
          </a:xfrm>
          <a:custGeom>
            <a:avLst/>
            <a:gdLst/>
            <a:ahLst/>
            <a:cxnLst/>
            <a:rect r="r" b="b" t="t" l="l"/>
            <a:pathLst>
              <a:path h="3585562" w="10854475">
                <a:moveTo>
                  <a:pt x="0" y="0"/>
                </a:moveTo>
                <a:lnTo>
                  <a:pt x="10854474" y="0"/>
                </a:lnTo>
                <a:lnTo>
                  <a:pt x="10854474" y="3585563"/>
                </a:lnTo>
                <a:lnTo>
                  <a:pt x="0" y="3585563"/>
                </a:lnTo>
                <a:lnTo>
                  <a:pt x="0" y="0"/>
                </a:lnTo>
                <a:close/>
              </a:path>
            </a:pathLst>
          </a:custGeom>
          <a:blipFill>
            <a:blip r:embed="rId2"/>
            <a:stretch>
              <a:fillRect l="0" t="0" r="0" b="0"/>
            </a:stretch>
          </a:blipFill>
        </p:spPr>
      </p:sp>
      <p:sp>
        <p:nvSpPr>
          <p:cNvPr name="TextBox 3" id="3"/>
          <p:cNvSpPr txBox="true"/>
          <p:nvPr/>
        </p:nvSpPr>
        <p:spPr>
          <a:xfrm rot="0">
            <a:off x="735264" y="971550"/>
            <a:ext cx="17390624" cy="1967230"/>
          </a:xfrm>
          <a:prstGeom prst="rect">
            <a:avLst/>
          </a:prstGeom>
        </p:spPr>
        <p:txBody>
          <a:bodyPr anchor="t" rtlCol="false" tIns="0" lIns="0" bIns="0" rIns="0">
            <a:spAutoFit/>
          </a:bodyPr>
          <a:lstStyle/>
          <a:p>
            <a:pPr algn="l">
              <a:lnSpc>
                <a:spcPts val="3919"/>
              </a:lnSpc>
            </a:pPr>
            <a:r>
              <a:rPr lang="en-US" sz="2799" b="true">
                <a:solidFill>
                  <a:srgbClr val="000000"/>
                </a:solidFill>
                <a:latin typeface="Garet Bold"/>
                <a:ea typeface="Garet Bold"/>
                <a:cs typeface="Garet Bold"/>
                <a:sym typeface="Garet Bold"/>
              </a:rPr>
              <a:t>El retorno a cero</a:t>
            </a:r>
          </a:p>
          <a:p>
            <a:pPr algn="l">
              <a:lnSpc>
                <a:spcPts val="3919"/>
              </a:lnSpc>
            </a:pPr>
          </a:p>
          <a:p>
            <a:pPr algn="l">
              <a:lnSpc>
                <a:spcPts val="3919"/>
              </a:lnSpc>
            </a:pPr>
            <a:r>
              <a:rPr lang="en-US" sz="2799">
                <a:solidFill>
                  <a:srgbClr val="000000"/>
                </a:solidFill>
                <a:latin typeface="Garet"/>
                <a:ea typeface="Garet"/>
                <a:cs typeface="Garet"/>
                <a:sym typeface="Garet"/>
              </a:rPr>
              <a:t>Cuando cambia un paradigm</a:t>
            </a:r>
            <a:r>
              <a:rPr lang="en-US" sz="2799">
                <a:solidFill>
                  <a:srgbClr val="000000"/>
                </a:solidFill>
                <a:latin typeface="Garet"/>
                <a:ea typeface="Garet"/>
                <a:cs typeface="Garet"/>
                <a:sym typeface="Garet"/>
              </a:rPr>
              <a:t>a todos r</a:t>
            </a:r>
            <a:r>
              <a:rPr lang="en-US" sz="2799">
                <a:solidFill>
                  <a:srgbClr val="000000"/>
                </a:solidFill>
                <a:latin typeface="Garet"/>
                <a:ea typeface="Garet"/>
                <a:cs typeface="Garet"/>
                <a:sym typeface="Garet"/>
              </a:rPr>
              <a:t>etornamos a cero. Es decir, se pi</a:t>
            </a:r>
            <a:r>
              <a:rPr lang="en-US" sz="2799">
                <a:solidFill>
                  <a:srgbClr val="000000"/>
                </a:solidFill>
                <a:latin typeface="Garet"/>
                <a:ea typeface="Garet"/>
                <a:cs typeface="Garet"/>
                <a:sym typeface="Garet"/>
              </a:rPr>
              <a:t>erden las ventajas previas. Surge una nueva correlación de ganadores y perdedores.</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735264" y="971550"/>
            <a:ext cx="17390624" cy="5929630"/>
          </a:xfrm>
          <a:prstGeom prst="rect">
            <a:avLst/>
          </a:prstGeom>
        </p:spPr>
        <p:txBody>
          <a:bodyPr anchor="t" rtlCol="false" tIns="0" lIns="0" bIns="0" rIns="0">
            <a:spAutoFit/>
          </a:bodyPr>
          <a:lstStyle/>
          <a:p>
            <a:pPr algn="l">
              <a:lnSpc>
                <a:spcPts val="3919"/>
              </a:lnSpc>
            </a:pPr>
            <a:r>
              <a:rPr lang="en-US" sz="2799" b="true">
                <a:solidFill>
                  <a:srgbClr val="000000"/>
                </a:solidFill>
                <a:latin typeface="Garet Bold"/>
                <a:ea typeface="Garet Bold"/>
                <a:cs typeface="Garet Bold"/>
                <a:sym typeface="Garet Bold"/>
              </a:rPr>
              <a:t>¿Por qué cambiar paradigm</a:t>
            </a:r>
            <a:r>
              <a:rPr lang="en-US" sz="2799" b="true">
                <a:solidFill>
                  <a:srgbClr val="000000"/>
                </a:solidFill>
                <a:latin typeface="Garet Bold"/>
                <a:ea typeface="Garet Bold"/>
                <a:cs typeface="Garet Bold"/>
                <a:sym typeface="Garet Bold"/>
              </a:rPr>
              <a:t>as?</a:t>
            </a:r>
          </a:p>
          <a:p>
            <a:pPr algn="l">
              <a:lnSpc>
                <a:spcPts val="3919"/>
              </a:lnSpc>
            </a:pPr>
          </a:p>
          <a:p>
            <a:pPr algn="l">
              <a:lnSpc>
                <a:spcPts val="3919"/>
              </a:lnSpc>
            </a:pPr>
            <a:r>
              <a:rPr lang="en-US" sz="2799">
                <a:solidFill>
                  <a:srgbClr val="000000"/>
                </a:solidFill>
                <a:latin typeface="Garet"/>
                <a:ea typeface="Garet"/>
                <a:cs typeface="Garet"/>
                <a:sym typeface="Garet"/>
              </a:rPr>
              <a:t>La teoría de la evolución advierte qu</a:t>
            </a:r>
            <a:r>
              <a:rPr lang="en-US" sz="2799">
                <a:solidFill>
                  <a:srgbClr val="000000"/>
                </a:solidFill>
                <a:latin typeface="Garet"/>
                <a:ea typeface="Garet"/>
                <a:cs typeface="Garet"/>
                <a:sym typeface="Garet"/>
              </a:rPr>
              <a:t>e “el mundo es del más apto”, pero cuando las condiciones cambian “el mundo es del que mejor se adapta”.</a:t>
            </a:r>
          </a:p>
          <a:p>
            <a:pPr algn="l">
              <a:lnSpc>
                <a:spcPts val="3919"/>
              </a:lnSpc>
            </a:pPr>
            <a:r>
              <a:rPr lang="en-US" sz="2799">
                <a:solidFill>
                  <a:srgbClr val="000000"/>
                </a:solidFill>
                <a:latin typeface="Garet"/>
                <a:ea typeface="Garet"/>
                <a:cs typeface="Garet"/>
                <a:sym typeface="Garet"/>
              </a:rPr>
              <a:t>Muchas v</a:t>
            </a:r>
            <a:r>
              <a:rPr lang="en-US" sz="2799">
                <a:solidFill>
                  <a:srgbClr val="000000"/>
                </a:solidFill>
                <a:latin typeface="Garet"/>
                <a:ea typeface="Garet"/>
                <a:cs typeface="Garet"/>
                <a:sym typeface="Garet"/>
              </a:rPr>
              <a:t>eces el más apto en un sistema no es el más adaptable si el sistema cambia. Por ejemplo, el tiburón es el más apto en el mar, pero no es adaptable a un medio no acuático. En cambio, la tortuga no es muy apta en el mar ni en tierra, pero sí es adaptable a un cambio de sistema.</a:t>
            </a:r>
          </a:p>
          <a:p>
            <a:pPr algn="l">
              <a:lnSpc>
                <a:spcPts val="3919"/>
              </a:lnSpc>
            </a:pPr>
          </a:p>
          <a:p>
            <a:pPr algn="l">
              <a:lnSpc>
                <a:spcPts val="3919"/>
              </a:lnSpc>
            </a:pPr>
            <a:r>
              <a:rPr lang="en-US" b="true" sz="2799">
                <a:solidFill>
                  <a:srgbClr val="000000"/>
                </a:solidFill>
                <a:latin typeface="Garet Bold"/>
                <a:ea typeface="Garet Bold"/>
                <a:cs typeface="Garet Bold"/>
                <a:sym typeface="Garet Bold"/>
              </a:rPr>
              <a:t>¿Por qué cambian los paradigmas?</a:t>
            </a:r>
          </a:p>
          <a:p>
            <a:pPr algn="l">
              <a:lnSpc>
                <a:spcPts val="3919"/>
              </a:lnSpc>
            </a:pPr>
            <a:r>
              <a:rPr lang="en-US" sz="2799">
                <a:solidFill>
                  <a:srgbClr val="000000"/>
                </a:solidFill>
                <a:latin typeface="Garet"/>
                <a:ea typeface="Garet"/>
                <a:cs typeface="Garet"/>
                <a:sym typeface="Garet"/>
              </a:rPr>
              <a:t>“Un cambio de paradigma comienza a gestarse cuando se acumulan un exceso de cuestiones que salen del marco ordinario y el paradigma actual no puede explicar.</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735264" y="971550"/>
            <a:ext cx="17390624" cy="3948430"/>
          </a:xfrm>
          <a:prstGeom prst="rect">
            <a:avLst/>
          </a:prstGeom>
        </p:spPr>
        <p:txBody>
          <a:bodyPr anchor="t" rtlCol="false" tIns="0" lIns="0" bIns="0" rIns="0">
            <a:spAutoFit/>
          </a:bodyPr>
          <a:lstStyle/>
          <a:p>
            <a:pPr algn="l">
              <a:lnSpc>
                <a:spcPts val="3919"/>
              </a:lnSpc>
            </a:pPr>
            <a:r>
              <a:rPr lang="en-US" sz="2799" b="true">
                <a:solidFill>
                  <a:srgbClr val="000000"/>
                </a:solidFill>
                <a:latin typeface="Garet Bold"/>
                <a:ea typeface="Garet Bold"/>
                <a:cs typeface="Garet Bold"/>
                <a:sym typeface="Garet Bold"/>
              </a:rPr>
              <a:t>Parálisis paradigmátic</a:t>
            </a:r>
            <a:r>
              <a:rPr lang="en-US" sz="2799" b="true">
                <a:solidFill>
                  <a:srgbClr val="000000"/>
                </a:solidFill>
                <a:latin typeface="Garet Bold"/>
                <a:ea typeface="Garet Bold"/>
                <a:cs typeface="Garet Bold"/>
                <a:sym typeface="Garet Bold"/>
              </a:rPr>
              <a:t>a</a:t>
            </a:r>
          </a:p>
          <a:p>
            <a:pPr algn="l">
              <a:lnSpc>
                <a:spcPts val="3919"/>
              </a:lnSpc>
            </a:pPr>
          </a:p>
          <a:p>
            <a:pPr algn="l">
              <a:lnSpc>
                <a:spcPts val="3919"/>
              </a:lnSpc>
            </a:pPr>
            <a:r>
              <a:rPr lang="en-US" sz="2799">
                <a:solidFill>
                  <a:srgbClr val="000000"/>
                </a:solidFill>
                <a:latin typeface="Garet"/>
                <a:ea typeface="Garet"/>
                <a:cs typeface="Garet"/>
                <a:sym typeface="Garet"/>
              </a:rPr>
              <a:t>El</a:t>
            </a:r>
            <a:r>
              <a:rPr lang="en-US" sz="2799">
                <a:solidFill>
                  <a:srgbClr val="000000"/>
                </a:solidFill>
                <a:latin typeface="Garet"/>
                <a:ea typeface="Garet"/>
                <a:cs typeface="Garet"/>
                <a:sym typeface="Garet"/>
              </a:rPr>
              <a:t> éxito del pasado tiende a hacernos pensar viejas reglas, la</a:t>
            </a:r>
            <a:r>
              <a:rPr lang="en-US" sz="2799">
                <a:solidFill>
                  <a:srgbClr val="000000"/>
                </a:solidFill>
                <a:latin typeface="Garet"/>
                <a:ea typeface="Garet"/>
                <a:cs typeface="Garet"/>
                <a:sym typeface="Garet"/>
              </a:rPr>
              <a:t> vieja manera de pensar va a seguir funcionando en el futuro. “Es necesario reconocer las técnicas y</a:t>
            </a:r>
            <a:r>
              <a:rPr lang="en-US" sz="2799">
                <a:solidFill>
                  <a:srgbClr val="000000"/>
                </a:solidFill>
                <a:latin typeface="Garet"/>
                <a:ea typeface="Garet"/>
                <a:cs typeface="Garet"/>
                <a:sym typeface="Garet"/>
              </a:rPr>
              <a:t> las ideas que nos dieron éxito en el pasado, ya que no son apropiadas para las empresas en el futuro. Si seguimos haciendo las cosas como hasta ahora, estamos condenados a tratar de obtener los mismos resultados, pero bajo condiciones de competencia muy diferentes.</a:t>
            </a:r>
          </a:p>
          <a:p>
            <a:pPr algn="l">
              <a:lnSpc>
                <a:spcPts val="3919"/>
              </a:lnSpc>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Freeform 2" id="2"/>
          <p:cNvSpPr/>
          <p:nvPr/>
        </p:nvSpPr>
        <p:spPr>
          <a:xfrm flipH="false" flipV="false" rot="0">
            <a:off x="3310262" y="5469838"/>
            <a:ext cx="11301259" cy="4817162"/>
          </a:xfrm>
          <a:custGeom>
            <a:avLst/>
            <a:gdLst/>
            <a:ahLst/>
            <a:cxnLst/>
            <a:rect r="r" b="b" t="t" l="l"/>
            <a:pathLst>
              <a:path h="4817162" w="11301259">
                <a:moveTo>
                  <a:pt x="0" y="0"/>
                </a:moveTo>
                <a:lnTo>
                  <a:pt x="11301259" y="0"/>
                </a:lnTo>
                <a:lnTo>
                  <a:pt x="11301259" y="4817162"/>
                </a:lnTo>
                <a:lnTo>
                  <a:pt x="0" y="4817162"/>
                </a:lnTo>
                <a:lnTo>
                  <a:pt x="0" y="0"/>
                </a:lnTo>
                <a:close/>
              </a:path>
            </a:pathLst>
          </a:custGeom>
          <a:blipFill>
            <a:blip r:embed="rId2"/>
            <a:stretch>
              <a:fillRect l="0" t="0" r="0" b="0"/>
            </a:stretch>
          </a:blipFill>
        </p:spPr>
      </p:sp>
      <p:sp>
        <p:nvSpPr>
          <p:cNvPr name="TextBox 3" id="3"/>
          <p:cNvSpPr txBox="true"/>
          <p:nvPr/>
        </p:nvSpPr>
        <p:spPr>
          <a:xfrm rot="0">
            <a:off x="265579" y="2641421"/>
            <a:ext cx="17390624" cy="2957830"/>
          </a:xfrm>
          <a:prstGeom prst="rect">
            <a:avLst/>
          </a:prstGeom>
        </p:spPr>
        <p:txBody>
          <a:bodyPr anchor="t" rtlCol="false" tIns="0" lIns="0" bIns="0" rIns="0">
            <a:spAutoFit/>
          </a:bodyPr>
          <a:lstStyle/>
          <a:p>
            <a:pPr algn="l">
              <a:lnSpc>
                <a:spcPts val="3919"/>
              </a:lnSpc>
            </a:pPr>
            <a:r>
              <a:rPr lang="en-US" sz="2799" b="true">
                <a:solidFill>
                  <a:srgbClr val="000000"/>
                </a:solidFill>
                <a:latin typeface="Garet Bold"/>
                <a:ea typeface="Garet Bold"/>
                <a:cs typeface="Garet Bold"/>
                <a:sym typeface="Garet Bold"/>
              </a:rPr>
              <a:t>Imágenes multiest</a:t>
            </a:r>
            <a:r>
              <a:rPr lang="en-US" sz="2799" b="true">
                <a:solidFill>
                  <a:srgbClr val="000000"/>
                </a:solidFill>
                <a:latin typeface="Garet Bold"/>
                <a:ea typeface="Garet Bold"/>
                <a:cs typeface="Garet Bold"/>
                <a:sym typeface="Garet Bold"/>
              </a:rPr>
              <a:t>ab</a:t>
            </a:r>
            <a:r>
              <a:rPr lang="en-US" sz="2799" b="true">
                <a:solidFill>
                  <a:srgbClr val="000000"/>
                </a:solidFill>
                <a:latin typeface="Garet Bold"/>
                <a:ea typeface="Garet Bold"/>
                <a:cs typeface="Garet Bold"/>
                <a:sym typeface="Garet Bold"/>
              </a:rPr>
              <a:t>l</a:t>
            </a:r>
            <a:r>
              <a:rPr lang="en-US" sz="2799" b="true">
                <a:solidFill>
                  <a:srgbClr val="000000"/>
                </a:solidFill>
                <a:latin typeface="Garet Bold"/>
                <a:ea typeface="Garet Bold"/>
                <a:cs typeface="Garet Bold"/>
                <a:sym typeface="Garet Bold"/>
              </a:rPr>
              <a:t>es</a:t>
            </a:r>
          </a:p>
          <a:p>
            <a:pPr algn="l">
              <a:lnSpc>
                <a:spcPts val="3919"/>
              </a:lnSpc>
            </a:pPr>
            <a:r>
              <a:rPr lang="en-US" sz="2799">
                <a:solidFill>
                  <a:srgbClr val="000000"/>
                </a:solidFill>
                <a:latin typeface="Garet"/>
                <a:ea typeface="Garet"/>
                <a:cs typeface="Garet"/>
                <a:sym typeface="Garet"/>
              </a:rPr>
              <a:t>Las imágenes multiestables se cons</a:t>
            </a:r>
            <a:r>
              <a:rPr lang="en-US" sz="2799">
                <a:solidFill>
                  <a:srgbClr val="000000"/>
                </a:solidFill>
                <a:latin typeface="Garet"/>
                <a:ea typeface="Garet"/>
                <a:cs typeface="Garet"/>
                <a:sym typeface="Garet"/>
              </a:rPr>
              <a:t>ideran para poder ilustrar la coexistencia de lecturas</a:t>
            </a:r>
          </a:p>
          <a:p>
            <a:pPr algn="l">
              <a:lnSpc>
                <a:spcPts val="3919"/>
              </a:lnSpc>
            </a:pPr>
            <a:r>
              <a:rPr lang="en-US" sz="2799">
                <a:solidFill>
                  <a:srgbClr val="000000"/>
                </a:solidFill>
                <a:latin typeface="Garet"/>
                <a:ea typeface="Garet"/>
                <a:cs typeface="Garet"/>
                <a:sym typeface="Garet"/>
              </a:rPr>
              <a:t>contrarias en una sola imagen,</a:t>
            </a:r>
            <a:r>
              <a:rPr lang="en-US" sz="2799">
                <a:solidFill>
                  <a:srgbClr val="000000"/>
                </a:solidFill>
                <a:latin typeface="Garet"/>
                <a:ea typeface="Garet"/>
                <a:cs typeface="Garet"/>
                <a:sym typeface="Garet"/>
              </a:rPr>
              <a:t> a este fenómeno se le llama “multiestabilidad”. El efecto que</a:t>
            </a:r>
          </a:p>
          <a:p>
            <a:pPr algn="l">
              <a:lnSpc>
                <a:spcPts val="3919"/>
              </a:lnSpc>
            </a:pPr>
            <a:r>
              <a:rPr lang="en-US" sz="2799">
                <a:solidFill>
                  <a:srgbClr val="000000"/>
                </a:solidFill>
                <a:latin typeface="Garet"/>
                <a:ea typeface="Garet"/>
                <a:cs typeface="Garet"/>
                <a:sym typeface="Garet"/>
              </a:rPr>
              <a:t>provoca este tipo de imágenes se utiliza para poder ejemplificar el funcionamiento de un</a:t>
            </a:r>
          </a:p>
          <a:p>
            <a:pPr algn="l">
              <a:lnSpc>
                <a:spcPts val="3919"/>
              </a:lnSpc>
            </a:pPr>
            <a:r>
              <a:rPr lang="en-US" sz="2799">
                <a:solidFill>
                  <a:srgbClr val="000000"/>
                </a:solidFill>
                <a:latin typeface="Garet"/>
                <a:ea typeface="Garet"/>
                <a:cs typeface="Garet"/>
                <a:sym typeface="Garet"/>
              </a:rPr>
              <a:t>paradigma dando dos perspectivas diferentes de un objeto. A continuación, unos ejemplos.</a:t>
            </a:r>
          </a:p>
          <a:p>
            <a:pPr algn="l">
              <a:lnSpc>
                <a:spcPts val="3919"/>
              </a:lnSpc>
            </a:pPr>
          </a:p>
        </p:txBody>
      </p:sp>
      <p:sp>
        <p:nvSpPr>
          <p:cNvPr name="TextBox 4" id="4"/>
          <p:cNvSpPr txBox="true"/>
          <p:nvPr/>
        </p:nvSpPr>
        <p:spPr>
          <a:xfrm rot="0">
            <a:off x="208826" y="223976"/>
            <a:ext cx="18237503" cy="2474595"/>
          </a:xfrm>
          <a:prstGeom prst="rect">
            <a:avLst/>
          </a:prstGeom>
        </p:spPr>
        <p:txBody>
          <a:bodyPr anchor="t" rtlCol="false" tIns="0" lIns="0" bIns="0" rIns="0">
            <a:spAutoFit/>
          </a:bodyPr>
          <a:lstStyle/>
          <a:p>
            <a:pPr algn="l">
              <a:lnSpc>
                <a:spcPts val="6240"/>
              </a:lnSpc>
              <a:spcBef>
                <a:spcPct val="0"/>
              </a:spcBef>
            </a:pPr>
            <a:r>
              <a:rPr lang="en-US" sz="6000">
                <a:solidFill>
                  <a:srgbClr val="004AAD"/>
                </a:solidFill>
                <a:latin typeface="Horizon"/>
                <a:ea typeface="Horizon"/>
                <a:cs typeface="Horizon"/>
                <a:sym typeface="Horizon"/>
              </a:rPr>
              <a:t>MODELOS PARA  COMPR</a:t>
            </a:r>
            <a:r>
              <a:rPr lang="en-US" b="true" sz="6000">
                <a:solidFill>
                  <a:srgbClr val="004AAD"/>
                </a:solidFill>
                <a:latin typeface="Horizon"/>
                <a:ea typeface="Horizon"/>
                <a:cs typeface="Horizon"/>
                <a:sym typeface="Horizon"/>
              </a:rPr>
              <a:t>ENDER EL COMPORTAMIENTO DE LOS PARADIGMAS</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1207032" y="2442064"/>
            <a:ext cx="16257244" cy="4406224"/>
          </a:xfrm>
          <a:prstGeom prst="rect">
            <a:avLst/>
          </a:prstGeom>
        </p:spPr>
        <p:txBody>
          <a:bodyPr anchor="t" rtlCol="false" tIns="0" lIns="0" bIns="0" rIns="0">
            <a:spAutoFit/>
          </a:bodyPr>
          <a:lstStyle/>
          <a:p>
            <a:pPr algn="just">
              <a:lnSpc>
                <a:spcPts val="4412"/>
              </a:lnSpc>
            </a:pPr>
          </a:p>
          <a:p>
            <a:pPr algn="just" marL="680435" indent="-340217" lvl="1">
              <a:lnSpc>
                <a:spcPts val="4412"/>
              </a:lnSpc>
              <a:buFont typeface="Arial"/>
              <a:buChar char="•"/>
            </a:pPr>
            <a:r>
              <a:rPr lang="en-US" sz="3151">
                <a:solidFill>
                  <a:srgbClr val="131416"/>
                </a:solidFill>
                <a:latin typeface="Garet"/>
                <a:ea typeface="Garet"/>
                <a:cs typeface="Garet"/>
                <a:sym typeface="Garet"/>
              </a:rPr>
              <a:t>Universidad de San Carlos de Guatemala. (s.f.). Unidad 5: Razonamiento y falacias [Material del curso Lógica de Sistemas, Facultad de Ingeniería]. Plataforma UEDI.</a:t>
            </a:r>
          </a:p>
          <a:p>
            <a:pPr algn="just">
              <a:lnSpc>
                <a:spcPts val="4412"/>
              </a:lnSpc>
            </a:pPr>
          </a:p>
          <a:p>
            <a:pPr algn="just" marL="680435" indent="-340217" lvl="1">
              <a:lnSpc>
                <a:spcPts val="4412"/>
              </a:lnSpc>
              <a:buFont typeface="Arial"/>
              <a:buChar char="•"/>
            </a:pPr>
            <a:r>
              <a:rPr lang="en-US" sz="3151">
                <a:solidFill>
                  <a:srgbClr val="131416"/>
                </a:solidFill>
                <a:latin typeface="Garet"/>
                <a:ea typeface="Garet"/>
                <a:cs typeface="Garet"/>
                <a:sym typeface="Garet"/>
              </a:rPr>
              <a:t>Universidad de San Carlos de Guatemala. (s.f.). Unidad 6: Modelos Mentales y paradigmas [Material del curso Lógica de Sistemas, Facultad de Ingeniería]. Plataforma UEDI.</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DAGoMy6Q1zk</dc:identifier>
  <dcterms:modified xsi:type="dcterms:W3CDTF">2011-08-01T06:04:30Z</dcterms:modified>
  <cp:revision>1</cp:revision>
  <dc:title>Semana 11 - Repaso Unidades 5 y 6</dc:title>
</cp:coreProperties>
</file>