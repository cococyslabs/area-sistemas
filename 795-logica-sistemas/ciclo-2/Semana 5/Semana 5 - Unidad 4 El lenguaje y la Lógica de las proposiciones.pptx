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10287000" cx="18288000"/>
  <p:notesSz cx="6858000" cy="9144000"/>
  <p:embeddedFontLst>
    <p:embeddedFont>
      <p:font typeface="Play"/>
      <p:regular r:id="rId61"/>
      <p:bold r:id="rId62"/>
    </p:embeddedFont>
    <p:embeddedFont>
      <p:font typeface="Open Sans"/>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5" roundtripDataSignature="AMtx7mhoh0LsjfLb8ijM69O/4XOtTe8y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lay-bold.fntdata"/><Relationship Id="rId61" Type="http://schemas.openxmlformats.org/officeDocument/2006/relationships/font" Target="fonts/Play-regular.fntdata"/><Relationship Id="rId20" Type="http://schemas.openxmlformats.org/officeDocument/2006/relationships/slide" Target="slides/slide15.xml"/><Relationship Id="rId64" Type="http://schemas.openxmlformats.org/officeDocument/2006/relationships/font" Target="fonts/OpenSans-boldItalic.fntdata"/><Relationship Id="rId63" Type="http://schemas.openxmlformats.org/officeDocument/2006/relationships/font" Target="fonts/OpenSans-bold.fntdata"/><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5"/>
          <p:cNvSpPr/>
          <p:nvPr>
            <p:ph idx="2" type="pic"/>
          </p:nvPr>
        </p:nvSpPr>
        <p:spPr>
          <a:xfrm>
            <a:off x="1792288" y="612775"/>
            <a:ext cx="5486400" cy="4114800"/>
          </a:xfrm>
          <a:prstGeom prst="rect">
            <a:avLst/>
          </a:prstGeom>
          <a:noFill/>
          <a:ln>
            <a:noFill/>
          </a:ln>
        </p:spPr>
      </p:sp>
      <p:sp>
        <p:nvSpPr>
          <p:cNvPr id="64" name="Google Shape;64;p6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945148" y="7834026"/>
            <a:ext cx="5953839"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Lógica de Sistemas</a:t>
            </a:r>
            <a:endParaRPr/>
          </a:p>
        </p:txBody>
      </p:sp>
      <p:sp>
        <p:nvSpPr>
          <p:cNvPr id="86" name="Google Shape;86;p1"/>
          <p:cNvSpPr txBox="1"/>
          <p:nvPr/>
        </p:nvSpPr>
        <p:spPr>
          <a:xfrm>
            <a:off x="0" y="3355266"/>
            <a:ext cx="17749719" cy="27876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131416"/>
                </a:solidFill>
                <a:latin typeface="Open Sans"/>
                <a:ea typeface="Open Sans"/>
                <a:cs typeface="Open Sans"/>
                <a:sym typeface="Open Sans"/>
              </a:rPr>
              <a:t>Unidad 4: El lenguaje y la Lógica de las proposiciones</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332013" y="4561463"/>
            <a:ext cx="9212682" cy="845385"/>
            <a:chOff x="0" y="-76200"/>
            <a:chExt cx="3922304" cy="359923"/>
          </a:xfrm>
        </p:grpSpPr>
        <p:sp>
          <p:nvSpPr>
            <p:cNvPr id="95" name="Google Shape;95;p2"/>
            <p:cNvSpPr/>
            <p:nvPr/>
          </p:nvSpPr>
          <p:spPr>
            <a:xfrm>
              <a:off x="0" y="0"/>
              <a:ext cx="3922304" cy="283723"/>
            </a:xfrm>
            <a:custGeom>
              <a:rect b="b" l="l" r="r" t="t"/>
              <a:pathLst>
                <a:path extrusionOk="0" h="283723" w="3922304">
                  <a:moveTo>
                    <a:pt x="3719104" y="0"/>
                  </a:moveTo>
                  <a:lnTo>
                    <a:pt x="0" y="0"/>
                  </a:lnTo>
                  <a:lnTo>
                    <a:pt x="0" y="283723"/>
                  </a:lnTo>
                  <a:lnTo>
                    <a:pt x="3719104" y="283723"/>
                  </a:lnTo>
                  <a:lnTo>
                    <a:pt x="3922304" y="141862"/>
                  </a:lnTo>
                  <a:lnTo>
                    <a:pt x="3719104" y="0"/>
                  </a:lnTo>
                  <a:close/>
                </a:path>
              </a:pathLst>
            </a:custGeom>
            <a:solidFill>
              <a:srgbClr val="FFFFFF"/>
            </a:solidFill>
            <a:ln>
              <a:noFill/>
            </a:ln>
          </p:spPr>
        </p:sp>
        <p:sp>
          <p:nvSpPr>
            <p:cNvPr id="96" name="Google Shape;96;p2"/>
            <p:cNvSpPr txBox="1"/>
            <p:nvPr/>
          </p:nvSpPr>
          <p:spPr>
            <a:xfrm>
              <a:off x="0" y="-76200"/>
              <a:ext cx="3808004"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El lenguaje y la Lógica de las proposiciones</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54" y="-320617"/>
            <a:ext cx="6140237" cy="3052280"/>
            <a:chOff x="0" y="-95250"/>
            <a:chExt cx="8186982" cy="4069708"/>
          </a:xfrm>
        </p:grpSpPr>
        <p:sp>
          <p:nvSpPr>
            <p:cNvPr id="103" name="Google Shape;103;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11131715" y="97566"/>
            <a:ext cx="8416862" cy="2901857"/>
            <a:chOff x="0" y="-76200"/>
            <a:chExt cx="11222483" cy="3869143"/>
          </a:xfrm>
        </p:grpSpPr>
        <p:sp>
          <p:nvSpPr>
            <p:cNvPr id="106" name="Google Shape;106;p2"/>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07" name="Google Shape;107;p2"/>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1739805" y="3051791"/>
            <a:ext cx="5353646" cy="1447988"/>
            <a:chOff x="0" y="-47625"/>
            <a:chExt cx="1410014" cy="381363"/>
          </a:xfrm>
        </p:grpSpPr>
        <p:sp>
          <p:nvSpPr>
            <p:cNvPr id="109" name="Google Shape;109;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10" name="Google Shape;110;p2"/>
            <p:cNvSpPr txBox="1"/>
            <p:nvPr/>
          </p:nvSpPr>
          <p:spPr>
            <a:xfrm>
              <a:off x="0" y="-47625"/>
              <a:ext cx="1295714" cy="381363"/>
            </a:xfrm>
            <a:prstGeom prst="rect">
              <a:avLst/>
            </a:prstGeom>
            <a:noFill/>
            <a:ln>
              <a:noFill/>
            </a:ln>
          </p:spPr>
          <p:txBody>
            <a:bodyPr anchorCtr="0" anchor="ctr" bIns="50800" lIns="50800" spcFirstLastPara="1" rIns="50800" wrap="square" tIns="50800">
              <a:noAutofit/>
            </a:bodyPr>
            <a:lstStyle/>
            <a:p>
              <a:pPr indent="0" lvl="0" marL="0" marR="0" rtl="0" algn="ctr">
                <a:lnSpc>
                  <a:spcPct val="148000"/>
                </a:lnSpc>
                <a:spcBef>
                  <a:spcPts val="0"/>
                </a:spcBef>
                <a:spcAft>
                  <a:spcPts val="0"/>
                </a:spcAft>
                <a:buNone/>
              </a:pPr>
              <a:r>
                <a:rPr b="0" i="0" lang="en-US" sz="2000" u="none" cap="none" strike="noStrike">
                  <a:solidFill>
                    <a:srgbClr val="000000"/>
                  </a:solidFill>
                  <a:latin typeface="Arial"/>
                  <a:ea typeface="Arial"/>
                  <a:cs typeface="Arial"/>
                  <a:sym typeface="Arial"/>
                </a:rPr>
                <a:t>Link del Video:</a:t>
              </a:r>
              <a:endParaRPr/>
            </a:p>
            <a:p>
              <a:pPr indent="0" lvl="0" marL="0" marR="0" rtl="0" algn="ctr">
                <a:lnSpc>
                  <a:spcPct val="148000"/>
                </a:lnSpc>
                <a:spcBef>
                  <a:spcPts val="0"/>
                </a:spcBef>
                <a:spcAft>
                  <a:spcPts val="0"/>
                </a:spcAft>
                <a:buNone/>
              </a:pPr>
              <a:r>
                <a:rPr b="0" i="0" lang="en-US" sz="2000" u="none" cap="none" strike="noStrike">
                  <a:solidFill>
                    <a:srgbClr val="000000"/>
                  </a:solidFill>
                  <a:latin typeface="Arial"/>
                  <a:ea typeface="Arial"/>
                  <a:cs typeface="Arial"/>
                  <a:sym typeface="Arial"/>
                </a:rPr>
                <a:t>https://youtu.be/-1A9KqvHlWw</a:t>
              </a:r>
              <a:endParaRPr/>
            </a:p>
          </p:txBody>
        </p:sp>
      </p:grpSp>
      <p:grpSp>
        <p:nvGrpSpPr>
          <p:cNvPr id="111" name="Google Shape;111;p2"/>
          <p:cNvGrpSpPr/>
          <p:nvPr/>
        </p:nvGrpSpPr>
        <p:grpSpPr>
          <a:xfrm>
            <a:off x="7666289" y="5198310"/>
            <a:ext cx="10621711" cy="2603709"/>
            <a:chOff x="0" y="-95250"/>
            <a:chExt cx="2797488" cy="685751"/>
          </a:xfrm>
        </p:grpSpPr>
        <p:sp>
          <p:nvSpPr>
            <p:cNvPr id="112" name="Google Shape;112;p2"/>
            <p:cNvSpPr/>
            <p:nvPr/>
          </p:nvSpPr>
          <p:spPr>
            <a:xfrm>
              <a:off x="0" y="0"/>
              <a:ext cx="2797488" cy="590501"/>
            </a:xfrm>
            <a:custGeom>
              <a:rect b="b" l="l" r="r" t="t"/>
              <a:pathLst>
                <a:path extrusionOk="0" h="590501" w="2797488">
                  <a:moveTo>
                    <a:pt x="2594288" y="0"/>
                  </a:moveTo>
                  <a:lnTo>
                    <a:pt x="0" y="0"/>
                  </a:lnTo>
                  <a:lnTo>
                    <a:pt x="0" y="590501"/>
                  </a:lnTo>
                  <a:lnTo>
                    <a:pt x="2594288" y="590501"/>
                  </a:lnTo>
                  <a:lnTo>
                    <a:pt x="2797488" y="295250"/>
                  </a:lnTo>
                  <a:lnTo>
                    <a:pt x="2594288" y="0"/>
                  </a:lnTo>
                  <a:close/>
                </a:path>
              </a:pathLst>
            </a:custGeom>
            <a:solidFill>
              <a:srgbClr val="FFFFFF"/>
            </a:solidFill>
            <a:ln>
              <a:noFill/>
            </a:ln>
          </p:spPr>
        </p:sp>
        <p:sp>
          <p:nvSpPr>
            <p:cNvPr id="113" name="Google Shape;113;p2"/>
            <p:cNvSpPr txBox="1"/>
            <p:nvPr/>
          </p:nvSpPr>
          <p:spPr>
            <a:xfrm>
              <a:off x="0" y="-95250"/>
              <a:ext cx="2683188" cy="685751"/>
            </a:xfrm>
            <a:prstGeom prst="rect">
              <a:avLst/>
            </a:prstGeom>
            <a:noFill/>
            <a:ln>
              <a:noFill/>
            </a:ln>
          </p:spPr>
          <p:txBody>
            <a:bodyPr anchorCtr="0" anchor="ctr" bIns="50800" lIns="50800" spcFirstLastPara="1" rIns="50800" wrap="square" tIns="50800">
              <a:noAutofit/>
            </a:bodyPr>
            <a:lstStyle/>
            <a:p>
              <a:pPr indent="0" lvl="0" marL="0" marR="0" rtl="0" algn="l">
                <a:lnSpc>
                  <a:spcPct val="148012"/>
                </a:lnSpc>
                <a:spcBef>
                  <a:spcPts val="0"/>
                </a:spcBef>
                <a:spcAft>
                  <a:spcPts val="0"/>
                </a:spcAft>
                <a:buNone/>
              </a:pPr>
              <a:r>
                <a:rPr b="0" i="0" lang="en-US" sz="3699" u="none" cap="none" strike="noStrike">
                  <a:solidFill>
                    <a:srgbClr val="FF3131"/>
                  </a:solidFill>
                  <a:latin typeface="Arial"/>
                  <a:ea typeface="Arial"/>
                  <a:cs typeface="Arial"/>
                  <a:sym typeface="Arial"/>
                </a:rPr>
                <a:t>Link de Quizziz:</a:t>
              </a:r>
              <a:r>
                <a:rPr b="0" i="0" lang="en-US" sz="3699" u="none" cap="none" strike="noStrike">
                  <a:solidFill>
                    <a:srgbClr val="000000"/>
                  </a:solidFill>
                  <a:latin typeface="Arial"/>
                  <a:ea typeface="Arial"/>
                  <a:cs typeface="Arial"/>
                  <a:sym typeface="Arial"/>
                </a:rPr>
                <a:t> </a:t>
              </a:r>
              <a:r>
                <a:rPr b="0" i="0" lang="en-US" sz="3699" u="none" cap="none" strike="noStrike">
                  <a:solidFill>
                    <a:srgbClr val="2F5492"/>
                  </a:solidFill>
                  <a:latin typeface="Arial"/>
                  <a:ea typeface="Arial"/>
                  <a:cs typeface="Arial"/>
                  <a:sym typeface="Arial"/>
                </a:rPr>
                <a:t>https://create.kahoot.it/details/d0e5c772-86bd-4853-a24f-18190eafd45f</a:t>
              </a:r>
              <a:endParaRPr/>
            </a:p>
          </p:txBody>
        </p:sp>
      </p:grpSp>
      <p:grpSp>
        <p:nvGrpSpPr>
          <p:cNvPr id="114" name="Google Shape;114;p2"/>
          <p:cNvGrpSpPr/>
          <p:nvPr/>
        </p:nvGrpSpPr>
        <p:grpSpPr>
          <a:xfrm>
            <a:off x="1405646" y="5399321"/>
            <a:ext cx="5702325" cy="845385"/>
            <a:chOff x="0" y="-76200"/>
            <a:chExt cx="2427767" cy="359923"/>
          </a:xfrm>
        </p:grpSpPr>
        <p:sp>
          <p:nvSpPr>
            <p:cNvPr id="115" name="Google Shape;115;p2"/>
            <p:cNvSpPr/>
            <p:nvPr/>
          </p:nvSpPr>
          <p:spPr>
            <a:xfrm>
              <a:off x="0" y="0"/>
              <a:ext cx="2427767" cy="283723"/>
            </a:xfrm>
            <a:custGeom>
              <a:rect b="b" l="l" r="r" t="t"/>
              <a:pathLst>
                <a:path extrusionOk="0" h="283723" w="2427767">
                  <a:moveTo>
                    <a:pt x="2224567" y="0"/>
                  </a:moveTo>
                  <a:lnTo>
                    <a:pt x="0" y="0"/>
                  </a:lnTo>
                  <a:lnTo>
                    <a:pt x="0" y="283723"/>
                  </a:lnTo>
                  <a:lnTo>
                    <a:pt x="2224567" y="283723"/>
                  </a:lnTo>
                  <a:lnTo>
                    <a:pt x="2427767" y="141862"/>
                  </a:lnTo>
                  <a:lnTo>
                    <a:pt x="2224567" y="0"/>
                  </a:lnTo>
                  <a:close/>
                </a:path>
              </a:pathLst>
            </a:custGeom>
            <a:solidFill>
              <a:srgbClr val="FFFFFF"/>
            </a:solidFill>
            <a:ln>
              <a:noFill/>
            </a:ln>
          </p:spPr>
        </p:sp>
        <p:sp>
          <p:nvSpPr>
            <p:cNvPr id="116" name="Google Shape;116;p2"/>
            <p:cNvSpPr txBox="1"/>
            <p:nvPr/>
          </p:nvSpPr>
          <p:spPr>
            <a:xfrm>
              <a:off x="0" y="-76200"/>
              <a:ext cx="2313467"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Lógica de las proposiciones</a:t>
              </a:r>
              <a:endParaRPr/>
            </a:p>
          </p:txBody>
        </p:sp>
      </p:grpSp>
      <p:grpSp>
        <p:nvGrpSpPr>
          <p:cNvPr id="117" name="Google Shape;117;p2"/>
          <p:cNvGrpSpPr/>
          <p:nvPr/>
        </p:nvGrpSpPr>
        <p:grpSpPr>
          <a:xfrm>
            <a:off x="1105333" y="6399103"/>
            <a:ext cx="4613551" cy="845385"/>
            <a:chOff x="0" y="-76200"/>
            <a:chExt cx="1964221" cy="359923"/>
          </a:xfrm>
        </p:grpSpPr>
        <p:sp>
          <p:nvSpPr>
            <p:cNvPr id="118" name="Google Shape;11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9" name="Google Shape;119;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Lógica Matemática</a:t>
              </a:r>
              <a:endParaRPr/>
            </a:p>
          </p:txBody>
        </p:sp>
      </p:grpSp>
      <p:grpSp>
        <p:nvGrpSpPr>
          <p:cNvPr id="120" name="Google Shape;120;p2"/>
          <p:cNvGrpSpPr/>
          <p:nvPr/>
        </p:nvGrpSpPr>
        <p:grpSpPr>
          <a:xfrm>
            <a:off x="692376" y="7425657"/>
            <a:ext cx="6058992" cy="845385"/>
            <a:chOff x="0" y="-76200"/>
            <a:chExt cx="2579619" cy="359923"/>
          </a:xfrm>
        </p:grpSpPr>
        <p:sp>
          <p:nvSpPr>
            <p:cNvPr id="121" name="Google Shape;121;p2"/>
            <p:cNvSpPr/>
            <p:nvPr/>
          </p:nvSpPr>
          <p:spPr>
            <a:xfrm>
              <a:off x="0" y="0"/>
              <a:ext cx="2579619" cy="283723"/>
            </a:xfrm>
            <a:custGeom>
              <a:rect b="b" l="l" r="r" t="t"/>
              <a:pathLst>
                <a:path extrusionOk="0" h="283723" w="2579619">
                  <a:moveTo>
                    <a:pt x="2376419" y="0"/>
                  </a:moveTo>
                  <a:lnTo>
                    <a:pt x="0" y="0"/>
                  </a:lnTo>
                  <a:lnTo>
                    <a:pt x="0" y="283723"/>
                  </a:lnTo>
                  <a:lnTo>
                    <a:pt x="2376419" y="283723"/>
                  </a:lnTo>
                  <a:lnTo>
                    <a:pt x="2579619" y="141862"/>
                  </a:lnTo>
                  <a:lnTo>
                    <a:pt x="2376419" y="0"/>
                  </a:lnTo>
                  <a:close/>
                </a:path>
              </a:pathLst>
            </a:custGeom>
            <a:solidFill>
              <a:srgbClr val="FFFFFF"/>
            </a:solidFill>
            <a:ln>
              <a:noFill/>
            </a:ln>
          </p:spPr>
        </p:sp>
        <p:sp>
          <p:nvSpPr>
            <p:cNvPr id="122" name="Google Shape;122;p2"/>
            <p:cNvSpPr txBox="1"/>
            <p:nvPr/>
          </p:nvSpPr>
          <p:spPr>
            <a:xfrm>
              <a:off x="0" y="-76200"/>
              <a:ext cx="2465319"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Funciones del lenguaje</a:t>
              </a:r>
              <a:endParaRPr/>
            </a:p>
          </p:txBody>
        </p:sp>
      </p:grpSp>
      <p:sp>
        <p:nvSpPr>
          <p:cNvPr id="123" name="Google Shape;123;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4" name="Google Shape;124;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5" name="Google Shape;125;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31" name="Google Shape;131;p3"/>
          <p:cNvSpPr txBox="1"/>
          <p:nvPr/>
        </p:nvSpPr>
        <p:spPr>
          <a:xfrm>
            <a:off x="2191966" y="4432648"/>
            <a:ext cx="13448312" cy="208915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None/>
            </a:pPr>
            <a:r>
              <a:rPr b="0" i="0" lang="en-US" sz="3999" u="none" cap="none" strike="noStrike">
                <a:solidFill>
                  <a:srgbClr val="131416"/>
                </a:solidFill>
                <a:latin typeface="Open Sans"/>
                <a:ea typeface="Open Sans"/>
                <a:cs typeface="Open Sans"/>
                <a:sym typeface="Open Sans"/>
              </a:rPr>
              <a:t>Reconoce proposiciones y razonamientos en el lenguaje por medio del análisis de textos y enunciados para distinguir los componentes lógicos del lenguaje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txBox="1"/>
          <p:nvPr/>
        </p:nvSpPr>
        <p:spPr>
          <a:xfrm>
            <a:off x="1760939" y="2959690"/>
            <a:ext cx="12625499" cy="4212443"/>
          </a:xfrm>
          <a:prstGeom prst="rect">
            <a:avLst/>
          </a:prstGeom>
          <a:noFill/>
          <a:ln>
            <a:noFill/>
          </a:ln>
        </p:spPr>
        <p:txBody>
          <a:bodyPr anchorCtr="0" anchor="t" bIns="0" lIns="0" spcFirstLastPara="1" rIns="0" wrap="square" tIns="0">
            <a:spAutoFit/>
          </a:bodyPr>
          <a:lstStyle/>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Lógica de proposición</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Lógica Matemática</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Operaciones Lógicas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Funciones del Lenguaje</a:t>
            </a:r>
            <a:endParaRPr/>
          </a:p>
          <a:p>
            <a:pPr indent="0" lvl="0" marL="0" marR="0" rtl="0" algn="l">
              <a:lnSpc>
                <a:spcPct val="173025"/>
              </a:lnSpc>
              <a:spcBef>
                <a:spcPts val="0"/>
              </a:spcBef>
              <a:spcAft>
                <a:spcPts val="0"/>
              </a:spcAft>
              <a:buNone/>
            </a:pPr>
            <a:r>
              <a:t/>
            </a:r>
            <a:endParaRPr b="0" i="0" sz="3925" u="none" cap="none" strike="noStrike">
              <a:solidFill>
                <a:srgbClr val="131416"/>
              </a:solidFill>
              <a:latin typeface="Arial"/>
              <a:ea typeface="Arial"/>
              <a:cs typeface="Arial"/>
              <a:sym typeface="Arial"/>
            </a:endParaRPr>
          </a:p>
        </p:txBody>
      </p:sp>
      <p:sp>
        <p:nvSpPr>
          <p:cNvPr id="137" name="Google Shape;137;p4"/>
          <p:cNvSpPr txBox="1"/>
          <p:nvPr/>
        </p:nvSpPr>
        <p:spPr>
          <a:xfrm>
            <a:off x="1556560" y="1009650"/>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CONTENIDO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nvSpPr>
        <p:spPr>
          <a:xfrm>
            <a:off x="377492" y="1207763"/>
            <a:ext cx="17520422" cy="9025158"/>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Como seres humanos necesitamos comunicarnos, hacernos entender y entender lo que nos transmiten, esto dio inicio a la comunicación hablada en el ser humano, después utilizó la escritura como herramienta o medio de comunicación. En el lenguaje científico, se define como proposición a una sentencia o enunciado que puede ser verdadero o falso, generalmente son de carácter enunciativo.</a:t>
            </a:r>
            <a:endParaRPr/>
          </a:p>
          <a:p>
            <a:pPr indent="0" lvl="0" marL="0" marR="0" rtl="0" algn="just">
              <a:lnSpc>
                <a:spcPct val="140020"/>
              </a:lnSpc>
              <a:spcBef>
                <a:spcPts val="0"/>
              </a:spcBef>
              <a:spcAft>
                <a:spcPts val="0"/>
              </a:spcAft>
              <a:buNone/>
            </a:pPr>
            <a:r>
              <a:t/>
            </a:r>
            <a:endParaRPr b="0" i="0" sz="3928" u="none" cap="none" strike="noStrike">
              <a:solidFill>
                <a:srgbClr val="131416"/>
              </a:solidFill>
              <a:latin typeface="Open Sans"/>
              <a:ea typeface="Open Sans"/>
              <a:cs typeface="Open Sans"/>
              <a:sym typeface="Open Sans"/>
            </a:endParaRPr>
          </a:p>
          <a:p>
            <a:pPr indent="0" lvl="0" marL="0" marR="0" rtl="0" algn="just">
              <a:lnSpc>
                <a:spcPct val="140020"/>
              </a:lnSpc>
              <a:spcBef>
                <a:spcPts val="0"/>
              </a:spcBef>
              <a:spcAft>
                <a:spcPts val="0"/>
              </a:spcAft>
              <a:buNone/>
            </a:pPr>
            <a:r>
              <a:rPr b="0" i="0" lang="en-US" sz="3928" u="none" cap="none" strike="noStrike">
                <a:solidFill>
                  <a:srgbClr val="131416"/>
                </a:solidFill>
                <a:latin typeface="Open Sans"/>
                <a:ea typeface="Open Sans"/>
                <a:cs typeface="Open Sans"/>
                <a:sym typeface="Open Sans"/>
              </a:rPr>
              <a:t>Una proposición se compone de los siguientes Factores:</a:t>
            </a:r>
            <a:endParaRPr/>
          </a:p>
          <a:p>
            <a:pPr indent="0" lvl="0" marL="0" marR="0" rtl="0" algn="just">
              <a:lnSpc>
                <a:spcPct val="140020"/>
              </a:lnSpc>
              <a:spcBef>
                <a:spcPts val="0"/>
              </a:spcBef>
              <a:spcAft>
                <a:spcPts val="0"/>
              </a:spcAft>
              <a:buNone/>
            </a:pPr>
            <a:r>
              <a:rPr b="1" i="0" lang="en-US" sz="3928" u="none" cap="none" strike="noStrike">
                <a:solidFill>
                  <a:srgbClr val="131416"/>
                </a:solidFill>
                <a:latin typeface="Open Sans"/>
                <a:ea typeface="Open Sans"/>
                <a:cs typeface="Open Sans"/>
                <a:sym typeface="Open Sans"/>
              </a:rPr>
              <a:t>Premisas:</a:t>
            </a:r>
            <a:r>
              <a:rPr b="0" i="0" lang="en-US" sz="3928" u="none" cap="none" strike="noStrike">
                <a:solidFill>
                  <a:srgbClr val="131416"/>
                </a:solidFill>
                <a:latin typeface="Open Sans"/>
                <a:ea typeface="Open Sans"/>
                <a:cs typeface="Open Sans"/>
                <a:sym typeface="Open Sans"/>
              </a:rPr>
              <a:t> se le llama así a cada una de las proposiciones de un razonamiento que dan la consecuencia o conclusión de dicho razonamiento.</a:t>
            </a:r>
            <a:endParaRPr/>
          </a:p>
          <a:p>
            <a:pPr indent="0" lvl="0" marL="0" marR="0" rtl="0" algn="just">
              <a:lnSpc>
                <a:spcPct val="140020"/>
              </a:lnSpc>
              <a:spcBef>
                <a:spcPts val="0"/>
              </a:spcBef>
              <a:spcAft>
                <a:spcPts val="0"/>
              </a:spcAft>
              <a:buNone/>
            </a:pPr>
            <a:r>
              <a:rPr b="1" i="0" lang="en-US" sz="3928" u="none" cap="none" strike="noStrike">
                <a:solidFill>
                  <a:srgbClr val="131416"/>
                </a:solidFill>
                <a:latin typeface="Open Sans"/>
                <a:ea typeface="Open Sans"/>
                <a:cs typeface="Open Sans"/>
                <a:sym typeface="Open Sans"/>
              </a:rPr>
              <a:t>Conclusión:</a:t>
            </a:r>
            <a:r>
              <a:rPr b="0" i="0" lang="en-US" sz="3928" u="none" cap="none" strike="noStrike">
                <a:solidFill>
                  <a:srgbClr val="131416"/>
                </a:solidFill>
                <a:latin typeface="Open Sans"/>
                <a:ea typeface="Open Sans"/>
                <a:cs typeface="Open Sans"/>
                <a:sym typeface="Open Sans"/>
              </a:rPr>
              <a:t> será la proposición final que surge a partir de las premisas que forman el argumento o enunciado.</a:t>
            </a:r>
            <a:endParaRPr/>
          </a:p>
        </p:txBody>
      </p:sp>
      <p:sp>
        <p:nvSpPr>
          <p:cNvPr id="143" name="Google Shape;143;p5"/>
          <p:cNvSpPr txBox="1"/>
          <p:nvPr/>
        </p:nvSpPr>
        <p:spPr>
          <a:xfrm>
            <a:off x="790595" y="434985"/>
            <a:ext cx="17107320" cy="85850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LÓGICA DE LAS PROPOSICIONES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txBox="1"/>
          <p:nvPr/>
        </p:nvSpPr>
        <p:spPr>
          <a:xfrm>
            <a:off x="1028700" y="1680425"/>
            <a:ext cx="16869215" cy="6243858"/>
          </a:xfrm>
          <a:prstGeom prst="rect">
            <a:avLst/>
          </a:prstGeom>
          <a:noFill/>
          <a:ln>
            <a:noFill/>
          </a:ln>
        </p:spPr>
        <p:txBody>
          <a:bodyPr anchorCtr="0" anchor="t" bIns="0" lIns="0" spcFirstLastPara="1" rIns="0" wrap="square" tIns="0">
            <a:spAutoFit/>
          </a:bodyPr>
          <a:lstStyle/>
          <a:p>
            <a:pPr indent="-424115" lvl="1" marL="848231" marR="0" rtl="0" algn="just">
              <a:lnSpc>
                <a:spcPct val="140020"/>
              </a:lnSpc>
              <a:spcBef>
                <a:spcPts val="0"/>
              </a:spcBef>
              <a:spcAft>
                <a:spcPts val="0"/>
              </a:spcAft>
              <a:buClr>
                <a:srgbClr val="FF3131"/>
              </a:buClr>
              <a:buSzPts val="3928"/>
              <a:buFont typeface="Arial"/>
              <a:buChar char="•"/>
            </a:pPr>
            <a:r>
              <a:rPr b="0" i="0" lang="en-US" sz="3928" u="none" cap="none" strike="noStrike">
                <a:solidFill>
                  <a:srgbClr val="FF3131"/>
                </a:solidFill>
                <a:latin typeface="Open Sans"/>
                <a:ea typeface="Open Sans"/>
                <a:cs typeface="Open Sans"/>
                <a:sym typeface="Open Sans"/>
              </a:rPr>
              <a:t>Ejemplo No.1</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Los griegos y romanos llamaban bárbaros a los pueblos que no pudieron dominar.</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Los bárbaros eran aquellos pueblos que los griegos y los romanos no pudieron dominar.</a:t>
            </a:r>
            <a:endParaRPr/>
          </a:p>
          <a:p>
            <a:pPr indent="-424115" lvl="1" marL="848231" marR="0" rtl="0" algn="just">
              <a:lnSpc>
                <a:spcPct val="140020"/>
              </a:lnSpc>
              <a:spcBef>
                <a:spcPts val="0"/>
              </a:spcBef>
              <a:spcAft>
                <a:spcPts val="0"/>
              </a:spcAft>
              <a:buClr>
                <a:srgbClr val="FF3131"/>
              </a:buClr>
              <a:buSzPts val="3928"/>
              <a:buFont typeface="Arial"/>
              <a:buChar char="•"/>
            </a:pPr>
            <a:r>
              <a:rPr b="0" i="0" lang="en-US" sz="3928" u="none" cap="none" strike="noStrike">
                <a:solidFill>
                  <a:srgbClr val="FF3131"/>
                </a:solidFill>
                <a:latin typeface="Open Sans"/>
                <a:ea typeface="Open Sans"/>
                <a:cs typeface="Open Sans"/>
                <a:sym typeface="Open Sans"/>
              </a:rPr>
              <a:t>Ejemplo No.2</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A la fiebre amarilla se le llama vomito negro.</a:t>
            </a:r>
            <a:endParaRPr/>
          </a:p>
          <a:p>
            <a:pPr indent="-565487" lvl="2" marL="1696462" marR="0" rtl="0" algn="just">
              <a:lnSpc>
                <a:spcPct val="140020"/>
              </a:lnSpc>
              <a:spcBef>
                <a:spcPts val="0"/>
              </a:spcBef>
              <a:spcAft>
                <a:spcPts val="0"/>
              </a:spcAft>
              <a:buClr>
                <a:srgbClr val="131416"/>
              </a:buClr>
              <a:buSzPts val="3928"/>
              <a:buFont typeface="Arial"/>
              <a:buChar char="⚬"/>
            </a:pPr>
            <a:r>
              <a:rPr b="0" i="0" lang="en-US" sz="3928" u="none" cap="none" strike="noStrike">
                <a:solidFill>
                  <a:srgbClr val="131416"/>
                </a:solidFill>
                <a:latin typeface="Open Sans"/>
                <a:ea typeface="Open Sans"/>
                <a:cs typeface="Open Sans"/>
                <a:sym typeface="Open Sans"/>
              </a:rPr>
              <a:t>Vómito negro es otro nombre para la fiebre amarilla.</a:t>
            </a:r>
            <a:endParaRPr/>
          </a:p>
          <a:p>
            <a:pPr indent="0" lvl="0" marL="0" marR="0" rtl="0" algn="just">
              <a:lnSpc>
                <a:spcPct val="140020"/>
              </a:lnSpc>
              <a:spcBef>
                <a:spcPts val="0"/>
              </a:spcBef>
              <a:spcAft>
                <a:spcPts val="0"/>
              </a:spcAft>
              <a:buNone/>
            </a:pPr>
            <a:r>
              <a:t/>
            </a:r>
            <a:endParaRPr b="0" i="0" sz="3928" u="none" cap="none" strike="noStrike">
              <a:solidFill>
                <a:srgbClr val="131416"/>
              </a:solidFill>
              <a:latin typeface="Open Sans"/>
              <a:ea typeface="Open Sans"/>
              <a:cs typeface="Open Sans"/>
              <a:sym typeface="Open Sans"/>
            </a:endParaRPr>
          </a:p>
        </p:txBody>
      </p:sp>
      <p:sp>
        <p:nvSpPr>
          <p:cNvPr id="149" name="Google Shape;149;p6"/>
          <p:cNvSpPr txBox="1"/>
          <p:nvPr/>
        </p:nvSpPr>
        <p:spPr>
          <a:xfrm>
            <a:off x="1374889" y="644839"/>
            <a:ext cx="15530475" cy="85850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EJEMPLOS DE PROPOSICIÓN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nvSpPr>
        <p:spPr>
          <a:xfrm>
            <a:off x="331406" y="194636"/>
            <a:ext cx="17956594" cy="1580625"/>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298" u="none" cap="none" strike="noStrike">
                <a:solidFill>
                  <a:srgbClr val="2F5492"/>
                </a:solidFill>
                <a:latin typeface="Arial"/>
                <a:ea typeface="Arial"/>
                <a:cs typeface="Arial"/>
                <a:sym typeface="Arial"/>
              </a:rPr>
              <a:t>CLASIFICACIÓN DE LAS  PROPOSICIONES</a:t>
            </a:r>
            <a:endParaRPr/>
          </a:p>
        </p:txBody>
      </p:sp>
      <p:sp>
        <p:nvSpPr>
          <p:cNvPr id="155" name="Google Shape;155;p7"/>
          <p:cNvSpPr txBox="1"/>
          <p:nvPr/>
        </p:nvSpPr>
        <p:spPr>
          <a:xfrm>
            <a:off x="673970" y="2016146"/>
            <a:ext cx="17485120" cy="7492470"/>
          </a:xfrm>
          <a:prstGeom prst="rect">
            <a:avLst/>
          </a:prstGeom>
          <a:noFill/>
          <a:ln>
            <a:noFill/>
          </a:ln>
        </p:spPr>
        <p:txBody>
          <a:bodyPr anchorCtr="0" anchor="t" bIns="0" lIns="0" spcFirstLastPara="1" rIns="0" wrap="square" tIns="0">
            <a:spAutoFit/>
          </a:bodyPr>
          <a:lstStyle/>
          <a:p>
            <a:pPr indent="0" lvl="0" marL="0" marR="0" rtl="0" algn="just">
              <a:lnSpc>
                <a:spcPct val="140023"/>
              </a:lnSpc>
              <a:spcBef>
                <a:spcPts val="0"/>
              </a:spcBef>
              <a:spcAft>
                <a:spcPts val="0"/>
              </a:spcAft>
              <a:buNone/>
            </a:pPr>
            <a:r>
              <a:rPr b="1" i="0" lang="en-US" sz="4270" u="none" cap="none" strike="noStrike">
                <a:solidFill>
                  <a:srgbClr val="FC7408"/>
                </a:solidFill>
                <a:latin typeface="Open Sans"/>
                <a:ea typeface="Open Sans"/>
                <a:cs typeface="Open Sans"/>
                <a:sym typeface="Open Sans"/>
              </a:rPr>
              <a:t>Proposiciones Simples y compuestas</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Se distinguen 2 tipos de proposiciones:</a:t>
            </a:r>
            <a:endParaRPr/>
          </a:p>
          <a:p>
            <a:pPr indent="0" lvl="0" marL="0" marR="0" rtl="0" algn="just">
              <a:lnSpc>
                <a:spcPct val="140023"/>
              </a:lnSpc>
              <a:spcBef>
                <a:spcPts val="0"/>
              </a:spcBef>
              <a:spcAft>
                <a:spcPts val="0"/>
              </a:spcAft>
              <a:buNone/>
            </a:pPr>
            <a:r>
              <a:rPr b="0" i="0" lang="en-US" sz="4270" u="none" cap="none" strike="noStrike">
                <a:solidFill>
                  <a:srgbClr val="ABA9A9"/>
                </a:solidFill>
                <a:latin typeface="Open Sans"/>
                <a:ea typeface="Open Sans"/>
                <a:cs typeface="Open Sans"/>
                <a:sym typeface="Open Sans"/>
              </a:rPr>
              <a:t>Proposiciones Simples o Automáticas</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Son proposiciones que ya no pueden descomponerse en dos expresiones que sean proposiciones.</a:t>
            </a:r>
            <a:endParaRPr/>
          </a:p>
          <a:p>
            <a:pPr indent="0" lvl="0" marL="0" marR="0" rtl="0" algn="just">
              <a:lnSpc>
                <a:spcPct val="140023"/>
              </a:lnSpc>
              <a:spcBef>
                <a:spcPts val="0"/>
              </a:spcBef>
              <a:spcAft>
                <a:spcPts val="0"/>
              </a:spcAft>
              <a:buNone/>
            </a:pPr>
            <a:r>
              <a:t/>
            </a:r>
            <a:endParaRPr b="0" i="0" sz="4270" u="none" cap="none" strike="noStrike">
              <a:solidFill>
                <a:srgbClr val="131416"/>
              </a:solidFill>
              <a:latin typeface="Open Sans"/>
              <a:ea typeface="Open Sans"/>
              <a:cs typeface="Open Sans"/>
              <a:sym typeface="Open Sans"/>
            </a:endParaRPr>
          </a:p>
          <a:p>
            <a:pPr indent="0" lvl="0" marL="0" marR="0" rtl="0" algn="just">
              <a:lnSpc>
                <a:spcPct val="140023"/>
              </a:lnSpc>
              <a:spcBef>
                <a:spcPts val="0"/>
              </a:spcBef>
              <a:spcAft>
                <a:spcPts val="0"/>
              </a:spcAft>
              <a:buNone/>
            </a:pPr>
            <a:r>
              <a:rPr b="0" i="0" lang="en-US" sz="4270" u="none" cap="none" strike="noStrike">
                <a:solidFill>
                  <a:srgbClr val="FF3131"/>
                </a:solidFill>
                <a:latin typeface="Open Sans"/>
                <a:ea typeface="Open Sans"/>
                <a:cs typeface="Open Sans"/>
                <a:sym typeface="Open Sans"/>
              </a:rPr>
              <a:t>Ejemplo</a:t>
            </a:r>
            <a:r>
              <a:rPr b="0" i="0" lang="en-US" sz="4270" u="none" cap="none" strike="noStrike">
                <a:solidFill>
                  <a:srgbClr val="131416"/>
                </a:solidFill>
                <a:latin typeface="Open Sans"/>
                <a:ea typeface="Open Sans"/>
                <a:cs typeface="Open Sans"/>
                <a:sym typeface="Open Sans"/>
              </a:rPr>
              <a:t>:</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La ballena es roja</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Gustavo es alto</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Teresa va a la escuela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nvSpPr>
        <p:spPr>
          <a:xfrm>
            <a:off x="636426" y="551933"/>
            <a:ext cx="17485120" cy="8244945"/>
          </a:xfrm>
          <a:prstGeom prst="rect">
            <a:avLst/>
          </a:prstGeom>
          <a:noFill/>
          <a:ln>
            <a:noFill/>
          </a:ln>
        </p:spPr>
        <p:txBody>
          <a:bodyPr anchorCtr="0" anchor="t" bIns="0" lIns="0" spcFirstLastPara="1" rIns="0" wrap="square" tIns="0">
            <a:spAutoFit/>
          </a:bodyPr>
          <a:lstStyle/>
          <a:p>
            <a:pPr indent="0" lvl="0" marL="0" marR="0" rtl="0" algn="just">
              <a:lnSpc>
                <a:spcPct val="140023"/>
              </a:lnSpc>
              <a:spcBef>
                <a:spcPts val="0"/>
              </a:spcBef>
              <a:spcAft>
                <a:spcPts val="0"/>
              </a:spcAft>
              <a:buNone/>
            </a:pPr>
            <a:r>
              <a:rPr b="1" i="0" lang="en-US" sz="4270" u="none" cap="none" strike="noStrike">
                <a:solidFill>
                  <a:srgbClr val="FC7408"/>
                </a:solidFill>
                <a:latin typeface="Open Sans"/>
                <a:ea typeface="Open Sans"/>
                <a:cs typeface="Open Sans"/>
                <a:sym typeface="Open Sans"/>
              </a:rPr>
              <a:t>Proposiciones Compuestas o Moleculares</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Es una proposición formada por dos o más proposiciones simples o compuestas. Son las proposiciones en las que aparecen las partículas gramaticales como:</a:t>
            </a:r>
            <a:endParaRPr/>
          </a:p>
          <a:p>
            <a:pPr indent="-461040" lvl="1" marL="922082" marR="0" rtl="0" algn="just">
              <a:lnSpc>
                <a:spcPct val="140023"/>
              </a:lnSpc>
              <a:spcBef>
                <a:spcPts val="0"/>
              </a:spcBef>
              <a:spcAft>
                <a:spcPts val="0"/>
              </a:spcAft>
              <a:buClr>
                <a:srgbClr val="131416"/>
              </a:buClr>
              <a:buSzPts val="4270"/>
              <a:buFont typeface="Arial"/>
              <a:buChar char="•"/>
            </a:pPr>
            <a:r>
              <a:rPr b="0" i="0" lang="en-US" sz="4270" u="none" cap="none" strike="noStrike">
                <a:solidFill>
                  <a:srgbClr val="131416"/>
                </a:solidFill>
                <a:latin typeface="Open Sans"/>
                <a:ea typeface="Open Sans"/>
                <a:cs typeface="Open Sans"/>
                <a:sym typeface="Open Sans"/>
              </a:rPr>
              <a:t>No, o, y, si.... Entonces, si y sólo si</a:t>
            </a:r>
            <a:endParaRPr/>
          </a:p>
          <a:p>
            <a:pPr indent="0" lvl="0" marL="0" marR="0" rtl="0" algn="just">
              <a:lnSpc>
                <a:spcPct val="140023"/>
              </a:lnSpc>
              <a:spcBef>
                <a:spcPts val="0"/>
              </a:spcBef>
              <a:spcAft>
                <a:spcPts val="0"/>
              </a:spcAft>
              <a:buNone/>
            </a:pPr>
            <a:r>
              <a:rPr b="0" i="0" lang="en-US" sz="4270" u="none" cap="none" strike="noStrike">
                <a:solidFill>
                  <a:srgbClr val="FF3131"/>
                </a:solidFill>
                <a:latin typeface="Open Sans"/>
                <a:ea typeface="Open Sans"/>
                <a:cs typeface="Open Sans"/>
                <a:sym typeface="Open Sans"/>
              </a:rPr>
              <a:t>Ejemplo</a:t>
            </a:r>
            <a:r>
              <a:rPr b="0" i="0" lang="en-US" sz="4270" u="none" cap="none" strike="noStrike">
                <a:solidFill>
                  <a:srgbClr val="131416"/>
                </a:solidFill>
                <a:latin typeface="Open Sans"/>
                <a:ea typeface="Open Sans"/>
                <a:cs typeface="Open Sans"/>
                <a:sym typeface="Open Sans"/>
              </a:rPr>
              <a:t>:</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Teresa va a la escuela o María es Inteligente.</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4 es menor que 8 o 6 es mayor que 10.</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Si corro rápido entonces llegaré temprano</a:t>
            </a:r>
            <a:endParaRPr/>
          </a:p>
          <a:p>
            <a:pPr indent="0" lvl="0" marL="0" marR="0" rtl="0" algn="just">
              <a:lnSpc>
                <a:spcPct val="140023"/>
              </a:lnSpc>
              <a:spcBef>
                <a:spcPts val="0"/>
              </a:spcBef>
              <a:spcAft>
                <a:spcPts val="0"/>
              </a:spcAft>
              <a:buNone/>
            </a:pPr>
            <a:r>
              <a:t/>
            </a:r>
            <a:endParaRPr b="0" i="0" sz="4270" u="none" cap="none" strike="noStrike">
              <a:solidFill>
                <a:srgbClr val="131416"/>
              </a:solidFill>
              <a:latin typeface="Open Sans"/>
              <a:ea typeface="Open Sans"/>
              <a:cs typeface="Open Sans"/>
              <a:sym typeface="Open Sans"/>
            </a:endParaRPr>
          </a:p>
          <a:p>
            <a:pPr indent="0" lvl="0" marL="0" marR="0" rtl="0" algn="just">
              <a:lnSpc>
                <a:spcPct val="140023"/>
              </a:lnSpc>
              <a:spcBef>
                <a:spcPts val="0"/>
              </a:spcBef>
              <a:spcAft>
                <a:spcPts val="0"/>
              </a:spcAft>
              <a:buNone/>
            </a:pPr>
            <a:r>
              <a:t/>
            </a:r>
            <a:endParaRPr b="0" i="0" sz="4270" u="none" cap="none" strike="noStrike">
              <a:solidFill>
                <a:srgbClr val="131416"/>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
          <p:cNvSpPr txBox="1"/>
          <p:nvPr/>
        </p:nvSpPr>
        <p:spPr>
          <a:xfrm>
            <a:off x="237546" y="324334"/>
            <a:ext cx="18050454" cy="163955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b="0" i="0" lang="en-US" sz="5498" u="none" cap="none" strike="noStrike">
                <a:solidFill>
                  <a:srgbClr val="2F5492"/>
                </a:solidFill>
                <a:latin typeface="Arial"/>
                <a:ea typeface="Arial"/>
                <a:cs typeface="Arial"/>
                <a:sym typeface="Arial"/>
              </a:rPr>
              <a:t>SIMBOLIZACIÓN DE LAS  PROPOSICIONES</a:t>
            </a:r>
            <a:endParaRPr/>
          </a:p>
        </p:txBody>
      </p:sp>
      <p:sp>
        <p:nvSpPr>
          <p:cNvPr id="166" name="Google Shape;166;p9"/>
          <p:cNvSpPr txBox="1"/>
          <p:nvPr/>
        </p:nvSpPr>
        <p:spPr>
          <a:xfrm>
            <a:off x="237546" y="2166322"/>
            <a:ext cx="17259300" cy="7492470"/>
          </a:xfrm>
          <a:prstGeom prst="rect">
            <a:avLst/>
          </a:prstGeom>
          <a:noFill/>
          <a:ln>
            <a:noFill/>
          </a:ln>
        </p:spPr>
        <p:txBody>
          <a:bodyPr anchorCtr="0" anchor="t" bIns="0" lIns="0" spcFirstLastPara="1" rIns="0" wrap="square" tIns="0">
            <a:spAutoFit/>
          </a:bodyPr>
          <a:lstStyle/>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Para facilitar el trabajo con las proposiciones, podemos simbolizar, utilizando para simbolizar las proposiciones simples, las letras minúsculas del alfabeto: a, b, c ,... p, q, r, s. </a:t>
            </a:r>
            <a:r>
              <a:rPr b="1" i="0" lang="en-US" sz="4270" u="none" cap="none" strike="noStrike">
                <a:solidFill>
                  <a:srgbClr val="FF3131"/>
                </a:solidFill>
                <a:latin typeface="Open Sans"/>
                <a:ea typeface="Open Sans"/>
                <a:cs typeface="Open Sans"/>
                <a:sym typeface="Open Sans"/>
              </a:rPr>
              <a:t>Ejemplo:</a:t>
            </a:r>
            <a:endParaRPr/>
          </a:p>
          <a:p>
            <a:pPr indent="0" lvl="0" marL="0" marR="0" rtl="0" algn="just">
              <a:lnSpc>
                <a:spcPct val="140023"/>
              </a:lnSpc>
              <a:spcBef>
                <a:spcPts val="0"/>
              </a:spcBef>
              <a:spcAft>
                <a:spcPts val="0"/>
              </a:spcAft>
              <a:buNone/>
            </a:pPr>
            <a:r>
              <a:t/>
            </a:r>
            <a:endParaRPr b="1" i="0" sz="4270" u="none" cap="none" strike="noStrike">
              <a:solidFill>
                <a:srgbClr val="FF3131"/>
              </a:solidFill>
              <a:latin typeface="Open Sans"/>
              <a:ea typeface="Open Sans"/>
              <a:cs typeface="Open Sans"/>
              <a:sym typeface="Open Sans"/>
            </a:endParaRPr>
          </a:p>
          <a:p>
            <a:pPr indent="0" lvl="0" marL="0" marR="0" rtl="0" algn="just">
              <a:lnSpc>
                <a:spcPct val="140023"/>
              </a:lnSpc>
              <a:spcBef>
                <a:spcPts val="0"/>
              </a:spcBef>
              <a:spcAft>
                <a:spcPts val="0"/>
              </a:spcAft>
              <a:buNone/>
            </a:pPr>
            <a:r>
              <a:rPr b="1" i="0" lang="en-US" sz="4270" u="none" cap="none" strike="noStrike">
                <a:solidFill>
                  <a:srgbClr val="131416"/>
                </a:solidFill>
                <a:latin typeface="Open Sans"/>
                <a:ea typeface="Open Sans"/>
                <a:cs typeface="Open Sans"/>
                <a:sym typeface="Open Sans"/>
              </a:rPr>
              <a:t>Gustavo es alto</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Se puede simbolizar con la letra minúscula p. p: “Gustavo es alto”</a:t>
            </a:r>
            <a:endParaRPr/>
          </a:p>
          <a:p>
            <a:pPr indent="0" lvl="0" marL="0" marR="0" rtl="0" algn="just">
              <a:lnSpc>
                <a:spcPct val="140023"/>
              </a:lnSpc>
              <a:spcBef>
                <a:spcPts val="0"/>
              </a:spcBef>
              <a:spcAft>
                <a:spcPts val="0"/>
              </a:spcAft>
              <a:buNone/>
            </a:pPr>
            <a:r>
              <a:rPr b="0" i="0" lang="en-US" sz="4270" u="none" cap="none" strike="noStrike">
                <a:solidFill>
                  <a:srgbClr val="131416"/>
                </a:solidFill>
                <a:latin typeface="Open Sans"/>
                <a:ea typeface="Open Sans"/>
                <a:cs typeface="Open Sans"/>
                <a:sym typeface="Open Sans"/>
              </a:rPr>
              <a:t>Por lo que no es necesario leer todo el contenido; basta con hacer referencia a la letra “p” para saber que nos estamos refiriendo a la proposición “Gustavo es alto”, en este caso. </a:t>
            </a:r>
            <a:endParaRPr/>
          </a:p>
          <a:p>
            <a:pPr indent="0" lvl="0" marL="0" marR="0" rtl="0" algn="just">
              <a:lnSpc>
                <a:spcPct val="140023"/>
              </a:lnSpc>
              <a:spcBef>
                <a:spcPts val="0"/>
              </a:spcBef>
              <a:spcAft>
                <a:spcPts val="0"/>
              </a:spcAft>
              <a:buNone/>
            </a:pPr>
            <a:r>
              <a:t/>
            </a:r>
            <a:endParaRPr b="0" i="0" sz="4270" u="none" cap="none" strike="noStrike">
              <a:solidFill>
                <a:srgbClr val="131416"/>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nvSpPr>
        <p:spPr>
          <a:xfrm>
            <a:off x="539675" y="1450975"/>
            <a:ext cx="17264040" cy="5549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Hemos visto que las proposiciones pueden tener uno de dos valores de verdad; es decir una proposición es verdadera o falsa. Al representarlo lo haremos con una letra v minúscula seguido de paréntesis, donde encerramos la letra que representa la proposición, así v ().</a:t>
            </a:r>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3500" u="none" cap="none" strike="noStrike">
              <a:solidFill>
                <a:srgbClr val="131416"/>
              </a:solidFill>
              <a:latin typeface="Open Sans"/>
              <a:ea typeface="Open Sans"/>
              <a:cs typeface="Open Sans"/>
              <a:sym typeface="Open Sans"/>
            </a:endParaRPr>
          </a:p>
        </p:txBody>
      </p:sp>
      <p:sp>
        <p:nvSpPr>
          <p:cNvPr id="172" name="Google Shape;172;p10"/>
          <p:cNvSpPr/>
          <p:nvPr/>
        </p:nvSpPr>
        <p:spPr>
          <a:xfrm>
            <a:off x="2329509" y="3984852"/>
            <a:ext cx="11301259" cy="6032047"/>
          </a:xfrm>
          <a:custGeom>
            <a:rect b="b" l="l" r="r" t="t"/>
            <a:pathLst>
              <a:path extrusionOk="0" h="6032047" w="11301259">
                <a:moveTo>
                  <a:pt x="0" y="0"/>
                </a:moveTo>
                <a:lnTo>
                  <a:pt x="11301259" y="0"/>
                </a:lnTo>
                <a:lnTo>
                  <a:pt x="11301259" y="6032046"/>
                </a:lnTo>
                <a:lnTo>
                  <a:pt x="0" y="6032046"/>
                </a:lnTo>
                <a:lnTo>
                  <a:pt x="0" y="0"/>
                </a:lnTo>
                <a:close/>
              </a:path>
            </a:pathLst>
          </a:custGeom>
          <a:blipFill rotWithShape="1">
            <a:blip r:embed="rId3">
              <a:alphaModFix/>
            </a:blip>
            <a:stretch>
              <a:fillRect b="0" l="0" r="0" t="0"/>
            </a:stretch>
          </a:blipFill>
          <a:ln>
            <a:noFill/>
          </a:ln>
        </p:spPr>
      </p:sp>
      <p:sp>
        <p:nvSpPr>
          <p:cNvPr id="173" name="Google Shape;173;p10"/>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VALOR DE LA VERDAD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p:nvPr/>
        </p:nvSpPr>
        <p:spPr>
          <a:xfrm>
            <a:off x="3518557" y="3714675"/>
            <a:ext cx="5477177" cy="2482210"/>
          </a:xfrm>
          <a:custGeom>
            <a:rect b="b" l="l" r="r" t="t"/>
            <a:pathLst>
              <a:path extrusionOk="0" h="2482210" w="5477177">
                <a:moveTo>
                  <a:pt x="0" y="0"/>
                </a:moveTo>
                <a:lnTo>
                  <a:pt x="5477177" y="0"/>
                </a:lnTo>
                <a:lnTo>
                  <a:pt x="5477177" y="2482210"/>
                </a:lnTo>
                <a:lnTo>
                  <a:pt x="0" y="2482210"/>
                </a:lnTo>
                <a:lnTo>
                  <a:pt x="0" y="0"/>
                </a:lnTo>
                <a:close/>
              </a:path>
            </a:pathLst>
          </a:custGeom>
          <a:blipFill rotWithShape="1">
            <a:blip r:embed="rId3">
              <a:alphaModFix/>
            </a:blip>
            <a:stretch>
              <a:fillRect b="0" l="0" r="0" t="0"/>
            </a:stretch>
          </a:blipFill>
          <a:ln>
            <a:noFill/>
          </a:ln>
        </p:spPr>
      </p:sp>
      <p:sp>
        <p:nvSpPr>
          <p:cNvPr id="179" name="Google Shape;179;p11"/>
          <p:cNvSpPr txBox="1"/>
          <p:nvPr/>
        </p:nvSpPr>
        <p:spPr>
          <a:xfrm>
            <a:off x="1374889" y="850129"/>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CONECTIVOS CUANTIFICADORES</a:t>
            </a:r>
            <a:endParaRPr/>
          </a:p>
        </p:txBody>
      </p:sp>
      <p:sp>
        <p:nvSpPr>
          <p:cNvPr id="180" name="Google Shape;180;p11"/>
          <p:cNvSpPr txBox="1"/>
          <p:nvPr/>
        </p:nvSpPr>
        <p:spPr>
          <a:xfrm>
            <a:off x="229799" y="1811740"/>
            <a:ext cx="17531870" cy="173672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En la vida cotidiana utilizamos proposiciones compuestas en las que utilizamos partículas que nos ayudan a entender su significado, estas partículas son:</a:t>
            </a:r>
            <a:endParaRPr/>
          </a:p>
          <a:p>
            <a:pPr indent="0" lvl="0" marL="0" marR="0" rtl="0" algn="just">
              <a:lnSpc>
                <a:spcPct val="140016"/>
              </a:lnSpc>
              <a:spcBef>
                <a:spcPts val="0"/>
              </a:spcBef>
              <a:spcAft>
                <a:spcPts val="0"/>
              </a:spcAft>
              <a:buNone/>
            </a:pPr>
            <a:r>
              <a:rPr b="0" i="0" lang="en-US" sz="2499" u="none" cap="none" strike="noStrike">
                <a:solidFill>
                  <a:srgbClr val="131416"/>
                </a:solidFill>
                <a:latin typeface="Open Sans"/>
                <a:ea typeface="Open Sans"/>
                <a:cs typeface="Open Sans"/>
                <a:sym typeface="Open Sans"/>
              </a:rPr>
              <a:t>Conectivos: Unen proposiciones simples para formar proposiciones compuestas, estas se simbolizan de la siguiente manera:</a:t>
            </a:r>
            <a:endParaRPr/>
          </a:p>
        </p:txBody>
      </p:sp>
      <p:sp>
        <p:nvSpPr>
          <p:cNvPr id="181" name="Google Shape;181;p11"/>
          <p:cNvSpPr txBox="1"/>
          <p:nvPr/>
        </p:nvSpPr>
        <p:spPr>
          <a:xfrm>
            <a:off x="756130" y="6615985"/>
            <a:ext cx="17531870" cy="129857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3131"/>
                </a:solidFill>
                <a:latin typeface="Open Sans"/>
                <a:ea typeface="Open Sans"/>
                <a:cs typeface="Open Sans"/>
                <a:sym typeface="Open Sans"/>
              </a:rPr>
              <a:t>Ejemplo:</a:t>
            </a:r>
            <a:endParaRPr/>
          </a:p>
          <a:p>
            <a:pPr indent="-269874" lvl="1" marL="539749" marR="0" rtl="0" algn="just">
              <a:lnSpc>
                <a:spcPct val="140016"/>
              </a:lnSpc>
              <a:spcBef>
                <a:spcPts val="0"/>
              </a:spcBef>
              <a:spcAft>
                <a:spcPts val="0"/>
              </a:spcAft>
              <a:buClr>
                <a:srgbClr val="131416"/>
              </a:buClr>
              <a:buSzPts val="2499"/>
              <a:buFont typeface="Arial"/>
              <a:buChar char="•"/>
            </a:pPr>
            <a:r>
              <a:rPr b="0" i="0" lang="en-US" sz="2499" u="none" cap="none" strike="noStrike">
                <a:solidFill>
                  <a:srgbClr val="131416"/>
                </a:solidFill>
                <a:latin typeface="Open Sans"/>
                <a:ea typeface="Open Sans"/>
                <a:cs typeface="Open Sans"/>
                <a:sym typeface="Open Sans"/>
              </a:rPr>
              <a:t>La Tierra es un planeta y gira alrededor del Sol à p^q</a:t>
            </a:r>
            <a:endParaRPr/>
          </a:p>
          <a:p>
            <a:pPr indent="-269874" lvl="1" marL="539749" marR="0" rtl="0" algn="just">
              <a:lnSpc>
                <a:spcPct val="140016"/>
              </a:lnSpc>
              <a:spcBef>
                <a:spcPts val="0"/>
              </a:spcBef>
              <a:spcAft>
                <a:spcPts val="0"/>
              </a:spcAft>
              <a:buClr>
                <a:srgbClr val="131416"/>
              </a:buClr>
              <a:buSzPts val="2499"/>
              <a:buFont typeface="Arial"/>
              <a:buChar char="•"/>
            </a:pPr>
            <a:r>
              <a:rPr b="0" i="0" lang="en-US" sz="2499" u="none" cap="none" strike="noStrike">
                <a:solidFill>
                  <a:srgbClr val="131416"/>
                </a:solidFill>
                <a:latin typeface="Open Sans"/>
                <a:ea typeface="Open Sans"/>
                <a:cs typeface="Open Sans"/>
                <a:sym typeface="Open Sans"/>
              </a:rPr>
              <a:t>Si David recibió el mensaje, entonces Luisa vendrá à p =&gt;q</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p:nvPr/>
        </p:nvSpPr>
        <p:spPr>
          <a:xfrm>
            <a:off x="4038333" y="4516249"/>
            <a:ext cx="9570452" cy="4962457"/>
          </a:xfrm>
          <a:custGeom>
            <a:rect b="b" l="l" r="r" t="t"/>
            <a:pathLst>
              <a:path extrusionOk="0" h="4962457" w="9570452">
                <a:moveTo>
                  <a:pt x="0" y="0"/>
                </a:moveTo>
                <a:lnTo>
                  <a:pt x="9570452" y="0"/>
                </a:lnTo>
                <a:lnTo>
                  <a:pt x="9570452" y="4962457"/>
                </a:lnTo>
                <a:lnTo>
                  <a:pt x="0" y="4962457"/>
                </a:lnTo>
                <a:lnTo>
                  <a:pt x="0" y="0"/>
                </a:lnTo>
                <a:close/>
              </a:path>
            </a:pathLst>
          </a:custGeom>
          <a:blipFill rotWithShape="1">
            <a:blip r:embed="rId3">
              <a:alphaModFix/>
            </a:blip>
            <a:stretch>
              <a:fillRect b="0" l="0" r="0" t="0"/>
            </a:stretch>
          </a:blipFill>
          <a:ln>
            <a:noFill/>
          </a:ln>
        </p:spPr>
      </p:sp>
      <p:sp>
        <p:nvSpPr>
          <p:cNvPr id="187" name="Google Shape;187;p12"/>
          <p:cNvSpPr txBox="1"/>
          <p:nvPr/>
        </p:nvSpPr>
        <p:spPr>
          <a:xfrm>
            <a:off x="1260864" y="695280"/>
            <a:ext cx="17756100"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CONECTIVOS Y CUANTIFICADORES</a:t>
            </a:r>
            <a:endParaRPr/>
          </a:p>
        </p:txBody>
      </p:sp>
      <p:sp>
        <p:nvSpPr>
          <p:cNvPr id="188" name="Google Shape;188;p12"/>
          <p:cNvSpPr txBox="1"/>
          <p:nvPr/>
        </p:nvSpPr>
        <p:spPr>
          <a:xfrm>
            <a:off x="320441" y="2302220"/>
            <a:ext cx="17647119" cy="17805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En la vida cotidiana utilizamos proposiciones compuestas en las que utilizamo partículas que nos ayudan a entender su significado, estas partículas son:</a:t>
            </a:r>
            <a:endParaRPr/>
          </a:p>
          <a:p>
            <a:pPr indent="0" lvl="0" marL="0" marR="0" rtl="0" algn="l">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Cuantificadores:</a:t>
            </a:r>
            <a:r>
              <a:rPr b="0" i="0" lang="en-US" sz="3399" u="none" cap="none" strike="noStrike">
                <a:solidFill>
                  <a:srgbClr val="000000"/>
                </a:solidFill>
                <a:latin typeface="Open Sans"/>
                <a:ea typeface="Open Sans"/>
                <a:cs typeface="Open Sans"/>
                <a:sym typeface="Open Sans"/>
              </a:rPr>
              <a:t> Los cuantificadores indican números y son: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nvSpPr>
        <p:spPr>
          <a:xfrm>
            <a:off x="303064" y="263525"/>
            <a:ext cx="17453036" cy="150177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CLASIFICACIÓN DE LAS PROPOSICIONES</a:t>
            </a:r>
            <a:endParaRPr/>
          </a:p>
        </p:txBody>
      </p:sp>
      <p:sp>
        <p:nvSpPr>
          <p:cNvPr id="194" name="Google Shape;194;p13"/>
          <p:cNvSpPr txBox="1"/>
          <p:nvPr/>
        </p:nvSpPr>
        <p:spPr>
          <a:xfrm>
            <a:off x="303064" y="2137448"/>
            <a:ext cx="17634662" cy="59810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Cantidad</a:t>
            </a:r>
            <a:r>
              <a:rPr b="0" i="0" lang="en-US" sz="3399" u="none" cap="none" strike="noStrike">
                <a:solidFill>
                  <a:srgbClr val="000000"/>
                </a:solidFill>
                <a:latin typeface="Open Sans"/>
                <a:ea typeface="Open Sans"/>
                <a:cs typeface="Open Sans"/>
                <a:sym typeface="Open Sans"/>
              </a:rPr>
              <a:t> – Por cantidad, esta clasificación hace referencia a la cantidad que</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expresamos en las proposiciones, esta se divide en:</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Universales Una proposición es universal cuando se refiere a la totalidad de elementos involucrados en él. Generalmente se utiliza el cuantificador específico de “todos”, pero también se suele sustituir por “totalmente”, sin excepción, etc. El cuantificador universal no denota excepción sino totalidad.</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Los múltiplos del día son la semana, el mes y el año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El litro es la capacidad de undm3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nvSpPr>
        <p:spPr>
          <a:xfrm>
            <a:off x="326669" y="672577"/>
            <a:ext cx="17634662" cy="77812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Particulares: </a:t>
            </a:r>
            <a:r>
              <a:rPr b="0" i="0" lang="en-US" sz="3399" u="none" cap="none" strike="noStrike">
                <a:solidFill>
                  <a:srgbClr val="000000"/>
                </a:solidFill>
                <a:latin typeface="Open Sans"/>
                <a:ea typeface="Open Sans"/>
                <a:cs typeface="Open Sans"/>
                <a:sym typeface="Open Sans"/>
              </a:rPr>
              <a:t>Las proposiciones particulares son las que se refieren únicamente a una parte del todo, siempre y cuando sea de dos en adelante. No se agota la totalidad. Señala excepciones.</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Algunos Verbo irregulares</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Las palabras graves se acentúan, excepto algunos adverbios</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Ciertos animales son herbívoros</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Individuales </a:t>
            </a:r>
            <a:r>
              <a:rPr b="0" i="0" lang="en-US" sz="3399" u="none" cap="none" strike="noStrike">
                <a:solidFill>
                  <a:srgbClr val="000000"/>
                </a:solidFill>
                <a:latin typeface="Open Sans"/>
                <a:ea typeface="Open Sans"/>
                <a:cs typeface="Open Sans"/>
                <a:sym typeface="Open Sans"/>
              </a:rPr>
              <a:t>Son aquellas proposiciones que se refieren a un solo</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elemento del conjunto</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El Planeta tierra es el cuarto del sistema solar</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El Faraón más notable fue RamsésII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nvSpPr>
        <p:spPr>
          <a:xfrm>
            <a:off x="166449" y="672577"/>
            <a:ext cx="17634662" cy="77812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Cualidad – </a:t>
            </a:r>
            <a:r>
              <a:rPr b="0" i="0" lang="en-US" sz="3399" u="none" cap="none" strike="noStrike">
                <a:solidFill>
                  <a:srgbClr val="000000"/>
                </a:solidFill>
                <a:latin typeface="Open Sans"/>
                <a:ea typeface="Open Sans"/>
                <a:cs typeface="Open Sans"/>
                <a:sym typeface="Open Sans"/>
              </a:rPr>
              <a:t>Esta clasificación depende de cómo expresamos la información,</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negativa, afirmativa, o indeterminada, esto le da a la proposición un significado</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específico, su división es la siguiente:</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Afirmativas </a:t>
            </a:r>
            <a:r>
              <a:rPr b="0" i="0" lang="en-US" sz="3399" u="none" cap="none" strike="noStrike">
                <a:solidFill>
                  <a:srgbClr val="000000"/>
                </a:solidFill>
                <a:latin typeface="Open Sans"/>
                <a:ea typeface="Open Sans"/>
                <a:cs typeface="Open Sans"/>
                <a:sym typeface="Open Sans"/>
              </a:rPr>
              <a:t>Cuando las proposiciones o juicios expresan un concepto o</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conceptos que pertenece a otro u otros.</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Arco es una porción cualquiera de la circunferencia</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Tangente es la recta que solo tiene un punto de contacto con la circunferencia</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Negativas: </a:t>
            </a:r>
            <a:r>
              <a:rPr b="0" i="0" lang="en-US" sz="3399" u="none" cap="none" strike="noStrike">
                <a:solidFill>
                  <a:srgbClr val="000000"/>
                </a:solidFill>
                <a:latin typeface="Open Sans"/>
                <a:ea typeface="Open Sans"/>
                <a:cs typeface="Open Sans"/>
                <a:sym typeface="Open Sans"/>
              </a:rPr>
              <a:t>Cuando las proposiciones expresan que un concepto o conceptos no pertenece a otro u otros. Existe una separación total entre los conceptos enunciados.</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El prisma irregular no es recto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Ningún trapezoide tiene sus lados iguales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nvSpPr>
        <p:spPr>
          <a:xfrm>
            <a:off x="166449" y="672577"/>
            <a:ext cx="17634662" cy="89814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Indeterminada: </a:t>
            </a:r>
            <a:r>
              <a:rPr b="0" i="0" lang="en-US" sz="3399" u="none" cap="none" strike="noStrike">
                <a:solidFill>
                  <a:srgbClr val="000000"/>
                </a:solidFill>
                <a:latin typeface="Open Sans"/>
                <a:ea typeface="Open Sans"/>
                <a:cs typeface="Open Sans"/>
                <a:sym typeface="Open Sans"/>
              </a:rPr>
              <a:t>Se llaman indeterminadas porque no afirman ni niegan algo específico, sino que dejan la relación de un concepto con otro que pertenece a una esfera ilimitada de conceptos.</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Algunos cuerpos son no -sólidos</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Los suizos de habla no –francesa</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Modalidad– </a:t>
            </a:r>
            <a:r>
              <a:rPr b="0" i="0" lang="en-US" sz="3399" u="none" cap="none" strike="noStrike">
                <a:solidFill>
                  <a:srgbClr val="000000"/>
                </a:solidFill>
                <a:latin typeface="Open Sans"/>
                <a:ea typeface="Open Sans"/>
                <a:cs typeface="Open Sans"/>
                <a:sym typeface="Open Sans"/>
              </a:rPr>
              <a:t>Esta división obedece al grado de necesidad que le queremos dar a</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la información proporcionada en la proposición a través de la relación entre los</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conceptos. Señalan diversos grados de necesidad: desde la posibilidad hasta la</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necesidad absoluta, esta se divide en:</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Problemáticos</a:t>
            </a:r>
            <a:r>
              <a:rPr b="0" i="0" lang="en-US" sz="3399" u="none" cap="none" strike="noStrike">
                <a:solidFill>
                  <a:srgbClr val="000000"/>
                </a:solidFill>
                <a:latin typeface="Open Sans"/>
                <a:ea typeface="Open Sans"/>
                <a:cs typeface="Open Sans"/>
                <a:sym typeface="Open Sans"/>
              </a:rPr>
              <a:t> Dan una información cuya negación o afirmación es únicamente posible, es decir que puede ser</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Los ángulos pueden ser adyacentes</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La neumonía puede causar la muerte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nvSpPr>
        <p:spPr>
          <a:xfrm>
            <a:off x="166449" y="672577"/>
            <a:ext cx="17634662" cy="65811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Asertóricos: </a:t>
            </a:r>
            <a:r>
              <a:rPr b="0" i="0" lang="en-US" sz="3399" u="none" cap="none" strike="noStrike">
                <a:solidFill>
                  <a:srgbClr val="000000"/>
                </a:solidFill>
                <a:latin typeface="Open Sans"/>
                <a:ea typeface="Open Sans"/>
                <a:cs typeface="Open Sans"/>
                <a:sym typeface="Open Sans"/>
              </a:rPr>
              <a:t>Describen cosas reales, dan información de cómo son los elementos de las clases que describen.</a:t>
            </a:r>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Augusto puso fin a la República y empezó el Imperio Romano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Daltonismo es un defecto que impide distinguir colores</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Apodícticos: </a:t>
            </a:r>
            <a:r>
              <a:rPr b="0" i="0" lang="en-US" sz="3399" u="none" cap="none" strike="noStrike">
                <a:solidFill>
                  <a:srgbClr val="000000"/>
                </a:solidFill>
                <a:latin typeface="Open Sans"/>
                <a:ea typeface="Open Sans"/>
                <a:cs typeface="Open Sans"/>
                <a:sym typeface="Open Sans"/>
              </a:rPr>
              <a:t>Establece una necesidad en la relación entre los conceptos. No hay posibilidad sino una necesidad absoluta. Generalmente se usa en las matemáticas.</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Dos paralelas cortadas por una secante forman ocho ángulos</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La circunferencia está dividida en 360 grados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8"/>
          <p:cNvSpPr txBox="1"/>
          <p:nvPr/>
        </p:nvSpPr>
        <p:spPr>
          <a:xfrm>
            <a:off x="166449" y="672577"/>
            <a:ext cx="17634662" cy="77812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Relación – </a:t>
            </a:r>
            <a:r>
              <a:rPr b="0" i="0" lang="en-US" sz="3399" u="none" cap="none" strike="noStrike">
                <a:solidFill>
                  <a:srgbClr val="000000"/>
                </a:solidFill>
                <a:latin typeface="Open Sans"/>
                <a:ea typeface="Open Sans"/>
                <a:cs typeface="Open Sans"/>
                <a:sym typeface="Open Sans"/>
              </a:rPr>
              <a:t>Para esta división se considera la relación entre las proposiciones,</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dividiéndose en las siguientes ramas.</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El hígado es la glándula más voluminosa del cuerpo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Odoacro dio muerte al último emperador romano, Rómulo Augústulo</a:t>
            </a:r>
            <a:endParaRPr/>
          </a:p>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Hipotéticas: </a:t>
            </a:r>
            <a:r>
              <a:rPr b="0" i="0" lang="en-US" sz="3399" u="none" cap="none" strike="noStrike">
                <a:solidFill>
                  <a:srgbClr val="000000"/>
                </a:solidFill>
                <a:latin typeface="Open Sans"/>
                <a:ea typeface="Open Sans"/>
                <a:cs typeface="Open Sans"/>
                <a:sym typeface="Open Sans"/>
              </a:rPr>
              <a:t>La relación que se establece tanto entre conceptos como entre proposiciones. La relación es de carácter condicional, donde una proposición o concepto condiciona a otra proposición o concepto.</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Si un animal es pluricelular, entonces es metazoario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Si un animal está envuelto en un manto o piel mucosa, entonces es molusco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nvSpPr>
        <p:spPr>
          <a:xfrm>
            <a:off x="166449" y="672577"/>
            <a:ext cx="17634662" cy="47809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Disyuntivas: </a:t>
            </a:r>
            <a:r>
              <a:rPr b="0" i="0" lang="en-US" sz="3399" u="none" cap="none" strike="noStrike">
                <a:solidFill>
                  <a:srgbClr val="000000"/>
                </a:solidFill>
                <a:latin typeface="Open Sans"/>
                <a:ea typeface="Open Sans"/>
                <a:cs typeface="Open Sans"/>
                <a:sym typeface="Open Sans"/>
              </a:rPr>
              <a:t>En estos juicios o proposiciones, la relación se da entre dos o</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más proposiciones entre sí, no de consecuencia sino de oposición lógica. Es</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decir, una excluye a la otra.</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Los animales son unicelulares o pluricelulares</a:t>
            </a:r>
            <a:endParaRPr/>
          </a:p>
          <a:p>
            <a:pPr indent="-367030" lvl="1" marL="734059" marR="0" rtl="0" algn="just">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Las pirámides son regulares o irregulares</a:t>
            </a:r>
            <a:endParaRPr/>
          </a:p>
          <a:p>
            <a:pPr indent="0" lvl="0" marL="0" marR="0" rtl="0" algn="just">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p:nvPr/>
        </p:nvSpPr>
        <p:spPr>
          <a:xfrm>
            <a:off x="4774848" y="5351044"/>
            <a:ext cx="7165946" cy="4271093"/>
          </a:xfrm>
          <a:custGeom>
            <a:rect b="b" l="l" r="r" t="t"/>
            <a:pathLst>
              <a:path extrusionOk="0" h="4271093" w="7165946">
                <a:moveTo>
                  <a:pt x="0" y="0"/>
                </a:moveTo>
                <a:lnTo>
                  <a:pt x="7165946" y="0"/>
                </a:lnTo>
                <a:lnTo>
                  <a:pt x="7165946" y="4271094"/>
                </a:lnTo>
                <a:lnTo>
                  <a:pt x="0" y="4271094"/>
                </a:lnTo>
                <a:lnTo>
                  <a:pt x="0" y="0"/>
                </a:lnTo>
                <a:close/>
              </a:path>
            </a:pathLst>
          </a:custGeom>
          <a:blipFill rotWithShape="1">
            <a:blip r:embed="rId3">
              <a:alphaModFix/>
            </a:blip>
            <a:stretch>
              <a:fillRect b="0" l="0" r="0" t="0"/>
            </a:stretch>
          </a:blipFill>
          <a:ln>
            <a:noFill/>
          </a:ln>
        </p:spPr>
      </p:sp>
      <p:sp>
        <p:nvSpPr>
          <p:cNvPr id="230" name="Google Shape;230;p20"/>
          <p:cNvSpPr txBox="1"/>
          <p:nvPr/>
        </p:nvSpPr>
        <p:spPr>
          <a:xfrm>
            <a:off x="1707337" y="1000125"/>
            <a:ext cx="15072620"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LÓGICA MATEMÁTICA</a:t>
            </a:r>
            <a:endParaRPr/>
          </a:p>
        </p:txBody>
      </p:sp>
      <p:sp>
        <p:nvSpPr>
          <p:cNvPr id="231" name="Google Shape;231;p20"/>
          <p:cNvSpPr txBox="1"/>
          <p:nvPr/>
        </p:nvSpPr>
        <p:spPr>
          <a:xfrm>
            <a:off x="429693" y="2160336"/>
            <a:ext cx="16829607"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Según la definición de la lógica de las proposiciones, vemos que los únicos valores</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que pueden tomar las conclusiones de las mismas son: “Verdadero” o “Falso”, pero no ambas.</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Si tenemos la proposición p: llueve, sus valores de verdad pueden representarse así:</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p:nvPr/>
        </p:nvSpPr>
        <p:spPr>
          <a:xfrm>
            <a:off x="3127153" y="3372671"/>
            <a:ext cx="11301259" cy="4548757"/>
          </a:xfrm>
          <a:custGeom>
            <a:rect b="b" l="l" r="r" t="t"/>
            <a:pathLst>
              <a:path extrusionOk="0" h="4548757" w="11301259">
                <a:moveTo>
                  <a:pt x="0" y="0"/>
                </a:moveTo>
                <a:lnTo>
                  <a:pt x="11301259" y="0"/>
                </a:lnTo>
                <a:lnTo>
                  <a:pt x="11301259" y="4548757"/>
                </a:lnTo>
                <a:lnTo>
                  <a:pt x="0" y="4548757"/>
                </a:lnTo>
                <a:lnTo>
                  <a:pt x="0" y="0"/>
                </a:lnTo>
                <a:close/>
              </a:path>
            </a:pathLst>
          </a:custGeom>
          <a:blipFill rotWithShape="1">
            <a:blip r:embed="rId3">
              <a:alphaModFix/>
            </a:blip>
            <a:stretch>
              <a:fillRect b="0" l="0" r="0" t="0"/>
            </a:stretch>
          </a:blipFill>
          <a:ln>
            <a:noFill/>
          </a:ln>
        </p:spPr>
      </p:sp>
      <p:sp>
        <p:nvSpPr>
          <p:cNvPr id="237" name="Google Shape;237;p21"/>
          <p:cNvSpPr txBox="1"/>
          <p:nvPr/>
        </p:nvSpPr>
        <p:spPr>
          <a:xfrm>
            <a:off x="423946" y="214804"/>
            <a:ext cx="17440109" cy="23806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Si analizamos ahora una proposición compuesta por tres proposiciones simples.</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Comeré pato, o comeré conejo, o comeré pavo: p v q v r es el caso de una proposición</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compuesta por tres proposiciones simples y las posibilidades de valores de verdad</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estarán dadas por el siguiente cuadro: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p:nvPr/>
        </p:nvSpPr>
        <p:spPr>
          <a:xfrm>
            <a:off x="1441850" y="2612224"/>
            <a:ext cx="9141732" cy="2531276"/>
          </a:xfrm>
          <a:custGeom>
            <a:rect b="b" l="l" r="r" t="t"/>
            <a:pathLst>
              <a:path extrusionOk="0" h="2531276" w="9141732">
                <a:moveTo>
                  <a:pt x="0" y="0"/>
                </a:moveTo>
                <a:lnTo>
                  <a:pt x="9141732" y="0"/>
                </a:lnTo>
                <a:lnTo>
                  <a:pt x="9141732" y="2531276"/>
                </a:lnTo>
                <a:lnTo>
                  <a:pt x="0" y="2531276"/>
                </a:lnTo>
                <a:lnTo>
                  <a:pt x="0" y="0"/>
                </a:lnTo>
                <a:close/>
              </a:path>
            </a:pathLst>
          </a:custGeom>
          <a:blipFill rotWithShape="1">
            <a:blip r:embed="rId3">
              <a:alphaModFix/>
            </a:blip>
            <a:stretch>
              <a:fillRect b="0" l="0" r="0" t="0"/>
            </a:stretch>
          </a:blipFill>
          <a:ln>
            <a:noFill/>
          </a:ln>
        </p:spPr>
      </p:sp>
      <p:sp>
        <p:nvSpPr>
          <p:cNvPr id="243" name="Google Shape;243;p22"/>
          <p:cNvSpPr/>
          <p:nvPr/>
        </p:nvSpPr>
        <p:spPr>
          <a:xfrm>
            <a:off x="2715158" y="5981065"/>
            <a:ext cx="11301259" cy="3051340"/>
          </a:xfrm>
          <a:custGeom>
            <a:rect b="b" l="l" r="r" t="t"/>
            <a:pathLst>
              <a:path extrusionOk="0" h="3051340" w="11301259">
                <a:moveTo>
                  <a:pt x="0" y="0"/>
                </a:moveTo>
                <a:lnTo>
                  <a:pt x="11301259" y="0"/>
                </a:lnTo>
                <a:lnTo>
                  <a:pt x="11301259" y="3051340"/>
                </a:lnTo>
                <a:lnTo>
                  <a:pt x="0" y="3051340"/>
                </a:lnTo>
                <a:lnTo>
                  <a:pt x="0" y="0"/>
                </a:lnTo>
                <a:close/>
              </a:path>
            </a:pathLst>
          </a:custGeom>
          <a:blipFill rotWithShape="1">
            <a:blip r:embed="rId4">
              <a:alphaModFix/>
            </a:blip>
            <a:stretch>
              <a:fillRect b="0" l="0" r="0" t="0"/>
            </a:stretch>
          </a:blipFill>
          <a:ln>
            <a:noFill/>
          </a:ln>
        </p:spPr>
      </p:sp>
      <p:sp>
        <p:nvSpPr>
          <p:cNvPr id="244" name="Google Shape;244;p22"/>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DIAGRAMA DE ÁRBOL</a:t>
            </a:r>
            <a:endParaRPr/>
          </a:p>
        </p:txBody>
      </p:sp>
      <p:sp>
        <p:nvSpPr>
          <p:cNvPr id="245" name="Google Shape;245;p22"/>
          <p:cNvSpPr txBox="1"/>
          <p:nvPr/>
        </p:nvSpPr>
        <p:spPr>
          <a:xfrm>
            <a:off x="620041" y="1305130"/>
            <a:ext cx="17396038" cy="17805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El diagrama de árbol es una forma de ir encontrando los posibles valores de verdad, de manera que para una proposición simple quedará:</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
        <p:nvSpPr>
          <p:cNvPr id="246" name="Google Shape;246;p22"/>
          <p:cNvSpPr txBox="1"/>
          <p:nvPr/>
        </p:nvSpPr>
        <p:spPr>
          <a:xfrm>
            <a:off x="620041" y="5076825"/>
            <a:ext cx="17396038"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Para cuando intervienen cuatro proposiciones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p:nvPr/>
        </p:nvSpPr>
        <p:spPr>
          <a:xfrm>
            <a:off x="4929087" y="2749444"/>
            <a:ext cx="7376951" cy="5840987"/>
          </a:xfrm>
          <a:custGeom>
            <a:rect b="b" l="l" r="r" t="t"/>
            <a:pathLst>
              <a:path extrusionOk="0" h="5840987" w="7376951">
                <a:moveTo>
                  <a:pt x="0" y="0"/>
                </a:moveTo>
                <a:lnTo>
                  <a:pt x="7376950" y="0"/>
                </a:lnTo>
                <a:lnTo>
                  <a:pt x="7376950" y="5840988"/>
                </a:lnTo>
                <a:lnTo>
                  <a:pt x="0" y="5840988"/>
                </a:lnTo>
                <a:lnTo>
                  <a:pt x="0" y="0"/>
                </a:lnTo>
                <a:close/>
              </a:path>
            </a:pathLst>
          </a:custGeom>
          <a:blipFill rotWithShape="1">
            <a:blip r:embed="rId3">
              <a:alphaModFix/>
            </a:blip>
            <a:stretch>
              <a:fillRect b="0" l="0" r="0" t="0"/>
            </a:stretch>
          </a:blipFill>
          <a:ln>
            <a:noFill/>
          </a:ln>
        </p:spPr>
      </p:sp>
      <p:sp>
        <p:nvSpPr>
          <p:cNvPr id="252" name="Google Shape;252;p23"/>
          <p:cNvSpPr txBox="1"/>
          <p:nvPr/>
        </p:nvSpPr>
        <p:spPr>
          <a:xfrm>
            <a:off x="620041" y="263525"/>
            <a:ext cx="17136058" cy="150177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CLASIFICACIÓN DE LAS OPERACIONES LÓGICAS</a:t>
            </a:r>
            <a:endParaRPr/>
          </a:p>
        </p:txBody>
      </p:sp>
      <p:sp>
        <p:nvSpPr>
          <p:cNvPr id="253" name="Google Shape;253;p23"/>
          <p:cNvSpPr txBox="1"/>
          <p:nvPr/>
        </p:nvSpPr>
        <p:spPr>
          <a:xfrm>
            <a:off x="620041" y="1698625"/>
            <a:ext cx="17667959"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Es posible dividir las operaciones lógicas de la siguiente manera: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p:nvPr/>
        </p:nvSpPr>
        <p:spPr>
          <a:xfrm>
            <a:off x="1028700" y="2996455"/>
            <a:ext cx="2342619" cy="2417225"/>
          </a:xfrm>
          <a:custGeom>
            <a:rect b="b" l="l" r="r" t="t"/>
            <a:pathLst>
              <a:path extrusionOk="0" h="2417225" w="2342619">
                <a:moveTo>
                  <a:pt x="0" y="0"/>
                </a:moveTo>
                <a:lnTo>
                  <a:pt x="2342619" y="0"/>
                </a:lnTo>
                <a:lnTo>
                  <a:pt x="2342619" y="2417224"/>
                </a:lnTo>
                <a:lnTo>
                  <a:pt x="0" y="2417224"/>
                </a:lnTo>
                <a:lnTo>
                  <a:pt x="0" y="0"/>
                </a:lnTo>
                <a:close/>
              </a:path>
            </a:pathLst>
          </a:custGeom>
          <a:blipFill rotWithShape="1">
            <a:blip r:embed="rId3">
              <a:alphaModFix/>
            </a:blip>
            <a:stretch>
              <a:fillRect b="0" l="0" r="0" t="0"/>
            </a:stretch>
          </a:blipFill>
          <a:ln>
            <a:noFill/>
          </a:ln>
        </p:spPr>
      </p:sp>
      <p:sp>
        <p:nvSpPr>
          <p:cNvPr id="259" name="Google Shape;259;p24"/>
          <p:cNvSpPr/>
          <p:nvPr/>
        </p:nvSpPr>
        <p:spPr>
          <a:xfrm>
            <a:off x="2440494" y="6843962"/>
            <a:ext cx="11301259" cy="2641669"/>
          </a:xfrm>
          <a:custGeom>
            <a:rect b="b" l="l" r="r" t="t"/>
            <a:pathLst>
              <a:path extrusionOk="0" h="2641669" w="11301259">
                <a:moveTo>
                  <a:pt x="0" y="0"/>
                </a:moveTo>
                <a:lnTo>
                  <a:pt x="11301259" y="0"/>
                </a:lnTo>
                <a:lnTo>
                  <a:pt x="11301259" y="2641669"/>
                </a:lnTo>
                <a:lnTo>
                  <a:pt x="0" y="2641669"/>
                </a:lnTo>
                <a:lnTo>
                  <a:pt x="0" y="0"/>
                </a:lnTo>
                <a:close/>
              </a:path>
            </a:pathLst>
          </a:custGeom>
          <a:blipFill rotWithShape="1">
            <a:blip r:embed="rId4">
              <a:alphaModFix/>
            </a:blip>
            <a:stretch>
              <a:fillRect b="0" l="0" r="0" t="0"/>
            </a:stretch>
          </a:blipFill>
          <a:ln>
            <a:noFill/>
          </a:ln>
        </p:spPr>
      </p:sp>
      <p:sp>
        <p:nvSpPr>
          <p:cNvPr id="260" name="Google Shape;260;p24"/>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OPERACIONES LÓGICAS</a:t>
            </a:r>
            <a:endParaRPr/>
          </a:p>
        </p:txBody>
      </p:sp>
      <p:sp>
        <p:nvSpPr>
          <p:cNvPr id="261" name="Google Shape;261;p24"/>
          <p:cNvSpPr txBox="1"/>
          <p:nvPr/>
        </p:nvSpPr>
        <p:spPr>
          <a:xfrm>
            <a:off x="620041" y="1269261"/>
            <a:ext cx="18138211" cy="23806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Negación</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La operación unitaria de negación, toma una proposición y la niega, es decir</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cambia su valor de verdad. Se representa por “¬” y su tabla de verdad es:</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
        <p:nvSpPr>
          <p:cNvPr id="262" name="Google Shape;262;p24"/>
          <p:cNvSpPr txBox="1"/>
          <p:nvPr/>
        </p:nvSpPr>
        <p:spPr>
          <a:xfrm>
            <a:off x="620041" y="5632754"/>
            <a:ext cx="18138211"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 </a:t>
            </a:r>
            <a:r>
              <a:rPr b="0" i="0" lang="en-US" sz="3399" u="none" cap="none" strike="noStrike">
                <a:solidFill>
                  <a:srgbClr val="000000"/>
                </a:solidFill>
                <a:latin typeface="Open Sans"/>
                <a:ea typeface="Open Sans"/>
                <a:cs typeface="Open Sans"/>
                <a:sym typeface="Open Sans"/>
              </a:rPr>
              <a:t>Encuentre la negación de las siguientes expresiones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p:nvPr/>
        </p:nvSpPr>
        <p:spPr>
          <a:xfrm>
            <a:off x="3493371" y="3592409"/>
            <a:ext cx="11301259" cy="3913061"/>
          </a:xfrm>
          <a:custGeom>
            <a:rect b="b" l="l" r="r" t="t"/>
            <a:pathLst>
              <a:path extrusionOk="0" h="3913061" w="11301259">
                <a:moveTo>
                  <a:pt x="0" y="0"/>
                </a:moveTo>
                <a:lnTo>
                  <a:pt x="11301258" y="0"/>
                </a:lnTo>
                <a:lnTo>
                  <a:pt x="11301258" y="3913061"/>
                </a:lnTo>
                <a:lnTo>
                  <a:pt x="0" y="3913061"/>
                </a:lnTo>
                <a:lnTo>
                  <a:pt x="0" y="0"/>
                </a:lnTo>
                <a:close/>
              </a:path>
            </a:pathLst>
          </a:custGeom>
          <a:blipFill rotWithShape="1">
            <a:blip r:embed="rId3">
              <a:alphaModFix/>
            </a:blip>
            <a:stretch>
              <a:fillRect b="0" l="0" r="0" t="0"/>
            </a:stretch>
          </a:blipFill>
          <a:ln>
            <a:noFill/>
          </a:ln>
        </p:spPr>
      </p:sp>
      <p:sp>
        <p:nvSpPr>
          <p:cNvPr id="268" name="Google Shape;268;p25"/>
          <p:cNvSpPr txBox="1"/>
          <p:nvPr/>
        </p:nvSpPr>
        <p:spPr>
          <a:xfrm>
            <a:off x="620041" y="1269261"/>
            <a:ext cx="18138211" cy="17805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Doble Negación</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Una proposición doblemente negada sigue siendo la proposición original.</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
        <p:nvSpPr>
          <p:cNvPr id="269" name="Google Shape;269;p25"/>
          <p:cNvSpPr txBox="1"/>
          <p:nvPr/>
        </p:nvSpPr>
        <p:spPr>
          <a:xfrm>
            <a:off x="620041" y="2726269"/>
            <a:ext cx="18138211"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6"/>
          <p:cNvSpPr/>
          <p:nvPr/>
        </p:nvSpPr>
        <p:spPr>
          <a:xfrm>
            <a:off x="4946787" y="5682706"/>
            <a:ext cx="2124444" cy="2917147"/>
          </a:xfrm>
          <a:custGeom>
            <a:rect b="b" l="l" r="r" t="t"/>
            <a:pathLst>
              <a:path extrusionOk="0" h="2917147" w="2124444">
                <a:moveTo>
                  <a:pt x="0" y="0"/>
                </a:moveTo>
                <a:lnTo>
                  <a:pt x="2124444" y="0"/>
                </a:lnTo>
                <a:lnTo>
                  <a:pt x="2124444" y="2917147"/>
                </a:lnTo>
                <a:lnTo>
                  <a:pt x="0" y="2917147"/>
                </a:lnTo>
                <a:lnTo>
                  <a:pt x="0" y="0"/>
                </a:lnTo>
                <a:close/>
              </a:path>
            </a:pathLst>
          </a:custGeom>
          <a:blipFill rotWithShape="1">
            <a:blip r:embed="rId3">
              <a:alphaModFix/>
            </a:blip>
            <a:stretch>
              <a:fillRect b="0" l="0" r="0" t="0"/>
            </a:stretch>
          </a:blipFill>
          <a:ln>
            <a:noFill/>
          </a:ln>
        </p:spPr>
      </p:sp>
      <p:sp>
        <p:nvSpPr>
          <p:cNvPr id="275" name="Google Shape;275;p26"/>
          <p:cNvSpPr txBox="1"/>
          <p:nvPr/>
        </p:nvSpPr>
        <p:spPr>
          <a:xfrm>
            <a:off x="620041" y="697046"/>
            <a:ext cx="18138211" cy="23806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2F5492"/>
                </a:solidFill>
                <a:latin typeface="Open Sans"/>
                <a:ea typeface="Open Sans"/>
                <a:cs typeface="Open Sans"/>
                <a:sym typeface="Open Sans"/>
              </a:rPr>
              <a:t>Conjunción</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Se le llama conjunción a la proposición compuesta, formada por dos o más proposiciones cada una unida por el conectivo lógico “y” (^). Existen además en nuestro lenguaje otras palabras que tienen el mismo oficio que el conectivo “y”</a:t>
            </a:r>
            <a:endParaRPr/>
          </a:p>
        </p:txBody>
      </p:sp>
      <p:sp>
        <p:nvSpPr>
          <p:cNvPr id="276" name="Google Shape;276;p26"/>
          <p:cNvSpPr txBox="1"/>
          <p:nvPr/>
        </p:nvSpPr>
        <p:spPr>
          <a:xfrm>
            <a:off x="12074755" y="2497271"/>
            <a:ext cx="18138211"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 </a:t>
            </a:r>
            <a:endParaRPr/>
          </a:p>
        </p:txBody>
      </p:sp>
      <p:sp>
        <p:nvSpPr>
          <p:cNvPr id="277" name="Google Shape;277;p26"/>
          <p:cNvSpPr txBox="1"/>
          <p:nvPr/>
        </p:nvSpPr>
        <p:spPr>
          <a:xfrm>
            <a:off x="620041" y="3604614"/>
            <a:ext cx="18595984" cy="17805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000000"/>
                </a:solidFill>
                <a:latin typeface="Open Sans"/>
                <a:ea typeface="Open Sans"/>
                <a:cs typeface="Open Sans"/>
                <a:sym typeface="Open Sans"/>
              </a:rPr>
              <a:t>=&gt; Aunque =&gt;Pero =&gt;Sin embargo =&gt;Además de =&gt; e</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La representación de la conjunción en dos proposiciones se ve de la siguiente manera: p</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 q y su tabla de verdad es la siguiente:</a:t>
            </a:r>
            <a:endParaRPr/>
          </a:p>
        </p:txBody>
      </p:sp>
      <p:sp>
        <p:nvSpPr>
          <p:cNvPr id="278" name="Google Shape;278;p26"/>
          <p:cNvSpPr txBox="1"/>
          <p:nvPr/>
        </p:nvSpPr>
        <p:spPr>
          <a:xfrm>
            <a:off x="149789" y="8533178"/>
            <a:ext cx="18138211"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La conjunción nos sirve para indicar que se cumplen dos condiciones simultaneamente.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7"/>
          <p:cNvSpPr txBox="1"/>
          <p:nvPr/>
        </p:nvSpPr>
        <p:spPr>
          <a:xfrm>
            <a:off x="149789" y="697046"/>
            <a:ext cx="18608464"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2F5492"/>
                </a:solidFill>
                <a:latin typeface="Open Sans"/>
                <a:ea typeface="Open Sans"/>
                <a:cs typeface="Open Sans"/>
                <a:sym typeface="Open Sans"/>
              </a:rPr>
              <a:t>Disyunción: </a:t>
            </a:r>
            <a:r>
              <a:rPr b="0" i="0" lang="en-US" sz="3399" u="none" cap="none" strike="noStrike">
                <a:solidFill>
                  <a:srgbClr val="000000"/>
                </a:solidFill>
                <a:latin typeface="Open Sans"/>
                <a:ea typeface="Open Sans"/>
                <a:cs typeface="Open Sans"/>
                <a:sym typeface="Open Sans"/>
              </a:rPr>
              <a:t>Las proposiciones disyunciones, se encuentran compuestas de dos proposiciones simples con el conectivo lógico, “o” (v).</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La diferencia con la conjunción, representamos dos expresiones y que afirman que una de las dos es verdadera, por lo que basta con que una de ellas sea verdadera para que la</a:t>
            </a:r>
            <a:endParaRPr/>
          </a:p>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expresión sea verdadera.</a:t>
            </a:r>
            <a:endParaRPr/>
          </a:p>
        </p:txBody>
      </p:sp>
      <p:sp>
        <p:nvSpPr>
          <p:cNvPr id="284" name="Google Shape;284;p27"/>
          <p:cNvSpPr txBox="1"/>
          <p:nvPr/>
        </p:nvSpPr>
        <p:spPr>
          <a:xfrm>
            <a:off x="384915" y="3853563"/>
            <a:ext cx="18138211"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 </a:t>
            </a:r>
            <a:endParaRPr/>
          </a:p>
        </p:txBody>
      </p:sp>
      <p:sp>
        <p:nvSpPr>
          <p:cNvPr id="285" name="Google Shape;285;p27"/>
          <p:cNvSpPr txBox="1"/>
          <p:nvPr/>
        </p:nvSpPr>
        <p:spPr>
          <a:xfrm>
            <a:off x="384915" y="5557658"/>
            <a:ext cx="18138211" cy="2380615"/>
          </a:xfrm>
          <a:prstGeom prst="rect">
            <a:avLst/>
          </a:prstGeom>
          <a:noFill/>
          <a:ln>
            <a:noFill/>
          </a:ln>
        </p:spPr>
        <p:txBody>
          <a:bodyPr anchorCtr="0" anchor="t" bIns="0" lIns="0" spcFirstLastPara="1" rIns="0" wrap="square" tIns="0">
            <a:spAutoFit/>
          </a:bodyPr>
          <a:lstStyle/>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Voy al cine o al teatro</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Se llama Pamela o Vanesa</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Comeré o Leeré el periódico</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Hace frío o calor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8"/>
          <p:cNvSpPr/>
          <p:nvPr/>
        </p:nvSpPr>
        <p:spPr>
          <a:xfrm>
            <a:off x="5817599" y="6015842"/>
            <a:ext cx="2548546" cy="3652916"/>
          </a:xfrm>
          <a:custGeom>
            <a:rect b="b" l="l" r="r" t="t"/>
            <a:pathLst>
              <a:path extrusionOk="0" h="3652916" w="2548546">
                <a:moveTo>
                  <a:pt x="0" y="0"/>
                </a:moveTo>
                <a:lnTo>
                  <a:pt x="2548546" y="0"/>
                </a:lnTo>
                <a:lnTo>
                  <a:pt x="2548546" y="3652916"/>
                </a:lnTo>
                <a:lnTo>
                  <a:pt x="0" y="3652916"/>
                </a:lnTo>
                <a:lnTo>
                  <a:pt x="0" y="0"/>
                </a:lnTo>
                <a:close/>
              </a:path>
            </a:pathLst>
          </a:custGeom>
          <a:blipFill rotWithShape="1">
            <a:blip r:embed="rId3">
              <a:alphaModFix/>
            </a:blip>
            <a:stretch>
              <a:fillRect b="0" l="0" r="0" t="0"/>
            </a:stretch>
          </a:blipFill>
          <a:ln>
            <a:noFill/>
          </a:ln>
        </p:spPr>
      </p:sp>
      <p:sp>
        <p:nvSpPr>
          <p:cNvPr id="291" name="Google Shape;291;p28"/>
          <p:cNvSpPr txBox="1"/>
          <p:nvPr/>
        </p:nvSpPr>
        <p:spPr>
          <a:xfrm>
            <a:off x="149789" y="705167"/>
            <a:ext cx="18608464" cy="11804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2F5492"/>
                </a:solidFill>
                <a:latin typeface="Open Sans"/>
                <a:ea typeface="Open Sans"/>
                <a:cs typeface="Open Sans"/>
                <a:sym typeface="Open Sans"/>
              </a:rPr>
              <a:t>Disyunción Exclusiva: </a:t>
            </a:r>
            <a:r>
              <a:rPr b="0" i="0" lang="en-US" sz="3399" u="none" cap="none" strike="noStrike">
                <a:solidFill>
                  <a:srgbClr val="000000"/>
                </a:solidFill>
                <a:latin typeface="Open Sans"/>
                <a:ea typeface="Open Sans"/>
                <a:cs typeface="Open Sans"/>
                <a:sym typeface="Open Sans"/>
              </a:rPr>
              <a:t>Indica que una de las dos proposiciones se cumple, pero no se pueden cumplir ambas.</a:t>
            </a:r>
            <a:endParaRPr/>
          </a:p>
        </p:txBody>
      </p:sp>
      <p:sp>
        <p:nvSpPr>
          <p:cNvPr id="292" name="Google Shape;292;p28"/>
          <p:cNvSpPr txBox="1"/>
          <p:nvPr/>
        </p:nvSpPr>
        <p:spPr>
          <a:xfrm>
            <a:off x="5054192" y="1305242"/>
            <a:ext cx="18138211" cy="5803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 </a:t>
            </a:r>
            <a:endParaRPr/>
          </a:p>
        </p:txBody>
      </p:sp>
      <p:sp>
        <p:nvSpPr>
          <p:cNvPr id="293" name="Google Shape;293;p28"/>
          <p:cNvSpPr txBox="1"/>
          <p:nvPr/>
        </p:nvSpPr>
        <p:spPr>
          <a:xfrm>
            <a:off x="384915" y="2712137"/>
            <a:ext cx="18138211" cy="2980690"/>
          </a:xfrm>
          <a:prstGeom prst="rect">
            <a:avLst/>
          </a:prstGeom>
          <a:noFill/>
          <a:ln>
            <a:noFill/>
          </a:ln>
        </p:spPr>
        <p:txBody>
          <a:bodyPr anchorCtr="0" anchor="t" bIns="0" lIns="0" spcFirstLastPara="1" rIns="0" wrap="square" tIns="0">
            <a:spAutoFit/>
          </a:bodyPr>
          <a:lstStyle/>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Gustavo está en Puertos Barrios o Quetzaltenango</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Si en determinado momento queremos considerar tanto a p como a q con valor de</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verdad verdadero, resultaría que Gustavo está en Puerto Barrios y en Quetzaltenango</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al mismo tiempo, lo cual es imposible. Esto lleva a la operación Disyunción Exclusiva.</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Las representaciones con V y su tabla de verdad es la siguiente: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9"/>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TABLAS DE VERDAD</a:t>
            </a:r>
            <a:endParaRPr/>
          </a:p>
        </p:txBody>
      </p:sp>
      <p:sp>
        <p:nvSpPr>
          <p:cNvPr id="299" name="Google Shape;299;p29"/>
          <p:cNvSpPr txBox="1"/>
          <p:nvPr/>
        </p:nvSpPr>
        <p:spPr>
          <a:xfrm>
            <a:off x="847891" y="1724566"/>
            <a:ext cx="17108224" cy="83813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El objeto de una tabla de verdad es conocer el valor de verdad de las proposiciones compuesta en base a cada posibilidad de valores que tengan las proposiciones simples que la forman. Para construir las tablas de verdad se deben seguir los siguientes pasos:</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Ver cuántas proposiciones simples hay</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 Encontrar las combinaciones posibles de valores de verdad en función 2n donde n es el número de proposiciones, es decir cuántos renglones tendrá la tabla.</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Realizar las operaciones dentro de los paréntesis, de acuerdo al siguiente orden de preferencia</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Las operaciones dentro de los paréntesis normales()</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Las operaciones dentro de los paréntesis de corchete []</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Las operaciones dentro de los paréntesis de llave {}</a:t>
            </a:r>
            <a:endParaRPr/>
          </a:p>
          <a:p>
            <a:pPr indent="-367030" lvl="1" marL="734059" marR="0" rtl="0" algn="just">
              <a:lnSpc>
                <a:spcPct val="140011"/>
              </a:lnSpc>
              <a:spcBef>
                <a:spcPts val="0"/>
              </a:spcBef>
              <a:spcAft>
                <a:spcPts val="0"/>
              </a:spcAft>
              <a:buClr>
                <a:srgbClr val="131416"/>
              </a:buClr>
              <a:buSzPts val="3399"/>
              <a:buFont typeface="Open Sans"/>
              <a:buAutoNum type="arabicPeriod"/>
            </a:pPr>
            <a:r>
              <a:rPr b="0" i="0" lang="en-US" sz="3399" u="none" cap="none" strike="noStrike">
                <a:solidFill>
                  <a:srgbClr val="131416"/>
                </a:solidFill>
                <a:latin typeface="Open Sans"/>
                <a:ea typeface="Open Sans"/>
                <a:cs typeface="Open Sans"/>
                <a:sym typeface="Open Sans"/>
              </a:rPr>
              <a:t>Una vez resueltas todas las operaciones se obtendrá el resultado </a:t>
            </a:r>
            <a:endParaRPr/>
          </a:p>
          <a:p>
            <a:pPr indent="0" lvl="0" marL="0" marR="0" rtl="0" algn="just">
              <a:lnSpc>
                <a:spcPct val="140011"/>
              </a:lnSpc>
              <a:spcBef>
                <a:spcPts val="0"/>
              </a:spcBef>
              <a:spcAft>
                <a:spcPts val="0"/>
              </a:spcAft>
              <a:buNone/>
            </a:pPr>
            <a:r>
              <a:t/>
            </a:r>
            <a:endParaRPr b="0" i="0" sz="3399" u="none" cap="none" strike="noStrike">
              <a:solidFill>
                <a:srgbClr val="131416"/>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0"/>
          <p:cNvSpPr/>
          <p:nvPr/>
        </p:nvSpPr>
        <p:spPr>
          <a:xfrm>
            <a:off x="2007812" y="7275346"/>
            <a:ext cx="4796219" cy="2205976"/>
          </a:xfrm>
          <a:custGeom>
            <a:rect b="b" l="l" r="r" t="t"/>
            <a:pathLst>
              <a:path extrusionOk="0" h="2205976" w="4796219">
                <a:moveTo>
                  <a:pt x="0" y="0"/>
                </a:moveTo>
                <a:lnTo>
                  <a:pt x="4796219" y="0"/>
                </a:lnTo>
                <a:lnTo>
                  <a:pt x="4796219" y="2205976"/>
                </a:lnTo>
                <a:lnTo>
                  <a:pt x="0" y="2205976"/>
                </a:lnTo>
                <a:lnTo>
                  <a:pt x="0" y="0"/>
                </a:lnTo>
                <a:close/>
              </a:path>
            </a:pathLst>
          </a:custGeom>
          <a:blipFill rotWithShape="1">
            <a:blip r:embed="rId3">
              <a:alphaModFix/>
            </a:blip>
            <a:stretch>
              <a:fillRect b="0" l="0" r="0" t="0"/>
            </a:stretch>
          </a:blipFill>
          <a:ln>
            <a:noFill/>
          </a:ln>
        </p:spPr>
      </p:sp>
      <p:sp>
        <p:nvSpPr>
          <p:cNvPr id="305" name="Google Shape;305;p30"/>
          <p:cNvSpPr txBox="1"/>
          <p:nvPr/>
        </p:nvSpPr>
        <p:spPr>
          <a:xfrm>
            <a:off x="620041" y="263525"/>
            <a:ext cx="17136058"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5000" u="none" cap="none" strike="noStrike">
                <a:solidFill>
                  <a:srgbClr val="2F5492"/>
                </a:solidFill>
                <a:latin typeface="Arial"/>
                <a:ea typeface="Arial"/>
                <a:cs typeface="Arial"/>
                <a:sym typeface="Arial"/>
              </a:rPr>
              <a:t>SIMPLIFICACIÓN</a:t>
            </a:r>
            <a:endParaRPr/>
          </a:p>
        </p:txBody>
      </p:sp>
      <p:sp>
        <p:nvSpPr>
          <p:cNvPr id="306" name="Google Shape;306;p30"/>
          <p:cNvSpPr txBox="1"/>
          <p:nvPr/>
        </p:nvSpPr>
        <p:spPr>
          <a:xfrm>
            <a:off x="9676141" y="2411224"/>
            <a:ext cx="8296109"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En el caso contrario de la adjunción. Si se tiene una premisa compuesta que utiliza el conectivo “y” y es verdadera, puede deducirse que ambas premisas simples son verdaderas.</a:t>
            </a:r>
            <a:endParaRPr/>
          </a:p>
        </p:txBody>
      </p:sp>
      <p:sp>
        <p:nvSpPr>
          <p:cNvPr id="307" name="Google Shape;307;p30"/>
          <p:cNvSpPr txBox="1"/>
          <p:nvPr/>
        </p:nvSpPr>
        <p:spPr>
          <a:xfrm>
            <a:off x="620041" y="2119630"/>
            <a:ext cx="8296109" cy="47809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i="0" lang="en-US" sz="3399" u="none" cap="none" strike="noStrike">
                <a:solidFill>
                  <a:srgbClr val="FF3131"/>
                </a:solidFill>
                <a:latin typeface="Open Sans"/>
                <a:ea typeface="Open Sans"/>
                <a:cs typeface="Open Sans"/>
                <a:sym typeface="Open Sans"/>
              </a:rPr>
              <a:t>Ejemplo:</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Hoy es viernes y mañana será sábado</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Conclusiones: (ambas verdaderas)</a:t>
            </a:r>
            <a:endParaRPr/>
          </a:p>
          <a:p>
            <a:pPr indent="-367030" lvl="1" marL="73405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Hoy es viernes</a:t>
            </a:r>
            <a:endParaRPr/>
          </a:p>
          <a:p>
            <a:pPr indent="-489373" lvl="2" marL="1468119" marR="0" rtl="0" algn="just">
              <a:lnSpc>
                <a:spcPct val="140011"/>
              </a:lnSpc>
              <a:spcBef>
                <a:spcPts val="0"/>
              </a:spcBef>
              <a:spcAft>
                <a:spcPts val="0"/>
              </a:spcAft>
              <a:buClr>
                <a:srgbClr val="131416"/>
              </a:buClr>
              <a:buSzPts val="3399"/>
              <a:buFont typeface="Arial"/>
              <a:buChar char="⚬"/>
            </a:pPr>
            <a:r>
              <a:rPr b="0" i="0" lang="en-US" sz="3399" u="none" cap="none" strike="noStrike">
                <a:solidFill>
                  <a:srgbClr val="131416"/>
                </a:solidFill>
                <a:latin typeface="Open Sans"/>
                <a:ea typeface="Open Sans"/>
                <a:cs typeface="Open Sans"/>
                <a:sym typeface="Open Sans"/>
              </a:rPr>
              <a:t>Mañana será Sábado</a:t>
            </a:r>
            <a:endParaRPr/>
          </a:p>
          <a:p>
            <a:pPr indent="0" lvl="0" marL="0" marR="0" rtl="0" algn="just">
              <a:lnSpc>
                <a:spcPct val="140011"/>
              </a:lnSpc>
              <a:spcBef>
                <a:spcPts val="0"/>
              </a:spcBef>
              <a:spcAft>
                <a:spcPts val="0"/>
              </a:spcAft>
              <a:buNone/>
            </a:pPr>
            <a:r>
              <a:rPr b="0" i="0" lang="en-US" sz="3399" u="none" cap="none" strike="noStrike">
                <a:solidFill>
                  <a:srgbClr val="131416"/>
                </a:solidFill>
                <a:latin typeface="Open Sans"/>
                <a:ea typeface="Open Sans"/>
                <a:cs typeface="Open Sans"/>
                <a:sym typeface="Open Sans"/>
              </a:rPr>
              <a:t>Simbolizando: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1"/>
          <p:cNvSpPr/>
          <p:nvPr/>
        </p:nvSpPr>
        <p:spPr>
          <a:xfrm>
            <a:off x="3208812" y="4299909"/>
            <a:ext cx="10542837" cy="4754257"/>
          </a:xfrm>
          <a:custGeom>
            <a:rect b="b" l="l" r="r" t="t"/>
            <a:pathLst>
              <a:path extrusionOk="0" h="4754257" w="10542837">
                <a:moveTo>
                  <a:pt x="0" y="0"/>
                </a:moveTo>
                <a:lnTo>
                  <a:pt x="10542837" y="0"/>
                </a:lnTo>
                <a:lnTo>
                  <a:pt x="10542837" y="4754256"/>
                </a:lnTo>
                <a:lnTo>
                  <a:pt x="0" y="4754256"/>
                </a:lnTo>
                <a:lnTo>
                  <a:pt x="0" y="0"/>
                </a:lnTo>
                <a:close/>
              </a:path>
            </a:pathLst>
          </a:custGeom>
          <a:blipFill rotWithShape="1">
            <a:blip r:embed="rId3">
              <a:alphaModFix/>
            </a:blip>
            <a:stretch>
              <a:fillRect b="0" l="0" r="0" t="0"/>
            </a:stretch>
          </a:blipFill>
          <a:ln>
            <a:noFill/>
          </a:ln>
        </p:spPr>
      </p:sp>
      <p:sp>
        <p:nvSpPr>
          <p:cNvPr id="313" name="Google Shape;313;p31"/>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TABLAS DE VERDAD - RESULTADOS</a:t>
            </a:r>
            <a:endParaRPr/>
          </a:p>
        </p:txBody>
      </p:sp>
      <p:sp>
        <p:nvSpPr>
          <p:cNvPr id="314" name="Google Shape;314;p31"/>
          <p:cNvSpPr txBox="1"/>
          <p:nvPr/>
        </p:nvSpPr>
        <p:spPr>
          <a:xfrm>
            <a:off x="766686" y="1908240"/>
            <a:ext cx="16698779" cy="307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131416"/>
                </a:solidFill>
                <a:latin typeface="Open Sans"/>
                <a:ea typeface="Open Sans"/>
                <a:cs typeface="Open Sans"/>
                <a:sym typeface="Open Sans"/>
              </a:rPr>
              <a:t>Contradicción:</a:t>
            </a:r>
            <a:r>
              <a:rPr b="0" i="0" lang="en-US" sz="3500" u="none" cap="none" strike="noStrike">
                <a:solidFill>
                  <a:srgbClr val="131416"/>
                </a:solidFill>
                <a:latin typeface="Open Sans"/>
                <a:ea typeface="Open Sans"/>
                <a:cs typeface="Open Sans"/>
                <a:sym typeface="Open Sans"/>
              </a:rPr>
              <a:t> Es cuando el resultado final de una tabla de verdad, todos los valores de verdad son falsos, independientemente de los valores de verdad de las proposiciones simples que la forman. </a:t>
            </a:r>
            <a:r>
              <a:rPr b="1" i="0" lang="en-US" sz="35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2"/>
          <p:cNvSpPr/>
          <p:nvPr/>
        </p:nvSpPr>
        <p:spPr>
          <a:xfrm>
            <a:off x="1524950" y="3151653"/>
            <a:ext cx="11301259" cy="3983694"/>
          </a:xfrm>
          <a:custGeom>
            <a:rect b="b" l="l" r="r" t="t"/>
            <a:pathLst>
              <a:path extrusionOk="0" h="3983694" w="11301259">
                <a:moveTo>
                  <a:pt x="0" y="0"/>
                </a:moveTo>
                <a:lnTo>
                  <a:pt x="11301259" y="0"/>
                </a:lnTo>
                <a:lnTo>
                  <a:pt x="11301259" y="3983694"/>
                </a:lnTo>
                <a:lnTo>
                  <a:pt x="0" y="3983694"/>
                </a:lnTo>
                <a:lnTo>
                  <a:pt x="0" y="0"/>
                </a:lnTo>
                <a:close/>
              </a:path>
            </a:pathLst>
          </a:custGeom>
          <a:blipFill rotWithShape="1">
            <a:blip r:embed="rId3">
              <a:alphaModFix/>
            </a:blip>
            <a:stretch>
              <a:fillRect b="0" l="0" r="0" t="0"/>
            </a:stretch>
          </a:blipFill>
          <a:ln>
            <a:noFill/>
          </a:ln>
        </p:spPr>
      </p:sp>
      <p:sp>
        <p:nvSpPr>
          <p:cNvPr id="320" name="Google Shape;320;p32"/>
          <p:cNvSpPr txBox="1"/>
          <p:nvPr/>
        </p:nvSpPr>
        <p:spPr>
          <a:xfrm>
            <a:off x="794610" y="718032"/>
            <a:ext cx="16698779" cy="307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131416"/>
                </a:solidFill>
                <a:latin typeface="Open Sans"/>
                <a:ea typeface="Open Sans"/>
                <a:cs typeface="Open Sans"/>
                <a:sym typeface="Open Sans"/>
              </a:rPr>
              <a:t>Tautología: </a:t>
            </a:r>
            <a:r>
              <a:rPr b="0" i="0" lang="en-US" sz="3500" u="none" cap="none" strike="noStrike">
                <a:solidFill>
                  <a:srgbClr val="131416"/>
                </a:solidFill>
                <a:latin typeface="Open Sans"/>
                <a:ea typeface="Open Sans"/>
                <a:cs typeface="Open Sans"/>
                <a:sym typeface="Open Sans"/>
              </a:rPr>
              <a:t>Es cuando el resultado final de una tabla de verdad, todos los valores de verdad son verdaderos, cualesquiera que sean los valores de las proposiciones simples que la forman.</a:t>
            </a:r>
            <a:r>
              <a:rPr b="1" i="0" lang="en-US" sz="3500" u="none" cap="none" strike="noStrike">
                <a:solidFill>
                  <a:srgbClr val="131416"/>
                </a:solidFill>
                <a:latin typeface="Open Sans"/>
                <a:ea typeface="Open Sans"/>
                <a:cs typeface="Open Sans"/>
                <a:sym typeface="Open Sans"/>
              </a:rPr>
              <a:t> </a:t>
            </a:r>
            <a:r>
              <a:rPr b="1" i="0" lang="en-US" sz="35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p:nvPr/>
        </p:nvSpPr>
        <p:spPr>
          <a:xfrm>
            <a:off x="4318570" y="2571652"/>
            <a:ext cx="7773994" cy="5143695"/>
          </a:xfrm>
          <a:custGeom>
            <a:rect b="b" l="l" r="r" t="t"/>
            <a:pathLst>
              <a:path extrusionOk="0" h="5143695" w="7773994">
                <a:moveTo>
                  <a:pt x="0" y="0"/>
                </a:moveTo>
                <a:lnTo>
                  <a:pt x="7773994" y="0"/>
                </a:lnTo>
                <a:lnTo>
                  <a:pt x="7773994" y="5143696"/>
                </a:lnTo>
                <a:lnTo>
                  <a:pt x="0" y="5143696"/>
                </a:lnTo>
                <a:lnTo>
                  <a:pt x="0" y="0"/>
                </a:lnTo>
                <a:close/>
              </a:path>
            </a:pathLst>
          </a:custGeom>
          <a:blipFill rotWithShape="1">
            <a:blip r:embed="rId3">
              <a:alphaModFix/>
            </a:blip>
            <a:stretch>
              <a:fillRect b="0" l="0" r="0" t="0"/>
            </a:stretch>
          </a:blipFill>
          <a:ln>
            <a:noFill/>
          </a:ln>
        </p:spPr>
      </p:sp>
      <p:sp>
        <p:nvSpPr>
          <p:cNvPr id="326" name="Google Shape;326;p33"/>
          <p:cNvSpPr txBox="1"/>
          <p:nvPr/>
        </p:nvSpPr>
        <p:spPr>
          <a:xfrm>
            <a:off x="794610" y="718032"/>
            <a:ext cx="16698779" cy="2454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131416"/>
                </a:solidFill>
                <a:latin typeface="Open Sans"/>
                <a:ea typeface="Open Sans"/>
                <a:cs typeface="Open Sans"/>
                <a:sym typeface="Open Sans"/>
              </a:rPr>
              <a:t>Contingencia: </a:t>
            </a:r>
            <a:r>
              <a:rPr b="0" i="0" lang="en-US" sz="3500" u="none" cap="none" strike="noStrike">
                <a:solidFill>
                  <a:srgbClr val="131416"/>
                </a:solidFill>
                <a:latin typeface="Open Sans"/>
                <a:ea typeface="Open Sans"/>
                <a:cs typeface="Open Sans"/>
                <a:sym typeface="Open Sans"/>
              </a:rPr>
              <a:t>Es cuando el resultado final de una tabla de verdad, no es ni tautología ni contradicción. </a:t>
            </a:r>
            <a:r>
              <a:rPr b="1" i="0" lang="en-US" sz="35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p:nvPr/>
        </p:nvSpPr>
        <p:spPr>
          <a:xfrm>
            <a:off x="2924302" y="3172307"/>
            <a:ext cx="11294965" cy="3849913"/>
          </a:xfrm>
          <a:custGeom>
            <a:rect b="b" l="l" r="r" t="t"/>
            <a:pathLst>
              <a:path extrusionOk="0" h="3849913" w="11294965">
                <a:moveTo>
                  <a:pt x="0" y="0"/>
                </a:moveTo>
                <a:lnTo>
                  <a:pt x="11294965" y="0"/>
                </a:lnTo>
                <a:lnTo>
                  <a:pt x="11294965" y="3849913"/>
                </a:lnTo>
                <a:lnTo>
                  <a:pt x="0" y="3849913"/>
                </a:lnTo>
                <a:lnTo>
                  <a:pt x="0" y="0"/>
                </a:lnTo>
                <a:close/>
              </a:path>
            </a:pathLst>
          </a:custGeom>
          <a:blipFill rotWithShape="1">
            <a:blip r:embed="rId3">
              <a:alphaModFix/>
            </a:blip>
            <a:stretch>
              <a:fillRect b="0" l="0" r="0" t="0"/>
            </a:stretch>
          </a:blipFill>
          <a:ln>
            <a:noFill/>
          </a:ln>
        </p:spPr>
      </p:sp>
      <p:sp>
        <p:nvSpPr>
          <p:cNvPr id="332" name="Google Shape;332;p34"/>
          <p:cNvSpPr txBox="1"/>
          <p:nvPr/>
        </p:nvSpPr>
        <p:spPr>
          <a:xfrm>
            <a:off x="794610" y="718032"/>
            <a:ext cx="16698779" cy="2454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131416"/>
                </a:solidFill>
                <a:latin typeface="Open Sans"/>
                <a:ea typeface="Open Sans"/>
                <a:cs typeface="Open Sans"/>
                <a:sym typeface="Open Sans"/>
              </a:rPr>
              <a:t>Proposiciones Equivalentes:</a:t>
            </a:r>
            <a:r>
              <a:rPr b="0" i="0" lang="en-US" sz="3500" u="none" cap="none" strike="noStrike">
                <a:solidFill>
                  <a:srgbClr val="131416"/>
                </a:solidFill>
                <a:latin typeface="Open Sans"/>
                <a:ea typeface="Open Sans"/>
                <a:cs typeface="Open Sans"/>
                <a:sym typeface="Open Sans"/>
              </a:rPr>
              <a:t> Es cuando el resultado final de una tabla de verdad, no es ni tautología ni contradicción.</a:t>
            </a:r>
            <a:r>
              <a:rPr b="1" i="0" lang="en-US" sz="3500" u="none" cap="none" strike="noStrike">
                <a:solidFill>
                  <a:srgbClr val="131416"/>
                </a:solidFill>
                <a:latin typeface="Open Sans"/>
                <a:ea typeface="Open Sans"/>
                <a:cs typeface="Open Sans"/>
                <a:sym typeface="Open Sans"/>
              </a:rPr>
              <a:t> </a:t>
            </a:r>
            <a:r>
              <a:rPr b="1" i="0" lang="en-US" sz="35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i="0" sz="3500" u="none" cap="none" strike="noStrike">
              <a:solidFill>
                <a:srgbClr val="FF3131"/>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5"/>
          <p:cNvSpPr/>
          <p:nvPr/>
        </p:nvSpPr>
        <p:spPr>
          <a:xfrm>
            <a:off x="6878476" y="3382715"/>
            <a:ext cx="2265524" cy="3152034"/>
          </a:xfrm>
          <a:custGeom>
            <a:rect b="b" l="l" r="r" t="t"/>
            <a:pathLst>
              <a:path extrusionOk="0" h="3152034" w="2265524">
                <a:moveTo>
                  <a:pt x="0" y="0"/>
                </a:moveTo>
                <a:lnTo>
                  <a:pt x="2265524" y="0"/>
                </a:lnTo>
                <a:lnTo>
                  <a:pt x="2265524" y="3152034"/>
                </a:lnTo>
                <a:lnTo>
                  <a:pt x="0" y="3152034"/>
                </a:lnTo>
                <a:lnTo>
                  <a:pt x="0" y="0"/>
                </a:lnTo>
                <a:close/>
              </a:path>
            </a:pathLst>
          </a:custGeom>
          <a:blipFill rotWithShape="1">
            <a:blip r:embed="rId3">
              <a:alphaModFix/>
            </a:blip>
            <a:stretch>
              <a:fillRect b="0" l="0" r="0" t="0"/>
            </a:stretch>
          </a:blipFill>
          <a:ln>
            <a:noFill/>
          </a:ln>
        </p:spPr>
      </p:sp>
      <p:sp>
        <p:nvSpPr>
          <p:cNvPr id="338" name="Google Shape;338;p35"/>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CONDICIONAL</a:t>
            </a:r>
            <a:endParaRPr/>
          </a:p>
        </p:txBody>
      </p:sp>
      <p:sp>
        <p:nvSpPr>
          <p:cNvPr id="339" name="Google Shape;339;p35"/>
          <p:cNvSpPr txBox="1"/>
          <p:nvPr/>
        </p:nvSpPr>
        <p:spPr>
          <a:xfrm>
            <a:off x="507073" y="1404690"/>
            <a:ext cx="16927665" cy="183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Una proposición condicional es aquella donde están unidas dos proposiciones con el conectivo lógico “si...entonces...”Larepresentaciónes:p=&gt;qysutabladeverdadesla siguiente:</a:t>
            </a:r>
            <a:endParaRPr/>
          </a:p>
        </p:txBody>
      </p:sp>
      <p:sp>
        <p:nvSpPr>
          <p:cNvPr id="340" name="Google Shape;340;p35"/>
          <p:cNvSpPr txBox="1"/>
          <p:nvPr/>
        </p:nvSpPr>
        <p:spPr>
          <a:xfrm>
            <a:off x="1028700" y="6610949"/>
            <a:ext cx="16927665" cy="2454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Ejemplo:</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Si tengo catarro entonces tomo limonada</a:t>
            </a:r>
            <a:endParaRPr/>
          </a:p>
          <a:p>
            <a:pPr indent="-503766" lvl="2" marL="151130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q: tomo limonada</a:t>
            </a:r>
            <a:endParaRPr/>
          </a:p>
          <a:p>
            <a:pPr indent="-503766" lvl="2" marL="151130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Se simboliza p =&gt; q y se lee: p entonces q</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6"/>
          <p:cNvSpPr/>
          <p:nvPr/>
        </p:nvSpPr>
        <p:spPr>
          <a:xfrm>
            <a:off x="7708124" y="5913190"/>
            <a:ext cx="2871752" cy="3856353"/>
          </a:xfrm>
          <a:custGeom>
            <a:rect b="b" l="l" r="r" t="t"/>
            <a:pathLst>
              <a:path extrusionOk="0" h="3856353" w="2871752">
                <a:moveTo>
                  <a:pt x="0" y="0"/>
                </a:moveTo>
                <a:lnTo>
                  <a:pt x="2871752" y="0"/>
                </a:lnTo>
                <a:lnTo>
                  <a:pt x="2871752" y="3856353"/>
                </a:lnTo>
                <a:lnTo>
                  <a:pt x="0" y="3856353"/>
                </a:lnTo>
                <a:lnTo>
                  <a:pt x="0" y="0"/>
                </a:lnTo>
                <a:close/>
              </a:path>
            </a:pathLst>
          </a:custGeom>
          <a:blipFill rotWithShape="1">
            <a:blip r:embed="rId3">
              <a:alphaModFix/>
            </a:blip>
            <a:stretch>
              <a:fillRect b="0" l="0" r="0" t="0"/>
            </a:stretch>
          </a:blipFill>
          <a:ln>
            <a:noFill/>
          </a:ln>
        </p:spPr>
      </p:sp>
      <p:sp>
        <p:nvSpPr>
          <p:cNvPr id="346" name="Google Shape;346;p36"/>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BI-CONDICIONAL</a:t>
            </a:r>
            <a:endParaRPr/>
          </a:p>
        </p:txBody>
      </p:sp>
      <p:sp>
        <p:nvSpPr>
          <p:cNvPr id="347" name="Google Shape;347;p36"/>
          <p:cNvSpPr txBox="1"/>
          <p:nvPr/>
        </p:nvSpPr>
        <p:spPr>
          <a:xfrm>
            <a:off x="507073" y="1404690"/>
            <a:ext cx="16927665" cy="183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Es la proposición resultante de la conjunción de un condicional con su recíproca(p =&gt; q) ^ (q =&gt;p)</a:t>
            </a:r>
            <a:endParaRPr/>
          </a:p>
          <a:p>
            <a:pPr indent="0" lvl="0" marL="0" marR="0" rtl="0" algn="just">
              <a:lnSpc>
                <a:spcPct val="140000"/>
              </a:lnSpc>
              <a:spcBef>
                <a:spcPts val="0"/>
              </a:spcBef>
              <a:spcAft>
                <a:spcPts val="0"/>
              </a:spcAft>
              <a:buNone/>
            </a:pPr>
            <a:r>
              <a:rPr b="0" i="0" lang="en-US" sz="3500" u="none" cap="none" strike="noStrike">
                <a:solidFill>
                  <a:srgbClr val="131416"/>
                </a:solidFill>
                <a:latin typeface="Open Sans"/>
                <a:ea typeface="Open Sans"/>
                <a:cs typeface="Open Sans"/>
                <a:sym typeface="Open Sans"/>
              </a:rPr>
              <a:t>Se simboliza: p ó q y se lee, p si y sólo si q. Su tabla de verdad es la siguiente:</a:t>
            </a:r>
            <a:endParaRPr/>
          </a:p>
        </p:txBody>
      </p:sp>
      <p:sp>
        <p:nvSpPr>
          <p:cNvPr id="348" name="Google Shape;348;p36"/>
          <p:cNvSpPr txBox="1"/>
          <p:nvPr/>
        </p:nvSpPr>
        <p:spPr>
          <a:xfrm>
            <a:off x="507073" y="3316040"/>
            <a:ext cx="16927665" cy="2454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FF3131"/>
                </a:solidFill>
                <a:latin typeface="Open Sans"/>
                <a:ea typeface="Open Sans"/>
                <a:cs typeface="Open Sans"/>
                <a:sym typeface="Open Sans"/>
              </a:rPr>
              <a:t>Ejemplo:</a:t>
            </a:r>
            <a:endParaRPr/>
          </a:p>
          <a:p>
            <a:pPr indent="-377825" lvl="1" marL="75565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Es de días i y solo si sale el sol</a:t>
            </a:r>
            <a:endParaRPr/>
          </a:p>
          <a:p>
            <a:pPr indent="-503766" lvl="2" marL="1511301" marR="0" rtl="0" algn="just">
              <a:lnSpc>
                <a:spcPct val="140000"/>
              </a:lnSpc>
              <a:spcBef>
                <a:spcPts val="0"/>
              </a:spcBef>
              <a:spcAft>
                <a:spcPts val="0"/>
              </a:spcAft>
              <a:buClr>
                <a:srgbClr val="131416"/>
              </a:buClr>
              <a:buSzPts val="3500"/>
              <a:buFont typeface="Arial"/>
              <a:buChar char="⚬"/>
            </a:pPr>
            <a:r>
              <a:rPr b="0" i="0" lang="en-US" sz="3500" u="none" cap="none" strike="noStrike">
                <a:solidFill>
                  <a:srgbClr val="131416"/>
                </a:solidFill>
                <a:latin typeface="Open Sans"/>
                <a:ea typeface="Open Sans"/>
                <a:cs typeface="Open Sans"/>
                <a:sym typeface="Open Sans"/>
              </a:rPr>
              <a:t>En lenguaje cotidiano puede decirse así: Si es de día, entonces sale el sol, y si sale el sol, entonces es de día.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7"/>
          <p:cNvSpPr txBox="1"/>
          <p:nvPr/>
        </p:nvSpPr>
        <p:spPr>
          <a:xfrm>
            <a:off x="1132736" y="1786238"/>
            <a:ext cx="16126564" cy="6381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le denomina función del lenguaje aquellas expresiones del mismo que pueden transmitir actitudes del emisor, frente a un proceso de comunicación. El lenguaje es utilizado para comunicar una realidad, es la capacidad humana de poder comunicarse mediante un sistema de signos sonoros articulados. Expresiones como: “¡Qué hermosa tarde!”, “Sígame por favor”, o “La letra es una vocal”. Son utilizadas en el sistema de comunicación del lenguaje. Según sea cómo utilicemos las distintas oraciones que expresan dichas realidades, así es como se clasifican según su función.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Open Sans"/>
              <a:buAutoNum type="arabicPeriod"/>
            </a:pPr>
            <a:r>
              <a:rPr b="0" i="0" lang="en-US" sz="3000" u="none" cap="none" strike="noStrike">
                <a:solidFill>
                  <a:srgbClr val="131416"/>
                </a:solidFill>
                <a:latin typeface="Open Sans"/>
                <a:ea typeface="Open Sans"/>
                <a:cs typeface="Open Sans"/>
                <a:sym typeface="Open Sans"/>
              </a:rPr>
              <a:t>Lenguaje Informativo</a:t>
            </a:r>
            <a:endParaRPr/>
          </a:p>
          <a:p>
            <a:pPr indent="-323850" lvl="1" marL="647700" marR="0" rtl="0" algn="just">
              <a:lnSpc>
                <a:spcPct val="140000"/>
              </a:lnSpc>
              <a:spcBef>
                <a:spcPts val="0"/>
              </a:spcBef>
              <a:spcAft>
                <a:spcPts val="0"/>
              </a:spcAft>
              <a:buClr>
                <a:srgbClr val="131416"/>
              </a:buClr>
              <a:buSzPts val="3000"/>
              <a:buFont typeface="Open Sans"/>
              <a:buAutoNum type="arabicPeriod"/>
            </a:pPr>
            <a:r>
              <a:rPr b="0" i="0" lang="en-US" sz="3000" u="none" cap="none" strike="noStrike">
                <a:solidFill>
                  <a:srgbClr val="131416"/>
                </a:solidFill>
                <a:latin typeface="Open Sans"/>
                <a:ea typeface="Open Sans"/>
                <a:cs typeface="Open Sans"/>
                <a:sym typeface="Open Sans"/>
              </a:rPr>
              <a:t>Lenguaje Expresivo</a:t>
            </a:r>
            <a:endParaRPr/>
          </a:p>
          <a:p>
            <a:pPr indent="-323850" lvl="1" marL="647700" marR="0" rtl="0" algn="just">
              <a:lnSpc>
                <a:spcPct val="140000"/>
              </a:lnSpc>
              <a:spcBef>
                <a:spcPts val="0"/>
              </a:spcBef>
              <a:spcAft>
                <a:spcPts val="0"/>
              </a:spcAft>
              <a:buClr>
                <a:srgbClr val="131416"/>
              </a:buClr>
              <a:buSzPts val="3000"/>
              <a:buFont typeface="Open Sans"/>
              <a:buAutoNum type="arabicPeriod"/>
            </a:pPr>
            <a:r>
              <a:rPr b="0" i="0" lang="en-US" sz="3000" u="none" cap="none" strike="noStrike">
                <a:solidFill>
                  <a:srgbClr val="131416"/>
                </a:solidFill>
                <a:latin typeface="Open Sans"/>
                <a:ea typeface="Open Sans"/>
                <a:cs typeface="Open Sans"/>
                <a:sym typeface="Open Sans"/>
              </a:rPr>
              <a:t>Lenguaje Directivo</a:t>
            </a:r>
            <a:endParaRPr/>
          </a:p>
          <a:p>
            <a:pPr indent="-323850" lvl="1" marL="647700" marR="0" rtl="0" algn="just">
              <a:lnSpc>
                <a:spcPct val="140000"/>
              </a:lnSpc>
              <a:spcBef>
                <a:spcPts val="0"/>
              </a:spcBef>
              <a:spcAft>
                <a:spcPts val="0"/>
              </a:spcAft>
              <a:buClr>
                <a:srgbClr val="131416"/>
              </a:buClr>
              <a:buSzPts val="3000"/>
              <a:buFont typeface="Open Sans"/>
              <a:buAutoNum type="arabicPeriod"/>
            </a:pPr>
            <a:r>
              <a:rPr b="0" i="0" lang="en-US" sz="3000" u="none" cap="none" strike="noStrike">
                <a:solidFill>
                  <a:srgbClr val="131416"/>
                </a:solidFill>
                <a:latin typeface="Open Sans"/>
                <a:ea typeface="Open Sans"/>
                <a:cs typeface="Open Sans"/>
                <a:sym typeface="Open Sans"/>
              </a:rPr>
              <a:t>Lenguaje Mixto</a:t>
            </a:r>
            <a:endParaRPr/>
          </a:p>
        </p:txBody>
      </p:sp>
      <p:sp>
        <p:nvSpPr>
          <p:cNvPr id="354" name="Google Shape;354;p37"/>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FUNCIONES DEL LENGUAJE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8"/>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LENGUAJE INFORMATIVO</a:t>
            </a:r>
            <a:endParaRPr/>
          </a:p>
        </p:txBody>
      </p:sp>
      <p:sp>
        <p:nvSpPr>
          <p:cNvPr id="360" name="Google Shape;360;p38"/>
          <p:cNvSpPr txBox="1"/>
          <p:nvPr/>
        </p:nvSpPr>
        <p:spPr>
          <a:xfrm>
            <a:off x="937509" y="1665077"/>
            <a:ext cx="16412982" cy="102384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4160" u="none" cap="none" strike="noStrike">
                <a:solidFill>
                  <a:srgbClr val="131416"/>
                </a:solidFill>
                <a:latin typeface="Open Sans"/>
                <a:ea typeface="Open Sans"/>
                <a:cs typeface="Open Sans"/>
                <a:sym typeface="Open Sans"/>
              </a:rPr>
              <a:t>Se utiliza cuando pretendemos meramente transmitir información, es el que normalmente encontramos en las líneas del periódico, en las páginas de un libro de texto.</a:t>
            </a:r>
            <a:endParaRPr/>
          </a:p>
          <a:p>
            <a:pPr indent="0" lvl="0" marL="0" marR="0" rtl="0" algn="just">
              <a:lnSpc>
                <a:spcPct val="140000"/>
              </a:lnSpc>
              <a:spcBef>
                <a:spcPts val="0"/>
              </a:spcBef>
              <a:spcAft>
                <a:spcPts val="0"/>
              </a:spcAft>
              <a:buNone/>
            </a:pPr>
            <a:r>
              <a:rPr b="0" i="0" lang="en-US" sz="4160" u="none" cap="none" strike="noStrike">
                <a:solidFill>
                  <a:srgbClr val="131416"/>
                </a:solidFill>
                <a:latin typeface="Open Sans"/>
                <a:ea typeface="Open Sans"/>
                <a:cs typeface="Open Sans"/>
                <a:sym typeface="Open Sans"/>
              </a:rPr>
              <a:t>Este es el único lenguaje que le interesa a la lógica, pues se puede clasificar como verdadero o falso. Solo la información puede ser verdadera o falsa, ya que es la única que se puede constatar en la realidad. </a:t>
            </a:r>
            <a:r>
              <a:rPr b="1" i="0" lang="en-US" sz="416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4160" u="none" cap="none" strike="noStrike">
              <a:solidFill>
                <a:srgbClr val="FF3131"/>
              </a:solidFill>
              <a:latin typeface="Open Sans"/>
              <a:ea typeface="Open Sans"/>
              <a:cs typeface="Open Sans"/>
              <a:sym typeface="Open Sans"/>
            </a:endParaRPr>
          </a:p>
          <a:p>
            <a:pPr indent="-449130" lvl="1" marL="898260" marR="0" rtl="0" algn="just">
              <a:lnSpc>
                <a:spcPct val="140000"/>
              </a:lnSpc>
              <a:spcBef>
                <a:spcPts val="0"/>
              </a:spcBef>
              <a:spcAft>
                <a:spcPts val="0"/>
              </a:spcAft>
              <a:buClr>
                <a:srgbClr val="131416"/>
              </a:buClr>
              <a:buSzPts val="4160"/>
              <a:buFont typeface="Arial"/>
              <a:buChar char="•"/>
            </a:pPr>
            <a:r>
              <a:rPr b="0" i="0" lang="en-US" sz="4160" u="none" cap="none" strike="noStrike">
                <a:solidFill>
                  <a:srgbClr val="131416"/>
                </a:solidFill>
                <a:latin typeface="Open Sans"/>
                <a:ea typeface="Open Sans"/>
                <a:cs typeface="Open Sans"/>
                <a:sym typeface="Open Sans"/>
              </a:rPr>
              <a:t>El nombre es animal racional</a:t>
            </a:r>
            <a:endParaRPr/>
          </a:p>
          <a:p>
            <a:pPr indent="-449130" lvl="1" marL="898260" marR="0" rtl="0" algn="just">
              <a:lnSpc>
                <a:spcPct val="140000"/>
              </a:lnSpc>
              <a:spcBef>
                <a:spcPts val="0"/>
              </a:spcBef>
              <a:spcAft>
                <a:spcPts val="0"/>
              </a:spcAft>
              <a:buClr>
                <a:srgbClr val="131416"/>
              </a:buClr>
              <a:buSzPts val="4160"/>
              <a:buFont typeface="Arial"/>
              <a:buChar char="•"/>
            </a:pPr>
            <a:r>
              <a:rPr b="0" i="0" lang="en-US" sz="4160" u="none" cap="none" strike="noStrike">
                <a:solidFill>
                  <a:srgbClr val="131416"/>
                </a:solidFill>
                <a:latin typeface="Open Sans"/>
                <a:ea typeface="Open Sans"/>
                <a:cs typeface="Open Sans"/>
                <a:sym typeface="Open Sans"/>
              </a:rPr>
              <a:t>Los griegos descubrieron América</a:t>
            </a:r>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0" i="0" sz="4160" u="none" cap="none" strike="noStrike">
              <a:solidFill>
                <a:srgbClr val="131416"/>
              </a:solidFill>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9"/>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LENGUAJE EXPRESIVO</a:t>
            </a:r>
            <a:endParaRPr/>
          </a:p>
        </p:txBody>
      </p:sp>
      <p:sp>
        <p:nvSpPr>
          <p:cNvPr id="366" name="Google Shape;366;p39"/>
          <p:cNvSpPr txBox="1"/>
          <p:nvPr/>
        </p:nvSpPr>
        <p:spPr>
          <a:xfrm>
            <a:off x="330888" y="1611573"/>
            <a:ext cx="16126564" cy="5848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el lenguaje que tiene como propósito, ya sea deleitarnos o de alguna manera motivar</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nuestra afectividad, manifiesta un estado de ánimo del que habla. No le interesa a la lógica, pues lo que transmite a través de este lenguaje no es información, no puede ser</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verdadero o falso, puede ser catalogado de sincero o no sincero.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¡hay que dolor de cabeza!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Recuerdo el alma dormida avive el seso y despierte contemplando cómo se pasa la vida</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LENGUAJE MIXTO</a:t>
            </a:r>
            <a:endParaRPr/>
          </a:p>
        </p:txBody>
      </p:sp>
      <p:sp>
        <p:nvSpPr>
          <p:cNvPr id="372" name="Google Shape;372;p40"/>
          <p:cNvSpPr txBox="1"/>
          <p:nvPr/>
        </p:nvSpPr>
        <p:spPr>
          <a:xfrm>
            <a:off x="559774" y="2297254"/>
            <a:ext cx="16126564" cy="4781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Cuando nos expresamos a través de cualquier lenguaje, no lo hacemos exclusivamente dando información y órdenes o exaltando sentimientos, normalmente combinamos todas o algunas de estas funciones, por lo que utilizamos el lenguaje mixto, que es la utilización simultánea de algunas o todas las funciones del lenguaje. A la lógica le interesa la información y hará abstracción de todas las demás funciones.</a:t>
            </a:r>
            <a:r>
              <a:rPr b="1" i="0" lang="en-US" sz="3000" u="none" cap="none" strike="noStrike">
                <a:solidFill>
                  <a:srgbClr val="FF3131"/>
                </a:solidFill>
                <a:latin typeface="Open Sans"/>
                <a:ea typeface="Open Sans"/>
                <a:cs typeface="Open Sans"/>
                <a:sym typeface="Open Sans"/>
              </a:rPr>
              <a:t> 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Diálogo es una conversación entre varias personas que hablan alternadamente acerca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un asunto determinado. Y debe ser una conversación alterna, pues, de otro modo, no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puede haber diálogo.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1"/>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CONTRA LA PERSONA</a:t>
            </a:r>
            <a:endParaRPr/>
          </a:p>
        </p:txBody>
      </p:sp>
      <p:sp>
        <p:nvSpPr>
          <p:cNvPr id="378" name="Google Shape;378;p41"/>
          <p:cNvSpPr txBox="1"/>
          <p:nvPr/>
        </p:nvSpPr>
        <p:spPr>
          <a:xfrm>
            <a:off x="559774" y="1659007"/>
            <a:ext cx="16126564" cy="8515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se comete cuando la refutación lógica de las ideas o razones cede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su lugar al insulto y a la calumnia dirigida a la persona que expone argumentos.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Este tipo de falacia tiene dos variantes: Cuando una persona se le insulta directamente,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en lugar de demostrar la falsedad de sus ideas, se comete una falacia contra la persona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ofensiva, pero si en lugar de refutar ideas o razones, se deducen elementos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circunstanciales, en que se encuentran el interlocutor, entonces se comenta falacia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contra la persona circunstancial.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propuesta del aumento salarial hecha por el diputado de la oposición, no puede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ninguna manera ser aceptada, pues lo que él trata de hacer es recaudar la mayor</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cantidad de votos posibles”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No se analiza lo que se ha expuesto sobre la posibilidad del aumento salarial, sino que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recurre al subterfugio para rechazar la propuesta.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es una falacia contra la persona circunstancial.</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2"/>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APELACIÓN A LA FUERZA</a:t>
            </a:r>
            <a:endParaRPr/>
          </a:p>
        </p:txBody>
      </p:sp>
      <p:sp>
        <p:nvSpPr>
          <p:cNvPr id="384" name="Google Shape;384;p42"/>
          <p:cNvSpPr txBox="1"/>
          <p:nvPr/>
        </p:nvSpPr>
        <p:spPr>
          <a:xfrm>
            <a:off x="559774" y="1659007"/>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clase de falacia se comete cuando en lugar de la conexión lógica de la demostración, hacemos uso de la amenaza ya sea velada o abierta, a fin de lograr la validación del argumento. Es una salida fácil para “derrotar” al adversario.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maestro dice “¿Quiere aprobar, ¿verdad? Conviene entonces que te portes bien”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razón que aduce para mostrar la necesidad y utilidad que tiene el alumno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portarse bien no es otra que las consecuencias desagradables que le esperan por el</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poder que tiene sobre él, al no portarse bien.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3"/>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ARGUMENTO POR IGNORANCIA</a:t>
            </a:r>
            <a:endParaRPr/>
          </a:p>
        </p:txBody>
      </p:sp>
      <p:sp>
        <p:nvSpPr>
          <p:cNvPr id="390" name="Google Shape;390;p43"/>
          <p:cNvSpPr txBox="1"/>
          <p:nvPr/>
        </p:nvSpPr>
        <p:spPr>
          <a:xfrm>
            <a:off x="559774" y="1659007"/>
            <a:ext cx="16126564" cy="6381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se comete cuando se pretende establecer la verdad de un enunciado, a partir del hecho de no poder demostrar su falsedad, o de catalogarlo de falso, porque no se ha podido establecer su verdad.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teorema de las palabras siempre ha sido válido dentro de la geometría euclidiana;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por lo tanto, no puede ser inválido.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hecho de que el teorema de las paralelas se acepte como válido en el sistema 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Euclides, no quiere decir que no pueda ser inválido en el futuro, ni tampoco válido. La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conexión lógica sería que hasta ahora y dentro de los límites del sistema euclidiano, el</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teorema es válido.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4"/>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LLAMADO A LA PIEDAD</a:t>
            </a:r>
            <a:endParaRPr/>
          </a:p>
        </p:txBody>
      </p:sp>
      <p:sp>
        <p:nvSpPr>
          <p:cNvPr id="396" name="Google Shape;396;p44"/>
          <p:cNvSpPr txBox="1"/>
          <p:nvPr/>
        </p:nvSpPr>
        <p:spPr>
          <a:xfrm>
            <a:off x="1080718" y="1922382"/>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clase de falacia se comete cuando se pretende validar o demostrar una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tesis a través de los sentimientos de las personas. La conexión psicológica está en que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pretende que las personas acepten una tesis apelando a sus buenos sentimientos.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Una tesis es válida independientemente de los sentimientos que pueda despertar.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teoría del científico Fulano de Tal es válida pues, el pobre tuvo que trabajar mucho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para obtener el financiamiento para su trabajo.” Se pretende validar la teoría del científico, tratando de despertar sentimientos de piedad o simpatía hacia él.</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5"/>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ACEPTACIÓN POPULAR</a:t>
            </a:r>
            <a:endParaRPr/>
          </a:p>
        </p:txBody>
      </p:sp>
      <p:sp>
        <p:nvSpPr>
          <p:cNvPr id="402" name="Google Shape;402;p45"/>
          <p:cNvSpPr txBox="1"/>
          <p:nvPr/>
        </p:nvSpPr>
        <p:spPr>
          <a:xfrm>
            <a:off x="1080718" y="1922382"/>
            <a:ext cx="16126564" cy="424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es el arma favorita de persuasión del político, el demagogo, el vendedor, etc. Consiste en que se pretende validar ciertas tesis a partir de la persuasión y no de la demostración. Se trata de lograr el asentamiento popular mediante llamados emocionales a la masa y no a través de razones lógicas.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“Los productos de belleza modernos son fisiológicamente adecuados, porque hace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lucir bellas y atractivas a las mujeres. Además, si queremos estar a la moda, los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productos de belleza son indispensables”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6"/>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APELACIÓN A LA AUTORIDAD</a:t>
            </a:r>
            <a:endParaRPr/>
          </a:p>
        </p:txBody>
      </p:sp>
      <p:sp>
        <p:nvSpPr>
          <p:cNvPr id="408" name="Google Shape;408;p46"/>
          <p:cNvSpPr txBox="1"/>
          <p:nvPr/>
        </p:nvSpPr>
        <p:spPr>
          <a:xfrm>
            <a:off x="1080718" y="1922382"/>
            <a:ext cx="16126564" cy="4781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Consiste en admitir como verdaderas las proposiciones, sólo porque éstas provienen de pensadores de renombrado prestigio intelectual o la autoridad administrativa o civil. Se comete esta falacia cuando se cita a una autoridad en cuestiones que están fuera del ámbito de su especialidad.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 los trabajos sobre física que Einstein realizó, especialmente con su Teoría de la relatividad, ha demostrado ser uno de los sabios más grandes de nuestra historia; por ello, sus opiniones sobre política internacional, como la creación de un organismo mundial de gobierno, tiene que ser verdaderas”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7"/>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CAUSA FALSA</a:t>
            </a:r>
            <a:endParaRPr/>
          </a:p>
        </p:txBody>
      </p:sp>
      <p:sp>
        <p:nvSpPr>
          <p:cNvPr id="414" name="Google Shape;414;p47"/>
          <p:cNvSpPr txBox="1"/>
          <p:nvPr/>
        </p:nvSpPr>
        <p:spPr>
          <a:xfrm>
            <a:off x="1080718" y="1922382"/>
            <a:ext cx="16126564" cy="6915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aquella falacia en la que establecemos relaciones causales, a partir de la observación de unos hechos que son anteriores a otros, o que se presentan en forma conjunta, por lo que a unos le asignamos el carácter de causa y a otros el de efecto. Sin embargo, esto no es suficiente para establecer una relación causal.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“Pasteur asistió, en una ocasión a la cura de un rebaño de vacas que estaban enfermas</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de ántrax. Los campesinos sometieron a los animales al proceso doloroso de infringirse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heridas en todo el cuerpo, a fin de que, por medio de la sangre, les saliera el mal. De estos animales, muchas sanaron, por lo tanto, supusieron que el procedimiento era adecuado para cura del mal. Sin embargo, años más tarde se llegó a demostrar que la cura era simplemente estadística. Los que sanaron lo hubieran hecho de todas maneras, aunque no los hubieran sometido al tratamiento, pues la única cura solo es posible mediante el tratamiento contra el microbio que causa tal enfermedad”.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8"/>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PREGUNTA COMPLEJA</a:t>
            </a:r>
            <a:endParaRPr/>
          </a:p>
        </p:txBody>
      </p:sp>
      <p:sp>
        <p:nvSpPr>
          <p:cNvPr id="420" name="Google Shape;420;p48"/>
          <p:cNvSpPr txBox="1"/>
          <p:nvPr/>
        </p:nvSpPr>
        <p:spPr>
          <a:xfrm>
            <a:off x="1080718" y="1922382"/>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se comete cuando se exige, en una pregunta, una respuesta categórica de un “si” o un “no”, cuando, en realidad, ya sea que se conteste con alguna de estas opciones, la respuesta siempre es la misma. Esto sucede porque la pregunta que está formulando es compleja (supone otras preguntas anteriores) y se toma como simple. </a:t>
            </a: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i="0" sz="3000" u="none" cap="none" strike="noStrike">
              <a:solidFill>
                <a:srgbClr val="FF3131"/>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usted un revolucionario progresista o un reaccionario conservador?</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respuesta está insinuada de algún modo, en la pregunta misma, pues no deja otras alternativas reales o razonables. Faltaría dilucidar preguntas cómo ¿Es un conservador realmente reaccionario? ¿Qué es un reaccionario? Y otras por el estilo.</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9"/>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FALACIAS DE ANTIGUEDAD</a:t>
            </a:r>
            <a:endParaRPr/>
          </a:p>
        </p:txBody>
      </p:sp>
      <p:sp>
        <p:nvSpPr>
          <p:cNvPr id="426" name="Google Shape;426;p49"/>
          <p:cNvSpPr txBox="1"/>
          <p:nvPr/>
        </p:nvSpPr>
        <p:spPr>
          <a:xfrm>
            <a:off x="1080718" y="1922382"/>
            <a:ext cx="16126564"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Estas se pueden clasificar de la siguiente manera: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El Equívoco</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Anfibología</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El Énfasis</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Composición</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División</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0"/>
          <p:cNvSpPr txBox="1"/>
          <p:nvPr/>
        </p:nvSpPr>
        <p:spPr>
          <a:xfrm>
            <a:off x="571500" y="74644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EL EQUIVOCO</a:t>
            </a:r>
            <a:endParaRPr/>
          </a:p>
        </p:txBody>
      </p:sp>
      <p:sp>
        <p:nvSpPr>
          <p:cNvPr id="432" name="Google Shape;432;p50"/>
          <p:cNvSpPr txBox="1"/>
          <p:nvPr/>
        </p:nvSpPr>
        <p:spPr>
          <a:xfrm>
            <a:off x="786547" y="1595082"/>
            <a:ext cx="16126564"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la podemos cometer de varias formas: una, cuando un término que tiene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dos significados, se le usa como si tuviera solo uno; otra, cuando se usan términos que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son relativos al contexto en que se están usando y se les toma en forma absoluta.</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pez martillo debe ser muy industrioso, pues sabe usar herramientas”</a:t>
            </a:r>
            <a:endParaRPr/>
          </a:p>
        </p:txBody>
      </p:sp>
      <p:sp>
        <p:nvSpPr>
          <p:cNvPr id="433" name="Google Shape;433;p50"/>
          <p:cNvSpPr txBox="1"/>
          <p:nvPr/>
        </p:nvSpPr>
        <p:spPr>
          <a:xfrm>
            <a:off x="786547" y="561808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ANFIBIOLOGÍA</a:t>
            </a:r>
            <a:endParaRPr/>
          </a:p>
        </p:txBody>
      </p:sp>
      <p:sp>
        <p:nvSpPr>
          <p:cNvPr id="434" name="Google Shape;434;p50"/>
          <p:cNvSpPr txBox="1"/>
          <p:nvPr/>
        </p:nvSpPr>
        <p:spPr>
          <a:xfrm>
            <a:off x="786547" y="6354790"/>
            <a:ext cx="16126564"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Consiste en estructurar el razonamiento de tal manera que su interpretación sea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ambigua, puede interpretarse de una y otra forma y no existe manera de aclarar cuál</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la forma adecuada; no se sabe exactamente lo que se está diciendo.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“El género hombre comprende a la mujer”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1"/>
          <p:cNvSpPr txBox="1"/>
          <p:nvPr/>
        </p:nvSpPr>
        <p:spPr>
          <a:xfrm>
            <a:off x="571500" y="74644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EL ÉNFASIS</a:t>
            </a:r>
            <a:endParaRPr/>
          </a:p>
        </p:txBody>
      </p:sp>
      <p:sp>
        <p:nvSpPr>
          <p:cNvPr id="440" name="Google Shape;440;p51"/>
          <p:cNvSpPr txBox="1"/>
          <p:nvPr/>
        </p:nvSpPr>
        <p:spPr>
          <a:xfrm>
            <a:off x="786547" y="1595082"/>
            <a:ext cx="16126564"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Se comete esta falacia, cuando se destacan ciertos aspectos de la redacción del razonamiento o proposición, mediante las comillas, con lo cual se le da un significado diferente a que si no se utilizarán dichos recursos tipográficos.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Los filósofos creen ser unos “Sabios”.</a:t>
            </a:r>
            <a:endParaRPr/>
          </a:p>
        </p:txBody>
      </p:sp>
      <p:sp>
        <p:nvSpPr>
          <p:cNvPr id="441" name="Google Shape;441;p51"/>
          <p:cNvSpPr txBox="1"/>
          <p:nvPr/>
        </p:nvSpPr>
        <p:spPr>
          <a:xfrm>
            <a:off x="786547" y="561808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COMPOSICIÓN</a:t>
            </a:r>
            <a:endParaRPr/>
          </a:p>
        </p:txBody>
      </p:sp>
      <p:sp>
        <p:nvSpPr>
          <p:cNvPr id="442" name="Google Shape;442;p51"/>
          <p:cNvSpPr txBox="1"/>
          <p:nvPr/>
        </p:nvSpPr>
        <p:spPr>
          <a:xfrm>
            <a:off x="786547" y="6336943"/>
            <a:ext cx="16126564"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Esta falacia llamada también falsa generalización, se comete en dos formas: una, cuando la o las propiedades de las partes de un todo se le asigna a ese todo; y la otra, cuando se pretende predicar un mismo atributo colectivo como distributivamente a una misma clase de objeto.</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pirámide está formada por triángulos; por lo tanto, la pirámide es un triángulo”</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2"/>
          <p:cNvSpPr txBox="1"/>
          <p:nvPr/>
        </p:nvSpPr>
        <p:spPr>
          <a:xfrm>
            <a:off x="861635" y="74644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LA DIVISIÓN</a:t>
            </a:r>
            <a:endParaRPr/>
          </a:p>
        </p:txBody>
      </p:sp>
      <p:sp>
        <p:nvSpPr>
          <p:cNvPr id="448" name="Google Shape;448;p52"/>
          <p:cNvSpPr txBox="1"/>
          <p:nvPr/>
        </p:nvSpPr>
        <p:spPr>
          <a:xfrm>
            <a:off x="861635" y="1632626"/>
            <a:ext cx="16126564"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La falacia por división se comete por razones inversas a la composición. Se pretende</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que lo que se predica del conjunto, necesariamente debe predicarse de la parte. Esto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es inválido, ya que podemos predicar sobre un conjunto, pero es predicado no se aplica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necesariamente a una de las partes.</a:t>
            </a:r>
            <a:endParaRPr/>
          </a:p>
          <a:p>
            <a:pPr indent="0" lvl="0" marL="0" marR="0" rtl="0" algn="just">
              <a:lnSpc>
                <a:spcPct val="140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i="0" lang="en-US" sz="3000" u="none" cap="none" strike="noStrike">
                <a:solidFill>
                  <a:srgbClr val="FF3131"/>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“Los números naturales son infinitos; por lo tanto, el número dos es infinitas”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3"/>
          <p:cNvSpPr/>
          <p:nvPr/>
        </p:nvSpPr>
        <p:spPr>
          <a:xfrm>
            <a:off x="3153211" y="4358922"/>
            <a:ext cx="11301259" cy="6074427"/>
          </a:xfrm>
          <a:custGeom>
            <a:rect b="b" l="l" r="r" t="t"/>
            <a:pathLst>
              <a:path extrusionOk="0" h="6074427" w="11301259">
                <a:moveTo>
                  <a:pt x="0" y="0"/>
                </a:moveTo>
                <a:lnTo>
                  <a:pt x="11301259" y="0"/>
                </a:lnTo>
                <a:lnTo>
                  <a:pt x="11301259" y="6074427"/>
                </a:lnTo>
                <a:lnTo>
                  <a:pt x="0" y="6074427"/>
                </a:lnTo>
                <a:lnTo>
                  <a:pt x="0" y="0"/>
                </a:lnTo>
                <a:close/>
              </a:path>
            </a:pathLst>
          </a:custGeom>
          <a:blipFill rotWithShape="1">
            <a:blip r:embed="rId3">
              <a:alphaModFix/>
            </a:blip>
            <a:stretch>
              <a:fillRect b="0" l="0" r="0" t="0"/>
            </a:stretch>
          </a:blipFill>
          <a:ln>
            <a:noFill/>
          </a:ln>
        </p:spPr>
      </p:sp>
      <p:sp>
        <p:nvSpPr>
          <p:cNvPr id="454" name="Google Shape;454;p53"/>
          <p:cNvSpPr txBox="1"/>
          <p:nvPr/>
        </p:nvSpPr>
        <p:spPr>
          <a:xfrm>
            <a:off x="861635" y="746442"/>
            <a:ext cx="15884411" cy="10407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0" i="0" lang="en-US" sz="3500" u="none" cap="none" strike="noStrike">
                <a:solidFill>
                  <a:srgbClr val="2F5492"/>
                </a:solidFill>
                <a:latin typeface="Arial"/>
                <a:ea typeface="Arial"/>
                <a:cs typeface="Arial"/>
                <a:sym typeface="Arial"/>
              </a:rPr>
              <a:t>ESTRATEGIAS PARA RESOLUCIÓN DE PROBLEMAS</a:t>
            </a:r>
            <a:endParaRPr/>
          </a:p>
        </p:txBody>
      </p:sp>
      <p:sp>
        <p:nvSpPr>
          <p:cNvPr id="455" name="Google Shape;455;p53"/>
          <p:cNvSpPr txBox="1"/>
          <p:nvPr/>
        </p:nvSpPr>
        <p:spPr>
          <a:xfrm>
            <a:off x="861635" y="2244372"/>
            <a:ext cx="16126564" cy="2114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1. Comprender el problema</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2. Formular un plan</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3. Ejecutar un plan</a:t>
            </a:r>
            <a:endParaRPr/>
          </a:p>
          <a:p>
            <a:pPr indent="0" lvl="0" marL="0" marR="0" rtl="0" algn="just">
              <a:lnSpc>
                <a:spcPct val="140000"/>
              </a:lnSpc>
              <a:spcBef>
                <a:spcPts val="0"/>
              </a:spcBef>
              <a:spcAft>
                <a:spcPts val="0"/>
              </a:spcAft>
              <a:buNone/>
            </a:pPr>
            <a:r>
              <a:rPr b="0" i="0" lang="en-US" sz="3000" u="none" cap="none" strike="noStrike">
                <a:solidFill>
                  <a:srgbClr val="131416"/>
                </a:solidFill>
                <a:latin typeface="Open Sans"/>
                <a:ea typeface="Open Sans"/>
                <a:cs typeface="Open Sans"/>
                <a:sym typeface="Open Sans"/>
              </a:rPr>
              <a:t>4. Revisar y comprobar.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4"/>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461" name="Google Shape;461;p54"/>
          <p:cNvSpPr txBox="1"/>
          <p:nvPr/>
        </p:nvSpPr>
        <p:spPr>
          <a:xfrm>
            <a:off x="1880041" y="2722531"/>
            <a:ext cx="14664154" cy="2748874"/>
          </a:xfrm>
          <a:prstGeom prst="rect">
            <a:avLst/>
          </a:prstGeom>
          <a:noFill/>
          <a:ln>
            <a:noFill/>
          </a:ln>
        </p:spPr>
        <p:txBody>
          <a:bodyPr anchorCtr="0" anchor="t" bIns="0" lIns="0" spcFirstLastPara="1" rIns="0" wrap="square" tIns="0">
            <a:spAutoFit/>
          </a:bodyPr>
          <a:lstStyle/>
          <a:p>
            <a:pPr indent="0" lvl="0" marL="0" marR="0" rtl="0" algn="ctr">
              <a:lnSpc>
                <a:spcPct val="245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Universidad de San Carlos de Guatemala. (s.f.). Unidad 4: El lenguaje y la Lógica de las proposiciones [Material del curso Lógica de Sistemas, Facultad de Ingeniería]. Plataforma UEDI.</a:t>
            </a:r>
            <a:endParaRPr/>
          </a:p>
          <a:p>
            <a:pPr indent="0" lvl="0" marL="0" marR="0" rtl="0" algn="l">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467" name="Google Shape;467;p55"/>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468" name="Google Shape;468;p5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469" name="Google Shape;469;p55"/>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