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10287000" cx="18288000"/>
  <p:notesSz cx="6858000" cy="9144000"/>
  <p:embeddedFontLst>
    <p:embeddedFont>
      <p:font typeface="Play"/>
      <p:regular r:id="rId33"/>
      <p:bold r:id="rId34"/>
    </p:embeddedFont>
    <p:embeddedFont>
      <p:font typeface="Open Sans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gihRElyydAM6GEbJySGkqs1O/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Play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7524030"/>
            <a:ext cx="766545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Lógica de Sistemas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311593" y="3355266"/>
            <a:ext cx="15126534" cy="1368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Unidad 3: Lógica del Concepto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143000" y="855114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64986" y="8982487"/>
            <a:ext cx="60579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64986" y="9410904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Actividad 3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651749" y="-320617"/>
            <a:ext cx="7347151" cy="3120467"/>
            <a:chOff x="-6" y="-95250"/>
            <a:chExt cx="9796200" cy="4160623"/>
          </a:xfrm>
        </p:grpSpPr>
        <p:sp>
          <p:nvSpPr>
            <p:cNvPr id="103" name="Google Shape;103;p2"/>
            <p:cNvSpPr txBox="1"/>
            <p:nvPr/>
          </p:nvSpPr>
          <p:spPr>
            <a:xfrm>
              <a:off x="-6" y="986773"/>
              <a:ext cx="97962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10212775" y="97566"/>
            <a:ext cx="9335802" cy="2970059"/>
            <a:chOff x="-1225254" y="-76200"/>
            <a:chExt cx="12447737" cy="3960079"/>
          </a:xfrm>
        </p:grpSpPr>
        <p:sp>
          <p:nvSpPr>
            <p:cNvPr id="106" name="Google Shape;106;p2"/>
            <p:cNvSpPr txBox="1"/>
            <p:nvPr/>
          </p:nvSpPr>
          <p:spPr>
            <a:xfrm>
              <a:off x="-1225254" y="805279"/>
              <a:ext cx="124476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1531875" y="3945987"/>
            <a:ext cx="5353646" cy="1447988"/>
            <a:chOff x="0" y="-47625"/>
            <a:chExt cx="1410014" cy="381363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47625"/>
              <a:ext cx="1295714" cy="381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Video:</a:t>
              </a:r>
              <a:endParaRPr/>
            </a:p>
            <a:p>
              <a:pPr indent="0" lvl="0" marL="0" marR="0" rtl="0" algn="ctr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https://youtu.be/_NtkqXFMhJw</a:t>
              </a:r>
              <a:endParaRPr/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10908085" y="6340540"/>
            <a:ext cx="6601227" cy="1414631"/>
            <a:chOff x="0" y="-47625"/>
            <a:chExt cx="1738595" cy="37257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738595" cy="324953"/>
            </a:xfrm>
            <a:custGeom>
              <a:rect b="b" l="l" r="r" t="t"/>
              <a:pathLst>
                <a:path extrusionOk="0" h="324953" w="1738595">
                  <a:moveTo>
                    <a:pt x="1535395" y="0"/>
                  </a:moveTo>
                  <a:lnTo>
                    <a:pt x="0" y="0"/>
                  </a:lnTo>
                  <a:lnTo>
                    <a:pt x="0" y="324953"/>
                  </a:lnTo>
                  <a:lnTo>
                    <a:pt x="1535395" y="324953"/>
                  </a:lnTo>
                  <a:lnTo>
                    <a:pt x="1738595" y="162476"/>
                  </a:lnTo>
                  <a:lnTo>
                    <a:pt x="1535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47625"/>
              <a:ext cx="1624295" cy="372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Quizziz:</a:t>
              </a:r>
              <a:endParaRPr/>
            </a:p>
            <a:p>
              <a:pPr indent="0" lvl="0" marL="0" marR="0" rtl="0" algn="ctr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https://create.kahoot.it/details/06556e4b-59d6-48e4-9ce1-45f857078563</a:t>
              </a:r>
              <a:endParaRPr/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Quizz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2191966" y="4432648"/>
            <a:ext cx="13448312" cy="208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Construye árboles lógicos y tríadas de conceptos utilizando los contenidos desarrollados durante el curso para representar estructuras lógicas de pensamiento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1374889" y="3027816"/>
            <a:ext cx="12625499" cy="5069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 y realidad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Objeto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Objetos Como dispositivos de reconocimiento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Ciclo de vida de un Objeto</a:t>
            </a:r>
            <a:endParaRPr/>
          </a:p>
          <a:p>
            <a:pPr indent="0" lvl="0" marL="0" marR="0" rtl="0" algn="l">
              <a:lnSpc>
                <a:spcPct val="173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25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1028700" y="2434755"/>
            <a:ext cx="6771863" cy="5417490"/>
          </a:xfrm>
          <a:custGeom>
            <a:rect b="b" l="l" r="r" t="t"/>
            <a:pathLst>
              <a:path extrusionOk="0" h="5417490" w="6771863">
                <a:moveTo>
                  <a:pt x="0" y="0"/>
                </a:moveTo>
                <a:lnTo>
                  <a:pt x="6771863" y="0"/>
                </a:lnTo>
                <a:lnTo>
                  <a:pt x="6771863" y="5417490"/>
                </a:lnTo>
                <a:lnTo>
                  <a:pt x="0" y="5417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374889" y="644839"/>
            <a:ext cx="13991174" cy="858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 Y REALIDAD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9456683" y="1955258"/>
            <a:ext cx="7632005" cy="798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concepto es una idea o representación mental que nos permite identificar, clasificar y comprender objetos, hechos o experiencias. La realidad es aquello que existe independientemente de nuestra percepción. Los conceptos surgen de la experiencia con la realidad y nos ayudan a interpretarla y organizar nuestro conocimiento del mundo.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Por ejemplo: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El concepto de “árbol” nos permite reconocer distintos tipos de árboles en la realidad, aunque cada uno sea diferente.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9144000" y="2919265"/>
            <a:ext cx="7908390" cy="4448470"/>
          </a:xfrm>
          <a:custGeom>
            <a:rect b="b" l="l" r="r" t="t"/>
            <a:pathLst>
              <a:path extrusionOk="0" h="4448470" w="7908390">
                <a:moveTo>
                  <a:pt x="0" y="0"/>
                </a:moveTo>
                <a:lnTo>
                  <a:pt x="7908390" y="0"/>
                </a:lnTo>
                <a:lnTo>
                  <a:pt x="7908390" y="4448470"/>
                </a:lnTo>
                <a:lnTo>
                  <a:pt x="0" y="4448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¿QUE ES UN OBJETO?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351713" y="2495368"/>
            <a:ext cx="8028233" cy="5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objeto es cualquier cosa concreta o abstracta a la que se puede aplicar un concepto. Es una instancia particular que podemos percibir, describir o analizar gracias a los conceptos que poseemos.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Un celular específico que usas todos los días es un objeto del concepto general “teléfono móvil”.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3935117" y="4318419"/>
            <a:ext cx="8404128" cy="5594159"/>
          </a:xfrm>
          <a:custGeom>
            <a:rect b="b" l="l" r="r" t="t"/>
            <a:pathLst>
              <a:path extrusionOk="0" h="5594159" w="8404128">
                <a:moveTo>
                  <a:pt x="0" y="0"/>
                </a:moveTo>
                <a:lnTo>
                  <a:pt x="8404127" y="0"/>
                </a:lnTo>
                <a:lnTo>
                  <a:pt x="8404127" y="5594159"/>
                </a:lnTo>
                <a:lnTo>
                  <a:pt x="0" y="5594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080718" y="1984794"/>
            <a:ext cx="16126564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Los objetos funcionan como medios a través de los cuales aplicamos y activamos conceptos. Al percibir un objeto, lo reconocemos gracias al concepto asociado, ya sea concreto, intangible o relacional. Es decir, los objetos permiten que nuestros conceptos cobren sentido en la experiencia.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028700" y="782003"/>
            <a:ext cx="15884411" cy="104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OBJETOS COMO DISPOSITIVOS DE RECONOCIMIENTO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852333" y="834551"/>
            <a:ext cx="16406967" cy="168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TIPOS DE CONCEPTOS</a:t>
            </a:r>
            <a:endParaRPr/>
          </a:p>
          <a:p>
            <a:pPr indent="0" lvl="0" marL="0" marR="0" rtl="0" algn="ctr">
              <a:lnSpc>
                <a:spcPct val="1732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934014" y="3183276"/>
            <a:ext cx="14900226" cy="38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Concretos: Lápiz, auto</a:t>
            </a:r>
            <a:endParaRPr/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Intangibles: Tiempo, calidad</a:t>
            </a:r>
            <a:endParaRPr/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Por relación: Matrimonio, propiedad</a:t>
            </a:r>
            <a:endParaRPr/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Eventos: Venta, cumpleaños</a:t>
            </a:r>
            <a:endParaRPr/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Papeles: Director, paciente</a:t>
            </a:r>
            <a:endParaRPr/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Juicios: Buen ejemplo, salario alto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487243" y="2416621"/>
            <a:ext cx="8656757" cy="5453757"/>
          </a:xfrm>
          <a:custGeom>
            <a:rect b="b" l="l" r="r" t="t"/>
            <a:pathLst>
              <a:path extrusionOk="0" h="5453757" w="8656757">
                <a:moveTo>
                  <a:pt x="0" y="0"/>
                </a:moveTo>
                <a:lnTo>
                  <a:pt x="8656757" y="0"/>
                </a:lnTo>
                <a:lnTo>
                  <a:pt x="8656757" y="5453758"/>
                </a:lnTo>
                <a:lnTo>
                  <a:pt x="0" y="5453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374889" y="644839"/>
            <a:ext cx="13991174" cy="858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9627295" y="3708400"/>
            <a:ext cx="7632005" cy="2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ver un pastel con velas, personas reunidas y música, identificamos el concepto de “cumpleaños”.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834704" y="1291349"/>
            <a:ext cx="10840323" cy="5813164"/>
          </a:xfrm>
          <a:custGeom>
            <a:rect b="b" l="l" r="r" t="t"/>
            <a:pathLst>
              <a:path extrusionOk="0" h="5813164" w="10840323">
                <a:moveTo>
                  <a:pt x="0" y="0"/>
                </a:moveTo>
                <a:lnTo>
                  <a:pt x="10840323" y="0"/>
                </a:lnTo>
                <a:lnTo>
                  <a:pt x="10840323" y="5813164"/>
                </a:lnTo>
                <a:lnTo>
                  <a:pt x="0" y="5813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9800621" y="7313257"/>
            <a:ext cx="7862708" cy="150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CICLO DE VIDA DE UN OBJETO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PASOS DEL CICLO DE VIDA</a:t>
            </a:r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651214" y="1567567"/>
            <a:ext cx="16126564" cy="744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Nacimiento del concepto: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Se forma una idea inicial a partir de una experiencia o interacción con el entorno.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Definición del objeto: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identifica un objeto físico que representa la idea que se formó.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Madurar el concepto: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idea inicial se enriquece o se transforma por nuevas experiencias o usos.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Cambio en el objeto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: El objeto se transforma, ya sea en su forma, función o contexto.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Cambio en el concepto: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La idea que teníamos sobre el objeto también cambia, lo vemos desde otra perspectiva.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4597262" y="2615317"/>
            <a:ext cx="9093475" cy="7155576"/>
          </a:xfrm>
          <a:custGeom>
            <a:rect b="b" l="l" r="r" t="t"/>
            <a:pathLst>
              <a:path extrusionOk="0" h="7155576" w="9093475">
                <a:moveTo>
                  <a:pt x="0" y="0"/>
                </a:moveTo>
                <a:lnTo>
                  <a:pt x="9093476" y="0"/>
                </a:lnTo>
                <a:lnTo>
                  <a:pt x="9093476" y="7155576"/>
                </a:lnTo>
                <a:lnTo>
                  <a:pt x="0" y="7155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2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182" name="Google Shape;182;p12"/>
          <p:cNvSpPr txBox="1"/>
          <p:nvPr/>
        </p:nvSpPr>
        <p:spPr>
          <a:xfrm>
            <a:off x="651214" y="1567567"/>
            <a:ext cx="16126564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 continuación se presenta un ejemplo del ciclo de vida del concepto zapato: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RELACIONES DE UN OBJETO</a:t>
            </a:r>
            <a:endParaRPr/>
          </a:p>
        </p:txBody>
      </p:sp>
      <p:sp>
        <p:nvSpPr>
          <p:cNvPr id="188" name="Google Shape;188;p13"/>
          <p:cNvSpPr txBox="1"/>
          <p:nvPr/>
        </p:nvSpPr>
        <p:spPr>
          <a:xfrm>
            <a:off x="1338901" y="1927290"/>
            <a:ext cx="16126564" cy="699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1. Relación Jerárquica: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objeto tiene mayor autoridad o nivel que otro dentro de una estructura.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maestro tiene autoridad sobre un alumno en el aula.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2. Relación de Contención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objeto está dentro de otro o forma parte de un conjunto más grande.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Una pelota está dentro de una caja de juguetes.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3. Relación de Colección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Varios objetos similares se agrupan por compartir características o funciones.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conjunto de pelotas usadas en diferentes deportes: fútbol, baloncesto, voleibol.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TRIADAS DEL CONCEPTO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1396015" y="1632672"/>
            <a:ext cx="15863285" cy="851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 el conjunto de tres elementos mentales que usamos para comprender y reconocer un concepto: el nombre del concepto, sus características principales (intensidad) y los ejemplos que lo representan (extensión).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Los elementos que componen las triadas del concepto son: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Símbolo: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Es la palabra o etiqueta con la que identificamos mentalmente una idea.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Intensidad: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las características esenciales que definen al concepto.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Extensión: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los ejemplos concretos que representan ese concepto.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2771410" y="2620099"/>
            <a:ext cx="13112495" cy="6638201"/>
          </a:xfrm>
          <a:custGeom>
            <a:rect b="b" l="l" r="r" t="t"/>
            <a:pathLst>
              <a:path extrusionOk="0" h="6638201" w="13112495">
                <a:moveTo>
                  <a:pt x="0" y="0"/>
                </a:moveTo>
                <a:lnTo>
                  <a:pt x="13112495" y="0"/>
                </a:lnTo>
                <a:lnTo>
                  <a:pt x="13112495" y="6638201"/>
                </a:lnTo>
                <a:lnTo>
                  <a:pt x="0" y="6638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1396015" y="1632672"/>
            <a:ext cx="15863285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Triada del concepto “Cepillo”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TRIADAS PARCIALES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743589" y="1538445"/>
            <a:ext cx="15863285" cy="744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alguna circunstancia, vemos triadas parciales, es decir triadas a las que les falta uno de los elementos que mencionamos con anterioridad, estos casos especiales son: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Conceptos sin nombre: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Un concepto puede existir en nuestra mente sin tener un nombre específico. Sin embargo, al nombrarlo con un símbolo o palabra, podemos comunicarlo de forma más rápida y efectiva.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Conceptos sin objeto: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conceptos que existen en nuestra mente, pero que no tienen un objeto real o presente asociado. Sirven para anticipar, imaginar o prevenir situaciones, aunque no exista un ejemplo concreto.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Conceptos sin definición: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conceptos a los que se les asignan objetos o casos, pero no tienen una definición clara que explique qué los caracteriza o por qué pertenecen a ese concepto.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/>
          <p:nvPr/>
        </p:nvSpPr>
        <p:spPr>
          <a:xfrm>
            <a:off x="1302591" y="2400241"/>
            <a:ext cx="15956709" cy="5884036"/>
          </a:xfrm>
          <a:custGeom>
            <a:rect b="b" l="l" r="r" t="t"/>
            <a:pathLst>
              <a:path extrusionOk="0" h="5884036" w="15956709">
                <a:moveTo>
                  <a:pt x="0" y="0"/>
                </a:moveTo>
                <a:lnTo>
                  <a:pt x="15956709" y="0"/>
                </a:lnTo>
                <a:lnTo>
                  <a:pt x="15956709" y="5884036"/>
                </a:lnTo>
                <a:lnTo>
                  <a:pt x="0" y="5884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1028700" y="782003"/>
            <a:ext cx="15884411" cy="104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DE TRIADA DE CONCEPTOS SIN NOMBRE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/>
          <p:nvPr/>
        </p:nvSpPr>
        <p:spPr>
          <a:xfrm>
            <a:off x="1703056" y="2195630"/>
            <a:ext cx="15210055" cy="7300826"/>
          </a:xfrm>
          <a:custGeom>
            <a:rect b="b" l="l" r="r" t="t"/>
            <a:pathLst>
              <a:path extrusionOk="0" h="7300826" w="15210055">
                <a:moveTo>
                  <a:pt x="0" y="0"/>
                </a:moveTo>
                <a:lnTo>
                  <a:pt x="15210055" y="0"/>
                </a:lnTo>
                <a:lnTo>
                  <a:pt x="15210055" y="7300826"/>
                </a:lnTo>
                <a:lnTo>
                  <a:pt x="0" y="73008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1028700" y="782003"/>
            <a:ext cx="15884411" cy="104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DE TRIADA DE CONCEPTOS SIN OBJETO: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2911169" y="2047597"/>
            <a:ext cx="13003996" cy="7846080"/>
          </a:xfrm>
          <a:custGeom>
            <a:rect b="b" l="l" r="r" t="t"/>
            <a:pathLst>
              <a:path extrusionOk="0" h="7846080" w="13003996">
                <a:moveTo>
                  <a:pt x="0" y="0"/>
                </a:moveTo>
                <a:lnTo>
                  <a:pt x="13003996" y="0"/>
                </a:lnTo>
                <a:lnTo>
                  <a:pt x="13003996" y="7846080"/>
                </a:lnTo>
                <a:lnTo>
                  <a:pt x="0" y="7846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1028700" y="782003"/>
            <a:ext cx="15884411" cy="104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DE TRIADA DE CONCEPTOS SIN DEFINICIÓN: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SINÓNIMOS Y HOMÓNIMOS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720032" y="2259179"/>
            <a:ext cx="15863285" cy="4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Conceptos Sinónimos:</a:t>
            </a:r>
            <a:r>
              <a:rPr b="0" i="0" lang="en-US" sz="3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 Los conceptos sinónimos son aquellos que, aunque tienen diferentes símbolos, se refieren a la misma idea o conjunto de objetos.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Conceptos Homónimos: </a:t>
            </a:r>
            <a:r>
              <a:rPr b="0" i="0" lang="en-US" sz="3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conceptos que comparten el mismo símbolo, pero se refieren a ideas u objetos completamente diferentes según el contexto, tienen diferente intensidad y extensión.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/>
          <p:nvPr/>
        </p:nvSpPr>
        <p:spPr>
          <a:xfrm>
            <a:off x="938894" y="2481580"/>
            <a:ext cx="16410212" cy="5476908"/>
          </a:xfrm>
          <a:custGeom>
            <a:rect b="b" l="l" r="r" t="t"/>
            <a:pathLst>
              <a:path extrusionOk="0" h="5476908" w="16410212">
                <a:moveTo>
                  <a:pt x="0" y="0"/>
                </a:moveTo>
                <a:lnTo>
                  <a:pt x="16410212" y="0"/>
                </a:lnTo>
                <a:lnTo>
                  <a:pt x="16410212" y="5476908"/>
                </a:lnTo>
                <a:lnTo>
                  <a:pt x="0" y="5476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TRIADA DE SINÓNIMOS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20032" y="1260793"/>
            <a:ext cx="15863285" cy="2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Dibuje la pareja de tríadas que correspondan a sinónimos del concepto "anciano".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2340441" y="8199975"/>
            <a:ext cx="1827415" cy="182741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E8B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2628950" y="8802615"/>
            <a:ext cx="1250396" cy="909550"/>
          </a:xfrm>
          <a:custGeom>
            <a:rect b="b" l="l" r="r" t="t"/>
            <a:pathLst>
              <a:path extrusionOk="0" h="909550" w="1250396">
                <a:moveTo>
                  <a:pt x="0" y="0"/>
                </a:moveTo>
                <a:lnTo>
                  <a:pt x="1250396" y="0"/>
                </a:lnTo>
                <a:lnTo>
                  <a:pt x="1250396" y="909550"/>
                </a:lnTo>
                <a:lnTo>
                  <a:pt x="0" y="9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21"/>
          <p:cNvGrpSpPr/>
          <p:nvPr/>
        </p:nvGrpSpPr>
        <p:grpSpPr>
          <a:xfrm>
            <a:off x="4167856" y="8398388"/>
            <a:ext cx="3817938" cy="1313777"/>
            <a:chOff x="0" y="-28575"/>
            <a:chExt cx="1005548" cy="346015"/>
          </a:xfrm>
        </p:grpSpPr>
        <p:sp>
          <p:nvSpPr>
            <p:cNvPr id="242" name="Google Shape;242;p21"/>
            <p:cNvSpPr/>
            <p:nvPr/>
          </p:nvSpPr>
          <p:spPr>
            <a:xfrm>
              <a:off x="0" y="0"/>
              <a:ext cx="1005548" cy="317440"/>
            </a:xfrm>
            <a:custGeom>
              <a:rect b="b" l="l" r="r" t="t"/>
              <a:pathLst>
                <a:path extrusionOk="0" h="317440" w="1005548">
                  <a:moveTo>
                    <a:pt x="158720" y="0"/>
                  </a:moveTo>
                  <a:lnTo>
                    <a:pt x="846827" y="0"/>
                  </a:lnTo>
                  <a:cubicBezTo>
                    <a:pt x="888923" y="0"/>
                    <a:pt x="929294" y="16722"/>
                    <a:pt x="959059" y="46488"/>
                  </a:cubicBezTo>
                  <a:cubicBezTo>
                    <a:pt x="988825" y="76254"/>
                    <a:pt x="1005548" y="116625"/>
                    <a:pt x="1005548" y="158720"/>
                  </a:cubicBezTo>
                  <a:lnTo>
                    <a:pt x="1005548" y="158720"/>
                  </a:lnTo>
                  <a:cubicBezTo>
                    <a:pt x="1005548" y="200815"/>
                    <a:pt x="988825" y="241186"/>
                    <a:pt x="959059" y="270952"/>
                  </a:cubicBezTo>
                  <a:cubicBezTo>
                    <a:pt x="929294" y="300718"/>
                    <a:pt x="888923" y="317440"/>
                    <a:pt x="846827" y="317440"/>
                  </a:cubicBezTo>
                  <a:lnTo>
                    <a:pt x="158720" y="317440"/>
                  </a:lnTo>
                  <a:cubicBezTo>
                    <a:pt x="116625" y="317440"/>
                    <a:pt x="76254" y="300718"/>
                    <a:pt x="46488" y="270952"/>
                  </a:cubicBezTo>
                  <a:cubicBezTo>
                    <a:pt x="16722" y="241186"/>
                    <a:pt x="0" y="200815"/>
                    <a:pt x="0" y="158720"/>
                  </a:cubicBezTo>
                  <a:lnTo>
                    <a:pt x="0" y="158720"/>
                  </a:lnTo>
                  <a:cubicBezTo>
                    <a:pt x="0" y="116625"/>
                    <a:pt x="16722" y="76254"/>
                    <a:pt x="46488" y="46488"/>
                  </a:cubicBezTo>
                  <a:cubicBezTo>
                    <a:pt x="76254" y="16722"/>
                    <a:pt x="116625" y="0"/>
                    <a:pt x="158720" y="0"/>
                  </a:cubicBezTo>
                  <a:close/>
                </a:path>
              </a:pathLst>
            </a:custGeom>
            <a:solidFill>
              <a:srgbClr val="FFDE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0" y="-28575"/>
              <a:ext cx="1005548" cy="3460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71" marR="0" rtl="0" algn="ctr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727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292727"/>
                  </a:solidFill>
                  <a:latin typeface="Arial"/>
                  <a:ea typeface="Arial"/>
                  <a:cs typeface="Arial"/>
                  <a:sym typeface="Arial"/>
                </a:rPr>
                <a:t>Diferente símbolo</a:t>
              </a:r>
              <a:endParaRPr/>
            </a:p>
            <a:p>
              <a:pPr indent="-248284" lvl="1" marL="496571" marR="0" rtl="0" algn="ctr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727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292727"/>
                  </a:solidFill>
                  <a:latin typeface="Arial"/>
                  <a:ea typeface="Arial"/>
                  <a:cs typeface="Arial"/>
                  <a:sym typeface="Arial"/>
                </a:rPr>
                <a:t>Misma Intensidad</a:t>
              </a:r>
              <a:endParaRPr/>
            </a:p>
            <a:p>
              <a:pPr indent="-248284" lvl="1" marL="496571" marR="0" rtl="0" algn="ctr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727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292727"/>
                  </a:solidFill>
                  <a:latin typeface="Arial"/>
                  <a:ea typeface="Arial"/>
                  <a:cs typeface="Arial"/>
                  <a:sym typeface="Arial"/>
                </a:rPr>
                <a:t>Misma extensión 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/>
          <p:nvPr/>
        </p:nvSpPr>
        <p:spPr>
          <a:xfrm>
            <a:off x="2340441" y="8199975"/>
            <a:ext cx="1827415" cy="182741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E8B9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2628950" y="8802615"/>
            <a:ext cx="1250396" cy="909550"/>
          </a:xfrm>
          <a:custGeom>
            <a:rect b="b" l="l" r="r" t="t"/>
            <a:pathLst>
              <a:path extrusionOk="0" h="909550" w="1250396">
                <a:moveTo>
                  <a:pt x="0" y="0"/>
                </a:moveTo>
                <a:lnTo>
                  <a:pt x="1250396" y="0"/>
                </a:lnTo>
                <a:lnTo>
                  <a:pt x="1250396" y="909550"/>
                </a:lnTo>
                <a:lnTo>
                  <a:pt x="0" y="9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34555" y="2670034"/>
            <a:ext cx="17018890" cy="5339677"/>
          </a:xfrm>
          <a:custGeom>
            <a:rect b="b" l="l" r="r" t="t"/>
            <a:pathLst>
              <a:path extrusionOk="0" h="5339677" w="17018890">
                <a:moveTo>
                  <a:pt x="0" y="0"/>
                </a:moveTo>
                <a:lnTo>
                  <a:pt x="17018890" y="0"/>
                </a:lnTo>
                <a:lnTo>
                  <a:pt x="17018890" y="5339677"/>
                </a:lnTo>
                <a:lnTo>
                  <a:pt x="0" y="5339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TRIADA DE homónimos 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720032" y="1260793"/>
            <a:ext cx="15863285" cy="2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Dibuje la pareja de tríadas que correspondan a sinónimos del concepto "cañon".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53" name="Google Shape;253;p22"/>
          <p:cNvGrpSpPr/>
          <p:nvPr/>
        </p:nvGrpSpPr>
        <p:grpSpPr>
          <a:xfrm>
            <a:off x="4167856" y="8398388"/>
            <a:ext cx="3817938" cy="1313777"/>
            <a:chOff x="0" y="-28575"/>
            <a:chExt cx="1005548" cy="346015"/>
          </a:xfrm>
        </p:grpSpPr>
        <p:sp>
          <p:nvSpPr>
            <p:cNvPr id="254" name="Google Shape;254;p22"/>
            <p:cNvSpPr/>
            <p:nvPr/>
          </p:nvSpPr>
          <p:spPr>
            <a:xfrm>
              <a:off x="0" y="0"/>
              <a:ext cx="1005548" cy="317440"/>
            </a:xfrm>
            <a:custGeom>
              <a:rect b="b" l="l" r="r" t="t"/>
              <a:pathLst>
                <a:path extrusionOk="0" h="317440" w="1005548">
                  <a:moveTo>
                    <a:pt x="158720" y="0"/>
                  </a:moveTo>
                  <a:lnTo>
                    <a:pt x="846827" y="0"/>
                  </a:lnTo>
                  <a:cubicBezTo>
                    <a:pt x="888923" y="0"/>
                    <a:pt x="929294" y="16722"/>
                    <a:pt x="959059" y="46488"/>
                  </a:cubicBezTo>
                  <a:cubicBezTo>
                    <a:pt x="988825" y="76254"/>
                    <a:pt x="1005548" y="116625"/>
                    <a:pt x="1005548" y="158720"/>
                  </a:cubicBezTo>
                  <a:lnTo>
                    <a:pt x="1005548" y="158720"/>
                  </a:lnTo>
                  <a:cubicBezTo>
                    <a:pt x="1005548" y="200815"/>
                    <a:pt x="988825" y="241186"/>
                    <a:pt x="959059" y="270952"/>
                  </a:cubicBezTo>
                  <a:cubicBezTo>
                    <a:pt x="929294" y="300718"/>
                    <a:pt x="888923" y="317440"/>
                    <a:pt x="846827" y="317440"/>
                  </a:cubicBezTo>
                  <a:lnTo>
                    <a:pt x="158720" y="317440"/>
                  </a:lnTo>
                  <a:cubicBezTo>
                    <a:pt x="116625" y="317440"/>
                    <a:pt x="76254" y="300718"/>
                    <a:pt x="46488" y="270952"/>
                  </a:cubicBezTo>
                  <a:cubicBezTo>
                    <a:pt x="16722" y="241186"/>
                    <a:pt x="0" y="200815"/>
                    <a:pt x="0" y="158720"/>
                  </a:cubicBezTo>
                  <a:lnTo>
                    <a:pt x="0" y="158720"/>
                  </a:lnTo>
                  <a:cubicBezTo>
                    <a:pt x="0" y="116625"/>
                    <a:pt x="16722" y="76254"/>
                    <a:pt x="46488" y="46488"/>
                  </a:cubicBezTo>
                  <a:cubicBezTo>
                    <a:pt x="76254" y="16722"/>
                    <a:pt x="116625" y="0"/>
                    <a:pt x="158720" y="0"/>
                  </a:cubicBezTo>
                  <a:close/>
                </a:path>
              </a:pathLst>
            </a:custGeom>
            <a:solidFill>
              <a:srgbClr val="FFDE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0" y="-28575"/>
              <a:ext cx="1005548" cy="3460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71" marR="0" rtl="0" algn="ctr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727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292727"/>
                  </a:solidFill>
                  <a:latin typeface="Arial"/>
                  <a:ea typeface="Arial"/>
                  <a:cs typeface="Arial"/>
                  <a:sym typeface="Arial"/>
                </a:rPr>
                <a:t>Mismo símbolo</a:t>
              </a:r>
              <a:endParaRPr/>
            </a:p>
            <a:p>
              <a:pPr indent="-248284" lvl="1" marL="496571" marR="0" rtl="0" algn="ctr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727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292727"/>
                  </a:solidFill>
                  <a:latin typeface="Arial"/>
                  <a:ea typeface="Arial"/>
                  <a:cs typeface="Arial"/>
                  <a:sym typeface="Arial"/>
                </a:rPr>
                <a:t>Diferente Intensidad</a:t>
              </a:r>
              <a:endParaRPr/>
            </a:p>
            <a:p>
              <a:pPr indent="-248284" lvl="1" marL="496571" marR="0" rtl="0" algn="ctr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727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292727"/>
                  </a:solidFill>
                  <a:latin typeface="Arial"/>
                  <a:ea typeface="Arial"/>
                  <a:cs typeface="Arial"/>
                  <a:sym typeface="Arial"/>
                </a:rPr>
                <a:t>Diferente extensión 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/>
        </p:nvSpPr>
        <p:spPr>
          <a:xfrm>
            <a:off x="852333" y="834551"/>
            <a:ext cx="16406967" cy="168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  <a:p>
            <a:pPr indent="0" lvl="0" marL="0" marR="0" rtl="0" algn="ctr">
              <a:lnSpc>
                <a:spcPct val="1732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1605703" y="1963602"/>
            <a:ext cx="14900226" cy="7468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Objeto: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cualquier cosa concreta o abstracta a la que se puede aplicar un concepto.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Triadas del concepto: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conjunto de tres elementos mentales que usamos para comprender y reconocer un concepto.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Símbolo: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Es la palabra o etiqueta con la que identificamos mentalmente una idea.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Intensidad: 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Son las características esenciales que definen al concepto.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Extensión: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Son los ejemplos concretos que representan ese concepto.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Pasos del ciclo de vida:</a:t>
            </a:r>
            <a:endParaRPr/>
          </a:p>
          <a:p>
            <a:pPr indent="-403012" lvl="2" marL="120903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⚬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Nacimiento del concepto</a:t>
            </a:r>
            <a:endParaRPr/>
          </a:p>
          <a:p>
            <a:pPr indent="-403012" lvl="2" marL="120903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⚬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Definición del objeto</a:t>
            </a:r>
            <a:endParaRPr/>
          </a:p>
          <a:p>
            <a:pPr indent="-403012" lvl="2" marL="120903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⚬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Madurar el concepto</a:t>
            </a:r>
            <a:endParaRPr/>
          </a:p>
          <a:p>
            <a:pPr indent="-403012" lvl="2" marL="120903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⚬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Cambio en el objeto</a:t>
            </a:r>
            <a:endParaRPr/>
          </a:p>
          <a:p>
            <a:pPr indent="-403012" lvl="2" marL="120903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⚬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Cambio en el concepto</a:t>
            </a:r>
            <a:endParaRPr/>
          </a:p>
          <a:p>
            <a:pPr indent="0" lvl="0" marL="0" marR="0" rtl="0" algn="l">
              <a:lnSpc>
                <a:spcPct val="157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/>
          <p:nvPr/>
        </p:nvSpPr>
        <p:spPr>
          <a:xfrm>
            <a:off x="10133814" y="3753534"/>
            <a:ext cx="6737414" cy="4219306"/>
          </a:xfrm>
          <a:custGeom>
            <a:rect b="b" l="l" r="r" t="t"/>
            <a:pathLst>
              <a:path extrusionOk="0" h="4219306" w="6737414">
                <a:moveTo>
                  <a:pt x="0" y="0"/>
                </a:moveTo>
                <a:lnTo>
                  <a:pt x="6737414" y="0"/>
                </a:lnTo>
                <a:lnTo>
                  <a:pt x="6737414" y="4219306"/>
                </a:lnTo>
                <a:lnTo>
                  <a:pt x="0" y="421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1028700" y="2318447"/>
            <a:ext cx="8640435" cy="493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 la capacidad de organizar ideas y conceptos de manera jerárquica y coherente para facilitar el aprendizaje y la comunicación.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Aplicación en clase: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Ayuda a clarificar el pensamiento.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Facilita la comprensión y el análisis.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Mejora la presentación de ideas.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ORDEN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/>
          <p:nvPr/>
        </p:nvSpPr>
        <p:spPr>
          <a:xfrm>
            <a:off x="3493371" y="3910261"/>
            <a:ext cx="11301259" cy="5989667"/>
          </a:xfrm>
          <a:custGeom>
            <a:rect b="b" l="l" r="r" t="t"/>
            <a:pathLst>
              <a:path extrusionOk="0" h="5989667" w="11301259">
                <a:moveTo>
                  <a:pt x="0" y="0"/>
                </a:moveTo>
                <a:lnTo>
                  <a:pt x="11301258" y="0"/>
                </a:lnTo>
                <a:lnTo>
                  <a:pt x="11301258" y="5989668"/>
                </a:lnTo>
                <a:lnTo>
                  <a:pt x="0" y="5989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2135305" y="1009650"/>
            <a:ext cx="13503315" cy="2327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ADQUIRIDOS</a:t>
            </a:r>
            <a:endParaRPr/>
          </a:p>
          <a:p>
            <a:pPr indent="0" lvl="0" marL="0" marR="0" rtl="0" algn="ctr">
              <a:lnSpc>
                <a:spcPct val="1732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1028700" y="2836037"/>
            <a:ext cx="16454242" cy="1074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82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Duración: 15 minutos</a:t>
            </a:r>
            <a:endParaRPr/>
          </a:p>
          <a:p>
            <a:pPr indent="0" lvl="0" marL="0" marR="0" rtl="0" algn="just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82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https://create.kahoot.it/details/06556e4b-59d6-48e4-9ce1-45f857078563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1028700" y="2836037"/>
            <a:ext cx="16454242" cy="487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2778" lvl="1" marL="665555" marR="0" rtl="0" algn="just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82"/>
              <a:buFont typeface="Arial"/>
              <a:buChar char="•"/>
            </a:pPr>
            <a:r>
              <a:rPr b="0" i="0" lang="en-US" sz="3082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López, J. (s.f.). Lógica del concepto. EmailMeForm.https://files.emailmeform.com/1928589/P4qJvi1L/ACFrOgBZ65aG69rmUesY2VjZrHIqnbxSdtAtptOmt31CphUCicJJw-hnr72u4juhx9yzcO17vA9B80wYIC9IcvfT5iLfWskum9WMWpE-OFkOCX16P6-lz7ZlsOkpf8I%3D.pdf</a:t>
            </a:r>
            <a:endParaRPr/>
          </a:p>
          <a:p>
            <a:pPr indent="0" lvl="0" marL="0" marR="0" rtl="0" algn="just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82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778" lvl="1" marL="665555" marR="0" rtl="0" algn="just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82"/>
              <a:buFont typeface="Arial"/>
              <a:buChar char="•"/>
            </a:pPr>
            <a:r>
              <a:rPr b="0" i="0" lang="en-US" sz="3082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Guatemala. (s.f.). Unidad 3: Lógica del Concepto [Material del curso Lógica de Sistemas, Facultad de Ingeniería]. Plataforma UEDI.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B4D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