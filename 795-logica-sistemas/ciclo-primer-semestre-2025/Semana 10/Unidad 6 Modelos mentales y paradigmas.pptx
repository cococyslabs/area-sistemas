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</p:sldIdLst>
  <p:sldSz cy="10287000" cx="18288000"/>
  <p:notesSz cx="6858000" cy="9144000"/>
  <p:embeddedFontLst>
    <p:embeddedFont>
      <p:font typeface="Play"/>
      <p:regular r:id="rId26"/>
      <p:bold r:id="rId27"/>
    </p:embeddedFont>
    <p:embeddedFont>
      <p:font typeface="Open Sans"/>
      <p:bold r:id="rId28"/>
      <p:boldItalic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30" roundtripDataSignature="AMtx7mhNlievRgLmdUORg1+SfOTKzuYEr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Play-regular.fntdata"/><Relationship Id="rId25" Type="http://schemas.openxmlformats.org/officeDocument/2006/relationships/slide" Target="slides/slide20.xml"/><Relationship Id="rId28" Type="http://schemas.openxmlformats.org/officeDocument/2006/relationships/font" Target="fonts/OpenSans-bold.fntdata"/><Relationship Id="rId27" Type="http://schemas.openxmlformats.org/officeDocument/2006/relationships/font" Target="fonts/Play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OpenSans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0" Type="http://customschemas.google.com/relationships/presentationmetadata" Target="meta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2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2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2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2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2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2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2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3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3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3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3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3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3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3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3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3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3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3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3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2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2.png"/><Relationship Id="rId4" Type="http://schemas.openxmlformats.org/officeDocument/2006/relationships/image" Target="../media/image2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1.png"/><Relationship Id="rId4" Type="http://schemas.openxmlformats.org/officeDocument/2006/relationships/image" Target="../media/image2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6.png"/><Relationship Id="rId4" Type="http://schemas.openxmlformats.org/officeDocument/2006/relationships/image" Target="../media/image9.png"/><Relationship Id="rId5" Type="http://schemas.openxmlformats.org/officeDocument/2006/relationships/image" Target="../media/image15.png"/><Relationship Id="rId6" Type="http://schemas.openxmlformats.org/officeDocument/2006/relationships/image" Target="../media/image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0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9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7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5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6BDA9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12541309" y="0"/>
            <a:ext cx="5746691" cy="1711780"/>
          </a:xfrm>
          <a:custGeom>
            <a:rect b="b" l="l" r="r" t="t"/>
            <a:pathLst>
              <a:path extrusionOk="0" h="1711780" w="5746691">
                <a:moveTo>
                  <a:pt x="0" y="0"/>
                </a:moveTo>
                <a:lnTo>
                  <a:pt x="5746691" y="0"/>
                </a:lnTo>
                <a:lnTo>
                  <a:pt x="5746691" y="1711780"/>
                </a:lnTo>
                <a:lnTo>
                  <a:pt x="0" y="171178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"/>
          <p:cNvSpPr txBox="1"/>
          <p:nvPr/>
        </p:nvSpPr>
        <p:spPr>
          <a:xfrm>
            <a:off x="1028700" y="7672752"/>
            <a:ext cx="6827252" cy="8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000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Lógica de Sistemas</a:t>
            </a:r>
            <a:endParaRPr/>
          </a:p>
        </p:txBody>
      </p:sp>
      <p:sp>
        <p:nvSpPr>
          <p:cNvPr id="86" name="Google Shape;86;p1"/>
          <p:cNvSpPr txBox="1"/>
          <p:nvPr/>
        </p:nvSpPr>
        <p:spPr>
          <a:xfrm>
            <a:off x="0" y="3355266"/>
            <a:ext cx="17749719" cy="27876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000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Unidad 6: Modelos mentales y paradigmas</a:t>
            </a:r>
            <a:endParaRPr/>
          </a:p>
        </p:txBody>
      </p:sp>
      <p:sp>
        <p:nvSpPr>
          <p:cNvPr id="87" name="Google Shape;87;p1"/>
          <p:cNvSpPr txBox="1"/>
          <p:nvPr/>
        </p:nvSpPr>
        <p:spPr>
          <a:xfrm>
            <a:off x="1063302" y="8536352"/>
            <a:ext cx="6981379" cy="422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99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Escuela de Ingenieria de Ciencias Y Sistemas</a:t>
            </a:r>
            <a:endParaRPr/>
          </a:p>
        </p:txBody>
      </p:sp>
      <p:sp>
        <p:nvSpPr>
          <p:cNvPr id="88" name="Google Shape;88;p1"/>
          <p:cNvSpPr txBox="1"/>
          <p:nvPr/>
        </p:nvSpPr>
        <p:spPr>
          <a:xfrm>
            <a:off x="1063302" y="8993306"/>
            <a:ext cx="5676900" cy="4193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99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Facultad de Ingenieria</a:t>
            </a:r>
            <a:endParaRPr/>
          </a:p>
        </p:txBody>
      </p:sp>
      <p:sp>
        <p:nvSpPr>
          <p:cNvPr id="89" name="Google Shape;89;p1"/>
          <p:cNvSpPr txBox="1"/>
          <p:nvPr/>
        </p:nvSpPr>
        <p:spPr>
          <a:xfrm>
            <a:off x="1028700" y="9447331"/>
            <a:ext cx="6407944" cy="422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99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Universidad de San Carlos de Guatemala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6BDA9"/>
        </a:soli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4" name="Google Shape;94;p2"/>
          <p:cNvGrpSpPr/>
          <p:nvPr/>
        </p:nvGrpSpPr>
        <p:grpSpPr>
          <a:xfrm>
            <a:off x="176619" y="4520484"/>
            <a:ext cx="4613551" cy="845385"/>
            <a:chOff x="0" y="-76200"/>
            <a:chExt cx="1964221" cy="359923"/>
          </a:xfrm>
        </p:grpSpPr>
        <p:sp>
          <p:nvSpPr>
            <p:cNvPr id="95" name="Google Shape;95;p2"/>
            <p:cNvSpPr/>
            <p:nvPr/>
          </p:nvSpPr>
          <p:spPr>
            <a:xfrm>
              <a:off x="0" y="0"/>
              <a:ext cx="1964221" cy="283723"/>
            </a:xfrm>
            <a:custGeom>
              <a:rect b="b" l="l" r="r" t="t"/>
              <a:pathLst>
                <a:path extrusionOk="0" h="283723" w="1964221">
                  <a:moveTo>
                    <a:pt x="1761021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1761021" y="283723"/>
                  </a:lnTo>
                  <a:lnTo>
                    <a:pt x="1964221" y="141862"/>
                  </a:lnTo>
                  <a:lnTo>
                    <a:pt x="176102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" name="Google Shape;96;p2"/>
            <p:cNvSpPr txBox="1"/>
            <p:nvPr/>
          </p:nvSpPr>
          <p:spPr>
            <a:xfrm>
              <a:off x="0" y="-76200"/>
              <a:ext cx="1849921" cy="3599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799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Ejercicio</a:t>
              </a:r>
              <a:endParaRPr/>
            </a:p>
          </p:txBody>
        </p:sp>
      </p:grpSp>
      <p:sp>
        <p:nvSpPr>
          <p:cNvPr id="97" name="Google Shape;97;p2"/>
          <p:cNvSpPr/>
          <p:nvPr/>
        </p:nvSpPr>
        <p:spPr>
          <a:xfrm>
            <a:off x="878654" y="4740441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9" y="0"/>
                </a:lnTo>
                <a:lnTo>
                  <a:pt x="453359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98" name="Google Shape;98;p2"/>
          <p:cNvGrpSpPr/>
          <p:nvPr/>
        </p:nvGrpSpPr>
        <p:grpSpPr>
          <a:xfrm>
            <a:off x="1866989" y="3013983"/>
            <a:ext cx="4115190" cy="1556484"/>
            <a:chOff x="0" y="-76200"/>
            <a:chExt cx="1083836" cy="409938"/>
          </a:xfrm>
        </p:grpSpPr>
        <p:sp>
          <p:nvSpPr>
            <p:cNvPr id="99" name="Google Shape;99;p2"/>
            <p:cNvSpPr/>
            <p:nvPr/>
          </p:nvSpPr>
          <p:spPr>
            <a:xfrm>
              <a:off x="0" y="0"/>
              <a:ext cx="1083836" cy="333738"/>
            </a:xfrm>
            <a:custGeom>
              <a:rect b="b" l="l" r="r" t="t"/>
              <a:pathLst>
                <a:path extrusionOk="0" h="333738" w="1083836">
                  <a:moveTo>
                    <a:pt x="880636" y="0"/>
                  </a:moveTo>
                  <a:lnTo>
                    <a:pt x="0" y="0"/>
                  </a:lnTo>
                  <a:lnTo>
                    <a:pt x="0" y="333738"/>
                  </a:lnTo>
                  <a:lnTo>
                    <a:pt x="880636" y="333738"/>
                  </a:lnTo>
                  <a:lnTo>
                    <a:pt x="1083836" y="166869"/>
                  </a:lnTo>
                  <a:lnTo>
                    <a:pt x="88063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" name="Google Shape;100;p2"/>
            <p:cNvSpPr txBox="1"/>
            <p:nvPr/>
          </p:nvSpPr>
          <p:spPr>
            <a:xfrm>
              <a:off x="0" y="-76200"/>
              <a:ext cx="969536" cy="4099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799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RECORDATORIOS</a:t>
              </a:r>
              <a:endParaRPr/>
            </a:p>
          </p:txBody>
        </p:sp>
      </p:grpSp>
      <p:sp>
        <p:nvSpPr>
          <p:cNvPr id="101" name="Google Shape;101;p2"/>
          <p:cNvSpPr/>
          <p:nvPr/>
        </p:nvSpPr>
        <p:spPr>
          <a:xfrm>
            <a:off x="651754" y="3429735"/>
            <a:ext cx="753892" cy="872928"/>
          </a:xfrm>
          <a:custGeom>
            <a:rect b="b" l="l" r="r" t="t"/>
            <a:pathLst>
              <a:path extrusionOk="0" h="872928" w="753892">
                <a:moveTo>
                  <a:pt x="0" y="0"/>
                </a:moveTo>
                <a:lnTo>
                  <a:pt x="753892" y="0"/>
                </a:lnTo>
                <a:lnTo>
                  <a:pt x="753892" y="872927"/>
                </a:lnTo>
                <a:lnTo>
                  <a:pt x="0" y="87292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02" name="Google Shape;102;p2"/>
          <p:cNvGrpSpPr/>
          <p:nvPr/>
        </p:nvGrpSpPr>
        <p:grpSpPr>
          <a:xfrm>
            <a:off x="651749" y="-320617"/>
            <a:ext cx="6984451" cy="3120467"/>
            <a:chOff x="-6" y="-95250"/>
            <a:chExt cx="9312600" cy="4160623"/>
          </a:xfrm>
        </p:grpSpPr>
        <p:sp>
          <p:nvSpPr>
            <p:cNvPr id="103" name="Google Shape;103;p2"/>
            <p:cNvSpPr txBox="1"/>
            <p:nvPr/>
          </p:nvSpPr>
          <p:spPr>
            <a:xfrm>
              <a:off x="-6" y="986773"/>
              <a:ext cx="9312600" cy="307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0">
                  <a:solidFill>
                    <a:srgbClr val="131416"/>
                  </a:solidFill>
                  <a:latin typeface="Play"/>
                  <a:ea typeface="Play"/>
                  <a:cs typeface="Play"/>
                  <a:sym typeface="Play"/>
                </a:rPr>
                <a:t>Agenda</a:t>
              </a:r>
              <a:endParaRPr/>
            </a:p>
          </p:txBody>
        </p:sp>
        <p:sp>
          <p:nvSpPr>
            <p:cNvPr id="104" name="Google Shape;104;p2"/>
            <p:cNvSpPr txBox="1"/>
            <p:nvPr/>
          </p:nvSpPr>
          <p:spPr>
            <a:xfrm>
              <a:off x="0" y="-95250"/>
              <a:ext cx="8186982" cy="92743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3185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5" name="Google Shape;105;p2"/>
          <p:cNvGrpSpPr/>
          <p:nvPr/>
        </p:nvGrpSpPr>
        <p:grpSpPr>
          <a:xfrm>
            <a:off x="10384550" y="97566"/>
            <a:ext cx="9164027" cy="2970059"/>
            <a:chOff x="-996220" y="-76200"/>
            <a:chExt cx="12218703" cy="3960079"/>
          </a:xfrm>
        </p:grpSpPr>
        <p:sp>
          <p:nvSpPr>
            <p:cNvPr id="106" name="Google Shape;106;p2"/>
            <p:cNvSpPr txBox="1"/>
            <p:nvPr/>
          </p:nvSpPr>
          <p:spPr>
            <a:xfrm>
              <a:off x="-996220" y="805279"/>
              <a:ext cx="12218700" cy="307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0">
                  <a:solidFill>
                    <a:srgbClr val="131416"/>
                  </a:solidFill>
                  <a:latin typeface="Play"/>
                  <a:ea typeface="Play"/>
                  <a:cs typeface="Play"/>
                  <a:sym typeface="Play"/>
                </a:rPr>
                <a:t>Recursos</a:t>
              </a:r>
              <a:endParaRPr/>
            </a:p>
          </p:txBody>
        </p:sp>
        <p:sp>
          <p:nvSpPr>
            <p:cNvPr id="107" name="Google Shape;107;p2"/>
            <p:cNvSpPr txBox="1"/>
            <p:nvPr/>
          </p:nvSpPr>
          <p:spPr>
            <a:xfrm>
              <a:off x="0" y="-76200"/>
              <a:ext cx="11222483" cy="74754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256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8" name="Google Shape;108;p2"/>
          <p:cNvGrpSpPr/>
          <p:nvPr/>
        </p:nvGrpSpPr>
        <p:grpSpPr>
          <a:xfrm>
            <a:off x="10601661" y="3292453"/>
            <a:ext cx="5484970" cy="1447988"/>
            <a:chOff x="0" y="-47625"/>
            <a:chExt cx="1444601" cy="381363"/>
          </a:xfrm>
        </p:grpSpPr>
        <p:sp>
          <p:nvSpPr>
            <p:cNvPr id="109" name="Google Shape;109;p2"/>
            <p:cNvSpPr/>
            <p:nvPr/>
          </p:nvSpPr>
          <p:spPr>
            <a:xfrm>
              <a:off x="0" y="0"/>
              <a:ext cx="1444601" cy="333738"/>
            </a:xfrm>
            <a:custGeom>
              <a:rect b="b" l="l" r="r" t="t"/>
              <a:pathLst>
                <a:path extrusionOk="0" h="333738" w="1444601">
                  <a:moveTo>
                    <a:pt x="1241401" y="0"/>
                  </a:moveTo>
                  <a:lnTo>
                    <a:pt x="0" y="0"/>
                  </a:lnTo>
                  <a:lnTo>
                    <a:pt x="0" y="333738"/>
                  </a:lnTo>
                  <a:lnTo>
                    <a:pt x="1241401" y="333738"/>
                  </a:lnTo>
                  <a:lnTo>
                    <a:pt x="1444601" y="166869"/>
                  </a:lnTo>
                  <a:lnTo>
                    <a:pt x="124140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" name="Google Shape;110;p2"/>
            <p:cNvSpPr txBox="1"/>
            <p:nvPr/>
          </p:nvSpPr>
          <p:spPr>
            <a:xfrm>
              <a:off x="0" y="-47625"/>
              <a:ext cx="1330301" cy="38136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Link del Video:</a:t>
              </a:r>
              <a:endParaRPr/>
            </a:p>
            <a:p>
              <a:pPr indent="0" lvl="0" marL="0" marR="0" rtl="0" algn="ctr">
                <a:lnSpc>
                  <a:spcPct val="14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https://youtu.be/2_HZZS492eM</a:t>
              </a:r>
              <a:endParaRPr/>
            </a:p>
          </p:txBody>
        </p:sp>
      </p:grpSp>
      <p:grpSp>
        <p:nvGrpSpPr>
          <p:cNvPr id="111" name="Google Shape;111;p2"/>
          <p:cNvGrpSpPr/>
          <p:nvPr/>
        </p:nvGrpSpPr>
        <p:grpSpPr>
          <a:xfrm>
            <a:off x="9879378" y="5818529"/>
            <a:ext cx="7564271" cy="1786106"/>
            <a:chOff x="0" y="-47625"/>
            <a:chExt cx="1992236" cy="470415"/>
          </a:xfrm>
        </p:grpSpPr>
        <p:sp>
          <p:nvSpPr>
            <p:cNvPr id="112" name="Google Shape;112;p2"/>
            <p:cNvSpPr/>
            <p:nvPr/>
          </p:nvSpPr>
          <p:spPr>
            <a:xfrm>
              <a:off x="0" y="0"/>
              <a:ext cx="1992236" cy="422790"/>
            </a:xfrm>
            <a:custGeom>
              <a:rect b="b" l="l" r="r" t="t"/>
              <a:pathLst>
                <a:path extrusionOk="0" h="422790" w="1992236">
                  <a:moveTo>
                    <a:pt x="1789036" y="0"/>
                  </a:moveTo>
                  <a:lnTo>
                    <a:pt x="0" y="0"/>
                  </a:lnTo>
                  <a:lnTo>
                    <a:pt x="0" y="422790"/>
                  </a:lnTo>
                  <a:lnTo>
                    <a:pt x="1789036" y="422790"/>
                  </a:lnTo>
                  <a:lnTo>
                    <a:pt x="1992236" y="211395"/>
                  </a:lnTo>
                  <a:lnTo>
                    <a:pt x="178903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" name="Google Shape;113;p2"/>
            <p:cNvSpPr txBox="1"/>
            <p:nvPr/>
          </p:nvSpPr>
          <p:spPr>
            <a:xfrm>
              <a:off x="0" y="-47625"/>
              <a:ext cx="1877936" cy="47041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Link de Quizziz:</a:t>
              </a:r>
              <a:endParaRPr/>
            </a:p>
            <a:p>
              <a:pPr indent="0" lvl="0" marL="0" marR="0" rtl="0" algn="ctr">
                <a:lnSpc>
                  <a:spcPct val="14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https://create.kahoot.it/details/7c14ded6-312e-43c7-bc57-7f56edbed92a</a:t>
              </a:r>
              <a:endParaRPr/>
            </a:p>
          </p:txBody>
        </p:sp>
      </p:grpSp>
      <p:grpSp>
        <p:nvGrpSpPr>
          <p:cNvPr id="114" name="Google Shape;114;p2"/>
          <p:cNvGrpSpPr/>
          <p:nvPr/>
        </p:nvGrpSpPr>
        <p:grpSpPr>
          <a:xfrm>
            <a:off x="176619" y="5444302"/>
            <a:ext cx="4613551" cy="845385"/>
            <a:chOff x="0" y="-76200"/>
            <a:chExt cx="1964221" cy="359923"/>
          </a:xfrm>
        </p:grpSpPr>
        <p:sp>
          <p:nvSpPr>
            <p:cNvPr id="115" name="Google Shape;115;p2"/>
            <p:cNvSpPr/>
            <p:nvPr/>
          </p:nvSpPr>
          <p:spPr>
            <a:xfrm>
              <a:off x="0" y="0"/>
              <a:ext cx="1964221" cy="283723"/>
            </a:xfrm>
            <a:custGeom>
              <a:rect b="b" l="l" r="r" t="t"/>
              <a:pathLst>
                <a:path extrusionOk="0" h="283723" w="1964221">
                  <a:moveTo>
                    <a:pt x="1761021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1761021" y="283723"/>
                  </a:lnTo>
                  <a:lnTo>
                    <a:pt x="1964221" y="141862"/>
                  </a:lnTo>
                  <a:lnTo>
                    <a:pt x="176102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" name="Google Shape;116;p2"/>
            <p:cNvSpPr txBox="1"/>
            <p:nvPr/>
          </p:nvSpPr>
          <p:spPr>
            <a:xfrm>
              <a:off x="0" y="-76200"/>
              <a:ext cx="1849921" cy="3599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799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Quizz</a:t>
              </a:r>
              <a:endParaRPr/>
            </a:p>
          </p:txBody>
        </p:sp>
      </p:grpSp>
      <p:sp>
        <p:nvSpPr>
          <p:cNvPr id="117" name="Google Shape;117;p2"/>
          <p:cNvSpPr/>
          <p:nvPr/>
        </p:nvSpPr>
        <p:spPr>
          <a:xfrm>
            <a:off x="878654" y="5623280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9" y="0"/>
                </a:lnTo>
                <a:lnTo>
                  <a:pt x="453359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6BDA9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3"/>
          <p:cNvSpPr txBox="1"/>
          <p:nvPr/>
        </p:nvSpPr>
        <p:spPr>
          <a:xfrm>
            <a:off x="1374889" y="654364"/>
            <a:ext cx="13991174" cy="1801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12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98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COMPETENCIA(S) QUE DESARROLLAREMOS</a:t>
            </a:r>
            <a:endParaRPr/>
          </a:p>
        </p:txBody>
      </p:sp>
      <p:sp>
        <p:nvSpPr>
          <p:cNvPr id="123" name="Google Shape;123;p3"/>
          <p:cNvSpPr txBox="1"/>
          <p:nvPr/>
        </p:nvSpPr>
        <p:spPr>
          <a:xfrm>
            <a:off x="2191966" y="4432648"/>
            <a:ext cx="13448312" cy="2089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99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Comprender los modelos mentales y paradigmas mediante el análisis de ejemplos y situaciones cotidianas en actividades de reflexión y discusión grupal 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6BDA9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4"/>
          <p:cNvSpPr txBox="1"/>
          <p:nvPr/>
        </p:nvSpPr>
        <p:spPr>
          <a:xfrm>
            <a:off x="1374889" y="3027816"/>
            <a:ext cx="12625499" cy="59269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423887" lvl="1" marL="847775" marR="0" rtl="0" algn="l">
              <a:lnSpc>
                <a:spcPct val="173070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3925"/>
              <a:buFont typeface="Arial"/>
              <a:buChar char="•"/>
            </a:pPr>
            <a:r>
              <a:rPr b="0" i="0" lang="en-US" sz="3925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¿Qué son los Modelos Mentales?</a:t>
            </a:r>
            <a:endParaRPr/>
          </a:p>
          <a:p>
            <a:pPr indent="-423887" lvl="1" marL="847775" marR="0" rtl="0" algn="l">
              <a:lnSpc>
                <a:spcPct val="173070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3925"/>
              <a:buFont typeface="Arial"/>
              <a:buChar char="•"/>
            </a:pPr>
            <a:r>
              <a:rPr b="0" i="0" lang="en-US" sz="3925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¿Para qué nos sirven los modelos mentales?</a:t>
            </a:r>
            <a:endParaRPr/>
          </a:p>
          <a:p>
            <a:pPr indent="-423887" lvl="1" marL="847775" marR="0" rtl="0" algn="l">
              <a:lnSpc>
                <a:spcPct val="173070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3925"/>
              <a:buFont typeface="Arial"/>
              <a:buChar char="•"/>
            </a:pPr>
            <a:r>
              <a:rPr b="0" i="0" lang="en-US" sz="3925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Imagenes multiestables</a:t>
            </a:r>
            <a:endParaRPr/>
          </a:p>
          <a:p>
            <a:pPr indent="-423887" lvl="1" marL="847775" marR="0" rtl="0" algn="l">
              <a:lnSpc>
                <a:spcPct val="173070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3925"/>
              <a:buFont typeface="Arial"/>
              <a:buChar char="•"/>
            </a:pPr>
            <a:r>
              <a:rPr b="0" i="0" lang="en-US" sz="3925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Polisemia</a:t>
            </a:r>
            <a:endParaRPr/>
          </a:p>
          <a:p>
            <a:pPr indent="-423887" lvl="1" marL="847775" marR="0" rtl="0" algn="l">
              <a:lnSpc>
                <a:spcPct val="173070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3925"/>
              <a:buFont typeface="Arial"/>
              <a:buChar char="•"/>
            </a:pPr>
            <a:r>
              <a:rPr b="0" i="0" lang="en-US" sz="3925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Polisemia cultural</a:t>
            </a:r>
            <a:endParaRPr/>
          </a:p>
          <a:p>
            <a:pPr indent="-423887" lvl="1" marL="847775" marR="0" rtl="0" algn="l">
              <a:lnSpc>
                <a:spcPct val="173070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3925"/>
              <a:buFont typeface="Arial"/>
              <a:buChar char="•"/>
            </a:pPr>
            <a:r>
              <a:rPr b="0" i="0" lang="en-US" sz="3925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La certeza</a:t>
            </a:r>
            <a:endParaRPr/>
          </a:p>
          <a:p>
            <a:pPr indent="-423887" lvl="1" marL="847775" marR="0" rtl="0" algn="l">
              <a:lnSpc>
                <a:spcPct val="173070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3925"/>
              <a:buFont typeface="Arial"/>
              <a:buChar char="•"/>
            </a:pPr>
            <a:r>
              <a:rPr b="0" i="0" lang="en-US" sz="3925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El humor</a:t>
            </a:r>
            <a:endParaRPr/>
          </a:p>
        </p:txBody>
      </p:sp>
      <p:sp>
        <p:nvSpPr>
          <p:cNvPr id="129" name="Google Shape;129;p4"/>
          <p:cNvSpPr txBox="1"/>
          <p:nvPr/>
        </p:nvSpPr>
        <p:spPr>
          <a:xfrm>
            <a:off x="1374889" y="654364"/>
            <a:ext cx="13991174" cy="9371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12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98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CONTENIDO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6BDA9"/>
        </a:solidFill>
      </p:bgPr>
    </p:bg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5"/>
          <p:cNvSpPr/>
          <p:nvPr/>
        </p:nvSpPr>
        <p:spPr>
          <a:xfrm>
            <a:off x="1615650" y="2406493"/>
            <a:ext cx="6466841" cy="6421380"/>
          </a:xfrm>
          <a:custGeom>
            <a:rect b="b" l="l" r="r" t="t"/>
            <a:pathLst>
              <a:path extrusionOk="0" h="6421380" w="6466841">
                <a:moveTo>
                  <a:pt x="0" y="0"/>
                </a:moveTo>
                <a:lnTo>
                  <a:pt x="6466841" y="0"/>
                </a:lnTo>
                <a:lnTo>
                  <a:pt x="6466841" y="6421380"/>
                </a:lnTo>
                <a:lnTo>
                  <a:pt x="0" y="642138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5"/>
          <p:cNvSpPr txBox="1"/>
          <p:nvPr/>
        </p:nvSpPr>
        <p:spPr>
          <a:xfrm>
            <a:off x="1374889" y="644839"/>
            <a:ext cx="13991174" cy="16395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98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98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¿QUÉ SON LOS MODELOS MENTALES?</a:t>
            </a:r>
            <a:endParaRPr/>
          </a:p>
        </p:txBody>
      </p:sp>
      <p:sp>
        <p:nvSpPr>
          <p:cNvPr id="136" name="Google Shape;136;p5"/>
          <p:cNvSpPr txBox="1"/>
          <p:nvPr/>
        </p:nvSpPr>
        <p:spPr>
          <a:xfrm>
            <a:off x="9627295" y="2067533"/>
            <a:ext cx="7632005" cy="70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99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Los modelos mentales son la forma en que cada persona entiende el mundo. Son como ‘lentes’ a través de los cuales vemos la realidad, y están influenciados por lo que hemos aprendido, nuestra cultura y nuestras experiencias.</a:t>
            </a:r>
            <a:endParaRPr/>
          </a:p>
          <a:p>
            <a:pPr indent="0" lvl="0" marL="0" marR="0" rtl="0" algn="just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999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6BDA9"/>
        </a:solidFill>
      </p:bgPr>
    </p:bg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1" name="Google Shape;141;p6"/>
          <p:cNvGrpSpPr/>
          <p:nvPr/>
        </p:nvGrpSpPr>
        <p:grpSpPr>
          <a:xfrm>
            <a:off x="2302006" y="3260547"/>
            <a:ext cx="5141050" cy="4238108"/>
            <a:chOff x="0" y="0"/>
            <a:chExt cx="812800" cy="670045"/>
          </a:xfrm>
        </p:grpSpPr>
        <p:sp>
          <p:nvSpPr>
            <p:cNvPr id="142" name="Google Shape;142;p6"/>
            <p:cNvSpPr/>
            <p:nvPr/>
          </p:nvSpPr>
          <p:spPr>
            <a:xfrm>
              <a:off x="0" y="0"/>
              <a:ext cx="812800" cy="670045"/>
            </a:xfrm>
            <a:custGeom>
              <a:rect b="b" l="l" r="r" t="t"/>
              <a:pathLst>
                <a:path extrusionOk="0" h="670045" w="812800">
                  <a:moveTo>
                    <a:pt x="39153" y="0"/>
                  </a:moveTo>
                  <a:lnTo>
                    <a:pt x="773647" y="0"/>
                  </a:lnTo>
                  <a:cubicBezTo>
                    <a:pt x="784031" y="0"/>
                    <a:pt x="793990" y="4125"/>
                    <a:pt x="801332" y="11468"/>
                  </a:cubicBezTo>
                  <a:cubicBezTo>
                    <a:pt x="808675" y="18810"/>
                    <a:pt x="812800" y="28769"/>
                    <a:pt x="812800" y="39153"/>
                  </a:cubicBezTo>
                  <a:lnTo>
                    <a:pt x="812800" y="630891"/>
                  </a:lnTo>
                  <a:cubicBezTo>
                    <a:pt x="812800" y="641276"/>
                    <a:pt x="808675" y="651234"/>
                    <a:pt x="801332" y="658577"/>
                  </a:cubicBezTo>
                  <a:cubicBezTo>
                    <a:pt x="793990" y="665920"/>
                    <a:pt x="784031" y="670045"/>
                    <a:pt x="773647" y="670045"/>
                  </a:cubicBezTo>
                  <a:lnTo>
                    <a:pt x="39153" y="670045"/>
                  </a:lnTo>
                  <a:cubicBezTo>
                    <a:pt x="28769" y="670045"/>
                    <a:pt x="18810" y="665920"/>
                    <a:pt x="11468" y="658577"/>
                  </a:cubicBezTo>
                  <a:cubicBezTo>
                    <a:pt x="4125" y="651234"/>
                    <a:pt x="0" y="641276"/>
                    <a:pt x="0" y="630891"/>
                  </a:cubicBezTo>
                  <a:lnTo>
                    <a:pt x="0" y="39153"/>
                  </a:lnTo>
                  <a:cubicBezTo>
                    <a:pt x="0" y="28769"/>
                    <a:pt x="4125" y="18810"/>
                    <a:pt x="11468" y="11468"/>
                  </a:cubicBezTo>
                  <a:cubicBezTo>
                    <a:pt x="18810" y="4125"/>
                    <a:pt x="28769" y="0"/>
                    <a:pt x="39153" y="0"/>
                  </a:cubicBezTo>
                  <a:close/>
                </a:path>
              </a:pathLst>
            </a:custGeom>
            <a:solidFill>
              <a:srgbClr val="EDE8E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3" name="Google Shape;143;p6"/>
            <p:cNvSpPr txBox="1"/>
            <p:nvPr/>
          </p:nvSpPr>
          <p:spPr>
            <a:xfrm>
              <a:off x="0" y="9525"/>
              <a:ext cx="812800" cy="6605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178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44" name="Google Shape;144;p6"/>
          <p:cNvGrpSpPr/>
          <p:nvPr/>
        </p:nvGrpSpPr>
        <p:grpSpPr>
          <a:xfrm>
            <a:off x="10150707" y="3260547"/>
            <a:ext cx="5141050" cy="4238108"/>
            <a:chOff x="0" y="0"/>
            <a:chExt cx="812800" cy="670045"/>
          </a:xfrm>
        </p:grpSpPr>
        <p:sp>
          <p:nvSpPr>
            <p:cNvPr id="145" name="Google Shape;145;p6"/>
            <p:cNvSpPr/>
            <p:nvPr/>
          </p:nvSpPr>
          <p:spPr>
            <a:xfrm>
              <a:off x="0" y="0"/>
              <a:ext cx="812800" cy="670045"/>
            </a:xfrm>
            <a:custGeom>
              <a:rect b="b" l="l" r="r" t="t"/>
              <a:pathLst>
                <a:path extrusionOk="0" h="670045" w="812800">
                  <a:moveTo>
                    <a:pt x="39153" y="0"/>
                  </a:moveTo>
                  <a:lnTo>
                    <a:pt x="773647" y="0"/>
                  </a:lnTo>
                  <a:cubicBezTo>
                    <a:pt x="784031" y="0"/>
                    <a:pt x="793990" y="4125"/>
                    <a:pt x="801332" y="11468"/>
                  </a:cubicBezTo>
                  <a:cubicBezTo>
                    <a:pt x="808675" y="18810"/>
                    <a:pt x="812800" y="28769"/>
                    <a:pt x="812800" y="39153"/>
                  </a:cubicBezTo>
                  <a:lnTo>
                    <a:pt x="812800" y="630891"/>
                  </a:lnTo>
                  <a:cubicBezTo>
                    <a:pt x="812800" y="641276"/>
                    <a:pt x="808675" y="651234"/>
                    <a:pt x="801332" y="658577"/>
                  </a:cubicBezTo>
                  <a:cubicBezTo>
                    <a:pt x="793990" y="665920"/>
                    <a:pt x="784031" y="670045"/>
                    <a:pt x="773647" y="670045"/>
                  </a:cubicBezTo>
                  <a:lnTo>
                    <a:pt x="39153" y="670045"/>
                  </a:lnTo>
                  <a:cubicBezTo>
                    <a:pt x="28769" y="670045"/>
                    <a:pt x="18810" y="665920"/>
                    <a:pt x="11468" y="658577"/>
                  </a:cubicBezTo>
                  <a:cubicBezTo>
                    <a:pt x="4125" y="651234"/>
                    <a:pt x="0" y="641276"/>
                    <a:pt x="0" y="630891"/>
                  </a:cubicBezTo>
                  <a:lnTo>
                    <a:pt x="0" y="39153"/>
                  </a:lnTo>
                  <a:cubicBezTo>
                    <a:pt x="0" y="28769"/>
                    <a:pt x="4125" y="18810"/>
                    <a:pt x="11468" y="11468"/>
                  </a:cubicBezTo>
                  <a:cubicBezTo>
                    <a:pt x="18810" y="4125"/>
                    <a:pt x="28769" y="0"/>
                    <a:pt x="39153" y="0"/>
                  </a:cubicBezTo>
                  <a:close/>
                </a:path>
              </a:pathLst>
            </a:custGeom>
            <a:solidFill>
              <a:srgbClr val="EDE8E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6" name="Google Shape;146;p6"/>
            <p:cNvSpPr txBox="1"/>
            <p:nvPr/>
          </p:nvSpPr>
          <p:spPr>
            <a:xfrm>
              <a:off x="0" y="9525"/>
              <a:ext cx="812800" cy="6605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178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147" name="Google Shape;147;p6"/>
          <p:cNvCxnSpPr/>
          <p:nvPr/>
        </p:nvCxnSpPr>
        <p:spPr>
          <a:xfrm>
            <a:off x="2506273" y="4345153"/>
            <a:ext cx="4732518" cy="0"/>
          </a:xfrm>
          <a:prstGeom prst="straightConnector1">
            <a:avLst/>
          </a:prstGeom>
          <a:noFill/>
          <a:ln cap="flat" cmpd="sng" w="38100">
            <a:solidFill>
              <a:srgbClr val="253754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8" name="Google Shape;148;p6"/>
          <p:cNvCxnSpPr/>
          <p:nvPr/>
        </p:nvCxnSpPr>
        <p:spPr>
          <a:xfrm>
            <a:off x="10354973" y="4326103"/>
            <a:ext cx="4732518" cy="0"/>
          </a:xfrm>
          <a:prstGeom prst="straightConnector1">
            <a:avLst/>
          </a:prstGeom>
          <a:noFill/>
          <a:ln cap="flat" cmpd="sng" w="38100">
            <a:solidFill>
              <a:srgbClr val="25375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9" name="Google Shape;149;p6"/>
          <p:cNvSpPr/>
          <p:nvPr/>
        </p:nvSpPr>
        <p:spPr>
          <a:xfrm>
            <a:off x="2431183" y="4588055"/>
            <a:ext cx="4882697" cy="2690466"/>
          </a:xfrm>
          <a:custGeom>
            <a:rect b="b" l="l" r="r" t="t"/>
            <a:pathLst>
              <a:path extrusionOk="0" h="2690466" w="4882697">
                <a:moveTo>
                  <a:pt x="0" y="0"/>
                </a:moveTo>
                <a:lnTo>
                  <a:pt x="4882697" y="0"/>
                </a:lnTo>
                <a:lnTo>
                  <a:pt x="4882697" y="2690466"/>
                </a:lnTo>
                <a:lnTo>
                  <a:pt x="0" y="269046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6"/>
          <p:cNvSpPr/>
          <p:nvPr/>
        </p:nvSpPr>
        <p:spPr>
          <a:xfrm>
            <a:off x="10240697" y="4698548"/>
            <a:ext cx="4961071" cy="2434025"/>
          </a:xfrm>
          <a:custGeom>
            <a:rect b="b" l="l" r="r" t="t"/>
            <a:pathLst>
              <a:path extrusionOk="0" h="2434025" w="4961071">
                <a:moveTo>
                  <a:pt x="0" y="0"/>
                </a:moveTo>
                <a:lnTo>
                  <a:pt x="4961071" y="0"/>
                </a:lnTo>
                <a:lnTo>
                  <a:pt x="4961071" y="2434025"/>
                </a:lnTo>
                <a:lnTo>
                  <a:pt x="0" y="243402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-4778" r="-4777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6"/>
          <p:cNvSpPr txBox="1"/>
          <p:nvPr/>
        </p:nvSpPr>
        <p:spPr>
          <a:xfrm>
            <a:off x="1374889" y="654364"/>
            <a:ext cx="15884411" cy="6972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500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¿QUÉ SON LOS MODELOS MENTALES?</a:t>
            </a:r>
            <a:endParaRPr/>
          </a:p>
        </p:txBody>
      </p:sp>
      <p:sp>
        <p:nvSpPr>
          <p:cNvPr id="152" name="Google Shape;152;p6"/>
          <p:cNvSpPr txBox="1"/>
          <p:nvPr/>
        </p:nvSpPr>
        <p:spPr>
          <a:xfrm>
            <a:off x="2680170" y="3644350"/>
            <a:ext cx="4384724" cy="5388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159">
                <a:solidFill>
                  <a:srgbClr val="253754"/>
                </a:solidFill>
                <a:latin typeface="Open Sans"/>
                <a:ea typeface="Open Sans"/>
                <a:cs typeface="Open Sans"/>
                <a:sym typeface="Open Sans"/>
              </a:rPr>
              <a:t>Filtros de la realidad</a:t>
            </a:r>
            <a:endParaRPr/>
          </a:p>
        </p:txBody>
      </p:sp>
      <p:sp>
        <p:nvSpPr>
          <p:cNvPr id="153" name="Google Shape;153;p6"/>
          <p:cNvSpPr txBox="1"/>
          <p:nvPr/>
        </p:nvSpPr>
        <p:spPr>
          <a:xfrm>
            <a:off x="10699818" y="3402806"/>
            <a:ext cx="4042829" cy="7804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74">
                <a:solidFill>
                  <a:srgbClr val="253754"/>
                </a:solidFill>
                <a:latin typeface="Open Sans"/>
                <a:ea typeface="Open Sans"/>
                <a:cs typeface="Open Sans"/>
                <a:sym typeface="Open Sans"/>
              </a:rPr>
              <a:t>No Vemos el Mundo como Es, Sino Como lo Entendemos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6BDA9"/>
        </a:solidFill>
      </p:bgPr>
    </p:bg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7"/>
          <p:cNvSpPr/>
          <p:nvPr/>
        </p:nvSpPr>
        <p:spPr>
          <a:xfrm>
            <a:off x="9333116" y="2863652"/>
            <a:ext cx="8518497" cy="5683020"/>
          </a:xfrm>
          <a:custGeom>
            <a:rect b="b" l="l" r="r" t="t"/>
            <a:pathLst>
              <a:path extrusionOk="0" h="5683020" w="8518497">
                <a:moveTo>
                  <a:pt x="0" y="0"/>
                </a:moveTo>
                <a:lnTo>
                  <a:pt x="8518497" y="0"/>
                </a:lnTo>
                <a:lnTo>
                  <a:pt x="8518497" y="5683020"/>
                </a:lnTo>
                <a:lnTo>
                  <a:pt x="0" y="56830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7"/>
          <p:cNvSpPr txBox="1"/>
          <p:nvPr/>
        </p:nvSpPr>
        <p:spPr>
          <a:xfrm>
            <a:off x="1028700" y="782002"/>
            <a:ext cx="15884411" cy="5454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EJEMPLO</a:t>
            </a:r>
            <a:endParaRPr/>
          </a:p>
        </p:txBody>
      </p:sp>
      <p:sp>
        <p:nvSpPr>
          <p:cNvPr id="160" name="Google Shape;160;p7"/>
          <p:cNvSpPr txBox="1"/>
          <p:nvPr/>
        </p:nvSpPr>
        <p:spPr>
          <a:xfrm>
            <a:off x="942672" y="3424056"/>
            <a:ext cx="8028233" cy="2454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Modelo mental: Si hago las cosas rápido, obtendré mejores resultados". Es una creencia que muchas veces nos guía en nuestras decisiones.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6BDA9"/>
        </a:solidFill>
      </p:bgPr>
    </p:bg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8"/>
          <p:cNvSpPr txBox="1"/>
          <p:nvPr/>
        </p:nvSpPr>
        <p:spPr>
          <a:xfrm>
            <a:off x="1028700" y="782003"/>
            <a:ext cx="16230600" cy="10407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¿PARA QUÉ NOS SIRVEN LOS MODELOS MENTALES?</a:t>
            </a:r>
            <a:endParaRPr/>
          </a:p>
        </p:txBody>
      </p:sp>
      <p:sp>
        <p:nvSpPr>
          <p:cNvPr id="166" name="Google Shape;166;p8"/>
          <p:cNvSpPr txBox="1"/>
          <p:nvPr/>
        </p:nvSpPr>
        <p:spPr>
          <a:xfrm>
            <a:off x="1293968" y="3525827"/>
            <a:ext cx="16126564" cy="3692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77825" lvl="1" marL="755651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3500"/>
              <a:buFont typeface="Arial"/>
              <a:buChar char="•"/>
            </a:pPr>
            <a:r>
              <a:rPr b="0" i="0" lang="en-US" sz="3500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Nos ayudan a interpretar la realidad.</a:t>
            </a:r>
            <a:endParaRPr/>
          </a:p>
          <a:p>
            <a:pPr indent="-377825" lvl="1" marL="755651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3500"/>
              <a:buFont typeface="Arial"/>
              <a:buChar char="•"/>
            </a:pPr>
            <a:r>
              <a:rPr b="0" i="0" lang="en-US" sz="3500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Facilitan la toma de decisiones.</a:t>
            </a:r>
            <a:endParaRPr/>
          </a:p>
          <a:p>
            <a:pPr indent="-377825" lvl="1" marL="755651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3500"/>
              <a:buFont typeface="Arial"/>
              <a:buChar char="•"/>
            </a:pPr>
            <a:r>
              <a:rPr b="0" i="0" lang="en-US" sz="3500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Permiten anticipar situaciones y resolver problemas.</a:t>
            </a:r>
            <a:endParaRPr/>
          </a:p>
          <a:p>
            <a:pPr indent="-377825" lvl="1" marL="755651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3500"/>
              <a:buFont typeface="Arial"/>
              <a:buChar char="•"/>
            </a:pPr>
            <a:r>
              <a:rPr b="0" i="0" lang="en-US" sz="3500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Influyen en nuestra forma de aprender y adaptarnos.</a:t>
            </a:r>
            <a:endParaRPr/>
          </a:p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500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500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6BDA9"/>
        </a:solidFill>
      </p:bgPr>
    </p:bg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9"/>
          <p:cNvSpPr/>
          <p:nvPr/>
        </p:nvSpPr>
        <p:spPr>
          <a:xfrm>
            <a:off x="1028700" y="2655622"/>
            <a:ext cx="7516516" cy="5649750"/>
          </a:xfrm>
          <a:custGeom>
            <a:rect b="b" l="l" r="r" t="t"/>
            <a:pathLst>
              <a:path extrusionOk="0" h="5649750" w="7516516">
                <a:moveTo>
                  <a:pt x="0" y="0"/>
                </a:moveTo>
                <a:lnTo>
                  <a:pt x="7516516" y="0"/>
                </a:lnTo>
                <a:lnTo>
                  <a:pt x="7516516" y="5649750"/>
                </a:lnTo>
                <a:lnTo>
                  <a:pt x="0" y="564975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9"/>
          <p:cNvSpPr txBox="1"/>
          <p:nvPr/>
        </p:nvSpPr>
        <p:spPr>
          <a:xfrm>
            <a:off x="1374889" y="644839"/>
            <a:ext cx="15092032" cy="8585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98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98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IMÁGENES MULTIESTABLES</a:t>
            </a:r>
            <a:endParaRPr/>
          </a:p>
        </p:txBody>
      </p:sp>
      <p:sp>
        <p:nvSpPr>
          <p:cNvPr id="173" name="Google Shape;173;p9"/>
          <p:cNvSpPr txBox="1"/>
          <p:nvPr/>
        </p:nvSpPr>
        <p:spPr>
          <a:xfrm>
            <a:off x="8920905" y="3355975"/>
            <a:ext cx="7632005" cy="3498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99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Las imágenes multiestables son ilustraciones que pueden interpretarse de más de una manera, dependiendo de cómo las perciba el observador.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6BDA9"/>
        </a:solidFill>
      </p:bgPr>
    </p:bg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0"/>
          <p:cNvSpPr/>
          <p:nvPr/>
        </p:nvSpPr>
        <p:spPr>
          <a:xfrm>
            <a:off x="5092128" y="1681769"/>
            <a:ext cx="7004610" cy="7779457"/>
          </a:xfrm>
          <a:custGeom>
            <a:rect b="b" l="l" r="r" t="t"/>
            <a:pathLst>
              <a:path extrusionOk="0" h="7779457" w="7004610">
                <a:moveTo>
                  <a:pt x="0" y="0"/>
                </a:moveTo>
                <a:lnTo>
                  <a:pt x="7004610" y="0"/>
                </a:lnTo>
                <a:lnTo>
                  <a:pt x="7004610" y="7779457"/>
                </a:lnTo>
                <a:lnTo>
                  <a:pt x="0" y="777945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0"/>
          <p:cNvSpPr txBox="1"/>
          <p:nvPr/>
        </p:nvSpPr>
        <p:spPr>
          <a:xfrm>
            <a:off x="337138" y="620712"/>
            <a:ext cx="7862708" cy="78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0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EJEMPLO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6BDA9"/>
        </a:solidFill>
      </p:bgPr>
    </p:bg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1"/>
          <p:cNvSpPr/>
          <p:nvPr/>
        </p:nvSpPr>
        <p:spPr>
          <a:xfrm>
            <a:off x="2025184" y="2007567"/>
            <a:ext cx="6020875" cy="6813096"/>
          </a:xfrm>
          <a:custGeom>
            <a:rect b="b" l="l" r="r" t="t"/>
            <a:pathLst>
              <a:path extrusionOk="0" h="6813096" w="6020875">
                <a:moveTo>
                  <a:pt x="0" y="0"/>
                </a:moveTo>
                <a:lnTo>
                  <a:pt x="6020875" y="0"/>
                </a:lnTo>
                <a:lnTo>
                  <a:pt x="6020875" y="6813095"/>
                </a:lnTo>
                <a:lnTo>
                  <a:pt x="0" y="681309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1"/>
          <p:cNvSpPr/>
          <p:nvPr/>
        </p:nvSpPr>
        <p:spPr>
          <a:xfrm>
            <a:off x="10229880" y="2007567"/>
            <a:ext cx="6025286" cy="6813096"/>
          </a:xfrm>
          <a:custGeom>
            <a:rect b="b" l="l" r="r" t="t"/>
            <a:pathLst>
              <a:path extrusionOk="0" h="6813096" w="6025286">
                <a:moveTo>
                  <a:pt x="0" y="0"/>
                </a:moveTo>
                <a:lnTo>
                  <a:pt x="6025286" y="0"/>
                </a:lnTo>
                <a:lnTo>
                  <a:pt x="6025286" y="6813095"/>
                </a:lnTo>
                <a:lnTo>
                  <a:pt x="0" y="681309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1"/>
          <p:cNvSpPr txBox="1"/>
          <p:nvPr/>
        </p:nvSpPr>
        <p:spPr>
          <a:xfrm>
            <a:off x="337138" y="620712"/>
            <a:ext cx="7862708" cy="78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0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EJEMPLO</a:t>
            </a:r>
            <a:endParaRPr/>
          </a:p>
        </p:txBody>
      </p:sp>
      <p:sp>
        <p:nvSpPr>
          <p:cNvPr id="187" name="Google Shape;187;p11"/>
          <p:cNvSpPr txBox="1"/>
          <p:nvPr/>
        </p:nvSpPr>
        <p:spPr>
          <a:xfrm>
            <a:off x="2025184" y="9018313"/>
            <a:ext cx="7862708" cy="78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0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COPA</a:t>
            </a:r>
            <a:endParaRPr/>
          </a:p>
        </p:txBody>
      </p:sp>
      <p:sp>
        <p:nvSpPr>
          <p:cNvPr id="188" name="Google Shape;188;p11"/>
          <p:cNvSpPr txBox="1"/>
          <p:nvPr/>
        </p:nvSpPr>
        <p:spPr>
          <a:xfrm>
            <a:off x="10599456" y="9018313"/>
            <a:ext cx="7862708" cy="78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0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ROSTROS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6BDA9"/>
        </a:solidFill>
      </p:bgPr>
    </p:bg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2"/>
          <p:cNvSpPr/>
          <p:nvPr/>
        </p:nvSpPr>
        <p:spPr>
          <a:xfrm>
            <a:off x="1028700" y="5143500"/>
            <a:ext cx="3649570" cy="3277854"/>
          </a:xfrm>
          <a:custGeom>
            <a:rect b="b" l="l" r="r" t="t"/>
            <a:pathLst>
              <a:path extrusionOk="0" h="3277854" w="3649570">
                <a:moveTo>
                  <a:pt x="0" y="0"/>
                </a:moveTo>
                <a:lnTo>
                  <a:pt x="3649570" y="0"/>
                </a:lnTo>
                <a:lnTo>
                  <a:pt x="3649570" y="3277854"/>
                </a:lnTo>
                <a:lnTo>
                  <a:pt x="0" y="327785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2"/>
          <p:cNvSpPr/>
          <p:nvPr/>
        </p:nvSpPr>
        <p:spPr>
          <a:xfrm>
            <a:off x="5663625" y="4905583"/>
            <a:ext cx="3156574" cy="3515771"/>
          </a:xfrm>
          <a:custGeom>
            <a:rect b="b" l="l" r="r" t="t"/>
            <a:pathLst>
              <a:path extrusionOk="0" h="3515771" w="3156574">
                <a:moveTo>
                  <a:pt x="0" y="0"/>
                </a:moveTo>
                <a:lnTo>
                  <a:pt x="3156574" y="0"/>
                </a:lnTo>
                <a:lnTo>
                  <a:pt x="3156574" y="3515771"/>
                </a:lnTo>
                <a:lnTo>
                  <a:pt x="0" y="351577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12"/>
          <p:cNvSpPr/>
          <p:nvPr/>
        </p:nvSpPr>
        <p:spPr>
          <a:xfrm>
            <a:off x="9801274" y="5143500"/>
            <a:ext cx="3532076" cy="3167351"/>
          </a:xfrm>
          <a:custGeom>
            <a:rect b="b" l="l" r="r" t="t"/>
            <a:pathLst>
              <a:path extrusionOk="0" h="3167351" w="3532076">
                <a:moveTo>
                  <a:pt x="0" y="0"/>
                </a:moveTo>
                <a:lnTo>
                  <a:pt x="3532076" y="0"/>
                </a:lnTo>
                <a:lnTo>
                  <a:pt x="3532076" y="3167351"/>
                </a:lnTo>
                <a:lnTo>
                  <a:pt x="0" y="316735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2"/>
          <p:cNvSpPr/>
          <p:nvPr/>
        </p:nvSpPr>
        <p:spPr>
          <a:xfrm>
            <a:off x="13872546" y="4846178"/>
            <a:ext cx="3605504" cy="3634581"/>
          </a:xfrm>
          <a:custGeom>
            <a:rect b="b" l="l" r="r" t="t"/>
            <a:pathLst>
              <a:path extrusionOk="0" h="3634581" w="3605504">
                <a:moveTo>
                  <a:pt x="0" y="0"/>
                </a:moveTo>
                <a:lnTo>
                  <a:pt x="3605504" y="0"/>
                </a:lnTo>
                <a:lnTo>
                  <a:pt x="3605504" y="3634581"/>
                </a:lnTo>
                <a:lnTo>
                  <a:pt x="0" y="363458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2"/>
          <p:cNvSpPr txBox="1"/>
          <p:nvPr/>
        </p:nvSpPr>
        <p:spPr>
          <a:xfrm>
            <a:off x="1374889" y="654364"/>
            <a:ext cx="13991174" cy="9371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12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98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POLISEMIA</a:t>
            </a:r>
            <a:endParaRPr/>
          </a:p>
        </p:txBody>
      </p:sp>
      <p:sp>
        <p:nvSpPr>
          <p:cNvPr id="198" name="Google Shape;198;p12"/>
          <p:cNvSpPr txBox="1"/>
          <p:nvPr/>
        </p:nvSpPr>
        <p:spPr>
          <a:xfrm>
            <a:off x="1374889" y="1476235"/>
            <a:ext cx="14890621" cy="4321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>
                <a:solidFill>
                  <a:srgbClr val="152540"/>
                </a:solidFill>
                <a:latin typeface="Arial"/>
                <a:ea typeface="Arial"/>
                <a:cs typeface="Arial"/>
                <a:sym typeface="Arial"/>
              </a:rPr>
              <a:t>Dependiendo del contexto, las personas pueden interpretar el mismo concepto de manera diferente.</a:t>
            </a:r>
            <a:endParaRPr/>
          </a:p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500">
                <a:solidFill>
                  <a:srgbClr val="152540"/>
                </a:solidFill>
                <a:latin typeface="Arial"/>
                <a:ea typeface="Arial"/>
                <a:cs typeface="Arial"/>
                <a:sym typeface="Arial"/>
              </a:rPr>
              <a:t>Ejemplos: Banco</a:t>
            </a:r>
            <a:endParaRPr/>
          </a:p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500">
              <a:solidFill>
                <a:srgbClr val="15254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500">
              <a:solidFill>
                <a:srgbClr val="15254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500">
              <a:solidFill>
                <a:srgbClr val="15254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500">
              <a:solidFill>
                <a:srgbClr val="15254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6BDA9"/>
        </a:solidFill>
      </p:bgPr>
    </p:bg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3"/>
          <p:cNvSpPr txBox="1"/>
          <p:nvPr/>
        </p:nvSpPr>
        <p:spPr>
          <a:xfrm>
            <a:off x="1374889" y="654364"/>
            <a:ext cx="13991174" cy="9371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12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98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POLISEMIA CULTURAL</a:t>
            </a:r>
            <a:endParaRPr/>
          </a:p>
        </p:txBody>
      </p:sp>
      <p:sp>
        <p:nvSpPr>
          <p:cNvPr id="204" name="Google Shape;204;p13"/>
          <p:cNvSpPr txBox="1"/>
          <p:nvPr/>
        </p:nvSpPr>
        <p:spPr>
          <a:xfrm>
            <a:off x="1374889" y="1476235"/>
            <a:ext cx="14890621" cy="741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>
                <a:solidFill>
                  <a:srgbClr val="152540"/>
                </a:solidFill>
                <a:latin typeface="Arial"/>
                <a:ea typeface="Arial"/>
                <a:cs typeface="Arial"/>
                <a:sym typeface="Arial"/>
              </a:rPr>
              <a:t>Es cuando una palabra, imagen o símbolo tiene distintos significados según la cultura que la interpreta. El contexto cultural influye en cómo se entiende ese mensaje. No se trata solo del idioma, sino de valores, costumbres o creencias. Es clave en la comunicación intercultural.</a:t>
            </a:r>
            <a:endParaRPr/>
          </a:p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500">
              <a:solidFill>
                <a:srgbClr val="15254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500">
                <a:solidFill>
                  <a:srgbClr val="152540"/>
                </a:solidFill>
                <a:latin typeface="Arial"/>
                <a:ea typeface="Arial"/>
                <a:cs typeface="Arial"/>
                <a:sym typeface="Arial"/>
              </a:rPr>
              <a:t>Ejemplo:</a:t>
            </a:r>
            <a:r>
              <a:rPr lang="en-US" sz="3500">
                <a:solidFill>
                  <a:srgbClr val="152540"/>
                </a:solidFill>
                <a:latin typeface="Arial"/>
                <a:ea typeface="Arial"/>
                <a:cs typeface="Arial"/>
                <a:sym typeface="Arial"/>
              </a:rPr>
              <a:t> El color rojo puede representar amor en Occidente, pero en China simboliza buena suerte y prosperidad.</a:t>
            </a:r>
            <a:endParaRPr/>
          </a:p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500">
              <a:solidFill>
                <a:srgbClr val="15254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500">
              <a:solidFill>
                <a:srgbClr val="15254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500">
              <a:solidFill>
                <a:srgbClr val="15254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500">
              <a:solidFill>
                <a:srgbClr val="15254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500">
              <a:solidFill>
                <a:srgbClr val="15254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6BDA9"/>
        </a:solidFill>
      </p:bgPr>
    </p:bg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4"/>
          <p:cNvSpPr/>
          <p:nvPr/>
        </p:nvSpPr>
        <p:spPr>
          <a:xfrm>
            <a:off x="4929585" y="2946232"/>
            <a:ext cx="7256988" cy="6312068"/>
          </a:xfrm>
          <a:custGeom>
            <a:rect b="b" l="l" r="r" t="t"/>
            <a:pathLst>
              <a:path extrusionOk="0" h="6312068" w="7256988">
                <a:moveTo>
                  <a:pt x="0" y="0"/>
                </a:moveTo>
                <a:lnTo>
                  <a:pt x="7256988" y="0"/>
                </a:lnTo>
                <a:lnTo>
                  <a:pt x="7256988" y="6312068"/>
                </a:lnTo>
                <a:lnTo>
                  <a:pt x="0" y="631206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14"/>
          <p:cNvSpPr txBox="1"/>
          <p:nvPr/>
        </p:nvSpPr>
        <p:spPr>
          <a:xfrm>
            <a:off x="1374889" y="654364"/>
            <a:ext cx="13991174" cy="9371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12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98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CERTEZA</a:t>
            </a:r>
            <a:endParaRPr/>
          </a:p>
        </p:txBody>
      </p:sp>
      <p:sp>
        <p:nvSpPr>
          <p:cNvPr id="211" name="Google Shape;211;p14"/>
          <p:cNvSpPr txBox="1"/>
          <p:nvPr/>
        </p:nvSpPr>
        <p:spPr>
          <a:xfrm>
            <a:off x="1374889" y="1476235"/>
            <a:ext cx="14890621" cy="1225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>
                <a:solidFill>
                  <a:srgbClr val="152540"/>
                </a:solidFill>
                <a:latin typeface="Arial"/>
                <a:ea typeface="Arial"/>
                <a:cs typeface="Arial"/>
                <a:sym typeface="Arial"/>
              </a:rPr>
              <a:t>La actitud que implica asumir que la realidad es como uno la ve y que todo el mundo debe ver las cosas de la misma manera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6BDA9"/>
        </a:solidFill>
      </p:bgPr>
    </p:bg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5"/>
          <p:cNvSpPr/>
          <p:nvPr/>
        </p:nvSpPr>
        <p:spPr>
          <a:xfrm>
            <a:off x="3906710" y="3013632"/>
            <a:ext cx="9803415" cy="6908502"/>
          </a:xfrm>
          <a:custGeom>
            <a:rect b="b" l="l" r="r" t="t"/>
            <a:pathLst>
              <a:path extrusionOk="0" h="6908502" w="9803415">
                <a:moveTo>
                  <a:pt x="0" y="0"/>
                </a:moveTo>
                <a:lnTo>
                  <a:pt x="9803415" y="0"/>
                </a:lnTo>
                <a:lnTo>
                  <a:pt x="9803415" y="6908502"/>
                </a:lnTo>
                <a:lnTo>
                  <a:pt x="0" y="69085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4012" r="-4012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15"/>
          <p:cNvSpPr txBox="1"/>
          <p:nvPr/>
        </p:nvSpPr>
        <p:spPr>
          <a:xfrm>
            <a:off x="1374889" y="654364"/>
            <a:ext cx="13991174" cy="9371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12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98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HUMOR</a:t>
            </a:r>
            <a:endParaRPr/>
          </a:p>
        </p:txBody>
      </p:sp>
      <p:sp>
        <p:nvSpPr>
          <p:cNvPr id="218" name="Google Shape;218;p15"/>
          <p:cNvSpPr txBox="1"/>
          <p:nvPr/>
        </p:nvSpPr>
        <p:spPr>
          <a:xfrm>
            <a:off x="1374889" y="1504810"/>
            <a:ext cx="14890621" cy="1225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>
                <a:solidFill>
                  <a:srgbClr val="152540"/>
                </a:solidFill>
                <a:latin typeface="Arial"/>
                <a:ea typeface="Arial"/>
                <a:cs typeface="Arial"/>
                <a:sym typeface="Arial"/>
              </a:rPr>
              <a:t>El humor nos ayuda a cuestionar lo establecido, permitiéndonos ver las cosas desde nuevas perspectivas.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6BDA9"/>
        </a:solidFill>
      </p:bgPr>
    </p:bg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6"/>
          <p:cNvSpPr txBox="1"/>
          <p:nvPr/>
        </p:nvSpPr>
        <p:spPr>
          <a:xfrm>
            <a:off x="852333" y="834551"/>
            <a:ext cx="16406967" cy="168897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2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CONCEPTOS CLAVE APRENDIDOS </a:t>
            </a:r>
            <a:endParaRPr/>
          </a:p>
          <a:p>
            <a:pPr indent="0" lvl="0" marL="0" marR="0" rtl="0" algn="ctr">
              <a:lnSpc>
                <a:spcPct val="1732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500">
              <a:solidFill>
                <a:srgbClr val="13141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16"/>
          <p:cNvSpPr txBox="1"/>
          <p:nvPr/>
        </p:nvSpPr>
        <p:spPr>
          <a:xfrm>
            <a:off x="1605703" y="2291912"/>
            <a:ext cx="14900226" cy="44437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02260" lvl="1" marL="604519" marR="0" rtl="0" algn="l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2799"/>
              <a:buFont typeface="Arial"/>
              <a:buChar char="•"/>
            </a:pPr>
            <a:r>
              <a:rPr b="1" i="0" lang="en-US" sz="2799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Modelos Mentales: </a:t>
            </a:r>
            <a:r>
              <a:rPr b="0" i="0" lang="en-US" sz="2799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son la forma en que cada persona entiende el mundo.</a:t>
            </a:r>
            <a:endParaRPr/>
          </a:p>
          <a:p>
            <a:pPr indent="-302260" lvl="1" marL="604519" marR="0" rtl="0" algn="l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2799"/>
              <a:buFont typeface="Arial"/>
              <a:buChar char="•"/>
            </a:pPr>
            <a:r>
              <a:rPr b="1" i="0" lang="en-US" sz="2799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Imagenes Multiestables:</a:t>
            </a:r>
            <a:r>
              <a:rPr b="0" i="0" lang="en-US" sz="2799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 son ilustraciones que pueden interpretarse de más de una manera.</a:t>
            </a:r>
            <a:endParaRPr/>
          </a:p>
          <a:p>
            <a:pPr indent="-302260" lvl="1" marL="604519" marR="0" rtl="0" algn="l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2799"/>
              <a:buFont typeface="Arial"/>
              <a:buChar char="•"/>
            </a:pPr>
            <a:r>
              <a:rPr b="1" i="0" lang="en-US" sz="2799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Polisemia:</a:t>
            </a:r>
            <a:r>
              <a:rPr b="0" i="0" lang="en-US" sz="2799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 Dependiendo del contexto, las personas pueden interpretar el mismo concepto de manera diferente.</a:t>
            </a:r>
            <a:endParaRPr/>
          </a:p>
          <a:p>
            <a:pPr indent="-302260" lvl="1" marL="604519" marR="0" rtl="0" algn="l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2799"/>
              <a:buFont typeface="Arial"/>
              <a:buChar char="•"/>
            </a:pPr>
            <a:r>
              <a:rPr b="1" i="0" lang="en-US" sz="2799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Certeza:</a:t>
            </a:r>
            <a:r>
              <a:rPr b="0" i="0" lang="en-US" sz="2799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 La actitud que implica asumir que la realidad es como uno la ve y que todo el mundo debe ver las cosas de la misma manera.</a:t>
            </a:r>
            <a:endParaRPr/>
          </a:p>
          <a:p>
            <a:pPr indent="-302260" lvl="1" marL="604519" marR="0" rtl="0" algn="l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2799"/>
              <a:buFont typeface="Arial"/>
              <a:buChar char="•"/>
            </a:pPr>
            <a:r>
              <a:rPr b="1" i="0" lang="en-US" sz="2799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Humor: </a:t>
            </a:r>
            <a:r>
              <a:rPr b="0" i="0" lang="en-US" sz="2799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El humor nos ayuda a cuestionar lo establecido, permitiéndonos ver las cosas desde nuevas perspectivas.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6BDA9"/>
        </a:solidFill>
      </p:bgPr>
    </p:bg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7"/>
          <p:cNvSpPr/>
          <p:nvPr/>
        </p:nvSpPr>
        <p:spPr>
          <a:xfrm>
            <a:off x="3493371" y="3838965"/>
            <a:ext cx="11301259" cy="5848402"/>
          </a:xfrm>
          <a:custGeom>
            <a:rect b="b" l="l" r="r" t="t"/>
            <a:pathLst>
              <a:path extrusionOk="0" h="5848402" w="11301259">
                <a:moveTo>
                  <a:pt x="0" y="0"/>
                </a:moveTo>
                <a:lnTo>
                  <a:pt x="11301258" y="0"/>
                </a:lnTo>
                <a:lnTo>
                  <a:pt x="11301258" y="5848402"/>
                </a:lnTo>
                <a:lnTo>
                  <a:pt x="0" y="58484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17"/>
          <p:cNvSpPr txBox="1"/>
          <p:nvPr/>
        </p:nvSpPr>
        <p:spPr>
          <a:xfrm>
            <a:off x="2507390" y="1009650"/>
            <a:ext cx="13503315" cy="21915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300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99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EVALUACIÓN DE CONOCIMIENTOS ADQUIRIDOS </a:t>
            </a:r>
            <a:endParaRPr/>
          </a:p>
          <a:p>
            <a:pPr indent="0" lvl="0" marL="0" marR="0" rtl="0" algn="ctr">
              <a:lnSpc>
                <a:spcPct val="19497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999">
              <a:solidFill>
                <a:srgbClr val="13141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17"/>
          <p:cNvSpPr txBox="1"/>
          <p:nvPr/>
        </p:nvSpPr>
        <p:spPr>
          <a:xfrm>
            <a:off x="1207032" y="2442064"/>
            <a:ext cx="16257244" cy="10915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1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Duración: 10 minutos</a:t>
            </a:r>
            <a:endParaRPr/>
          </a:p>
          <a:p>
            <a:pPr indent="0" lvl="0" marL="0" marR="0" rtl="0" algn="just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1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https://create.kahoot.it/details/7c14ded6-312e-43c7-bc57-7f56edbed92a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6BDA9"/>
        </a:solidFill>
      </p:bgPr>
    </p:bg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8"/>
          <p:cNvSpPr/>
          <p:nvPr/>
        </p:nvSpPr>
        <p:spPr>
          <a:xfrm>
            <a:off x="10177820" y="2862924"/>
            <a:ext cx="7081480" cy="5504744"/>
          </a:xfrm>
          <a:custGeom>
            <a:rect b="b" l="l" r="r" t="t"/>
            <a:pathLst>
              <a:path extrusionOk="0" h="5504744" w="7081480">
                <a:moveTo>
                  <a:pt x="0" y="0"/>
                </a:moveTo>
                <a:lnTo>
                  <a:pt x="7081480" y="0"/>
                </a:lnTo>
                <a:lnTo>
                  <a:pt x="7081480" y="5504744"/>
                </a:lnTo>
                <a:lnTo>
                  <a:pt x="0" y="55047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18"/>
          <p:cNvSpPr txBox="1"/>
          <p:nvPr/>
        </p:nvSpPr>
        <p:spPr>
          <a:xfrm>
            <a:off x="1028700" y="2318447"/>
            <a:ext cx="8640435" cy="85350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99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La reflexión es la disposición a analizar y entender el origen y estructura de los propios pensamientos.</a:t>
            </a:r>
            <a:endParaRPr/>
          </a:p>
          <a:p>
            <a:pPr indent="0" lvl="0" marL="0" marR="0" rtl="0" algn="l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99">
              <a:solidFill>
                <a:srgbClr val="13141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99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Aplicación en clase:</a:t>
            </a:r>
            <a:endParaRPr/>
          </a:p>
          <a:p>
            <a:pPr indent="-340217" lvl="1" marL="680435" marR="0" rtl="0" algn="l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3151"/>
              <a:buFont typeface="Arial"/>
              <a:buChar char="•"/>
            </a:pPr>
            <a:r>
              <a:rPr b="0" i="0" lang="en-US" sz="3151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Se fomenta cuando los estudiantes cuestionan sus ideas iniciales al discutir temas como modelos mentales o imágenes multiestables.</a:t>
            </a:r>
            <a:endParaRPr/>
          </a:p>
          <a:p>
            <a:pPr indent="0" lvl="0" marL="0" marR="0" rtl="0" algn="l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151">
              <a:solidFill>
                <a:srgbClr val="13141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0217" lvl="1" marL="680435" marR="0" rtl="0" algn="l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3151"/>
              <a:buFont typeface="Arial"/>
              <a:buChar char="•"/>
            </a:pPr>
            <a:r>
              <a:rPr b="0" i="0" lang="en-US" sz="3151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Al explorar conceptos como polisemia y certeza, se invita a los alumnos a revisar cómo interpretan los significados y por qué.</a:t>
            </a:r>
            <a:endParaRPr/>
          </a:p>
          <a:p>
            <a:pPr indent="0" lvl="0" marL="0" marR="0" rtl="0" algn="l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151">
              <a:solidFill>
                <a:srgbClr val="13141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151">
              <a:solidFill>
                <a:srgbClr val="13141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p18"/>
          <p:cNvSpPr txBox="1"/>
          <p:nvPr/>
        </p:nvSpPr>
        <p:spPr>
          <a:xfrm>
            <a:off x="2507390" y="1000125"/>
            <a:ext cx="13503315" cy="10709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900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REFLEXIÓN: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6BDA9"/>
        </a:solidFill>
      </p:bgPr>
    </p:bg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9"/>
          <p:cNvSpPr txBox="1"/>
          <p:nvPr/>
        </p:nvSpPr>
        <p:spPr>
          <a:xfrm>
            <a:off x="2507390" y="1000125"/>
            <a:ext cx="13503315" cy="10709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900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REFERENCIAS </a:t>
            </a:r>
            <a:endParaRPr/>
          </a:p>
        </p:txBody>
      </p:sp>
      <p:sp>
        <p:nvSpPr>
          <p:cNvPr id="244" name="Google Shape;244;p19"/>
          <p:cNvSpPr txBox="1"/>
          <p:nvPr/>
        </p:nvSpPr>
        <p:spPr>
          <a:xfrm>
            <a:off x="1028700" y="2404151"/>
            <a:ext cx="16358685" cy="74682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02260" lvl="1" marL="604519" marR="0" rtl="0" algn="just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2799"/>
              <a:buFont typeface="Arial"/>
              <a:buChar char="•"/>
            </a:pPr>
            <a:r>
              <a:rPr b="0" i="0" lang="en-US" sz="2799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  Silva, S. M. (2007). Modelos mentales y aprendizaje de la ciencia: El caso de las transformaciones geométricas. Investigaciones en Enseñanza de las Ciencias, 12(2), 209-228. Recuperado de https://ienci.if.ufrgs.br/index.php/ienci/article/download/517/314/1040</a:t>
            </a:r>
            <a:endParaRPr/>
          </a:p>
          <a:p>
            <a:pPr indent="0" lvl="0" marL="0" marR="0" rtl="0" algn="just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99">
              <a:solidFill>
                <a:srgbClr val="13141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2260" lvl="1" marL="604519" marR="0" rtl="0" algn="just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2799"/>
              <a:buFont typeface="Arial"/>
              <a:buChar char="•"/>
            </a:pPr>
            <a:r>
              <a:rPr b="0" i="0" lang="en-US" sz="2799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Lingoda. (s.f.). Palabras polisémicas: qué son y cómo usarlas. Recuperado de https://www.lingoda.com/blog/es/palabras-polisemicas/</a:t>
            </a:r>
            <a:endParaRPr/>
          </a:p>
          <a:p>
            <a:pPr indent="0" lvl="0" marL="0" marR="0" rtl="0" algn="just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99">
              <a:solidFill>
                <a:srgbClr val="13141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2260" lvl="1" marL="604519" marR="0" rtl="0" algn="just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2799"/>
              <a:buFont typeface="Arial"/>
              <a:buChar char="•"/>
            </a:pPr>
            <a:r>
              <a:rPr b="0" i="0" lang="en-US" sz="2799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Torres Ruiz, A. (2025). Los modelos mentales: cómo construimos y experimentamos nuestra realidad. Recuperado de https://ethics.live/certeza/</a:t>
            </a:r>
            <a:endParaRPr/>
          </a:p>
          <a:p>
            <a:pPr indent="0" lvl="0" marL="0" marR="0" rtl="0" algn="just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99">
              <a:solidFill>
                <a:srgbClr val="13141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2260" lvl="1" marL="604519" marR="0" rtl="0" algn="just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2799"/>
              <a:buFont typeface="Arial"/>
              <a:buChar char="•"/>
            </a:pPr>
            <a:r>
              <a:rPr b="0" i="0" lang="en-US" sz="2799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Universidad de San Carlos de Guatemala. (s.f.). Unidad 6: Modelos Mentales y Paradigmas [Material del curso Lógica de Sistemas, Facultad de Ingeniería]. Plataforma UEDI.</a:t>
            </a:r>
            <a:endParaRPr/>
          </a:p>
          <a:p>
            <a:pPr indent="0" lvl="0" marL="0" marR="0" rtl="0" algn="ctr">
              <a:lnSpc>
                <a:spcPct val="15762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99">
              <a:solidFill>
                <a:srgbClr val="131416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6BDA9"/>
        </a:solidFill>
      </p:bgPr>
    </p:bg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20"/>
          <p:cNvSpPr txBox="1"/>
          <p:nvPr/>
        </p:nvSpPr>
        <p:spPr>
          <a:xfrm>
            <a:off x="4437795" y="3389104"/>
            <a:ext cx="8658828" cy="24956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99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¡GRACIAS POR SU  ATENCIÓN!</a:t>
            </a:r>
            <a:endParaRPr/>
          </a:p>
          <a:p>
            <a:pPr indent="0" lvl="0" marL="0" marR="0" rtl="0" algn="just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99">
              <a:solidFill>
                <a:srgbClr val="13141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p20"/>
          <p:cNvSpPr txBox="1"/>
          <p:nvPr/>
        </p:nvSpPr>
        <p:spPr>
          <a:xfrm>
            <a:off x="5414714" y="5958103"/>
            <a:ext cx="6704991" cy="898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0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DUDAS</a:t>
            </a:r>
            <a:endParaRPr/>
          </a:p>
        </p:txBody>
      </p:sp>
      <p:sp>
        <p:nvSpPr>
          <p:cNvPr id="251" name="Google Shape;251;p20"/>
          <p:cNvSpPr/>
          <p:nvPr/>
        </p:nvSpPr>
        <p:spPr>
          <a:xfrm>
            <a:off x="13963751" y="1028700"/>
            <a:ext cx="2757268" cy="3770970"/>
          </a:xfrm>
          <a:custGeom>
            <a:rect b="b" l="l" r="r" t="t"/>
            <a:pathLst>
              <a:path extrusionOk="0" h="3770970" w="2757268">
                <a:moveTo>
                  <a:pt x="0" y="0"/>
                </a:moveTo>
                <a:lnTo>
                  <a:pt x="2757268" y="0"/>
                </a:lnTo>
                <a:lnTo>
                  <a:pt x="2757268" y="3770970"/>
                </a:lnTo>
                <a:lnTo>
                  <a:pt x="0" y="37709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20"/>
          <p:cNvSpPr txBox="1"/>
          <p:nvPr/>
        </p:nvSpPr>
        <p:spPr>
          <a:xfrm>
            <a:off x="2411098" y="7899735"/>
            <a:ext cx="13465804" cy="7194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RECUERDA QUE TENEMOS NUESTRO FORO SEMANAL DONDE PUEDES CONSULTAR CUALQUIER DUDA QUE TE SURJA EN LA SEMANA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