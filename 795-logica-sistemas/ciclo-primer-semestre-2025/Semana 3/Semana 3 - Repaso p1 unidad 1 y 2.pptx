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pen Sans Bold" charset="1" panose="020B0806030504020204"/>
      <p:regular r:id="rId25"/>
    </p:embeddedFont>
    <p:embeddedFont>
      <p:font typeface="Garet" charset="1" panose="00000000000000000000"/>
      <p:regular r:id="rId26"/>
    </p:embeddedFont>
    <p:embeddedFont>
      <p:font typeface="Playlist Script" charset="1" panose="00000000000000000000"/>
      <p:regular r:id="rId27"/>
    </p:embeddedFont>
    <p:embeddedFont>
      <p:font typeface="Arimo" charset="1" panose="020B0604020202020204"/>
      <p:regular r:id="rId28"/>
    </p:embeddedFont>
    <p:embeddedFont>
      <p:font typeface="Horizon" charset="1" panose="02000500000000000000"/>
      <p:regular r:id="rId29"/>
    </p:embeddedFont>
    <p:embeddedFont>
      <p:font typeface="Open Sans" charset="1" panose="020B06060305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https://youtu.be/tNoXBPeJyMg" TargetMode="External" Type="http://schemas.openxmlformats.org/officeDocument/2006/relationships/hyperlink"/><Relationship Id="rId7" Target="https://create.kahoot.it/details/cc5c8611-02c0-4f81-959c-f007e35484be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jpe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41309" y="0"/>
            <a:ext cx="5746691" cy="1711780"/>
          </a:xfrm>
          <a:custGeom>
            <a:avLst/>
            <a:gdLst/>
            <a:ahLst/>
            <a:cxnLst/>
            <a:rect r="r" b="b" t="t" l="l"/>
            <a:pathLst>
              <a:path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3303" y="7833952"/>
            <a:ext cx="5953683" cy="86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Lógica de Sistemas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24885" y="3915649"/>
            <a:ext cx="11499949" cy="156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Repaso unidad 1 y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3303" y="8745251"/>
            <a:ext cx="698137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Ingenieria de Ciencias Y Sistemas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210675"/>
            <a:ext cx="352529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Facultad de Ingenieria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585325"/>
            <a:ext cx="64079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1754" y="5262356"/>
            <a:ext cx="4613551" cy="666407"/>
            <a:chOff x="0" y="0"/>
            <a:chExt cx="1964221" cy="283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4221" cy="283723"/>
            </a:xfrm>
            <a:custGeom>
              <a:avLst/>
              <a:gdLst/>
              <a:ahLst/>
              <a:cxnLst/>
              <a:rect r="r" b="b" t="t" l="l"/>
              <a:pathLst>
                <a:path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Parcial 1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53790" y="5303335"/>
            <a:ext cx="453358" cy="550094"/>
          </a:xfrm>
          <a:custGeom>
            <a:avLst/>
            <a:gdLst/>
            <a:ahLst/>
            <a:cxnLst/>
            <a:rect r="r" b="b" t="t" l="l"/>
            <a:pathLst>
              <a:path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42125" y="3866199"/>
            <a:ext cx="4115190" cy="1267162"/>
            <a:chOff x="0" y="0"/>
            <a:chExt cx="1083836" cy="3337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3836" cy="333738"/>
            </a:xfrm>
            <a:custGeom>
              <a:avLst/>
              <a:gdLst/>
              <a:ahLst/>
              <a:cxnLst/>
              <a:rect r="r" b="b" t="t" l="l"/>
              <a:pathLst>
                <a:path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RECORDATORIOS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26889" y="3992629"/>
            <a:ext cx="753892" cy="872928"/>
          </a:xfrm>
          <a:custGeom>
            <a:avLst/>
            <a:gdLst/>
            <a:ahLst/>
            <a:cxnLst/>
            <a:rect r="r" b="b" t="t" l="l"/>
            <a:pathLst>
              <a:path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51754" y="-249180"/>
            <a:ext cx="6140237" cy="2980843"/>
            <a:chOff x="0" y="0"/>
            <a:chExt cx="8186982" cy="397445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986783"/>
              <a:ext cx="8186982" cy="298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50"/>
                </a:lnSpc>
              </a:pPr>
              <a:r>
                <a:rPr lang="en-US" sz="15000">
                  <a:solidFill>
                    <a:srgbClr val="131416"/>
                  </a:solidFill>
                  <a:latin typeface="Playlist Script"/>
                  <a:ea typeface="Playlist Script"/>
                  <a:cs typeface="Playlist Script"/>
                  <a:sym typeface="Playlist Script"/>
                </a:rPr>
                <a:t>Agenda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95250"/>
              <a:ext cx="8186982" cy="927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31715" y="154716"/>
            <a:ext cx="8416862" cy="2844707"/>
            <a:chOff x="0" y="0"/>
            <a:chExt cx="11222483" cy="379294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805268"/>
              <a:ext cx="11222483" cy="2987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50"/>
                </a:lnSpc>
              </a:pPr>
              <a:r>
                <a:rPr lang="en-US" sz="15000">
                  <a:solidFill>
                    <a:srgbClr val="131416"/>
                  </a:solidFill>
                  <a:latin typeface="Playlist Script"/>
                  <a:ea typeface="Playlist Script"/>
                  <a:cs typeface="Playlist Script"/>
                  <a:sym typeface="Playlist Script"/>
                </a:rPr>
                <a:t>Recursos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76200"/>
              <a:ext cx="11222483" cy="747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739805" y="3232617"/>
            <a:ext cx="5353646" cy="1267162"/>
            <a:chOff x="0" y="0"/>
            <a:chExt cx="1410014" cy="3337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10014" cy="333738"/>
            </a:xfrm>
            <a:custGeom>
              <a:avLst/>
              <a:gdLst/>
              <a:ahLst/>
              <a:cxnLst/>
              <a:rect r="r" b="b" t="t" l="l"/>
              <a:pathLst>
                <a:path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659"/>
                </a:lnSpc>
              </a:pPr>
              <a:r>
                <a:rPr lang="en-US" sz="4499" spc="13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Link del Video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739805" y="5032666"/>
            <a:ext cx="5353646" cy="1267162"/>
            <a:chOff x="0" y="0"/>
            <a:chExt cx="1410014" cy="3337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0014" cy="333738"/>
            </a:xfrm>
            <a:custGeom>
              <a:avLst/>
              <a:gdLst/>
              <a:ahLst/>
              <a:cxnLst/>
              <a:rect r="r" b="b" t="t" l="l"/>
              <a:pathLst>
                <a:path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659"/>
                </a:lnSpc>
              </a:pPr>
              <a:r>
                <a:rPr lang="en-US" sz="4499" spc="13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Link de Quizziz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888401" y="4188362"/>
            <a:ext cx="7954677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5271FF"/>
                </a:solidFill>
                <a:latin typeface="Arimo"/>
                <a:ea typeface="Arimo"/>
                <a:cs typeface="Arimo"/>
                <a:sym typeface="Arimo"/>
                <a:hlinkClick r:id="rId6" tooltip="https://youtu.be/tNoXBPeJyMg"/>
              </a:rPr>
              <a:t>https://youtu.be/tNoXBPeJyMg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62073" y="6223629"/>
            <a:ext cx="8207333" cy="97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 u="sng">
                <a:solidFill>
                  <a:srgbClr val="5271FF"/>
                </a:solidFill>
                <a:latin typeface="Arimo"/>
                <a:ea typeface="Arimo"/>
                <a:cs typeface="Arimo"/>
                <a:sym typeface="Arimo"/>
                <a:hlinkClick r:id="rId7" tooltip="https://create.kahoot.it/details/cc5c8611-02c0-4f81-959c-f007e35484be"/>
              </a:rPr>
              <a:t>https://create.kahoot.it/details/cc5c8611-02c0-4f81-959c-f007e35484be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4889" y="1009650"/>
            <a:ext cx="13991174" cy="180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COMPETENCIA(S) QUE DESARROLLAREMOS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64212" y="4266921"/>
            <a:ext cx="14959576" cy="231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96"/>
              </a:lnSpc>
            </a:pPr>
            <a:r>
              <a:rPr lang="en-US" sz="4426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Identificar los tipos de bloqueos mentales mediante el análisis de casos y experiencias personales en situaciones que dificultan la resolución de problemas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2063" y="4846644"/>
            <a:ext cx="4445120" cy="5347513"/>
          </a:xfrm>
          <a:custGeom>
            <a:avLst/>
            <a:gdLst/>
            <a:ahLst/>
            <a:cxnLst/>
            <a:rect r="r" b="b" t="t" l="l"/>
            <a:pathLst>
              <a:path h="5347513" w="4445120">
                <a:moveTo>
                  <a:pt x="0" y="0"/>
                </a:moveTo>
                <a:lnTo>
                  <a:pt x="4445120" y="0"/>
                </a:lnTo>
                <a:lnTo>
                  <a:pt x="4445120" y="5347513"/>
                </a:lnTo>
                <a:lnTo>
                  <a:pt x="0" y="534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7931" y="4420370"/>
            <a:ext cx="5636660" cy="5773788"/>
          </a:xfrm>
          <a:custGeom>
            <a:avLst/>
            <a:gdLst/>
            <a:ahLst/>
            <a:cxnLst/>
            <a:rect r="r" b="b" t="t" l="l"/>
            <a:pathLst>
              <a:path h="5773788" w="5636660">
                <a:moveTo>
                  <a:pt x="0" y="0"/>
                </a:moveTo>
                <a:lnTo>
                  <a:pt x="5636660" y="0"/>
                </a:lnTo>
                <a:lnTo>
                  <a:pt x="5636660" y="5773787"/>
                </a:lnTo>
                <a:lnTo>
                  <a:pt x="0" y="57737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8413" y="1000125"/>
            <a:ext cx="13991174" cy="939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77"/>
              </a:lnSpc>
            </a:pPr>
            <a:r>
              <a:rPr lang="en-US" sz="59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¿QUÉ ES UN PROBLEMA?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03571"/>
            <a:ext cx="16384246" cy="97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  <a:spcBef>
                <a:spcPct val="0"/>
              </a:spcBef>
            </a:pPr>
            <a:r>
              <a:rPr lang="en-US" sz="3417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problema es una situación en la que hay una diferencia entre el estado actual y el deseado, sin una solución evidente inmediata.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2613" y="5392591"/>
            <a:ext cx="4397950" cy="4660080"/>
          </a:xfrm>
          <a:custGeom>
            <a:avLst/>
            <a:gdLst/>
            <a:ahLst/>
            <a:cxnLst/>
            <a:rect r="r" b="b" t="t" l="l"/>
            <a:pathLst>
              <a:path h="4660080" w="4397950">
                <a:moveTo>
                  <a:pt x="0" y="0"/>
                </a:moveTo>
                <a:lnTo>
                  <a:pt x="4397950" y="0"/>
                </a:lnTo>
                <a:lnTo>
                  <a:pt x="4397950" y="4660079"/>
                </a:lnTo>
                <a:lnTo>
                  <a:pt x="0" y="4660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48413" y="1000125"/>
            <a:ext cx="13991174" cy="152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60"/>
              </a:lnSpc>
            </a:pPr>
            <a:r>
              <a:rPr lang="en-US" sz="5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PASOS EN LA RESOLUCIÓN DE PROBLEMAS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60633" y="3809540"/>
            <a:ext cx="13026159" cy="39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98966" indent="-749483" lvl="1">
              <a:lnSpc>
                <a:spcPts val="7845"/>
              </a:lnSpc>
              <a:buAutoNum type="arabicPeriod" startAt="1"/>
            </a:pPr>
            <a:r>
              <a:rPr lang="en-US" sz="6942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6942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efinir el problema</a:t>
            </a:r>
          </a:p>
          <a:p>
            <a:pPr algn="l" marL="1498966" indent="-749483" lvl="1">
              <a:lnSpc>
                <a:spcPts val="7845"/>
              </a:lnSpc>
              <a:buAutoNum type="arabicPeriod" startAt="1"/>
            </a:pPr>
            <a:r>
              <a:rPr lang="en-US" sz="6942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Generar alternativas</a:t>
            </a:r>
          </a:p>
          <a:p>
            <a:pPr algn="l" marL="1498966" indent="-749483" lvl="1">
              <a:lnSpc>
                <a:spcPts val="7845"/>
              </a:lnSpc>
              <a:buAutoNum type="arabicPeriod" startAt="1"/>
            </a:pPr>
            <a:r>
              <a:rPr lang="en-US" sz="6942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Evaluar y elegir</a:t>
            </a:r>
          </a:p>
          <a:p>
            <a:pPr algn="l" marL="1498966" indent="-749483" lvl="1">
              <a:lnSpc>
                <a:spcPts val="7845"/>
              </a:lnSpc>
              <a:buAutoNum type="arabicPeriod" startAt="1"/>
            </a:pPr>
            <a:r>
              <a:rPr lang="en-US" sz="6942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Implementar y monitorear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56506" y="4770074"/>
            <a:ext cx="3830505" cy="4114800"/>
          </a:xfrm>
          <a:custGeom>
            <a:avLst/>
            <a:gdLst/>
            <a:ahLst/>
            <a:cxnLst/>
            <a:rect r="r" b="b" t="t" l="l"/>
            <a:pathLst>
              <a:path h="4114800" w="3830505">
                <a:moveTo>
                  <a:pt x="0" y="0"/>
                </a:moveTo>
                <a:lnTo>
                  <a:pt x="3830505" y="0"/>
                </a:lnTo>
                <a:lnTo>
                  <a:pt x="38305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48413" y="1009650"/>
            <a:ext cx="13991174" cy="71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5"/>
              </a:lnSpc>
            </a:pPr>
            <a:r>
              <a:rPr lang="en-US" sz="45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PASO 1 - DEFINIR EL PROBLEMA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0921" y="2136964"/>
            <a:ext cx="13026159" cy="162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6328"/>
              </a:lnSpc>
              <a:buAutoNum type="arabicPeriod" startAt="1"/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Id</a:t>
            </a: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entificar el problema real.</a:t>
            </a:r>
          </a:p>
          <a:p>
            <a:pPr algn="l" marL="1209041" indent="-604520" lvl="1">
              <a:lnSpc>
                <a:spcPts val="6328"/>
              </a:lnSpc>
              <a:buAutoNum type="arabicPeriod" startAt="1"/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Separar hechos de opiniones.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4968" y="4924777"/>
            <a:ext cx="8563325" cy="358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impresora no imprime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Definiendo el problema sería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Verificar conexión USB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47886" y="5862102"/>
            <a:ext cx="3757447" cy="3757447"/>
          </a:xfrm>
          <a:custGeom>
            <a:avLst/>
            <a:gdLst/>
            <a:ahLst/>
            <a:cxnLst/>
            <a:rect r="r" b="b" t="t" l="l"/>
            <a:pathLst>
              <a:path h="3757447" w="3757447">
                <a:moveTo>
                  <a:pt x="0" y="0"/>
                </a:moveTo>
                <a:lnTo>
                  <a:pt x="3757447" y="0"/>
                </a:lnTo>
                <a:lnTo>
                  <a:pt x="3757447" y="3757447"/>
                </a:lnTo>
                <a:lnTo>
                  <a:pt x="0" y="3757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75349" y="5862102"/>
            <a:ext cx="3879594" cy="3879594"/>
          </a:xfrm>
          <a:custGeom>
            <a:avLst/>
            <a:gdLst/>
            <a:ahLst/>
            <a:cxnLst/>
            <a:rect r="r" b="b" t="t" l="l"/>
            <a:pathLst>
              <a:path h="3879594" w="3879594">
                <a:moveTo>
                  <a:pt x="0" y="0"/>
                </a:moveTo>
                <a:lnTo>
                  <a:pt x="3879594" y="0"/>
                </a:lnTo>
                <a:lnTo>
                  <a:pt x="3879594" y="3879594"/>
                </a:lnTo>
                <a:lnTo>
                  <a:pt x="0" y="3879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8413" y="1009650"/>
            <a:ext cx="13991174" cy="71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5"/>
              </a:lnSpc>
            </a:pPr>
            <a:r>
              <a:rPr lang="en-US" sz="45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PASO 2 - GENERAR SOLUCIONES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0921" y="2136964"/>
            <a:ext cx="13026159" cy="162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6328"/>
              </a:lnSpc>
              <a:buAutoNum type="arabicPeriod" startAt="1"/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Lluv</a:t>
            </a: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ia de ideas sin juzgar.</a:t>
            </a:r>
          </a:p>
          <a:p>
            <a:pPr algn="l" marL="1209041" indent="-604520" lvl="1">
              <a:lnSpc>
                <a:spcPts val="6328"/>
              </a:lnSpc>
              <a:buAutoNum type="arabicPeriod" startAt="1"/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Involucrar diferentes perspectivas.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63448" y="4519856"/>
            <a:ext cx="12882407" cy="118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Revisar drivers, cambiar cable, probar otra impresora.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73947" y="5580906"/>
            <a:ext cx="3879594" cy="3879594"/>
          </a:xfrm>
          <a:custGeom>
            <a:avLst/>
            <a:gdLst/>
            <a:ahLst/>
            <a:cxnLst/>
            <a:rect r="r" b="b" t="t" l="l"/>
            <a:pathLst>
              <a:path h="3879594" w="3879594">
                <a:moveTo>
                  <a:pt x="0" y="0"/>
                </a:moveTo>
                <a:lnTo>
                  <a:pt x="3879594" y="0"/>
                </a:lnTo>
                <a:lnTo>
                  <a:pt x="3879594" y="3879594"/>
                </a:lnTo>
                <a:lnTo>
                  <a:pt x="0" y="3879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4618" y="5855786"/>
            <a:ext cx="3604714" cy="3604714"/>
          </a:xfrm>
          <a:custGeom>
            <a:avLst/>
            <a:gdLst/>
            <a:ahLst/>
            <a:cxnLst/>
            <a:rect r="r" b="b" t="t" l="l"/>
            <a:pathLst>
              <a:path h="3604714" w="3604714">
                <a:moveTo>
                  <a:pt x="0" y="0"/>
                </a:moveTo>
                <a:lnTo>
                  <a:pt x="3604714" y="0"/>
                </a:lnTo>
                <a:lnTo>
                  <a:pt x="3604714" y="3604714"/>
                </a:lnTo>
                <a:lnTo>
                  <a:pt x="0" y="3604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7220" y="5707195"/>
            <a:ext cx="4143672" cy="4143672"/>
          </a:xfrm>
          <a:custGeom>
            <a:avLst/>
            <a:gdLst/>
            <a:ahLst/>
            <a:cxnLst/>
            <a:rect r="r" b="b" t="t" l="l"/>
            <a:pathLst>
              <a:path h="4143672" w="4143672">
                <a:moveTo>
                  <a:pt x="0" y="0"/>
                </a:moveTo>
                <a:lnTo>
                  <a:pt x="4143672" y="0"/>
                </a:lnTo>
                <a:lnTo>
                  <a:pt x="4143672" y="4143672"/>
                </a:lnTo>
                <a:lnTo>
                  <a:pt x="0" y="4143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48413" y="1009650"/>
            <a:ext cx="13991174" cy="65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43"/>
              </a:lnSpc>
            </a:pPr>
            <a:r>
              <a:rPr lang="en-US" sz="41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PASO 3 - EVALUAR Y SELECCIONAR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30921" y="2136964"/>
            <a:ext cx="13026159" cy="162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6328"/>
              </a:lnSpc>
              <a:buAutoNum type="arabicPeriod" startAt="1"/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Dentajas y desventajas de cada opción.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63448" y="4519856"/>
            <a:ext cx="12882407" cy="178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Se decide cambiar el cable dañado.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56461" y="5583797"/>
            <a:ext cx="3745312" cy="3745312"/>
          </a:xfrm>
          <a:custGeom>
            <a:avLst/>
            <a:gdLst/>
            <a:ahLst/>
            <a:cxnLst/>
            <a:rect r="r" b="b" t="t" l="l"/>
            <a:pathLst>
              <a:path h="3745312" w="3745312">
                <a:moveTo>
                  <a:pt x="0" y="0"/>
                </a:moveTo>
                <a:lnTo>
                  <a:pt x="3745312" y="0"/>
                </a:lnTo>
                <a:lnTo>
                  <a:pt x="3745312" y="3745312"/>
                </a:lnTo>
                <a:lnTo>
                  <a:pt x="0" y="3745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61155" y="5366532"/>
            <a:ext cx="3891768" cy="3891768"/>
          </a:xfrm>
          <a:custGeom>
            <a:avLst/>
            <a:gdLst/>
            <a:ahLst/>
            <a:cxnLst/>
            <a:rect r="r" b="b" t="t" l="l"/>
            <a:pathLst>
              <a:path h="3891768" w="3891768">
                <a:moveTo>
                  <a:pt x="0" y="0"/>
                </a:moveTo>
                <a:lnTo>
                  <a:pt x="3891767" y="0"/>
                </a:lnTo>
                <a:lnTo>
                  <a:pt x="3891767" y="3891768"/>
                </a:lnTo>
                <a:lnTo>
                  <a:pt x="0" y="3891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8413" y="1009650"/>
            <a:ext cx="13991174" cy="56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5"/>
              </a:lnSpc>
            </a:pPr>
            <a:r>
              <a:rPr lang="en-US" sz="35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PASO 4 - IMPLEMENTAR Y MONITOREAR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0921" y="2136964"/>
            <a:ext cx="13026159" cy="1621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6328"/>
              </a:lnSpc>
              <a:buAutoNum type="arabicPeriod" startAt="1"/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Aplicar la solución.</a:t>
            </a:r>
          </a:p>
          <a:p>
            <a:pPr algn="l" marL="1209041" indent="-604520" lvl="1">
              <a:lnSpc>
                <a:spcPts val="6328"/>
              </a:lnSpc>
              <a:buAutoNum type="arabicPeriod" startAt="1"/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Verificar funcionami</a:t>
            </a: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28299" y="4346107"/>
            <a:ext cx="12882407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Probar impresión con diferentes documentos.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4165" y="5962370"/>
            <a:ext cx="3493408" cy="3493408"/>
          </a:xfrm>
          <a:custGeom>
            <a:avLst/>
            <a:gdLst/>
            <a:ahLst/>
            <a:cxnLst/>
            <a:rect r="r" b="b" t="t" l="l"/>
            <a:pathLst>
              <a:path h="3493408" w="3493408">
                <a:moveTo>
                  <a:pt x="0" y="0"/>
                </a:moveTo>
                <a:lnTo>
                  <a:pt x="3493408" y="0"/>
                </a:lnTo>
                <a:lnTo>
                  <a:pt x="3493408" y="3493407"/>
                </a:lnTo>
                <a:lnTo>
                  <a:pt x="0" y="3493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61332" y="5705195"/>
            <a:ext cx="6925209" cy="4276317"/>
          </a:xfrm>
          <a:custGeom>
            <a:avLst/>
            <a:gdLst/>
            <a:ahLst/>
            <a:cxnLst/>
            <a:rect r="r" b="b" t="t" l="l"/>
            <a:pathLst>
              <a:path h="4276317" w="6925209">
                <a:moveTo>
                  <a:pt x="0" y="0"/>
                </a:moveTo>
                <a:lnTo>
                  <a:pt x="6925209" y="0"/>
                </a:lnTo>
                <a:lnTo>
                  <a:pt x="6925209" y="4276316"/>
                </a:lnTo>
                <a:lnTo>
                  <a:pt x="0" y="4276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998086" y="5833029"/>
            <a:ext cx="4020649" cy="4020649"/>
          </a:xfrm>
          <a:custGeom>
            <a:avLst/>
            <a:gdLst/>
            <a:ahLst/>
            <a:cxnLst/>
            <a:rect r="r" b="b" t="t" l="l"/>
            <a:pathLst>
              <a:path h="4020649" w="4020649">
                <a:moveTo>
                  <a:pt x="0" y="0"/>
                </a:moveTo>
                <a:lnTo>
                  <a:pt x="4020649" y="0"/>
                </a:lnTo>
                <a:lnTo>
                  <a:pt x="4020649" y="4020649"/>
                </a:lnTo>
                <a:lnTo>
                  <a:pt x="0" y="4020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48413" y="1009650"/>
            <a:ext cx="13991174" cy="56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5"/>
              </a:lnSpc>
            </a:pPr>
            <a:r>
              <a:rPr lang="en-US" sz="35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TÉCNICAS PARA PRODUCIR IDEAS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48413" y="2162765"/>
            <a:ext cx="13026159" cy="242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6328"/>
              </a:lnSpc>
              <a:buFont typeface="Arial"/>
              <a:buChar char="•"/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Brainst</a:t>
            </a: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ormi</a:t>
            </a: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ng</a:t>
            </a:r>
          </a:p>
          <a:p>
            <a:pPr algn="l" marL="1209041" indent="-604520" lvl="1">
              <a:lnSpc>
                <a:spcPts val="6328"/>
              </a:lnSpc>
              <a:buFont typeface="Arial"/>
              <a:buChar char="•"/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Mapas mentales</a:t>
            </a:r>
          </a:p>
          <a:p>
            <a:pPr algn="l" marL="1209041" indent="-604520" lvl="1">
              <a:lnSpc>
                <a:spcPts val="6328"/>
              </a:lnSpc>
              <a:buFont typeface="Arial"/>
              <a:buChar char="•"/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SCAMPER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78596" y="4819930"/>
            <a:ext cx="11765793" cy="58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3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stas técnicas estimulan la creatividad y rompen patrones.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4572" y="1342092"/>
            <a:ext cx="2246654" cy="2246654"/>
          </a:xfrm>
          <a:custGeom>
            <a:avLst/>
            <a:gdLst/>
            <a:ahLst/>
            <a:cxnLst/>
            <a:rect r="r" b="b" t="t" l="l"/>
            <a:pathLst>
              <a:path h="2246654" w="2246654">
                <a:moveTo>
                  <a:pt x="0" y="0"/>
                </a:moveTo>
                <a:lnTo>
                  <a:pt x="2246654" y="0"/>
                </a:lnTo>
                <a:lnTo>
                  <a:pt x="2246654" y="2246653"/>
                </a:lnTo>
                <a:lnTo>
                  <a:pt x="0" y="22466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35335" y="4596388"/>
            <a:ext cx="5652665" cy="5391229"/>
          </a:xfrm>
          <a:custGeom>
            <a:avLst/>
            <a:gdLst/>
            <a:ahLst/>
            <a:cxnLst/>
            <a:rect r="r" b="b" t="t" l="l"/>
            <a:pathLst>
              <a:path h="5391229" w="5652665">
                <a:moveTo>
                  <a:pt x="0" y="0"/>
                </a:moveTo>
                <a:lnTo>
                  <a:pt x="5652665" y="0"/>
                </a:lnTo>
                <a:lnTo>
                  <a:pt x="5652665" y="5391229"/>
                </a:lnTo>
                <a:lnTo>
                  <a:pt x="0" y="5391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8413" y="3995112"/>
            <a:ext cx="9573048" cy="430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Hacer el planteamiento de ideas:</a:t>
            </a:r>
          </a:p>
          <a:p>
            <a:pPr algn="l" marL="1062962" indent="-531481" lvl="1">
              <a:lnSpc>
                <a:spcPts val="6892"/>
              </a:lnSpc>
              <a:spcBef>
                <a:spcPct val="0"/>
              </a:spcBef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</a:t>
            </a: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conocimiento de voz</a:t>
            </a:r>
          </a:p>
          <a:p>
            <a:pPr algn="l" marL="1062962" indent="-531481" lvl="1">
              <a:lnSpc>
                <a:spcPts val="6892"/>
              </a:lnSpc>
              <a:spcBef>
                <a:spcPct val="0"/>
              </a:spcBef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Sincronización</a:t>
            </a:r>
          </a:p>
          <a:p>
            <a:pPr algn="l" marL="1062962" indent="-531481" lvl="1">
              <a:lnSpc>
                <a:spcPts val="6892"/>
              </a:lnSpc>
              <a:spcBef>
                <a:spcPct val="0"/>
              </a:spcBef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Alertas inteligentes</a:t>
            </a:r>
          </a:p>
          <a:p>
            <a:pPr algn="l">
              <a:lnSpc>
                <a:spcPts val="689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148413" y="1009650"/>
            <a:ext cx="13991174" cy="56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5"/>
              </a:lnSpc>
            </a:pPr>
            <a:r>
              <a:rPr lang="en-US" sz="35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EJEMPLO DE BRAINSTORMING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48413" y="2069033"/>
            <a:ext cx="13026159" cy="821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56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Problema: Mejorar una app de notas.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16692" y="5143500"/>
            <a:ext cx="4723638" cy="4723638"/>
          </a:xfrm>
          <a:custGeom>
            <a:avLst/>
            <a:gdLst/>
            <a:ahLst/>
            <a:cxnLst/>
            <a:rect r="r" b="b" t="t" l="l"/>
            <a:pathLst>
              <a:path h="4723638" w="4723638">
                <a:moveTo>
                  <a:pt x="0" y="0"/>
                </a:moveTo>
                <a:lnTo>
                  <a:pt x="4723638" y="0"/>
                </a:lnTo>
                <a:lnTo>
                  <a:pt x="4723638" y="4723638"/>
                </a:lnTo>
                <a:lnTo>
                  <a:pt x="0" y="4723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33093" y="5143500"/>
            <a:ext cx="4723638" cy="4723638"/>
          </a:xfrm>
          <a:custGeom>
            <a:avLst/>
            <a:gdLst/>
            <a:ahLst/>
            <a:cxnLst/>
            <a:rect r="r" b="b" t="t" l="l"/>
            <a:pathLst>
              <a:path h="4723638" w="4723638">
                <a:moveTo>
                  <a:pt x="0" y="0"/>
                </a:moveTo>
                <a:lnTo>
                  <a:pt x="4723638" y="0"/>
                </a:lnTo>
                <a:lnTo>
                  <a:pt x="4723638" y="4723638"/>
                </a:lnTo>
                <a:lnTo>
                  <a:pt x="0" y="47236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48413" y="2121166"/>
            <a:ext cx="10804178" cy="1694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Spe</a:t>
            </a: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culator: Innovador, curioso.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Rentier: Conservador, tradicional.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48413" y="1009650"/>
            <a:ext cx="13991174" cy="56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5"/>
              </a:lnSpc>
            </a:pPr>
            <a:r>
              <a:rPr lang="en-US" sz="35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TIPOS DE PENSADORES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30921" y="4109438"/>
            <a:ext cx="13026159" cy="14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3"/>
              </a:lnSpc>
            </a:pPr>
            <a:r>
              <a:rPr lang="en-US" sz="51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Todos pueden aprender a producir ideas.</a:t>
            </a:r>
          </a:p>
          <a:p>
            <a:pPr algn="l">
              <a:lnSpc>
                <a:spcPts val="5763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4528" y="3093633"/>
            <a:ext cx="12111984" cy="516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Etap</a:t>
            </a: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as para producir ideas: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Reunir información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Analizarla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Relajarse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Generar ideas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Probar y ajustar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501580" y="1984012"/>
            <a:ext cx="3159488" cy="3159488"/>
          </a:xfrm>
          <a:custGeom>
            <a:avLst/>
            <a:gdLst/>
            <a:ahLst/>
            <a:cxnLst/>
            <a:rect r="r" b="b" t="t" l="l"/>
            <a:pathLst>
              <a:path h="3159488" w="3159488">
                <a:moveTo>
                  <a:pt x="0" y="0"/>
                </a:moveTo>
                <a:lnTo>
                  <a:pt x="3159488" y="0"/>
                </a:lnTo>
                <a:lnTo>
                  <a:pt x="3159488" y="3159488"/>
                </a:lnTo>
                <a:lnTo>
                  <a:pt x="0" y="3159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14675" y="4325327"/>
            <a:ext cx="3013032" cy="3013032"/>
          </a:xfrm>
          <a:custGeom>
            <a:avLst/>
            <a:gdLst/>
            <a:ahLst/>
            <a:cxnLst/>
            <a:rect r="r" b="b" t="t" l="l"/>
            <a:pathLst>
              <a:path h="3013032" w="3013032">
                <a:moveTo>
                  <a:pt x="0" y="0"/>
                </a:moveTo>
                <a:lnTo>
                  <a:pt x="3013032" y="0"/>
                </a:lnTo>
                <a:lnTo>
                  <a:pt x="3013032" y="3013032"/>
                </a:lnTo>
                <a:lnTo>
                  <a:pt x="0" y="3013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13766" y="6267719"/>
            <a:ext cx="2661538" cy="2661538"/>
          </a:xfrm>
          <a:custGeom>
            <a:avLst/>
            <a:gdLst/>
            <a:ahLst/>
            <a:cxnLst/>
            <a:rect r="r" b="b" t="t" l="l"/>
            <a:pathLst>
              <a:path h="2661538" w="2661538">
                <a:moveTo>
                  <a:pt x="0" y="0"/>
                </a:moveTo>
                <a:lnTo>
                  <a:pt x="2661538" y="0"/>
                </a:lnTo>
                <a:lnTo>
                  <a:pt x="2661538" y="2661538"/>
                </a:lnTo>
                <a:lnTo>
                  <a:pt x="0" y="2661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48413" y="1009650"/>
            <a:ext cx="13991174" cy="63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0"/>
              </a:lnSpc>
            </a:pPr>
            <a:r>
              <a:rPr lang="en-US" sz="4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MÉTODO PARA SER MÁS EFICIENTE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2483" y="2520089"/>
            <a:ext cx="13143033" cy="516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2"/>
              </a:lnSpc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Caso: Crear un nuevo sistema de reservas.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Paso 1: Reunir datos de usuarios.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Paso 2: Analizar patrones de uso.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Paso 3: Relajarse.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Paso 4: Surge idea de un chatbot.</a:t>
            </a:r>
          </a:p>
          <a:p>
            <a:pPr algn="l" marL="1062963" indent="-531482" lvl="1">
              <a:lnSpc>
                <a:spcPts val="6892"/>
              </a:lnSpc>
              <a:buFont typeface="Arial"/>
              <a:buChar char="•"/>
            </a:pPr>
            <a:r>
              <a:rPr lang="en-US" sz="49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Paso 5: Implementar y ajustar.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48413" y="1009650"/>
            <a:ext cx="13991174" cy="63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0"/>
              </a:lnSpc>
            </a:pPr>
            <a:r>
              <a:rPr lang="en-US" sz="4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EJEMPLO DEL MÉTODO EFICIENTE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7514" y="5182273"/>
            <a:ext cx="15872972" cy="2857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0247" indent="-445124" lvl="1">
              <a:lnSpc>
                <a:spcPts val="5772"/>
              </a:lnSpc>
              <a:buFont typeface="Arial"/>
              <a:buChar char="•"/>
            </a:pPr>
            <a:r>
              <a:rPr lang="en-US" sz="41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Pens</a:t>
            </a:r>
            <a:r>
              <a:rPr lang="en-US" sz="41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ar: Formar imágenes mentales.</a:t>
            </a:r>
          </a:p>
          <a:p>
            <a:pPr algn="l" marL="890247" indent="-445124" lvl="1">
              <a:lnSpc>
                <a:spcPts val="5772"/>
              </a:lnSpc>
              <a:buFont typeface="Arial"/>
              <a:buChar char="•"/>
            </a:pPr>
            <a:r>
              <a:rPr lang="en-US" sz="41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41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azón: Buscar coherencia entre conceptos.</a:t>
            </a:r>
          </a:p>
          <a:p>
            <a:pPr algn="l" marL="890247" indent="-445124" lvl="1">
              <a:lnSpc>
                <a:spcPts val="5772"/>
              </a:lnSpc>
              <a:buFont typeface="Arial"/>
              <a:buChar char="•"/>
            </a:pPr>
            <a:r>
              <a:rPr lang="en-US" sz="41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Razonamiento lógico: Premisas que llevan a una Conclusión.</a:t>
            </a:r>
          </a:p>
          <a:p>
            <a:pPr algn="l">
              <a:lnSpc>
                <a:spcPts val="577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148413" y="1000125"/>
            <a:ext cx="13991174" cy="76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34"/>
              </a:lnSpc>
            </a:pPr>
            <a:r>
              <a:rPr lang="en-US" sz="48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INTRODUCCIÓN A LA LÓGICA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48413" y="2688626"/>
            <a:ext cx="12085934" cy="15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0"/>
              </a:lnSpc>
            </a:pPr>
            <a:r>
              <a:rPr lang="en-US" sz="446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Lógica se puede definir con los tres aspectos claves que a continuación se detallan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45954" y="4242242"/>
            <a:ext cx="3341922" cy="4725083"/>
          </a:xfrm>
          <a:custGeom>
            <a:avLst/>
            <a:gdLst/>
            <a:ahLst/>
            <a:cxnLst/>
            <a:rect r="r" b="b" t="t" l="l"/>
            <a:pathLst>
              <a:path h="4725083" w="3341922">
                <a:moveTo>
                  <a:pt x="0" y="0"/>
                </a:moveTo>
                <a:lnTo>
                  <a:pt x="3341922" y="0"/>
                </a:lnTo>
                <a:lnTo>
                  <a:pt x="3341922" y="4725083"/>
                </a:lnTo>
                <a:lnTo>
                  <a:pt x="0" y="4725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24787" y="433646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97739" y="4175567"/>
            <a:ext cx="5379564" cy="358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0247" indent="-445124" lvl="1">
              <a:lnSpc>
                <a:spcPts val="5772"/>
              </a:lnSpc>
              <a:buFont typeface="Arial"/>
              <a:buChar char="•"/>
            </a:pPr>
            <a:r>
              <a:rPr lang="en-US" sz="41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41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atemáticas</a:t>
            </a:r>
          </a:p>
          <a:p>
            <a:pPr algn="l" marL="890247" indent="-445124" lvl="1">
              <a:lnSpc>
                <a:spcPts val="5772"/>
              </a:lnSpc>
              <a:buFont typeface="Arial"/>
              <a:buChar char="•"/>
            </a:pPr>
            <a:r>
              <a:rPr lang="en-US" sz="41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Filosofía</a:t>
            </a:r>
          </a:p>
          <a:p>
            <a:pPr algn="l" marL="890247" indent="-445124" lvl="1">
              <a:lnSpc>
                <a:spcPts val="5772"/>
              </a:lnSpc>
              <a:buFont typeface="Arial"/>
              <a:buChar char="•"/>
            </a:pPr>
            <a:r>
              <a:rPr lang="en-US" sz="41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Gramática</a:t>
            </a:r>
          </a:p>
          <a:p>
            <a:pPr algn="l" marL="890247" indent="-445124" lvl="1">
              <a:lnSpc>
                <a:spcPts val="5772"/>
              </a:lnSpc>
              <a:buFont typeface="Arial"/>
              <a:buChar char="•"/>
            </a:pPr>
            <a:r>
              <a:rPr lang="en-US" sz="41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Sociología</a:t>
            </a:r>
          </a:p>
          <a:p>
            <a:pPr algn="l">
              <a:lnSpc>
                <a:spcPts val="577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148413" y="1000125"/>
            <a:ext cx="13991174" cy="767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34"/>
              </a:lnSpc>
            </a:pPr>
            <a:r>
              <a:rPr lang="en-US" sz="48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APLICACIONES DE LA LÓGICA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48413" y="2688626"/>
            <a:ext cx="12085934" cy="15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0"/>
              </a:lnSpc>
            </a:pPr>
            <a:r>
              <a:rPr lang="en-US" sz="446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 lógica es transversal a muchas disciplinas.</a:t>
            </a:r>
          </a:p>
          <a:p>
            <a:pPr algn="l">
              <a:lnSpc>
                <a:spcPts val="625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4605" y="3512111"/>
            <a:ext cx="14998791" cy="406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8195" indent="-499097" lvl="1">
              <a:lnSpc>
                <a:spcPts val="6472"/>
              </a:lnSpc>
              <a:buFont typeface="Arial"/>
              <a:buChar char="•"/>
            </a:pPr>
            <a:r>
              <a:rPr lang="en-US" sz="46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Apofántica: Concepto, juicio, razonamiento.</a:t>
            </a:r>
          </a:p>
          <a:p>
            <a:pPr algn="l" marL="998195" indent="-499097" lvl="1">
              <a:lnSpc>
                <a:spcPts val="6472"/>
              </a:lnSpc>
              <a:buFont typeface="Arial"/>
              <a:buChar char="•"/>
            </a:pPr>
            <a:r>
              <a:rPr lang="en-US" sz="46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Teorética: Plantea y resuelve problemas.</a:t>
            </a:r>
          </a:p>
          <a:p>
            <a:pPr algn="l" marL="998195" indent="-499097" lvl="1">
              <a:lnSpc>
                <a:spcPts val="6472"/>
              </a:lnSpc>
              <a:buFont typeface="Arial"/>
              <a:buChar char="•"/>
            </a:pPr>
            <a:r>
              <a:rPr lang="en-US" sz="46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Método científico: Pasos para buscar soluciones.</a:t>
            </a:r>
          </a:p>
          <a:p>
            <a:pPr algn="l" marL="998195" indent="-499097" lvl="1">
              <a:lnSpc>
                <a:spcPts val="6472"/>
              </a:lnSpc>
              <a:buFont typeface="Arial"/>
              <a:buChar char="•"/>
            </a:pPr>
            <a:r>
              <a:rPr lang="en-US" sz="4623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Lógica matemática: Razonamiento exacto y formal.</a:t>
            </a:r>
          </a:p>
          <a:p>
            <a:pPr algn="l">
              <a:lnSpc>
                <a:spcPts val="647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148413" y="1339903"/>
            <a:ext cx="13991174" cy="82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86"/>
              </a:lnSpc>
            </a:pPr>
            <a:r>
              <a:rPr lang="en-US" sz="52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ESTRUCTURA DE LA LÓGICA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07390" y="1000125"/>
            <a:ext cx="13503315" cy="107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REFERENCIAS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52418" y="4033938"/>
            <a:ext cx="15183164" cy="3570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5202" indent="-372601" lvl="1">
              <a:lnSpc>
                <a:spcPts val="5729"/>
              </a:lnSpc>
              <a:buFont typeface="Arial"/>
              <a:buChar char="•"/>
            </a:pPr>
            <a:r>
              <a:rPr lang="en-US" sz="34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Universidad de San Carlos de Guatemala. (s.f.). Unidad 1: La creatividad y bloqueos mentales [Material del curso Lógica de Sistemas, Facultad de Ingeniería].</a:t>
            </a:r>
          </a:p>
          <a:p>
            <a:pPr algn="l" marL="745202" indent="-372601" lvl="1">
              <a:lnSpc>
                <a:spcPts val="5729"/>
              </a:lnSpc>
              <a:buFont typeface="Arial"/>
              <a:buChar char="•"/>
            </a:pPr>
            <a:r>
              <a:rPr lang="en-US" sz="34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Universidad de San Carlos de Guatemala. (s.f.). Unidad 2: Lógica [Material del curso Lógica de Sistemas, Facultad de Ingeniería].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389104"/>
            <a:ext cx="8658828" cy="249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sz="6099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5000" spc="1160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098" y="7899735"/>
            <a:ext cx="13465804" cy="71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000" spc="464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DAGoHn4ipSk</dc:identifier>
  <dcterms:modified xsi:type="dcterms:W3CDTF">2011-08-01T06:04:30Z</dcterms:modified>
  <cp:revision>1</cp:revision>
  <dc:title>Semana 3 - Repaso p1 unidad 1 y 2</dc:title>
</cp:coreProperties>
</file>