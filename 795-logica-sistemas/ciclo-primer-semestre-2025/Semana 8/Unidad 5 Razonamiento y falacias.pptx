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10287000" cx="18288000"/>
  <p:notesSz cx="6858000" cy="9144000"/>
  <p:embeddedFontLst>
    <p:embeddedFont>
      <p:font typeface="Play"/>
      <p:regular r:id="rId46"/>
      <p:bold r:id="rId47"/>
    </p:embeddedFont>
    <p:embeddedFont>
      <p:font typeface="Open Sans"/>
      <p:bold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0" roundtripDataSignature="AMtx7mhCtWW/3rLKXS+HB+9tU4iuP5pP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ay-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bold.fntdata"/><Relationship Id="rId47" Type="http://schemas.openxmlformats.org/officeDocument/2006/relationships/font" Target="fonts/Play-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0"/>
          <p:cNvSpPr/>
          <p:nvPr>
            <p:ph idx="2" type="pic"/>
          </p:nvPr>
        </p:nvSpPr>
        <p:spPr>
          <a:xfrm>
            <a:off x="1792288" y="612775"/>
            <a:ext cx="5486400" cy="4114800"/>
          </a:xfrm>
          <a:prstGeom prst="rect">
            <a:avLst/>
          </a:prstGeom>
          <a:noFill/>
          <a:ln>
            <a:noFill/>
          </a:ln>
        </p:spPr>
      </p:sp>
      <p:sp>
        <p:nvSpPr>
          <p:cNvPr id="64" name="Google Shape;64;p5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945148" y="7834026"/>
            <a:ext cx="5953839"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Lógica de Sistemas</a:t>
            </a:r>
            <a:endParaRPr/>
          </a:p>
        </p:txBody>
      </p:sp>
      <p:sp>
        <p:nvSpPr>
          <p:cNvPr id="86" name="Google Shape;86;p1"/>
          <p:cNvSpPr txBox="1"/>
          <p:nvPr/>
        </p:nvSpPr>
        <p:spPr>
          <a:xfrm>
            <a:off x="192003" y="3355266"/>
            <a:ext cx="17365712" cy="13684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131416"/>
                </a:solidFill>
                <a:latin typeface="Open Sans"/>
                <a:ea typeface="Open Sans"/>
                <a:cs typeface="Open Sans"/>
                <a:sym typeface="Open Sans"/>
              </a:rPr>
              <a:t>Unidad 5: Razonamiento y falacias</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878654" y="4438809"/>
            <a:ext cx="6359344" cy="974380"/>
            <a:chOff x="0" y="-76200"/>
            <a:chExt cx="2707493" cy="414843"/>
          </a:xfrm>
        </p:grpSpPr>
        <p:sp>
          <p:nvSpPr>
            <p:cNvPr id="95" name="Google Shape;95;p2"/>
            <p:cNvSpPr/>
            <p:nvPr/>
          </p:nvSpPr>
          <p:spPr>
            <a:xfrm>
              <a:off x="0" y="0"/>
              <a:ext cx="2707493" cy="338643"/>
            </a:xfrm>
            <a:custGeom>
              <a:rect b="b" l="l" r="r" t="t"/>
              <a:pathLst>
                <a:path extrusionOk="0" h="338643" w="2707493">
                  <a:moveTo>
                    <a:pt x="2504293" y="0"/>
                  </a:moveTo>
                  <a:lnTo>
                    <a:pt x="0" y="0"/>
                  </a:lnTo>
                  <a:lnTo>
                    <a:pt x="0" y="338643"/>
                  </a:lnTo>
                  <a:lnTo>
                    <a:pt x="2504293" y="338643"/>
                  </a:lnTo>
                  <a:lnTo>
                    <a:pt x="2707493" y="169321"/>
                  </a:lnTo>
                  <a:lnTo>
                    <a:pt x="2504293" y="0"/>
                  </a:lnTo>
                  <a:close/>
                </a:path>
              </a:pathLst>
            </a:custGeom>
            <a:solidFill>
              <a:srgbClr val="FFFFFF"/>
            </a:solidFill>
            <a:ln>
              <a:noFill/>
            </a:ln>
          </p:spPr>
        </p:sp>
        <p:sp>
          <p:nvSpPr>
            <p:cNvPr id="96" name="Google Shape;96;p2"/>
            <p:cNvSpPr txBox="1"/>
            <p:nvPr/>
          </p:nvSpPr>
          <p:spPr>
            <a:xfrm>
              <a:off x="0" y="-76200"/>
              <a:ext cx="2593193" cy="41484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Razonamiento y Falacias</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54" y="-320617"/>
            <a:ext cx="6140237" cy="3052280"/>
            <a:chOff x="0" y="-95250"/>
            <a:chExt cx="8186982" cy="4069708"/>
          </a:xfrm>
        </p:grpSpPr>
        <p:sp>
          <p:nvSpPr>
            <p:cNvPr id="103" name="Google Shape;103;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11131715" y="97566"/>
            <a:ext cx="8416862" cy="2901857"/>
            <a:chOff x="0" y="-76200"/>
            <a:chExt cx="11222483" cy="3869143"/>
          </a:xfrm>
        </p:grpSpPr>
        <p:sp>
          <p:nvSpPr>
            <p:cNvPr id="106" name="Google Shape;106;p2"/>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07" name="Google Shape;107;p2"/>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1739805" y="2798634"/>
            <a:ext cx="5353646" cy="1701145"/>
            <a:chOff x="0" y="-114300"/>
            <a:chExt cx="1410014" cy="448038"/>
          </a:xfrm>
        </p:grpSpPr>
        <p:sp>
          <p:nvSpPr>
            <p:cNvPr id="109" name="Google Shape;109;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10" name="Google Shape;110;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u="none" cap="none" strike="noStrike">
                  <a:solidFill>
                    <a:srgbClr val="000000"/>
                  </a:solidFill>
                  <a:latin typeface="Arial"/>
                  <a:ea typeface="Arial"/>
                  <a:cs typeface="Arial"/>
                  <a:sym typeface="Arial"/>
                </a:rPr>
                <a:t>Link del Video</a:t>
              </a:r>
              <a:endParaRPr/>
            </a:p>
          </p:txBody>
        </p:sp>
      </p:grpSp>
      <p:grpSp>
        <p:nvGrpSpPr>
          <p:cNvPr id="111" name="Google Shape;111;p2"/>
          <p:cNvGrpSpPr/>
          <p:nvPr/>
        </p:nvGrpSpPr>
        <p:grpSpPr>
          <a:xfrm>
            <a:off x="7411466" y="5001213"/>
            <a:ext cx="11754886" cy="2175525"/>
            <a:chOff x="0" y="-76200"/>
            <a:chExt cx="3095937" cy="572978"/>
          </a:xfrm>
        </p:grpSpPr>
        <p:sp>
          <p:nvSpPr>
            <p:cNvPr id="112" name="Google Shape;112;p2"/>
            <p:cNvSpPr/>
            <p:nvPr/>
          </p:nvSpPr>
          <p:spPr>
            <a:xfrm>
              <a:off x="0" y="0"/>
              <a:ext cx="3095937" cy="496778"/>
            </a:xfrm>
            <a:custGeom>
              <a:rect b="b" l="l" r="r" t="t"/>
              <a:pathLst>
                <a:path extrusionOk="0" h="496778" w="3095937">
                  <a:moveTo>
                    <a:pt x="2892737" y="0"/>
                  </a:moveTo>
                  <a:lnTo>
                    <a:pt x="0" y="0"/>
                  </a:lnTo>
                  <a:lnTo>
                    <a:pt x="0" y="496778"/>
                  </a:lnTo>
                  <a:lnTo>
                    <a:pt x="2892737" y="496778"/>
                  </a:lnTo>
                  <a:lnTo>
                    <a:pt x="3095937" y="248389"/>
                  </a:lnTo>
                  <a:lnTo>
                    <a:pt x="2892737" y="0"/>
                  </a:lnTo>
                  <a:close/>
                </a:path>
              </a:pathLst>
            </a:custGeom>
            <a:solidFill>
              <a:srgbClr val="FFFFFF"/>
            </a:solidFill>
            <a:ln>
              <a:noFill/>
            </a:ln>
          </p:spPr>
        </p:sp>
        <p:sp>
          <p:nvSpPr>
            <p:cNvPr id="113" name="Google Shape;113;p2"/>
            <p:cNvSpPr txBox="1"/>
            <p:nvPr/>
          </p:nvSpPr>
          <p:spPr>
            <a:xfrm>
              <a:off x="0" y="-76200"/>
              <a:ext cx="2981637" cy="572978"/>
            </a:xfrm>
            <a:prstGeom prst="rect">
              <a:avLst/>
            </a:prstGeom>
            <a:noFill/>
            <a:ln>
              <a:noFill/>
            </a:ln>
          </p:spPr>
          <p:txBody>
            <a:bodyPr anchorCtr="0" anchor="ctr" bIns="50800" lIns="50800" spcFirstLastPara="1" rIns="50800" wrap="square" tIns="50800">
              <a:noAutofit/>
            </a:bodyPr>
            <a:lstStyle/>
            <a:p>
              <a:pPr indent="0" lvl="0" marL="0" marR="0" rtl="0" algn="l">
                <a:lnSpc>
                  <a:spcPct val="148015"/>
                </a:lnSpc>
                <a:spcBef>
                  <a:spcPts val="0"/>
                </a:spcBef>
                <a:spcAft>
                  <a:spcPts val="0"/>
                </a:spcAft>
                <a:buNone/>
              </a:pPr>
              <a:r>
                <a:rPr b="0" i="0" lang="en-US" sz="3099" u="none" cap="none" strike="noStrike">
                  <a:solidFill>
                    <a:srgbClr val="FF3131"/>
                  </a:solidFill>
                  <a:latin typeface="Arial"/>
                  <a:ea typeface="Arial"/>
                  <a:cs typeface="Arial"/>
                  <a:sym typeface="Arial"/>
                </a:rPr>
                <a:t>Link de Quizziz:</a:t>
              </a:r>
              <a:r>
                <a:rPr b="0" i="0" lang="en-US" sz="3099" u="none" cap="none" strike="noStrike">
                  <a:solidFill>
                    <a:srgbClr val="000000"/>
                  </a:solidFill>
                  <a:latin typeface="Arial"/>
                  <a:ea typeface="Arial"/>
                  <a:cs typeface="Arial"/>
                  <a:sym typeface="Arial"/>
                </a:rPr>
                <a:t> </a:t>
              </a:r>
              <a:r>
                <a:rPr b="0" i="0" lang="en-US" sz="3099" u="none" cap="none" strike="noStrike">
                  <a:solidFill>
                    <a:srgbClr val="2F5492"/>
                  </a:solidFill>
                  <a:latin typeface="Arial"/>
                  <a:ea typeface="Arial"/>
                  <a:cs typeface="Arial"/>
                  <a:sym typeface="Arial"/>
                </a:rPr>
                <a:t>https://create.kahoot.it/details/939554f4-e4d1-4c2c-babe-9c1448730a8b</a:t>
              </a:r>
              <a:endParaRPr/>
            </a:p>
          </p:txBody>
        </p:sp>
      </p:grpSp>
      <p:grpSp>
        <p:nvGrpSpPr>
          <p:cNvPr id="114" name="Google Shape;114;p2"/>
          <p:cNvGrpSpPr/>
          <p:nvPr/>
        </p:nvGrpSpPr>
        <p:grpSpPr>
          <a:xfrm>
            <a:off x="878654" y="5496840"/>
            <a:ext cx="4613551" cy="845385"/>
            <a:chOff x="0" y="-76200"/>
            <a:chExt cx="1964221" cy="359923"/>
          </a:xfrm>
        </p:grpSpPr>
        <p:sp>
          <p:nvSpPr>
            <p:cNvPr id="115" name="Google Shape;11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Razonamiento</a:t>
              </a:r>
              <a:endParaRPr/>
            </a:p>
          </p:txBody>
        </p:sp>
      </p:grpSp>
      <p:grpSp>
        <p:nvGrpSpPr>
          <p:cNvPr id="117" name="Google Shape;117;p2"/>
          <p:cNvGrpSpPr/>
          <p:nvPr/>
        </p:nvGrpSpPr>
        <p:grpSpPr>
          <a:xfrm>
            <a:off x="1028700" y="6425875"/>
            <a:ext cx="4613551" cy="845385"/>
            <a:chOff x="0" y="-76200"/>
            <a:chExt cx="1964221" cy="359923"/>
          </a:xfrm>
        </p:grpSpPr>
        <p:sp>
          <p:nvSpPr>
            <p:cNvPr id="118" name="Google Shape;11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9" name="Google Shape;119;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Las Inferencias</a:t>
              </a:r>
              <a:endParaRPr/>
            </a:p>
          </p:txBody>
        </p:sp>
      </p:grpSp>
      <p:grpSp>
        <p:nvGrpSpPr>
          <p:cNvPr id="120" name="Google Shape;120;p2"/>
          <p:cNvGrpSpPr/>
          <p:nvPr/>
        </p:nvGrpSpPr>
        <p:grpSpPr>
          <a:xfrm>
            <a:off x="176619" y="7349457"/>
            <a:ext cx="4613551" cy="845385"/>
            <a:chOff x="0" y="-76200"/>
            <a:chExt cx="1964221" cy="359923"/>
          </a:xfrm>
        </p:grpSpPr>
        <p:sp>
          <p:nvSpPr>
            <p:cNvPr id="121" name="Google Shape;12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2" name="Google Shape;122;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Falacias</a:t>
              </a:r>
              <a:endParaRPr/>
            </a:p>
          </p:txBody>
        </p:sp>
      </p:grpSp>
      <p:grpSp>
        <p:nvGrpSpPr>
          <p:cNvPr id="123" name="Google Shape;123;p2"/>
          <p:cNvGrpSpPr/>
          <p:nvPr/>
        </p:nvGrpSpPr>
        <p:grpSpPr>
          <a:xfrm>
            <a:off x="651754" y="8418796"/>
            <a:ext cx="6378116" cy="839504"/>
            <a:chOff x="0" y="-76200"/>
            <a:chExt cx="2715486" cy="357419"/>
          </a:xfrm>
        </p:grpSpPr>
        <p:sp>
          <p:nvSpPr>
            <p:cNvPr id="124" name="Google Shape;124;p2"/>
            <p:cNvSpPr/>
            <p:nvPr/>
          </p:nvSpPr>
          <p:spPr>
            <a:xfrm>
              <a:off x="0" y="0"/>
              <a:ext cx="2715486" cy="281219"/>
            </a:xfrm>
            <a:custGeom>
              <a:rect b="b" l="l" r="r" t="t"/>
              <a:pathLst>
                <a:path extrusionOk="0" h="281219" w="2715486">
                  <a:moveTo>
                    <a:pt x="2512286" y="0"/>
                  </a:moveTo>
                  <a:lnTo>
                    <a:pt x="0" y="0"/>
                  </a:lnTo>
                  <a:lnTo>
                    <a:pt x="0" y="281219"/>
                  </a:lnTo>
                  <a:lnTo>
                    <a:pt x="2512286" y="281219"/>
                  </a:lnTo>
                  <a:lnTo>
                    <a:pt x="2715486" y="140610"/>
                  </a:lnTo>
                  <a:lnTo>
                    <a:pt x="2512286" y="0"/>
                  </a:lnTo>
                  <a:close/>
                </a:path>
              </a:pathLst>
            </a:custGeom>
            <a:solidFill>
              <a:srgbClr val="FFFFFF"/>
            </a:solidFill>
            <a:ln>
              <a:noFill/>
            </a:ln>
          </p:spPr>
        </p:sp>
        <p:sp>
          <p:nvSpPr>
            <p:cNvPr id="125" name="Google Shape;125;p2"/>
            <p:cNvSpPr txBox="1"/>
            <p:nvPr/>
          </p:nvSpPr>
          <p:spPr>
            <a:xfrm>
              <a:off x="0" y="-76200"/>
              <a:ext cx="2601186" cy="357419"/>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Falacias de atingencia</a:t>
              </a:r>
              <a:endParaRPr/>
            </a:p>
          </p:txBody>
        </p:sp>
      </p:grpSp>
      <p:sp>
        <p:nvSpPr>
          <p:cNvPr id="126" name="Google Shape;126;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7" name="Google Shape;127;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8" name="Google Shape;128;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9" name="Google Shape;129;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35" name="Google Shape;135;p3"/>
          <p:cNvSpPr txBox="1"/>
          <p:nvPr/>
        </p:nvSpPr>
        <p:spPr>
          <a:xfrm>
            <a:off x="2191966" y="4432648"/>
            <a:ext cx="13448312" cy="208915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0" i="0" lang="en-US" sz="3999" u="none" cap="none" strike="noStrike">
                <a:solidFill>
                  <a:srgbClr val="131416"/>
                </a:solidFill>
                <a:latin typeface="Open Sans"/>
                <a:ea typeface="Open Sans"/>
                <a:cs typeface="Open Sans"/>
                <a:sym typeface="Open Sans"/>
              </a:rPr>
              <a:t>Evalua razonamientos y falacias utilizando ejercicios escritos y discusiones dirigidas en la resolución de dilemas lógicos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txBox="1"/>
          <p:nvPr/>
        </p:nvSpPr>
        <p:spPr>
          <a:xfrm>
            <a:off x="1760939" y="2959690"/>
            <a:ext cx="12625499" cy="5926943"/>
          </a:xfrm>
          <a:prstGeom prst="rect">
            <a:avLst/>
          </a:prstGeom>
          <a:noFill/>
          <a:ln>
            <a:noFill/>
          </a:ln>
        </p:spPr>
        <p:txBody>
          <a:bodyPr anchorCtr="0" anchor="t" bIns="0" lIns="0" spcFirstLastPara="1" rIns="0" wrap="square" tIns="0">
            <a:spAutoFit/>
          </a:bodyPr>
          <a:lstStyle/>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El razonamiento</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Clasificación de razonamientos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La inferencia</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Falacias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Falacias de atingencia</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Falacias de ambigüedad </a:t>
            </a:r>
            <a:endParaRPr/>
          </a:p>
          <a:p>
            <a:pPr indent="0" lvl="0" marL="0" marR="0" rtl="0" algn="l">
              <a:lnSpc>
                <a:spcPct val="173025"/>
              </a:lnSpc>
              <a:spcBef>
                <a:spcPts val="0"/>
              </a:spcBef>
              <a:spcAft>
                <a:spcPts val="0"/>
              </a:spcAft>
              <a:buNone/>
            </a:pPr>
            <a:r>
              <a:t/>
            </a:r>
            <a:endParaRPr b="0" i="0" sz="3925" u="none" cap="none" strike="noStrike">
              <a:solidFill>
                <a:srgbClr val="131416"/>
              </a:solidFill>
              <a:latin typeface="Arial"/>
              <a:ea typeface="Arial"/>
              <a:cs typeface="Arial"/>
              <a:sym typeface="Arial"/>
            </a:endParaRPr>
          </a:p>
        </p:txBody>
      </p:sp>
      <p:sp>
        <p:nvSpPr>
          <p:cNvPr id="141" name="Google Shape;141;p4"/>
          <p:cNvSpPr txBox="1"/>
          <p:nvPr/>
        </p:nvSpPr>
        <p:spPr>
          <a:xfrm>
            <a:off x="1556560" y="1009650"/>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CONTENIDO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nvSpPr>
        <p:spPr>
          <a:xfrm>
            <a:off x="6647329" y="1680425"/>
            <a:ext cx="11250586" cy="6216698"/>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En términos generales, “La premisa es la razón que se da para una</a:t>
            </a:r>
            <a:endParaRPr/>
          </a:p>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conclusión”. Una premisa es cada una de las proposiciones que forman un</a:t>
            </a:r>
            <a:endParaRPr/>
          </a:p>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razonamiento, el cual a su vez da lugar a una conclusión de dicho razonamiento. Las</a:t>
            </a:r>
            <a:endParaRPr/>
          </a:p>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premisas son expresiones lingüísticas que afirman o niegan algo pudiendo ser estas</a:t>
            </a:r>
            <a:endParaRPr/>
          </a:p>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verdaderas o falsas.</a:t>
            </a:r>
            <a:endParaRPr/>
          </a:p>
        </p:txBody>
      </p:sp>
      <p:sp>
        <p:nvSpPr>
          <p:cNvPr id="147" name="Google Shape;147;p5"/>
          <p:cNvSpPr/>
          <p:nvPr/>
        </p:nvSpPr>
        <p:spPr>
          <a:xfrm>
            <a:off x="0" y="2724702"/>
            <a:ext cx="6450127" cy="4837595"/>
          </a:xfrm>
          <a:custGeom>
            <a:rect b="b" l="l" r="r" t="t"/>
            <a:pathLst>
              <a:path extrusionOk="0" h="4837595" w="6450127">
                <a:moveTo>
                  <a:pt x="0" y="0"/>
                </a:moveTo>
                <a:lnTo>
                  <a:pt x="6450127" y="0"/>
                </a:lnTo>
                <a:lnTo>
                  <a:pt x="6450127" y="4837596"/>
                </a:lnTo>
                <a:lnTo>
                  <a:pt x="0" y="4837596"/>
                </a:lnTo>
                <a:lnTo>
                  <a:pt x="0" y="0"/>
                </a:lnTo>
                <a:close/>
              </a:path>
            </a:pathLst>
          </a:custGeom>
          <a:blipFill rotWithShape="1">
            <a:blip r:embed="rId3">
              <a:alphaModFix/>
            </a:blip>
            <a:stretch>
              <a:fillRect b="0" l="0" r="0" t="0"/>
            </a:stretch>
          </a:blipFill>
          <a:ln>
            <a:noFill/>
          </a:ln>
        </p:spPr>
      </p:sp>
      <p:sp>
        <p:nvSpPr>
          <p:cNvPr id="148" name="Google Shape;148;p5"/>
          <p:cNvSpPr txBox="1"/>
          <p:nvPr/>
        </p:nvSpPr>
        <p:spPr>
          <a:xfrm>
            <a:off x="1374889" y="644839"/>
            <a:ext cx="13991174" cy="85850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¿QUÉ ES UNA PREMISA?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txBox="1"/>
          <p:nvPr/>
        </p:nvSpPr>
        <p:spPr>
          <a:xfrm>
            <a:off x="1028700" y="1680425"/>
            <a:ext cx="16869215" cy="8329833"/>
          </a:xfrm>
          <a:prstGeom prst="rect">
            <a:avLst/>
          </a:prstGeom>
          <a:noFill/>
          <a:ln>
            <a:noFill/>
          </a:ln>
        </p:spPr>
        <p:txBody>
          <a:bodyPr anchorCtr="0" anchor="t" bIns="0" lIns="0" spcFirstLastPara="1" rIns="0" wrap="square" tIns="0">
            <a:spAutoFit/>
          </a:bodyPr>
          <a:lstStyle/>
          <a:p>
            <a:pPr indent="-424115" lvl="1" marL="848231"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Los planetas son redondos, la Tierra es un planeta, por lo tanto; la Tierra es redonda: </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Las premisas son: “Los planetas son redondos” y “La Tierra es un planeta”</a:t>
            </a:r>
            <a:endParaRPr/>
          </a:p>
          <a:p>
            <a:pPr indent="-424115" lvl="1" marL="848231"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Los moluscos son animales de cuerpo blando envueltos en un manto, protegidos por una cubierta calcárea. El caracol y la ostra están protegidos por una cubierta calcárea; por lo tanto, el caracol y la ostra son moluscos.</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Las premisas son “Los moluscos son animales de cuerpo blando</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envueltos en un manto protegidos por una cubierta calcárea.” y “El caracol y la ostra están protegidos por una cubierta calcárea.”</a:t>
            </a:r>
            <a:endParaRPr/>
          </a:p>
          <a:p>
            <a:pPr indent="0" lvl="0" marL="0" marR="0" rtl="0" algn="just">
              <a:lnSpc>
                <a:spcPct val="140020"/>
              </a:lnSpc>
              <a:spcBef>
                <a:spcPts val="0"/>
              </a:spcBef>
              <a:spcAft>
                <a:spcPts val="0"/>
              </a:spcAft>
              <a:buNone/>
            </a:pPr>
            <a:r>
              <a:t/>
            </a:r>
            <a:endParaRPr b="0" i="0" sz="3928" u="none" cap="none" strike="noStrike">
              <a:solidFill>
                <a:srgbClr val="131416"/>
              </a:solidFill>
              <a:latin typeface="Open Sans"/>
              <a:ea typeface="Open Sans"/>
              <a:cs typeface="Open Sans"/>
              <a:sym typeface="Open Sans"/>
            </a:endParaRPr>
          </a:p>
        </p:txBody>
      </p:sp>
      <p:sp>
        <p:nvSpPr>
          <p:cNvPr id="154" name="Google Shape;154;p6"/>
          <p:cNvSpPr txBox="1"/>
          <p:nvPr/>
        </p:nvSpPr>
        <p:spPr>
          <a:xfrm>
            <a:off x="1374889" y="644839"/>
            <a:ext cx="13991174" cy="85850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EJEMPLOS DE PREMISA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p:nvPr/>
        </p:nvSpPr>
        <p:spPr>
          <a:xfrm>
            <a:off x="1706924" y="2610531"/>
            <a:ext cx="4587116" cy="5704186"/>
          </a:xfrm>
          <a:custGeom>
            <a:rect b="b" l="l" r="r" t="t"/>
            <a:pathLst>
              <a:path extrusionOk="0" h="5704186" w="4587116">
                <a:moveTo>
                  <a:pt x="0" y="0"/>
                </a:moveTo>
                <a:lnTo>
                  <a:pt x="4587116" y="0"/>
                </a:lnTo>
                <a:lnTo>
                  <a:pt x="4587116" y="5704185"/>
                </a:lnTo>
                <a:lnTo>
                  <a:pt x="0" y="5704185"/>
                </a:lnTo>
                <a:lnTo>
                  <a:pt x="0" y="0"/>
                </a:lnTo>
                <a:close/>
              </a:path>
            </a:pathLst>
          </a:custGeom>
          <a:blipFill rotWithShape="1">
            <a:blip r:embed="rId3">
              <a:alphaModFix/>
            </a:blip>
            <a:stretch>
              <a:fillRect b="0" l="0" r="0" t="0"/>
            </a:stretch>
          </a:blipFill>
          <a:ln>
            <a:noFill/>
          </a:ln>
        </p:spPr>
      </p:sp>
      <p:sp>
        <p:nvSpPr>
          <p:cNvPr id="160" name="Google Shape;160;p7"/>
          <p:cNvSpPr txBox="1"/>
          <p:nvPr/>
        </p:nvSpPr>
        <p:spPr>
          <a:xfrm>
            <a:off x="342431" y="1000125"/>
            <a:ext cx="13991174" cy="85850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CONCLUSIÓN</a:t>
            </a:r>
            <a:endParaRPr/>
          </a:p>
        </p:txBody>
      </p:sp>
      <p:sp>
        <p:nvSpPr>
          <p:cNvPr id="161" name="Google Shape;161;p7"/>
          <p:cNvSpPr txBox="1"/>
          <p:nvPr/>
        </p:nvSpPr>
        <p:spPr>
          <a:xfrm>
            <a:off x="8044678" y="382985"/>
            <a:ext cx="9338087" cy="8998704"/>
          </a:xfrm>
          <a:prstGeom prst="rect">
            <a:avLst/>
          </a:prstGeom>
          <a:noFill/>
          <a:ln>
            <a:noFill/>
          </a:ln>
        </p:spPr>
        <p:txBody>
          <a:bodyPr anchorCtr="0" anchor="t" bIns="0" lIns="0" spcFirstLastPara="1" rIns="0" wrap="square" tIns="0">
            <a:spAutoFit/>
          </a:bodyPr>
          <a:lstStyle/>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Es una proposición o juicio que se infiere de la o las premisas. Al igual que estas, la conclusión puede ubicarse en cualquier lugar del razonamiento, pues su distinción no es espacial o gramatical sino lógica y su característica esencial es que en ella se expresa el punto de arribo de la o de las razones explicadas en la o las premisas del razonamiento. Puede ir separada de las premisas por adverbios.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nvSpPr>
        <p:spPr>
          <a:xfrm>
            <a:off x="342431" y="1000125"/>
            <a:ext cx="13991174" cy="163955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EJEMPLO DE</a:t>
            </a:r>
            <a:endParaRPr/>
          </a:p>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CONCLUSIÓN</a:t>
            </a:r>
            <a:endParaRPr/>
          </a:p>
        </p:txBody>
      </p:sp>
      <p:sp>
        <p:nvSpPr>
          <p:cNvPr id="167" name="Google Shape;167;p8"/>
          <p:cNvSpPr txBox="1"/>
          <p:nvPr/>
        </p:nvSpPr>
        <p:spPr>
          <a:xfrm>
            <a:off x="7338018" y="382985"/>
            <a:ext cx="10044748" cy="8244945"/>
          </a:xfrm>
          <a:prstGeom prst="rect">
            <a:avLst/>
          </a:prstGeom>
          <a:noFill/>
          <a:ln>
            <a:noFill/>
          </a:ln>
        </p:spPr>
        <p:txBody>
          <a:bodyPr anchorCtr="0" anchor="t" bIns="0" lIns="0" spcFirstLastPara="1" rIns="0" wrap="square" tIns="0">
            <a:spAutoFit/>
          </a:bodyPr>
          <a:lstStyle/>
          <a:p>
            <a:pPr indent="-461040" lvl="1" marL="922082" marR="0" rtl="0" algn="just">
              <a:lnSpc>
                <a:spcPct val="140023"/>
              </a:lnSpc>
              <a:spcBef>
                <a:spcPts val="0"/>
              </a:spcBef>
              <a:spcAft>
                <a:spcPts val="0"/>
              </a:spcAft>
              <a:buClr>
                <a:srgbClr val="131416"/>
              </a:buClr>
              <a:buSzPts val="4270"/>
              <a:buFont typeface="Arial"/>
              <a:buChar char="•"/>
            </a:pPr>
            <a:r>
              <a:rPr b="0" i="0" lang="en-US" sz="4270" u="none" cap="none" strike="noStrike">
                <a:solidFill>
                  <a:srgbClr val="131416"/>
                </a:solidFill>
                <a:latin typeface="Open Sans"/>
                <a:ea typeface="Open Sans"/>
                <a:cs typeface="Open Sans"/>
                <a:sym typeface="Open Sans"/>
              </a:rPr>
              <a:t>Los planetas son redondos, la Tierra es un planeta.</a:t>
            </a:r>
            <a:endParaRPr/>
          </a:p>
          <a:p>
            <a:pPr indent="-614721" lvl="2" marL="1844164" marR="0" rtl="0" algn="just">
              <a:lnSpc>
                <a:spcPct val="140023"/>
              </a:lnSpc>
              <a:spcBef>
                <a:spcPts val="0"/>
              </a:spcBef>
              <a:spcAft>
                <a:spcPts val="0"/>
              </a:spcAft>
              <a:buClr>
                <a:srgbClr val="131416"/>
              </a:buClr>
              <a:buSzPts val="4270"/>
              <a:buFont typeface="Arial"/>
              <a:buChar char="⚬"/>
            </a:pPr>
            <a:r>
              <a:rPr b="0" i="0" lang="en-US" sz="4270" u="none" cap="none" strike="noStrike">
                <a:solidFill>
                  <a:srgbClr val="131416"/>
                </a:solidFill>
                <a:latin typeface="Open Sans"/>
                <a:ea typeface="Open Sans"/>
                <a:cs typeface="Open Sans"/>
                <a:sym typeface="Open Sans"/>
              </a:rPr>
              <a:t>Conclusión: la tierra es redonda.</a:t>
            </a:r>
            <a:endParaRPr/>
          </a:p>
          <a:p>
            <a:pPr indent="0" lvl="0" marL="0" marR="0" rtl="0" algn="just">
              <a:lnSpc>
                <a:spcPct val="140023"/>
              </a:lnSpc>
              <a:spcBef>
                <a:spcPts val="0"/>
              </a:spcBef>
              <a:spcAft>
                <a:spcPts val="0"/>
              </a:spcAft>
              <a:buNone/>
            </a:pPr>
            <a:r>
              <a:t/>
            </a:r>
            <a:endParaRPr b="0" i="0" sz="4270" u="none" cap="none" strike="noStrike">
              <a:solidFill>
                <a:srgbClr val="131416"/>
              </a:solidFill>
              <a:latin typeface="Open Sans"/>
              <a:ea typeface="Open Sans"/>
              <a:cs typeface="Open Sans"/>
              <a:sym typeface="Open Sans"/>
            </a:endParaRPr>
          </a:p>
          <a:p>
            <a:pPr indent="-461040" lvl="1" marL="922082" marR="0" rtl="0" algn="just">
              <a:lnSpc>
                <a:spcPct val="140023"/>
              </a:lnSpc>
              <a:spcBef>
                <a:spcPts val="0"/>
              </a:spcBef>
              <a:spcAft>
                <a:spcPts val="0"/>
              </a:spcAft>
              <a:buClr>
                <a:srgbClr val="131416"/>
              </a:buClr>
              <a:buSzPts val="4270"/>
              <a:buFont typeface="Arial"/>
              <a:buChar char="•"/>
            </a:pPr>
            <a:r>
              <a:rPr b="0" i="0" lang="en-US" sz="4270" u="none" cap="none" strike="noStrike">
                <a:solidFill>
                  <a:srgbClr val="131416"/>
                </a:solidFill>
                <a:latin typeface="Open Sans"/>
                <a:ea typeface="Open Sans"/>
                <a:cs typeface="Open Sans"/>
                <a:sym typeface="Open Sans"/>
              </a:rPr>
              <a:t>Los moluscos son animales de cuerpo blando envueltos en un manto, protegidos por una cubierta calcárea. El caracol y la ostra están protegidos por una cubierta.</a:t>
            </a:r>
            <a:endParaRPr/>
          </a:p>
          <a:p>
            <a:pPr indent="-614721" lvl="2" marL="1844164" marR="0" rtl="0" algn="just">
              <a:lnSpc>
                <a:spcPct val="140023"/>
              </a:lnSpc>
              <a:spcBef>
                <a:spcPts val="0"/>
              </a:spcBef>
              <a:spcAft>
                <a:spcPts val="0"/>
              </a:spcAft>
              <a:buClr>
                <a:srgbClr val="131416"/>
              </a:buClr>
              <a:buSzPts val="4270"/>
              <a:buFont typeface="Arial"/>
              <a:buChar char="⚬"/>
            </a:pPr>
            <a:r>
              <a:rPr b="0" i="0" lang="en-US" sz="4270" u="none" cap="none" strike="noStrike">
                <a:solidFill>
                  <a:srgbClr val="131416"/>
                </a:solidFill>
                <a:latin typeface="Open Sans"/>
                <a:ea typeface="Open Sans"/>
                <a:cs typeface="Open Sans"/>
                <a:sym typeface="Open Sans"/>
              </a:rPr>
              <a:t>Conclusión: el caracol y la ostra son moluscos</a:t>
            </a:r>
            <a:endParaRPr/>
          </a:p>
        </p:txBody>
      </p:sp>
      <p:sp>
        <p:nvSpPr>
          <p:cNvPr id="168" name="Google Shape;168;p8"/>
          <p:cNvSpPr/>
          <p:nvPr/>
        </p:nvSpPr>
        <p:spPr>
          <a:xfrm>
            <a:off x="837919" y="2957080"/>
            <a:ext cx="6024773" cy="6024773"/>
          </a:xfrm>
          <a:custGeom>
            <a:rect b="b" l="l" r="r" t="t"/>
            <a:pathLst>
              <a:path extrusionOk="0" h="6024773" w="6024773">
                <a:moveTo>
                  <a:pt x="0" y="0"/>
                </a:moveTo>
                <a:lnTo>
                  <a:pt x="6024774" y="0"/>
                </a:lnTo>
                <a:lnTo>
                  <a:pt x="6024774" y="6024773"/>
                </a:lnTo>
                <a:lnTo>
                  <a:pt x="0" y="602477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RAZONAMIENTO O ARGUMENTO</a:t>
            </a:r>
            <a:endParaRPr/>
          </a:p>
        </p:txBody>
      </p:sp>
      <p:sp>
        <p:nvSpPr>
          <p:cNvPr id="174" name="Google Shape;174;p9"/>
          <p:cNvSpPr txBox="1"/>
          <p:nvPr/>
        </p:nvSpPr>
        <p:spPr>
          <a:xfrm>
            <a:off x="539675" y="1450975"/>
            <a:ext cx="17264040" cy="86455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Es una estructura lógica formada por una o más premisas y conclusión. Si una estructura no posee conclusión, sea explicita o no, no es un argumento. De igual forma si tenemos conclusión sin premisa, tampoco es un argumento.</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Los razonamientos pueden ser válidos o inválidos y no verdaderos o falsos. </a:t>
            </a:r>
            <a:r>
              <a:rPr b="1" i="0" lang="en-US" sz="35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Los planetas son redondos, la Tierra es un planeta, por lo tanto; la Tierra es redonda</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Los moluscos son animales de cuerpo blando envueltos en un manto, protegidos por una cubierta calcárea.</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nvSpPr>
        <p:spPr>
          <a:xfrm>
            <a:off x="1374889" y="850129"/>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CLASIFICACIÓN DE RAZONAMIENTO</a:t>
            </a:r>
            <a:endParaRPr/>
          </a:p>
        </p:txBody>
      </p:sp>
      <p:sp>
        <p:nvSpPr>
          <p:cNvPr id="180" name="Google Shape;180;p10"/>
          <p:cNvSpPr txBox="1"/>
          <p:nvPr/>
        </p:nvSpPr>
        <p:spPr>
          <a:xfrm>
            <a:off x="1028700" y="2650161"/>
            <a:ext cx="6478613" cy="611822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Según su estructura formal:</a:t>
            </a:r>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Formal: Este razonamiento se da cuando nuestro interés es puramente formal, es</a:t>
            </a:r>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decir, las formas de los razonamientos y no sus contenidos. </a:t>
            </a:r>
            <a:r>
              <a:rPr b="1" i="0" lang="en-US" sz="2499" u="none" cap="none" strike="noStrike">
                <a:solidFill>
                  <a:srgbClr val="FF3131"/>
                </a:solidFill>
                <a:latin typeface="Open Sans"/>
                <a:ea typeface="Open Sans"/>
                <a:cs typeface="Open Sans"/>
                <a:sym typeface="Open Sans"/>
              </a:rPr>
              <a:t>Ejemplo:</a:t>
            </a:r>
            <a:endParaRPr/>
          </a:p>
          <a:p>
            <a:pPr indent="0" lvl="0" marL="0" marR="0" rtl="0" algn="just">
              <a:lnSpc>
                <a:spcPct val="140016"/>
              </a:lnSpc>
              <a:spcBef>
                <a:spcPts val="0"/>
              </a:spcBef>
              <a:spcAft>
                <a:spcPts val="0"/>
              </a:spcAft>
              <a:buNone/>
            </a:pPr>
            <a:r>
              <a:t/>
            </a:r>
            <a:endParaRPr b="1" i="0" sz="2499" u="none" cap="none" strike="noStrike">
              <a:solidFill>
                <a:srgbClr val="FF3131"/>
              </a:solidFill>
              <a:latin typeface="Open Sans"/>
              <a:ea typeface="Open Sans"/>
              <a:cs typeface="Open Sans"/>
              <a:sym typeface="Open Sans"/>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P--&gt; Q, P :. Q</a:t>
            </a:r>
            <a:endParaRPr/>
          </a:p>
          <a:p>
            <a:pPr indent="0" lvl="0" marL="0" marR="0" rtl="0" algn="just">
              <a:lnSpc>
                <a:spcPct val="140016"/>
              </a:lnSpc>
              <a:spcBef>
                <a:spcPts val="0"/>
              </a:spcBef>
              <a:spcAft>
                <a:spcPts val="0"/>
              </a:spcAft>
              <a:buNone/>
            </a:pPr>
            <a:r>
              <a:t/>
            </a:r>
            <a:endParaRPr b="0" i="0" sz="2499" u="none" cap="none" strike="noStrike">
              <a:solidFill>
                <a:srgbClr val="131416"/>
              </a:solidFill>
              <a:latin typeface="Open Sans"/>
              <a:ea typeface="Open Sans"/>
              <a:cs typeface="Open Sans"/>
              <a:sym typeface="Open Sans"/>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La expresión no define nada explícito por lo que lo único que nos muestra es la relación</a:t>
            </a:r>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entre P y Q, en este caso importa nada más la forma de la expresión y no el contenido</a:t>
            </a:r>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de la misma.</a:t>
            </a:r>
            <a:endParaRPr/>
          </a:p>
          <a:p>
            <a:pPr indent="0" lvl="0" marL="0" marR="0" rtl="0" algn="just">
              <a:lnSpc>
                <a:spcPct val="140016"/>
              </a:lnSpc>
              <a:spcBef>
                <a:spcPts val="0"/>
              </a:spcBef>
              <a:spcAft>
                <a:spcPts val="0"/>
              </a:spcAft>
              <a:buNone/>
            </a:pPr>
            <a:r>
              <a:t/>
            </a:r>
            <a:endParaRPr b="0" i="0" sz="2499" u="none" cap="none" strike="noStrike">
              <a:solidFill>
                <a:srgbClr val="131416"/>
              </a:solidFill>
              <a:latin typeface="Open Sans"/>
              <a:ea typeface="Open Sans"/>
              <a:cs typeface="Open Sans"/>
              <a:sym typeface="Open Sans"/>
            </a:endParaRPr>
          </a:p>
        </p:txBody>
      </p:sp>
      <p:sp>
        <p:nvSpPr>
          <p:cNvPr id="181" name="Google Shape;181;p10"/>
          <p:cNvSpPr txBox="1"/>
          <p:nvPr/>
        </p:nvSpPr>
        <p:spPr>
          <a:xfrm>
            <a:off x="8978604" y="2650161"/>
            <a:ext cx="8821679" cy="436562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Según su Estructura:</a:t>
            </a:r>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Este razonamiento fundamenta su funcionamiento en el contenido haciendo una abstracción de la forma.</a:t>
            </a:r>
            <a:r>
              <a:rPr b="1" i="0" lang="en-US" sz="2499" u="none" cap="none" strike="noStrike">
                <a:solidFill>
                  <a:srgbClr val="131416"/>
                </a:solidFill>
                <a:latin typeface="Open Sans"/>
                <a:ea typeface="Open Sans"/>
                <a:cs typeface="Open Sans"/>
                <a:sym typeface="Open Sans"/>
              </a:rPr>
              <a:t> </a:t>
            </a:r>
            <a:r>
              <a:rPr b="1" i="0" lang="en-US" sz="2499" u="none" cap="none" strike="noStrike">
                <a:solidFill>
                  <a:srgbClr val="FF3131"/>
                </a:solidFill>
                <a:latin typeface="Open Sans"/>
                <a:ea typeface="Open Sans"/>
                <a:cs typeface="Open Sans"/>
                <a:sym typeface="Open Sans"/>
              </a:rPr>
              <a:t>Ejemplo:</a:t>
            </a:r>
            <a:endParaRPr/>
          </a:p>
          <a:p>
            <a:pPr indent="0" lvl="0" marL="0" marR="0" rtl="0" algn="just">
              <a:lnSpc>
                <a:spcPct val="140016"/>
              </a:lnSpc>
              <a:spcBef>
                <a:spcPts val="0"/>
              </a:spcBef>
              <a:spcAft>
                <a:spcPts val="0"/>
              </a:spcAft>
              <a:buNone/>
            </a:pPr>
            <a:r>
              <a:t/>
            </a:r>
            <a:endParaRPr b="1" i="0" sz="2499" u="none" cap="none" strike="noStrike">
              <a:solidFill>
                <a:srgbClr val="FF3131"/>
              </a:solidFill>
              <a:latin typeface="Open Sans"/>
              <a:ea typeface="Open Sans"/>
              <a:cs typeface="Open Sans"/>
              <a:sym typeface="Open Sans"/>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El mosquito es un insecto tan conocido como molesto, Dentro de la trompa del mosquito hay piezas delgadas y afiladas, las cuales resultan de la transformación de las mandíbulas que le sirven para picar y chupar sangre. Por lo tanto, cualquier mosquito chupa de la sangre de sus víctimas.</a:t>
            </a:r>
            <a:endParaRPr/>
          </a:p>
        </p:txBody>
      </p:sp>
      <p:sp>
        <p:nvSpPr>
          <p:cNvPr id="182" name="Google Shape;182;p10"/>
          <p:cNvSpPr txBox="1"/>
          <p:nvPr/>
        </p:nvSpPr>
        <p:spPr>
          <a:xfrm>
            <a:off x="1374889" y="1811740"/>
            <a:ext cx="9816593" cy="42227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El razonamiento se puede clasificar de las siguientes formas: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p:nvPr/>
        </p:nvSpPr>
        <p:spPr>
          <a:xfrm>
            <a:off x="3361433" y="2315043"/>
            <a:ext cx="9838113" cy="5656915"/>
          </a:xfrm>
          <a:custGeom>
            <a:rect b="b" l="l" r="r" t="t"/>
            <a:pathLst>
              <a:path extrusionOk="0" h="5656915" w="9838113">
                <a:moveTo>
                  <a:pt x="0" y="0"/>
                </a:moveTo>
                <a:lnTo>
                  <a:pt x="9838113" y="0"/>
                </a:lnTo>
                <a:lnTo>
                  <a:pt x="9838113" y="5656914"/>
                </a:lnTo>
                <a:lnTo>
                  <a:pt x="0" y="5656914"/>
                </a:lnTo>
                <a:lnTo>
                  <a:pt x="0" y="0"/>
                </a:lnTo>
                <a:close/>
              </a:path>
            </a:pathLst>
          </a:custGeom>
          <a:blipFill rotWithShape="1">
            <a:blip r:embed="rId3">
              <a:alphaModFix/>
            </a:blip>
            <a:stretch>
              <a:fillRect b="0" l="0" r="0" t="0"/>
            </a:stretch>
          </a:blipFill>
          <a:ln>
            <a:noFill/>
          </a:ln>
        </p:spPr>
      </p:sp>
      <p:sp>
        <p:nvSpPr>
          <p:cNvPr id="188" name="Google Shape;188;p11"/>
          <p:cNvSpPr/>
          <p:nvPr/>
        </p:nvSpPr>
        <p:spPr>
          <a:xfrm>
            <a:off x="3606536" y="7766492"/>
            <a:ext cx="9593010" cy="1624556"/>
          </a:xfrm>
          <a:custGeom>
            <a:rect b="b" l="l" r="r" t="t"/>
            <a:pathLst>
              <a:path extrusionOk="0" h="1624556" w="9593010">
                <a:moveTo>
                  <a:pt x="0" y="0"/>
                </a:moveTo>
                <a:lnTo>
                  <a:pt x="9593010" y="0"/>
                </a:lnTo>
                <a:lnTo>
                  <a:pt x="9593010" y="1624556"/>
                </a:lnTo>
                <a:lnTo>
                  <a:pt x="0" y="1624556"/>
                </a:lnTo>
                <a:lnTo>
                  <a:pt x="0" y="0"/>
                </a:lnTo>
                <a:close/>
              </a:path>
            </a:pathLst>
          </a:custGeom>
          <a:blipFill rotWithShape="1">
            <a:blip r:embed="rId4">
              <a:alphaModFix/>
            </a:blip>
            <a:stretch>
              <a:fillRect b="0" l="0" r="-17806" t="0"/>
            </a:stretch>
          </a:blipFill>
          <a:ln>
            <a:noFill/>
          </a:ln>
        </p:spPr>
      </p:sp>
      <p:sp>
        <p:nvSpPr>
          <p:cNvPr id="189" name="Google Shape;189;p11"/>
          <p:cNvSpPr txBox="1"/>
          <p:nvPr/>
        </p:nvSpPr>
        <p:spPr>
          <a:xfrm>
            <a:off x="1260864" y="695280"/>
            <a:ext cx="17756100" cy="150177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DIFERENTES FORMAS DE RAZONAMIENTO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p:nvPr/>
        </p:nvSpPr>
        <p:spPr>
          <a:xfrm>
            <a:off x="1272736" y="2106593"/>
            <a:ext cx="5778062" cy="5778062"/>
          </a:xfrm>
          <a:custGeom>
            <a:rect b="b" l="l" r="r" t="t"/>
            <a:pathLst>
              <a:path extrusionOk="0" h="5778062" w="5778062">
                <a:moveTo>
                  <a:pt x="0" y="0"/>
                </a:moveTo>
                <a:lnTo>
                  <a:pt x="5778062" y="0"/>
                </a:lnTo>
                <a:lnTo>
                  <a:pt x="5778062" y="5778062"/>
                </a:lnTo>
                <a:lnTo>
                  <a:pt x="0" y="5778062"/>
                </a:lnTo>
                <a:lnTo>
                  <a:pt x="0" y="0"/>
                </a:lnTo>
                <a:close/>
              </a:path>
            </a:pathLst>
          </a:custGeom>
          <a:blipFill rotWithShape="1">
            <a:blip r:embed="rId3">
              <a:alphaModFix/>
            </a:blip>
            <a:stretch>
              <a:fillRect b="0" l="0" r="0" t="0"/>
            </a:stretch>
          </a:blipFill>
          <a:ln>
            <a:noFill/>
          </a:ln>
        </p:spPr>
      </p:sp>
      <p:sp>
        <p:nvSpPr>
          <p:cNvPr id="195" name="Google Shape;195;p12"/>
          <p:cNvSpPr txBox="1"/>
          <p:nvPr/>
        </p:nvSpPr>
        <p:spPr>
          <a:xfrm>
            <a:off x="9893392" y="263525"/>
            <a:ext cx="7862708" cy="150177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131416"/>
                </a:solidFill>
                <a:latin typeface="Arial"/>
                <a:ea typeface="Arial"/>
                <a:cs typeface="Arial"/>
                <a:sym typeface="Arial"/>
              </a:rPr>
              <a:t>SEGÚN SU TIPO DE INFERENCIA</a:t>
            </a:r>
            <a:endParaRPr/>
          </a:p>
        </p:txBody>
      </p:sp>
      <p:sp>
        <p:nvSpPr>
          <p:cNvPr id="196" name="Google Shape;196;p12"/>
          <p:cNvSpPr txBox="1"/>
          <p:nvPr/>
        </p:nvSpPr>
        <p:spPr>
          <a:xfrm>
            <a:off x="9676691" y="2503665"/>
            <a:ext cx="8296109" cy="53809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Deductivo:</a:t>
            </a:r>
            <a:r>
              <a:rPr b="1" i="0" lang="en-US" sz="3399" u="none" cap="none" strike="noStrike">
                <a:solidFill>
                  <a:srgbClr val="131416"/>
                </a:solidFill>
                <a:latin typeface="Open Sans"/>
                <a:ea typeface="Open Sans"/>
                <a:cs typeface="Open Sans"/>
                <a:sym typeface="Open Sans"/>
              </a:rPr>
              <a:t> </a:t>
            </a:r>
            <a:r>
              <a:rPr b="0" i="0" lang="en-US" sz="3399" u="none" cap="none" strike="noStrike">
                <a:solidFill>
                  <a:srgbClr val="131416"/>
                </a:solidFill>
                <a:latin typeface="Open Sans"/>
                <a:ea typeface="Open Sans"/>
                <a:cs typeface="Open Sans"/>
                <a:sym typeface="Open Sans"/>
              </a:rPr>
              <a:t>Es aquel en que concluimos </a:t>
            </a:r>
            <a:r>
              <a:rPr b="0" i="0" lang="en-US" sz="3399" u="none" cap="none" strike="noStrike">
                <a:solidFill>
                  <a:srgbClr val="FF3131"/>
                </a:solidFill>
                <a:latin typeface="Open Sans"/>
                <a:ea typeface="Open Sans"/>
                <a:cs typeface="Open Sans"/>
                <a:sym typeface="Open Sans"/>
              </a:rPr>
              <a:t>ciertos pensamientos particulares a</a:t>
            </a:r>
            <a:endParaRPr/>
          </a:p>
          <a:p>
            <a:pPr indent="0" lvl="0" marL="0" marR="0" rtl="0" algn="just">
              <a:lnSpc>
                <a:spcPct val="140011"/>
              </a:lnSpc>
              <a:spcBef>
                <a:spcPts val="0"/>
              </a:spcBef>
              <a:spcAft>
                <a:spcPts val="0"/>
              </a:spcAft>
              <a:buNone/>
            </a:pPr>
            <a:r>
              <a:rPr b="0" i="0" lang="en-US" sz="3399" u="none" cap="none" strike="noStrike">
                <a:solidFill>
                  <a:srgbClr val="FF3131"/>
                </a:solidFill>
                <a:latin typeface="Open Sans"/>
                <a:ea typeface="Open Sans"/>
                <a:cs typeface="Open Sans"/>
                <a:sym typeface="Open Sans"/>
              </a:rPr>
              <a:t>partir de otros generales. </a:t>
            </a:r>
            <a:endParaRPr/>
          </a:p>
          <a:p>
            <a:pPr indent="0" lvl="0" marL="0" marR="0" rtl="0" algn="just">
              <a:lnSpc>
                <a:spcPct val="140011"/>
              </a:lnSpc>
              <a:spcBef>
                <a:spcPts val="0"/>
              </a:spcBef>
              <a:spcAft>
                <a:spcPts val="0"/>
              </a:spcAft>
              <a:buNone/>
            </a:pPr>
            <a:r>
              <a:t/>
            </a:r>
            <a:endParaRPr b="0" i="0" sz="3399" u="none" cap="none" strike="noStrike">
              <a:solidFill>
                <a:srgbClr val="FF3131"/>
              </a:solidFill>
              <a:latin typeface="Open Sans"/>
              <a:ea typeface="Open Sans"/>
              <a:cs typeface="Open Sans"/>
              <a:sym typeface="Open Sans"/>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Inductivo:</a:t>
            </a:r>
            <a:r>
              <a:rPr b="0" i="0" lang="en-US" sz="3399" u="none" cap="none" strike="noStrike">
                <a:solidFill>
                  <a:srgbClr val="131416"/>
                </a:solidFill>
                <a:latin typeface="Open Sans"/>
                <a:ea typeface="Open Sans"/>
                <a:cs typeface="Open Sans"/>
                <a:sym typeface="Open Sans"/>
              </a:rPr>
              <a:t> En este razonamiento, a partir de un número de observaciones</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particulares, se concluyen leyes generales; o sea aquel en que los casos</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particulares conducen a ideas generales.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p:nvPr/>
        </p:nvSpPr>
        <p:spPr>
          <a:xfrm>
            <a:off x="1510153" y="1876287"/>
            <a:ext cx="5769080" cy="5746003"/>
          </a:xfrm>
          <a:custGeom>
            <a:rect b="b" l="l" r="r" t="t"/>
            <a:pathLst>
              <a:path extrusionOk="0" h="5746003" w="5769080">
                <a:moveTo>
                  <a:pt x="0" y="0"/>
                </a:moveTo>
                <a:lnTo>
                  <a:pt x="5769080" y="0"/>
                </a:lnTo>
                <a:lnTo>
                  <a:pt x="5769080" y="5746003"/>
                </a:lnTo>
                <a:lnTo>
                  <a:pt x="0" y="5746003"/>
                </a:lnTo>
                <a:lnTo>
                  <a:pt x="0" y="0"/>
                </a:lnTo>
                <a:close/>
              </a:path>
            </a:pathLst>
          </a:custGeom>
          <a:blipFill rotWithShape="1">
            <a:blip r:embed="rId3">
              <a:alphaModFix/>
            </a:blip>
            <a:stretch>
              <a:fillRect b="0" l="0" r="0" t="0"/>
            </a:stretch>
          </a:blipFill>
          <a:ln>
            <a:noFill/>
          </a:ln>
        </p:spPr>
      </p:sp>
      <p:sp>
        <p:nvSpPr>
          <p:cNvPr id="202" name="Google Shape;202;p13"/>
          <p:cNvSpPr txBox="1"/>
          <p:nvPr/>
        </p:nvSpPr>
        <p:spPr>
          <a:xfrm>
            <a:off x="8917250" y="1000125"/>
            <a:ext cx="786270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LA INFERENCIA</a:t>
            </a:r>
            <a:endParaRPr/>
          </a:p>
        </p:txBody>
      </p:sp>
      <p:sp>
        <p:nvSpPr>
          <p:cNvPr id="203" name="Google Shape;203;p13"/>
          <p:cNvSpPr txBox="1"/>
          <p:nvPr/>
        </p:nvSpPr>
        <p:spPr>
          <a:xfrm>
            <a:off x="9676691" y="2503665"/>
            <a:ext cx="8296109" cy="35807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 una operación lógica que se efectúa en el razonamiento, la cual consiste en derivar o inducir una conclusión a partir de una o varias premisas. Se pueden clasificar de acuerdo con el número de premisas que contenga el razonamiento.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p:nvPr/>
        </p:nvSpPr>
        <p:spPr>
          <a:xfrm>
            <a:off x="620041" y="2930845"/>
            <a:ext cx="7997393" cy="4124960"/>
          </a:xfrm>
          <a:custGeom>
            <a:rect b="b" l="l" r="r" t="t"/>
            <a:pathLst>
              <a:path extrusionOk="0" h="4124960" w="7997393">
                <a:moveTo>
                  <a:pt x="0" y="0"/>
                </a:moveTo>
                <a:lnTo>
                  <a:pt x="7997393" y="0"/>
                </a:lnTo>
                <a:lnTo>
                  <a:pt x="7997393" y="4124959"/>
                </a:lnTo>
                <a:lnTo>
                  <a:pt x="0" y="4124959"/>
                </a:lnTo>
                <a:lnTo>
                  <a:pt x="0" y="0"/>
                </a:lnTo>
                <a:close/>
              </a:path>
            </a:pathLst>
          </a:custGeom>
          <a:blipFill rotWithShape="1">
            <a:blip r:embed="rId3">
              <a:alphaModFix/>
            </a:blip>
            <a:stretch>
              <a:fillRect b="0" l="0" r="-41310" t="0"/>
            </a:stretch>
          </a:blipFill>
          <a:ln>
            <a:noFill/>
          </a:ln>
        </p:spPr>
      </p:sp>
      <p:sp>
        <p:nvSpPr>
          <p:cNvPr id="209" name="Google Shape;209;p14"/>
          <p:cNvSpPr txBox="1"/>
          <p:nvPr/>
        </p:nvSpPr>
        <p:spPr>
          <a:xfrm>
            <a:off x="620041" y="263525"/>
            <a:ext cx="17136058" cy="150177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REGLAS DE INFERENCIA</a:t>
            </a:r>
            <a:endParaRPr/>
          </a:p>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MODUS PONENDO PONEN (PP)</a:t>
            </a:r>
            <a:endParaRPr/>
          </a:p>
        </p:txBody>
      </p:sp>
      <p:sp>
        <p:nvSpPr>
          <p:cNvPr id="210" name="Google Shape;210;p14"/>
          <p:cNvSpPr txBox="1"/>
          <p:nvPr/>
        </p:nvSpPr>
        <p:spPr>
          <a:xfrm>
            <a:off x="9676691" y="2503665"/>
            <a:ext cx="8296109" cy="59810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 regla indica que dos proposiciones de la forma (p=&gt;qy p, se puede deducir</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q.) Esta regla se aplica a la forma de las proposiciones, no importa el contenido de p o de q, ya que si tenemos una proposición condicional (p =&gt; q) y su antecedente (p) sucede, entonces sobreviene el consecuente (q). Tanto p como q pueden ser proposiciones moleculares o compuestas.</a:t>
            </a:r>
            <a:r>
              <a:rPr b="1" i="0" lang="en-US" sz="3399" u="none" cap="none" strike="noStrike">
                <a:solidFill>
                  <a:srgbClr val="131416"/>
                </a:solidFill>
                <a:latin typeface="Open Sans"/>
                <a:ea typeface="Open Sans"/>
                <a:cs typeface="Open Sans"/>
                <a:sym typeface="Open Sans"/>
              </a:rPr>
              <a:t> </a:t>
            </a:r>
            <a:r>
              <a:rPr b="1" i="0" lang="en-US" sz="3399" u="none" cap="none" strike="noStrike">
                <a:solidFill>
                  <a:srgbClr val="FF3131"/>
                </a:solidFill>
                <a:latin typeface="Open Sans"/>
                <a:ea typeface="Open Sans"/>
                <a:cs typeface="Open Sans"/>
                <a:sym typeface="Open Sans"/>
              </a:rPr>
              <a:t>Ejemplo: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5"/>
          <p:cNvSpPr/>
          <p:nvPr/>
        </p:nvSpPr>
        <p:spPr>
          <a:xfrm>
            <a:off x="11440706" y="7506093"/>
            <a:ext cx="2974288" cy="2353283"/>
          </a:xfrm>
          <a:custGeom>
            <a:rect b="b" l="l" r="r" t="t"/>
            <a:pathLst>
              <a:path extrusionOk="0" h="2353283" w="2974288">
                <a:moveTo>
                  <a:pt x="0" y="0"/>
                </a:moveTo>
                <a:lnTo>
                  <a:pt x="2974289" y="0"/>
                </a:lnTo>
                <a:lnTo>
                  <a:pt x="2974289" y="2353283"/>
                </a:lnTo>
                <a:lnTo>
                  <a:pt x="0" y="2353283"/>
                </a:lnTo>
                <a:lnTo>
                  <a:pt x="0" y="0"/>
                </a:lnTo>
                <a:close/>
              </a:path>
            </a:pathLst>
          </a:custGeom>
          <a:blipFill rotWithShape="1">
            <a:blip r:embed="rId3">
              <a:alphaModFix/>
            </a:blip>
            <a:stretch>
              <a:fillRect b="0" l="0" r="0" t="0"/>
            </a:stretch>
          </a:blipFill>
          <a:ln>
            <a:noFill/>
          </a:ln>
        </p:spPr>
      </p:sp>
      <p:sp>
        <p:nvSpPr>
          <p:cNvPr id="216" name="Google Shape;216;p15"/>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MODUS TOLLENDOTOLLENS (TT)</a:t>
            </a:r>
            <a:endParaRPr/>
          </a:p>
        </p:txBody>
      </p:sp>
      <p:sp>
        <p:nvSpPr>
          <p:cNvPr id="217" name="Google Shape;217;p15"/>
          <p:cNvSpPr txBox="1"/>
          <p:nvPr/>
        </p:nvSpPr>
        <p:spPr>
          <a:xfrm>
            <a:off x="9676691" y="2503665"/>
            <a:ext cx="8296109" cy="53809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 regla permite pasar a dos premisas (1), una premisa condicional y (2) una</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proposición que niega el consecuente, a una conclusión donde le antecedente queda negado. Tanto el antecedente como el consecuente pueden ser proposiciones simples o compuestas.</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 regla es de la forma:</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
        <p:nvSpPr>
          <p:cNvPr id="218" name="Google Shape;218;p15"/>
          <p:cNvSpPr txBox="1"/>
          <p:nvPr/>
        </p:nvSpPr>
        <p:spPr>
          <a:xfrm>
            <a:off x="1212760" y="2419667"/>
            <a:ext cx="8296109" cy="47809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0" lvl="0" marL="0" marR="0" rtl="0" algn="just">
              <a:lnSpc>
                <a:spcPct val="140011"/>
              </a:lnSpc>
              <a:spcBef>
                <a:spcPts val="0"/>
              </a:spcBef>
              <a:spcAft>
                <a:spcPts val="0"/>
              </a:spcAft>
              <a:buNone/>
            </a:pPr>
            <a:r>
              <a:t/>
            </a:r>
            <a:endParaRPr b="1" i="0" sz="3399" u="none" cap="none" strike="noStrike">
              <a:solidFill>
                <a:srgbClr val="FF3131"/>
              </a:solidFill>
              <a:latin typeface="Open Sans"/>
              <a:ea typeface="Open Sans"/>
              <a:cs typeface="Open Sans"/>
              <a:sym typeface="Open Sans"/>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Si como harinas, entonces engordo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No Engordo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No como harinas</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Si me pagan, voy al Puerto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No voy al puerto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No me pagan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6"/>
          <p:cNvSpPr/>
          <p:nvPr/>
        </p:nvSpPr>
        <p:spPr>
          <a:xfrm>
            <a:off x="8272283" y="6751109"/>
            <a:ext cx="10015717" cy="2507191"/>
          </a:xfrm>
          <a:custGeom>
            <a:rect b="b" l="l" r="r" t="t"/>
            <a:pathLst>
              <a:path extrusionOk="0" h="2507191" w="10015717">
                <a:moveTo>
                  <a:pt x="0" y="0"/>
                </a:moveTo>
                <a:lnTo>
                  <a:pt x="10015717" y="0"/>
                </a:lnTo>
                <a:lnTo>
                  <a:pt x="10015717" y="2507191"/>
                </a:lnTo>
                <a:lnTo>
                  <a:pt x="0" y="2507191"/>
                </a:lnTo>
                <a:lnTo>
                  <a:pt x="0" y="0"/>
                </a:lnTo>
                <a:close/>
              </a:path>
            </a:pathLst>
          </a:custGeom>
          <a:blipFill rotWithShape="1">
            <a:blip r:embed="rId3">
              <a:alphaModFix/>
            </a:blip>
            <a:stretch>
              <a:fillRect b="0" l="0" r="-8794" t="0"/>
            </a:stretch>
          </a:blipFill>
          <a:ln>
            <a:noFill/>
          </a:ln>
        </p:spPr>
      </p:sp>
      <p:sp>
        <p:nvSpPr>
          <p:cNvPr id="224" name="Google Shape;224;p16"/>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MODUS TOLLENDO PONENS (TT)</a:t>
            </a:r>
            <a:endParaRPr/>
          </a:p>
        </p:txBody>
      </p:sp>
      <p:sp>
        <p:nvSpPr>
          <p:cNvPr id="225" name="Google Shape;225;p16"/>
          <p:cNvSpPr txBox="1"/>
          <p:nvPr/>
        </p:nvSpPr>
        <p:spPr>
          <a:xfrm>
            <a:off x="9676691" y="2503665"/>
            <a:ext cx="8296109" cy="35807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 regla indica que al negar un miembro de una disyunción, se afirma el otro miembro. Esta regla no está limitada a proposiciones simples, p y q pueden ser proposiciones s compuestas. Esta regla es de la forma siguiente:</a:t>
            </a:r>
            <a:endParaRPr/>
          </a:p>
        </p:txBody>
      </p:sp>
      <p:sp>
        <p:nvSpPr>
          <p:cNvPr id="226" name="Google Shape;226;p16"/>
          <p:cNvSpPr txBox="1"/>
          <p:nvPr/>
        </p:nvSpPr>
        <p:spPr>
          <a:xfrm>
            <a:off x="1212760" y="2419667"/>
            <a:ext cx="8296109"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0" lvl="0" marL="0" marR="0" rtl="0" algn="just">
              <a:lnSpc>
                <a:spcPct val="140011"/>
              </a:lnSpc>
              <a:spcBef>
                <a:spcPts val="0"/>
              </a:spcBef>
              <a:spcAft>
                <a:spcPts val="0"/>
              </a:spcAft>
              <a:buNone/>
            </a:pPr>
            <a:r>
              <a:t/>
            </a:r>
            <a:endParaRPr b="1" i="0" sz="3399" u="none" cap="none" strike="noStrike">
              <a:solidFill>
                <a:srgbClr val="FF3131"/>
              </a:solidFill>
              <a:latin typeface="Open Sans"/>
              <a:ea typeface="Open Sans"/>
              <a:cs typeface="Open Sans"/>
              <a:sym typeface="Open Sans"/>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Hoy iré al futbol o al teatro</a:t>
            </a:r>
            <a:endParaRPr/>
          </a:p>
          <a:p>
            <a:pPr indent="0" lvl="0" marL="0" marR="0" rtl="0" algn="just">
              <a:lnSpc>
                <a:spcPct val="140011"/>
              </a:lnSpc>
              <a:spcBef>
                <a:spcPts val="0"/>
              </a:spcBef>
              <a:spcAft>
                <a:spcPts val="0"/>
              </a:spcAft>
              <a:buNone/>
            </a:pPr>
            <a:r>
              <a:rPr b="0" i="0" lang="en-US" sz="3399" u="sng" cap="none" strike="noStrike">
                <a:solidFill>
                  <a:srgbClr val="131416"/>
                </a:solidFill>
                <a:latin typeface="Open Sans"/>
                <a:ea typeface="Open Sans"/>
                <a:cs typeface="Open Sans"/>
                <a:sym typeface="Open Sans"/>
              </a:rPr>
              <a:t>No fui al futbol</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Implica que fui al teatro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7"/>
          <p:cNvSpPr/>
          <p:nvPr/>
        </p:nvSpPr>
        <p:spPr>
          <a:xfrm>
            <a:off x="10638586" y="6937355"/>
            <a:ext cx="6372319" cy="1351059"/>
          </a:xfrm>
          <a:custGeom>
            <a:rect b="b" l="l" r="r" t="t"/>
            <a:pathLst>
              <a:path extrusionOk="0" h="1351059" w="6372319">
                <a:moveTo>
                  <a:pt x="0" y="0"/>
                </a:moveTo>
                <a:lnTo>
                  <a:pt x="6372319" y="0"/>
                </a:lnTo>
                <a:lnTo>
                  <a:pt x="6372319" y="1351060"/>
                </a:lnTo>
                <a:lnTo>
                  <a:pt x="0" y="1351060"/>
                </a:lnTo>
                <a:lnTo>
                  <a:pt x="0" y="0"/>
                </a:lnTo>
                <a:close/>
              </a:path>
            </a:pathLst>
          </a:custGeom>
          <a:blipFill rotWithShape="1">
            <a:blip r:embed="rId3">
              <a:alphaModFix/>
            </a:blip>
            <a:stretch>
              <a:fillRect b="0" l="0" r="0" t="0"/>
            </a:stretch>
          </a:blipFill>
          <a:ln>
            <a:noFill/>
          </a:ln>
        </p:spPr>
      </p:sp>
      <p:sp>
        <p:nvSpPr>
          <p:cNvPr id="232" name="Google Shape;232;p17"/>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DOBLE NEGACIÓN</a:t>
            </a:r>
            <a:endParaRPr/>
          </a:p>
        </p:txBody>
      </p:sp>
      <p:sp>
        <p:nvSpPr>
          <p:cNvPr id="233" name="Google Shape;233;p17"/>
          <p:cNvSpPr txBox="1"/>
          <p:nvPr/>
        </p:nvSpPr>
        <p:spPr>
          <a:xfrm>
            <a:off x="9676691" y="2503665"/>
            <a:ext cx="8296109" cy="41808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 regla permite pasar de una premisa única a la conclusión. La premisa puede ser compuesta.</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Simbolizamos ambos casos de la siguiente manera:</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
        <p:nvSpPr>
          <p:cNvPr id="234" name="Google Shape;234;p17"/>
          <p:cNvSpPr txBox="1"/>
          <p:nvPr/>
        </p:nvSpPr>
        <p:spPr>
          <a:xfrm>
            <a:off x="620041" y="2119630"/>
            <a:ext cx="8296109" cy="59810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0" lvl="0" marL="0" marR="0" rtl="0" algn="just">
              <a:lnSpc>
                <a:spcPct val="140011"/>
              </a:lnSpc>
              <a:spcBef>
                <a:spcPts val="0"/>
              </a:spcBef>
              <a:spcAft>
                <a:spcPts val="0"/>
              </a:spcAft>
              <a:buNone/>
            </a:pPr>
            <a:r>
              <a:t/>
            </a:r>
            <a:endParaRPr b="1" i="0" sz="3399" u="none" cap="none" strike="noStrike">
              <a:solidFill>
                <a:srgbClr val="FF3131"/>
              </a:solidFill>
              <a:latin typeface="Open Sans"/>
              <a:ea typeface="Open Sans"/>
              <a:cs typeface="Open Sans"/>
              <a:sym typeface="Open Sans"/>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No es cierto que Carlos no tiene novia</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La conclusión que podemos obtener es: Carlos tiene novia.</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Arturo es casado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Se puede concluir que: Es falso que Arturo no es casado.</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p:nvPr/>
        </p:nvSpPr>
        <p:spPr>
          <a:xfrm>
            <a:off x="10896490" y="5708853"/>
            <a:ext cx="5855411" cy="3314701"/>
          </a:xfrm>
          <a:custGeom>
            <a:rect b="b" l="l" r="r" t="t"/>
            <a:pathLst>
              <a:path extrusionOk="0" h="3314701" w="5855411">
                <a:moveTo>
                  <a:pt x="0" y="0"/>
                </a:moveTo>
                <a:lnTo>
                  <a:pt x="5855412" y="0"/>
                </a:lnTo>
                <a:lnTo>
                  <a:pt x="5855412" y="3314701"/>
                </a:lnTo>
                <a:lnTo>
                  <a:pt x="0" y="3314701"/>
                </a:lnTo>
                <a:lnTo>
                  <a:pt x="0" y="0"/>
                </a:lnTo>
                <a:close/>
              </a:path>
            </a:pathLst>
          </a:custGeom>
          <a:blipFill rotWithShape="1">
            <a:blip r:embed="rId3">
              <a:alphaModFix/>
            </a:blip>
            <a:stretch>
              <a:fillRect b="0" l="0" r="0" t="0"/>
            </a:stretch>
          </a:blipFill>
          <a:ln>
            <a:noFill/>
          </a:ln>
        </p:spPr>
      </p:sp>
      <p:sp>
        <p:nvSpPr>
          <p:cNvPr id="240" name="Google Shape;240;p18"/>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CONJUNCIÓN</a:t>
            </a:r>
            <a:endParaRPr/>
          </a:p>
        </p:txBody>
      </p:sp>
      <p:sp>
        <p:nvSpPr>
          <p:cNvPr id="241" name="Google Shape;241;p18"/>
          <p:cNvSpPr txBox="1"/>
          <p:nvPr/>
        </p:nvSpPr>
        <p:spPr>
          <a:xfrm>
            <a:off x="9676141" y="2411224"/>
            <a:ext cx="8296109"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 regla dice que si unimos dos proposiciones verdaderas (p,q) mediante el conectivo “y” obtenemos las proposición verdadera p ^ q.</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
        <p:nvSpPr>
          <p:cNvPr id="242" name="Google Shape;242;p18"/>
          <p:cNvSpPr txBox="1"/>
          <p:nvPr/>
        </p:nvSpPr>
        <p:spPr>
          <a:xfrm>
            <a:off x="620041" y="2119630"/>
            <a:ext cx="8296109" cy="65811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0" lvl="0" marL="0" marR="0" rtl="0" algn="just">
              <a:lnSpc>
                <a:spcPct val="140011"/>
              </a:lnSpc>
              <a:spcBef>
                <a:spcPts val="0"/>
              </a:spcBef>
              <a:spcAft>
                <a:spcPts val="0"/>
              </a:spcAft>
              <a:buNone/>
            </a:pPr>
            <a:r>
              <a:t/>
            </a:r>
            <a:endParaRPr b="1" i="0" sz="3399" u="none" cap="none" strike="noStrike">
              <a:solidFill>
                <a:srgbClr val="FF3131"/>
              </a:solidFill>
              <a:latin typeface="Open Sans"/>
              <a:ea typeface="Open Sans"/>
              <a:cs typeface="Open Sans"/>
              <a:sym typeface="Open Sans"/>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P: soy alto</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Q: soy fuerte</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Conclusión: Soy alto y fuerte es verdadera.</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R: Esta casa es antigua</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S: Esta casa es azul</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Conclusión: Esta casa es antigua y azul</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p:nvPr/>
        </p:nvSpPr>
        <p:spPr>
          <a:xfrm>
            <a:off x="2007812" y="7275346"/>
            <a:ext cx="4796219" cy="2205976"/>
          </a:xfrm>
          <a:custGeom>
            <a:rect b="b" l="l" r="r" t="t"/>
            <a:pathLst>
              <a:path extrusionOk="0" h="2205976" w="4796219">
                <a:moveTo>
                  <a:pt x="0" y="0"/>
                </a:moveTo>
                <a:lnTo>
                  <a:pt x="4796219" y="0"/>
                </a:lnTo>
                <a:lnTo>
                  <a:pt x="4796219" y="2205976"/>
                </a:lnTo>
                <a:lnTo>
                  <a:pt x="0" y="2205976"/>
                </a:lnTo>
                <a:lnTo>
                  <a:pt x="0" y="0"/>
                </a:lnTo>
                <a:close/>
              </a:path>
            </a:pathLst>
          </a:custGeom>
          <a:blipFill rotWithShape="1">
            <a:blip r:embed="rId3">
              <a:alphaModFix/>
            </a:blip>
            <a:stretch>
              <a:fillRect b="0" l="0" r="0" t="0"/>
            </a:stretch>
          </a:blipFill>
          <a:ln>
            <a:noFill/>
          </a:ln>
        </p:spPr>
      </p:sp>
      <p:sp>
        <p:nvSpPr>
          <p:cNvPr id="248" name="Google Shape;248;p19"/>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SIMPLIFICACIÓN</a:t>
            </a:r>
            <a:endParaRPr/>
          </a:p>
        </p:txBody>
      </p:sp>
      <p:sp>
        <p:nvSpPr>
          <p:cNvPr id="249" name="Google Shape;249;p19"/>
          <p:cNvSpPr txBox="1"/>
          <p:nvPr/>
        </p:nvSpPr>
        <p:spPr>
          <a:xfrm>
            <a:off x="9676141" y="2411224"/>
            <a:ext cx="8296109"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En el caso contrario de la adjunción. Si se tiene una premisa compuesta que utiliza el conectivo “y” y es verdadera, puede deducirse que ambas premisas simples son verdaderas.</a:t>
            </a:r>
            <a:endParaRPr/>
          </a:p>
        </p:txBody>
      </p:sp>
      <p:sp>
        <p:nvSpPr>
          <p:cNvPr id="250" name="Google Shape;250;p19"/>
          <p:cNvSpPr txBox="1"/>
          <p:nvPr/>
        </p:nvSpPr>
        <p:spPr>
          <a:xfrm>
            <a:off x="620041" y="2119630"/>
            <a:ext cx="8296109" cy="47809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Hoy es viernes y mañana será sábado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Conclusiones: (ambas verdaderas)</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Hoy es viernes</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Mañana será Sábado</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Simbolizando: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p:nvPr/>
        </p:nvSpPr>
        <p:spPr>
          <a:xfrm>
            <a:off x="2232518" y="3958101"/>
            <a:ext cx="5935010" cy="2831934"/>
          </a:xfrm>
          <a:custGeom>
            <a:rect b="b" l="l" r="r" t="t"/>
            <a:pathLst>
              <a:path extrusionOk="0" h="2831934" w="5935010">
                <a:moveTo>
                  <a:pt x="0" y="0"/>
                </a:moveTo>
                <a:lnTo>
                  <a:pt x="5935010" y="0"/>
                </a:lnTo>
                <a:lnTo>
                  <a:pt x="5935010" y="2831934"/>
                </a:lnTo>
                <a:lnTo>
                  <a:pt x="0" y="2831934"/>
                </a:lnTo>
                <a:lnTo>
                  <a:pt x="0" y="0"/>
                </a:lnTo>
                <a:close/>
              </a:path>
            </a:pathLst>
          </a:custGeom>
          <a:blipFill rotWithShape="1">
            <a:blip r:embed="rId3">
              <a:alphaModFix/>
            </a:blip>
            <a:stretch>
              <a:fillRect b="0" l="0" r="0" t="0"/>
            </a:stretch>
          </a:blipFill>
          <a:ln>
            <a:noFill/>
          </a:ln>
        </p:spPr>
      </p:sp>
      <p:sp>
        <p:nvSpPr>
          <p:cNvPr id="256" name="Google Shape;256;p20"/>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LEY DE SILOGISMO HIPOTÉTICO</a:t>
            </a:r>
            <a:endParaRPr/>
          </a:p>
        </p:txBody>
      </p:sp>
      <p:sp>
        <p:nvSpPr>
          <p:cNvPr id="257" name="Google Shape;257;p20"/>
          <p:cNvSpPr txBox="1"/>
          <p:nvPr/>
        </p:nvSpPr>
        <p:spPr>
          <a:xfrm>
            <a:off x="1338901" y="1908240"/>
            <a:ext cx="16126564" cy="307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Podemos decir que, si una causa sigue una consecuencia y esta consecuencia a su vez causa una segunda consecuencia, se puede decir que, esa primera causa es causa de la segunda consecuencia.</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p:txBody>
      </p:sp>
      <p:sp>
        <p:nvSpPr>
          <p:cNvPr id="258" name="Google Shape;258;p20"/>
          <p:cNvSpPr txBox="1"/>
          <p:nvPr/>
        </p:nvSpPr>
        <p:spPr>
          <a:xfrm>
            <a:off x="1338901" y="6885035"/>
            <a:ext cx="16126564" cy="307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FF3131"/>
                </a:solidFill>
                <a:latin typeface="Open Sans"/>
                <a:ea typeface="Open Sans"/>
                <a:cs typeface="Open Sans"/>
                <a:sym typeface="Open Sans"/>
              </a:rPr>
              <a:t>Ejemplo:</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Si la bola roja golpea a la bola blanca, la bola blanca se mueve</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Si la bola blanca golpea a la bola negra, la bola negra se mueve</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Conclusión: Si la bola roja golpea a la bola blanca, la bola negra se mueve</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1"/>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LEY DE ACCIÓN</a:t>
            </a:r>
            <a:endParaRPr/>
          </a:p>
        </p:txBody>
      </p:sp>
      <p:sp>
        <p:nvSpPr>
          <p:cNvPr id="264" name="Google Shape;264;p21"/>
          <p:cNvSpPr txBox="1"/>
          <p:nvPr/>
        </p:nvSpPr>
        <p:spPr>
          <a:xfrm>
            <a:off x="1338901" y="1908240"/>
            <a:ext cx="16126564" cy="2454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Esta ley afirma que si se tiene una proposición que es cierta, entonces la disyunción de esa proposición y otra cualquier ha de ser cierta también.</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p:txBody>
      </p:sp>
      <p:sp>
        <p:nvSpPr>
          <p:cNvPr id="265" name="Google Shape;265;p21"/>
          <p:cNvSpPr txBox="1"/>
          <p:nvPr/>
        </p:nvSpPr>
        <p:spPr>
          <a:xfrm>
            <a:off x="1338901" y="3348199"/>
            <a:ext cx="16126564" cy="678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FF3131"/>
                </a:solidFill>
                <a:latin typeface="Open Sans"/>
                <a:ea typeface="Open Sans"/>
                <a:cs typeface="Open Sans"/>
                <a:sym typeface="Open Sans"/>
              </a:rPr>
              <a:t>Ejemplo:</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Si se da como cierta la premisa: Esta casa es Azul</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Entonces se sabe que la proposición: Esta casa es azul o blanca, es cierta</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Lo mismo ocurriría con: Esta casa es azul o es antigua o Esta casa es azul o es grande.</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La simbolización es la siguiente:</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Dada la proposición verdadera: p</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Se puede concluir que son verdaderas:</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p v q</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p v t</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nvSpPr>
        <p:spPr>
          <a:xfrm>
            <a:off x="1132736" y="1786238"/>
            <a:ext cx="16126564" cy="691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Falacia, viene del latín fallare; cuyo significado es: engañar. Es un razonamiento inválido que pretende su validez, a partir de elementos psicológicos y no lógicos; es decir que, a través de la intimidación, la amenaza, el insulto, etc. Cuando las únicas razones que se deben atender para la validez de un razonamiento tienen que ser lógicas.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Existen gran variedad de falacias, pero las Causales se dividen en: Falacias de Atingencia y Falacias de Ambigüedad.</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131416"/>
                </a:solidFill>
                <a:latin typeface="Open Sans"/>
                <a:ea typeface="Open Sans"/>
                <a:cs typeface="Open Sans"/>
                <a:sym typeface="Open Sans"/>
              </a:rPr>
              <a:t>Ejemplo de Falacias Causales:</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Si puedo cargar piezas de mi automóvil, puedo cargar mi automóvil. </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Siempre me han gustado las películas de suspenso que exhiben en este cine. Seguramente la función de esta noche me gustara.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Los Reyes Magos existen porque son Magos.</a:t>
            </a:r>
            <a:endParaRPr/>
          </a:p>
        </p:txBody>
      </p:sp>
      <p:sp>
        <p:nvSpPr>
          <p:cNvPr id="271" name="Google Shape;271;p22"/>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FALACIAS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3"/>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FALACIAS LÓGICAS</a:t>
            </a:r>
            <a:endParaRPr/>
          </a:p>
        </p:txBody>
      </p:sp>
      <p:sp>
        <p:nvSpPr>
          <p:cNvPr id="277" name="Google Shape;277;p23"/>
          <p:cNvSpPr txBox="1"/>
          <p:nvPr/>
        </p:nvSpPr>
        <p:spPr>
          <a:xfrm>
            <a:off x="937509" y="1665077"/>
            <a:ext cx="16412982" cy="877162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4160" u="none" cap="none" strike="noStrike">
                <a:solidFill>
                  <a:srgbClr val="131416"/>
                </a:solidFill>
                <a:latin typeface="Open Sans"/>
                <a:ea typeface="Open Sans"/>
                <a:cs typeface="Open Sans"/>
                <a:sym typeface="Open Sans"/>
              </a:rPr>
              <a:t>Todas las falacias que realizan una vulneración en cualquier regla lógica, esto quiere decir que por ejemplo se logra argumentar de una manera falaz cuando en vez de presentar razones adecuadas en contra de la posición que defiende una persona.</a:t>
            </a:r>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4160" u="none" cap="none" strike="noStrike">
                <a:solidFill>
                  <a:srgbClr val="131416"/>
                </a:solidFill>
                <a:latin typeface="Open Sans"/>
                <a:ea typeface="Open Sans"/>
                <a:cs typeface="Open Sans"/>
                <a:sym typeface="Open Sans"/>
              </a:rPr>
              <a:t>Las Falacias Lógicas se suelen clasificar en:</a:t>
            </a:r>
            <a:endParaRPr/>
          </a:p>
          <a:p>
            <a:pPr indent="-449130" lvl="1" marL="898260" marR="0" rtl="0" algn="just">
              <a:lnSpc>
                <a:spcPct val="140000"/>
              </a:lnSpc>
              <a:spcBef>
                <a:spcPts val="0"/>
              </a:spcBef>
              <a:spcAft>
                <a:spcPts val="0"/>
              </a:spcAft>
              <a:buClr>
                <a:srgbClr val="131416"/>
              </a:buClr>
              <a:buSzPts val="4160"/>
              <a:buFont typeface="Arial"/>
              <a:buChar char="•"/>
            </a:pPr>
            <a:r>
              <a:rPr b="0" i="0" lang="en-US" sz="4160" u="none" cap="none" strike="noStrike">
                <a:solidFill>
                  <a:srgbClr val="131416"/>
                </a:solidFill>
                <a:latin typeface="Open Sans"/>
                <a:ea typeface="Open Sans"/>
                <a:cs typeface="Open Sans"/>
                <a:sym typeface="Open Sans"/>
              </a:rPr>
              <a:t>Formales</a:t>
            </a:r>
            <a:endParaRPr/>
          </a:p>
          <a:p>
            <a:pPr indent="-449130" lvl="1" marL="898260" marR="0" rtl="0" algn="just">
              <a:lnSpc>
                <a:spcPct val="140000"/>
              </a:lnSpc>
              <a:spcBef>
                <a:spcPts val="0"/>
              </a:spcBef>
              <a:spcAft>
                <a:spcPts val="0"/>
              </a:spcAft>
              <a:buClr>
                <a:srgbClr val="131416"/>
              </a:buClr>
              <a:buSzPts val="4160"/>
              <a:buFont typeface="Arial"/>
              <a:buChar char="•"/>
            </a:pPr>
            <a:r>
              <a:rPr b="0" i="0" lang="en-US" sz="4160" u="none" cap="none" strike="noStrike">
                <a:solidFill>
                  <a:srgbClr val="131416"/>
                </a:solidFill>
                <a:latin typeface="Open Sans"/>
                <a:ea typeface="Open Sans"/>
                <a:cs typeface="Open Sans"/>
                <a:sym typeface="Open Sans"/>
              </a:rPr>
              <a:t>No Formales</a:t>
            </a:r>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4"/>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FALACIA DE ATINGENCIA</a:t>
            </a:r>
            <a:endParaRPr/>
          </a:p>
        </p:txBody>
      </p:sp>
      <p:sp>
        <p:nvSpPr>
          <p:cNvPr id="283" name="Google Shape;283;p24"/>
          <p:cNvSpPr txBox="1"/>
          <p:nvPr/>
        </p:nvSpPr>
        <p:spPr>
          <a:xfrm>
            <a:off x="559774" y="1659007"/>
            <a:ext cx="16126564" cy="691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Estas falacias se cometen cuando no existe ninguna atingencia (relación, conexión 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correspondencia) lógica, aunque sí psicológica, entre las premisas y conclusión. La verdad o falsedad de las premisas no tiene ninguna relación lógica con la verdad o falsedad de la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conclusión; pero, si existe un nexo entre premisas y conclusión, aunque es de carácter</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psicológico. En otras palabras, la conclusión no tiene nada que ver con lo que se dicen en las premisas, en términos lógicos.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agua es indispensable para todo ser humano; por lo tanto, debe ser</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económicamente factible el que todo habitante de la ciudad tenga agua potable en su</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casa.</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5"/>
          <p:cNvSpPr txBox="1"/>
          <p:nvPr/>
        </p:nvSpPr>
        <p:spPr>
          <a:xfrm>
            <a:off x="1028700" y="782003"/>
            <a:ext cx="15884411" cy="10407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CLASIFICACIÓN DE LAS FALACIAS DE ATINGENCIA</a:t>
            </a:r>
            <a:endParaRPr/>
          </a:p>
        </p:txBody>
      </p:sp>
      <p:sp>
        <p:nvSpPr>
          <p:cNvPr id="289" name="Google Shape;289;p25"/>
          <p:cNvSpPr txBox="1"/>
          <p:nvPr/>
        </p:nvSpPr>
        <p:spPr>
          <a:xfrm>
            <a:off x="559774" y="2297254"/>
            <a:ext cx="16126564" cy="531495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Contra la Persona (Argumentum ad hominem)</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Apelación a la Fuerza (Argumentum ad baculum)</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Argumento por ignorancia (Argumentum ad ignorantiam)</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Llamado a la piedad (Argumentum ad misericordiam)</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Aceptación popular (Argumentum ad populum)</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Apelación a la autoridad (Argumentum ad verecundiam)</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causa falsa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pregunta compleja</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CONTRA LA PERSONA</a:t>
            </a:r>
            <a:endParaRPr/>
          </a:p>
        </p:txBody>
      </p:sp>
      <p:sp>
        <p:nvSpPr>
          <p:cNvPr id="295" name="Google Shape;295;p26"/>
          <p:cNvSpPr txBox="1"/>
          <p:nvPr/>
        </p:nvSpPr>
        <p:spPr>
          <a:xfrm>
            <a:off x="559774" y="1659007"/>
            <a:ext cx="16126564" cy="8515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se comete cuando la refutación lógica de las ideas o razones cede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su lugar al insulto y a la calumnia dirigida a la persona que expone argumentos.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Este tipo de falacia tiene dos variantes: Cuando una persona se le insulta directamente,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en lugar de demostrar la falsedad de sus ideas, se comete una falacia contra la persona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ofensiva, pero si en lugar de refutar ideas o razones, se deducen elementos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circunstanciales, en que se encuentran el interlocutor, entonces se comenta falacia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contra la persona circunstancial.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propuesta del aumento salarial hecha por el diputado de la oposición, no puede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ninguna manera ser aceptada, pues lo que él trata de hacer es recaudar la mayor</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cantidad de votos posibles”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No se analiza lo que se ha expuesto sobre la posibilidad del aumento salarial, sino que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recurre al subterfugio para rechazar la propuesta.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es una falacia contra la persona circunstancial.</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7"/>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APELACIÓN A LA FUERZA</a:t>
            </a:r>
            <a:endParaRPr/>
          </a:p>
        </p:txBody>
      </p:sp>
      <p:sp>
        <p:nvSpPr>
          <p:cNvPr id="301" name="Google Shape;301;p27"/>
          <p:cNvSpPr txBox="1"/>
          <p:nvPr/>
        </p:nvSpPr>
        <p:spPr>
          <a:xfrm>
            <a:off x="559774" y="1659007"/>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clase de falacia se comete cuando en lugar de la conexión lógica de la demostración, hacemos uso de la amenaza ya sea velada o abierta, a fin de lograr la validación del argumento. Es una salida fácil para “derrotar” al adversario.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maestro dice “¿Quiere aprobar, ¿verdad? Conviene entonces que te portes bien”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razón que aduce para mostrar la necesidad y utilidad que tiene el alumno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portarse bien no es otra que las consecuencias desagradables que le esperan por el</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poder que tiene sobre él, al no portarse bien.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ARGUMENTO POR IGNORANCIA</a:t>
            </a:r>
            <a:endParaRPr/>
          </a:p>
        </p:txBody>
      </p:sp>
      <p:sp>
        <p:nvSpPr>
          <p:cNvPr id="307" name="Google Shape;307;p28"/>
          <p:cNvSpPr txBox="1"/>
          <p:nvPr/>
        </p:nvSpPr>
        <p:spPr>
          <a:xfrm>
            <a:off x="559774" y="1659007"/>
            <a:ext cx="16126564" cy="6381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se comete cuando se pretende establecer la verdad de un enunciado, a partir del hecho de no poder demostrar su falsedad, o de catalogarlo de falso, porque no se ha podido establecer su verdad.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teorema de las palabras siempre ha sido válido dentro de la geometría euclidiana;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por lo tanto, no puede ser inválido.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hecho de que el teorema de las paralelas se acepte como válido en el sistema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Euclides, no quiere decir que no pueda ser inválido en el futuro, ni tampoco válido. La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conexión lógica sería que hasta ahora y dentro de los límites del sistema euclidiano, el</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teorema es válido.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LLAMADO A LA PIEDAD</a:t>
            </a:r>
            <a:endParaRPr/>
          </a:p>
        </p:txBody>
      </p:sp>
      <p:sp>
        <p:nvSpPr>
          <p:cNvPr id="313" name="Google Shape;313;p29"/>
          <p:cNvSpPr txBox="1"/>
          <p:nvPr/>
        </p:nvSpPr>
        <p:spPr>
          <a:xfrm>
            <a:off x="1080718" y="1922382"/>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clase de falacia se comete cuando se pretende validar o demostrar una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tesis a través de los sentimientos de las personas. La conexión psicológica está en que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pretende que las personas acepten una tesis apelando a sus buenos sentimientos.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Una tesis es válida independientemente de los sentimientos que pueda despertar.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teoría del científico Fulano de Tal es válida pues, el pobre tuvo que trabajar mucho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para obtener el financiamiento para su trabajo.” Se pretende validar la teoría del científico, tratando de despertar sentimientos de piedad o simpatía hacia él.</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0"/>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ACEPTACIÓN POPULAR</a:t>
            </a:r>
            <a:endParaRPr/>
          </a:p>
        </p:txBody>
      </p:sp>
      <p:sp>
        <p:nvSpPr>
          <p:cNvPr id="319" name="Google Shape;319;p30"/>
          <p:cNvSpPr txBox="1"/>
          <p:nvPr/>
        </p:nvSpPr>
        <p:spPr>
          <a:xfrm>
            <a:off x="1080718" y="1922382"/>
            <a:ext cx="16126564" cy="424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es el arma favorita de persuasión del político, el demagogo, el vendedor, etc. Consiste en que se pretende validar ciertas tesis a partir de la persuasión y no de la demostración. Se trata de lograr el asentamiento popular mediante llamados emocionales a la masa y no a través de razones lógicas.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“Los productos de belleza modernos son fisiológicamente adecuados, porque hace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lucir bellas y atractivas a las mujeres. Además, si queremos estar a la moda, los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productos de belleza son indispensables”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1"/>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APELACIÓN A LA AUTORIDAD</a:t>
            </a:r>
            <a:endParaRPr/>
          </a:p>
        </p:txBody>
      </p:sp>
      <p:sp>
        <p:nvSpPr>
          <p:cNvPr id="325" name="Google Shape;325;p31"/>
          <p:cNvSpPr txBox="1"/>
          <p:nvPr/>
        </p:nvSpPr>
        <p:spPr>
          <a:xfrm>
            <a:off x="1080718" y="1922382"/>
            <a:ext cx="16126564" cy="4781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Consiste en admitir como verdaderas las proposiciones, sólo porque éstas provienen de pensadores de renombrado prestigio intelectual o la autoridad administrativa o civil. Se comete esta falacia cuando se cita a una autoridad en cuestiones que están fuera del ámbito de su especialidad.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 los trabajos sobre física que Einstein realizó, especialmente con su Teoría de la relatividad, ha demostrado ser uno de los sabios más grandes de nuestra historia; por ello, sus opiniones sobre política internacional, como la creación de un organismo mundial de gobierno, tiene que ser verdaderas”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CAUSA FALSA</a:t>
            </a:r>
            <a:endParaRPr/>
          </a:p>
        </p:txBody>
      </p:sp>
      <p:sp>
        <p:nvSpPr>
          <p:cNvPr id="331" name="Google Shape;331;p32"/>
          <p:cNvSpPr txBox="1"/>
          <p:nvPr/>
        </p:nvSpPr>
        <p:spPr>
          <a:xfrm>
            <a:off x="1080718" y="1922382"/>
            <a:ext cx="16126564" cy="691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aquella falacia en la que establecemos relaciones causales, a partir de la observación de unos hechos que son anteriores a otros, o que se presentan en forma conjunta, por lo que a unos le asignamos el carácter de causa y a otros el de efecto. Sin embargo, esto no es suficiente para establecer una relación causal.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“Pasteur asistió, en una ocasión a la cura de un rebaño de vacas que estaban enfermas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de ántrax. Los campesinos sometieron a los animales al proceso doloroso de infringirse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heridas en todo el cuerpo, a fin de que, por medio de la sangre, les saliera el mal. De estos animales, muchas sanaron, por lo tanto, supusieron que el procedimiento era adecuado para cura del mal. Sin embargo, años más tarde se llegó a demostrar que la cura era simplemente estadística. Los que sanaron lo hubieran hecho de todas maneras, aunque no los hubieran sometido al tratamiento, pues la única cura solo es posible mediante el tratamiento contra el microbio que causa tal enfermedad”.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3"/>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PREGUNTA COMPLEJA</a:t>
            </a:r>
            <a:endParaRPr/>
          </a:p>
        </p:txBody>
      </p:sp>
      <p:sp>
        <p:nvSpPr>
          <p:cNvPr id="337" name="Google Shape;337;p33"/>
          <p:cNvSpPr txBox="1"/>
          <p:nvPr/>
        </p:nvSpPr>
        <p:spPr>
          <a:xfrm>
            <a:off x="1080718" y="1922382"/>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se comete cuando se exige, en una pregunta, una respuesta categórica de un “si” o un “no”, cuando, en realidad, ya sea que se conteste con alguna de estas opciones, la respuesta siempre es la misma. Esto sucede porque la pregunta que está formulando es compleja (supone otras preguntas anteriores) y se toma como simple.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usted un revolucionario progresista o un reaccionario conservador?</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respuesta está insinuada de algún modo, en la pregunta misma, pues no deja otras alternativas reales o razonables. Faltaría dilucidar preguntas cómo ¿Es un conservador realmente reaccionario? ¿Qué es un reaccionario? Y otras por el estilo.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FALACIAS DE ANTIGUEDAD</a:t>
            </a:r>
            <a:endParaRPr/>
          </a:p>
        </p:txBody>
      </p:sp>
      <p:sp>
        <p:nvSpPr>
          <p:cNvPr id="343" name="Google Shape;343;p34"/>
          <p:cNvSpPr txBox="1"/>
          <p:nvPr/>
        </p:nvSpPr>
        <p:spPr>
          <a:xfrm>
            <a:off x="1080718" y="1922382"/>
            <a:ext cx="16126564"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Estas se pueden clasificar de la siguiente manera: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El Equívoco</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Anfibología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El Énfasis</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Composición</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División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5"/>
          <p:cNvSpPr txBox="1"/>
          <p:nvPr/>
        </p:nvSpPr>
        <p:spPr>
          <a:xfrm>
            <a:off x="571500" y="74644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EL EQUIVOCO</a:t>
            </a:r>
            <a:endParaRPr/>
          </a:p>
        </p:txBody>
      </p:sp>
      <p:sp>
        <p:nvSpPr>
          <p:cNvPr id="349" name="Google Shape;349;p35"/>
          <p:cNvSpPr txBox="1"/>
          <p:nvPr/>
        </p:nvSpPr>
        <p:spPr>
          <a:xfrm>
            <a:off x="786547" y="1595082"/>
            <a:ext cx="16126564"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la podemos cometer de varias formas: una, cuando un término que tiene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dos significados, se le usa como si tuviera solo uno; otra, cuando se usan términos que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son relativos al contexto en que se están usando y se les toma en forma absoluta.</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pez martillo debe ser muy industrioso, pues sabe usar herramientas”</a:t>
            </a:r>
            <a:endParaRPr/>
          </a:p>
        </p:txBody>
      </p:sp>
      <p:sp>
        <p:nvSpPr>
          <p:cNvPr id="350" name="Google Shape;350;p35"/>
          <p:cNvSpPr txBox="1"/>
          <p:nvPr/>
        </p:nvSpPr>
        <p:spPr>
          <a:xfrm>
            <a:off x="786547" y="561808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ANFIBIOLOGÍA</a:t>
            </a:r>
            <a:endParaRPr/>
          </a:p>
        </p:txBody>
      </p:sp>
      <p:sp>
        <p:nvSpPr>
          <p:cNvPr id="351" name="Google Shape;351;p35"/>
          <p:cNvSpPr txBox="1"/>
          <p:nvPr/>
        </p:nvSpPr>
        <p:spPr>
          <a:xfrm>
            <a:off x="786547" y="6354790"/>
            <a:ext cx="16126564"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Consiste en estructurar el razonamiento de tal manera que su interpretación sea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ambigua, puede interpretarse de una y otra forma y no existe manera de aclarar cuál</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la forma adecuada; no se sabe exactamente lo que se está diciendo.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género hombre comprende a la mujer”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6"/>
          <p:cNvSpPr txBox="1"/>
          <p:nvPr/>
        </p:nvSpPr>
        <p:spPr>
          <a:xfrm>
            <a:off x="571500" y="74644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EL ÉNFASIS</a:t>
            </a:r>
            <a:endParaRPr/>
          </a:p>
        </p:txBody>
      </p:sp>
      <p:sp>
        <p:nvSpPr>
          <p:cNvPr id="357" name="Google Shape;357;p36"/>
          <p:cNvSpPr txBox="1"/>
          <p:nvPr/>
        </p:nvSpPr>
        <p:spPr>
          <a:xfrm>
            <a:off x="786547" y="1595082"/>
            <a:ext cx="16126564"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comete esta falacia, cuando se destacan ciertos aspectos de la redacción del razonamiento o proposición, mediante las comillas, con lo cual se le da un significado diferente a que si no se utilizarán dichos recursos tipográficos.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Los filósofos creen ser unos “Sabios”.</a:t>
            </a:r>
            <a:endParaRPr/>
          </a:p>
        </p:txBody>
      </p:sp>
      <p:sp>
        <p:nvSpPr>
          <p:cNvPr id="358" name="Google Shape;358;p36"/>
          <p:cNvSpPr txBox="1"/>
          <p:nvPr/>
        </p:nvSpPr>
        <p:spPr>
          <a:xfrm>
            <a:off x="786547" y="561808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COMPOSICIÓN</a:t>
            </a:r>
            <a:endParaRPr/>
          </a:p>
        </p:txBody>
      </p:sp>
      <p:sp>
        <p:nvSpPr>
          <p:cNvPr id="359" name="Google Shape;359;p36"/>
          <p:cNvSpPr txBox="1"/>
          <p:nvPr/>
        </p:nvSpPr>
        <p:spPr>
          <a:xfrm>
            <a:off x="786547" y="6336943"/>
            <a:ext cx="16126564"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llamada también falsa generalización, se comete en dos formas: una, cuando la o las propiedades de las partes de un todo se le asigna a ese todo; y la otra, cuando se pretende predicar un mismo atributo colectivo como distributivamente a una misma clase de objeto.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pirámide está formada por triángulos; por lo tanto, la pirámide es un triángulo”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7"/>
          <p:cNvSpPr txBox="1"/>
          <p:nvPr/>
        </p:nvSpPr>
        <p:spPr>
          <a:xfrm>
            <a:off x="861635" y="74644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DIVISIÓN</a:t>
            </a:r>
            <a:endParaRPr/>
          </a:p>
        </p:txBody>
      </p:sp>
      <p:sp>
        <p:nvSpPr>
          <p:cNvPr id="365" name="Google Shape;365;p37"/>
          <p:cNvSpPr txBox="1"/>
          <p:nvPr/>
        </p:nvSpPr>
        <p:spPr>
          <a:xfrm>
            <a:off x="861635" y="1632626"/>
            <a:ext cx="16126564"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falacia por división se comete por razones inversas a la composición. Se pretende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que lo que se predica del conjunto, necesariamente debe predicarse de la parte. Esto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inválido, ya que podemos predicar sobre un conjunto, pero es predicado no se aplica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necesariamente a una de las partes.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“Los números naturales son infinitos; por lo tanto, el número dos es infinitas”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8"/>
          <p:cNvSpPr/>
          <p:nvPr/>
        </p:nvSpPr>
        <p:spPr>
          <a:xfrm>
            <a:off x="3153211" y="4358922"/>
            <a:ext cx="11301259" cy="6074427"/>
          </a:xfrm>
          <a:custGeom>
            <a:rect b="b" l="l" r="r" t="t"/>
            <a:pathLst>
              <a:path extrusionOk="0" h="6074427" w="11301259">
                <a:moveTo>
                  <a:pt x="0" y="0"/>
                </a:moveTo>
                <a:lnTo>
                  <a:pt x="11301259" y="0"/>
                </a:lnTo>
                <a:lnTo>
                  <a:pt x="11301259" y="6074427"/>
                </a:lnTo>
                <a:lnTo>
                  <a:pt x="0" y="6074427"/>
                </a:lnTo>
                <a:lnTo>
                  <a:pt x="0" y="0"/>
                </a:lnTo>
                <a:close/>
              </a:path>
            </a:pathLst>
          </a:custGeom>
          <a:blipFill rotWithShape="1">
            <a:blip r:embed="rId3">
              <a:alphaModFix/>
            </a:blip>
            <a:stretch>
              <a:fillRect b="0" l="0" r="0" t="0"/>
            </a:stretch>
          </a:blipFill>
          <a:ln>
            <a:noFill/>
          </a:ln>
        </p:spPr>
      </p:sp>
      <p:sp>
        <p:nvSpPr>
          <p:cNvPr id="371" name="Google Shape;371;p38"/>
          <p:cNvSpPr txBox="1"/>
          <p:nvPr/>
        </p:nvSpPr>
        <p:spPr>
          <a:xfrm>
            <a:off x="861635" y="746442"/>
            <a:ext cx="15884411" cy="10407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ESTRATEGIAS PARA RESOLUCIÓN DE PROBLEMAS</a:t>
            </a:r>
            <a:endParaRPr/>
          </a:p>
        </p:txBody>
      </p:sp>
      <p:sp>
        <p:nvSpPr>
          <p:cNvPr id="372" name="Google Shape;372;p38"/>
          <p:cNvSpPr txBox="1"/>
          <p:nvPr/>
        </p:nvSpPr>
        <p:spPr>
          <a:xfrm>
            <a:off x="861635" y="2244372"/>
            <a:ext cx="16126564" cy="2114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1. Comprender el problema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2. Formular un plan</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3. Ejecutar un plan</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4. Revisar y comprobar.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378" name="Google Shape;378;p39"/>
          <p:cNvSpPr txBox="1"/>
          <p:nvPr/>
        </p:nvSpPr>
        <p:spPr>
          <a:xfrm>
            <a:off x="5803381" y="4280604"/>
            <a:ext cx="6911332" cy="2216614"/>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Recuerda que hay que dar crédito a las personas de las cuales te has basado para generar tu presentación  </a:t>
            </a:r>
            <a:endParaRPr/>
          </a:p>
        </p:txBody>
      </p:sp>
      <p:sp>
        <p:nvSpPr>
          <p:cNvPr id="379" name="Google Shape;379;p39"/>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380" name="Google Shape;380;p39"/>
          <p:cNvSpPr txBox="1"/>
          <p:nvPr/>
        </p:nvSpPr>
        <p:spPr>
          <a:xfrm>
            <a:off x="14236857" y="6780527"/>
            <a:ext cx="3238236" cy="211099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0" i="0" lang="en-US" sz="2014" u="none" cap="none" strike="noStrike">
                <a:solidFill>
                  <a:srgbClr val="131416"/>
                </a:solidFill>
                <a:latin typeface="Open Sans"/>
                <a:ea typeface="Open Sans"/>
                <a:cs typeface="Open Sans"/>
                <a:sym typeface="Open Sans"/>
              </a:rPr>
              <a:t>Colocaras la referencias que apliquen de aquel materia, bibliográfico o paginas de internet del cual te has basado para generar tu presentación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0"/>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386" name="Google Shape;386;p40"/>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387" name="Google Shape;387;p40"/>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88" name="Google Shape;388;p40"/>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