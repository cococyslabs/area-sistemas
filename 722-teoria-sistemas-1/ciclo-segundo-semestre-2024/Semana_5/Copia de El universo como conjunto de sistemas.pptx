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4630400" cy="8229600"/>
  <p:notesSz cx="8229600" cy="14630400"/>
  <p:embeddedFontLst>
    <p:embeddedFont>
      <p:font typeface="Raleway"/>
      <p:regular r:id="rId11"/>
    </p:embeddedFont>
    <p:embeddedFont>
      <p:font typeface="Raleway"/>
      <p:regular r:id="rId12"/>
    </p:embeddedFont>
    <p:embeddedFont>
      <p:font typeface="Raleway"/>
      <p:regular r:id="rId13"/>
    </p:embeddedFont>
    <p:embeddedFont>
      <p:font typeface="Raleway"/>
      <p:regular r:id="rId14"/>
    </p:embeddedFont>
    <p:embeddedFont>
      <p:font typeface="Roboto"/>
      <p:regular r:id="rId15"/>
    </p:embeddedFont>
    <p:embeddedFont>
      <p:font typeface="Roboto"/>
      <p:regular r:id="rId16"/>
    </p:embeddedFont>
    <p:embeddedFont>
      <p:font typeface="Roboto"/>
      <p:regular r:id="rId17"/>
    </p:embeddedFont>
    <p:embeddedFont>
      <p:font typeface="Roboto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font" Target="fonts/font1.fntdata"/><Relationship Id="rId12" Type="http://schemas.openxmlformats.org/officeDocument/2006/relationships/font" Target="fonts/font2.fntdata"/><Relationship Id="rId13" Type="http://schemas.openxmlformats.org/officeDocument/2006/relationships/font" Target="fonts/font3.fntdata"/><Relationship Id="rId14" Type="http://schemas.openxmlformats.org/officeDocument/2006/relationships/font" Target="fonts/font4.fntdata"/><Relationship Id="rId15" Type="http://schemas.openxmlformats.org/officeDocument/2006/relationships/font" Target="fonts/font5.fntdata"/><Relationship Id="rId16" Type="http://schemas.openxmlformats.org/officeDocument/2006/relationships/font" Target="fonts/font6.fntdata"/><Relationship Id="rId17" Type="http://schemas.openxmlformats.org/officeDocument/2006/relationships/font" Target="fonts/font7.fntdata"/><Relationship Id="rId1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751528"/>
            <a:ext cx="7556421" cy="2934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7700"/>
              </a:lnSpc>
              <a:buNone/>
            </a:pPr>
            <a:r>
              <a:rPr lang="en-US" sz="6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universo como conjunto de sistemas</a:t>
            </a:r>
            <a:endParaRPr lang="en-US" sz="6150" dirty="0"/>
          </a:p>
        </p:txBody>
      </p:sp>
      <p:sp>
        <p:nvSpPr>
          <p:cNvPr id="4" name="Text 1"/>
          <p:cNvSpPr/>
          <p:nvPr/>
        </p:nvSpPr>
        <p:spPr>
          <a:xfrm>
            <a:off x="6280190" y="5026343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universo puede verse como un vasto conjunto de sistemas interconectados, donde cada sistema tiene componentes y dinámicas propias que interactúan de manera compleja. Esta perspectiva holística nos permite entender mejor la naturaleza y el funcionamiento del cosmos.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7058"/>
            <a:ext cx="91754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550"/>
              </a:lnSpc>
              <a:buNone/>
            </a:pPr>
            <a:r>
              <a:rPr lang="en-US" sz="44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Componentes básicos del universo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Materia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materia en sus diferentes formas, desde átomos y moléculas hasta estrellas y galaxias, es la base física del universo.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332928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Energía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332928" y="4033957"/>
            <a:ext cx="397811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energía, en sus diversas manifestaciones, como la radiación, el movimiento y las interacciones, es el motor que impulsa la dinámica de los sistemas cósmicos.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872067" y="345281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Espacio-Tiempo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872067" y="4033957"/>
            <a:ext cx="3978116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espacio-tiempo proporciona el escenario donde se desarrollan los fenómenos y las interacciones entre los sistemas del universo.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4826" y="748546"/>
            <a:ext cx="6945511" cy="659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5150"/>
              </a:lnSpc>
              <a:buNone/>
            </a:pPr>
            <a:r>
              <a:rPr lang="en-US" sz="41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Interacciones entre sistemas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529864" y="1724382"/>
            <a:ext cx="22860" cy="5756553"/>
          </a:xfrm>
          <a:prstGeom prst="roundRect">
            <a:avLst>
              <a:gd name="adj" fmla="val 387669"/>
            </a:avLst>
          </a:prstGeom>
          <a:solidFill>
            <a:srgbClr val="C7C7D0"/>
          </a:solidFill>
          <a:ln/>
        </p:spPr>
      </p:sp>
      <p:sp>
        <p:nvSpPr>
          <p:cNvPr id="5" name="Shape 2"/>
          <p:cNvSpPr/>
          <p:nvPr/>
        </p:nvSpPr>
        <p:spPr>
          <a:xfrm>
            <a:off x="6755785" y="2187535"/>
            <a:ext cx="738426" cy="22860"/>
          </a:xfrm>
          <a:prstGeom prst="roundRect">
            <a:avLst>
              <a:gd name="adj" fmla="val 387669"/>
            </a:avLst>
          </a:prstGeom>
          <a:solidFill>
            <a:srgbClr val="C7C7D0"/>
          </a:solidFill>
          <a:ln/>
        </p:spPr>
      </p:sp>
      <p:sp>
        <p:nvSpPr>
          <p:cNvPr id="6" name="Shape 3"/>
          <p:cNvSpPr/>
          <p:nvPr/>
        </p:nvSpPr>
        <p:spPr>
          <a:xfrm>
            <a:off x="6303943" y="1961674"/>
            <a:ext cx="474702" cy="4747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73488" y="2040731"/>
            <a:ext cx="135493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7701796" y="1935361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Gravitación</a:t>
            </a:r>
            <a:endParaRPr lang="en-US" sz="2050" dirty="0"/>
          </a:p>
        </p:txBody>
      </p:sp>
      <p:sp>
        <p:nvSpPr>
          <p:cNvPr id="9" name="Text 6"/>
          <p:cNvSpPr/>
          <p:nvPr/>
        </p:nvSpPr>
        <p:spPr>
          <a:xfrm>
            <a:off x="7701796" y="2391489"/>
            <a:ext cx="6190178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 fuerza gravitacional es la que mantiene unidos a los sistemas cósmicos, desde planetas orbitando estrellas hasta galaxias agrupándose en cúmulos.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6755785" y="4289227"/>
            <a:ext cx="738426" cy="22860"/>
          </a:xfrm>
          <a:prstGeom prst="roundRect">
            <a:avLst>
              <a:gd name="adj" fmla="val 387669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6303943" y="4063365"/>
            <a:ext cx="474702" cy="4747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58843" y="4142423"/>
            <a:ext cx="164902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450" dirty="0"/>
          </a:p>
        </p:txBody>
      </p:sp>
      <p:sp>
        <p:nvSpPr>
          <p:cNvPr id="13" name="Text 10"/>
          <p:cNvSpPr/>
          <p:nvPr/>
        </p:nvSpPr>
        <p:spPr>
          <a:xfrm>
            <a:off x="7701796" y="4037052"/>
            <a:ext cx="2829282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Intercambio de Energía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701796" y="4493181"/>
            <a:ext cx="6190178" cy="10126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intercambian energía a través de diversos mecanismos, como la radiación, la convección y las reacciones nucleares, lo que alimenta su dinámica.</a:t>
            </a:r>
            <a:endParaRPr lang="en-US" sz="1650" dirty="0"/>
          </a:p>
        </p:txBody>
      </p:sp>
      <p:sp>
        <p:nvSpPr>
          <p:cNvPr id="15" name="Shape 12"/>
          <p:cNvSpPr/>
          <p:nvPr/>
        </p:nvSpPr>
        <p:spPr>
          <a:xfrm>
            <a:off x="6755785" y="6390918"/>
            <a:ext cx="738426" cy="22860"/>
          </a:xfrm>
          <a:prstGeom prst="roundRect">
            <a:avLst>
              <a:gd name="adj" fmla="val 387669"/>
            </a:avLst>
          </a:prstGeom>
          <a:solidFill>
            <a:srgbClr val="C7C7D0"/>
          </a:solidFill>
          <a:ln/>
        </p:spPr>
      </p:sp>
      <p:sp>
        <p:nvSpPr>
          <p:cNvPr id="16" name="Shape 13"/>
          <p:cNvSpPr/>
          <p:nvPr/>
        </p:nvSpPr>
        <p:spPr>
          <a:xfrm>
            <a:off x="6303943" y="6165056"/>
            <a:ext cx="474702" cy="474702"/>
          </a:xfrm>
          <a:prstGeom prst="roundRect">
            <a:avLst>
              <a:gd name="adj" fmla="val 1866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56819" y="6244114"/>
            <a:ext cx="168950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50"/>
              </a:lnSpc>
              <a:buNone/>
            </a:pPr>
            <a:r>
              <a:rPr lang="en-US" sz="2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450" dirty="0"/>
          </a:p>
        </p:txBody>
      </p:sp>
      <p:sp>
        <p:nvSpPr>
          <p:cNvPr id="18" name="Text 15"/>
          <p:cNvSpPr/>
          <p:nvPr/>
        </p:nvSpPr>
        <p:spPr>
          <a:xfrm>
            <a:off x="7701796" y="6138743"/>
            <a:ext cx="2637473" cy="3295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20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Retroalimentación</a:t>
            </a:r>
            <a:endParaRPr lang="en-US" sz="2050" dirty="0"/>
          </a:p>
        </p:txBody>
      </p:sp>
      <p:sp>
        <p:nvSpPr>
          <p:cNvPr id="19" name="Text 16"/>
          <p:cNvSpPr/>
          <p:nvPr/>
        </p:nvSpPr>
        <p:spPr>
          <a:xfrm>
            <a:off x="7701796" y="6594872"/>
            <a:ext cx="6190178" cy="675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0"/>
              </a:lnSpc>
              <a:buNone/>
            </a:pPr>
            <a:r>
              <a:rPr lang="en-US" sz="16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sistemas a menudo se influyen mutuamente, con procesos de retroalimentación positiva y negativa que regulan su evolución.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1489" y="725091"/>
            <a:ext cx="7713821" cy="1276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5000"/>
              </a:lnSpc>
              <a:buNone/>
            </a:pPr>
            <a:r>
              <a:rPr lang="en-US" sz="4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Aplicaciones prácticas de este enfoque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6201489" y="2308384"/>
            <a:ext cx="3754755" cy="2818924"/>
          </a:xfrm>
          <a:prstGeom prst="roundRect">
            <a:avLst>
              <a:gd name="adj" fmla="val 304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13421" y="2520315"/>
            <a:ext cx="3330893" cy="638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Comprensión de Sistemas Complejos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6413421" y="3281243"/>
            <a:ext cx="3330893" cy="163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 perspectiva sistémica ayuda a entender la dinámica y el comportamiento de sistemas complejos, como ecosistemas, economías y sociedades.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556" y="2308384"/>
            <a:ext cx="3754755" cy="2818924"/>
          </a:xfrm>
          <a:prstGeom prst="roundRect">
            <a:avLst>
              <a:gd name="adj" fmla="val 304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372487" y="2520315"/>
            <a:ext cx="2700338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y Predicción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372487" y="2962037"/>
            <a:ext cx="3330893" cy="1634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Los modelos basados en sistemas permiten predecir el comportamiento de fenómenos naturales y sociales a diferentes escalas.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201489" y="5331619"/>
            <a:ext cx="3754755" cy="2172891"/>
          </a:xfrm>
          <a:prstGeom prst="roundRect">
            <a:avLst>
              <a:gd name="adj" fmla="val 39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13421" y="5543550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Diseño e Ingeniería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6413421" y="5985272"/>
            <a:ext cx="3330893" cy="1307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 pensamiento sistémico se aplica en el diseño de tecnologías, infraestructuras y sistemas que interactúan con el entorno.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160556" y="5331619"/>
            <a:ext cx="3754755" cy="2172891"/>
          </a:xfrm>
          <a:prstGeom prst="roundRect">
            <a:avLst>
              <a:gd name="adj" fmla="val 394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372487" y="5543550"/>
            <a:ext cx="2553891" cy="3192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Toma de Decisiones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10372487" y="5985272"/>
            <a:ext cx="3330893" cy="13073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Este enfoque ayuda a los líderes a considerar las interconexiones y las implicaciones a largo plazo de sus decisiones.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2024-11-03T08:46:08Z</dcterms:created>
  <dcterms:modified xsi:type="dcterms:W3CDTF">2024-11-03T08:46:08Z</dcterms:modified>
</cp:coreProperties>
</file>