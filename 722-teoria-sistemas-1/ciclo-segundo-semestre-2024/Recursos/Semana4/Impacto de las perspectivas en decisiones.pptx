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4630400" cy="8229600"/>
  <p:notesSz cx="8229600" cy="14630400"/>
  <p:embeddedFontLst>
    <p:embeddedFont>
      <p:font typeface="Raleway"/>
      <p:regular r:id="rId12"/>
    </p:embeddedFont>
    <p:embeddedFont>
      <p:font typeface="Raleway"/>
      <p:regular r:id="rId13"/>
    </p:embeddedFont>
    <p:embeddedFont>
      <p:font typeface="Raleway"/>
      <p:regular r:id="rId14"/>
    </p:embeddedFont>
    <p:embeddedFont>
      <p:font typeface="Raleway"/>
      <p:regular r:id="rId15"/>
    </p:embeddedFont>
    <p:embeddedFont>
      <p:font typeface="Roboto"/>
      <p:regular r:id="rId16"/>
    </p:embeddedFont>
    <p:embeddedFont>
      <p:font typeface="Roboto"/>
      <p:regular r:id="rId17"/>
    </p:embeddedFont>
    <p:embeddedFont>
      <p:font typeface="Roboto"/>
      <p:regular r:id="rId18"/>
    </p:embeddedFont>
    <p:embeddedFont>
      <p:font typeface="Roboto"/>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570077"/>
            <a:ext cx="7556421" cy="2934653"/>
          </a:xfrm>
          <a:prstGeom prst="rect">
            <a:avLst/>
          </a:prstGeom>
          <a:noFill/>
          <a:ln/>
        </p:spPr>
        <p:txBody>
          <a:bodyPr wrap="square" lIns="0" tIns="0" rIns="0" bIns="0" rtlCol="0" anchor="t"/>
          <a:lstStyle/>
          <a:p>
            <a:pPr indent="0" marL="0">
              <a:lnSpc>
                <a:spcPts val="7700"/>
              </a:lnSpc>
              <a:buNone/>
            </a:pPr>
            <a:r>
              <a:rPr lang="en-US" sz="6150" dirty="0">
                <a:solidFill>
                  <a:srgbClr val="1B1B27"/>
                </a:solidFill>
                <a:latin typeface="Raleway" pitchFamily="34" charset="0"/>
                <a:ea typeface="Raleway" pitchFamily="34" charset="-122"/>
                <a:cs typeface="Raleway" pitchFamily="34" charset="-120"/>
              </a:rPr>
              <a:t>El papel de las perspectivas en la toma de decisiones</a:t>
            </a:r>
            <a:endParaRPr lang="en-US" sz="6150" dirty="0"/>
          </a:p>
        </p:txBody>
      </p:sp>
      <p:sp>
        <p:nvSpPr>
          <p:cNvPr id="4" name="Text 1"/>
          <p:cNvSpPr/>
          <p:nvPr/>
        </p:nvSpPr>
        <p:spPr>
          <a:xfrm>
            <a:off x="6280190" y="4844891"/>
            <a:ext cx="7556421" cy="1814513"/>
          </a:xfrm>
          <a:prstGeom prst="rect">
            <a:avLst/>
          </a:prstGeom>
          <a:noFill/>
          <a:ln/>
        </p:spPr>
        <p:txBody>
          <a:bodyPr wrap="square" lIns="0" tIns="0" rIns="0" bIns="0" rtlCol="0" anchor="t"/>
          <a:lstStyle/>
          <a:p>
            <a:pPr indent="0" marL="0">
              <a:lnSpc>
                <a:spcPts val="2850"/>
              </a:lnSpc>
              <a:buNone/>
            </a:pPr>
            <a:r>
              <a:rPr lang="en-US" sz="1750" dirty="0">
                <a:solidFill>
                  <a:srgbClr val="3C3939"/>
                </a:solidFill>
                <a:latin typeface="Roboto" pitchFamily="34" charset="0"/>
                <a:ea typeface="Roboto" pitchFamily="34" charset="-122"/>
                <a:cs typeface="Roboto" pitchFamily="34" charset="-120"/>
              </a:rPr>
              <a:t>Nuestras perspectivas individuales, forjadas por nuestras creencias, experiencias y entorno, juegan un papel crucial en cómo tomamos decisiones. Comprender cómo estos factores influyen en nuestro proceso de toma de decisiones es el primer paso para mejorar nuestra capacidad de tomar decisiones más acertadas.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22609"/>
            <a:ext cx="13042821" cy="1417558"/>
          </a:xfrm>
          <a:prstGeom prst="rect">
            <a:avLst/>
          </a:prstGeom>
          <a:noFill/>
          <a:ln/>
        </p:spPr>
        <p:txBody>
          <a:bodyPr wrap="square" lIns="0" tIns="0" rIns="0" bIns="0" rtlCol="0" anchor="t"/>
          <a:lstStyle/>
          <a:p>
            <a:pPr indent="0" marL="0">
              <a:lnSpc>
                <a:spcPts val="5550"/>
              </a:lnSpc>
              <a:buNone/>
            </a:pPr>
            <a:r>
              <a:rPr lang="en-US" sz="4450" dirty="0">
                <a:solidFill>
                  <a:srgbClr val="1B1B27"/>
                </a:solidFill>
                <a:latin typeface="Raleway" pitchFamily="34" charset="0"/>
                <a:ea typeface="Raleway" pitchFamily="34" charset="-122"/>
                <a:cs typeface="Raleway" pitchFamily="34" charset="-120"/>
              </a:rPr>
              <a:t>Cómo nuestras creencias y experiencias influyen en nuestras decisiones</a:t>
            </a:r>
            <a:endParaRPr lang="en-US" sz="4450" dirty="0"/>
          </a:p>
        </p:txBody>
      </p:sp>
      <p:sp>
        <p:nvSpPr>
          <p:cNvPr id="3" name="Text 1"/>
          <p:cNvSpPr/>
          <p:nvPr/>
        </p:nvSpPr>
        <p:spPr>
          <a:xfrm>
            <a:off x="793790" y="3807143"/>
            <a:ext cx="2835235" cy="354330"/>
          </a:xfrm>
          <a:prstGeom prst="rect">
            <a:avLst/>
          </a:prstGeom>
          <a:noFill/>
          <a:ln/>
        </p:spPr>
        <p:txBody>
          <a:bodyPr wrap="none" lIns="0" tIns="0" rIns="0" bIns="0" rtlCol="0" anchor="t"/>
          <a:lstStyle/>
          <a:p>
            <a:pPr indent="0" marL="0">
              <a:lnSpc>
                <a:spcPts val="2750"/>
              </a:lnSpc>
              <a:buNone/>
            </a:pPr>
            <a:r>
              <a:rPr lang="en-US" sz="2200" dirty="0">
                <a:solidFill>
                  <a:srgbClr val="1B1B27"/>
                </a:solidFill>
                <a:latin typeface="Raleway" pitchFamily="34" charset="0"/>
                <a:ea typeface="Raleway" pitchFamily="34" charset="-122"/>
                <a:cs typeface="Raleway" pitchFamily="34" charset="-120"/>
              </a:rPr>
              <a:t>Creencias</a:t>
            </a:r>
            <a:endParaRPr lang="en-US" sz="2200" dirty="0"/>
          </a:p>
        </p:txBody>
      </p:sp>
      <p:sp>
        <p:nvSpPr>
          <p:cNvPr id="4" name="Text 2"/>
          <p:cNvSpPr/>
          <p:nvPr/>
        </p:nvSpPr>
        <p:spPr>
          <a:xfrm>
            <a:off x="793790" y="4388287"/>
            <a:ext cx="3978116" cy="1814513"/>
          </a:xfrm>
          <a:prstGeom prst="rect">
            <a:avLst/>
          </a:prstGeom>
          <a:noFill/>
          <a:ln/>
        </p:spPr>
        <p:txBody>
          <a:bodyPr wrap="square" lIns="0" tIns="0" rIns="0" bIns="0" rtlCol="0" anchor="t"/>
          <a:lstStyle/>
          <a:p>
            <a:pPr indent="0" marL="0">
              <a:lnSpc>
                <a:spcPts val="2850"/>
              </a:lnSpc>
              <a:buNone/>
            </a:pPr>
            <a:r>
              <a:rPr lang="en-US" sz="1750" dirty="0">
                <a:solidFill>
                  <a:srgbClr val="3C3939"/>
                </a:solidFill>
                <a:latin typeface="Roboto" pitchFamily="34" charset="0"/>
                <a:ea typeface="Roboto" pitchFamily="34" charset="-122"/>
                <a:cs typeface="Roboto" pitchFamily="34" charset="-120"/>
              </a:rPr>
              <a:t>Nuestras creencias sobre cómo funciona el mundo pueden sesgar nuestras decisiones, llevándonos a ignorar evidencia que contradice esas creencias.</a:t>
            </a:r>
            <a:endParaRPr lang="en-US" sz="1750" dirty="0"/>
          </a:p>
        </p:txBody>
      </p:sp>
      <p:sp>
        <p:nvSpPr>
          <p:cNvPr id="5" name="Text 3"/>
          <p:cNvSpPr/>
          <p:nvPr/>
        </p:nvSpPr>
        <p:spPr>
          <a:xfrm>
            <a:off x="5332928" y="3807143"/>
            <a:ext cx="2835235" cy="354330"/>
          </a:xfrm>
          <a:prstGeom prst="rect">
            <a:avLst/>
          </a:prstGeom>
          <a:noFill/>
          <a:ln/>
        </p:spPr>
        <p:txBody>
          <a:bodyPr wrap="none" lIns="0" tIns="0" rIns="0" bIns="0" rtlCol="0" anchor="t"/>
          <a:lstStyle/>
          <a:p>
            <a:pPr indent="0" marL="0">
              <a:lnSpc>
                <a:spcPts val="2750"/>
              </a:lnSpc>
              <a:buNone/>
            </a:pPr>
            <a:r>
              <a:rPr lang="en-US" sz="2200" dirty="0">
                <a:solidFill>
                  <a:srgbClr val="1B1B27"/>
                </a:solidFill>
                <a:latin typeface="Raleway" pitchFamily="34" charset="0"/>
                <a:ea typeface="Raleway" pitchFamily="34" charset="-122"/>
                <a:cs typeface="Raleway" pitchFamily="34" charset="-120"/>
              </a:rPr>
              <a:t>Experiencias</a:t>
            </a:r>
            <a:endParaRPr lang="en-US" sz="2200" dirty="0"/>
          </a:p>
        </p:txBody>
      </p:sp>
      <p:sp>
        <p:nvSpPr>
          <p:cNvPr id="6" name="Text 4"/>
          <p:cNvSpPr/>
          <p:nvPr/>
        </p:nvSpPr>
        <p:spPr>
          <a:xfrm>
            <a:off x="5332928" y="4388287"/>
            <a:ext cx="3978116" cy="1451610"/>
          </a:xfrm>
          <a:prstGeom prst="rect">
            <a:avLst/>
          </a:prstGeom>
          <a:noFill/>
          <a:ln/>
        </p:spPr>
        <p:txBody>
          <a:bodyPr wrap="square" lIns="0" tIns="0" rIns="0" bIns="0" rtlCol="0" anchor="t"/>
          <a:lstStyle/>
          <a:p>
            <a:pPr indent="0" marL="0">
              <a:lnSpc>
                <a:spcPts val="2850"/>
              </a:lnSpc>
              <a:buNone/>
            </a:pPr>
            <a:r>
              <a:rPr lang="en-US" sz="1750" dirty="0">
                <a:solidFill>
                  <a:srgbClr val="3C3939"/>
                </a:solidFill>
                <a:latin typeface="Roboto" pitchFamily="34" charset="0"/>
                <a:ea typeface="Roboto" pitchFamily="34" charset="-122"/>
                <a:cs typeface="Roboto" pitchFamily="34" charset="-120"/>
              </a:rPr>
              <a:t>Nuestras experiencias pasadas, tanto positivas como negativas, pueden influir en cómo evaluamos opciones y riesgos en el presente.</a:t>
            </a:r>
            <a:endParaRPr lang="en-US" sz="1750" dirty="0"/>
          </a:p>
        </p:txBody>
      </p:sp>
      <p:sp>
        <p:nvSpPr>
          <p:cNvPr id="7" name="Text 5"/>
          <p:cNvSpPr/>
          <p:nvPr/>
        </p:nvSpPr>
        <p:spPr>
          <a:xfrm>
            <a:off x="9872067" y="3807143"/>
            <a:ext cx="2958108" cy="354330"/>
          </a:xfrm>
          <a:prstGeom prst="rect">
            <a:avLst/>
          </a:prstGeom>
          <a:noFill/>
          <a:ln/>
        </p:spPr>
        <p:txBody>
          <a:bodyPr wrap="none" lIns="0" tIns="0" rIns="0" bIns="0" rtlCol="0" anchor="t"/>
          <a:lstStyle/>
          <a:p>
            <a:pPr indent="0" marL="0">
              <a:lnSpc>
                <a:spcPts val="2750"/>
              </a:lnSpc>
              <a:buNone/>
            </a:pPr>
            <a:r>
              <a:rPr lang="en-US" sz="2200" dirty="0">
                <a:solidFill>
                  <a:srgbClr val="1B1B27"/>
                </a:solidFill>
                <a:latin typeface="Raleway" pitchFamily="34" charset="0"/>
                <a:ea typeface="Raleway" pitchFamily="34" charset="-122"/>
                <a:cs typeface="Raleway" pitchFamily="34" charset="-120"/>
              </a:rPr>
              <a:t>Perspectivas múltiples</a:t>
            </a:r>
            <a:endParaRPr lang="en-US" sz="2200" dirty="0"/>
          </a:p>
        </p:txBody>
      </p:sp>
      <p:sp>
        <p:nvSpPr>
          <p:cNvPr id="8" name="Text 6"/>
          <p:cNvSpPr/>
          <p:nvPr/>
        </p:nvSpPr>
        <p:spPr>
          <a:xfrm>
            <a:off x="9872067" y="4388287"/>
            <a:ext cx="3978116" cy="1451610"/>
          </a:xfrm>
          <a:prstGeom prst="rect">
            <a:avLst/>
          </a:prstGeom>
          <a:noFill/>
          <a:ln/>
        </p:spPr>
        <p:txBody>
          <a:bodyPr wrap="square" lIns="0" tIns="0" rIns="0" bIns="0" rtlCol="0" anchor="t"/>
          <a:lstStyle/>
          <a:p>
            <a:pPr indent="0" marL="0">
              <a:lnSpc>
                <a:spcPts val="2850"/>
              </a:lnSpc>
              <a:buNone/>
            </a:pPr>
            <a:r>
              <a:rPr lang="en-US" sz="1750" dirty="0">
                <a:solidFill>
                  <a:srgbClr val="3C3939"/>
                </a:solidFill>
                <a:latin typeface="Roboto" pitchFamily="34" charset="0"/>
                <a:ea typeface="Roboto" pitchFamily="34" charset="-122"/>
                <a:cs typeface="Roboto" pitchFamily="34" charset="-120"/>
              </a:rPr>
              <a:t>Considerar múltiples perspectivas nos ayuda a ver más allá de nuestros propios sesgos y a tomar decisiones más informadas.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22233" y="1055965"/>
            <a:ext cx="7699534" cy="1934528"/>
          </a:xfrm>
          <a:prstGeom prst="rect">
            <a:avLst/>
          </a:prstGeom>
          <a:noFill/>
          <a:ln/>
        </p:spPr>
        <p:txBody>
          <a:bodyPr wrap="square" lIns="0" tIns="0" rIns="0" bIns="0" rtlCol="0" anchor="t"/>
          <a:lstStyle/>
          <a:p>
            <a:pPr indent="0" marL="0">
              <a:lnSpc>
                <a:spcPts val="5050"/>
              </a:lnSpc>
              <a:buNone/>
            </a:pPr>
            <a:r>
              <a:rPr lang="en-US" sz="4050" dirty="0">
                <a:solidFill>
                  <a:srgbClr val="1B1B27"/>
                </a:solidFill>
                <a:latin typeface="Raleway" pitchFamily="34" charset="0"/>
                <a:ea typeface="Raleway" pitchFamily="34" charset="-122"/>
                <a:cs typeface="Raleway" pitchFamily="34" charset="-120"/>
              </a:rPr>
              <a:t>Identificando sesgos cognitivos en el proceso de toma de decisiones</a:t>
            </a:r>
            <a:endParaRPr lang="en-US" sz="4050" dirty="0"/>
          </a:p>
        </p:txBody>
      </p:sp>
      <p:sp>
        <p:nvSpPr>
          <p:cNvPr id="4" name="Shape 1"/>
          <p:cNvSpPr/>
          <p:nvPr/>
        </p:nvSpPr>
        <p:spPr>
          <a:xfrm>
            <a:off x="722233" y="3532227"/>
            <a:ext cx="464344" cy="464344"/>
          </a:xfrm>
          <a:prstGeom prst="roundRect">
            <a:avLst>
              <a:gd name="adj" fmla="val 18667"/>
            </a:avLst>
          </a:prstGeom>
          <a:solidFill>
            <a:srgbClr val="E1E1EA"/>
          </a:solidFill>
          <a:ln w="7620">
            <a:solidFill>
              <a:srgbClr val="C7C7D0"/>
            </a:solidFill>
            <a:prstDash val="solid"/>
          </a:ln>
        </p:spPr>
      </p:sp>
      <p:sp>
        <p:nvSpPr>
          <p:cNvPr id="5" name="Text 2"/>
          <p:cNvSpPr/>
          <p:nvPr/>
        </p:nvSpPr>
        <p:spPr>
          <a:xfrm>
            <a:off x="888087" y="3609618"/>
            <a:ext cx="132517" cy="309563"/>
          </a:xfrm>
          <a:prstGeom prst="rect">
            <a:avLst/>
          </a:prstGeom>
          <a:noFill/>
          <a:ln/>
        </p:spPr>
        <p:txBody>
          <a:bodyPr wrap="none" lIns="0" tIns="0" rIns="0" bIns="0" rtlCol="0" anchor="t"/>
          <a:lstStyle/>
          <a:p>
            <a:pPr algn="ctr" indent="0" marL="0">
              <a:lnSpc>
                <a:spcPts val="2400"/>
              </a:lnSpc>
              <a:buNone/>
            </a:pPr>
            <a:r>
              <a:rPr lang="en-US" sz="2400" dirty="0">
                <a:solidFill>
                  <a:srgbClr val="3C3939"/>
                </a:solidFill>
                <a:latin typeface="Raleway" pitchFamily="34" charset="0"/>
                <a:ea typeface="Raleway" pitchFamily="34" charset="-122"/>
                <a:cs typeface="Raleway" pitchFamily="34" charset="-120"/>
              </a:rPr>
              <a:t>1</a:t>
            </a:r>
            <a:endParaRPr lang="en-US" sz="2400" dirty="0"/>
          </a:p>
        </p:txBody>
      </p:sp>
      <p:sp>
        <p:nvSpPr>
          <p:cNvPr id="6" name="Text 3"/>
          <p:cNvSpPr/>
          <p:nvPr/>
        </p:nvSpPr>
        <p:spPr>
          <a:xfrm>
            <a:off x="1392912" y="3532227"/>
            <a:ext cx="2742486" cy="322421"/>
          </a:xfrm>
          <a:prstGeom prst="rect">
            <a:avLst/>
          </a:prstGeom>
          <a:noFill/>
          <a:ln/>
        </p:spPr>
        <p:txBody>
          <a:bodyPr wrap="none" lIns="0" tIns="0" rIns="0" bIns="0" rtlCol="0" anchor="t"/>
          <a:lstStyle/>
          <a:p>
            <a:pPr indent="0" marL="0">
              <a:lnSpc>
                <a:spcPts val="2500"/>
              </a:lnSpc>
              <a:buNone/>
            </a:pPr>
            <a:r>
              <a:rPr lang="en-US" sz="2000" dirty="0">
                <a:solidFill>
                  <a:srgbClr val="3C3939"/>
                </a:solidFill>
                <a:latin typeface="Raleway" pitchFamily="34" charset="0"/>
                <a:ea typeface="Raleway" pitchFamily="34" charset="-122"/>
                <a:cs typeface="Raleway" pitchFamily="34" charset="-120"/>
              </a:rPr>
              <a:t>Sesgo de confirmación</a:t>
            </a:r>
            <a:endParaRPr lang="en-US" sz="2000" dirty="0"/>
          </a:p>
        </p:txBody>
      </p:sp>
      <p:sp>
        <p:nvSpPr>
          <p:cNvPr id="7" name="Text 4"/>
          <p:cNvSpPr/>
          <p:nvPr/>
        </p:nvSpPr>
        <p:spPr>
          <a:xfrm>
            <a:off x="1392912" y="3978473"/>
            <a:ext cx="3075980" cy="1320165"/>
          </a:xfrm>
          <a:prstGeom prst="rect">
            <a:avLst/>
          </a:prstGeom>
          <a:noFill/>
          <a:ln/>
        </p:spPr>
        <p:txBody>
          <a:bodyPr wrap="square" lIns="0" tIns="0" rIns="0" bIns="0" rtlCol="0" anchor="t"/>
          <a:lstStyle/>
          <a:p>
            <a:pPr indent="0" marL="0">
              <a:lnSpc>
                <a:spcPts val="2600"/>
              </a:lnSpc>
              <a:buNone/>
            </a:pPr>
            <a:r>
              <a:rPr lang="en-US" sz="1600" dirty="0">
                <a:solidFill>
                  <a:srgbClr val="3C3939"/>
                </a:solidFill>
                <a:latin typeface="Roboto" pitchFamily="34" charset="0"/>
                <a:ea typeface="Roboto" pitchFamily="34" charset="-122"/>
                <a:cs typeface="Roboto" pitchFamily="34" charset="-120"/>
              </a:rPr>
              <a:t>Tendemos a buscar y dar más peso a la información que confirma nuestras creencias existentes.</a:t>
            </a:r>
            <a:endParaRPr lang="en-US" sz="1600" dirty="0"/>
          </a:p>
        </p:txBody>
      </p:sp>
      <p:sp>
        <p:nvSpPr>
          <p:cNvPr id="8" name="Shape 5"/>
          <p:cNvSpPr/>
          <p:nvPr/>
        </p:nvSpPr>
        <p:spPr>
          <a:xfrm>
            <a:off x="4675227" y="3532227"/>
            <a:ext cx="464344" cy="464344"/>
          </a:xfrm>
          <a:prstGeom prst="roundRect">
            <a:avLst>
              <a:gd name="adj" fmla="val 18667"/>
            </a:avLst>
          </a:prstGeom>
          <a:solidFill>
            <a:srgbClr val="E1E1EA"/>
          </a:solidFill>
          <a:ln w="7620">
            <a:solidFill>
              <a:srgbClr val="C7C7D0"/>
            </a:solidFill>
            <a:prstDash val="solid"/>
          </a:ln>
        </p:spPr>
      </p:sp>
      <p:sp>
        <p:nvSpPr>
          <p:cNvPr id="9" name="Text 6"/>
          <p:cNvSpPr/>
          <p:nvPr/>
        </p:nvSpPr>
        <p:spPr>
          <a:xfrm>
            <a:off x="4826675" y="3609618"/>
            <a:ext cx="161330" cy="309563"/>
          </a:xfrm>
          <a:prstGeom prst="rect">
            <a:avLst/>
          </a:prstGeom>
          <a:noFill/>
          <a:ln/>
        </p:spPr>
        <p:txBody>
          <a:bodyPr wrap="none" lIns="0" tIns="0" rIns="0" bIns="0" rtlCol="0" anchor="t"/>
          <a:lstStyle/>
          <a:p>
            <a:pPr algn="ctr" indent="0" marL="0">
              <a:lnSpc>
                <a:spcPts val="2400"/>
              </a:lnSpc>
              <a:buNone/>
            </a:pPr>
            <a:r>
              <a:rPr lang="en-US" sz="2400" dirty="0">
                <a:solidFill>
                  <a:srgbClr val="3C3939"/>
                </a:solidFill>
                <a:latin typeface="Raleway" pitchFamily="34" charset="0"/>
                <a:ea typeface="Raleway" pitchFamily="34" charset="-122"/>
                <a:cs typeface="Raleway" pitchFamily="34" charset="-120"/>
              </a:rPr>
              <a:t>2</a:t>
            </a:r>
            <a:endParaRPr lang="en-US" sz="2400" dirty="0"/>
          </a:p>
        </p:txBody>
      </p:sp>
      <p:sp>
        <p:nvSpPr>
          <p:cNvPr id="10" name="Text 7"/>
          <p:cNvSpPr/>
          <p:nvPr/>
        </p:nvSpPr>
        <p:spPr>
          <a:xfrm>
            <a:off x="5345906" y="3532227"/>
            <a:ext cx="2579727" cy="322421"/>
          </a:xfrm>
          <a:prstGeom prst="rect">
            <a:avLst/>
          </a:prstGeom>
          <a:noFill/>
          <a:ln/>
        </p:spPr>
        <p:txBody>
          <a:bodyPr wrap="none" lIns="0" tIns="0" rIns="0" bIns="0" rtlCol="0" anchor="t"/>
          <a:lstStyle/>
          <a:p>
            <a:pPr indent="0" marL="0">
              <a:lnSpc>
                <a:spcPts val="2500"/>
              </a:lnSpc>
              <a:buNone/>
            </a:pPr>
            <a:r>
              <a:rPr lang="en-US" sz="2000" dirty="0">
                <a:solidFill>
                  <a:srgbClr val="3C3939"/>
                </a:solidFill>
                <a:latin typeface="Raleway" pitchFamily="34" charset="0"/>
                <a:ea typeface="Raleway" pitchFamily="34" charset="-122"/>
                <a:cs typeface="Raleway" pitchFamily="34" charset="-120"/>
              </a:rPr>
              <a:t>Efecto de anclaje</a:t>
            </a:r>
            <a:endParaRPr lang="en-US" sz="2000" dirty="0"/>
          </a:p>
        </p:txBody>
      </p:sp>
      <p:sp>
        <p:nvSpPr>
          <p:cNvPr id="11" name="Text 8"/>
          <p:cNvSpPr/>
          <p:nvPr/>
        </p:nvSpPr>
        <p:spPr>
          <a:xfrm>
            <a:off x="5345906" y="3978473"/>
            <a:ext cx="3075980" cy="990124"/>
          </a:xfrm>
          <a:prstGeom prst="rect">
            <a:avLst/>
          </a:prstGeom>
          <a:noFill/>
          <a:ln/>
        </p:spPr>
        <p:txBody>
          <a:bodyPr wrap="square" lIns="0" tIns="0" rIns="0" bIns="0" rtlCol="0" anchor="t"/>
          <a:lstStyle/>
          <a:p>
            <a:pPr indent="0" marL="0">
              <a:lnSpc>
                <a:spcPts val="2600"/>
              </a:lnSpc>
              <a:buNone/>
            </a:pPr>
            <a:r>
              <a:rPr lang="en-US" sz="1600" dirty="0">
                <a:solidFill>
                  <a:srgbClr val="3C3939"/>
                </a:solidFill>
                <a:latin typeface="Roboto" pitchFamily="34" charset="0"/>
                <a:ea typeface="Roboto" pitchFamily="34" charset="-122"/>
                <a:cs typeface="Roboto" pitchFamily="34" charset="-120"/>
              </a:rPr>
              <a:t>Nos basamos demasiado en la primera información que recibimos al tomar una decisión.</a:t>
            </a:r>
            <a:endParaRPr lang="en-US" sz="1600" dirty="0"/>
          </a:p>
        </p:txBody>
      </p:sp>
      <p:sp>
        <p:nvSpPr>
          <p:cNvPr id="12" name="Shape 9"/>
          <p:cNvSpPr/>
          <p:nvPr/>
        </p:nvSpPr>
        <p:spPr>
          <a:xfrm>
            <a:off x="722233" y="5737146"/>
            <a:ext cx="464344" cy="464344"/>
          </a:xfrm>
          <a:prstGeom prst="roundRect">
            <a:avLst>
              <a:gd name="adj" fmla="val 18667"/>
            </a:avLst>
          </a:prstGeom>
          <a:solidFill>
            <a:srgbClr val="E1E1EA"/>
          </a:solidFill>
          <a:ln w="7620">
            <a:solidFill>
              <a:srgbClr val="C7C7D0"/>
            </a:solidFill>
            <a:prstDash val="solid"/>
          </a:ln>
        </p:spPr>
      </p:sp>
      <p:sp>
        <p:nvSpPr>
          <p:cNvPr id="13" name="Text 10"/>
          <p:cNvSpPr/>
          <p:nvPr/>
        </p:nvSpPr>
        <p:spPr>
          <a:xfrm>
            <a:off x="871776" y="5814536"/>
            <a:ext cx="165259" cy="309563"/>
          </a:xfrm>
          <a:prstGeom prst="rect">
            <a:avLst/>
          </a:prstGeom>
          <a:noFill/>
          <a:ln/>
        </p:spPr>
        <p:txBody>
          <a:bodyPr wrap="none" lIns="0" tIns="0" rIns="0" bIns="0" rtlCol="0" anchor="t"/>
          <a:lstStyle/>
          <a:p>
            <a:pPr algn="ctr" indent="0" marL="0">
              <a:lnSpc>
                <a:spcPts val="2400"/>
              </a:lnSpc>
              <a:buNone/>
            </a:pPr>
            <a:r>
              <a:rPr lang="en-US" sz="2400" dirty="0">
                <a:solidFill>
                  <a:srgbClr val="3C3939"/>
                </a:solidFill>
                <a:latin typeface="Raleway" pitchFamily="34" charset="0"/>
                <a:ea typeface="Raleway" pitchFamily="34" charset="-122"/>
                <a:cs typeface="Raleway" pitchFamily="34" charset="-120"/>
              </a:rPr>
              <a:t>3</a:t>
            </a:r>
            <a:endParaRPr lang="en-US" sz="2400" dirty="0"/>
          </a:p>
        </p:txBody>
      </p:sp>
      <p:sp>
        <p:nvSpPr>
          <p:cNvPr id="14" name="Text 11"/>
          <p:cNvSpPr/>
          <p:nvPr/>
        </p:nvSpPr>
        <p:spPr>
          <a:xfrm>
            <a:off x="1392912" y="5737146"/>
            <a:ext cx="2579727" cy="322421"/>
          </a:xfrm>
          <a:prstGeom prst="rect">
            <a:avLst/>
          </a:prstGeom>
          <a:noFill/>
          <a:ln/>
        </p:spPr>
        <p:txBody>
          <a:bodyPr wrap="none" lIns="0" tIns="0" rIns="0" bIns="0" rtlCol="0" anchor="t"/>
          <a:lstStyle/>
          <a:p>
            <a:pPr indent="0" marL="0">
              <a:lnSpc>
                <a:spcPts val="2500"/>
              </a:lnSpc>
              <a:buNone/>
            </a:pPr>
            <a:r>
              <a:rPr lang="en-US" sz="2000" dirty="0">
                <a:solidFill>
                  <a:srgbClr val="3C3939"/>
                </a:solidFill>
                <a:latin typeface="Raleway" pitchFamily="34" charset="0"/>
                <a:ea typeface="Raleway" pitchFamily="34" charset="-122"/>
                <a:cs typeface="Raleway" pitchFamily="34" charset="-120"/>
              </a:rPr>
              <a:t>Aversión a la pérdida</a:t>
            </a:r>
            <a:endParaRPr lang="en-US" sz="2000" dirty="0"/>
          </a:p>
        </p:txBody>
      </p:sp>
      <p:sp>
        <p:nvSpPr>
          <p:cNvPr id="15" name="Text 12"/>
          <p:cNvSpPr/>
          <p:nvPr/>
        </p:nvSpPr>
        <p:spPr>
          <a:xfrm>
            <a:off x="1392912" y="6183392"/>
            <a:ext cx="3075980" cy="990124"/>
          </a:xfrm>
          <a:prstGeom prst="rect">
            <a:avLst/>
          </a:prstGeom>
          <a:noFill/>
          <a:ln/>
        </p:spPr>
        <p:txBody>
          <a:bodyPr wrap="square" lIns="0" tIns="0" rIns="0" bIns="0" rtlCol="0" anchor="t"/>
          <a:lstStyle/>
          <a:p>
            <a:pPr indent="0" marL="0">
              <a:lnSpc>
                <a:spcPts val="2600"/>
              </a:lnSpc>
              <a:buNone/>
            </a:pPr>
            <a:r>
              <a:rPr lang="en-US" sz="1600" dirty="0">
                <a:solidFill>
                  <a:srgbClr val="3C3939"/>
                </a:solidFill>
                <a:latin typeface="Roboto" pitchFamily="34" charset="0"/>
                <a:ea typeface="Roboto" pitchFamily="34" charset="-122"/>
                <a:cs typeface="Roboto" pitchFamily="34" charset="-120"/>
              </a:rPr>
              <a:t>Sentimos más miedo a perder algo que la motivación por ganar algo equivalente.</a:t>
            </a:r>
            <a:endParaRPr lang="en-US" sz="1600" dirty="0"/>
          </a:p>
        </p:txBody>
      </p:sp>
      <p:sp>
        <p:nvSpPr>
          <p:cNvPr id="16" name="Shape 13"/>
          <p:cNvSpPr/>
          <p:nvPr/>
        </p:nvSpPr>
        <p:spPr>
          <a:xfrm>
            <a:off x="4675227" y="5737146"/>
            <a:ext cx="464344" cy="464344"/>
          </a:xfrm>
          <a:prstGeom prst="roundRect">
            <a:avLst>
              <a:gd name="adj" fmla="val 18667"/>
            </a:avLst>
          </a:prstGeom>
          <a:solidFill>
            <a:srgbClr val="E1E1EA"/>
          </a:solidFill>
          <a:ln w="7620">
            <a:solidFill>
              <a:srgbClr val="C7C7D0"/>
            </a:solidFill>
            <a:prstDash val="solid"/>
          </a:ln>
        </p:spPr>
      </p:sp>
      <p:sp>
        <p:nvSpPr>
          <p:cNvPr id="17" name="Text 14"/>
          <p:cNvSpPr/>
          <p:nvPr/>
        </p:nvSpPr>
        <p:spPr>
          <a:xfrm>
            <a:off x="4822865" y="5814536"/>
            <a:ext cx="169069" cy="309563"/>
          </a:xfrm>
          <a:prstGeom prst="rect">
            <a:avLst/>
          </a:prstGeom>
          <a:noFill/>
          <a:ln/>
        </p:spPr>
        <p:txBody>
          <a:bodyPr wrap="none" lIns="0" tIns="0" rIns="0" bIns="0" rtlCol="0" anchor="t"/>
          <a:lstStyle/>
          <a:p>
            <a:pPr algn="ctr" indent="0" marL="0">
              <a:lnSpc>
                <a:spcPts val="2400"/>
              </a:lnSpc>
              <a:buNone/>
            </a:pPr>
            <a:r>
              <a:rPr lang="en-US" sz="2400" dirty="0">
                <a:solidFill>
                  <a:srgbClr val="3C3939"/>
                </a:solidFill>
                <a:latin typeface="Raleway" pitchFamily="34" charset="0"/>
                <a:ea typeface="Raleway" pitchFamily="34" charset="-122"/>
                <a:cs typeface="Raleway" pitchFamily="34" charset="-120"/>
              </a:rPr>
              <a:t>4</a:t>
            </a:r>
            <a:endParaRPr lang="en-US" sz="2400" dirty="0"/>
          </a:p>
        </p:txBody>
      </p:sp>
      <p:sp>
        <p:nvSpPr>
          <p:cNvPr id="18" name="Text 15"/>
          <p:cNvSpPr/>
          <p:nvPr/>
        </p:nvSpPr>
        <p:spPr>
          <a:xfrm>
            <a:off x="5345906" y="5737146"/>
            <a:ext cx="2714863" cy="322421"/>
          </a:xfrm>
          <a:prstGeom prst="rect">
            <a:avLst/>
          </a:prstGeom>
          <a:noFill/>
          <a:ln/>
        </p:spPr>
        <p:txBody>
          <a:bodyPr wrap="none" lIns="0" tIns="0" rIns="0" bIns="0" rtlCol="0" anchor="t"/>
          <a:lstStyle/>
          <a:p>
            <a:pPr indent="0" marL="0">
              <a:lnSpc>
                <a:spcPts val="2500"/>
              </a:lnSpc>
              <a:buNone/>
            </a:pPr>
            <a:r>
              <a:rPr lang="en-US" sz="2000" dirty="0">
                <a:solidFill>
                  <a:srgbClr val="3C3939"/>
                </a:solidFill>
                <a:latin typeface="Raleway" pitchFamily="34" charset="0"/>
                <a:ea typeface="Raleway" pitchFamily="34" charset="-122"/>
                <a:cs typeface="Raleway" pitchFamily="34" charset="-120"/>
              </a:rPr>
              <a:t>Pensamiento de grupo</a:t>
            </a:r>
            <a:endParaRPr lang="en-US" sz="2000" dirty="0"/>
          </a:p>
        </p:txBody>
      </p:sp>
      <p:sp>
        <p:nvSpPr>
          <p:cNvPr id="19" name="Text 16"/>
          <p:cNvSpPr/>
          <p:nvPr/>
        </p:nvSpPr>
        <p:spPr>
          <a:xfrm>
            <a:off x="5345906" y="6183392"/>
            <a:ext cx="3075980" cy="990124"/>
          </a:xfrm>
          <a:prstGeom prst="rect">
            <a:avLst/>
          </a:prstGeom>
          <a:noFill/>
          <a:ln/>
        </p:spPr>
        <p:txBody>
          <a:bodyPr wrap="square" lIns="0" tIns="0" rIns="0" bIns="0" rtlCol="0" anchor="t"/>
          <a:lstStyle/>
          <a:p>
            <a:pPr indent="0" marL="0">
              <a:lnSpc>
                <a:spcPts val="2600"/>
              </a:lnSpc>
              <a:buNone/>
            </a:pPr>
            <a:r>
              <a:rPr lang="en-US" sz="1600" dirty="0">
                <a:solidFill>
                  <a:srgbClr val="3C3939"/>
                </a:solidFill>
                <a:latin typeface="Roboto" pitchFamily="34" charset="0"/>
                <a:ea typeface="Roboto" pitchFamily="34" charset="-122"/>
                <a:cs typeface="Roboto" pitchFamily="34" charset="-120"/>
              </a:rPr>
              <a:t>Tendemos a alinearnos con las opiniones del grupo, incluso si no las compartimos.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71380"/>
          </a:xfrm>
          <a:prstGeom prst="rect">
            <a:avLst/>
          </a:prstGeom>
        </p:spPr>
      </p:pic>
      <p:sp>
        <p:nvSpPr>
          <p:cNvPr id="3" name="Text 0"/>
          <p:cNvSpPr/>
          <p:nvPr/>
        </p:nvSpPr>
        <p:spPr>
          <a:xfrm>
            <a:off x="691991" y="3015020"/>
            <a:ext cx="13246418" cy="1235869"/>
          </a:xfrm>
          <a:prstGeom prst="rect">
            <a:avLst/>
          </a:prstGeom>
          <a:noFill/>
          <a:ln/>
        </p:spPr>
        <p:txBody>
          <a:bodyPr wrap="square" lIns="0" tIns="0" rIns="0" bIns="0" rtlCol="0" anchor="t"/>
          <a:lstStyle/>
          <a:p>
            <a:pPr indent="0" marL="0">
              <a:lnSpc>
                <a:spcPts val="4850"/>
              </a:lnSpc>
              <a:buNone/>
            </a:pPr>
            <a:r>
              <a:rPr lang="en-US" sz="3850" dirty="0">
                <a:solidFill>
                  <a:srgbClr val="1B1B27"/>
                </a:solidFill>
                <a:latin typeface="Raleway" pitchFamily="34" charset="0"/>
                <a:ea typeface="Raleway" pitchFamily="34" charset="-122"/>
                <a:cs typeface="Raleway" pitchFamily="34" charset="-120"/>
              </a:rPr>
              <a:t>Estrategias para ampliar nuestras perspectivas y tomar mejores decisiones</a:t>
            </a:r>
            <a:endParaRPr lang="en-US" sz="3850" dirty="0"/>
          </a:p>
        </p:txBody>
      </p:sp>
      <p:sp>
        <p:nvSpPr>
          <p:cNvPr id="4" name="Shape 1"/>
          <p:cNvSpPr/>
          <p:nvPr/>
        </p:nvSpPr>
        <p:spPr>
          <a:xfrm>
            <a:off x="691991" y="4547354"/>
            <a:ext cx="6524387" cy="1470779"/>
          </a:xfrm>
          <a:prstGeom prst="roundRect">
            <a:avLst>
              <a:gd name="adj" fmla="val 5646"/>
            </a:avLst>
          </a:prstGeom>
          <a:solidFill>
            <a:srgbClr val="E1E1EA"/>
          </a:solidFill>
          <a:ln w="7620">
            <a:solidFill>
              <a:srgbClr val="C7C7D0"/>
            </a:solidFill>
            <a:prstDash val="solid"/>
          </a:ln>
        </p:spPr>
      </p:sp>
      <p:sp>
        <p:nvSpPr>
          <p:cNvPr id="5" name="Text 2"/>
          <p:cNvSpPr/>
          <p:nvPr/>
        </p:nvSpPr>
        <p:spPr>
          <a:xfrm>
            <a:off x="897255" y="4752618"/>
            <a:ext cx="2471380" cy="308967"/>
          </a:xfrm>
          <a:prstGeom prst="rect">
            <a:avLst/>
          </a:prstGeom>
          <a:noFill/>
          <a:ln/>
        </p:spPr>
        <p:txBody>
          <a:bodyPr wrap="none" lIns="0" tIns="0" rIns="0" bIns="0" rtlCol="0" anchor="t"/>
          <a:lstStyle/>
          <a:p>
            <a:pPr indent="0" marL="0">
              <a:lnSpc>
                <a:spcPts val="2400"/>
              </a:lnSpc>
              <a:buNone/>
            </a:pPr>
            <a:r>
              <a:rPr lang="en-US" sz="1900" dirty="0">
                <a:solidFill>
                  <a:srgbClr val="3C3939"/>
                </a:solidFill>
                <a:latin typeface="Raleway" pitchFamily="34" charset="0"/>
                <a:ea typeface="Raleway" pitchFamily="34" charset="-122"/>
                <a:cs typeface="Raleway" pitchFamily="34" charset="-120"/>
              </a:rPr>
              <a:t>Diversidad</a:t>
            </a:r>
            <a:endParaRPr lang="en-US" sz="1900" dirty="0"/>
          </a:p>
        </p:txBody>
      </p:sp>
      <p:sp>
        <p:nvSpPr>
          <p:cNvPr id="6" name="Text 3"/>
          <p:cNvSpPr/>
          <p:nvPr/>
        </p:nvSpPr>
        <p:spPr>
          <a:xfrm>
            <a:off x="897255" y="5180171"/>
            <a:ext cx="6113859" cy="632698"/>
          </a:xfrm>
          <a:prstGeom prst="rect">
            <a:avLst/>
          </a:prstGeom>
          <a:noFill/>
          <a:ln/>
        </p:spPr>
        <p:txBody>
          <a:bodyPr wrap="square" lIns="0" tIns="0" rIns="0" bIns="0" rtlCol="0" anchor="t"/>
          <a:lstStyle/>
          <a:p>
            <a:pPr indent="0" marL="0">
              <a:lnSpc>
                <a:spcPts val="2450"/>
              </a:lnSpc>
              <a:buNone/>
            </a:pPr>
            <a:r>
              <a:rPr lang="en-US" sz="1550" dirty="0">
                <a:solidFill>
                  <a:srgbClr val="3C3939"/>
                </a:solidFill>
                <a:latin typeface="Roboto" pitchFamily="34" charset="0"/>
                <a:ea typeface="Roboto" pitchFamily="34" charset="-122"/>
                <a:cs typeface="Roboto" pitchFamily="34" charset="-120"/>
              </a:rPr>
              <a:t>Buscar información y opiniones de personas con diferentes antecedentes y experiencias.</a:t>
            </a:r>
            <a:endParaRPr lang="en-US" sz="1550" dirty="0"/>
          </a:p>
        </p:txBody>
      </p:sp>
      <p:sp>
        <p:nvSpPr>
          <p:cNvPr id="7" name="Shape 4"/>
          <p:cNvSpPr/>
          <p:nvPr/>
        </p:nvSpPr>
        <p:spPr>
          <a:xfrm>
            <a:off x="7414022" y="4547354"/>
            <a:ext cx="6524387" cy="1470779"/>
          </a:xfrm>
          <a:prstGeom prst="roundRect">
            <a:avLst>
              <a:gd name="adj" fmla="val 5646"/>
            </a:avLst>
          </a:prstGeom>
          <a:solidFill>
            <a:srgbClr val="E1E1EA"/>
          </a:solidFill>
          <a:ln w="7620">
            <a:solidFill>
              <a:srgbClr val="C7C7D0"/>
            </a:solidFill>
            <a:prstDash val="solid"/>
          </a:ln>
        </p:spPr>
      </p:sp>
      <p:sp>
        <p:nvSpPr>
          <p:cNvPr id="8" name="Text 5"/>
          <p:cNvSpPr/>
          <p:nvPr/>
        </p:nvSpPr>
        <p:spPr>
          <a:xfrm>
            <a:off x="7619286" y="4752618"/>
            <a:ext cx="2471380" cy="308967"/>
          </a:xfrm>
          <a:prstGeom prst="rect">
            <a:avLst/>
          </a:prstGeom>
          <a:noFill/>
          <a:ln/>
        </p:spPr>
        <p:txBody>
          <a:bodyPr wrap="none" lIns="0" tIns="0" rIns="0" bIns="0" rtlCol="0" anchor="t"/>
          <a:lstStyle/>
          <a:p>
            <a:pPr indent="0" marL="0">
              <a:lnSpc>
                <a:spcPts val="2400"/>
              </a:lnSpc>
              <a:buNone/>
            </a:pPr>
            <a:r>
              <a:rPr lang="en-US" sz="1900" dirty="0">
                <a:solidFill>
                  <a:srgbClr val="3C3939"/>
                </a:solidFill>
                <a:latin typeface="Raleway" pitchFamily="34" charset="0"/>
                <a:ea typeface="Raleway" pitchFamily="34" charset="-122"/>
                <a:cs typeface="Raleway" pitchFamily="34" charset="-120"/>
              </a:rPr>
              <a:t>Autocrítica</a:t>
            </a:r>
            <a:endParaRPr lang="en-US" sz="1900" dirty="0"/>
          </a:p>
        </p:txBody>
      </p:sp>
      <p:sp>
        <p:nvSpPr>
          <p:cNvPr id="9" name="Text 6"/>
          <p:cNvSpPr/>
          <p:nvPr/>
        </p:nvSpPr>
        <p:spPr>
          <a:xfrm>
            <a:off x="7619286" y="5180171"/>
            <a:ext cx="6113859" cy="632698"/>
          </a:xfrm>
          <a:prstGeom prst="rect">
            <a:avLst/>
          </a:prstGeom>
          <a:noFill/>
          <a:ln/>
        </p:spPr>
        <p:txBody>
          <a:bodyPr wrap="square" lIns="0" tIns="0" rIns="0" bIns="0" rtlCol="0" anchor="t"/>
          <a:lstStyle/>
          <a:p>
            <a:pPr indent="0" marL="0">
              <a:lnSpc>
                <a:spcPts val="2450"/>
              </a:lnSpc>
              <a:buNone/>
            </a:pPr>
            <a:r>
              <a:rPr lang="en-US" sz="1550" dirty="0">
                <a:solidFill>
                  <a:srgbClr val="3C3939"/>
                </a:solidFill>
                <a:latin typeface="Roboto" pitchFamily="34" charset="0"/>
                <a:ea typeface="Roboto" pitchFamily="34" charset="-122"/>
                <a:cs typeface="Roboto" pitchFamily="34" charset="-120"/>
              </a:rPr>
              <a:t>Cuestionar nuestras propias suposiciones y estar abiertos a recibir retroalimentación.</a:t>
            </a:r>
            <a:endParaRPr lang="en-US" sz="1550" dirty="0"/>
          </a:p>
        </p:txBody>
      </p:sp>
      <p:sp>
        <p:nvSpPr>
          <p:cNvPr id="10" name="Shape 7"/>
          <p:cNvSpPr/>
          <p:nvPr/>
        </p:nvSpPr>
        <p:spPr>
          <a:xfrm>
            <a:off x="691991" y="6215777"/>
            <a:ext cx="6524387" cy="1470779"/>
          </a:xfrm>
          <a:prstGeom prst="roundRect">
            <a:avLst>
              <a:gd name="adj" fmla="val 5646"/>
            </a:avLst>
          </a:prstGeom>
          <a:solidFill>
            <a:srgbClr val="E1E1EA"/>
          </a:solidFill>
          <a:ln w="7620">
            <a:solidFill>
              <a:srgbClr val="C7C7D0"/>
            </a:solidFill>
            <a:prstDash val="solid"/>
          </a:ln>
        </p:spPr>
      </p:sp>
      <p:sp>
        <p:nvSpPr>
          <p:cNvPr id="11" name="Text 8"/>
          <p:cNvSpPr/>
          <p:nvPr/>
        </p:nvSpPr>
        <p:spPr>
          <a:xfrm>
            <a:off x="897255" y="6421041"/>
            <a:ext cx="2471380" cy="308967"/>
          </a:xfrm>
          <a:prstGeom prst="rect">
            <a:avLst/>
          </a:prstGeom>
          <a:noFill/>
          <a:ln/>
        </p:spPr>
        <p:txBody>
          <a:bodyPr wrap="none" lIns="0" tIns="0" rIns="0" bIns="0" rtlCol="0" anchor="t"/>
          <a:lstStyle/>
          <a:p>
            <a:pPr indent="0" marL="0">
              <a:lnSpc>
                <a:spcPts val="2400"/>
              </a:lnSpc>
              <a:buNone/>
            </a:pPr>
            <a:r>
              <a:rPr lang="en-US" sz="1900" dirty="0">
                <a:solidFill>
                  <a:srgbClr val="3C3939"/>
                </a:solidFill>
                <a:latin typeface="Raleway" pitchFamily="34" charset="0"/>
                <a:ea typeface="Raleway" pitchFamily="34" charset="-122"/>
                <a:cs typeface="Raleway" pitchFamily="34" charset="-120"/>
              </a:rPr>
              <a:t>Pensamiento crítico</a:t>
            </a:r>
            <a:endParaRPr lang="en-US" sz="1900" dirty="0"/>
          </a:p>
        </p:txBody>
      </p:sp>
      <p:sp>
        <p:nvSpPr>
          <p:cNvPr id="12" name="Text 9"/>
          <p:cNvSpPr/>
          <p:nvPr/>
        </p:nvSpPr>
        <p:spPr>
          <a:xfrm>
            <a:off x="897255" y="6848594"/>
            <a:ext cx="6113859" cy="632698"/>
          </a:xfrm>
          <a:prstGeom prst="rect">
            <a:avLst/>
          </a:prstGeom>
          <a:noFill/>
          <a:ln/>
        </p:spPr>
        <p:txBody>
          <a:bodyPr wrap="square" lIns="0" tIns="0" rIns="0" bIns="0" rtlCol="0" anchor="t"/>
          <a:lstStyle/>
          <a:p>
            <a:pPr indent="0" marL="0">
              <a:lnSpc>
                <a:spcPts val="2450"/>
              </a:lnSpc>
              <a:buNone/>
            </a:pPr>
            <a:r>
              <a:rPr lang="en-US" sz="1550" dirty="0">
                <a:solidFill>
                  <a:srgbClr val="3C3939"/>
                </a:solidFill>
                <a:latin typeface="Roboto" pitchFamily="34" charset="0"/>
                <a:ea typeface="Roboto" pitchFamily="34" charset="-122"/>
                <a:cs typeface="Roboto" pitchFamily="34" charset="-120"/>
              </a:rPr>
              <a:t>Analizar detenidamente los pros y contras de cada opción antes de tomar una decisión.</a:t>
            </a:r>
            <a:endParaRPr lang="en-US" sz="1550" dirty="0"/>
          </a:p>
        </p:txBody>
      </p:sp>
      <p:sp>
        <p:nvSpPr>
          <p:cNvPr id="13" name="Shape 10"/>
          <p:cNvSpPr/>
          <p:nvPr/>
        </p:nvSpPr>
        <p:spPr>
          <a:xfrm>
            <a:off x="7414022" y="6215777"/>
            <a:ext cx="6524387" cy="1470779"/>
          </a:xfrm>
          <a:prstGeom prst="roundRect">
            <a:avLst>
              <a:gd name="adj" fmla="val 5646"/>
            </a:avLst>
          </a:prstGeom>
          <a:solidFill>
            <a:srgbClr val="E1E1EA"/>
          </a:solidFill>
          <a:ln w="7620">
            <a:solidFill>
              <a:srgbClr val="C7C7D0"/>
            </a:solidFill>
            <a:prstDash val="solid"/>
          </a:ln>
        </p:spPr>
      </p:sp>
      <p:sp>
        <p:nvSpPr>
          <p:cNvPr id="14" name="Text 11"/>
          <p:cNvSpPr/>
          <p:nvPr/>
        </p:nvSpPr>
        <p:spPr>
          <a:xfrm>
            <a:off x="7619286" y="6421041"/>
            <a:ext cx="2471380" cy="308967"/>
          </a:xfrm>
          <a:prstGeom prst="rect">
            <a:avLst/>
          </a:prstGeom>
          <a:noFill/>
          <a:ln/>
        </p:spPr>
        <p:txBody>
          <a:bodyPr wrap="none" lIns="0" tIns="0" rIns="0" bIns="0" rtlCol="0" anchor="t"/>
          <a:lstStyle/>
          <a:p>
            <a:pPr indent="0" marL="0">
              <a:lnSpc>
                <a:spcPts val="2400"/>
              </a:lnSpc>
              <a:buNone/>
            </a:pPr>
            <a:r>
              <a:rPr lang="en-US" sz="1900" dirty="0">
                <a:solidFill>
                  <a:srgbClr val="3C3939"/>
                </a:solidFill>
                <a:latin typeface="Raleway" pitchFamily="34" charset="0"/>
                <a:ea typeface="Raleway" pitchFamily="34" charset="-122"/>
                <a:cs typeface="Raleway" pitchFamily="34" charset="-120"/>
              </a:rPr>
              <a:t>Experimentación</a:t>
            </a:r>
            <a:endParaRPr lang="en-US" sz="1900" dirty="0"/>
          </a:p>
        </p:txBody>
      </p:sp>
      <p:sp>
        <p:nvSpPr>
          <p:cNvPr id="15" name="Text 12"/>
          <p:cNvSpPr/>
          <p:nvPr/>
        </p:nvSpPr>
        <p:spPr>
          <a:xfrm>
            <a:off x="7619286" y="6848594"/>
            <a:ext cx="6113859" cy="316349"/>
          </a:xfrm>
          <a:prstGeom prst="rect">
            <a:avLst/>
          </a:prstGeom>
          <a:noFill/>
          <a:ln/>
        </p:spPr>
        <p:txBody>
          <a:bodyPr wrap="none" lIns="0" tIns="0" rIns="0" bIns="0" rtlCol="0" anchor="t"/>
          <a:lstStyle/>
          <a:p>
            <a:pPr indent="0" marL="0">
              <a:lnSpc>
                <a:spcPts val="2450"/>
              </a:lnSpc>
              <a:buNone/>
            </a:pPr>
            <a:r>
              <a:rPr lang="en-US" sz="1550" dirty="0">
                <a:solidFill>
                  <a:srgbClr val="3C3939"/>
                </a:solidFill>
                <a:latin typeface="Roboto" pitchFamily="34" charset="0"/>
                <a:ea typeface="Roboto" pitchFamily="34" charset="-122"/>
                <a:cs typeface="Roboto" pitchFamily="34" charset="-120"/>
              </a:rPr>
              <a:t>Probar diferentes enfoques y estar abiertos a aprender de los errores.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639979"/>
            <a:ext cx="10690979" cy="708779"/>
          </a:xfrm>
          <a:prstGeom prst="rect">
            <a:avLst/>
          </a:prstGeom>
          <a:noFill/>
          <a:ln/>
        </p:spPr>
        <p:txBody>
          <a:bodyPr wrap="none" lIns="0" tIns="0" rIns="0" bIns="0" rtlCol="0" anchor="t"/>
          <a:lstStyle/>
          <a:p>
            <a:pPr indent="0" marL="0">
              <a:lnSpc>
                <a:spcPts val="5550"/>
              </a:lnSpc>
              <a:buNone/>
            </a:pPr>
            <a:r>
              <a:rPr lang="en-US" sz="4450" dirty="0">
                <a:solidFill>
                  <a:srgbClr val="1B1B27"/>
                </a:solidFill>
                <a:latin typeface="Raleway" pitchFamily="34" charset="0"/>
                <a:ea typeface="Raleway" pitchFamily="34" charset="-122"/>
                <a:cs typeface="Raleway" pitchFamily="34" charset="-120"/>
              </a:rPr>
              <a:t>Aplicación práctica: ejemplos y ejercicios</a:t>
            </a:r>
            <a:endParaRPr lang="en-US" sz="4450" dirty="0"/>
          </a:p>
        </p:txBody>
      </p:sp>
      <p:pic>
        <p:nvPicPr>
          <p:cNvPr id="4" name="Image 1" descr="preencoded.png">    </p:cNvPr>
          <p:cNvPicPr>
            <a:picLocks noChangeAspect="1"/>
          </p:cNvPicPr>
          <p:nvPr/>
        </p:nvPicPr>
        <p:blipFill>
          <a:blip r:embed="rId2"/>
          <a:stretch>
            <a:fillRect/>
          </a:stretch>
        </p:blipFill>
        <p:spPr>
          <a:xfrm>
            <a:off x="793790" y="4688919"/>
            <a:ext cx="566976" cy="566976"/>
          </a:xfrm>
          <a:prstGeom prst="rect">
            <a:avLst/>
          </a:prstGeom>
        </p:spPr>
      </p:pic>
      <p:sp>
        <p:nvSpPr>
          <p:cNvPr id="5" name="Text 1"/>
          <p:cNvSpPr/>
          <p:nvPr/>
        </p:nvSpPr>
        <p:spPr>
          <a:xfrm>
            <a:off x="793790" y="548270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Reflexión</a:t>
            </a:r>
            <a:endParaRPr lang="en-US" sz="2200" dirty="0"/>
          </a:p>
        </p:txBody>
      </p:sp>
      <p:sp>
        <p:nvSpPr>
          <p:cNvPr id="6" name="Text 2"/>
          <p:cNvSpPr/>
          <p:nvPr/>
        </p:nvSpPr>
        <p:spPr>
          <a:xfrm>
            <a:off x="793790" y="5973128"/>
            <a:ext cx="3005495" cy="1451610"/>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Analiza tus últimas decisiones e identifica cómo tus perspectivas y sesgos pudieron haberlas influido.</a:t>
            </a:r>
            <a:endParaRPr lang="en-US" sz="1750" dirty="0"/>
          </a:p>
        </p:txBody>
      </p:sp>
      <p:pic>
        <p:nvPicPr>
          <p:cNvPr id="7" name="Image 2" descr="preencoded.png">    </p:cNvPr>
          <p:cNvPicPr>
            <a:picLocks noChangeAspect="1"/>
          </p:cNvPicPr>
          <p:nvPr/>
        </p:nvPicPr>
        <p:blipFill>
          <a:blip r:embed="rId3"/>
          <a:stretch>
            <a:fillRect/>
          </a:stretch>
        </p:blipFill>
        <p:spPr>
          <a:xfrm>
            <a:off x="4139446" y="4688919"/>
            <a:ext cx="566976" cy="566976"/>
          </a:xfrm>
          <a:prstGeom prst="rect">
            <a:avLst/>
          </a:prstGeom>
        </p:spPr>
      </p:pic>
      <p:sp>
        <p:nvSpPr>
          <p:cNvPr id="8" name="Text 3"/>
          <p:cNvSpPr/>
          <p:nvPr/>
        </p:nvSpPr>
        <p:spPr>
          <a:xfrm>
            <a:off x="4139446" y="548270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Colaboración</a:t>
            </a:r>
            <a:endParaRPr lang="en-US" sz="2200" dirty="0"/>
          </a:p>
        </p:txBody>
      </p:sp>
      <p:sp>
        <p:nvSpPr>
          <p:cNvPr id="9" name="Text 4"/>
          <p:cNvSpPr/>
          <p:nvPr/>
        </p:nvSpPr>
        <p:spPr>
          <a:xfrm>
            <a:off x="4139446" y="5973128"/>
            <a:ext cx="3005614" cy="1451610"/>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Involucra a personas con diferentes experiencias y antecedentes en tu próxima decisión importante.</a:t>
            </a:r>
            <a:endParaRPr lang="en-US" sz="1750" dirty="0"/>
          </a:p>
        </p:txBody>
      </p:sp>
      <p:pic>
        <p:nvPicPr>
          <p:cNvPr id="10" name="Image 3" descr="preencoded.png">    </p:cNvPr>
          <p:cNvPicPr>
            <a:picLocks noChangeAspect="1"/>
          </p:cNvPicPr>
          <p:nvPr/>
        </p:nvPicPr>
        <p:blipFill>
          <a:blip r:embed="rId4"/>
          <a:stretch>
            <a:fillRect/>
          </a:stretch>
        </p:blipFill>
        <p:spPr>
          <a:xfrm>
            <a:off x="7485221" y="4688919"/>
            <a:ext cx="566976" cy="566976"/>
          </a:xfrm>
          <a:prstGeom prst="rect">
            <a:avLst/>
          </a:prstGeom>
        </p:spPr>
      </p:pic>
      <p:sp>
        <p:nvSpPr>
          <p:cNvPr id="11" name="Text 5"/>
          <p:cNvSpPr/>
          <p:nvPr/>
        </p:nvSpPr>
        <p:spPr>
          <a:xfrm>
            <a:off x="7485221" y="548270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Evaluación</a:t>
            </a:r>
            <a:endParaRPr lang="en-US" sz="2200" dirty="0"/>
          </a:p>
        </p:txBody>
      </p:sp>
      <p:sp>
        <p:nvSpPr>
          <p:cNvPr id="12" name="Text 6"/>
          <p:cNvSpPr/>
          <p:nvPr/>
        </p:nvSpPr>
        <p:spPr>
          <a:xfrm>
            <a:off x="7485221" y="5973128"/>
            <a:ext cx="3005614" cy="1451610"/>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Desarrolla un proceso estructurado para evaluar las diferentes opciones y sus posibles consecuencias.</a:t>
            </a:r>
            <a:endParaRPr lang="en-US" sz="1750" dirty="0"/>
          </a:p>
        </p:txBody>
      </p:sp>
      <p:pic>
        <p:nvPicPr>
          <p:cNvPr id="13" name="Image 4" descr="preencoded.png">    </p:cNvPr>
          <p:cNvPicPr>
            <a:picLocks noChangeAspect="1"/>
          </p:cNvPicPr>
          <p:nvPr/>
        </p:nvPicPr>
        <p:blipFill>
          <a:blip r:embed="rId5"/>
          <a:stretch>
            <a:fillRect/>
          </a:stretch>
        </p:blipFill>
        <p:spPr>
          <a:xfrm>
            <a:off x="10830997" y="4688919"/>
            <a:ext cx="566976" cy="566976"/>
          </a:xfrm>
          <a:prstGeom prst="rect">
            <a:avLst/>
          </a:prstGeom>
        </p:spPr>
      </p:pic>
      <p:sp>
        <p:nvSpPr>
          <p:cNvPr id="14" name="Text 7"/>
          <p:cNvSpPr/>
          <p:nvPr/>
        </p:nvSpPr>
        <p:spPr>
          <a:xfrm>
            <a:off x="10830997" y="548270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Mejora continua</a:t>
            </a:r>
            <a:endParaRPr lang="en-US" sz="2200" dirty="0"/>
          </a:p>
        </p:txBody>
      </p:sp>
      <p:sp>
        <p:nvSpPr>
          <p:cNvPr id="15" name="Text 8"/>
          <p:cNvSpPr/>
          <p:nvPr/>
        </p:nvSpPr>
        <p:spPr>
          <a:xfrm>
            <a:off x="10830997" y="5973128"/>
            <a:ext cx="3005614" cy="1451610"/>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Aprende de tus experiencias y ajusta tus estrategias para tomar mejores decisiones en el futuro.</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2024-11-03T08:37:08Z</dcterms:created>
  <dcterms:modified xsi:type="dcterms:W3CDTF">2024-11-03T08:37:08Z</dcterms:modified>
</cp:coreProperties>
</file>