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4630400" cy="8229600"/>
  <p:notesSz cx="8229600" cy="14630400"/>
  <p:embeddedFontLst>
    <p:embeddedFont>
      <p:font typeface="Raleway"/>
      <p:regular r:id="rId12"/>
    </p:embeddedFont>
    <p:embeddedFont>
      <p:font typeface="Raleway"/>
      <p:regular r:id="rId13"/>
    </p:embeddedFont>
    <p:embeddedFont>
      <p:font typeface="Raleway"/>
      <p:regular r:id="rId14"/>
    </p:embeddedFont>
    <p:embeddedFont>
      <p:font typeface="Raleway"/>
      <p:regular r:id="rId15"/>
    </p:embeddedFont>
    <p:embeddedFont>
      <p:font typeface="Roboto"/>
      <p:regular r:id="rId16"/>
    </p:embeddedFont>
    <p:embeddedFont>
      <p:font typeface="Roboto"/>
      <p:regular r:id="rId17"/>
    </p:embeddedFont>
    <p:embeddedFont>
      <p:font typeface="Roboto"/>
      <p:regular r:id="rId18"/>
    </p:embeddedFont>
    <p:embeddedFont>
      <p:font typeface="Roboto"/>
      <p:regular r:id="rId19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font" Target="fonts/font1.fntdata"/><Relationship Id="rId13" Type="http://schemas.openxmlformats.org/officeDocument/2006/relationships/font" Target="fonts/font2.fntdata"/><Relationship Id="rId14" Type="http://schemas.openxmlformats.org/officeDocument/2006/relationships/font" Target="fonts/font3.fntdata"/><Relationship Id="rId15" Type="http://schemas.openxmlformats.org/officeDocument/2006/relationships/font" Target="fonts/font4.fntdata"/><Relationship Id="rId16" Type="http://schemas.openxmlformats.org/officeDocument/2006/relationships/font" Target="fonts/font5.fntdata"/><Relationship Id="rId17" Type="http://schemas.openxmlformats.org/officeDocument/2006/relationships/font" Target="fonts/font6.fntdata"/><Relationship Id="rId18" Type="http://schemas.openxmlformats.org/officeDocument/2006/relationships/font" Target="fonts/font7.fntdata"/><Relationship Id="rId19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6.xml"/><Relationship Id="rId7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262420"/>
            <a:ext cx="7556421" cy="3912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7700"/>
              </a:lnSpc>
              <a:buNone/>
            </a:pPr>
            <a:r>
              <a:rPr lang="en-US" sz="61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Impacto de la percepción en el pensamiento sistémico</a:t>
            </a:r>
            <a:endParaRPr lang="en-US" sz="6150" dirty="0"/>
          </a:p>
        </p:txBody>
      </p:sp>
      <p:sp>
        <p:nvSpPr>
          <p:cNvPr id="4" name="Text 1"/>
          <p:cNvSpPr/>
          <p:nvPr/>
        </p:nvSpPr>
        <p:spPr>
          <a:xfrm>
            <a:off x="793790" y="5515451"/>
            <a:ext cx="75564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Nuestra percepción del mundo tiene un impacto significativo en cómo entendemos y analizamos los sistemas complejos. La forma en la que observamos y procesamos la información determina en gran medida nuestra comprensión de las dinámicas y relaciones dentro de un sistema.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56627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8542" y="3130868"/>
            <a:ext cx="8710970" cy="641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050"/>
              </a:lnSpc>
              <a:buNone/>
            </a:pPr>
            <a:r>
              <a:rPr lang="en-US" sz="40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Definición de pensamiento sistémico</a:t>
            </a:r>
            <a:endParaRPr lang="en-US" sz="4000" dirty="0"/>
          </a:p>
        </p:txBody>
      </p:sp>
      <p:sp>
        <p:nvSpPr>
          <p:cNvPr id="4" name="Shape 1"/>
          <p:cNvSpPr/>
          <p:nvPr/>
        </p:nvSpPr>
        <p:spPr>
          <a:xfrm>
            <a:off x="718542" y="4080272"/>
            <a:ext cx="6494026" cy="1854637"/>
          </a:xfrm>
          <a:prstGeom prst="roundRect">
            <a:avLst>
              <a:gd name="adj" fmla="val 4649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31426" y="4293156"/>
            <a:ext cx="2566273" cy="320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Visión Holística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931426" y="4736902"/>
            <a:ext cx="6068258" cy="985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pensamiento sistémico implica ver las cosas como un todo interconectado, en lugar de enfocarse solo en sus partes individuales.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417832" y="4080272"/>
            <a:ext cx="6494026" cy="1854637"/>
          </a:xfrm>
          <a:prstGeom prst="roundRect">
            <a:avLst>
              <a:gd name="adj" fmla="val 4649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630716" y="4293156"/>
            <a:ext cx="2566273" cy="320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Interdependencia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7630716" y="4736902"/>
            <a:ext cx="6068258" cy="6567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Reconoce que los elementos de un sistema están relacionados y que los cambios en uno afectan a los demás.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18542" y="6140172"/>
            <a:ext cx="6494026" cy="1526262"/>
          </a:xfrm>
          <a:prstGeom prst="roundRect">
            <a:avLst>
              <a:gd name="adj" fmla="val 5650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31426" y="6353056"/>
            <a:ext cx="2566273" cy="320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Complejidad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931426" y="6796802"/>
            <a:ext cx="6068258" cy="6567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Abarca la comprensión de los patrones y dinámicas complejas que surgen de las interacciones dentro del sistema.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417832" y="6140172"/>
            <a:ext cx="6494026" cy="1526262"/>
          </a:xfrm>
          <a:prstGeom prst="roundRect">
            <a:avLst>
              <a:gd name="adj" fmla="val 5650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630716" y="6353056"/>
            <a:ext cx="2566273" cy="320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Adaptabilidad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7630716" y="6796802"/>
            <a:ext cx="6068258" cy="6567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Implica estar dispuesto a ajustar nuestra perspectiva a medida que evolucionan los sistemas.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04060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Cómo la percepción influye en la comprensión de un sistema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98859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Sesgos Cognitivos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569738"/>
            <a:ext cx="397811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Nuestras creencias previas, experiencias y expectativas pueden sesgar nuestra percepción de la realidad.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5332928" y="3988594"/>
            <a:ext cx="300656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Perspectivas Limitadas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332928" y="4569738"/>
            <a:ext cx="39781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Nuestra posición o rol dentro del sistema puede restringir nuestra visión de las relaciones e interacciones clave.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9872067" y="3988594"/>
            <a:ext cx="287571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Emociones e Intuición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872067" y="4569738"/>
            <a:ext cx="397811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Nuestras emociones y percepciones intuitivas pueden influir en cómo interpretamos y respondemos a los fenómenos sistémicos.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75296" y="981908"/>
            <a:ext cx="7766209" cy="12301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800"/>
              </a:lnSpc>
              <a:buNone/>
            </a:pPr>
            <a:r>
              <a:rPr lang="en-US" sz="3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Sesgos inconscientes y su impacto en el análisis sistémico</a:t>
            </a:r>
            <a:endParaRPr lang="en-US" sz="3850" dirty="0"/>
          </a:p>
        </p:txBody>
      </p:sp>
      <p:sp>
        <p:nvSpPr>
          <p:cNvPr id="4" name="Shape 1"/>
          <p:cNvSpPr/>
          <p:nvPr/>
        </p:nvSpPr>
        <p:spPr>
          <a:xfrm>
            <a:off x="6459141" y="2507337"/>
            <a:ext cx="22860" cy="4740235"/>
          </a:xfrm>
          <a:prstGeom prst="roundRect">
            <a:avLst>
              <a:gd name="adj" fmla="val 361673"/>
            </a:avLst>
          </a:prstGeom>
          <a:solidFill>
            <a:srgbClr val="C7C7D0"/>
          </a:solidFill>
          <a:ln/>
        </p:spPr>
      </p:sp>
      <p:sp>
        <p:nvSpPr>
          <p:cNvPr id="5" name="Shape 2"/>
          <p:cNvSpPr/>
          <p:nvPr/>
        </p:nvSpPr>
        <p:spPr>
          <a:xfrm>
            <a:off x="6669167" y="2938820"/>
            <a:ext cx="688896" cy="22860"/>
          </a:xfrm>
          <a:prstGeom prst="roundRect">
            <a:avLst>
              <a:gd name="adj" fmla="val 361673"/>
            </a:avLst>
          </a:prstGeom>
          <a:solidFill>
            <a:srgbClr val="C7C7D0"/>
          </a:solidFill>
          <a:ln/>
        </p:spPr>
      </p:sp>
      <p:sp>
        <p:nvSpPr>
          <p:cNvPr id="6" name="Shape 3"/>
          <p:cNvSpPr/>
          <p:nvPr/>
        </p:nvSpPr>
        <p:spPr>
          <a:xfrm>
            <a:off x="6249114" y="2728793"/>
            <a:ext cx="442913" cy="442913"/>
          </a:xfrm>
          <a:prstGeom prst="roundRect">
            <a:avLst>
              <a:gd name="adj" fmla="val 18667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7348" y="2802612"/>
            <a:ext cx="12644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2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2300" dirty="0"/>
          </a:p>
        </p:txBody>
      </p:sp>
      <p:sp>
        <p:nvSpPr>
          <p:cNvPr id="8" name="Text 5"/>
          <p:cNvSpPr/>
          <p:nvPr/>
        </p:nvSpPr>
        <p:spPr>
          <a:xfrm>
            <a:off x="7553206" y="2704148"/>
            <a:ext cx="2460665" cy="307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Confirmación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7553206" y="3129796"/>
            <a:ext cx="6388298" cy="629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Tendemos a buscar y aceptar información que confirma nuestras creencias existentes, ignorando evidencia contraria.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6669167" y="4584502"/>
            <a:ext cx="688896" cy="22860"/>
          </a:xfrm>
          <a:prstGeom prst="roundRect">
            <a:avLst>
              <a:gd name="adj" fmla="val 361673"/>
            </a:avLst>
          </a:prstGeom>
          <a:solidFill>
            <a:srgbClr val="C7C7D0"/>
          </a:solidFill>
          <a:ln/>
        </p:spPr>
      </p:sp>
      <p:sp>
        <p:nvSpPr>
          <p:cNvPr id="11" name="Shape 8"/>
          <p:cNvSpPr/>
          <p:nvPr/>
        </p:nvSpPr>
        <p:spPr>
          <a:xfrm>
            <a:off x="6249114" y="4374475"/>
            <a:ext cx="442913" cy="442913"/>
          </a:xfrm>
          <a:prstGeom prst="roundRect">
            <a:avLst>
              <a:gd name="adj" fmla="val 18667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393537" y="4448294"/>
            <a:ext cx="15394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2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2300" dirty="0"/>
          </a:p>
        </p:txBody>
      </p:sp>
      <p:sp>
        <p:nvSpPr>
          <p:cNvPr id="13" name="Text 10"/>
          <p:cNvSpPr/>
          <p:nvPr/>
        </p:nvSpPr>
        <p:spPr>
          <a:xfrm>
            <a:off x="7553206" y="4349829"/>
            <a:ext cx="2460665" cy="307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Atención Selectiva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7553206" y="4775478"/>
            <a:ext cx="6388298" cy="629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Prestamos más atención a la información que coincide con nuestras expectativas, dejando de lado detalles importantes.</a:t>
            </a:r>
            <a:endParaRPr lang="en-US" sz="1550" dirty="0"/>
          </a:p>
        </p:txBody>
      </p:sp>
      <p:sp>
        <p:nvSpPr>
          <p:cNvPr id="15" name="Shape 12"/>
          <p:cNvSpPr/>
          <p:nvPr/>
        </p:nvSpPr>
        <p:spPr>
          <a:xfrm>
            <a:off x="6669167" y="6230183"/>
            <a:ext cx="688896" cy="22860"/>
          </a:xfrm>
          <a:prstGeom prst="roundRect">
            <a:avLst>
              <a:gd name="adj" fmla="val 361673"/>
            </a:avLst>
          </a:prstGeom>
          <a:solidFill>
            <a:srgbClr val="C7C7D0"/>
          </a:solidFill>
          <a:ln/>
        </p:spPr>
      </p:sp>
      <p:sp>
        <p:nvSpPr>
          <p:cNvPr id="16" name="Shape 13"/>
          <p:cNvSpPr/>
          <p:nvPr/>
        </p:nvSpPr>
        <p:spPr>
          <a:xfrm>
            <a:off x="6249114" y="6020157"/>
            <a:ext cx="442913" cy="442913"/>
          </a:xfrm>
          <a:prstGeom prst="roundRect">
            <a:avLst>
              <a:gd name="adj" fmla="val 18667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91632" y="6093976"/>
            <a:ext cx="15775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2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2300" dirty="0"/>
          </a:p>
        </p:txBody>
      </p:sp>
      <p:sp>
        <p:nvSpPr>
          <p:cNvPr id="18" name="Text 15"/>
          <p:cNvSpPr/>
          <p:nvPr/>
        </p:nvSpPr>
        <p:spPr>
          <a:xfrm>
            <a:off x="7553206" y="5995511"/>
            <a:ext cx="2460665" cy="307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Causalidad Simplista</a:t>
            </a:r>
            <a:endParaRPr lang="en-US" sz="1900" dirty="0"/>
          </a:p>
        </p:txBody>
      </p:sp>
      <p:sp>
        <p:nvSpPr>
          <p:cNvPr id="19" name="Text 16"/>
          <p:cNvSpPr/>
          <p:nvPr/>
        </p:nvSpPr>
        <p:spPr>
          <a:xfrm>
            <a:off x="7553206" y="6421160"/>
            <a:ext cx="6388298" cy="629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Tendemos a atribuir causas simples a fenómenos complejos, sin considerar múltiples factores interrelacionados.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0093" y="766048"/>
            <a:ext cx="7663815" cy="132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200"/>
              </a:lnSpc>
              <a:buNone/>
            </a:pPr>
            <a:r>
              <a:rPr lang="en-US" sz="41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Estrategias para desarrollar una percepción más objetiva</a:t>
            </a:r>
            <a:endParaRPr lang="en-US" sz="41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093" y="2405063"/>
            <a:ext cx="528638" cy="52863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40093" y="3145155"/>
            <a:ext cx="2643426" cy="330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Autoconciencia</a:t>
            </a:r>
            <a:endParaRPr lang="en-US" sz="2050" dirty="0"/>
          </a:p>
        </p:txBody>
      </p:sp>
      <p:sp>
        <p:nvSpPr>
          <p:cNvPr id="6" name="Text 2"/>
          <p:cNvSpPr/>
          <p:nvPr/>
        </p:nvSpPr>
        <p:spPr>
          <a:xfrm>
            <a:off x="740093" y="3602355"/>
            <a:ext cx="3673316" cy="101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Reconocer nuestros sesgos y limitaciones perceptivas es el primer paso para superarlos.</a:t>
            </a:r>
            <a:endParaRPr lang="en-US" sz="16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0591" y="2405063"/>
            <a:ext cx="528638" cy="52863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730591" y="3145155"/>
            <a:ext cx="3299341" cy="330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Diversidad de Perspectivas</a:t>
            </a:r>
            <a:endParaRPr lang="en-US" sz="2050" dirty="0"/>
          </a:p>
        </p:txBody>
      </p:sp>
      <p:sp>
        <p:nvSpPr>
          <p:cNvPr id="9" name="Text 4"/>
          <p:cNvSpPr/>
          <p:nvPr/>
        </p:nvSpPr>
        <p:spPr>
          <a:xfrm>
            <a:off x="4730591" y="3602355"/>
            <a:ext cx="3673316" cy="101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Buscar y considerar múltiples puntos de vista puede enriquecer nuestra comprensión de los sistemas.</a:t>
            </a:r>
            <a:endParaRPr lang="en-US" sz="16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093" y="5251490"/>
            <a:ext cx="528638" cy="52863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40093" y="5991582"/>
            <a:ext cx="2772013" cy="330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Observación Detallada</a:t>
            </a:r>
            <a:endParaRPr lang="en-US" sz="2050" dirty="0"/>
          </a:p>
        </p:txBody>
      </p:sp>
      <p:sp>
        <p:nvSpPr>
          <p:cNvPr id="12" name="Text 6"/>
          <p:cNvSpPr/>
          <p:nvPr/>
        </p:nvSpPr>
        <p:spPr>
          <a:xfrm>
            <a:off x="740093" y="6448782"/>
            <a:ext cx="3673316" cy="101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Prestar atención a los detalles y patrones sutiles puede revelar aspectos clave del sistema.</a:t>
            </a:r>
            <a:endParaRPr lang="en-US" sz="16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0591" y="5251490"/>
            <a:ext cx="528638" cy="528638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4730591" y="5991582"/>
            <a:ext cx="2643426" cy="330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Flexibilidad Mental</a:t>
            </a:r>
            <a:endParaRPr lang="en-US" sz="2050" dirty="0"/>
          </a:p>
        </p:txBody>
      </p:sp>
      <p:sp>
        <p:nvSpPr>
          <p:cNvPr id="15" name="Text 8"/>
          <p:cNvSpPr/>
          <p:nvPr/>
        </p:nvSpPr>
        <p:spPr>
          <a:xfrm>
            <a:off x="4730591" y="6448782"/>
            <a:ext cx="3673316" cy="101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Estar abiertos a ajustar nuestras percepciones y perspectivas a medida que evolucionan los sistemas.</a:t>
            </a:r>
            <a:endParaRPr lang="en-US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2024-11-03T08:52:09Z</dcterms:created>
  <dcterms:modified xsi:type="dcterms:W3CDTF">2024-11-03T08:52:09Z</dcterms:modified>
</cp:coreProperties>
</file>