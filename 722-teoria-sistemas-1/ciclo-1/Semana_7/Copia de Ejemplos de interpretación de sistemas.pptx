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4630400" cy="8229600"/>
  <p:notesSz cx="8229600" cy="14630400"/>
  <p:embeddedFontLst>
    <p:embeddedFont>
      <p:font typeface="Raleway"/>
      <p:regular r:id="rId12"/>
    </p:embeddedFont>
    <p:embeddedFont>
      <p:font typeface="Raleway"/>
      <p:regular r:id="rId13"/>
    </p:embeddedFont>
    <p:embeddedFont>
      <p:font typeface="Raleway"/>
      <p:regular r:id="rId14"/>
    </p:embeddedFont>
    <p:embeddedFont>
      <p:font typeface="Raleway"/>
      <p:regular r:id="rId15"/>
    </p:embeddedFont>
    <p:embeddedFont>
      <p:font typeface="Roboto"/>
      <p:regular r:id="rId16"/>
    </p:embeddedFont>
    <p:embeddedFont>
      <p:font typeface="Roboto"/>
      <p:regular r:id="rId17"/>
    </p:embeddedFont>
    <p:embeddedFont>
      <p:font typeface="Roboto"/>
      <p:regular r:id="rId18"/>
    </p:embeddedFont>
    <p:embeddedFont>
      <p:font typeface="Roboto"/>
      <p:regular r:id="rId19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font" Target="fonts/font1.fntdata"/><Relationship Id="rId13" Type="http://schemas.openxmlformats.org/officeDocument/2006/relationships/font" Target="fonts/font2.fntdata"/><Relationship Id="rId14" Type="http://schemas.openxmlformats.org/officeDocument/2006/relationships/font" Target="fonts/font3.fntdata"/><Relationship Id="rId15" Type="http://schemas.openxmlformats.org/officeDocument/2006/relationships/font" Target="fonts/font4.fntdata"/><Relationship Id="rId16" Type="http://schemas.openxmlformats.org/officeDocument/2006/relationships/font" Target="fonts/font5.fntdata"/><Relationship Id="rId17" Type="http://schemas.openxmlformats.org/officeDocument/2006/relationships/font" Target="fonts/font6.fntdata"/><Relationship Id="rId18" Type="http://schemas.openxmlformats.org/officeDocument/2006/relationships/font" Target="fonts/font7.fntdata"/><Relationship Id="rId19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6.xml"/><Relationship Id="rId7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751528"/>
            <a:ext cx="7556421" cy="29346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7700"/>
              </a:lnSpc>
              <a:buNone/>
            </a:pPr>
            <a:r>
              <a:rPr lang="en-US" sz="61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Ejemplos de interpretación de sistemas</a:t>
            </a:r>
            <a:endParaRPr lang="en-US" sz="6150" dirty="0"/>
          </a:p>
        </p:txBody>
      </p:sp>
      <p:sp>
        <p:nvSpPr>
          <p:cNvPr id="4" name="Text 1"/>
          <p:cNvSpPr/>
          <p:nvPr/>
        </p:nvSpPr>
        <p:spPr>
          <a:xfrm>
            <a:off x="793790" y="5026343"/>
            <a:ext cx="75564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 interpretación de sistemas implica analizar e identificar los elementos clave que componen un sistema, así como las interacciones y flujos de datos entre ellos. Esto permite comprender mejor el funcionamiento global del sistema y facilitar la toma de decisiones.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358509"/>
            <a:ext cx="1018627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Interpretación de diseños de ingeniería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634264"/>
            <a:ext cx="312277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Comprensión de Planos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215408"/>
            <a:ext cx="397811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Interpretar los diseños de ingeniería requiere comprender la simbología y convenciones utilizadas en los planos técnicos.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5332928" y="3634264"/>
            <a:ext cx="3978116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Identificación de Componentes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332928" y="4569738"/>
            <a:ext cx="39781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Reconocer los diferentes elementos y subsistemas que componen un diseño de ingeniería es clave para su análisis.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9872067" y="3634264"/>
            <a:ext cx="316468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Análisis de Dimensiones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872067" y="4215408"/>
            <a:ext cx="397811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Prestar atención a las medidas, escalas y proporciones es fundamental para evaluar la viabilidad y funcionalidad del diseño.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42804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79847" y="2964537"/>
            <a:ext cx="6241137" cy="606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4750"/>
              </a:lnSpc>
              <a:buNone/>
            </a:pPr>
            <a:r>
              <a:rPr lang="en-US" sz="38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Análisis de datos operativos</a:t>
            </a:r>
            <a:endParaRPr lang="en-US" sz="3800" dirty="0"/>
          </a:p>
        </p:txBody>
      </p:sp>
      <p:sp>
        <p:nvSpPr>
          <p:cNvPr id="4" name="Shape 1"/>
          <p:cNvSpPr/>
          <p:nvPr/>
        </p:nvSpPr>
        <p:spPr>
          <a:xfrm>
            <a:off x="679847" y="5777984"/>
            <a:ext cx="13270706" cy="22860"/>
          </a:xfrm>
          <a:prstGeom prst="roundRect">
            <a:avLst>
              <a:gd name="adj" fmla="val 356890"/>
            </a:avLst>
          </a:prstGeom>
          <a:solidFill>
            <a:srgbClr val="C7C7D0"/>
          </a:solidFill>
          <a:ln/>
        </p:spPr>
      </p:sp>
      <p:sp>
        <p:nvSpPr>
          <p:cNvPr id="5" name="Shape 2"/>
          <p:cNvSpPr/>
          <p:nvPr/>
        </p:nvSpPr>
        <p:spPr>
          <a:xfrm>
            <a:off x="3937516" y="5098137"/>
            <a:ext cx="22860" cy="679847"/>
          </a:xfrm>
          <a:prstGeom prst="roundRect">
            <a:avLst>
              <a:gd name="adj" fmla="val 356890"/>
            </a:avLst>
          </a:prstGeom>
          <a:solidFill>
            <a:srgbClr val="C7C7D0"/>
          </a:solidFill>
          <a:ln/>
        </p:spPr>
      </p:sp>
      <p:sp>
        <p:nvSpPr>
          <p:cNvPr id="6" name="Shape 3"/>
          <p:cNvSpPr/>
          <p:nvPr/>
        </p:nvSpPr>
        <p:spPr>
          <a:xfrm>
            <a:off x="3730466" y="5559504"/>
            <a:ext cx="436959" cy="436959"/>
          </a:xfrm>
          <a:prstGeom prst="roundRect">
            <a:avLst>
              <a:gd name="adj" fmla="val 18671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86557" y="5632252"/>
            <a:ext cx="124658" cy="2913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2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2250" dirty="0"/>
          </a:p>
        </p:txBody>
      </p:sp>
      <p:sp>
        <p:nvSpPr>
          <p:cNvPr id="8" name="Text 5"/>
          <p:cNvSpPr/>
          <p:nvPr/>
        </p:nvSpPr>
        <p:spPr>
          <a:xfrm>
            <a:off x="2694384" y="3862864"/>
            <a:ext cx="2509123" cy="303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50"/>
              </a:lnSpc>
              <a:buNone/>
            </a:pPr>
            <a:r>
              <a:rPr lang="en-US" sz="1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Recopilación de Datos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874038" y="4282678"/>
            <a:ext cx="6149816" cy="621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Identificar las fuentes y métodos de recopilación de datos operativos es el primer paso para su posterior análisis.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7303651" y="5777984"/>
            <a:ext cx="22860" cy="679847"/>
          </a:xfrm>
          <a:prstGeom prst="roundRect">
            <a:avLst>
              <a:gd name="adj" fmla="val 356890"/>
            </a:avLst>
          </a:prstGeom>
          <a:solidFill>
            <a:srgbClr val="C7C7D0"/>
          </a:solidFill>
          <a:ln/>
        </p:spPr>
      </p:sp>
      <p:sp>
        <p:nvSpPr>
          <p:cNvPr id="11" name="Shape 8"/>
          <p:cNvSpPr/>
          <p:nvPr/>
        </p:nvSpPr>
        <p:spPr>
          <a:xfrm>
            <a:off x="7096601" y="5559504"/>
            <a:ext cx="436959" cy="436959"/>
          </a:xfrm>
          <a:prstGeom prst="roundRect">
            <a:avLst>
              <a:gd name="adj" fmla="val 18671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239119" y="5632252"/>
            <a:ext cx="151805" cy="2913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2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2250" dirty="0"/>
          </a:p>
        </p:txBody>
      </p:sp>
      <p:sp>
        <p:nvSpPr>
          <p:cNvPr id="13" name="Text 10"/>
          <p:cNvSpPr/>
          <p:nvPr/>
        </p:nvSpPr>
        <p:spPr>
          <a:xfrm>
            <a:off x="5846326" y="6652022"/>
            <a:ext cx="2937510" cy="303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50"/>
              </a:lnSpc>
              <a:buNone/>
            </a:pPr>
            <a:r>
              <a:rPr lang="en-US" sz="1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Interpretación de Métricas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4240173" y="7071836"/>
            <a:ext cx="6149935" cy="621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Comprender el significado y las implicaciones de las diferentes métricas y KPIs es esencial para evaluar el desempeño.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10669905" y="5098137"/>
            <a:ext cx="22860" cy="679847"/>
          </a:xfrm>
          <a:prstGeom prst="roundRect">
            <a:avLst>
              <a:gd name="adj" fmla="val 356890"/>
            </a:avLst>
          </a:prstGeom>
          <a:solidFill>
            <a:srgbClr val="C7C7D0"/>
          </a:solidFill>
          <a:ln/>
        </p:spPr>
      </p:sp>
      <p:sp>
        <p:nvSpPr>
          <p:cNvPr id="16" name="Shape 13"/>
          <p:cNvSpPr/>
          <p:nvPr/>
        </p:nvSpPr>
        <p:spPr>
          <a:xfrm>
            <a:off x="10462855" y="5559504"/>
            <a:ext cx="436959" cy="436959"/>
          </a:xfrm>
          <a:prstGeom prst="roundRect">
            <a:avLst>
              <a:gd name="adj" fmla="val 18671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603468" y="5632252"/>
            <a:ext cx="155615" cy="2913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2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2250" dirty="0"/>
          </a:p>
        </p:txBody>
      </p:sp>
      <p:sp>
        <p:nvSpPr>
          <p:cNvPr id="18" name="Text 15"/>
          <p:cNvSpPr/>
          <p:nvPr/>
        </p:nvSpPr>
        <p:spPr>
          <a:xfrm>
            <a:off x="9467374" y="3862864"/>
            <a:ext cx="2428042" cy="303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50"/>
              </a:lnSpc>
              <a:buNone/>
            </a:pPr>
            <a:r>
              <a:rPr lang="en-US" sz="1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Toma de Decisiones</a:t>
            </a:r>
            <a:endParaRPr lang="en-US" sz="1900" dirty="0"/>
          </a:p>
        </p:txBody>
      </p:sp>
      <p:sp>
        <p:nvSpPr>
          <p:cNvPr id="19" name="Text 16"/>
          <p:cNvSpPr/>
          <p:nvPr/>
        </p:nvSpPr>
        <p:spPr>
          <a:xfrm>
            <a:off x="7606427" y="4282678"/>
            <a:ext cx="6149935" cy="621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 interpretación de los datos operativos permite identificar oportunidades de mejora y tomar decisiones informadas.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67200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8070" y="3260884"/>
            <a:ext cx="7594878" cy="667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250"/>
              </a:lnSpc>
              <a:buNone/>
            </a:pPr>
            <a:r>
              <a:rPr lang="en-US" sz="4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Modelado de procesos críticos</a:t>
            </a:r>
            <a:endParaRPr lang="en-US" sz="4200" dirty="0"/>
          </a:p>
        </p:txBody>
      </p:sp>
      <p:sp>
        <p:nvSpPr>
          <p:cNvPr id="4" name="Shape 1"/>
          <p:cNvSpPr/>
          <p:nvPr/>
        </p:nvSpPr>
        <p:spPr>
          <a:xfrm>
            <a:off x="748070" y="4249460"/>
            <a:ext cx="6460331" cy="1588770"/>
          </a:xfrm>
          <a:prstGeom prst="roundRect">
            <a:avLst>
              <a:gd name="adj" fmla="val 5651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69407" y="4470797"/>
            <a:ext cx="2941201" cy="3339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2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Identificación de Etapas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969407" y="4932998"/>
            <a:ext cx="6017657" cy="683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Comprender las diferentes etapas y pasos que conforman un proceso crítico es fundamental para su modelado.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7422118" y="4249460"/>
            <a:ext cx="6460331" cy="1588770"/>
          </a:xfrm>
          <a:prstGeom prst="roundRect">
            <a:avLst>
              <a:gd name="adj" fmla="val 5651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643455" y="4470797"/>
            <a:ext cx="2672001" cy="3339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2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Flujos de Información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7643455" y="4932998"/>
            <a:ext cx="6017657" cy="683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Mapear los flujos de información y datos entre las diferentes etapas del proceso facilita su optimización.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748070" y="6051947"/>
            <a:ext cx="6460331" cy="1588770"/>
          </a:xfrm>
          <a:prstGeom prst="roundRect">
            <a:avLst>
              <a:gd name="adj" fmla="val 5651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69407" y="6273284"/>
            <a:ext cx="3648075" cy="3339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2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Análisis de Cuellos de Botella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969407" y="6735485"/>
            <a:ext cx="6017657" cy="683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Identificar y resolver los cuellos de botella en los procesos críticos es clave para mejorar la eficiencia.</a:t>
            </a:r>
            <a:endParaRPr lang="en-US" sz="1650" dirty="0"/>
          </a:p>
        </p:txBody>
      </p:sp>
      <p:sp>
        <p:nvSpPr>
          <p:cNvPr id="13" name="Shape 10"/>
          <p:cNvSpPr/>
          <p:nvPr/>
        </p:nvSpPr>
        <p:spPr>
          <a:xfrm>
            <a:off x="7422118" y="6051947"/>
            <a:ext cx="6460331" cy="1588770"/>
          </a:xfrm>
          <a:prstGeom prst="roundRect">
            <a:avLst>
              <a:gd name="adj" fmla="val 5651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643455" y="6273284"/>
            <a:ext cx="2672001" cy="3339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2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Simulación y Pruebas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7643455" y="6735485"/>
            <a:ext cx="6017657" cy="683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Probar y simular el modelo del proceso permite validar su funcionamiento antes de su implementación.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26493" y="766048"/>
            <a:ext cx="7663815" cy="132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200"/>
              </a:lnSpc>
              <a:buNone/>
            </a:pPr>
            <a:r>
              <a:rPr lang="en-US" sz="41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Visualización de flujos de trabajo</a:t>
            </a:r>
            <a:endParaRPr lang="en-US" sz="41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6493" y="2405063"/>
            <a:ext cx="528638" cy="52863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226493" y="3145155"/>
            <a:ext cx="2643426" cy="330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Tareas</a:t>
            </a:r>
            <a:endParaRPr lang="en-US" sz="2050" dirty="0"/>
          </a:p>
        </p:txBody>
      </p:sp>
      <p:sp>
        <p:nvSpPr>
          <p:cNvPr id="6" name="Text 2"/>
          <p:cNvSpPr/>
          <p:nvPr/>
        </p:nvSpPr>
        <p:spPr>
          <a:xfrm>
            <a:off x="6226493" y="3602355"/>
            <a:ext cx="3673316" cy="101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Identificar y representar gráficamente las diferentes tareas que componen un flujo de trabajo.</a:t>
            </a:r>
            <a:endParaRPr lang="en-US" sz="16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991" y="2405063"/>
            <a:ext cx="528638" cy="52863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0216991" y="3145155"/>
            <a:ext cx="2643426" cy="330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Línea de Tiempo</a:t>
            </a:r>
            <a:endParaRPr lang="en-US" sz="2050" dirty="0"/>
          </a:p>
        </p:txBody>
      </p:sp>
      <p:sp>
        <p:nvSpPr>
          <p:cNvPr id="9" name="Text 4"/>
          <p:cNvSpPr/>
          <p:nvPr/>
        </p:nvSpPr>
        <p:spPr>
          <a:xfrm>
            <a:off x="10216991" y="3602355"/>
            <a:ext cx="3673316" cy="101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Organizar y secuenciar las tareas en una línea de tiempo permite visualizar el progreso del flujo de trabajo.</a:t>
            </a:r>
            <a:endParaRPr lang="en-US" sz="16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6493" y="5251490"/>
            <a:ext cx="528638" cy="52863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226493" y="5991582"/>
            <a:ext cx="2643426" cy="330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Hitos</a:t>
            </a:r>
            <a:endParaRPr lang="en-US" sz="2050" dirty="0"/>
          </a:p>
        </p:txBody>
      </p:sp>
      <p:sp>
        <p:nvSpPr>
          <p:cNvPr id="12" name="Text 6"/>
          <p:cNvSpPr/>
          <p:nvPr/>
        </p:nvSpPr>
        <p:spPr>
          <a:xfrm>
            <a:off x="6226493" y="6448782"/>
            <a:ext cx="3673316" cy="101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Definir y resaltar los hitos clave a lo largo del flujo de trabajo facilita el seguimiento y control.</a:t>
            </a:r>
            <a:endParaRPr lang="en-US" sz="16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16991" y="5251490"/>
            <a:ext cx="528638" cy="528638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0216991" y="5991582"/>
            <a:ext cx="2643426" cy="330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Métricas</a:t>
            </a:r>
            <a:endParaRPr lang="en-US" sz="2050" dirty="0"/>
          </a:p>
        </p:txBody>
      </p:sp>
      <p:sp>
        <p:nvSpPr>
          <p:cNvPr id="15" name="Text 8"/>
          <p:cNvSpPr/>
          <p:nvPr/>
        </p:nvSpPr>
        <p:spPr>
          <a:xfrm>
            <a:off x="10216991" y="6448782"/>
            <a:ext cx="3673316" cy="1014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Incorporar indicadores de desempeño y métricas relevantes ayuda a evaluar la eficiencia del flujo de trabajo.</a:t>
            </a:r>
            <a:endParaRPr lang="en-US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2024-11-03T08:53:52Z</dcterms:created>
  <dcterms:modified xsi:type="dcterms:W3CDTF">2024-11-03T08:53:52Z</dcterms:modified>
</cp:coreProperties>
</file>