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Roboto Medium"/>
      <p:regular r:id="rId13"/>
      <p:bold r:id="rId14"/>
      <p:italic r:id="rId15"/>
      <p:boldItalic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7qVHdEaCppX1eytTMxQ7hc9tb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font" Target="fonts/RobotoMedium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Medium-italic.fntdata"/><Relationship Id="rId14" Type="http://schemas.openxmlformats.org/officeDocument/2006/relationships/font" Target="fonts/RobotoMedium-bold.fntdata"/><Relationship Id="rId17" Type="http://schemas.openxmlformats.org/officeDocument/2006/relationships/font" Target="fonts/Roboto-regular.fntdata"/><Relationship Id="rId16" Type="http://schemas.openxmlformats.org/officeDocument/2006/relationships/font" Target="fonts/RobotoMedium-boldItalic.fntdata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793790" y="1733193"/>
            <a:ext cx="7556421" cy="195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50"/>
              <a:buFont typeface="Roboto Medium"/>
              <a:buNone/>
            </a:pPr>
            <a:r>
              <a:rPr b="0" i="0" lang="en-US" sz="61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PIB nominal vs. PIB real</a:t>
            </a:r>
            <a:endParaRPr b="0" i="0" sz="6150" u="none" cap="none" strike="noStrike"/>
          </a:p>
        </p:txBody>
      </p:sp>
      <p:sp>
        <p:nvSpPr>
          <p:cNvPr id="50" name="Google Shape;50;p1"/>
          <p:cNvSpPr/>
          <p:nvPr/>
        </p:nvSpPr>
        <p:spPr>
          <a:xfrm>
            <a:off x="793790" y="4029789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(Producto Interno Bruto) es una de las principales métricas económicas utilizadas para medir el desempeño de una economía. Sin embargo, existen dos versiones diferentes: el PIB nominal y el PIB real. Conocer la diferencia entre estos dos conceptos es clave para entender la salud de una economía.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6280190" y="1065967"/>
            <a:ext cx="653141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Definición de PIB nominal</a:t>
            </a:r>
            <a:endParaRPr b="0" i="0" sz="445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6280190" y="2114907"/>
            <a:ext cx="3664863" cy="3136702"/>
          </a:xfrm>
          <a:prstGeom prst="roundRect">
            <a:avLst>
              <a:gd fmla="val 3037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514624" y="2349341"/>
            <a:ext cx="304680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¿Qué es el PIB nominal?</a:t>
            </a:r>
            <a:endParaRPr b="0" i="0" sz="220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6514624" y="2839760"/>
            <a:ext cx="319599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nominal es el valor total de todos los bienes y servicios producidos en un país, valorados a los precios actuales del mercado.</a:t>
            </a:r>
            <a:endParaRPr b="0" i="0" sz="175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10171867" y="2114907"/>
            <a:ext cx="3664863" cy="3136702"/>
          </a:xfrm>
          <a:prstGeom prst="roundRect">
            <a:avLst>
              <a:gd fmla="val 3037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10406301" y="23493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Incluye la inflación</a:t>
            </a:r>
            <a:endParaRPr b="0" i="0" sz="220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10406301" y="2839760"/>
            <a:ext cx="3195995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nominal se ve afectado por los cambios en los precios, lo que significa que un aumento en el nivel de precios se reflejará en un mayor PIB nominal.</a:t>
            </a:r>
            <a:endParaRPr b="0" i="0" sz="175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6280190" y="5478423"/>
            <a:ext cx="7556421" cy="1685092"/>
          </a:xfrm>
          <a:prstGeom prst="roundRect">
            <a:avLst>
              <a:gd fmla="val 5654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514624" y="5712857"/>
            <a:ext cx="349365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No refleja poder adquisitivo</a:t>
            </a:r>
            <a:endParaRPr b="0" i="0" sz="22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6514624" y="6203275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nominal no tiene en cuenta la capacidad de compra real de la población, ya que no ajusta por inflación.</a:t>
            </a:r>
            <a:endParaRPr b="0" i="0" sz="1750" u="none" cap="none" strike="noStrike"/>
          </a:p>
        </p:txBody>
      </p:sp>
      <p:sp>
        <p:nvSpPr>
          <p:cNvPr id="67" name="Google Shape;67;p2"/>
          <p:cNvSpPr/>
          <p:nvPr/>
        </p:nvSpPr>
        <p:spPr>
          <a:xfrm>
            <a:off x="12788850" y="7598750"/>
            <a:ext cx="1841700" cy="63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6280190" y="106596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Definición de PIB real</a:t>
            </a:r>
            <a:endParaRPr b="0" i="0" sz="4450" u="none" cap="none" strike="noStrike"/>
          </a:p>
        </p:txBody>
      </p:sp>
      <p:sp>
        <p:nvSpPr>
          <p:cNvPr id="75" name="Google Shape;75;p3"/>
          <p:cNvSpPr/>
          <p:nvPr/>
        </p:nvSpPr>
        <p:spPr>
          <a:xfrm>
            <a:off x="6280190" y="2114907"/>
            <a:ext cx="3664863" cy="3136702"/>
          </a:xfrm>
          <a:prstGeom prst="roundRect">
            <a:avLst>
              <a:gd fmla="val 3037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514624" y="23493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¿Qué es el PIB real?</a:t>
            </a:r>
            <a:endParaRPr b="0" i="0" sz="220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6514624" y="2839760"/>
            <a:ext cx="3195995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real es el valor total de todos los bienes y servicios producidos en un país, ajustado por la inflación para reflejar los cambios en el poder adquisitivo.</a:t>
            </a:r>
            <a:endParaRPr b="0" i="0" sz="175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10171867" y="2114907"/>
            <a:ext cx="3664863" cy="3136702"/>
          </a:xfrm>
          <a:prstGeom prst="roundRect">
            <a:avLst>
              <a:gd fmla="val 3037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0406301" y="23493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Ajuste por inflación</a:t>
            </a:r>
            <a:endParaRPr b="0" i="0" sz="2200" u="none" cap="none" strike="noStrike"/>
          </a:p>
        </p:txBody>
      </p:sp>
      <p:sp>
        <p:nvSpPr>
          <p:cNvPr id="80" name="Google Shape;80;p3"/>
          <p:cNvSpPr/>
          <p:nvPr/>
        </p:nvSpPr>
        <p:spPr>
          <a:xfrm>
            <a:off x="10406301" y="2839760"/>
            <a:ext cx="319599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real elimina los efectos de la inflación, permitiendo una mejor comparación del crecimiento económico a lo largo del tiempo.</a:t>
            </a:r>
            <a:endParaRPr b="0" i="0" sz="175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6280190" y="5478423"/>
            <a:ext cx="7556421" cy="1685092"/>
          </a:xfrm>
          <a:prstGeom prst="roundRect">
            <a:avLst>
              <a:gd fmla="val 5654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514624" y="5712857"/>
            <a:ext cx="31403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Refleja poder adquisitivo</a:t>
            </a:r>
            <a:endParaRPr b="0" i="0" sz="220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6514624" y="6203275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real proporciona una imagen más precisa del bienestar económico, ya que muestra el crecimiento real de la producción.</a:t>
            </a:r>
            <a:endParaRPr b="0" i="0" sz="17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12788850" y="7598750"/>
            <a:ext cx="1841700" cy="63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793790" y="2335887"/>
            <a:ext cx="1005113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Diferencias entre PIB nominal y PIB real</a:t>
            </a:r>
            <a:endParaRPr b="0" i="0" sz="4450" u="none" cap="none" strike="noStrike"/>
          </a:p>
        </p:txBody>
      </p:sp>
      <p:sp>
        <p:nvSpPr>
          <p:cNvPr id="91" name="Google Shape;91;p4"/>
          <p:cNvSpPr/>
          <p:nvPr/>
        </p:nvSpPr>
        <p:spPr>
          <a:xfrm>
            <a:off x="793790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PIB nominal</a:t>
            </a:r>
            <a:endParaRPr b="0" i="0" sz="220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Incluye cambios en los precios</a:t>
            </a:r>
            <a:endParaRPr b="0" i="0" sz="175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 ajusta por inflación</a:t>
            </a:r>
            <a:endParaRPr b="0" i="0" sz="175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Refleja el valor total de la producción</a:t>
            </a:r>
            <a:endParaRPr b="0" i="0" sz="1750" u="none" cap="none" strike="noStrike"/>
          </a:p>
        </p:txBody>
      </p:sp>
      <p:sp>
        <p:nvSpPr>
          <p:cNvPr id="95" name="Google Shape;95;p4"/>
          <p:cNvSpPr/>
          <p:nvPr/>
        </p:nvSpPr>
        <p:spPr>
          <a:xfrm>
            <a:off x="7599521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PIB real</a:t>
            </a:r>
            <a:endParaRPr b="0" i="0" sz="220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7599521" y="419278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Ajusta por cambios en el nivel de precios</a:t>
            </a:r>
            <a:endParaRPr b="0" i="0" sz="175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Refleja el crecimiento de la producción</a:t>
            </a:r>
            <a:endParaRPr b="0" i="0" sz="175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7599521" y="532673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Muestra el poder adquisitivo real</a:t>
            </a:r>
            <a:endParaRPr b="0" i="0" sz="17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12788850" y="7598750"/>
            <a:ext cx="1841700" cy="63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78118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778669" y="3393043"/>
            <a:ext cx="13073063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Roboto Medium"/>
              <a:buNone/>
            </a:pPr>
            <a:r>
              <a:rPr b="0" i="0" lang="en-US" sz="43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Importancia de la distinción entre PIB nominal y PIB real</a:t>
            </a:r>
            <a:endParaRPr b="0" i="0" sz="4350" u="none" cap="none" strike="noStrike"/>
          </a:p>
        </p:txBody>
      </p:sp>
      <p:sp>
        <p:nvSpPr>
          <p:cNvPr id="107" name="Google Shape;107;p5"/>
          <p:cNvSpPr/>
          <p:nvPr/>
        </p:nvSpPr>
        <p:spPr>
          <a:xfrm>
            <a:off x="778669" y="5367695"/>
            <a:ext cx="500539" cy="500539"/>
          </a:xfrm>
          <a:prstGeom prst="roundRect">
            <a:avLst>
              <a:gd fmla="val 18670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934045" y="5451038"/>
            <a:ext cx="189667" cy="333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2600" u="none" cap="none" strike="noStrike"/>
          </a:p>
        </p:txBody>
      </p:sp>
      <p:sp>
        <p:nvSpPr>
          <p:cNvPr id="109" name="Google Shape;109;p5"/>
          <p:cNvSpPr/>
          <p:nvPr/>
        </p:nvSpPr>
        <p:spPr>
          <a:xfrm>
            <a:off x="1501616" y="5367695"/>
            <a:ext cx="278118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150"/>
              <a:buFont typeface="Roboto Medium"/>
              <a:buNone/>
            </a:pPr>
            <a:r>
              <a:rPr b="0" i="0" lang="en-US" sz="21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Toma de decisiones</a:t>
            </a:r>
            <a:endParaRPr b="0" i="0" sz="2150" u="none" cap="none" strike="noStrike"/>
          </a:p>
        </p:txBody>
      </p:sp>
      <p:sp>
        <p:nvSpPr>
          <p:cNvPr id="110" name="Google Shape;110;p5"/>
          <p:cNvSpPr/>
          <p:nvPr/>
        </p:nvSpPr>
        <p:spPr>
          <a:xfrm>
            <a:off x="1501616" y="5848826"/>
            <a:ext cx="3486507" cy="1423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real es más relevante para la toma de decisiones económicas, ya que refleja el crecimiento real de la economía.</a:t>
            </a:r>
            <a:endParaRPr b="0" i="0" sz="1750" u="none" cap="none" strike="noStrike"/>
          </a:p>
        </p:txBody>
      </p:sp>
      <p:sp>
        <p:nvSpPr>
          <p:cNvPr id="111" name="Google Shape;111;p5"/>
          <p:cNvSpPr/>
          <p:nvPr/>
        </p:nvSpPr>
        <p:spPr>
          <a:xfrm>
            <a:off x="5210532" y="5367695"/>
            <a:ext cx="500539" cy="500539"/>
          </a:xfrm>
          <a:prstGeom prst="roundRect">
            <a:avLst>
              <a:gd fmla="val 18670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365909" y="5451038"/>
            <a:ext cx="189667" cy="333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2600" u="none" cap="none" strike="noStrike"/>
          </a:p>
        </p:txBody>
      </p:sp>
      <p:sp>
        <p:nvSpPr>
          <p:cNvPr id="113" name="Google Shape;113;p5"/>
          <p:cNvSpPr/>
          <p:nvPr/>
        </p:nvSpPr>
        <p:spPr>
          <a:xfrm>
            <a:off x="5933480" y="5367695"/>
            <a:ext cx="348650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150"/>
              <a:buFont typeface="Roboto Medium"/>
              <a:buNone/>
            </a:pPr>
            <a:r>
              <a:rPr b="0" i="0" lang="en-US" sz="21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Comparaciones a lo largo del tiempo</a:t>
            </a:r>
            <a:endParaRPr b="0" i="0" sz="2150" u="none" cap="none" strike="noStrike"/>
          </a:p>
        </p:txBody>
      </p:sp>
      <p:sp>
        <p:nvSpPr>
          <p:cNvPr id="114" name="Google Shape;114;p5"/>
          <p:cNvSpPr/>
          <p:nvPr/>
        </p:nvSpPr>
        <p:spPr>
          <a:xfrm>
            <a:off x="5933480" y="6196489"/>
            <a:ext cx="3486507" cy="1423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real permite comparar el desempeño económico de un país a lo largo del tiempo, eliminando el efecto de la inflación.</a:t>
            </a:r>
            <a:endParaRPr b="0" i="0" sz="175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9642396" y="5367695"/>
            <a:ext cx="500539" cy="500539"/>
          </a:xfrm>
          <a:prstGeom prst="roundRect">
            <a:avLst>
              <a:gd fmla="val 18670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797772" y="5451038"/>
            <a:ext cx="189667" cy="333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260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10365343" y="5367695"/>
            <a:ext cx="314086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150"/>
              <a:buFont typeface="Roboto Medium"/>
              <a:buNone/>
            </a:pPr>
            <a:r>
              <a:rPr b="0" i="0" lang="en-US" sz="21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Bienestar de la población</a:t>
            </a:r>
            <a:endParaRPr b="0" i="0" sz="215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10365343" y="5848826"/>
            <a:ext cx="3486507" cy="1067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real es un mejor indicador del nivel de vida y el poder adquisitivo de la población.</a:t>
            </a:r>
            <a:endParaRPr b="0" i="0" sz="175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12788850" y="7598750"/>
            <a:ext cx="1841700" cy="63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6258044" y="781883"/>
            <a:ext cx="7600712" cy="137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Roboto Medium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Cómo se calcula el PIB nominal y el PIB real</a:t>
            </a:r>
            <a:endParaRPr b="0" i="0" sz="430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6573441" y="2490549"/>
            <a:ext cx="30480" cy="4957167"/>
          </a:xfrm>
          <a:prstGeom prst="roundRect">
            <a:avLst>
              <a:gd fmla="val 303837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806208" y="2971324"/>
            <a:ext cx="771644" cy="30480"/>
          </a:xfrm>
          <a:prstGeom prst="roundRect">
            <a:avLst>
              <a:gd fmla="val 303837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340673" y="2738557"/>
            <a:ext cx="496014" cy="496014"/>
          </a:xfrm>
          <a:prstGeom prst="roundRect">
            <a:avLst>
              <a:gd fmla="val 1867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494621" y="2821186"/>
            <a:ext cx="188000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2600" u="none" cap="none" strike="noStrike"/>
          </a:p>
        </p:txBody>
      </p:sp>
      <p:sp>
        <p:nvSpPr>
          <p:cNvPr id="131" name="Google Shape;131;p6"/>
          <p:cNvSpPr/>
          <p:nvPr/>
        </p:nvSpPr>
        <p:spPr>
          <a:xfrm>
            <a:off x="7801332" y="2710934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150"/>
              <a:buFont typeface="Roboto Medium"/>
              <a:buNone/>
            </a:pPr>
            <a:r>
              <a:rPr b="0" i="0" lang="en-US" sz="21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PIB nominal</a:t>
            </a:r>
            <a:endParaRPr b="0" i="0" sz="215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7801332" y="3187660"/>
            <a:ext cx="6057424" cy="35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Valor total de la producción a precios actuales del mercado.</a:t>
            </a:r>
            <a:endParaRPr b="0" i="0" sz="170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6806208" y="4461986"/>
            <a:ext cx="771644" cy="30480"/>
          </a:xfrm>
          <a:prstGeom prst="roundRect">
            <a:avLst>
              <a:gd fmla="val 303837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6340673" y="4229219"/>
            <a:ext cx="496014" cy="496014"/>
          </a:xfrm>
          <a:prstGeom prst="roundRect">
            <a:avLst>
              <a:gd fmla="val 1867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494621" y="4311848"/>
            <a:ext cx="188000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26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7801332" y="4201597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150"/>
              <a:buFont typeface="Roboto Medium"/>
              <a:buNone/>
            </a:pPr>
            <a:r>
              <a:rPr b="0" i="0" lang="en-US" sz="21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Ajuste por inflación</a:t>
            </a:r>
            <a:endParaRPr b="0" i="0" sz="215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7801332" y="4678323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 utilizan índices de precios como el IPC para eliminar el efecto de la inflación.</a:t>
            </a:r>
            <a:endParaRPr b="0" i="0" sz="1700" u="none" cap="none" strike="noStrike"/>
          </a:p>
        </p:txBody>
      </p:sp>
      <p:sp>
        <p:nvSpPr>
          <p:cNvPr id="138" name="Google Shape;138;p6"/>
          <p:cNvSpPr/>
          <p:nvPr/>
        </p:nvSpPr>
        <p:spPr>
          <a:xfrm>
            <a:off x="6806208" y="6305431"/>
            <a:ext cx="771644" cy="30480"/>
          </a:xfrm>
          <a:prstGeom prst="roundRect">
            <a:avLst>
              <a:gd fmla="val 303837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340673" y="6072664"/>
            <a:ext cx="496014" cy="496014"/>
          </a:xfrm>
          <a:prstGeom prst="roundRect">
            <a:avLst>
              <a:gd fmla="val 1867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494621" y="6155293"/>
            <a:ext cx="188000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260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7801332" y="6045041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150"/>
              <a:buFont typeface="Roboto Medium"/>
              <a:buNone/>
            </a:pPr>
            <a:r>
              <a:rPr b="0" i="0" lang="en-US" sz="21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PIB real</a:t>
            </a:r>
            <a:endParaRPr b="0" i="0" sz="215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7801332" y="6521768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Valor total de la producción a precios constantes, que refleja el crecimiento real de la economía.</a:t>
            </a:r>
            <a:endParaRPr b="0" i="0" sz="170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12788850" y="7598750"/>
            <a:ext cx="1841700" cy="63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793790" y="2083475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Aplicaciones del PIB nominal y PIB real en la toma de decisiones económicas</a:t>
            </a:r>
            <a:endParaRPr b="0" i="0" sz="4450" u="none" cap="none" strike="noStrike"/>
          </a:p>
        </p:txBody>
      </p:sp>
      <p:sp>
        <p:nvSpPr>
          <p:cNvPr id="150" name="Google Shape;150;p7"/>
          <p:cNvSpPr/>
          <p:nvPr/>
        </p:nvSpPr>
        <p:spPr>
          <a:xfrm>
            <a:off x="793790" y="40680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PIB nominal</a:t>
            </a:r>
            <a:endParaRPr b="0" i="0" sz="2200" u="none" cap="none" strike="noStrike"/>
          </a:p>
        </p:txBody>
      </p:sp>
      <p:sp>
        <p:nvSpPr>
          <p:cNvPr id="151" name="Google Shape;151;p7"/>
          <p:cNvSpPr/>
          <p:nvPr/>
        </p:nvSpPr>
        <p:spPr>
          <a:xfrm>
            <a:off x="793790" y="4649153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Relevante para determinar la recaudación fiscal y el volumen de crédito en la economía.</a:t>
            </a:r>
            <a:endParaRPr b="0" i="0" sz="175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793790" y="557903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Útil para medir el tamaño absoluto de la economía.</a:t>
            </a:r>
            <a:endParaRPr b="0" i="0" sz="175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7599521" y="40680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PIB real</a:t>
            </a:r>
            <a:endParaRPr b="0" i="0" sz="220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7599521" y="4649153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Crucial para evaluar el crecimiento económico real y el nivel de bienestar de la población.</a:t>
            </a:r>
            <a:endParaRPr b="0" i="0" sz="175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7599521" y="557903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Permite diseñar políticas económicas más efectivas.</a:t>
            </a:r>
            <a:endParaRPr b="0" i="0" sz="1750" u="none" cap="none" strike="noStrike"/>
          </a:p>
        </p:txBody>
      </p:sp>
      <p:sp>
        <p:nvSpPr>
          <p:cNvPr id="156" name="Google Shape;156;p7"/>
          <p:cNvSpPr/>
          <p:nvPr/>
        </p:nvSpPr>
        <p:spPr>
          <a:xfrm>
            <a:off x="12788850" y="7598750"/>
            <a:ext cx="1841700" cy="63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257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6188512" y="551736"/>
            <a:ext cx="7739777" cy="125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Roboto Medium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Conclusiones y resumen de los puntos clave</a:t>
            </a:r>
            <a:endParaRPr b="0" i="0" sz="3900" u="none" cap="none" strike="noStrike"/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8512" y="2106573"/>
            <a:ext cx="501491" cy="50149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188512" y="2808684"/>
            <a:ext cx="2507813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950"/>
              <a:buFont typeface="Roboto Medium"/>
              <a:buNone/>
            </a:pPr>
            <a:r>
              <a:rPr b="0" i="0" lang="en-US" sz="19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PIB nominal</a:t>
            </a:r>
            <a:endParaRPr b="0" i="0" sz="1950" u="none" cap="none" strike="noStrike"/>
          </a:p>
        </p:txBody>
      </p:sp>
      <p:sp>
        <p:nvSpPr>
          <p:cNvPr id="166" name="Google Shape;166;p8"/>
          <p:cNvSpPr/>
          <p:nvPr/>
        </p:nvSpPr>
        <p:spPr>
          <a:xfrm>
            <a:off x="6188512" y="3242429"/>
            <a:ext cx="7739777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Refleja el valor total de la producción a precios actuales.</a:t>
            </a:r>
            <a:endParaRPr b="0" i="0" sz="1550" u="none" cap="none" strike="noStrike"/>
          </a:p>
        </p:txBody>
      </p:sp>
      <p:pic>
        <p:nvPicPr>
          <p:cNvPr descr="preencoded.png" id="167" name="Google Shape;16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512" y="4165283"/>
            <a:ext cx="501491" cy="50149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6188512" y="4867394"/>
            <a:ext cx="2507813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950"/>
              <a:buFont typeface="Roboto Medium"/>
              <a:buNone/>
            </a:pPr>
            <a:r>
              <a:rPr b="0" i="0" lang="en-US" sz="19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PIB real</a:t>
            </a:r>
            <a:endParaRPr b="0" i="0" sz="1950" u="none" cap="none" strike="noStrike"/>
          </a:p>
        </p:txBody>
      </p:sp>
      <p:sp>
        <p:nvSpPr>
          <p:cNvPr id="169" name="Google Shape;169;p8"/>
          <p:cNvSpPr/>
          <p:nvPr/>
        </p:nvSpPr>
        <p:spPr>
          <a:xfrm>
            <a:off x="6188512" y="5301139"/>
            <a:ext cx="7739777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Mide el crecimiento real de la economía, ajustado por inflación.</a:t>
            </a:r>
            <a:endParaRPr b="0" i="0" sz="1550" u="none" cap="none" strike="noStrike"/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8512" y="6223992"/>
            <a:ext cx="501491" cy="50149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6188512" y="6926104"/>
            <a:ext cx="2507813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950"/>
              <a:buFont typeface="Roboto Medium"/>
              <a:buNone/>
            </a:pPr>
            <a:r>
              <a:rPr b="0" i="0" lang="en-US" sz="19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Toma de decisiones</a:t>
            </a:r>
            <a:endParaRPr b="0" i="0" sz="195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6188512" y="7359848"/>
            <a:ext cx="7739777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PIB real es más relevante para la formulación de políticas económicas.</a:t>
            </a:r>
            <a:endParaRPr b="0" i="0" sz="155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12788850" y="7598750"/>
            <a:ext cx="1841700" cy="63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2024-11-04T13:13:33Z</dcterms:created>
  <dc:creator>PptxGenJS</dc:creator>
</cp:coreProperties>
</file>