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uli Bold" charset="1" panose="00000800000000000000"/>
      <p:regular r:id="rId20"/>
    </p:embeddedFont>
    <p:embeddedFont>
      <p:font typeface="Muli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78" y="1725168"/>
            <a:ext cx="3407728" cy="3402276"/>
            <a:chOff x="0" y="0"/>
            <a:chExt cx="6350000" cy="6339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F3625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14877832" y="6867861"/>
            <a:ext cx="3407728" cy="3423684"/>
          </a:xfrm>
          <a:prstGeom prst="rect">
            <a:avLst/>
          </a:prstGeom>
          <a:solidFill>
            <a:srgbClr val="FCBE04"/>
          </a:solid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4916740" y="6922724"/>
            <a:ext cx="3378345" cy="3378345"/>
            <a:chOff x="6705600" y="1371600"/>
            <a:chExt cx="109728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849092" y="3653815"/>
            <a:ext cx="10589817" cy="303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70"/>
              </a:lnSpc>
            </a:pPr>
            <a:r>
              <a:rPr lang="en-US" sz="104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La Demanda y su Elasticidad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8478" y="4980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6" y="0"/>
                </a:lnTo>
                <a:lnTo>
                  <a:pt x="3402276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5249" y="5166723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6" y="0"/>
                </a:lnTo>
                <a:lnTo>
                  <a:pt x="3402276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303486" cy="10287000"/>
            <a:chOff x="0" y="0"/>
            <a:chExt cx="6350000" cy="6339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C2AF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895249" y="0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6" y="0"/>
                </a:lnTo>
                <a:lnTo>
                  <a:pt x="3402276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1613" y="3682296"/>
            <a:ext cx="14904774" cy="586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0"/>
              </a:lnSpc>
            </a:pPr>
            <a:r>
              <a:rPr lang="en-US" b="true" sz="472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La demanda individual se refiere a la cantidad de un bien o servicio que un consumidor está dispuesto a comprar a diferentes precios, manteniendo constantes otros factores.</a:t>
            </a:r>
          </a:p>
          <a:p>
            <a:pPr algn="ctr">
              <a:lnSpc>
                <a:spcPts val="5430"/>
              </a:lnSpc>
            </a:pPr>
          </a:p>
          <a:p>
            <a:pPr algn="ctr">
              <a:lnSpc>
                <a:spcPts val="5430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Ejemplo: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La demanda de un consumidor específico por café, mostrando cómo varía la cantidad comprada dependiendo del precio.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1512" y="1729713"/>
            <a:ext cx="14264976" cy="9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Demanda Individual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992757" y="-8243"/>
            <a:ext cx="10303486" cy="10287000"/>
            <a:chOff x="0" y="0"/>
            <a:chExt cx="6350000" cy="6339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1613" y="3287008"/>
            <a:ext cx="14904774" cy="597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0"/>
              </a:lnSpc>
            </a:pPr>
            <a:r>
              <a:rPr lang="en-US" b="true" sz="472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La demanda de mercado es la suma de todas las demandas individuales para un bien o servicio en un mercado determinado.</a:t>
            </a:r>
          </a:p>
          <a:p>
            <a:pPr algn="ctr">
              <a:lnSpc>
                <a:spcPts val="5430"/>
              </a:lnSpc>
            </a:pPr>
          </a:p>
          <a:p>
            <a:pPr algn="ctr">
              <a:lnSpc>
                <a:spcPts val="5430"/>
              </a:lnSpc>
            </a:pPr>
          </a:p>
          <a:p>
            <a:pPr algn="ctr">
              <a:lnSpc>
                <a:spcPts val="5430"/>
              </a:lnSpc>
            </a:pPr>
          </a:p>
          <a:p>
            <a:pPr algn="ctr">
              <a:lnSpc>
                <a:spcPts val="5430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Cálculo: 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Se obtiene sumando las cantidades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demandadas por cada consumidor a cada nivel de precio.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11512" y="1729713"/>
            <a:ext cx="14264976" cy="9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 Demanda de Mercado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2771" y="45"/>
            <a:ext cx="5169009" cy="5160739"/>
            <a:chOff x="0" y="0"/>
            <a:chExt cx="6350000" cy="6339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078" y="5162550"/>
            <a:ext cx="5143500" cy="5143500"/>
            <a:chOff x="6705600" y="137160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C2A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91613" y="3804768"/>
            <a:ext cx="14904774" cy="523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Ley de la Demanda: A medida que el precio de un bien disminuye, la cantidad demandada aumenta, y viceversa, manteniendo constantes otros factores.</a:t>
            </a:r>
          </a:p>
          <a:p>
            <a:pPr algn="l">
              <a:lnSpc>
                <a:spcPts val="4599"/>
              </a:lnSpc>
            </a:pP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Relación precio-demanda: Explica el comportamiento inverso entre el precio y la cantidad demandada.</a:t>
            </a:r>
          </a:p>
          <a:p>
            <a:pPr algn="l">
              <a:lnSpc>
                <a:spcPts val="4599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Ejemplo: R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educción en el precio de smartphones que aumenta la cantidad demandada por los consumidores.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512" y="1248700"/>
            <a:ext cx="14264976" cy="193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La Ley de la Demanda y su Relación con los Precios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2193" y="4090"/>
            <a:ext cx="5112633" cy="5104453"/>
            <a:chOff x="0" y="0"/>
            <a:chExt cx="6350000" cy="6339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F362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14463050" y="1278158"/>
            <a:ext cx="5112633" cy="2556317"/>
          </a:xfrm>
          <a:custGeom>
            <a:avLst/>
            <a:gdLst/>
            <a:ahLst/>
            <a:cxnLst/>
            <a:rect r="r" b="b" t="t" l="l"/>
            <a:pathLst>
              <a:path h="2556317" w="5112633">
                <a:moveTo>
                  <a:pt x="0" y="0"/>
                </a:moveTo>
                <a:lnTo>
                  <a:pt x="5112633" y="0"/>
                </a:lnTo>
                <a:lnTo>
                  <a:pt x="5112633" y="2556317"/>
                </a:lnTo>
                <a:lnTo>
                  <a:pt x="0" y="255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0">
            <a:off x="5104453" y="0"/>
            <a:ext cx="5135585" cy="5159632"/>
          </a:xfrm>
          <a:prstGeom prst="rect">
            <a:avLst/>
          </a:prstGeom>
          <a:solidFill>
            <a:srgbClr val="0C2AFC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691613" y="3441700"/>
            <a:ext cx="14904774" cy="58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Función de Demanda: Expresión matemática que muestra la relación entre la cantidad demandada y su precio.</a:t>
            </a:r>
          </a:p>
          <a:p>
            <a:pPr algn="l">
              <a:lnSpc>
                <a:spcPts val="4599"/>
              </a:lnSpc>
            </a:pP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Forma de la Curva: La curva de demanda generalmente tiene una pendiente negativa, reflejando la relación inversa entre precio y cantidad.</a:t>
            </a:r>
          </a:p>
          <a:p>
            <a:pPr algn="l">
              <a:lnSpc>
                <a:spcPts val="4599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Ejemplo: 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Curva de demanda lineal para un bien común, mostrando cómo cada reducción en el precio aumenta la cantidad demandada.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512" y="1248700"/>
            <a:ext cx="14264976" cy="193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Función y Forma de la Curva de Demanda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3420958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6" y="0"/>
                </a:lnTo>
                <a:lnTo>
                  <a:pt x="3402276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909655" y="6881998"/>
            <a:ext cx="3407728" cy="3402276"/>
            <a:chOff x="0" y="0"/>
            <a:chExt cx="6350000" cy="633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C2AFC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3930" y="0"/>
            <a:ext cx="3378345" cy="3378345"/>
            <a:chOff x="6705600" y="1371600"/>
            <a:chExt cx="109728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CBE0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91613" y="3664272"/>
            <a:ext cx="14904774" cy="58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Factores que afectan la demanda:</a:t>
            </a: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Ingresos: Cambios en los ingresos del consumidor.</a:t>
            </a: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Preferencias: Cambios en los gustos y preferencias.</a:t>
            </a: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Precios de bienes relacionados: Como bienes sustitutos o complementarios.</a:t>
            </a: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Expectativas futuras: Anticipaciones sobre precios o disponibilidad.</a:t>
            </a:r>
          </a:p>
          <a:p>
            <a:pPr algn="l">
              <a:lnSpc>
                <a:spcPts val="4599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Población: 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Cambios en el tamaño o la composición del mercado.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512" y="1248700"/>
            <a:ext cx="14264976" cy="193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 Factores que Desplazan la Curva de Demanda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3420958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6" y="0"/>
                </a:lnTo>
                <a:lnTo>
                  <a:pt x="3402276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909655" y="6881998"/>
            <a:ext cx="3407728" cy="3402276"/>
            <a:chOff x="0" y="0"/>
            <a:chExt cx="6350000" cy="633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C2AFC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3930" y="0"/>
            <a:ext cx="3378345" cy="3378345"/>
            <a:chOff x="6705600" y="1371600"/>
            <a:chExt cx="109728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CBE0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59329" y="3978420"/>
            <a:ext cx="13569342" cy="291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Desplazamiento vs. Movimiento a lo Largo de la Curva: 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Explicación de cómo un cambio en el precio genera un movimiento a lo largo de la curva, mientras que un cambio en otros factores desplaza la curva hacia la derecha o la izquierda.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9382" y="3423684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5" y="0"/>
                </a:lnTo>
                <a:lnTo>
                  <a:pt x="3402275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880272" y="6884724"/>
            <a:ext cx="3407728" cy="3402276"/>
            <a:chOff x="0" y="0"/>
            <a:chExt cx="6350000" cy="633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sp>
        <p:nvSpPr>
          <p:cNvPr name="AutoShape 5" id="5"/>
          <p:cNvSpPr/>
          <p:nvPr/>
        </p:nvSpPr>
        <p:spPr>
          <a:xfrm rot="0">
            <a:off x="-29382" y="0"/>
            <a:ext cx="3407728" cy="3423684"/>
          </a:xfrm>
          <a:prstGeom prst="rect">
            <a:avLst/>
          </a:prstGeom>
          <a:solidFill>
            <a:srgbClr val="EF3625"/>
          </a:solid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719155" y="6718155"/>
            <a:ext cx="3378345" cy="3378345"/>
            <a:chOff x="6705600" y="1371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CBE04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069905" y="7136482"/>
            <a:ext cx="7048132" cy="1884154"/>
          </a:xfrm>
          <a:custGeom>
            <a:avLst/>
            <a:gdLst/>
            <a:ahLst/>
            <a:cxnLst/>
            <a:rect r="r" b="b" t="t" l="l"/>
            <a:pathLst>
              <a:path h="1884154" w="7048132">
                <a:moveTo>
                  <a:pt x="0" y="0"/>
                </a:moveTo>
                <a:lnTo>
                  <a:pt x="7048132" y="0"/>
                </a:lnTo>
                <a:lnTo>
                  <a:pt x="7048132" y="1884154"/>
                </a:lnTo>
                <a:lnTo>
                  <a:pt x="0" y="1884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613" y="5407347"/>
            <a:ext cx="14904774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La elasticidad precio de la demanda mide la sensibilidad de la cantidad demandada ante un cambio en el precio del bien.</a:t>
            </a:r>
          </a:p>
          <a:p>
            <a:pPr algn="l">
              <a:lnSpc>
                <a:spcPts val="4599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Cálculo: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49437" y="1400130"/>
            <a:ext cx="14264976" cy="9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Elasticidad Precio de la Demanda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375738" y="-672438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5" y="0"/>
                </a:lnTo>
                <a:lnTo>
                  <a:pt x="3402275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880272" y="6884724"/>
            <a:ext cx="3407728" cy="3402276"/>
            <a:chOff x="0" y="0"/>
            <a:chExt cx="6350000" cy="633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sp>
        <p:nvSpPr>
          <p:cNvPr name="AutoShape 5" id="5"/>
          <p:cNvSpPr/>
          <p:nvPr/>
        </p:nvSpPr>
        <p:spPr>
          <a:xfrm rot="0">
            <a:off x="-1375738" y="-1711842"/>
            <a:ext cx="3407728" cy="3423684"/>
          </a:xfrm>
          <a:prstGeom prst="rect">
            <a:avLst/>
          </a:prstGeom>
          <a:solidFill>
            <a:srgbClr val="EF3625"/>
          </a:solid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507434" y="8019632"/>
            <a:ext cx="3378345" cy="3378345"/>
            <a:chOff x="6705600" y="1371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CBE0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-186457" y="1932845"/>
            <a:ext cx="18126882" cy="697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Elástica : 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Cuando el coeficiente de elasticidad en su valor absoluto es mayor que uno (e&gt;1), interpretándose que la demanda del bien o servicio es elástica, muy sensible, o varía en mayor porcentaje que la variación de la variable independiente que se esté analizando. (Px, IM, GP, Po, Exp, etc)</a:t>
            </a:r>
          </a:p>
          <a:p>
            <a:pPr algn="l">
              <a:lnSpc>
                <a:spcPts val="4599"/>
              </a:lnSpc>
            </a:pP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Inelástica: 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Cuando el coeficiente de elasticidad en su valor absoluto es menor que uno (e&lt;1), interpretándose que la demanda o cantidad demandada del bien o servicio es inelástica, poco sensible o varía en menor porcentaje que la variación de la variable independiente que se esté analizando. (Px, IM, GP, Po, Exp, etc)</a:t>
            </a:r>
          </a:p>
          <a:p>
            <a:pPr algn="l">
              <a:lnSpc>
                <a:spcPts val="45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94324" y="555238"/>
            <a:ext cx="14264976" cy="9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Tipos de Elasticidad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75102" y="1506383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5" y="0"/>
                </a:lnTo>
                <a:lnTo>
                  <a:pt x="3402275" y="1701137"/>
                </a:lnTo>
                <a:lnTo>
                  <a:pt x="0" y="1701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4880272" y="6884724"/>
            <a:ext cx="3407728" cy="3402276"/>
            <a:chOff x="0" y="0"/>
            <a:chExt cx="6350000" cy="633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sp>
        <p:nvSpPr>
          <p:cNvPr name="AutoShape 5" id="5"/>
          <p:cNvSpPr/>
          <p:nvPr/>
        </p:nvSpPr>
        <p:spPr>
          <a:xfrm rot="0">
            <a:off x="-880554" y="-1917302"/>
            <a:ext cx="3407728" cy="3423684"/>
          </a:xfrm>
          <a:prstGeom prst="rect">
            <a:avLst/>
          </a:prstGeom>
          <a:solidFill>
            <a:srgbClr val="EF3625"/>
          </a:solid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507434" y="8019632"/>
            <a:ext cx="3378345" cy="3378345"/>
            <a:chOff x="6705600" y="1371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CBE0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29072" y="3441700"/>
            <a:ext cx="16830228" cy="539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1824" indent="-400912" lvl="1">
              <a:lnSpc>
                <a:spcPts val="4270"/>
              </a:lnSpc>
              <a:buFont typeface="Arial"/>
              <a:buChar char="•"/>
            </a:pPr>
            <a:r>
              <a:rPr lang="en-US" b="true" sz="3713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Unitaria: Cuando el coeficiente de elasticidad en su valor absoluto es igual a uno (e=1).</a:t>
            </a:r>
          </a:p>
          <a:p>
            <a:pPr algn="l">
              <a:lnSpc>
                <a:spcPts val="4270"/>
              </a:lnSpc>
            </a:pPr>
          </a:p>
          <a:p>
            <a:pPr algn="l" marL="801824" indent="-400912" lvl="1">
              <a:lnSpc>
                <a:spcPts val="4270"/>
              </a:lnSpc>
              <a:buFont typeface="Arial"/>
              <a:buChar char="•"/>
            </a:pPr>
            <a:r>
              <a:rPr lang="en-US" b="true" sz="3713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Perfectamente elástica: Cuando el coeficiente de elasticidad es igual al infinito (e=∞).</a:t>
            </a:r>
          </a:p>
          <a:p>
            <a:pPr algn="l">
              <a:lnSpc>
                <a:spcPts val="4270"/>
              </a:lnSpc>
            </a:pPr>
          </a:p>
          <a:p>
            <a:pPr algn="l" marL="801824" indent="-400912" lvl="1">
              <a:lnSpc>
                <a:spcPts val="4270"/>
              </a:lnSpc>
              <a:buFont typeface="Arial"/>
              <a:buChar char="•"/>
            </a:pPr>
            <a:r>
              <a:rPr lang="en-US" b="true" sz="3713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Perfectamente inelástica: Cuando el coeficiente de elasticidad es igual a cero (e = 0).</a:t>
            </a:r>
          </a:p>
          <a:p>
            <a:pPr algn="l">
              <a:lnSpc>
                <a:spcPts val="4270"/>
              </a:lnSpc>
            </a:pPr>
          </a:p>
          <a:p>
            <a:pPr algn="l">
              <a:lnSpc>
                <a:spcPts val="427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94324" y="555238"/>
            <a:ext cx="14264976" cy="9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Tipos de Elasticidad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971550"/>
            <a:ext cx="8115300" cy="183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5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PERFECTAMENTE ELÁSTICA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49335" y="4933214"/>
            <a:ext cx="4417996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Cuando el coeficiente de elasticidad es igual al infinito (e=∞). El empresario no tiene </a:t>
            </a:r>
            <a:r>
              <a:rPr lang="en-US" sz="27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ningún poder</a:t>
            </a:r>
            <a:r>
              <a:rPr lang="en-US" sz="2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de subir o bajar precios.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-2771" y="45"/>
            <a:ext cx="5169009" cy="5160739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078" y="5162550"/>
            <a:ext cx="5143500" cy="5143500"/>
            <a:chOff x="6705600" y="1371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C2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66566" y="3474059"/>
            <a:ext cx="5501023" cy="4928641"/>
            <a:chOff x="0" y="0"/>
            <a:chExt cx="7334698" cy="6571521"/>
          </a:xfrm>
        </p:grpSpPr>
        <p:sp>
          <p:nvSpPr>
            <p:cNvPr name="AutoShape 9" id="9"/>
            <p:cNvSpPr/>
            <p:nvPr/>
          </p:nvSpPr>
          <p:spPr>
            <a:xfrm>
              <a:off x="46785" y="6546039"/>
              <a:ext cx="728791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25400" y="83"/>
              <a:ext cx="21385" cy="6571356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arrow" len="sm" w="med"/>
              <a:tailEnd type="none" len="sm" w="sm"/>
            </a:ln>
          </p:spPr>
        </p:sp>
      </p:grpSp>
      <p:sp>
        <p:nvSpPr>
          <p:cNvPr name="AutoShape 11" id="11"/>
          <p:cNvSpPr/>
          <p:nvPr/>
        </p:nvSpPr>
        <p:spPr>
          <a:xfrm flipV="true">
            <a:off x="11466566" y="5938379"/>
            <a:ext cx="5501023" cy="0"/>
          </a:xfrm>
          <a:prstGeom prst="line">
            <a:avLst/>
          </a:prstGeom>
          <a:ln cap="flat" w="95250">
            <a:solidFill>
              <a:srgbClr val="34B6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278636" y="3863864"/>
            <a:ext cx="2013903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Eje de precios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16505" y="8686761"/>
            <a:ext cx="2585720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Eje de cantidades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0" y="971550"/>
            <a:ext cx="8115300" cy="183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5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PERFECTAMENTE INELÁSTICA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-2771" y="45"/>
            <a:ext cx="5169009" cy="5160739"/>
            <a:chOff x="0" y="0"/>
            <a:chExt cx="6350000" cy="633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C2AFC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078" y="5162550"/>
            <a:ext cx="5143500" cy="5143500"/>
            <a:chOff x="6705600" y="1371600"/>
            <a:chExt cx="10972800" cy="1097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34B6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01202" y="3607354"/>
            <a:ext cx="5501023" cy="4928664"/>
            <a:chOff x="0" y="0"/>
            <a:chExt cx="7334698" cy="6571552"/>
          </a:xfrm>
        </p:grpSpPr>
        <p:sp>
          <p:nvSpPr>
            <p:cNvPr name="AutoShape 8" id="8"/>
            <p:cNvSpPr/>
            <p:nvPr/>
          </p:nvSpPr>
          <p:spPr>
            <a:xfrm>
              <a:off x="46785" y="6546054"/>
              <a:ext cx="7287913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9" id="9"/>
            <p:cNvSpPr/>
            <p:nvPr/>
          </p:nvSpPr>
          <p:spPr>
            <a:xfrm>
              <a:off x="25400" y="98"/>
              <a:ext cx="21385" cy="6571356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3669357" y="0"/>
              <a:ext cx="0" cy="6571552"/>
            </a:xfrm>
            <a:prstGeom prst="line">
              <a:avLst/>
            </a:prstGeom>
            <a:ln cap="flat" w="190500">
              <a:solidFill>
                <a:srgbClr val="38B6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251191" y="5374996"/>
            <a:ext cx="4709707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Cuando el coeficiente de elasticidad es igual a cero (e=0). </a:t>
            </a:r>
            <a:r>
              <a:rPr lang="en-US" sz="27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Tiene todo el poder de mercado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16505" y="8686761"/>
            <a:ext cx="2585720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Eje de cantidades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8636" y="3863864"/>
            <a:ext cx="2013903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Eje de precios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512000" y="6117903"/>
            <a:ext cx="5091305" cy="5091305"/>
            <a:chOff x="6705600" y="137160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EF3625"/>
            </a:soli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3179457" y="5199786"/>
            <a:ext cx="5112633" cy="5104453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91613" y="2928616"/>
            <a:ext cx="14904774" cy="639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Un bien es inelástico cuando los cambios en el precio tienen poco efecto sobre la cantidad demandada.</a:t>
            </a:r>
          </a:p>
          <a:p>
            <a:pPr algn="l">
              <a:lnSpc>
                <a:spcPts val="4599"/>
              </a:lnSpc>
            </a:pPr>
          </a:p>
          <a:p>
            <a:pPr algn="l" marL="863599" indent="-431800" lvl="1">
              <a:lnSpc>
                <a:spcPts val="459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Ejemplo de Bien Inelástico: Productos b</a:t>
            </a:r>
            <a:r>
              <a:rPr lang="en-US" b="true" sz="39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ásicos como la gasolina o medicamentos, donde los consumidores tienden a mantener el consumo incluso si los precios suben.</a:t>
            </a:r>
          </a:p>
          <a:p>
            <a:pPr algn="l">
              <a:lnSpc>
                <a:spcPts val="4599"/>
              </a:lnSpc>
            </a:pPr>
          </a:p>
          <a:p>
            <a:pPr algn="l">
              <a:lnSpc>
                <a:spcPts val="4599"/>
              </a:lnSpc>
            </a:pPr>
            <a:r>
              <a:rPr lang="en-US" sz="3999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Aplicación en Estrategia de Precios:</a:t>
            </a:r>
            <a:r>
              <a:rPr lang="en-US" sz="3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 Las empresas pueden aumentar los precios de bienes inelásticos sin una gran reducción en la demanda, maximizando ingresos.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512" y="1729713"/>
            <a:ext cx="14264976" cy="97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</a:pPr>
            <a:r>
              <a:rPr lang="en-US" sz="6621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Inelasticidad Precio de la Demanda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8888" y="4605337"/>
            <a:ext cx="909022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5"/>
              </a:lnSpc>
            </a:pPr>
            <a:r>
              <a:rPr lang="en-US" sz="7500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Gracias.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4880272" y="3408989"/>
            <a:ext cx="3407728" cy="3423684"/>
          </a:xfrm>
          <a:prstGeom prst="rect">
            <a:avLst/>
          </a:prstGeom>
          <a:solidFill>
            <a:srgbClr val="34B67C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4880272" y="3408989"/>
            <a:ext cx="3407728" cy="3402276"/>
            <a:chOff x="0" y="0"/>
            <a:chExt cx="635000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CBE04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880272" y="0"/>
            <a:ext cx="3378345" cy="3378345"/>
            <a:chOff x="6705600" y="1371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96808" y="1100629"/>
              <a:ext cx="10990383" cy="11514742"/>
            </a:xfrm>
            <a:custGeom>
              <a:avLst/>
              <a:gdLst/>
              <a:ahLst/>
              <a:cxnLst/>
              <a:rect r="r" b="b" t="t" l="l"/>
              <a:pathLst>
                <a:path h="11514742" w="10990383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C2AF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-850569" y="7735293"/>
            <a:ext cx="3402276" cy="1701138"/>
          </a:xfrm>
          <a:custGeom>
            <a:avLst/>
            <a:gdLst/>
            <a:ahLst/>
            <a:cxnLst/>
            <a:rect r="r" b="b" t="t" l="l"/>
            <a:pathLst>
              <a:path h="1701138" w="3402276">
                <a:moveTo>
                  <a:pt x="0" y="0"/>
                </a:moveTo>
                <a:lnTo>
                  <a:pt x="3402276" y="0"/>
                </a:lnTo>
                <a:lnTo>
                  <a:pt x="3402276" y="1701138"/>
                </a:lnTo>
                <a:lnTo>
                  <a:pt x="0" y="1701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726" y="3430397"/>
            <a:ext cx="3407728" cy="3402276"/>
            <a:chOff x="0" y="0"/>
            <a:chExt cx="6350000" cy="6339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34B67C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DAGViT2LIGk</dc:identifier>
  <dcterms:modified xsi:type="dcterms:W3CDTF">2011-08-01T06:04:30Z</dcterms:modified>
  <cp:revision>1</cp:revision>
  <dc:title>Tecnologías innovadoras</dc:title>
</cp:coreProperties>
</file>