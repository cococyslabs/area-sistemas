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Tnv071jPgYM05Mzm6FIIryc0O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2142578" y="3662493"/>
            <a:ext cx="9115816" cy="9149085"/>
          </a:xfrm>
          <a:custGeom>
            <a:rect b="b" l="l" r="r" t="t"/>
            <a:pathLst>
              <a:path extrusionOk="0" h="9149085" w="9115816">
                <a:moveTo>
                  <a:pt x="0" y="0"/>
                </a:moveTo>
                <a:lnTo>
                  <a:pt x="9115815" y="0"/>
                </a:lnTo>
                <a:lnTo>
                  <a:pt x="9115815" y="9149085"/>
                </a:lnTo>
                <a:lnTo>
                  <a:pt x="0" y="9149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66961">
            <a:off x="12714396" y="3440228"/>
            <a:ext cx="6316550" cy="7207681"/>
          </a:xfrm>
          <a:custGeom>
            <a:rect b="b" l="l" r="r" t="t"/>
            <a:pathLst>
              <a:path extrusionOk="0" h="7207681" w="6316550">
                <a:moveTo>
                  <a:pt x="0" y="0"/>
                </a:moveTo>
                <a:lnTo>
                  <a:pt x="6316550" y="0"/>
                </a:lnTo>
                <a:lnTo>
                  <a:pt x="6316550" y="7207681"/>
                </a:lnTo>
                <a:lnTo>
                  <a:pt x="0" y="7207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136528">
            <a:off x="8408551" y="6464549"/>
            <a:ext cx="2532870" cy="3195134"/>
          </a:xfrm>
          <a:custGeom>
            <a:rect b="b" l="l" r="r" t="t"/>
            <a:pathLst>
              <a:path extrusionOk="0" h="3195134" w="2532870">
                <a:moveTo>
                  <a:pt x="0" y="0"/>
                </a:moveTo>
                <a:lnTo>
                  <a:pt x="2532870" y="0"/>
                </a:lnTo>
                <a:lnTo>
                  <a:pt x="2532870" y="3195135"/>
                </a:lnTo>
                <a:lnTo>
                  <a:pt x="0" y="3195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2415329" y="961162"/>
            <a:ext cx="13457341" cy="5597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7" u="none" cap="none" strike="noStrike">
                <a:solidFill>
                  <a:srgbClr val="F1EEEA"/>
                </a:solidFill>
                <a:latin typeface="Arial"/>
                <a:ea typeface="Arial"/>
                <a:cs typeface="Arial"/>
                <a:sym typeface="Arial"/>
              </a:rPr>
              <a:t>Equilibrio de mercado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EE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 rot="237971">
            <a:off x="13922698" y="1218708"/>
            <a:ext cx="5650291" cy="4509960"/>
          </a:xfrm>
          <a:custGeom>
            <a:rect b="b" l="l" r="r" t="t"/>
            <a:pathLst>
              <a:path extrusionOk="0" h="4509960" w="5650291">
                <a:moveTo>
                  <a:pt x="0" y="0"/>
                </a:moveTo>
                <a:lnTo>
                  <a:pt x="5650291" y="0"/>
                </a:lnTo>
                <a:lnTo>
                  <a:pt x="5650291" y="4509960"/>
                </a:lnTo>
                <a:lnTo>
                  <a:pt x="0" y="4509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11159988" y="5722629"/>
            <a:ext cx="5227008" cy="5246085"/>
          </a:xfrm>
          <a:custGeom>
            <a:rect b="b" l="l" r="r" t="t"/>
            <a:pathLst>
              <a:path extrusionOk="0" h="5246085" w="5227008">
                <a:moveTo>
                  <a:pt x="0" y="0"/>
                </a:moveTo>
                <a:lnTo>
                  <a:pt x="5227008" y="0"/>
                </a:lnTo>
                <a:lnTo>
                  <a:pt x="5227008" y="5246085"/>
                </a:lnTo>
                <a:lnTo>
                  <a:pt x="0" y="5246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/>
          <p:nvPr/>
        </p:nvSpPr>
        <p:spPr>
          <a:xfrm rot="-489537">
            <a:off x="9680870" y="511860"/>
            <a:ext cx="3553691" cy="4114800"/>
          </a:xfrm>
          <a:custGeom>
            <a:rect b="b" l="l" r="r" t="t"/>
            <a:pathLst>
              <a:path extrusionOk="0" h="4114800" w="3553691">
                <a:moveTo>
                  <a:pt x="0" y="0"/>
                </a:moveTo>
                <a:lnTo>
                  <a:pt x="3553691" y="0"/>
                </a:lnTo>
                <a:lnTo>
                  <a:pt x="35536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>
            <a:off x="5102896" y="8192682"/>
            <a:ext cx="1653928" cy="1653928"/>
          </a:xfrm>
          <a:custGeom>
            <a:rect b="b" l="l" r="r" t="t"/>
            <a:pathLst>
              <a:path extrusionOk="0" h="1653928" w="1653928">
                <a:moveTo>
                  <a:pt x="0" y="0"/>
                </a:moveTo>
                <a:lnTo>
                  <a:pt x="1653928" y="0"/>
                </a:lnTo>
                <a:lnTo>
                  <a:pt x="1653928" y="1653928"/>
                </a:lnTo>
                <a:lnTo>
                  <a:pt x="0" y="165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 txBox="1"/>
          <p:nvPr/>
        </p:nvSpPr>
        <p:spPr>
          <a:xfrm>
            <a:off x="1110856" y="971550"/>
            <a:ext cx="3796800" cy="476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2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Concepto de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110856" y="5203676"/>
            <a:ext cx="9638008" cy="2613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El equilibrio de mercado es el punto en el cual la cantidad demandada de un bien es igual a la cantidad ofrecida, estableciéndose así el precio de equilibrio.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17171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Importancia</a:t>
            </a:r>
            <a:r>
              <a:rPr b="0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: En este punto, no hay presión para que el precio suba o baje, ya que el mercado se encuentra “balanceado”.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028700" y="1761916"/>
            <a:ext cx="9360079" cy="3237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52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Equilibrio de Mercado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13100345" y="1028700"/>
            <a:ext cx="4071839" cy="4071839"/>
          </a:xfrm>
          <a:custGeom>
            <a:rect b="b" l="l" r="r" t="t"/>
            <a:pathLst>
              <a:path extrusionOk="0" h="4071839" w="4071839">
                <a:moveTo>
                  <a:pt x="0" y="0"/>
                </a:moveTo>
                <a:lnTo>
                  <a:pt x="4071840" y="0"/>
                </a:lnTo>
                <a:lnTo>
                  <a:pt x="4071840" y="4071839"/>
                </a:lnTo>
                <a:lnTo>
                  <a:pt x="0" y="4071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8915358" y="1369867"/>
            <a:ext cx="3725605" cy="3773633"/>
          </a:xfrm>
          <a:custGeom>
            <a:rect b="b" l="l" r="r" t="t"/>
            <a:pathLst>
              <a:path extrusionOk="0" h="3773633" w="3725605">
                <a:moveTo>
                  <a:pt x="0" y="0"/>
                </a:moveTo>
                <a:lnTo>
                  <a:pt x="3725605" y="0"/>
                </a:lnTo>
                <a:lnTo>
                  <a:pt x="3725605" y="3773633"/>
                </a:lnTo>
                <a:lnTo>
                  <a:pt x="0" y="3773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3"/>
          <p:cNvSpPr txBox="1"/>
          <p:nvPr/>
        </p:nvSpPr>
        <p:spPr>
          <a:xfrm>
            <a:off x="1028700" y="962025"/>
            <a:ext cx="4656278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Determinación del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1028700" y="1856740"/>
            <a:ext cx="8930405" cy="638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52" u="none" cap="none" strike="noStrike">
                <a:solidFill>
                  <a:srgbClr val="F1EEEA"/>
                </a:solidFill>
                <a:latin typeface="Arial"/>
                <a:ea typeface="Arial"/>
                <a:cs typeface="Arial"/>
                <a:sym typeface="Arial"/>
              </a:rPr>
              <a:t>Precio y cantidad de equilibrio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8915358" y="5460927"/>
            <a:ext cx="8584814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La interacción entre la oferta y la demanda en el mercado determina tanto el precio de equilibrio como la cantidad de equilibrio.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8915358" y="7073827"/>
            <a:ext cx="8584814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b="0" i="0" lang="en-US" sz="2500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: En el mercado de smartphones, la cantidad que los consumidores desean comprar al precio de equilibrio es igual a la cantidad que los productores están dispuestos a vender.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EE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 rot="-273266">
            <a:off x="11081625" y="866268"/>
            <a:ext cx="5932050" cy="5349631"/>
          </a:xfrm>
          <a:custGeom>
            <a:rect b="b" l="l" r="r" t="t"/>
            <a:pathLst>
              <a:path extrusionOk="0" h="5349631" w="5932050">
                <a:moveTo>
                  <a:pt x="0" y="0"/>
                </a:moveTo>
                <a:lnTo>
                  <a:pt x="5932050" y="0"/>
                </a:lnTo>
                <a:lnTo>
                  <a:pt x="5932050" y="5349631"/>
                </a:lnTo>
                <a:lnTo>
                  <a:pt x="0" y="5349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4"/>
          <p:cNvSpPr txBox="1"/>
          <p:nvPr/>
        </p:nvSpPr>
        <p:spPr>
          <a:xfrm>
            <a:off x="1028700" y="981075"/>
            <a:ext cx="8291285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Desplazamientos de la Demanda</a:t>
            </a:r>
            <a:r>
              <a:rPr b="0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: Aumento o disminución de la demanda puede llevar a un nuevo equilibrio con un precio y cantidad diferentes.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1028700" y="3846459"/>
            <a:ext cx="7901871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Ejemplo: Si la demanda de autos eléctricos aumenta debido a incentivos gubernamentales, el precio y la cantidad de equilibrio de autos eléctricos también aumentan.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338837" y="6597556"/>
            <a:ext cx="17351655" cy="32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52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Cambios en el equilibrio de mercado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1028700" y="2512978"/>
            <a:ext cx="8291285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Desplazamientos de la Oferta: </a:t>
            </a:r>
            <a:r>
              <a:rPr b="0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Aumento o disminución de la oferta también afecta el equilibrio de mercado.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 rot="774683">
            <a:off x="-2613504" y="3834447"/>
            <a:ext cx="5227008" cy="5246085"/>
          </a:xfrm>
          <a:custGeom>
            <a:rect b="b" l="l" r="r" t="t"/>
            <a:pathLst>
              <a:path extrusionOk="0" h="5246085" w="5227008">
                <a:moveTo>
                  <a:pt x="0" y="0"/>
                </a:moveTo>
                <a:lnTo>
                  <a:pt x="5227008" y="0"/>
                </a:lnTo>
                <a:lnTo>
                  <a:pt x="5227008" y="5246085"/>
                </a:lnTo>
                <a:lnTo>
                  <a:pt x="0" y="5246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5"/>
          <p:cNvSpPr/>
          <p:nvPr/>
        </p:nvSpPr>
        <p:spPr>
          <a:xfrm rot="238430">
            <a:off x="16185240" y="1146891"/>
            <a:ext cx="3553691" cy="4114800"/>
          </a:xfrm>
          <a:custGeom>
            <a:rect b="b" l="l" r="r" t="t"/>
            <a:pathLst>
              <a:path extrusionOk="0" h="4114800" w="3553691">
                <a:moveTo>
                  <a:pt x="0" y="0"/>
                </a:moveTo>
                <a:lnTo>
                  <a:pt x="3553691" y="0"/>
                </a:lnTo>
                <a:lnTo>
                  <a:pt x="35536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5"/>
          <p:cNvSpPr/>
          <p:nvPr/>
        </p:nvSpPr>
        <p:spPr>
          <a:xfrm rot="-340211">
            <a:off x="688762" y="-750988"/>
            <a:ext cx="3142211" cy="4114800"/>
          </a:xfrm>
          <a:custGeom>
            <a:rect b="b" l="l" r="r" t="t"/>
            <a:pathLst>
              <a:path extrusionOk="0" h="4114800" w="3142211">
                <a:moveTo>
                  <a:pt x="0" y="0"/>
                </a:moveTo>
                <a:lnTo>
                  <a:pt x="3142211" y="0"/>
                </a:lnTo>
                <a:lnTo>
                  <a:pt x="3142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5"/>
          <p:cNvSpPr/>
          <p:nvPr/>
        </p:nvSpPr>
        <p:spPr>
          <a:xfrm>
            <a:off x="15589821" y="6066166"/>
            <a:ext cx="4744528" cy="4114800"/>
          </a:xfrm>
          <a:custGeom>
            <a:rect b="b" l="l" r="r" t="t"/>
            <a:pathLst>
              <a:path extrusionOk="0" h="4114800" w="4744528">
                <a:moveTo>
                  <a:pt x="0" y="0"/>
                </a:moveTo>
                <a:lnTo>
                  <a:pt x="4744529" y="0"/>
                </a:lnTo>
                <a:lnTo>
                  <a:pt x="47445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5"/>
          <p:cNvSpPr txBox="1"/>
          <p:nvPr/>
        </p:nvSpPr>
        <p:spPr>
          <a:xfrm>
            <a:off x="2472119" y="2899464"/>
            <a:ext cx="13343762" cy="167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52" u="none" cap="none" strike="noStrike">
                <a:solidFill>
                  <a:srgbClr val="F1EEEA"/>
                </a:solidFill>
                <a:latin typeface="Arial"/>
                <a:ea typeface="Arial"/>
                <a:cs typeface="Arial"/>
                <a:sym typeface="Arial"/>
              </a:rPr>
              <a:t>Excedentes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2753906" y="5544655"/>
            <a:ext cx="12835915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Excedente del Consumidor</a:t>
            </a:r>
            <a:r>
              <a:rPr b="0" i="0" lang="en-US" sz="2500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: Diferencia entre el precio que los consumidores están dispuestos a pagar y el precio de equilibrio que realmente pagan.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2944732" y="6731813"/>
            <a:ext cx="12583333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Excedente del Productor</a:t>
            </a:r>
            <a:r>
              <a:rPr b="0" i="0" lang="en-US" sz="2500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: Diferencia entre el precio que los productores reciben y el precio mínimo al cual estarían dispuestos a vender.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F1EEE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EE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320314" y="6550025"/>
            <a:ext cx="9491413" cy="6385132"/>
          </a:xfrm>
          <a:custGeom>
            <a:rect b="b" l="l" r="r" t="t"/>
            <a:pathLst>
              <a:path extrusionOk="0" h="6385132" w="9491413">
                <a:moveTo>
                  <a:pt x="0" y="0"/>
                </a:moveTo>
                <a:lnTo>
                  <a:pt x="9491413" y="0"/>
                </a:lnTo>
                <a:lnTo>
                  <a:pt x="9491413" y="6385132"/>
                </a:lnTo>
                <a:lnTo>
                  <a:pt x="0" y="6385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6"/>
          <p:cNvSpPr txBox="1"/>
          <p:nvPr/>
        </p:nvSpPr>
        <p:spPr>
          <a:xfrm>
            <a:off x="13362145" y="1020644"/>
            <a:ext cx="3796800" cy="47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2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Efectos de los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1028700" y="331725"/>
            <a:ext cx="82914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Precio Máximo</a:t>
            </a:r>
            <a:r>
              <a:rPr b="0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: Precio impuesto por debajo del precio de equilibrio, que puede generar escasez al aumentar la demanda y reducir la oferta.</a:t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943275" y="1811002"/>
            <a:ext cx="79020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Precio Mínimo</a:t>
            </a:r>
            <a:r>
              <a:rPr b="0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: Precio impuesto por encima del precio de equilibrio, que puede generar un excedente al reducir la demanda y aumentar la oferta.</a:t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9223595" y="1811011"/>
            <a:ext cx="8035705" cy="4814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52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Precios máximos y mínimos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1028688" y="3911113"/>
            <a:ext cx="79020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Ejemplo: Un precio máximo en el alquiler de viviendas puede resultar en escasez de apartamentos, mientras que un precio mínimo para el salario (salario mínimo) puede llevar a un excedente de mano de obra (desempleo).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 flipH="1">
            <a:off x="4745950" y="771842"/>
            <a:ext cx="4398050" cy="5018522"/>
          </a:xfrm>
          <a:custGeom>
            <a:rect b="b" l="l" r="r" t="t"/>
            <a:pathLst>
              <a:path extrusionOk="0" h="5018522" w="4398050">
                <a:moveTo>
                  <a:pt x="4398050" y="0"/>
                </a:moveTo>
                <a:lnTo>
                  <a:pt x="0" y="0"/>
                </a:lnTo>
                <a:lnTo>
                  <a:pt x="0" y="5018523"/>
                </a:lnTo>
                <a:lnTo>
                  <a:pt x="4398050" y="5018523"/>
                </a:lnTo>
                <a:lnTo>
                  <a:pt x="439805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7"/>
          <p:cNvSpPr/>
          <p:nvPr/>
        </p:nvSpPr>
        <p:spPr>
          <a:xfrm rot="-189686">
            <a:off x="220241" y="248702"/>
            <a:ext cx="4595688" cy="3943936"/>
          </a:xfrm>
          <a:custGeom>
            <a:rect b="b" l="l" r="r" t="t"/>
            <a:pathLst>
              <a:path extrusionOk="0" h="3943936" w="4595688">
                <a:moveTo>
                  <a:pt x="0" y="0"/>
                </a:moveTo>
                <a:lnTo>
                  <a:pt x="4595688" y="0"/>
                </a:lnTo>
                <a:lnTo>
                  <a:pt x="4595688" y="3943936"/>
                </a:lnTo>
                <a:lnTo>
                  <a:pt x="0" y="3943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7"/>
          <p:cNvSpPr txBox="1"/>
          <p:nvPr/>
        </p:nvSpPr>
        <p:spPr>
          <a:xfrm>
            <a:off x="1028700" y="5466832"/>
            <a:ext cx="4656278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Equilibrio en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1028700" y="6361547"/>
            <a:ext cx="10860501" cy="32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52" u="none" cap="none" strike="noStrike">
                <a:solidFill>
                  <a:srgbClr val="F1EEEA"/>
                </a:solidFill>
                <a:latin typeface="Arial"/>
                <a:ea typeface="Arial"/>
                <a:cs typeface="Arial"/>
                <a:sym typeface="Arial"/>
              </a:rPr>
              <a:t>Mercados</a:t>
            </a:r>
            <a:endParaRPr/>
          </a:p>
          <a:p>
            <a:pPr indent="0" lvl="0" marL="0" marR="0" rtl="0" algn="l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52" u="none" cap="none" strike="noStrike">
                <a:solidFill>
                  <a:srgbClr val="F1EEEA"/>
                </a:solidFill>
                <a:latin typeface="Arial"/>
                <a:ea typeface="Arial"/>
                <a:cs typeface="Arial"/>
                <a:sym typeface="Arial"/>
              </a:rPr>
              <a:t>Competitivos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10183657" y="981075"/>
            <a:ext cx="7075643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En un mercado competitivo, el equilibrio de una empresa ocurre cuando el precio es igual al costo marginal, lo cual maximiza su ganancia.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10183657" y="3024863"/>
            <a:ext cx="7075643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Las empresas solo obtienen beneficios normales a largo plazo, ya que la entrada de nuevas empresas en el mercado competitivo elimina beneficios extraordinarios.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 rot="169389">
            <a:off x="12938510" y="5064561"/>
            <a:ext cx="3306803" cy="4114800"/>
          </a:xfrm>
          <a:custGeom>
            <a:rect b="b" l="l" r="r" t="t"/>
            <a:pathLst>
              <a:path extrusionOk="0" h="4114800" w="3306803">
                <a:moveTo>
                  <a:pt x="0" y="0"/>
                </a:moveTo>
                <a:lnTo>
                  <a:pt x="3306803" y="0"/>
                </a:lnTo>
                <a:lnTo>
                  <a:pt x="33068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EE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11923893" y="5330070"/>
            <a:ext cx="4163884" cy="4438249"/>
          </a:xfrm>
          <a:custGeom>
            <a:rect b="b" l="l" r="r" t="t"/>
            <a:pathLst>
              <a:path extrusionOk="0" h="4438249" w="4163884">
                <a:moveTo>
                  <a:pt x="0" y="0"/>
                </a:moveTo>
                <a:lnTo>
                  <a:pt x="4163884" y="0"/>
                </a:lnTo>
                <a:lnTo>
                  <a:pt x="4163884" y="4438249"/>
                </a:lnTo>
                <a:lnTo>
                  <a:pt x="0" y="4438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8"/>
          <p:cNvSpPr txBox="1"/>
          <p:nvPr/>
        </p:nvSpPr>
        <p:spPr>
          <a:xfrm>
            <a:off x="1028700" y="5282445"/>
            <a:ext cx="8291285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Exceso de Oferta (Excedente)</a:t>
            </a:r>
            <a:r>
              <a:rPr b="0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: Cuando el precio está por encima del equilibrio, la cantidad ofrecida es mayor que la demandada, lo que genera un excedente.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1717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1028700" y="6971545"/>
            <a:ext cx="8291285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Exceso de Demanda (Escasez)</a:t>
            </a:r>
            <a:r>
              <a:rPr b="0" i="0" lang="en-US" sz="2500" u="none" cap="none" strike="noStrik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: Cuando el precio está por debajo del equilibrio, la cantidad demandada es mayor que la ofrecida, lo que genera una escasez.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912926" y="1784381"/>
            <a:ext cx="15487909" cy="32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52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Ajuste del mercado ante desequilibrios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 rot="-187008">
            <a:off x="-929479" y="-2654441"/>
            <a:ext cx="8583592" cy="7366283"/>
          </a:xfrm>
          <a:custGeom>
            <a:rect b="b" l="l" r="r" t="t"/>
            <a:pathLst>
              <a:path extrusionOk="0" h="7366283" w="8583592">
                <a:moveTo>
                  <a:pt x="0" y="0"/>
                </a:moveTo>
                <a:lnTo>
                  <a:pt x="8583592" y="0"/>
                </a:lnTo>
                <a:lnTo>
                  <a:pt x="8583592" y="7366282"/>
                </a:lnTo>
                <a:lnTo>
                  <a:pt x="0" y="7366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9"/>
          <p:cNvSpPr/>
          <p:nvPr/>
        </p:nvSpPr>
        <p:spPr>
          <a:xfrm rot="168767">
            <a:off x="12435764" y="1142571"/>
            <a:ext cx="4733681" cy="3778338"/>
          </a:xfrm>
          <a:custGeom>
            <a:rect b="b" l="l" r="r" t="t"/>
            <a:pathLst>
              <a:path extrusionOk="0" h="3778338" w="4733681">
                <a:moveTo>
                  <a:pt x="0" y="0"/>
                </a:moveTo>
                <a:lnTo>
                  <a:pt x="4733681" y="0"/>
                </a:lnTo>
                <a:lnTo>
                  <a:pt x="4733681" y="3778339"/>
                </a:lnTo>
                <a:lnTo>
                  <a:pt x="0" y="3778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9"/>
          <p:cNvSpPr/>
          <p:nvPr/>
        </p:nvSpPr>
        <p:spPr>
          <a:xfrm>
            <a:off x="8220136" y="1028700"/>
            <a:ext cx="3326496" cy="3326496"/>
          </a:xfrm>
          <a:custGeom>
            <a:rect b="b" l="l" r="r" t="t"/>
            <a:pathLst>
              <a:path extrusionOk="0" h="3326496" w="3326496">
                <a:moveTo>
                  <a:pt x="0" y="0"/>
                </a:moveTo>
                <a:lnTo>
                  <a:pt x="3326496" y="0"/>
                </a:lnTo>
                <a:lnTo>
                  <a:pt x="3326496" y="3326496"/>
                </a:lnTo>
                <a:lnTo>
                  <a:pt x="0" y="3326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9"/>
          <p:cNvSpPr txBox="1"/>
          <p:nvPr/>
        </p:nvSpPr>
        <p:spPr>
          <a:xfrm>
            <a:off x="816448" y="5157180"/>
            <a:ext cx="16978709" cy="3326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32" u="none" cap="none" strike="noStrike">
                <a:solidFill>
                  <a:srgbClr val="F1EEEA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