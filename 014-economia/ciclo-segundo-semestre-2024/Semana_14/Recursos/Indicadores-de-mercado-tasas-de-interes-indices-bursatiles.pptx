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ZTuuGkwPUajJUXyGoz/RXZYy3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7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5" Type="http://schemas.openxmlformats.org/officeDocument/2006/relationships/slide" Target="slides/slide1.xml"/><Relationship Id="rId19" Type="http://schemas.openxmlformats.org/officeDocument/2006/relationships/font" Target="fonts/Roboto-regular.fntdata"/><Relationship Id="rId6" Type="http://schemas.openxmlformats.org/officeDocument/2006/relationships/slide" Target="slides/slide2.xml"/><Relationship Id="rId18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793790" y="1974294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b="0" i="0" lang="en-US" sz="4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Indicadores de mercado: tasas de interés, índices bursátiles</a:t>
            </a:r>
            <a:endParaRPr b="0" i="0" sz="4450" u="none" cap="none" strike="noStrike"/>
          </a:p>
        </p:txBody>
      </p:sp>
      <p:sp>
        <p:nvSpPr>
          <p:cNvPr id="58" name="Google Shape;58;p1"/>
          <p:cNvSpPr/>
          <p:nvPr/>
        </p:nvSpPr>
        <p:spPr>
          <a:xfrm>
            <a:off x="793790" y="4440793"/>
            <a:ext cx="7556421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Los indicadores de mercado, como las tasas de interés y los índices bursátiles, son herramientas clave para comprender el estado y la evolución de los mercados financieros. Estos indicadores proporcionan valiosa información para la toma de decisiones de inversión y la gestión de riesgos.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"/>
          <p:cNvSpPr/>
          <p:nvPr/>
        </p:nvSpPr>
        <p:spPr>
          <a:xfrm>
            <a:off x="793790" y="1106805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b="0" i="0" lang="en-US" sz="4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¿Qué son los indicadores de mercado?</a:t>
            </a:r>
            <a:endParaRPr b="0" i="0" sz="4450" u="none" cap="none" strike="noStrike"/>
          </a:p>
        </p:txBody>
      </p:sp>
      <p:sp>
        <p:nvSpPr>
          <p:cNvPr id="66" name="Google Shape;66;p2"/>
          <p:cNvSpPr/>
          <p:nvPr/>
        </p:nvSpPr>
        <p:spPr>
          <a:xfrm>
            <a:off x="793790" y="311967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976074" y="3204686"/>
            <a:ext cx="145613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50"/>
              <a:buFont typeface="Raleway"/>
              <a:buNone/>
            </a:pPr>
            <a:r>
              <a:rPr b="0" i="0" lang="en-US" sz="2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265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1530906" y="31196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Métricas Clave</a:t>
            </a:r>
            <a:endParaRPr b="0" i="0" sz="22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1530906" y="3610094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Los indicadores de mercado son medidas cuantitativas que reflejan el desempeño y la dinámica de los mercados financieros.</a:t>
            </a:r>
            <a:endParaRPr b="0" i="0" sz="175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4685467" y="3119676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851916" y="3204686"/>
            <a:ext cx="177284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50"/>
              <a:buFont typeface="Raleway"/>
              <a:buNone/>
            </a:pPr>
            <a:r>
              <a:rPr b="0" i="0" lang="en-US" sz="2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2650" u="none" cap="none" strike="noStrike"/>
          </a:p>
        </p:txBody>
      </p:sp>
      <p:sp>
        <p:nvSpPr>
          <p:cNvPr id="72" name="Google Shape;72;p2"/>
          <p:cNvSpPr/>
          <p:nvPr/>
        </p:nvSpPr>
        <p:spPr>
          <a:xfrm>
            <a:off x="5422583" y="3119676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Monitoreo Constante</a:t>
            </a:r>
            <a:endParaRPr b="0" i="0" sz="2200" u="none" cap="none" strike="noStrike"/>
          </a:p>
        </p:txBody>
      </p:sp>
      <p:sp>
        <p:nvSpPr>
          <p:cNvPr id="73" name="Google Shape;73;p2"/>
          <p:cNvSpPr/>
          <p:nvPr/>
        </p:nvSpPr>
        <p:spPr>
          <a:xfrm>
            <a:off x="5422583" y="3610094"/>
            <a:ext cx="2927747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Estos indicadores se siguen de cerca para analizar tendencias, riesgos y oportunidades en los mercados.</a:t>
            </a:r>
            <a:endParaRPr b="0" i="0" sz="175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793790" y="5906572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958096" y="5991582"/>
            <a:ext cx="1816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50"/>
              <a:buFont typeface="Raleway"/>
              <a:buNone/>
            </a:pPr>
            <a:r>
              <a:rPr b="0" i="0" lang="en-US" sz="26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265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1530906" y="590657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Toma de Decisiones</a:t>
            </a:r>
            <a:endParaRPr b="0" i="0" sz="220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1530906" y="6396990"/>
            <a:ext cx="6819305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 interpretación de los indicadores es fundamental para la toma de decisiones de inversión y gestión de riesgos.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/>
          <p:nvPr/>
        </p:nvSpPr>
        <p:spPr>
          <a:xfrm>
            <a:off x="793803" y="2358500"/>
            <a:ext cx="11464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b="0" i="0" lang="en-US" sz="4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Tasas de interés: concepto y tipos</a:t>
            </a:r>
            <a:endParaRPr b="0" i="0" sz="4450" u="none" cap="none" strike="noStrike"/>
          </a:p>
        </p:txBody>
      </p:sp>
      <p:sp>
        <p:nvSpPr>
          <p:cNvPr id="84" name="Google Shape;84;p3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Concepto</a:t>
            </a:r>
            <a:endParaRPr b="0" i="0" sz="2200" u="none" cap="none" strike="noStrike"/>
          </a:p>
        </p:txBody>
      </p:sp>
      <p:sp>
        <p:nvSpPr>
          <p:cNvPr id="85" name="Google Shape;85;p3"/>
          <p:cNvSpPr/>
          <p:nvPr/>
        </p:nvSpPr>
        <p:spPr>
          <a:xfrm>
            <a:off x="793790" y="4215408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Las tasas de interés son el precio que se paga por el uso del dinero, ya sea para préstamos o inversiones.</a:t>
            </a:r>
            <a:endParaRPr b="0" i="0" sz="175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Tipos</a:t>
            </a:r>
            <a:endParaRPr b="0" i="0" sz="220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Existen diferentes tipos de tasas de interés, como las tasas de préstamos, depósitos y bonos, que reflejan distintos riesgos y plazos.</a:t>
            </a:r>
            <a:endParaRPr b="0" i="0" sz="175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Importancia</a:t>
            </a:r>
            <a:endParaRPr b="0" i="0" sz="220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9872067" y="4215408"/>
            <a:ext cx="3978116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Las tasas de interés tienen un impacto significativo en la actividad económica, la inversión y el consumo.</a:t>
            </a:r>
            <a:endParaRPr b="0" i="0" sz="175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12813000" y="7665900"/>
            <a:ext cx="1741200" cy="48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42804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679847" y="2964537"/>
            <a:ext cx="10846951" cy="606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800"/>
              <a:buFont typeface="Raleway"/>
              <a:buNone/>
            </a:pPr>
            <a:r>
              <a:rPr b="0" i="0" lang="en-US" sz="38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Influencia de las tasas de interés en la economía</a:t>
            </a:r>
            <a:endParaRPr b="0" i="0" sz="380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679847" y="5777984"/>
            <a:ext cx="13270706" cy="22860"/>
          </a:xfrm>
          <a:prstGeom prst="roundRect">
            <a:avLst>
              <a:gd fmla="val 356890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937516" y="5098137"/>
            <a:ext cx="22860" cy="679847"/>
          </a:xfrm>
          <a:prstGeom prst="roundRect">
            <a:avLst>
              <a:gd fmla="val 356890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3730466" y="5559504"/>
            <a:ext cx="436959" cy="436959"/>
          </a:xfrm>
          <a:prstGeom prst="roundRect">
            <a:avLst>
              <a:gd fmla="val 1867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3886557" y="5632252"/>
            <a:ext cx="124658" cy="291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50"/>
              <a:buFont typeface="Raleway"/>
              <a:buNone/>
            </a:pPr>
            <a:r>
              <a:rPr b="0" i="0" lang="en-US" sz="2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225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2734866" y="3862864"/>
            <a:ext cx="2428042" cy="303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Inversión</a:t>
            </a:r>
            <a:endParaRPr b="0" i="0" sz="190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874038" y="4282678"/>
            <a:ext cx="6149816" cy="621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Las tasas de interés afectan la rentabilidad de las inversiones, lo que puede estimular o frenar la actividad económica.</a:t>
            </a:r>
            <a:endParaRPr b="0" i="0" sz="15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7303651" y="5777984"/>
            <a:ext cx="22860" cy="679847"/>
          </a:xfrm>
          <a:prstGeom prst="roundRect">
            <a:avLst>
              <a:gd fmla="val 356890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096601" y="5559504"/>
            <a:ext cx="436959" cy="436959"/>
          </a:xfrm>
          <a:prstGeom prst="roundRect">
            <a:avLst>
              <a:gd fmla="val 1867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7239119" y="5632252"/>
            <a:ext cx="151805" cy="291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50"/>
              <a:buFont typeface="Raleway"/>
              <a:buNone/>
            </a:pPr>
            <a:r>
              <a:rPr b="0" i="0" lang="en-US" sz="2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225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6101120" y="6652022"/>
            <a:ext cx="2428042" cy="303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Consumo</a:t>
            </a:r>
            <a:endParaRPr b="0" i="0" sz="1900" u="none" cap="none" strike="noStrike"/>
          </a:p>
        </p:txBody>
      </p:sp>
      <p:sp>
        <p:nvSpPr>
          <p:cNvPr id="108" name="Google Shape;108;p4"/>
          <p:cNvSpPr/>
          <p:nvPr/>
        </p:nvSpPr>
        <p:spPr>
          <a:xfrm>
            <a:off x="4240173" y="7071836"/>
            <a:ext cx="6149935" cy="621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Las tasas de interés influyen en el costo de los préstamos, lo que impacta el poder adquisitivo y el gasto de los consumidores.</a:t>
            </a:r>
            <a:endParaRPr b="0" i="0" sz="150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10669905" y="5098137"/>
            <a:ext cx="22860" cy="679847"/>
          </a:xfrm>
          <a:prstGeom prst="roundRect">
            <a:avLst>
              <a:gd fmla="val 356890" name="adj"/>
            </a:avLst>
          </a:prstGeom>
          <a:solidFill>
            <a:srgbClr val="C7C7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10462855" y="5559504"/>
            <a:ext cx="436959" cy="436959"/>
          </a:xfrm>
          <a:prstGeom prst="roundRect">
            <a:avLst>
              <a:gd fmla="val 1867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10603468" y="5632252"/>
            <a:ext cx="155615" cy="291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250"/>
              <a:buFont typeface="Raleway"/>
              <a:buNone/>
            </a:pPr>
            <a:r>
              <a:rPr b="0" i="0" lang="en-US" sz="22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2250" u="none" cap="none" strike="noStrike"/>
          </a:p>
        </p:txBody>
      </p:sp>
      <p:sp>
        <p:nvSpPr>
          <p:cNvPr id="112" name="Google Shape;112;p4"/>
          <p:cNvSpPr/>
          <p:nvPr/>
        </p:nvSpPr>
        <p:spPr>
          <a:xfrm>
            <a:off x="9467374" y="3862864"/>
            <a:ext cx="2428042" cy="303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Inflación</a:t>
            </a:r>
            <a:endParaRPr b="0" i="0" sz="190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7606427" y="4282678"/>
            <a:ext cx="6149935" cy="6212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Los bancos centrales ajustan las tasas de interés para controlar la inflación y mantener la estabilidad económica.</a:t>
            </a:r>
            <a:endParaRPr b="0" i="0" sz="150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12813000" y="7665900"/>
            <a:ext cx="1741200" cy="48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775930" y="610791"/>
            <a:ext cx="7592139" cy="1385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350"/>
              <a:buFont typeface="Raleway"/>
              <a:buNone/>
            </a:pPr>
            <a:r>
              <a:rPr b="0" i="0" lang="en-US" sz="4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Índices bursátiles: definición y principales índices</a:t>
            </a:r>
            <a:endParaRPr b="0" i="0" sz="4350" u="none" cap="none" strike="noStrike"/>
          </a:p>
        </p:txBody>
      </p:sp>
      <p:sp>
        <p:nvSpPr>
          <p:cNvPr id="122" name="Google Shape;122;p5"/>
          <p:cNvSpPr/>
          <p:nvPr/>
        </p:nvSpPr>
        <p:spPr>
          <a:xfrm>
            <a:off x="775930" y="2328743"/>
            <a:ext cx="3685223" cy="2711529"/>
          </a:xfrm>
          <a:prstGeom prst="roundRect">
            <a:avLst>
              <a:gd fmla="val 343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1005245" y="2558058"/>
            <a:ext cx="277118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150"/>
              <a:buFont typeface="Raleway"/>
              <a:buNone/>
            </a:pPr>
            <a:r>
              <a:rPr b="0" i="0" lang="en-US" sz="2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Definición</a:t>
            </a:r>
            <a:endParaRPr b="0" i="0" sz="2150" u="none" cap="none" strike="noStrike"/>
          </a:p>
        </p:txBody>
      </p:sp>
      <p:sp>
        <p:nvSpPr>
          <p:cNvPr id="124" name="Google Shape;124;p5"/>
          <p:cNvSpPr/>
          <p:nvPr/>
        </p:nvSpPr>
        <p:spPr>
          <a:xfrm>
            <a:off x="1005245" y="3037522"/>
            <a:ext cx="3226594" cy="1773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Los índices bursátiles son indicadores que miden el desempeño promedio de un grupo de acciones en un mercado de valores.</a:t>
            </a:r>
            <a:endParaRPr b="0" i="0" sz="1700" u="none" cap="none" strike="noStrike"/>
          </a:p>
        </p:txBody>
      </p:sp>
      <p:sp>
        <p:nvSpPr>
          <p:cNvPr id="125" name="Google Shape;125;p5"/>
          <p:cNvSpPr/>
          <p:nvPr/>
        </p:nvSpPr>
        <p:spPr>
          <a:xfrm>
            <a:off x="4682847" y="2328743"/>
            <a:ext cx="3685223" cy="2711529"/>
          </a:xfrm>
          <a:prstGeom prst="roundRect">
            <a:avLst>
              <a:gd fmla="val 343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912162" y="2558058"/>
            <a:ext cx="277118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150"/>
              <a:buFont typeface="Raleway"/>
              <a:buNone/>
            </a:pPr>
            <a:r>
              <a:rPr b="0" i="0" lang="en-US" sz="2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Principales Índices</a:t>
            </a:r>
            <a:endParaRPr b="0" i="0" sz="21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4912162" y="3037522"/>
            <a:ext cx="3226594" cy="141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Algunos de los índices más conocidos son el S&amp;P 500, Nasdaq Composite, Dow Jones Industrial Average y IBEX 35.</a:t>
            </a:r>
            <a:endParaRPr b="0" i="0" sz="1700" u="none" cap="none" strike="noStrike"/>
          </a:p>
        </p:txBody>
      </p:sp>
      <p:sp>
        <p:nvSpPr>
          <p:cNvPr id="128" name="Google Shape;128;p5"/>
          <p:cNvSpPr/>
          <p:nvPr/>
        </p:nvSpPr>
        <p:spPr>
          <a:xfrm>
            <a:off x="775930" y="5261967"/>
            <a:ext cx="3685223" cy="2356842"/>
          </a:xfrm>
          <a:prstGeom prst="roundRect">
            <a:avLst>
              <a:gd fmla="val 395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005245" y="5491282"/>
            <a:ext cx="277118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150"/>
              <a:buFont typeface="Raleway"/>
              <a:buNone/>
            </a:pPr>
            <a:r>
              <a:rPr b="0" i="0" lang="en-US" sz="2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Usos</a:t>
            </a:r>
            <a:endParaRPr b="0" i="0" sz="215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1005245" y="5970746"/>
            <a:ext cx="3226594" cy="141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Los índices bursátiles se utilizan como referencia para evaluar el rendimiento de los mercados de valores.</a:t>
            </a:r>
            <a:endParaRPr b="0" i="0" sz="1700" u="none" cap="none" strike="noStrike"/>
          </a:p>
        </p:txBody>
      </p:sp>
      <p:sp>
        <p:nvSpPr>
          <p:cNvPr id="131" name="Google Shape;131;p5"/>
          <p:cNvSpPr/>
          <p:nvPr/>
        </p:nvSpPr>
        <p:spPr>
          <a:xfrm>
            <a:off x="4682847" y="5261967"/>
            <a:ext cx="3685223" cy="2356842"/>
          </a:xfrm>
          <a:prstGeom prst="roundRect">
            <a:avLst>
              <a:gd fmla="val 3951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4912162" y="5491282"/>
            <a:ext cx="2771180" cy="346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150"/>
              <a:buFont typeface="Raleway"/>
              <a:buNone/>
            </a:pPr>
            <a:r>
              <a:rPr b="0" i="0" lang="en-US" sz="2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Diversidad</a:t>
            </a:r>
            <a:endParaRPr b="0" i="0" sz="215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4912162" y="5970746"/>
            <a:ext cx="3226594" cy="141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Existen índices que cubren diferentes sectores, tamaños de empresas y regiones geográficas.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3233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713661" y="560784"/>
            <a:ext cx="7716679" cy="1274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000"/>
              <a:buFont typeface="Raleway"/>
              <a:buNone/>
            </a:pPr>
            <a:r>
              <a:rPr b="0" i="0" lang="en-US" sz="40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Factores que influyen en los índices bursátiles</a:t>
            </a:r>
            <a:endParaRPr b="0" i="0" sz="4000" u="none" cap="none" strike="noStrike"/>
          </a:p>
        </p:txBody>
      </p:sp>
      <p:pic>
        <p:nvPicPr>
          <p:cNvPr descr="preencoded.png" id="141" name="Google Shape;14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661" y="2141101"/>
            <a:ext cx="509707" cy="50970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713661" y="2854643"/>
            <a:ext cx="2812971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000"/>
              <a:buFont typeface="Raleway"/>
              <a:buNone/>
            </a:pPr>
            <a:r>
              <a:rPr b="0" i="0" lang="en-US" sz="20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Crecimiento Económico</a:t>
            </a:r>
            <a:endParaRPr b="0" i="0" sz="2000" u="none" cap="none" strike="noStrike"/>
          </a:p>
        </p:txBody>
      </p:sp>
      <p:sp>
        <p:nvSpPr>
          <p:cNvPr id="143" name="Google Shape;143;p6"/>
          <p:cNvSpPr/>
          <p:nvPr/>
        </p:nvSpPr>
        <p:spPr>
          <a:xfrm>
            <a:off x="713661" y="3295531"/>
            <a:ext cx="3705344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El desempeño de la economía en general tiene un impacto significativo en el comportamiento de los mercados bursátiles.</a:t>
            </a:r>
            <a:endParaRPr b="0" i="0" sz="1600" u="none" cap="none" strike="noStrike"/>
          </a:p>
        </p:txBody>
      </p:sp>
      <p:pic>
        <p:nvPicPr>
          <p:cNvPr descr="preencoded.png" id="144" name="Google Shape;14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876" y="2141101"/>
            <a:ext cx="509707" cy="50970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4724876" y="2854643"/>
            <a:ext cx="2549009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000"/>
              <a:buFont typeface="Raleway"/>
              <a:buNone/>
            </a:pPr>
            <a:r>
              <a:rPr b="0" i="0" lang="en-US" sz="20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Tasas de Interés</a:t>
            </a:r>
            <a:endParaRPr b="0" i="0" sz="2000" u="none" cap="none" strike="noStrike"/>
          </a:p>
        </p:txBody>
      </p:sp>
      <p:sp>
        <p:nvSpPr>
          <p:cNvPr id="146" name="Google Shape;146;p6"/>
          <p:cNvSpPr/>
          <p:nvPr/>
        </p:nvSpPr>
        <p:spPr>
          <a:xfrm>
            <a:off x="4724876" y="3295531"/>
            <a:ext cx="3705463" cy="978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Los cambios en las tasas de interés afectan la rentabilidad de las inversiones y el costo del capital.</a:t>
            </a:r>
            <a:endParaRPr b="0" i="0" sz="1600" u="none" cap="none" strike="noStrike"/>
          </a:p>
        </p:txBody>
      </p:sp>
      <p:pic>
        <p:nvPicPr>
          <p:cNvPr descr="preencoded.png" id="147" name="Google Shape;14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3661" y="5212199"/>
            <a:ext cx="509707" cy="50970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713661" y="5925741"/>
            <a:ext cx="2549009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000"/>
              <a:buFont typeface="Raleway"/>
              <a:buNone/>
            </a:pPr>
            <a:r>
              <a:rPr b="0" i="0" lang="en-US" sz="20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Factores Políticos</a:t>
            </a:r>
            <a:endParaRPr b="0" i="0" sz="2000" u="none" cap="none" strike="noStrike"/>
          </a:p>
        </p:txBody>
      </p:sp>
      <p:sp>
        <p:nvSpPr>
          <p:cNvPr id="149" name="Google Shape;149;p6"/>
          <p:cNvSpPr/>
          <p:nvPr/>
        </p:nvSpPr>
        <p:spPr>
          <a:xfrm>
            <a:off x="713661" y="6366629"/>
            <a:ext cx="3705344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Las políticas gubernamentales, las tensiones geopolíticas y los eventos políticos pueden influir en la volatilidad del mercado.</a:t>
            </a:r>
            <a:endParaRPr b="0" i="0" sz="1600" u="none" cap="none" strike="noStrike"/>
          </a:p>
        </p:txBody>
      </p:sp>
      <p:pic>
        <p:nvPicPr>
          <p:cNvPr descr="preencoded.png" id="150" name="Google Shape;15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4876" y="5212199"/>
            <a:ext cx="509707" cy="50970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4724876" y="5925741"/>
            <a:ext cx="2549009" cy="31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000"/>
              <a:buFont typeface="Raleway"/>
              <a:buNone/>
            </a:pPr>
            <a:r>
              <a:rPr b="0" i="0" lang="en-US" sz="20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Sentimiento Inversor</a:t>
            </a:r>
            <a:endParaRPr b="0" i="0" sz="200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4724876" y="6366629"/>
            <a:ext cx="3705463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600"/>
              <a:buFont typeface="Roboto"/>
              <a:buNone/>
            </a:pPr>
            <a:r>
              <a:rPr b="0" i="0" lang="en-US" sz="16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Las expectativas y percepciones de los inversionistas tienen un efecto directo en los movimientos de los índices bursátiles.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7"/>
          <p:cNvSpPr/>
          <p:nvPr/>
        </p:nvSpPr>
        <p:spPr>
          <a:xfrm>
            <a:off x="6167199" y="1026914"/>
            <a:ext cx="7782401" cy="1215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3800"/>
              <a:buFont typeface="Raleway"/>
              <a:buNone/>
            </a:pPr>
            <a:r>
              <a:rPr b="0" i="0" lang="en-US" sz="38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Análisis de la relación entre tasas de interés e índices bursátiles</a:t>
            </a:r>
            <a:endParaRPr b="0" i="0" sz="3800" u="none" cap="none" strike="noStrike"/>
          </a:p>
        </p:txBody>
      </p:sp>
      <p:pic>
        <p:nvPicPr>
          <p:cNvPr descr="preencoded.png" id="160" name="Google Shape;1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7199" y="2534245"/>
            <a:ext cx="972503" cy="1556147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7431405" y="2728674"/>
            <a:ext cx="2431494" cy="303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Subida de Tasas</a:t>
            </a:r>
            <a:endParaRPr b="0" i="0" sz="1900" u="none" cap="none" strike="noStrike"/>
          </a:p>
        </p:txBody>
      </p:sp>
      <p:sp>
        <p:nvSpPr>
          <p:cNvPr id="162" name="Google Shape;162;p7"/>
          <p:cNvSpPr/>
          <p:nvPr/>
        </p:nvSpPr>
        <p:spPr>
          <a:xfrm>
            <a:off x="7431405" y="3149203"/>
            <a:ext cx="6518196" cy="62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Cuando suben las tasas de interés, los índices bursátiles tienden a verse afectados negativamente.</a:t>
            </a:r>
            <a:endParaRPr b="0" i="0" sz="1500" u="none" cap="none" strike="noStrike"/>
          </a:p>
        </p:txBody>
      </p:sp>
      <p:pic>
        <p:nvPicPr>
          <p:cNvPr descr="preencoded.png" id="163" name="Google Shape;16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7199" y="4090392"/>
            <a:ext cx="972503" cy="155614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7431405" y="4284821"/>
            <a:ext cx="2431494" cy="303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Impacto Económico</a:t>
            </a:r>
            <a:endParaRPr b="0" i="0" sz="1900" u="none" cap="none" strike="noStrike"/>
          </a:p>
        </p:txBody>
      </p:sp>
      <p:sp>
        <p:nvSpPr>
          <p:cNvPr id="165" name="Google Shape;165;p7"/>
          <p:cNvSpPr/>
          <p:nvPr/>
        </p:nvSpPr>
        <p:spPr>
          <a:xfrm>
            <a:off x="7431405" y="4705350"/>
            <a:ext cx="6518196" cy="62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Las tasas de interés más altas encarecen el crédito, lo que puede desacelerar la actividad económica y reducir los beneficios empresariales.</a:t>
            </a:r>
            <a:endParaRPr b="0" i="0" sz="1500" u="none" cap="none" strike="noStrike"/>
          </a:p>
        </p:txBody>
      </p:sp>
      <p:pic>
        <p:nvPicPr>
          <p:cNvPr descr="preencoded.png" id="166" name="Google Shape;16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67199" y="5646539"/>
            <a:ext cx="972503" cy="155614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7431405" y="5840968"/>
            <a:ext cx="2449354" cy="303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900"/>
              <a:buFont typeface="Raleway"/>
              <a:buNone/>
            </a:pPr>
            <a:r>
              <a:rPr b="0" i="0" lang="en-US" sz="19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Reacción de Mercado</a:t>
            </a:r>
            <a:endParaRPr b="0" i="0" sz="1900" u="none" cap="none" strike="noStrike"/>
          </a:p>
        </p:txBody>
      </p:sp>
      <p:sp>
        <p:nvSpPr>
          <p:cNvPr id="168" name="Google Shape;168;p7"/>
          <p:cNvSpPr/>
          <p:nvPr/>
        </p:nvSpPr>
        <p:spPr>
          <a:xfrm>
            <a:off x="7431405" y="6261497"/>
            <a:ext cx="6518196" cy="622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Los inversionistas suelen reaccionar con cautela ante las subidas de tasas de interés, lo que se refleja en una caída de los índices bursátiles.</a:t>
            </a:r>
            <a:endParaRPr b="0" i="0" sz="150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12813000" y="7665900"/>
            <a:ext cx="1741200" cy="48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/>
          <p:nvPr/>
        </p:nvSpPr>
        <p:spPr>
          <a:xfrm>
            <a:off x="6280190" y="901303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b="0" i="0" lang="en-US" sz="4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Interpretación de los movimientos en los indicadores de mercado</a:t>
            </a:r>
            <a:endParaRPr b="0" i="0" sz="445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6280190" y="3367802"/>
            <a:ext cx="7556421" cy="2616518"/>
          </a:xfrm>
          <a:prstGeom prst="roundRect">
            <a:avLst>
              <a:gd fmla="val 3641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6287810" y="3375422"/>
            <a:ext cx="75411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6514624" y="3519130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Tasas de Interés</a:t>
            </a:r>
            <a:endParaRPr b="0" i="0" sz="1750" u="none" cap="none" strike="noStrike"/>
          </a:p>
        </p:txBody>
      </p:sp>
      <p:sp>
        <p:nvSpPr>
          <p:cNvPr id="180" name="Google Shape;180;p8"/>
          <p:cNvSpPr/>
          <p:nvPr/>
        </p:nvSpPr>
        <p:spPr>
          <a:xfrm>
            <a:off x="10289024" y="3519130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Índices Bursátiles</a:t>
            </a:r>
            <a:endParaRPr b="0" i="0" sz="1750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6287810" y="4025741"/>
            <a:ext cx="75411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514624" y="4169450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Subida</a:t>
            </a:r>
            <a:endParaRPr b="0" i="0" sz="1750" u="none" cap="none" strike="noStrike"/>
          </a:p>
        </p:txBody>
      </p:sp>
      <p:sp>
        <p:nvSpPr>
          <p:cNvPr id="183" name="Google Shape;183;p8"/>
          <p:cNvSpPr/>
          <p:nvPr/>
        </p:nvSpPr>
        <p:spPr>
          <a:xfrm>
            <a:off x="10289024" y="4169450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Tendencia a la Baja</a:t>
            </a:r>
            <a:endParaRPr b="0" i="0" sz="1750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6287810" y="4676061"/>
            <a:ext cx="75411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6514624" y="4819769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Bajada</a:t>
            </a:r>
            <a:endParaRPr b="0" i="0" sz="1750" u="none" cap="none" strike="noStrike"/>
          </a:p>
        </p:txBody>
      </p:sp>
      <p:sp>
        <p:nvSpPr>
          <p:cNvPr id="186" name="Google Shape;186;p8"/>
          <p:cNvSpPr/>
          <p:nvPr/>
        </p:nvSpPr>
        <p:spPr>
          <a:xfrm>
            <a:off x="10289024" y="4819769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Tendencia al Alza</a:t>
            </a:r>
            <a:endParaRPr b="0" i="0" sz="1750" u="none" cap="none" strike="noStrike"/>
          </a:p>
        </p:txBody>
      </p:sp>
      <p:sp>
        <p:nvSpPr>
          <p:cNvPr id="187" name="Google Shape;187;p8"/>
          <p:cNvSpPr/>
          <p:nvPr/>
        </p:nvSpPr>
        <p:spPr>
          <a:xfrm>
            <a:off x="6287810" y="5326380"/>
            <a:ext cx="75411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6514624" y="5470088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Volatilidad</a:t>
            </a:r>
            <a:endParaRPr b="0" i="0" sz="175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10289024" y="5470088"/>
            <a:ext cx="331315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Mayor Incertidumbre</a:t>
            </a:r>
            <a:endParaRPr b="0" i="0" sz="1750" u="none" cap="none" strike="noStrike"/>
          </a:p>
        </p:txBody>
      </p:sp>
      <p:sp>
        <p:nvSpPr>
          <p:cNvPr id="190" name="Google Shape;190;p8"/>
          <p:cNvSpPr/>
          <p:nvPr/>
        </p:nvSpPr>
        <p:spPr>
          <a:xfrm>
            <a:off x="6280190" y="6239470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Es importante analizar cuidadosamente los movimientos en las tasas de interés y los índices bursátiles para identificar patrones y tendencias que puedan informar la toma de decisiones de inversión.</a:t>
            </a:r>
            <a:endParaRPr b="0" i="0" sz="175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12813000" y="7665900"/>
            <a:ext cx="1741200" cy="48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450"/>
              <a:buFont typeface="Raleway"/>
              <a:buNone/>
            </a:pPr>
            <a:r>
              <a:rPr b="0" i="0" lang="en-US" sz="44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Estrategias de inversión basadas en los indicadores de mercado</a:t>
            </a:r>
            <a:endParaRPr b="0" i="0" sz="4450" u="none" cap="none" strike="noStrike"/>
          </a:p>
        </p:txBody>
      </p:sp>
      <p:sp>
        <p:nvSpPr>
          <p:cNvPr id="198" name="Google Shape;198;p9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Timing del Mercado</a:t>
            </a:r>
            <a:endParaRPr b="0" i="0" sz="2200" u="none" cap="none" strike="noStrike"/>
          </a:p>
        </p:txBody>
      </p:sp>
      <p:sp>
        <p:nvSpPr>
          <p:cNvPr id="199" name="Google Shape;199;p9"/>
          <p:cNvSpPr/>
          <p:nvPr/>
        </p:nvSpPr>
        <p:spPr>
          <a:xfrm>
            <a:off x="793790" y="456973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Algunos inversores intentan comprar y vender acciones basándose en las señales de los indicadores de mercado.</a:t>
            </a:r>
            <a:endParaRPr b="0" i="0" sz="1750" u="none" cap="none" strike="noStrike"/>
          </a:p>
        </p:txBody>
      </p:sp>
      <p:sp>
        <p:nvSpPr>
          <p:cNvPr id="200" name="Google Shape;200;p9"/>
          <p:cNvSpPr/>
          <p:nvPr/>
        </p:nvSpPr>
        <p:spPr>
          <a:xfrm>
            <a:off x="5332928" y="398859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Diversificación</a:t>
            </a:r>
            <a:endParaRPr b="0" i="0" sz="2200" u="none" cap="none" strike="noStrike"/>
          </a:p>
        </p:txBody>
      </p:sp>
      <p:sp>
        <p:nvSpPr>
          <p:cNvPr id="201" name="Google Shape;201;p9"/>
          <p:cNvSpPr/>
          <p:nvPr/>
        </p:nvSpPr>
        <p:spPr>
          <a:xfrm>
            <a:off x="5332928" y="456973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Los inversores prudentes diversifican sus carteras para reducir el riesgo, teniendo en cuenta los movimientos de los indicadores.</a:t>
            </a:r>
            <a:endParaRPr b="0" i="0" sz="1750" u="none" cap="none" strike="noStrike"/>
          </a:p>
        </p:txBody>
      </p:sp>
      <p:sp>
        <p:nvSpPr>
          <p:cNvPr id="202" name="Google Shape;202;p9"/>
          <p:cNvSpPr/>
          <p:nvPr/>
        </p:nvSpPr>
        <p:spPr>
          <a:xfrm>
            <a:off x="9872067" y="3988594"/>
            <a:ext cx="3019306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2200"/>
              <a:buFont typeface="Raleway"/>
              <a:buNone/>
            </a:pPr>
            <a:r>
              <a:rPr b="0" i="0" lang="en-US" sz="220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Inversión a Largo Plazo</a:t>
            </a:r>
            <a:endParaRPr b="0" i="0" sz="220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9872067" y="4569738"/>
            <a:ext cx="3978116" cy="145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50"/>
              <a:buFont typeface="Roboto"/>
              <a:buNone/>
            </a:pPr>
            <a:r>
              <a:rPr b="0" i="0" lang="en-US" sz="175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Otros prefieren adoptar una estrategia de inversión a largo plazo, monitoreando los indicadores para identificar tendencias sostenibles.</a:t>
            </a:r>
            <a:endParaRPr b="0" i="0" sz="1750" u="none" cap="none" strike="noStrike"/>
          </a:p>
        </p:txBody>
      </p:sp>
      <p:sp>
        <p:nvSpPr>
          <p:cNvPr id="204" name="Google Shape;204;p9"/>
          <p:cNvSpPr/>
          <p:nvPr/>
        </p:nvSpPr>
        <p:spPr>
          <a:xfrm>
            <a:off x="12813000" y="7665900"/>
            <a:ext cx="1741200" cy="48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Google Shape;2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77368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/>
          <p:nvPr/>
        </p:nvSpPr>
        <p:spPr>
          <a:xfrm>
            <a:off x="776526" y="3562945"/>
            <a:ext cx="8630245" cy="693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1B1B27"/>
              </a:buClr>
              <a:buSzPts val="4350"/>
              <a:buFont typeface="Raleway"/>
              <a:buNone/>
            </a:pPr>
            <a:r>
              <a:rPr b="0" i="0" lang="en-US" sz="4350" u="none" cap="none" strike="noStrike">
                <a:solidFill>
                  <a:srgbClr val="1B1B27"/>
                </a:solidFill>
                <a:latin typeface="Raleway"/>
                <a:ea typeface="Raleway"/>
                <a:cs typeface="Raleway"/>
                <a:sym typeface="Raleway"/>
              </a:rPr>
              <a:t>Conclusiones y recomendaciones</a:t>
            </a:r>
            <a:endParaRPr b="0" i="0" sz="4350" u="none" cap="none" strike="noStrike"/>
          </a:p>
        </p:txBody>
      </p:sp>
      <p:sp>
        <p:nvSpPr>
          <p:cNvPr id="212" name="Google Shape;212;p10"/>
          <p:cNvSpPr/>
          <p:nvPr/>
        </p:nvSpPr>
        <p:spPr>
          <a:xfrm>
            <a:off x="776526" y="4838581"/>
            <a:ext cx="499229" cy="499229"/>
          </a:xfrm>
          <a:prstGeom prst="roundRect">
            <a:avLst>
              <a:gd fmla="val 18668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954881" y="4921687"/>
            <a:ext cx="142518" cy="33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00"/>
              <a:buFont typeface="Raleway"/>
              <a:buNone/>
            </a:pPr>
            <a:r>
              <a:rPr b="0" i="0" lang="en-US" sz="2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2600" u="none" cap="none" strike="noStrike"/>
          </a:p>
        </p:txBody>
      </p:sp>
      <p:sp>
        <p:nvSpPr>
          <p:cNvPr id="214" name="Google Shape;214;p10"/>
          <p:cNvSpPr/>
          <p:nvPr/>
        </p:nvSpPr>
        <p:spPr>
          <a:xfrm>
            <a:off x="1497568" y="4838581"/>
            <a:ext cx="3490198" cy="693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150"/>
              <a:buFont typeface="Raleway"/>
              <a:buNone/>
            </a:pPr>
            <a:r>
              <a:rPr b="0" i="0" lang="en-US" sz="2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Importancia de los Indicadores</a:t>
            </a:r>
            <a:endParaRPr b="0" i="0" sz="2150" u="none" cap="none" strike="noStrike"/>
          </a:p>
        </p:txBody>
      </p:sp>
      <p:sp>
        <p:nvSpPr>
          <p:cNvPr id="215" name="Google Shape;215;p10"/>
          <p:cNvSpPr/>
          <p:nvPr/>
        </p:nvSpPr>
        <p:spPr>
          <a:xfrm>
            <a:off x="1497568" y="5665113"/>
            <a:ext cx="3490198" cy="1775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Los indicadores de mercado, como las tasas de interés y los índices bursátiles, son herramientas clave para comprender la dinámica de los mercados financieros.</a:t>
            </a:r>
            <a:endParaRPr b="0" i="0" sz="1700" u="none" cap="none" strike="noStrike"/>
          </a:p>
        </p:txBody>
      </p:sp>
      <p:sp>
        <p:nvSpPr>
          <p:cNvPr id="216" name="Google Shape;216;p10"/>
          <p:cNvSpPr/>
          <p:nvPr/>
        </p:nvSpPr>
        <p:spPr>
          <a:xfrm>
            <a:off x="5209580" y="4838581"/>
            <a:ext cx="499229" cy="499229"/>
          </a:xfrm>
          <a:prstGeom prst="roundRect">
            <a:avLst>
              <a:gd fmla="val 18668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5372457" y="4921687"/>
            <a:ext cx="173474" cy="33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00"/>
              <a:buFont typeface="Raleway"/>
              <a:buNone/>
            </a:pPr>
            <a:r>
              <a:rPr b="0" i="0" lang="en-US" sz="2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2600" u="none" cap="none" strike="noStrike"/>
          </a:p>
        </p:txBody>
      </p:sp>
      <p:sp>
        <p:nvSpPr>
          <p:cNvPr id="218" name="Google Shape;218;p10"/>
          <p:cNvSpPr/>
          <p:nvPr/>
        </p:nvSpPr>
        <p:spPr>
          <a:xfrm>
            <a:off x="5930622" y="4838581"/>
            <a:ext cx="2773680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150"/>
              <a:buFont typeface="Raleway"/>
              <a:buNone/>
            </a:pPr>
            <a:r>
              <a:rPr b="0" i="0" lang="en-US" sz="2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Análisis Integral</a:t>
            </a:r>
            <a:endParaRPr b="0" i="0" sz="2150" u="none" cap="none" strike="noStrike"/>
          </a:p>
        </p:txBody>
      </p:sp>
      <p:sp>
        <p:nvSpPr>
          <p:cNvPr id="219" name="Google Shape;219;p10"/>
          <p:cNvSpPr/>
          <p:nvPr/>
        </p:nvSpPr>
        <p:spPr>
          <a:xfrm>
            <a:off x="5930622" y="5318403"/>
            <a:ext cx="3490198" cy="1775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Es fundamental analizar la interrelación entre estos indicadores y su impacto en la actividad económica y la toma de decisiones de inversión.</a:t>
            </a:r>
            <a:endParaRPr b="0" i="0" sz="170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9642634" y="4838581"/>
            <a:ext cx="499229" cy="499229"/>
          </a:xfrm>
          <a:prstGeom prst="roundRect">
            <a:avLst>
              <a:gd fmla="val 18668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9803368" y="4921687"/>
            <a:ext cx="177760" cy="332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600"/>
              <a:buFont typeface="Raleway"/>
              <a:buNone/>
            </a:pPr>
            <a:r>
              <a:rPr b="0" i="0" lang="en-US" sz="260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2600" u="none" cap="none" strike="noStrike"/>
          </a:p>
        </p:txBody>
      </p:sp>
      <p:sp>
        <p:nvSpPr>
          <p:cNvPr id="222" name="Google Shape;222;p10"/>
          <p:cNvSpPr/>
          <p:nvPr/>
        </p:nvSpPr>
        <p:spPr>
          <a:xfrm>
            <a:off x="10363676" y="4838581"/>
            <a:ext cx="2773680" cy="346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2150"/>
              <a:buFont typeface="Raleway"/>
              <a:buNone/>
            </a:pPr>
            <a:r>
              <a:rPr b="0" i="0" lang="en-US" sz="2150" u="none" cap="none" strike="noStrike">
                <a:solidFill>
                  <a:srgbClr val="3C3939"/>
                </a:solidFill>
                <a:latin typeface="Raleway"/>
                <a:ea typeface="Raleway"/>
                <a:cs typeface="Raleway"/>
                <a:sym typeface="Raleway"/>
              </a:rPr>
              <a:t>Recomendaciones</a:t>
            </a:r>
            <a:endParaRPr b="0" i="0" sz="2150" u="none" cap="none" strike="noStrike"/>
          </a:p>
        </p:txBody>
      </p:sp>
      <p:sp>
        <p:nvSpPr>
          <p:cNvPr id="223" name="Google Shape;223;p10"/>
          <p:cNvSpPr/>
          <p:nvPr/>
        </p:nvSpPr>
        <p:spPr>
          <a:xfrm>
            <a:off x="10363676" y="5318403"/>
            <a:ext cx="3490198" cy="17752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700"/>
              <a:buFont typeface="Roboto"/>
              <a:buNone/>
            </a:pPr>
            <a:r>
              <a:rPr b="0" i="0" lang="en-US" sz="1700" u="none" cap="none" strike="noStrike">
                <a:solidFill>
                  <a:srgbClr val="3C3939"/>
                </a:solidFill>
                <a:latin typeface="Roboto"/>
                <a:ea typeface="Roboto"/>
                <a:cs typeface="Roboto"/>
                <a:sym typeface="Roboto"/>
              </a:rPr>
              <a:t>Se recomienda monitorear constantemente los indicadores de mercado, diversificar las inversiones y adoptar estrategias a largo plazo.</a:t>
            </a:r>
            <a:endParaRPr b="0" i="0" sz="1700" u="none" cap="none" strike="noStrike"/>
          </a:p>
        </p:txBody>
      </p:sp>
      <p:sp>
        <p:nvSpPr>
          <p:cNvPr id="224" name="Google Shape;224;p10"/>
          <p:cNvSpPr/>
          <p:nvPr/>
        </p:nvSpPr>
        <p:spPr>
          <a:xfrm>
            <a:off x="12813000" y="7665900"/>
            <a:ext cx="1741200" cy="48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2024-11-04T14:41:15Z</dcterms:created>
  <dc:creator>PptxGenJS</dc:creator>
</cp:coreProperties>
</file>