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Inconsolata"/>
      <p:regular r:id="rId14"/>
      <p:bold r:id="rId15"/>
    </p:embeddedFont>
    <p:embeddedFont>
      <p:font typeface="Montserrat Black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338O6DDh3VuAHOntTMtI7RiH8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consolata-bold.fntdata"/><Relationship Id="rId14" Type="http://schemas.openxmlformats.org/officeDocument/2006/relationships/font" Target="fonts/Inconsolata-regular.fntdata"/><Relationship Id="rId17" Type="http://schemas.openxmlformats.org/officeDocument/2006/relationships/font" Target="fonts/MontserratBlack-boldItalic.fntdata"/><Relationship Id="rId16" Type="http://schemas.openxmlformats.org/officeDocument/2006/relationships/font" Target="fonts/MontserratBlac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793801" y="1792850"/>
            <a:ext cx="8124000" cy="21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450"/>
              <a:buFont typeface="Montserrat Black"/>
              <a:buNone/>
            </a:pPr>
            <a:r>
              <a:rPr b="1" i="0" lang="en-US" sz="4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Indicadores adelantados y rezagados</a:t>
            </a:r>
            <a:endParaRPr b="0" i="0" sz="4450" u="none" cap="none" strike="noStrike"/>
          </a:p>
        </p:txBody>
      </p:sp>
      <p:sp>
        <p:nvSpPr>
          <p:cNvPr id="54" name="Google Shape;54;p1"/>
          <p:cNvSpPr/>
          <p:nvPr/>
        </p:nvSpPr>
        <p:spPr>
          <a:xfrm>
            <a:off x="793790" y="4259342"/>
            <a:ext cx="7556421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Los indicadores adelantados y rezagados son herramientas clave para comprender la evolución de la economía y tomar decisiones informadas. Estos indicadores proporcionan señales anticipadas y retrasadas sobre el comportamiento del mercado, permitiendo a las empresas y los responsables políticos planificar y responder de manera efectiva.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/>
          <p:nvPr/>
        </p:nvSpPr>
        <p:spPr>
          <a:xfrm>
            <a:off x="793790" y="2366962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450"/>
              <a:buFont typeface="Montserrat Black"/>
              <a:buNone/>
            </a:pPr>
            <a:r>
              <a:rPr b="1" i="0" lang="en-US" sz="4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Definición de indicadores adelantados y rezagados</a:t>
            </a:r>
            <a:endParaRPr b="0" i="0" sz="445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793790" y="4351496"/>
            <a:ext cx="385167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 Black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Indicadores Adelantados</a:t>
            </a:r>
            <a:endParaRPr b="0" i="0" sz="22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793790" y="4932640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Son aquellos que tienden a cambiar antes que la economía en general, anticipando tendencias futuras.</a:t>
            </a:r>
            <a:endParaRPr b="0" i="0" sz="175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7599521" y="4351496"/>
            <a:ext cx="357878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 Black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Indicadores Rezagados</a:t>
            </a:r>
            <a:endParaRPr b="0" i="0" sz="22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7599521" y="4932640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Son aquellos que cambian después de que la economía ha experimentado un cambio, reflejando tendencias pasadas.</a:t>
            </a:r>
            <a:endParaRPr b="0" i="0" sz="175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12760175" y="7713450"/>
            <a:ext cx="1978500" cy="587700"/>
          </a:xfrm>
          <a:prstGeom prst="rect">
            <a:avLst/>
          </a:prstGeom>
          <a:solidFill>
            <a:srgbClr val="F8ECE4"/>
          </a:solidFill>
          <a:ln cap="flat" cmpd="sng" w="9525">
            <a:solidFill>
              <a:srgbClr val="F8E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6497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746165" y="3584615"/>
            <a:ext cx="12722543" cy="666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150"/>
              <a:buFont typeface="Montserrat Black"/>
              <a:buNone/>
            </a:pPr>
            <a:r>
              <a:rPr b="1" i="0" lang="en-US" sz="41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Importancia de los indicadores adelantados</a:t>
            </a:r>
            <a:endParaRPr b="0" i="0" sz="4150" u="none" cap="none" strike="noStrike"/>
          </a:p>
        </p:txBody>
      </p:sp>
      <p:sp>
        <p:nvSpPr>
          <p:cNvPr id="73" name="Google Shape;73;p3"/>
          <p:cNvSpPr/>
          <p:nvPr/>
        </p:nvSpPr>
        <p:spPr>
          <a:xfrm>
            <a:off x="746165" y="4810482"/>
            <a:ext cx="479703" cy="479703"/>
          </a:xfrm>
          <a:prstGeom prst="roundRect">
            <a:avLst>
              <a:gd fmla="val 1906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919162" y="4890373"/>
            <a:ext cx="133707" cy="319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500"/>
              <a:buFont typeface="Montserrat Black"/>
              <a:buNone/>
            </a:pPr>
            <a:r>
              <a:rPr b="1" i="0" lang="en-US" sz="25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</a:t>
            </a:r>
            <a:endParaRPr b="0" i="0" sz="2500" u="none" cap="none" strike="noStrike"/>
          </a:p>
        </p:txBody>
      </p:sp>
      <p:sp>
        <p:nvSpPr>
          <p:cNvPr id="75" name="Google Shape;75;p3"/>
          <p:cNvSpPr/>
          <p:nvPr/>
        </p:nvSpPr>
        <p:spPr>
          <a:xfrm>
            <a:off x="1438989" y="4810482"/>
            <a:ext cx="3544491" cy="666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50"/>
              <a:buFont typeface="Montserrat Black"/>
              <a:buNone/>
            </a:pPr>
            <a:r>
              <a:rPr b="1" i="0" lang="en-US" sz="20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Anticipación de Tendencias</a:t>
            </a:r>
            <a:endParaRPr b="0" i="0" sz="2050" u="none" cap="none" strike="noStrike"/>
          </a:p>
        </p:txBody>
      </p:sp>
      <p:sp>
        <p:nvSpPr>
          <p:cNvPr id="76" name="Google Shape;76;p3"/>
          <p:cNvSpPr/>
          <p:nvPr/>
        </p:nvSpPr>
        <p:spPr>
          <a:xfrm>
            <a:off x="1438989" y="5604391"/>
            <a:ext cx="3544491" cy="136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Los indicadores adelantados permiten prever cambios en la economía, facilitando la toma de decisiones estratégicas.</a:t>
            </a:r>
            <a:endParaRPr b="0" i="0" sz="165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5196602" y="4810482"/>
            <a:ext cx="479703" cy="479703"/>
          </a:xfrm>
          <a:prstGeom prst="roundRect">
            <a:avLst>
              <a:gd fmla="val 1906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339239" y="4890373"/>
            <a:ext cx="194429" cy="319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500"/>
              <a:buFont typeface="Montserrat Black"/>
              <a:buNone/>
            </a:pPr>
            <a:r>
              <a:rPr b="1" i="0" lang="en-US" sz="25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2</a:t>
            </a:r>
            <a:endParaRPr b="0" i="0" sz="2500" u="none" cap="none" strike="noStrike"/>
          </a:p>
        </p:txBody>
      </p:sp>
      <p:sp>
        <p:nvSpPr>
          <p:cNvPr id="79" name="Google Shape;79;p3"/>
          <p:cNvSpPr/>
          <p:nvPr/>
        </p:nvSpPr>
        <p:spPr>
          <a:xfrm>
            <a:off x="5889427" y="4810482"/>
            <a:ext cx="2759035" cy="333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50"/>
              <a:buFont typeface="Montserrat Black"/>
              <a:buNone/>
            </a:pPr>
            <a:r>
              <a:rPr b="1" i="0" lang="en-US" sz="20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Gestión de Riesgos</a:t>
            </a:r>
            <a:endParaRPr b="0" i="0" sz="2050" u="none" cap="none" strike="noStrike"/>
          </a:p>
        </p:txBody>
      </p:sp>
      <p:sp>
        <p:nvSpPr>
          <p:cNvPr id="80" name="Google Shape;80;p3"/>
          <p:cNvSpPr/>
          <p:nvPr/>
        </p:nvSpPr>
        <p:spPr>
          <a:xfrm>
            <a:off x="5889427" y="5271373"/>
            <a:ext cx="3544491" cy="136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Ayudan a las empresas a identificar y mitigar riesgos potenciales, adaptando sus planes y operaciones en consecuencia.</a:t>
            </a:r>
            <a:endParaRPr b="0" i="0" sz="165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9647039" y="4810482"/>
            <a:ext cx="479703" cy="479703"/>
          </a:xfrm>
          <a:prstGeom prst="roundRect">
            <a:avLst>
              <a:gd fmla="val 1906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788723" y="4890373"/>
            <a:ext cx="196334" cy="319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500"/>
              <a:buFont typeface="Montserrat Black"/>
              <a:buNone/>
            </a:pPr>
            <a:r>
              <a:rPr b="1" i="0" lang="en-US" sz="25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3</a:t>
            </a:r>
            <a:endParaRPr b="0" i="0" sz="250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10339864" y="4810482"/>
            <a:ext cx="3544491" cy="666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50"/>
              <a:buFont typeface="Montserrat Black"/>
              <a:buNone/>
            </a:pPr>
            <a:r>
              <a:rPr b="1" i="0" lang="en-US" sz="20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Optimización de Recursos</a:t>
            </a:r>
            <a:endParaRPr b="0" i="0" sz="20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10339864" y="5604391"/>
            <a:ext cx="3544491" cy="1705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La anticipación de tendencias permite a las organizaciones asignar eficientemente sus recursos y aprovechar las oportunidades del mercado.</a:t>
            </a:r>
            <a:endParaRPr b="0" i="0" sz="165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12760175" y="7713450"/>
            <a:ext cx="1978500" cy="587700"/>
          </a:xfrm>
          <a:prstGeom prst="rect">
            <a:avLst/>
          </a:prstGeom>
          <a:solidFill>
            <a:srgbClr val="F8ECE4"/>
          </a:solidFill>
          <a:ln cap="flat" cmpd="sng" w="9525">
            <a:solidFill>
              <a:srgbClr val="F8E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47542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693063" y="3164562"/>
            <a:ext cx="12562761" cy="618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850"/>
              <a:buFont typeface="Montserrat Black"/>
              <a:buNone/>
            </a:pPr>
            <a:r>
              <a:rPr b="1" i="0" lang="en-US" sz="38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Características de los indicadores adelantados</a:t>
            </a:r>
            <a:endParaRPr b="0" i="0" sz="385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693063" y="4080272"/>
            <a:ext cx="6523196" cy="1789390"/>
          </a:xfrm>
          <a:prstGeom prst="roundRect">
            <a:avLst>
              <a:gd fmla="val 51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898684" y="4285893"/>
            <a:ext cx="2475428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00"/>
              <a:buFont typeface="Montserrat Black"/>
              <a:buNone/>
            </a:pPr>
            <a:r>
              <a:rPr b="1" i="0" lang="en-US" sz="19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Sensibilidad</a:t>
            </a:r>
            <a:endParaRPr b="0" i="0" sz="1900" u="none" cap="none" strike="noStrike"/>
          </a:p>
        </p:txBody>
      </p:sp>
      <p:sp>
        <p:nvSpPr>
          <p:cNvPr id="95" name="Google Shape;95;p4"/>
          <p:cNvSpPr/>
          <p:nvPr/>
        </p:nvSpPr>
        <p:spPr>
          <a:xfrm>
            <a:off x="898684" y="4713923"/>
            <a:ext cx="6111954" cy="633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Los indicadores adelantados reaccionan rápidamente a los cambios en la economía, anticipando los ciclos económicos.</a:t>
            </a:r>
            <a:endParaRPr b="0" i="0" sz="155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7414260" y="4080272"/>
            <a:ext cx="6523196" cy="1789390"/>
          </a:xfrm>
          <a:prstGeom prst="roundRect">
            <a:avLst>
              <a:gd fmla="val 51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7619881" y="4285893"/>
            <a:ext cx="2475428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00"/>
              <a:buFont typeface="Montserrat Black"/>
              <a:buNone/>
            </a:pPr>
            <a:r>
              <a:rPr b="1" i="0" lang="en-US" sz="19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Volatilidad</a:t>
            </a:r>
            <a:endParaRPr b="0" i="0" sz="190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7619881" y="4713923"/>
            <a:ext cx="6111954" cy="95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Pueden ser más volátiles que los indicadores económicos generales, reflejando la incertidumbre y los cambios de mercado.</a:t>
            </a:r>
            <a:endParaRPr b="0" i="0" sz="15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693063" y="6067663"/>
            <a:ext cx="6523196" cy="1472684"/>
          </a:xfrm>
          <a:prstGeom prst="roundRect">
            <a:avLst>
              <a:gd fmla="val 62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98684" y="6273284"/>
            <a:ext cx="2475428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00"/>
              <a:buFont typeface="Montserrat Black"/>
              <a:buNone/>
            </a:pPr>
            <a:r>
              <a:rPr b="1" i="0" lang="en-US" sz="19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Predictibilidad</a:t>
            </a:r>
            <a:endParaRPr b="0" i="0" sz="190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898684" y="6701314"/>
            <a:ext cx="6111954" cy="633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Permiten anticipar el futuro desempeño de la economía, ayudando a los agentes a tomar decisiones informadas.</a:t>
            </a:r>
            <a:endParaRPr b="0" i="0" sz="15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7414260" y="6067663"/>
            <a:ext cx="6523196" cy="1472684"/>
          </a:xfrm>
          <a:prstGeom prst="roundRect">
            <a:avLst>
              <a:gd fmla="val 62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7619881" y="6273284"/>
            <a:ext cx="2475428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00"/>
              <a:buFont typeface="Montserrat Black"/>
              <a:buNone/>
            </a:pPr>
            <a:r>
              <a:rPr b="1" i="0" lang="en-US" sz="19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Diversidad</a:t>
            </a:r>
            <a:endParaRPr b="0" i="0" sz="19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7619881" y="6701314"/>
            <a:ext cx="6111954" cy="633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Existe una amplia gama de indicadores adelantados, cada uno con sus propias fortalezas y debilidades.</a:t>
            </a:r>
            <a:endParaRPr b="0" i="0" sz="155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12760175" y="7713450"/>
            <a:ext cx="1978500" cy="587700"/>
          </a:xfrm>
          <a:prstGeom prst="rect">
            <a:avLst/>
          </a:prstGeom>
          <a:solidFill>
            <a:srgbClr val="F8ECE4"/>
          </a:solidFill>
          <a:ln cap="flat" cmpd="sng" w="9525">
            <a:solidFill>
              <a:srgbClr val="F8E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6192322" y="759143"/>
            <a:ext cx="7732157" cy="1260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950"/>
              <a:buFont typeface="Montserrat Black"/>
              <a:buNone/>
            </a:pPr>
            <a:r>
              <a:rPr b="1" i="0" lang="en-US" sz="39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Ejemplos de indicadores adelantados</a:t>
            </a:r>
            <a:endParaRPr b="0" i="0" sz="3950" u="none" cap="none" strike="noStrike"/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2322" y="2322552"/>
            <a:ext cx="504230" cy="504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6192322" y="3028474"/>
            <a:ext cx="2521506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50"/>
              <a:buFont typeface="Montserrat Black"/>
              <a:buNone/>
            </a:pPr>
            <a:r>
              <a:rPr b="1" i="0" lang="en-US" sz="19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Índices Bursátiles</a:t>
            </a:r>
            <a:endParaRPr b="0" i="0" sz="195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6192322" y="3464600"/>
            <a:ext cx="3714750" cy="967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Los movimientos en los mercados de valores a menudo anticipan cambios en la economía real.</a:t>
            </a:r>
            <a:endParaRPr b="0" i="0" sz="1550" u="none" cap="none" strike="noStrike"/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09609" y="2322552"/>
            <a:ext cx="504230" cy="504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10209609" y="3028474"/>
            <a:ext cx="3603665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50"/>
              <a:buFont typeface="Montserrat Black"/>
              <a:buNone/>
            </a:pPr>
            <a:r>
              <a:rPr b="1" i="0" lang="en-US" sz="19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Confianza del Consumidor</a:t>
            </a:r>
            <a:endParaRPr b="0" i="0" sz="195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10209609" y="3464600"/>
            <a:ext cx="3714869" cy="967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Las encuestas de confianza del consumidor reflejan las expectativas sobre el futuro económico.</a:t>
            </a:r>
            <a:endParaRPr b="0" i="0" sz="1550" u="none" cap="none" strike="noStrike"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2322" y="5037653"/>
            <a:ext cx="504230" cy="50423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6192322" y="5743575"/>
            <a:ext cx="2521506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50"/>
              <a:buFont typeface="Montserrat Black"/>
              <a:buNone/>
            </a:pPr>
            <a:r>
              <a:rPr b="1" i="0" lang="en-US" sz="19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Nuevos Pedidos</a:t>
            </a:r>
            <a:endParaRPr b="0" i="0" sz="195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6192322" y="6179701"/>
            <a:ext cx="3714750" cy="967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Los niveles de nuevos pedidos en la industria pueden predecir cambios en la producción y el empleo.</a:t>
            </a:r>
            <a:endParaRPr b="0" i="0" sz="1550" u="none" cap="none" strike="noStrike"/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09609" y="5037653"/>
            <a:ext cx="504230" cy="50423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10209609" y="5743575"/>
            <a:ext cx="3577471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50"/>
              <a:buFont typeface="Montserrat Black"/>
              <a:buNone/>
            </a:pPr>
            <a:r>
              <a:rPr b="1" i="0" lang="en-US" sz="19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Permisos de Construcción</a:t>
            </a:r>
            <a:endParaRPr b="0" i="0" sz="195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10209609" y="6179701"/>
            <a:ext cx="3714869" cy="12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50"/>
              <a:buFont typeface="Inconsolata"/>
              <a:buNone/>
            </a:pPr>
            <a:r>
              <a:rPr b="0" i="0" lang="en-US" sz="15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La actividad de construcción de viviendas a menudo anticipa tendencias en el mercado inmobiliario.</a:t>
            </a:r>
            <a:endParaRPr b="0" i="0" sz="155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12760175" y="7713450"/>
            <a:ext cx="1978500" cy="587700"/>
          </a:xfrm>
          <a:prstGeom prst="rect">
            <a:avLst/>
          </a:prstGeom>
          <a:solidFill>
            <a:srgbClr val="F8ECE4"/>
          </a:solidFill>
          <a:ln cap="flat" cmpd="sng" w="9525">
            <a:solidFill>
              <a:srgbClr val="F8E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793790" y="2539960"/>
            <a:ext cx="1126807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450"/>
              <a:buFont typeface="Montserrat Black"/>
              <a:buNone/>
            </a:pPr>
            <a:r>
              <a:rPr b="1" i="0" lang="en-US" sz="4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Definición de indicadores rezagados</a:t>
            </a:r>
            <a:endParaRPr b="0" i="0" sz="445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793790" y="3815715"/>
            <a:ext cx="357878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 Black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Indicadores Rezagados</a:t>
            </a:r>
            <a:endParaRPr b="0" i="0" sz="220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793790" y="4396859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Son aquellos que cambian después de que la economía ha experimentado un cambio, reflejando tendencias pasadas.</a:t>
            </a:r>
            <a:endParaRPr b="0" i="0" sz="1750" u="none" cap="none" strike="noStrike"/>
          </a:p>
        </p:txBody>
      </p:sp>
      <p:sp>
        <p:nvSpPr>
          <p:cNvPr id="134" name="Google Shape;134;p6"/>
          <p:cNvSpPr/>
          <p:nvPr/>
        </p:nvSpPr>
        <p:spPr>
          <a:xfrm>
            <a:off x="7599521" y="3815715"/>
            <a:ext cx="438912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 Black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Confirmación de Tendencias</a:t>
            </a:r>
            <a:endParaRPr b="0" i="0" sz="220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Los indicadores rezagados sirven para confirmar y validar los patrones observados en los indicadores adelantados.</a:t>
            </a:r>
            <a:endParaRPr b="0" i="0" sz="175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12760175" y="7713450"/>
            <a:ext cx="1978500" cy="587700"/>
          </a:xfrm>
          <a:prstGeom prst="rect">
            <a:avLst/>
          </a:prstGeom>
          <a:solidFill>
            <a:srgbClr val="F8ECE4"/>
          </a:solidFill>
          <a:ln cap="flat" cmpd="sng" w="9525">
            <a:solidFill>
              <a:srgbClr val="F8E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6206847" y="674013"/>
            <a:ext cx="7703106" cy="1286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050"/>
              <a:buFont typeface="Montserrat Black"/>
              <a:buNone/>
            </a:pPr>
            <a:r>
              <a:rPr b="1" i="0" lang="en-US" sz="40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Características de los indicadores rezagados</a:t>
            </a:r>
            <a:endParaRPr b="0" i="0" sz="4050" u="none" cap="none" strike="noStrike"/>
          </a:p>
        </p:txBody>
      </p:sp>
      <p:sp>
        <p:nvSpPr>
          <p:cNvPr id="144" name="Google Shape;144;p7"/>
          <p:cNvSpPr/>
          <p:nvPr/>
        </p:nvSpPr>
        <p:spPr>
          <a:xfrm>
            <a:off x="6504146" y="2269093"/>
            <a:ext cx="22860" cy="5286375"/>
          </a:xfrm>
          <a:prstGeom prst="roundRect">
            <a:avLst>
              <a:gd fmla="val 40000" name="adj"/>
            </a:avLst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724233" y="2720578"/>
            <a:ext cx="720447" cy="22860"/>
          </a:xfrm>
          <a:prstGeom prst="roundRect">
            <a:avLst>
              <a:gd fmla="val 4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6284059" y="2500551"/>
            <a:ext cx="463034" cy="463034"/>
          </a:xfrm>
          <a:prstGeom prst="roundRect">
            <a:avLst>
              <a:gd fmla="val 1975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450985" y="2577703"/>
            <a:ext cx="129064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400"/>
              <a:buFont typeface="Montserrat Black"/>
              <a:buNone/>
            </a:pPr>
            <a:r>
              <a:rPr b="1" i="0" lang="en-US" sz="24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</a:t>
            </a:r>
            <a:endParaRPr b="0" i="0" sz="2400" u="none" cap="none" strike="noStrike"/>
          </a:p>
        </p:txBody>
      </p:sp>
      <p:sp>
        <p:nvSpPr>
          <p:cNvPr id="148" name="Google Shape;148;p7"/>
          <p:cNvSpPr/>
          <p:nvPr/>
        </p:nvSpPr>
        <p:spPr>
          <a:xfrm>
            <a:off x="7647623" y="2474833"/>
            <a:ext cx="2573060" cy="32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00"/>
              <a:buFont typeface="Montserrat Black"/>
              <a:buNone/>
            </a:pPr>
            <a:r>
              <a:rPr b="1" i="0" lang="en-US" sz="20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Retrospectiva</a:t>
            </a:r>
            <a:endParaRPr b="0" i="0" sz="2000" u="none" cap="none" strike="noStrike"/>
          </a:p>
        </p:txBody>
      </p:sp>
      <p:sp>
        <p:nvSpPr>
          <p:cNvPr id="149" name="Google Shape;149;p7"/>
          <p:cNvSpPr/>
          <p:nvPr/>
        </p:nvSpPr>
        <p:spPr>
          <a:xfrm>
            <a:off x="7647623" y="2919889"/>
            <a:ext cx="6262330" cy="658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Los indicadores rezagados reflejan información pasada, ayudando a entender la trayectoria histórica de la economía.</a:t>
            </a:r>
            <a:endParaRPr b="0" i="0" sz="1600" u="none" cap="none" strike="noStrike"/>
          </a:p>
        </p:txBody>
      </p:sp>
      <p:sp>
        <p:nvSpPr>
          <p:cNvPr id="150" name="Google Shape;150;p7"/>
          <p:cNvSpPr/>
          <p:nvPr/>
        </p:nvSpPr>
        <p:spPr>
          <a:xfrm>
            <a:off x="6724233" y="4441508"/>
            <a:ext cx="720447" cy="22860"/>
          </a:xfrm>
          <a:prstGeom prst="roundRect">
            <a:avLst>
              <a:gd fmla="val 4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284059" y="4221480"/>
            <a:ext cx="463034" cy="463034"/>
          </a:xfrm>
          <a:prstGeom prst="roundRect">
            <a:avLst>
              <a:gd fmla="val 1975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6421695" y="4298633"/>
            <a:ext cx="187762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400"/>
              <a:buFont typeface="Montserrat Black"/>
              <a:buNone/>
            </a:pPr>
            <a:r>
              <a:rPr b="1" i="0" lang="en-US" sz="24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2</a:t>
            </a:r>
            <a:endParaRPr b="0" i="0" sz="240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7647623" y="4195763"/>
            <a:ext cx="2573060" cy="32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00"/>
              <a:buFont typeface="Montserrat Black"/>
              <a:buNone/>
            </a:pPr>
            <a:r>
              <a:rPr b="1" i="0" lang="en-US" sz="20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Estabilidad</a:t>
            </a:r>
            <a:endParaRPr b="0" i="0" sz="200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7647623" y="4640818"/>
            <a:ext cx="6262330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Tienden a ser menos volátiles que los indicadores adelantados, ofreciendo una visión más estable de la economía.</a:t>
            </a:r>
            <a:endParaRPr b="0" i="0" sz="160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6724233" y="6491764"/>
            <a:ext cx="720447" cy="22860"/>
          </a:xfrm>
          <a:prstGeom prst="roundRect">
            <a:avLst>
              <a:gd fmla="val 40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284059" y="6271736"/>
            <a:ext cx="463034" cy="463034"/>
          </a:xfrm>
          <a:prstGeom prst="roundRect">
            <a:avLst>
              <a:gd fmla="val 1975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6420743" y="6348889"/>
            <a:ext cx="189667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400"/>
              <a:buFont typeface="Montserrat Black"/>
              <a:buNone/>
            </a:pPr>
            <a:r>
              <a:rPr b="1" i="0" lang="en-US" sz="24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3</a:t>
            </a:r>
            <a:endParaRPr b="0" i="0" sz="240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7647623" y="6246019"/>
            <a:ext cx="2573060" cy="32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00"/>
              <a:buFont typeface="Montserrat Black"/>
              <a:buNone/>
            </a:pPr>
            <a:r>
              <a:rPr b="1" i="0" lang="en-US" sz="20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Confirmación</a:t>
            </a:r>
            <a:endParaRPr b="0" i="0" sz="200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7647623" y="6691074"/>
            <a:ext cx="6262330" cy="658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Permiten validar las tendencias identificadas por los indicadores adelantados, brindando una imagen más completa.</a:t>
            </a:r>
            <a:endParaRPr b="0" i="0" sz="1600" u="none" cap="none" strike="noStrike"/>
          </a:p>
        </p:txBody>
      </p:sp>
      <p:sp>
        <p:nvSpPr>
          <p:cNvPr id="160" name="Google Shape;160;p7"/>
          <p:cNvSpPr/>
          <p:nvPr/>
        </p:nvSpPr>
        <p:spPr>
          <a:xfrm>
            <a:off x="12760175" y="7713450"/>
            <a:ext cx="1978500" cy="587700"/>
          </a:xfrm>
          <a:prstGeom prst="rect">
            <a:avLst/>
          </a:prstGeom>
          <a:solidFill>
            <a:srgbClr val="F8ECE4"/>
          </a:solidFill>
          <a:ln cap="flat" cmpd="sng" w="9525">
            <a:solidFill>
              <a:srgbClr val="F8E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717471" y="658178"/>
            <a:ext cx="7709059" cy="1281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000"/>
              <a:buFont typeface="Montserrat Black"/>
              <a:buNone/>
            </a:pPr>
            <a:r>
              <a:rPr b="1" i="0" lang="en-US" sz="40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Ejemplos de indicadores rezagados</a:t>
            </a:r>
            <a:endParaRPr b="0" i="0" sz="40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717471" y="2246948"/>
            <a:ext cx="7709059" cy="5324356"/>
          </a:xfrm>
          <a:prstGeom prst="roundRect">
            <a:avLst>
              <a:gd fmla="val 17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725091" y="2254567"/>
            <a:ext cx="7693819" cy="1245275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929997" y="2385179"/>
            <a:ext cx="3433286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Tasa de Desempleo</a:t>
            </a:r>
            <a:endParaRPr b="0" i="0" sz="160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4780717" y="2385179"/>
            <a:ext cx="3433286" cy="984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Refleja la evolución del mercado laboral tras los cambios económicos.</a:t>
            </a:r>
            <a:endParaRPr b="0" i="0" sz="160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725091" y="3499842"/>
            <a:ext cx="7693819" cy="1245275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929997" y="3630454"/>
            <a:ext cx="3433286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Productividad Laboral</a:t>
            </a:r>
            <a:endParaRPr b="0" i="0" sz="16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4780717" y="3630454"/>
            <a:ext cx="3433286" cy="984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Indica la eficiencia de los trabajadores, que aumenta una vez que la economía se recupera.</a:t>
            </a:r>
            <a:endParaRPr b="0" i="0" sz="1600" u="none" cap="none" strike="noStrike"/>
          </a:p>
        </p:txBody>
      </p:sp>
      <p:sp>
        <p:nvSpPr>
          <p:cNvPr id="175" name="Google Shape;175;p8"/>
          <p:cNvSpPr/>
          <p:nvPr/>
        </p:nvSpPr>
        <p:spPr>
          <a:xfrm>
            <a:off x="725091" y="4745117"/>
            <a:ext cx="7693819" cy="1245275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929997" y="4875728"/>
            <a:ext cx="3433286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Inflación</a:t>
            </a:r>
            <a:endParaRPr b="0" i="0" sz="160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4780717" y="4875728"/>
            <a:ext cx="3433286" cy="984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Los precios al consumidor tienden a subir después de que la economía ha comenzado a mejorar.</a:t>
            </a:r>
            <a:endParaRPr b="0" i="0" sz="160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725091" y="5990392"/>
            <a:ext cx="7693819" cy="157329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929997" y="6121003"/>
            <a:ext cx="3433286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Beneficios Corporativos</a:t>
            </a:r>
            <a:endParaRPr b="0" i="0" sz="1600" u="none" cap="none" strike="noStrike"/>
          </a:p>
        </p:txBody>
      </p:sp>
      <p:sp>
        <p:nvSpPr>
          <p:cNvPr id="180" name="Google Shape;180;p8"/>
          <p:cNvSpPr/>
          <p:nvPr/>
        </p:nvSpPr>
        <p:spPr>
          <a:xfrm>
            <a:off x="4780717" y="6121003"/>
            <a:ext cx="3433286" cy="1312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Las ganancias de las empresas suelen aumentar una vez que la actividad económica se ha recuperado.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678537" y="734378"/>
            <a:ext cx="7786926" cy="1817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800"/>
              <a:buFont typeface="Montserrat Black"/>
              <a:buNone/>
            </a:pPr>
            <a:r>
              <a:rPr b="1" i="0" lang="en-US" sz="38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Análisis y aplicación de los indicadores adelantados y rezagados</a:t>
            </a:r>
            <a:endParaRPr b="0" i="0" sz="3800" u="none" cap="none" strike="noStrike"/>
          </a:p>
        </p:txBody>
      </p:sp>
      <p:pic>
        <p:nvPicPr>
          <p:cNvPr descr="preencoded.png" id="188" name="Google Shape;1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537" y="2842498"/>
            <a:ext cx="969288" cy="155090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1938576" y="3036332"/>
            <a:ext cx="2423279" cy="302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00"/>
              <a:buFont typeface="Montserrat Black"/>
              <a:buNone/>
            </a:pPr>
            <a:r>
              <a:rPr b="1" i="0" lang="en-US" sz="19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Monitoreo</a:t>
            </a:r>
            <a:endParaRPr b="0" i="0" sz="1900" u="none" cap="none" strike="noStrike"/>
          </a:p>
        </p:txBody>
      </p:sp>
      <p:sp>
        <p:nvSpPr>
          <p:cNvPr id="190" name="Google Shape;190;p9"/>
          <p:cNvSpPr/>
          <p:nvPr/>
        </p:nvSpPr>
        <p:spPr>
          <a:xfrm>
            <a:off x="1938576" y="3455313"/>
            <a:ext cx="6526887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00"/>
              <a:buFont typeface="Inconsolata"/>
              <a:buNone/>
            </a:pPr>
            <a:r>
              <a:rPr b="0" i="0" lang="en-US" sz="15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Seguir de cerca una variedad de indicadores adelantados y rezagados para obtener una imagen completa de la economía.</a:t>
            </a:r>
            <a:endParaRPr b="0" i="0" sz="1500" u="none" cap="none" strike="noStrike"/>
          </a:p>
        </p:txBody>
      </p:sp>
      <p:pic>
        <p:nvPicPr>
          <p:cNvPr descr="preencoded.png" id="191" name="Google Shape;1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537" y="4393406"/>
            <a:ext cx="969288" cy="155090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1938576" y="4587240"/>
            <a:ext cx="2423279" cy="302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00"/>
              <a:buFont typeface="Montserrat Black"/>
              <a:buNone/>
            </a:pPr>
            <a:r>
              <a:rPr b="1" i="0" lang="en-US" sz="19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Interpretación</a:t>
            </a:r>
            <a:endParaRPr b="0" i="0" sz="1900" u="none" cap="none" strike="noStrike"/>
          </a:p>
        </p:txBody>
      </p:sp>
      <p:sp>
        <p:nvSpPr>
          <p:cNvPr id="193" name="Google Shape;193;p9"/>
          <p:cNvSpPr/>
          <p:nvPr/>
        </p:nvSpPr>
        <p:spPr>
          <a:xfrm>
            <a:off x="1938576" y="5006221"/>
            <a:ext cx="6526887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00"/>
              <a:buFont typeface="Inconsolata"/>
              <a:buNone/>
            </a:pPr>
            <a:r>
              <a:rPr b="0" i="0" lang="en-US" sz="15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Analizar los patrones y tendencias observados en los indicadores para comprender las dinámicas del mercado.</a:t>
            </a:r>
            <a:endParaRPr b="0" i="0" sz="1500" u="none" cap="none" strike="noStrike"/>
          </a:p>
        </p:txBody>
      </p:sp>
      <p:pic>
        <p:nvPicPr>
          <p:cNvPr descr="preencoded.png" id="194" name="Google Shape;19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537" y="5944314"/>
            <a:ext cx="969288" cy="155090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1938576" y="6138148"/>
            <a:ext cx="2624852" cy="302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900"/>
              <a:buFont typeface="Montserrat Black"/>
              <a:buNone/>
            </a:pPr>
            <a:r>
              <a:rPr b="1" i="0" lang="en-US" sz="19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Toma de Decisiones</a:t>
            </a:r>
            <a:endParaRPr b="0" i="0" sz="1900" u="none" cap="none" strike="noStrike"/>
          </a:p>
        </p:txBody>
      </p:sp>
      <p:sp>
        <p:nvSpPr>
          <p:cNvPr id="196" name="Google Shape;196;p9"/>
          <p:cNvSpPr/>
          <p:nvPr/>
        </p:nvSpPr>
        <p:spPr>
          <a:xfrm>
            <a:off x="1938576" y="6557129"/>
            <a:ext cx="6526887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500"/>
              <a:buFont typeface="Inconsolata"/>
              <a:buNone/>
            </a:pPr>
            <a:r>
              <a:rPr b="0" i="0" lang="en-US" sz="15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Utilizar la información proporcionada por los indicadores para tomar decisiones estratégicas y adaptarse a los cambios.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2024-11-04T14:02:26Z</dcterms:created>
  <dc:creator>PptxGenJS</dc:creator>
</cp:coreProperties>
</file>