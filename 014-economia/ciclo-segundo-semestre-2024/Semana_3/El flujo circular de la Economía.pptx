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Public Sans Medium"/>
      <p:regular r:id="rId16"/>
      <p:bold r:id="rId17"/>
      <p:italic r:id="rId18"/>
      <p:boldItalic r:id="rId19"/>
    </p:embeddedFont>
    <p:embeddedFont>
      <p:font typeface="Public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7kDqCtsOWhzD2XVORjKu9cpU0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ublicSans-regular.fntdata"/><Relationship Id="rId11" Type="http://schemas.openxmlformats.org/officeDocument/2006/relationships/slide" Target="slides/slide6.xml"/><Relationship Id="rId22" Type="http://schemas.openxmlformats.org/officeDocument/2006/relationships/font" Target="fonts/PublicSans-italic.fntdata"/><Relationship Id="rId10" Type="http://schemas.openxmlformats.org/officeDocument/2006/relationships/slide" Target="slides/slide5.xml"/><Relationship Id="rId21" Type="http://schemas.openxmlformats.org/officeDocument/2006/relationships/font" Target="fonts/PublicSans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Public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ublicSansMedium-bold.fntdata"/><Relationship Id="rId16" Type="http://schemas.openxmlformats.org/officeDocument/2006/relationships/font" Target="fonts/PublicSansMedium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ublicSansMedium-boldItalic.fntdata"/><Relationship Id="rId6" Type="http://schemas.openxmlformats.org/officeDocument/2006/relationships/slide" Target="slides/slide1.xml"/><Relationship Id="rId18" Type="http://schemas.openxmlformats.org/officeDocument/2006/relationships/font" Target="fonts/PublicSans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Relationship Id="rId4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99" l="0" r="-1827" t="-1630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-1733924" y="6891516"/>
            <a:ext cx="21755848" cy="4254083"/>
            <a:chOff x="0" y="-28575"/>
            <a:chExt cx="7796805" cy="1524568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7796805" cy="1495993"/>
            </a:xfrm>
            <a:custGeom>
              <a:rect b="b" l="l" r="r" t="t"/>
              <a:pathLst>
                <a:path extrusionOk="0" h="1495993" w="7796805">
                  <a:moveTo>
                    <a:pt x="0" y="0"/>
                  </a:moveTo>
                  <a:lnTo>
                    <a:pt x="7796805" y="0"/>
                  </a:lnTo>
                  <a:lnTo>
                    <a:pt x="7796805" y="1495993"/>
                  </a:lnTo>
                  <a:lnTo>
                    <a:pt x="0" y="1495993"/>
                  </a:lnTo>
                  <a:close/>
                </a:path>
              </a:pathLst>
            </a:custGeom>
            <a:solidFill>
              <a:srgbClr val="3A855D"/>
            </a:solid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0" y="-28575"/>
              <a:ext cx="7796805" cy="1524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-908245" y="5376693"/>
            <a:ext cx="20104489" cy="5523017"/>
          </a:xfrm>
          <a:custGeom>
            <a:rect b="b" l="l" r="r" t="t"/>
            <a:pathLst>
              <a:path extrusionOk="0" h="5523017" w="20104489">
                <a:moveTo>
                  <a:pt x="0" y="0"/>
                </a:moveTo>
                <a:lnTo>
                  <a:pt x="20104490" y="0"/>
                </a:lnTo>
                <a:lnTo>
                  <a:pt x="20104490" y="5523017"/>
                </a:lnTo>
                <a:lnTo>
                  <a:pt x="0" y="5523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565" l="0" r="-9034" t="-144355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3045091" y="1875359"/>
            <a:ext cx="12197818" cy="3113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25" u="none" cap="none" strike="noStrike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El flujo circular de la Economía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16914402" y="3224371"/>
            <a:ext cx="1703043" cy="2771224"/>
          </a:xfrm>
          <a:custGeom>
            <a:rect b="b" l="l" r="r" t="t"/>
            <a:pathLst>
              <a:path extrusionOk="0"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4"/>
                </a:lnTo>
                <a:lnTo>
                  <a:pt x="0" y="2771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 rot="7392287">
            <a:off x="-1104276" y="-395603"/>
            <a:ext cx="3383874" cy="2848607"/>
          </a:xfrm>
          <a:custGeom>
            <a:rect b="b" l="l" r="r" t="t"/>
            <a:pathLst>
              <a:path extrusionOk="0" h="2848607" w="3383874">
                <a:moveTo>
                  <a:pt x="0" y="0"/>
                </a:moveTo>
                <a:lnTo>
                  <a:pt x="3383875" y="0"/>
                </a:lnTo>
                <a:lnTo>
                  <a:pt x="3383875" y="2848606"/>
                </a:lnTo>
                <a:lnTo>
                  <a:pt x="0" y="2848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99" l="0" r="-1827" t="-16300"/>
            </a:stretch>
          </a:blipFill>
          <a:ln>
            <a:noFill/>
          </a:ln>
        </p:spPr>
      </p:sp>
      <p:grpSp>
        <p:nvGrpSpPr>
          <p:cNvPr id="97" name="Google Shape;97;p2"/>
          <p:cNvGrpSpPr/>
          <p:nvPr/>
        </p:nvGrpSpPr>
        <p:grpSpPr>
          <a:xfrm>
            <a:off x="1946196" y="1351924"/>
            <a:ext cx="14395608" cy="7583153"/>
            <a:chOff x="0" y="0"/>
            <a:chExt cx="3791436" cy="1997209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3791436" cy="1997209"/>
            </a:xfrm>
            <a:custGeom>
              <a:rect b="b" l="l" r="r" t="t"/>
              <a:pathLst>
                <a:path extrusionOk="0" h="1997209" w="3791436">
                  <a:moveTo>
                    <a:pt x="8067" y="0"/>
                  </a:moveTo>
                  <a:lnTo>
                    <a:pt x="3783369" y="0"/>
                  </a:lnTo>
                  <a:cubicBezTo>
                    <a:pt x="3785508" y="0"/>
                    <a:pt x="3787560" y="850"/>
                    <a:pt x="3789073" y="2363"/>
                  </a:cubicBezTo>
                  <a:cubicBezTo>
                    <a:pt x="3790586" y="3876"/>
                    <a:pt x="3791436" y="5927"/>
                    <a:pt x="3791436" y="8067"/>
                  </a:cubicBezTo>
                  <a:lnTo>
                    <a:pt x="3791436" y="1989142"/>
                  </a:lnTo>
                  <a:cubicBezTo>
                    <a:pt x="3791436" y="1991281"/>
                    <a:pt x="3790586" y="1993333"/>
                    <a:pt x="3789073" y="1994846"/>
                  </a:cubicBezTo>
                  <a:cubicBezTo>
                    <a:pt x="3787560" y="1996359"/>
                    <a:pt x="3785508" y="1997209"/>
                    <a:pt x="3783369" y="1997209"/>
                  </a:cubicBezTo>
                  <a:lnTo>
                    <a:pt x="8067" y="1997209"/>
                  </a:lnTo>
                  <a:cubicBezTo>
                    <a:pt x="5927" y="1997209"/>
                    <a:pt x="3876" y="1996359"/>
                    <a:pt x="2363" y="1994846"/>
                  </a:cubicBezTo>
                  <a:cubicBezTo>
                    <a:pt x="850" y="1993333"/>
                    <a:pt x="0" y="1991281"/>
                    <a:pt x="0" y="1989142"/>
                  </a:cubicBezTo>
                  <a:lnTo>
                    <a:pt x="0" y="8067"/>
                  </a:lnTo>
                  <a:cubicBezTo>
                    <a:pt x="0" y="5927"/>
                    <a:pt x="850" y="3876"/>
                    <a:pt x="2363" y="2363"/>
                  </a:cubicBezTo>
                  <a:cubicBezTo>
                    <a:pt x="3876" y="850"/>
                    <a:pt x="5927" y="0"/>
                    <a:pt x="8067" y="0"/>
                  </a:cubicBezTo>
                  <a:close/>
                </a:path>
              </a:pathLst>
            </a:custGeom>
            <a:solidFill>
              <a:srgbClr val="3A8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0" y="85725"/>
              <a:ext cx="3791436" cy="1911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2"/>
          <p:cNvSpPr txBox="1"/>
          <p:nvPr/>
        </p:nvSpPr>
        <p:spPr>
          <a:xfrm>
            <a:off x="3830412" y="2730870"/>
            <a:ext cx="10627176" cy="3154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Flujo Circular de la Economía: Agentes económicos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4180767" y="6057000"/>
            <a:ext cx="992646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El flujo circular de la economía representa cómo los recursos, bienes, servicios y dinero fluyen entre los distintos agentes económicos.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99" l="0" r="-1827" t="-16300"/>
            </a:stretch>
          </a:blipFill>
          <a:ln>
            <a:noFill/>
          </a:ln>
        </p:spPr>
      </p:sp>
      <p:sp>
        <p:nvSpPr>
          <p:cNvPr id="107" name="Google Shape;107;p3"/>
          <p:cNvSpPr txBox="1"/>
          <p:nvPr/>
        </p:nvSpPr>
        <p:spPr>
          <a:xfrm>
            <a:off x="3830412" y="1399690"/>
            <a:ext cx="10627176" cy="2125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Agentes económicos principales</a:t>
            </a:r>
            <a:endParaRPr/>
          </a:p>
        </p:txBody>
      </p:sp>
      <p:grpSp>
        <p:nvGrpSpPr>
          <p:cNvPr id="108" name="Google Shape;108;p3"/>
          <p:cNvGrpSpPr/>
          <p:nvPr/>
        </p:nvGrpSpPr>
        <p:grpSpPr>
          <a:xfrm>
            <a:off x="1028700" y="4090873"/>
            <a:ext cx="3936783" cy="4986938"/>
            <a:chOff x="0" y="0"/>
            <a:chExt cx="1102601" cy="1396725"/>
          </a:xfrm>
        </p:grpSpPr>
        <p:sp>
          <p:nvSpPr>
            <p:cNvPr id="109" name="Google Shape;109;p3"/>
            <p:cNvSpPr/>
            <p:nvPr/>
          </p:nvSpPr>
          <p:spPr>
            <a:xfrm>
              <a:off x="0" y="0"/>
              <a:ext cx="1102601" cy="1396725"/>
            </a:xfrm>
            <a:custGeom>
              <a:rect b="b" l="l" r="r" t="t"/>
              <a:pathLst>
                <a:path extrusionOk="0"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3A8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3"/>
          <p:cNvSpPr txBox="1"/>
          <p:nvPr/>
        </p:nvSpPr>
        <p:spPr>
          <a:xfrm>
            <a:off x="1437042" y="6124284"/>
            <a:ext cx="311881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Consumen bienes y servicios y ofrecen trabajo.</a:t>
            </a:r>
            <a:endParaRPr/>
          </a:p>
        </p:txBody>
      </p:sp>
      <p:grpSp>
        <p:nvGrpSpPr>
          <p:cNvPr id="112" name="Google Shape;112;p3"/>
          <p:cNvGrpSpPr/>
          <p:nvPr/>
        </p:nvGrpSpPr>
        <p:grpSpPr>
          <a:xfrm>
            <a:off x="5126501" y="4090873"/>
            <a:ext cx="3936783" cy="4986938"/>
            <a:chOff x="0" y="0"/>
            <a:chExt cx="1102601" cy="1396725"/>
          </a:xfrm>
        </p:grpSpPr>
        <p:sp>
          <p:nvSpPr>
            <p:cNvPr id="113" name="Google Shape;113;p3"/>
            <p:cNvSpPr/>
            <p:nvPr/>
          </p:nvSpPr>
          <p:spPr>
            <a:xfrm>
              <a:off x="0" y="0"/>
              <a:ext cx="1102601" cy="1396725"/>
            </a:xfrm>
            <a:custGeom>
              <a:rect b="b" l="l" r="r" t="t"/>
              <a:pathLst>
                <a:path extrusionOk="0"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3A8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3"/>
          <p:cNvGrpSpPr/>
          <p:nvPr/>
        </p:nvGrpSpPr>
        <p:grpSpPr>
          <a:xfrm>
            <a:off x="9224509" y="4090873"/>
            <a:ext cx="3936783" cy="4986938"/>
            <a:chOff x="0" y="0"/>
            <a:chExt cx="1102601" cy="1396725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102601" cy="1396725"/>
            </a:xfrm>
            <a:custGeom>
              <a:rect b="b" l="l" r="r" t="t"/>
              <a:pathLst>
                <a:path extrusionOk="0"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3A8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3"/>
          <p:cNvGrpSpPr/>
          <p:nvPr/>
        </p:nvGrpSpPr>
        <p:grpSpPr>
          <a:xfrm>
            <a:off x="13322517" y="4090873"/>
            <a:ext cx="3936783" cy="4986938"/>
            <a:chOff x="0" y="0"/>
            <a:chExt cx="1102601" cy="1396725"/>
          </a:xfrm>
        </p:grpSpPr>
        <p:sp>
          <p:nvSpPr>
            <p:cNvPr id="119" name="Google Shape;119;p3"/>
            <p:cNvSpPr/>
            <p:nvPr/>
          </p:nvSpPr>
          <p:spPr>
            <a:xfrm>
              <a:off x="0" y="0"/>
              <a:ext cx="1102601" cy="1396725"/>
            </a:xfrm>
            <a:custGeom>
              <a:rect b="b" l="l" r="r" t="t"/>
              <a:pathLst>
                <a:path extrusionOk="0" h="1396725" w="1102601">
                  <a:moveTo>
                    <a:pt x="29498" y="0"/>
                  </a:moveTo>
                  <a:lnTo>
                    <a:pt x="1073102" y="0"/>
                  </a:lnTo>
                  <a:cubicBezTo>
                    <a:pt x="1080926" y="0"/>
                    <a:pt x="1088429" y="3108"/>
                    <a:pt x="1093961" y="8640"/>
                  </a:cubicBezTo>
                  <a:cubicBezTo>
                    <a:pt x="1099493" y="14172"/>
                    <a:pt x="1102601" y="21675"/>
                    <a:pt x="1102601" y="29498"/>
                  </a:cubicBezTo>
                  <a:lnTo>
                    <a:pt x="1102601" y="1367226"/>
                  </a:lnTo>
                  <a:cubicBezTo>
                    <a:pt x="1102601" y="1383518"/>
                    <a:pt x="1089394" y="1396725"/>
                    <a:pt x="1073102" y="1396725"/>
                  </a:cubicBezTo>
                  <a:lnTo>
                    <a:pt x="29498" y="1396725"/>
                  </a:lnTo>
                  <a:cubicBezTo>
                    <a:pt x="13207" y="1396725"/>
                    <a:pt x="0" y="1383518"/>
                    <a:pt x="0" y="1367226"/>
                  </a:cubicBezTo>
                  <a:lnTo>
                    <a:pt x="0" y="29498"/>
                  </a:lnTo>
                  <a:cubicBezTo>
                    <a:pt x="0" y="13207"/>
                    <a:pt x="13207" y="0"/>
                    <a:pt x="29498" y="0"/>
                  </a:cubicBezTo>
                  <a:close/>
                </a:path>
              </a:pathLst>
            </a:custGeom>
            <a:solidFill>
              <a:srgbClr val="3A8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0" y="85725"/>
              <a:ext cx="1102601" cy="131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3"/>
          <p:cNvSpPr txBox="1"/>
          <p:nvPr/>
        </p:nvSpPr>
        <p:spPr>
          <a:xfrm>
            <a:off x="1698709" y="4628859"/>
            <a:ext cx="2596765" cy="657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Hogares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5534843" y="6124284"/>
            <a:ext cx="311881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Producen bienes y servicios y demandan trabajo.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5796509" y="4628859"/>
            <a:ext cx="2596765" cy="657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Empresas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9634139" y="6124284"/>
            <a:ext cx="311881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Provee bienes públicos, recauda impuestos y redistribuye ingresos.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9895806" y="4628859"/>
            <a:ext cx="2596765" cy="657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Gobierno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13732148" y="6124284"/>
            <a:ext cx="311881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Involucra la importación y exportación de bienes y servicios.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13993814" y="4628859"/>
            <a:ext cx="2596765" cy="1266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Sector externo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99" l="0" r="-1827" t="-16300"/>
            </a:stretch>
          </a:blipFill>
          <a:ln>
            <a:noFill/>
          </a:ln>
        </p:spPr>
      </p:sp>
      <p:sp>
        <p:nvSpPr>
          <p:cNvPr id="133" name="Google Shape;133;p4"/>
          <p:cNvSpPr/>
          <p:nvPr/>
        </p:nvSpPr>
        <p:spPr>
          <a:xfrm>
            <a:off x="10878324" y="2535995"/>
            <a:ext cx="5754494" cy="5215010"/>
          </a:xfrm>
          <a:custGeom>
            <a:rect b="b" l="l" r="r" t="t"/>
            <a:pathLst>
              <a:path extrusionOk="0" h="5215010" w="5754494">
                <a:moveTo>
                  <a:pt x="0" y="0"/>
                </a:moveTo>
                <a:lnTo>
                  <a:pt x="5754494" y="0"/>
                </a:lnTo>
                <a:lnTo>
                  <a:pt x="5754494" y="5215010"/>
                </a:lnTo>
                <a:lnTo>
                  <a:pt x="0" y="5215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4"/>
          <p:cNvSpPr txBox="1"/>
          <p:nvPr/>
        </p:nvSpPr>
        <p:spPr>
          <a:xfrm>
            <a:off x="1409700" y="2426604"/>
            <a:ext cx="8115300" cy="1097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Corriente real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1409700" y="4173450"/>
            <a:ext cx="7519837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La corriente real se refiere al flujo físico de bienes, servicios y factores de producción entre los agentes económicos.</a:t>
            </a:r>
            <a:endParaRPr/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99" u="none" cap="none" strike="noStrike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Componentes:</a:t>
            </a:r>
            <a:endParaRPr/>
          </a:p>
          <a:p>
            <a:pPr indent="-215898" lvl="1" marL="431798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Clr>
                <a:srgbClr val="3A855D"/>
              </a:buClr>
              <a:buSzPts val="1999"/>
              <a:buFont typeface="Arial"/>
              <a:buChar char="•"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Bienes y servicios: Producidos por las empresas y consumidos por los hogares.</a:t>
            </a:r>
            <a:endParaRPr/>
          </a:p>
          <a:p>
            <a:pPr indent="-215898" lvl="1" marL="431798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Clr>
                <a:srgbClr val="3A855D"/>
              </a:buClr>
              <a:buSzPts val="1999"/>
              <a:buFont typeface="Arial"/>
              <a:buChar char="•"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Factores de producción: Trabajo, capital, y tierra proporcionados por los hogares.</a:t>
            </a:r>
            <a:endParaRPr/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99" u="none" cap="none" strike="noStrike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Ejemplo: Los hogares proveen trabajo a las empresas, y estas les devuelven bienes y servicios.</a:t>
            </a:r>
            <a:endParaRPr/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99" u="none" cap="none" strike="noStrike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6002417" y="-828898"/>
            <a:ext cx="1703043" cy="2771224"/>
          </a:xfrm>
          <a:custGeom>
            <a:rect b="b" l="l" r="r" t="t"/>
            <a:pathLst>
              <a:path extrusionOk="0"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5"/>
                </a:lnTo>
                <a:lnTo>
                  <a:pt x="0" y="27712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6412948">
            <a:off x="7068085" y="9022289"/>
            <a:ext cx="3383874" cy="2848607"/>
          </a:xfrm>
          <a:custGeom>
            <a:rect b="b" l="l" r="r" t="t"/>
            <a:pathLst>
              <a:path extrusionOk="0" h="2848607" w="3383874">
                <a:moveTo>
                  <a:pt x="0" y="0"/>
                </a:moveTo>
                <a:lnTo>
                  <a:pt x="3383875" y="0"/>
                </a:lnTo>
                <a:lnTo>
                  <a:pt x="3383875" y="2848607"/>
                </a:lnTo>
                <a:lnTo>
                  <a:pt x="0" y="28486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99" l="0" r="-1827" t="-16300"/>
            </a:stretch>
          </a:blipFill>
          <a:ln>
            <a:noFill/>
          </a:ln>
        </p:spPr>
      </p:sp>
      <p:sp>
        <p:nvSpPr>
          <p:cNvPr id="143" name="Google Shape;143;p5"/>
          <p:cNvSpPr/>
          <p:nvPr/>
        </p:nvSpPr>
        <p:spPr>
          <a:xfrm>
            <a:off x="10604717" y="-820604"/>
            <a:ext cx="8377052" cy="11928208"/>
          </a:xfrm>
          <a:custGeom>
            <a:rect b="b" l="l" r="r" t="t"/>
            <a:pathLst>
              <a:path extrusionOk="0" h="11928208" w="8377052">
                <a:moveTo>
                  <a:pt x="0" y="0"/>
                </a:moveTo>
                <a:lnTo>
                  <a:pt x="8377052" y="0"/>
                </a:lnTo>
                <a:lnTo>
                  <a:pt x="8377052" y="11928208"/>
                </a:lnTo>
                <a:lnTo>
                  <a:pt x="0" y="119282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71586" r="-41728" t="0"/>
            </a:stretch>
          </a:blipFill>
          <a:ln>
            <a:noFill/>
          </a:ln>
        </p:spPr>
      </p:sp>
      <p:sp>
        <p:nvSpPr>
          <p:cNvPr id="144" name="Google Shape;144;p5"/>
          <p:cNvSpPr txBox="1"/>
          <p:nvPr/>
        </p:nvSpPr>
        <p:spPr>
          <a:xfrm>
            <a:off x="1409700" y="1965960"/>
            <a:ext cx="7519837" cy="2125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Corriente Nominal</a:t>
            </a:r>
            <a:endParaRPr/>
          </a:p>
        </p:txBody>
      </p:sp>
      <p:sp>
        <p:nvSpPr>
          <p:cNvPr id="145" name="Google Shape;145;p5"/>
          <p:cNvSpPr txBox="1"/>
          <p:nvPr/>
        </p:nvSpPr>
        <p:spPr>
          <a:xfrm>
            <a:off x="1409700" y="4429125"/>
            <a:ext cx="7519837" cy="501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La corriente nominal es el flujo de dinero que acompaña a la corriente real; es decir, los pagos y compensaciones monetarias entre agentes.</a:t>
            </a:r>
            <a:endParaRPr/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99" u="none" cap="none" strike="noStrike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Componentes:</a:t>
            </a:r>
            <a:endParaRPr/>
          </a:p>
          <a:p>
            <a:pPr indent="-215898" lvl="1" marL="431798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Clr>
                <a:srgbClr val="3A855D"/>
              </a:buClr>
              <a:buSzPts val="1999"/>
              <a:buFont typeface="Arial"/>
              <a:buChar char="•"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Salarios: Pagos de las empresas a los hogares por trabajo.</a:t>
            </a:r>
            <a:endParaRPr/>
          </a:p>
          <a:p>
            <a:pPr indent="-215898" lvl="1" marL="431798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Clr>
                <a:srgbClr val="3A855D"/>
              </a:buClr>
              <a:buSzPts val="1999"/>
              <a:buFont typeface="Arial"/>
              <a:buChar char="•"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Gastos de consumo: Dinero que los hogares gastan en bienes y servicios.</a:t>
            </a:r>
            <a:endParaRPr/>
          </a:p>
          <a:p>
            <a:pPr indent="-215898" lvl="1" marL="431798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Clr>
                <a:srgbClr val="3A855D"/>
              </a:buClr>
              <a:buSzPts val="1999"/>
              <a:buFont typeface="Arial"/>
              <a:buChar char="•"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Inversiones: Gastos de las empresas para adquirir recursos.</a:t>
            </a:r>
            <a:endParaRPr/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99" u="none" cap="none" strike="noStrike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Ejemplo: Los hogares reciben salarios y los utilizan para comprar bienes y servicios de las empresas.</a:t>
            </a:r>
            <a:endParaRPr/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99" u="none" cap="none" strike="noStrike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grpSp>
        <p:nvGrpSpPr>
          <p:cNvPr id="146" name="Google Shape;146;p5"/>
          <p:cNvGrpSpPr/>
          <p:nvPr/>
        </p:nvGrpSpPr>
        <p:grpSpPr>
          <a:xfrm>
            <a:off x="10447630" y="-858580"/>
            <a:ext cx="314174" cy="12004159"/>
            <a:chOff x="0" y="0"/>
            <a:chExt cx="87993" cy="3362084"/>
          </a:xfrm>
        </p:grpSpPr>
        <p:sp>
          <p:nvSpPr>
            <p:cNvPr id="147" name="Google Shape;147;p5"/>
            <p:cNvSpPr/>
            <p:nvPr/>
          </p:nvSpPr>
          <p:spPr>
            <a:xfrm>
              <a:off x="0" y="0"/>
              <a:ext cx="87993" cy="3362084"/>
            </a:xfrm>
            <a:custGeom>
              <a:rect b="b" l="l" r="r" t="t"/>
              <a:pathLst>
                <a:path extrusionOk="0" h="3362084" w="87993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 txBox="1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99" l="0" r="-1827" t="-16300"/>
            </a:stretch>
          </a:blipFill>
          <a:ln>
            <a:noFill/>
          </a:ln>
        </p:spPr>
      </p:sp>
      <p:sp>
        <p:nvSpPr>
          <p:cNvPr id="154" name="Google Shape;154;p6"/>
          <p:cNvSpPr/>
          <p:nvPr/>
        </p:nvSpPr>
        <p:spPr>
          <a:xfrm>
            <a:off x="-972431" y="-820604"/>
            <a:ext cx="8377052" cy="11928208"/>
          </a:xfrm>
          <a:custGeom>
            <a:rect b="b" l="l" r="r" t="t"/>
            <a:pathLst>
              <a:path extrusionOk="0" h="11928208" w="8377052">
                <a:moveTo>
                  <a:pt x="0" y="0"/>
                </a:moveTo>
                <a:lnTo>
                  <a:pt x="8377051" y="0"/>
                </a:lnTo>
                <a:lnTo>
                  <a:pt x="8377051" y="11928208"/>
                </a:lnTo>
                <a:lnTo>
                  <a:pt x="0" y="119282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33728" r="-133728" t="0"/>
            </a:stretch>
          </a:blipFill>
          <a:ln>
            <a:noFill/>
          </a:ln>
        </p:spPr>
      </p:sp>
      <p:sp>
        <p:nvSpPr>
          <p:cNvPr id="155" name="Google Shape;155;p6"/>
          <p:cNvSpPr txBox="1"/>
          <p:nvPr/>
        </p:nvSpPr>
        <p:spPr>
          <a:xfrm>
            <a:off x="9144000" y="728167"/>
            <a:ext cx="7519837" cy="3963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0" u="none" cap="none" strike="noStrike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Interacción entre los Mercados de Bienes, Servicios y Factores de Producción</a:t>
            </a:r>
            <a:endParaRPr/>
          </a:p>
          <a:p>
            <a:pPr indent="0" lvl="0" marL="0" marR="0" rtl="0" algn="l">
              <a:lnSpc>
                <a:spcPct val="900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500" u="none" cap="none" strike="noStrike">
              <a:solidFill>
                <a:srgbClr val="3A855D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9451575" y="6752033"/>
            <a:ext cx="7519800" cy="23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898" lvl="1" marL="431798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Clr>
                <a:srgbClr val="3A855D"/>
              </a:buClr>
              <a:buSzPts val="1999"/>
              <a:buFont typeface="Arial"/>
              <a:buChar char="•"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Mercado de bienes y servicios: Las empresas venden productos y servicios, y los hogares los compran.</a:t>
            </a:r>
            <a:endParaRPr/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99" u="none" cap="none" strike="noStrike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indent="-215898" lvl="1" marL="431798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Clr>
                <a:srgbClr val="3A855D"/>
              </a:buClr>
              <a:buSzPts val="1999"/>
              <a:buFont typeface="Arial"/>
              <a:buChar char="•"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Mercado de factores de producción: Los hogares ofrecen trabajo, capital y tierra a las empresas, que los compran para producir bienes y servicios.</a:t>
            </a:r>
            <a:endParaRPr/>
          </a:p>
        </p:txBody>
      </p:sp>
      <p:grpSp>
        <p:nvGrpSpPr>
          <p:cNvPr id="157" name="Google Shape;157;p6"/>
          <p:cNvGrpSpPr/>
          <p:nvPr/>
        </p:nvGrpSpPr>
        <p:grpSpPr>
          <a:xfrm>
            <a:off x="7247534" y="-858580"/>
            <a:ext cx="314174" cy="12004159"/>
            <a:chOff x="0" y="0"/>
            <a:chExt cx="87993" cy="3362084"/>
          </a:xfrm>
        </p:grpSpPr>
        <p:sp>
          <p:nvSpPr>
            <p:cNvPr id="158" name="Google Shape;158;p6"/>
            <p:cNvSpPr/>
            <p:nvPr/>
          </p:nvSpPr>
          <p:spPr>
            <a:xfrm>
              <a:off x="0" y="0"/>
              <a:ext cx="87993" cy="3362084"/>
            </a:xfrm>
            <a:custGeom>
              <a:rect b="b" l="l" r="r" t="t"/>
              <a:pathLst>
                <a:path extrusionOk="0" h="3362084" w="87993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6"/>
            <p:cNvSpPr txBox="1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99" l="0" r="-1827" t="-16300"/>
            </a:stretch>
          </a:blipFill>
          <a:ln>
            <a:noFill/>
          </a:ln>
        </p:spPr>
      </p:sp>
      <p:grpSp>
        <p:nvGrpSpPr>
          <p:cNvPr id="165" name="Google Shape;165;p7"/>
          <p:cNvGrpSpPr/>
          <p:nvPr/>
        </p:nvGrpSpPr>
        <p:grpSpPr>
          <a:xfrm>
            <a:off x="10447630" y="-858580"/>
            <a:ext cx="314174" cy="12004159"/>
            <a:chOff x="0" y="0"/>
            <a:chExt cx="87993" cy="3362084"/>
          </a:xfrm>
        </p:grpSpPr>
        <p:sp>
          <p:nvSpPr>
            <p:cNvPr id="166" name="Google Shape;166;p7"/>
            <p:cNvSpPr/>
            <p:nvPr/>
          </p:nvSpPr>
          <p:spPr>
            <a:xfrm>
              <a:off x="0" y="0"/>
              <a:ext cx="87993" cy="3362084"/>
            </a:xfrm>
            <a:custGeom>
              <a:rect b="b" l="l" r="r" t="t"/>
              <a:pathLst>
                <a:path extrusionOk="0" h="3362084" w="87993">
                  <a:moveTo>
                    <a:pt x="43996" y="0"/>
                  </a:moveTo>
                  <a:lnTo>
                    <a:pt x="43996" y="0"/>
                  </a:lnTo>
                  <a:cubicBezTo>
                    <a:pt x="68295" y="0"/>
                    <a:pt x="87993" y="19698"/>
                    <a:pt x="87993" y="43996"/>
                  </a:cubicBezTo>
                  <a:lnTo>
                    <a:pt x="87993" y="3318088"/>
                  </a:lnTo>
                  <a:cubicBezTo>
                    <a:pt x="87993" y="3342386"/>
                    <a:pt x="68295" y="3362084"/>
                    <a:pt x="43996" y="3362084"/>
                  </a:cubicBezTo>
                  <a:lnTo>
                    <a:pt x="43996" y="3362084"/>
                  </a:lnTo>
                  <a:cubicBezTo>
                    <a:pt x="19698" y="3362084"/>
                    <a:pt x="0" y="3342386"/>
                    <a:pt x="0" y="3318088"/>
                  </a:cubicBezTo>
                  <a:lnTo>
                    <a:pt x="0" y="43996"/>
                  </a:lnTo>
                  <a:cubicBezTo>
                    <a:pt x="0" y="19698"/>
                    <a:pt x="19698" y="0"/>
                    <a:pt x="43996" y="0"/>
                  </a:cubicBezTo>
                  <a:close/>
                </a:path>
              </a:pathLst>
            </a:custGeom>
            <a:solidFill>
              <a:srgbClr val="3A8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7"/>
            <p:cNvSpPr txBox="1"/>
            <p:nvPr/>
          </p:nvSpPr>
          <p:spPr>
            <a:xfrm>
              <a:off x="0" y="85725"/>
              <a:ext cx="87993" cy="3276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7"/>
          <p:cNvSpPr/>
          <p:nvPr/>
        </p:nvSpPr>
        <p:spPr>
          <a:xfrm>
            <a:off x="10761804" y="0"/>
            <a:ext cx="7526196" cy="10287000"/>
          </a:xfrm>
          <a:custGeom>
            <a:rect b="b" l="l" r="r" t="t"/>
            <a:pathLst>
              <a:path extrusionOk="0" h="10287000" w="7526196">
                <a:moveTo>
                  <a:pt x="0" y="0"/>
                </a:moveTo>
                <a:lnTo>
                  <a:pt x="7526196" y="0"/>
                </a:lnTo>
                <a:lnTo>
                  <a:pt x="75261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88220" r="-54757" t="0"/>
            </a:stretch>
          </a:blipFill>
          <a:ln>
            <a:noFill/>
          </a:ln>
        </p:spPr>
      </p:sp>
      <p:sp>
        <p:nvSpPr>
          <p:cNvPr id="169" name="Google Shape;169;p7"/>
          <p:cNvSpPr txBox="1"/>
          <p:nvPr/>
        </p:nvSpPr>
        <p:spPr>
          <a:xfrm>
            <a:off x="1409700" y="721996"/>
            <a:ext cx="8761150" cy="4183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El papel de los intermediarios financieros en el Flujo de Capital</a:t>
            </a:r>
            <a:endParaRPr/>
          </a:p>
        </p:txBody>
      </p:sp>
      <p:sp>
        <p:nvSpPr>
          <p:cNvPr id="170" name="Google Shape;170;p7"/>
          <p:cNvSpPr txBox="1"/>
          <p:nvPr/>
        </p:nvSpPr>
        <p:spPr>
          <a:xfrm>
            <a:off x="1495150" y="5741690"/>
            <a:ext cx="7519800" cy="4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Los intermediarios financieros, como bancos y fondos de inversión, facilitan el movimiento de capital al conectar ahorradores e inversionistas.</a:t>
            </a:r>
            <a:endParaRPr/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99" u="none" cap="none" strike="noStrike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Función</a:t>
            </a: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: Reciben ahorros de los hogares y los canalizan hacia las empresas que necesitan financiamiento para invertir en producción.</a:t>
            </a:r>
            <a:endParaRPr/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99" u="none" cap="none" strike="noStrike">
              <a:solidFill>
                <a:srgbClr val="3A855D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  <a:p>
            <a:pPr indent="0" lvl="0" marL="0" marR="0" rtl="0" algn="l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none" cap="none" strike="noStrik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Ejemplo: Los bancos reciben depósitos de los hogares y otorgan préstamos a las empresas para expansión o inversión en maquinaria.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99" l="0" r="-1827" t="-16300"/>
            </a:stretch>
          </a:blipFill>
          <a:ln>
            <a:noFill/>
          </a:ln>
        </p:spPr>
      </p:sp>
      <p:sp>
        <p:nvSpPr>
          <p:cNvPr id="176" name="Google Shape;176;p8"/>
          <p:cNvSpPr txBox="1"/>
          <p:nvPr/>
        </p:nvSpPr>
        <p:spPr>
          <a:xfrm>
            <a:off x="1409700" y="899160"/>
            <a:ext cx="8229159" cy="4183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Relación entre el Consumo, la Inversión y el Ahorro</a:t>
            </a:r>
            <a:endParaRPr/>
          </a:p>
        </p:txBody>
      </p:sp>
      <p:grpSp>
        <p:nvGrpSpPr>
          <p:cNvPr id="177" name="Google Shape;177;p8"/>
          <p:cNvGrpSpPr/>
          <p:nvPr/>
        </p:nvGrpSpPr>
        <p:grpSpPr>
          <a:xfrm>
            <a:off x="10261239" y="1170261"/>
            <a:ext cx="6998061" cy="2561528"/>
            <a:chOff x="0" y="0"/>
            <a:chExt cx="2342659" cy="857492"/>
          </a:xfrm>
        </p:grpSpPr>
        <p:sp>
          <p:nvSpPr>
            <p:cNvPr id="178" name="Google Shape;178;p8"/>
            <p:cNvSpPr/>
            <p:nvPr/>
          </p:nvSpPr>
          <p:spPr>
            <a:xfrm>
              <a:off x="0" y="0"/>
              <a:ext cx="2342659" cy="857492"/>
            </a:xfrm>
            <a:custGeom>
              <a:rect b="b" l="l" r="r" t="t"/>
              <a:pathLst>
                <a:path extrusionOk="0" h="85749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3A8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8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8"/>
          <p:cNvSpPr txBox="1"/>
          <p:nvPr/>
        </p:nvSpPr>
        <p:spPr>
          <a:xfrm>
            <a:off x="10839763" y="2017380"/>
            <a:ext cx="6075665" cy="878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Consumo: Gasto de los hogares en bienes y servicios.</a:t>
            </a:r>
            <a:endParaRPr/>
          </a:p>
        </p:txBody>
      </p:sp>
      <p:grpSp>
        <p:nvGrpSpPr>
          <p:cNvPr id="181" name="Google Shape;181;p8"/>
          <p:cNvGrpSpPr/>
          <p:nvPr/>
        </p:nvGrpSpPr>
        <p:grpSpPr>
          <a:xfrm>
            <a:off x="10261239" y="3862348"/>
            <a:ext cx="6998061" cy="2561528"/>
            <a:chOff x="0" y="0"/>
            <a:chExt cx="2342659" cy="857492"/>
          </a:xfrm>
        </p:grpSpPr>
        <p:sp>
          <p:nvSpPr>
            <p:cNvPr id="182" name="Google Shape;182;p8"/>
            <p:cNvSpPr/>
            <p:nvPr/>
          </p:nvSpPr>
          <p:spPr>
            <a:xfrm>
              <a:off x="0" y="0"/>
              <a:ext cx="2342659" cy="857492"/>
            </a:xfrm>
            <a:custGeom>
              <a:rect b="b" l="l" r="r" t="t"/>
              <a:pathLst>
                <a:path extrusionOk="0" h="85749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3A8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8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8"/>
          <p:cNvGrpSpPr/>
          <p:nvPr/>
        </p:nvGrpSpPr>
        <p:grpSpPr>
          <a:xfrm>
            <a:off x="10261239" y="6557226"/>
            <a:ext cx="6998061" cy="2561528"/>
            <a:chOff x="0" y="0"/>
            <a:chExt cx="2342659" cy="857492"/>
          </a:xfrm>
        </p:grpSpPr>
        <p:sp>
          <p:nvSpPr>
            <p:cNvPr id="185" name="Google Shape;185;p8"/>
            <p:cNvSpPr/>
            <p:nvPr/>
          </p:nvSpPr>
          <p:spPr>
            <a:xfrm>
              <a:off x="0" y="0"/>
              <a:ext cx="2342659" cy="857492"/>
            </a:xfrm>
            <a:custGeom>
              <a:rect b="b" l="l" r="r" t="t"/>
              <a:pathLst>
                <a:path extrusionOk="0" h="857492" w="2342659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3A8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8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8"/>
          <p:cNvSpPr txBox="1"/>
          <p:nvPr/>
        </p:nvSpPr>
        <p:spPr>
          <a:xfrm>
            <a:off x="10767897" y="4318240"/>
            <a:ext cx="6075665" cy="1716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Ahorro: Parte del ingreso de los hogares que no se consume y se destina a fondos de inversión o ahorro.</a:t>
            </a:r>
            <a:endParaRPr/>
          </a:p>
        </p:txBody>
      </p:sp>
      <p:sp>
        <p:nvSpPr>
          <p:cNvPr id="188" name="Google Shape;188;p8"/>
          <p:cNvSpPr txBox="1"/>
          <p:nvPr/>
        </p:nvSpPr>
        <p:spPr>
          <a:xfrm>
            <a:off x="10767897" y="7033476"/>
            <a:ext cx="6075665" cy="1716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Inversión: Gastos de las empresas para adquirir capital y expandir la producción, facilitado por los ahorros disponibles.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99" l="0" r="-1827" t="-16300"/>
            </a:stretch>
          </a:blipFill>
          <a:ln>
            <a:noFill/>
          </a:ln>
        </p:spPr>
      </p:sp>
      <p:grpSp>
        <p:nvGrpSpPr>
          <p:cNvPr id="194" name="Google Shape;194;p9"/>
          <p:cNvGrpSpPr/>
          <p:nvPr/>
        </p:nvGrpSpPr>
        <p:grpSpPr>
          <a:xfrm>
            <a:off x="1946196" y="1351924"/>
            <a:ext cx="14395608" cy="7583153"/>
            <a:chOff x="0" y="0"/>
            <a:chExt cx="3791436" cy="1997209"/>
          </a:xfrm>
        </p:grpSpPr>
        <p:sp>
          <p:nvSpPr>
            <p:cNvPr id="195" name="Google Shape;195;p9"/>
            <p:cNvSpPr/>
            <p:nvPr/>
          </p:nvSpPr>
          <p:spPr>
            <a:xfrm>
              <a:off x="0" y="0"/>
              <a:ext cx="3791436" cy="1997209"/>
            </a:xfrm>
            <a:custGeom>
              <a:rect b="b" l="l" r="r" t="t"/>
              <a:pathLst>
                <a:path extrusionOk="0" h="1997209" w="3791436">
                  <a:moveTo>
                    <a:pt x="8067" y="0"/>
                  </a:moveTo>
                  <a:lnTo>
                    <a:pt x="3783369" y="0"/>
                  </a:lnTo>
                  <a:cubicBezTo>
                    <a:pt x="3785508" y="0"/>
                    <a:pt x="3787560" y="850"/>
                    <a:pt x="3789073" y="2363"/>
                  </a:cubicBezTo>
                  <a:cubicBezTo>
                    <a:pt x="3790586" y="3876"/>
                    <a:pt x="3791436" y="5927"/>
                    <a:pt x="3791436" y="8067"/>
                  </a:cubicBezTo>
                  <a:lnTo>
                    <a:pt x="3791436" y="1989142"/>
                  </a:lnTo>
                  <a:cubicBezTo>
                    <a:pt x="3791436" y="1991281"/>
                    <a:pt x="3790586" y="1993333"/>
                    <a:pt x="3789073" y="1994846"/>
                  </a:cubicBezTo>
                  <a:cubicBezTo>
                    <a:pt x="3787560" y="1996359"/>
                    <a:pt x="3785508" y="1997209"/>
                    <a:pt x="3783369" y="1997209"/>
                  </a:cubicBezTo>
                  <a:lnTo>
                    <a:pt x="8067" y="1997209"/>
                  </a:lnTo>
                  <a:cubicBezTo>
                    <a:pt x="5927" y="1997209"/>
                    <a:pt x="3876" y="1996359"/>
                    <a:pt x="2363" y="1994846"/>
                  </a:cubicBezTo>
                  <a:cubicBezTo>
                    <a:pt x="850" y="1993333"/>
                    <a:pt x="0" y="1991281"/>
                    <a:pt x="0" y="1989142"/>
                  </a:cubicBezTo>
                  <a:lnTo>
                    <a:pt x="0" y="8067"/>
                  </a:lnTo>
                  <a:cubicBezTo>
                    <a:pt x="0" y="5927"/>
                    <a:pt x="850" y="3876"/>
                    <a:pt x="2363" y="2363"/>
                  </a:cubicBezTo>
                  <a:cubicBezTo>
                    <a:pt x="3876" y="850"/>
                    <a:pt x="5927" y="0"/>
                    <a:pt x="8067" y="0"/>
                  </a:cubicBezTo>
                  <a:close/>
                </a:path>
              </a:pathLst>
            </a:custGeom>
            <a:solidFill>
              <a:srgbClr val="3A85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9"/>
            <p:cNvSpPr txBox="1"/>
            <p:nvPr/>
          </p:nvSpPr>
          <p:spPr>
            <a:xfrm>
              <a:off x="0" y="85725"/>
              <a:ext cx="3791436" cy="1911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9"/>
          <p:cNvSpPr txBox="1"/>
          <p:nvPr/>
        </p:nvSpPr>
        <p:spPr>
          <a:xfrm>
            <a:off x="2627637" y="1969771"/>
            <a:ext cx="13032727" cy="2987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¿Cómo afectan las políticas monetarias y fiscales al flujo económico?</a:t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2731749" y="5611389"/>
            <a:ext cx="12824400" cy="4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898" lvl="1" marL="431798" marR="0" rtl="0" algn="ctr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Clr>
                <a:srgbClr val="F1F0EC"/>
              </a:buClr>
              <a:buSzPts val="1999"/>
              <a:buFont typeface="Arial"/>
              <a:buChar char="•"/>
            </a:pPr>
            <a:r>
              <a:rPr b="1" i="0" lang="en-US" sz="1999" u="none" cap="none" strike="noStrik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Política Monetaria: Administrada por el banco central para controlar la oferta de dinero y las tasas de interés.</a:t>
            </a:r>
            <a:endParaRPr/>
          </a:p>
          <a:p>
            <a:pPr indent="-287865" lvl="2" marL="863597" marR="0" rtl="0" algn="ctr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Clr>
                <a:srgbClr val="F1F0EC"/>
              </a:buClr>
              <a:buSzPts val="1999"/>
              <a:buFont typeface="Arial"/>
              <a:buChar char="⚬"/>
            </a:pPr>
            <a:r>
              <a:rPr b="1" i="0" lang="en-US" sz="1999" u="none" cap="none" strike="noStrik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Efecto en la economía: Al bajar las tasas de interés, se incentiva la inversión y el consumo; al subirlas, se busca controlar la inflación.</a:t>
            </a:r>
            <a:endParaRPr/>
          </a:p>
          <a:p>
            <a:pPr indent="-215898" lvl="1" marL="431798" marR="0" rtl="0" algn="ctr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Clr>
                <a:srgbClr val="F1F0EC"/>
              </a:buClr>
              <a:buSzPts val="1999"/>
              <a:buFont typeface="Arial"/>
              <a:buChar char="•"/>
            </a:pPr>
            <a:r>
              <a:rPr b="1" i="0" lang="en-US" sz="1999" u="none" cap="none" strike="noStrik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Política Fiscal: Administrada por el gobierno para regular ingresos (impuestos) y gastos.</a:t>
            </a:r>
            <a:endParaRPr/>
          </a:p>
          <a:p>
            <a:pPr indent="-287865" lvl="2" marL="863597" marR="0" rtl="0" algn="ctr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Clr>
                <a:srgbClr val="F1F0EC"/>
              </a:buClr>
              <a:buSzPts val="1999"/>
              <a:buFont typeface="Arial"/>
              <a:buChar char="⚬"/>
            </a:pPr>
            <a:r>
              <a:rPr b="1" i="0" lang="en-US" sz="1999" u="none" cap="none" strike="noStrik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Efecto en la economía: Aumentar el gasto público o reducir impuestos incentiva la actividad económica; reducir el gasto o aumentar impuestos puede desacelerar la economía.</a:t>
            </a:r>
            <a:endParaRPr/>
          </a:p>
          <a:p>
            <a:pPr indent="-215898" lvl="1" marL="431798" marR="0" rtl="0" algn="ctr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Clr>
                <a:srgbClr val="F1F0EC"/>
              </a:buClr>
              <a:buSzPts val="1999"/>
              <a:buFont typeface="Arial"/>
              <a:buChar char="•"/>
            </a:pPr>
            <a:r>
              <a:rPr b="1" i="0" lang="en-US" sz="1999" u="none" cap="none" strike="noStrik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Ejemplo: Cuando el banco central reduce las tasas de interés, los préstamos se vuelven más accesibles, lo que estimula la inversión de las empresas y el consumo de los hogares.</a:t>
            </a:r>
            <a:endParaRPr/>
          </a:p>
          <a:p>
            <a:pPr indent="0" lvl="0" marL="0" marR="0" rtl="0" algn="ctr">
              <a:lnSpc>
                <a:spcPct val="135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99" u="none" cap="none" strike="noStrike">
              <a:solidFill>
                <a:srgbClr val="F1F0EC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299" l="0" r="-1827" t="-16300"/>
            </a:stretch>
          </a:blipFill>
          <a:ln>
            <a:noFill/>
          </a:ln>
        </p:spPr>
      </p:sp>
      <p:grpSp>
        <p:nvGrpSpPr>
          <p:cNvPr id="204" name="Google Shape;204;p10"/>
          <p:cNvGrpSpPr/>
          <p:nvPr/>
        </p:nvGrpSpPr>
        <p:grpSpPr>
          <a:xfrm>
            <a:off x="-1733924" y="6891516"/>
            <a:ext cx="21755848" cy="4254083"/>
            <a:chOff x="0" y="-28575"/>
            <a:chExt cx="7796805" cy="1524568"/>
          </a:xfrm>
        </p:grpSpPr>
        <p:sp>
          <p:nvSpPr>
            <p:cNvPr id="205" name="Google Shape;205;p10"/>
            <p:cNvSpPr/>
            <p:nvPr/>
          </p:nvSpPr>
          <p:spPr>
            <a:xfrm>
              <a:off x="0" y="0"/>
              <a:ext cx="7796805" cy="1495993"/>
            </a:xfrm>
            <a:custGeom>
              <a:rect b="b" l="l" r="r" t="t"/>
              <a:pathLst>
                <a:path extrusionOk="0" h="1495993" w="7796805">
                  <a:moveTo>
                    <a:pt x="0" y="0"/>
                  </a:moveTo>
                  <a:lnTo>
                    <a:pt x="7796805" y="0"/>
                  </a:lnTo>
                  <a:lnTo>
                    <a:pt x="7796805" y="1495993"/>
                  </a:lnTo>
                  <a:lnTo>
                    <a:pt x="0" y="1495993"/>
                  </a:lnTo>
                  <a:close/>
                </a:path>
              </a:pathLst>
            </a:custGeom>
            <a:solidFill>
              <a:srgbClr val="3A855D"/>
            </a:solidFill>
            <a:ln>
              <a:noFill/>
            </a:ln>
          </p:spPr>
        </p:sp>
        <p:sp>
          <p:nvSpPr>
            <p:cNvPr id="206" name="Google Shape;206;p10"/>
            <p:cNvSpPr txBox="1"/>
            <p:nvPr/>
          </p:nvSpPr>
          <p:spPr>
            <a:xfrm>
              <a:off x="0" y="-28575"/>
              <a:ext cx="7796805" cy="1524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0"/>
          <p:cNvSpPr/>
          <p:nvPr/>
        </p:nvSpPr>
        <p:spPr>
          <a:xfrm>
            <a:off x="-908245" y="5376693"/>
            <a:ext cx="20104489" cy="5523017"/>
          </a:xfrm>
          <a:custGeom>
            <a:rect b="b" l="l" r="r" t="t"/>
            <a:pathLst>
              <a:path extrusionOk="0" h="5523017" w="20104489">
                <a:moveTo>
                  <a:pt x="0" y="0"/>
                </a:moveTo>
                <a:lnTo>
                  <a:pt x="20104490" y="0"/>
                </a:lnTo>
                <a:lnTo>
                  <a:pt x="20104490" y="5523017"/>
                </a:lnTo>
                <a:lnTo>
                  <a:pt x="0" y="55230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565" l="0" r="-9034" t="-144355"/>
            </a:stretch>
          </a:blipFill>
          <a:ln>
            <a:noFill/>
          </a:ln>
        </p:spPr>
      </p:sp>
      <p:sp>
        <p:nvSpPr>
          <p:cNvPr id="208" name="Google Shape;208;p10"/>
          <p:cNvSpPr txBox="1"/>
          <p:nvPr/>
        </p:nvSpPr>
        <p:spPr>
          <a:xfrm>
            <a:off x="3597139" y="2084909"/>
            <a:ext cx="11093721" cy="3707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57" u="none" cap="none" strike="noStrike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¡Muchas gracias!</a:t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16914402" y="3224371"/>
            <a:ext cx="1703043" cy="2771224"/>
          </a:xfrm>
          <a:custGeom>
            <a:rect b="b" l="l" r="r" t="t"/>
            <a:pathLst>
              <a:path extrusionOk="0"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4"/>
                </a:lnTo>
                <a:lnTo>
                  <a:pt x="0" y="2771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0"/>
          <p:cNvSpPr/>
          <p:nvPr/>
        </p:nvSpPr>
        <p:spPr>
          <a:xfrm rot="7392287">
            <a:off x="-1104276" y="-395603"/>
            <a:ext cx="3383874" cy="2848607"/>
          </a:xfrm>
          <a:custGeom>
            <a:rect b="b" l="l" r="r" t="t"/>
            <a:pathLst>
              <a:path extrusionOk="0" h="2848607" w="3383874">
                <a:moveTo>
                  <a:pt x="0" y="0"/>
                </a:moveTo>
                <a:lnTo>
                  <a:pt x="3383875" y="0"/>
                </a:lnTo>
                <a:lnTo>
                  <a:pt x="3383875" y="2848606"/>
                </a:lnTo>
                <a:lnTo>
                  <a:pt x="0" y="28486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