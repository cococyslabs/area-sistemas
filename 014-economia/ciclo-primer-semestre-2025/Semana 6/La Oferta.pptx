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Agrandir Bold" charset="1" panose="00000800000000000000"/>
      <p:regular r:id="rId14"/>
    </p:embeddedFont>
    <p:embeddedFont>
      <p:font typeface="Agrandir" charset="1" panose="0000050000000000000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Relationship Id="rId7" Target="../media/image14.png" Type="http://schemas.openxmlformats.org/officeDocument/2006/relationships/image"/><Relationship Id="rId8" Target="../media/image1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Relationship Id="rId7" Target="../media/image16.png" Type="http://schemas.openxmlformats.org/officeDocument/2006/relationships/image"/><Relationship Id="rId8" Target="../media/image17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jpe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4.svg" Type="http://schemas.openxmlformats.org/officeDocument/2006/relationships/image"/><Relationship Id="rId11" Target="../media/image25.png" Type="http://schemas.openxmlformats.org/officeDocument/2006/relationships/image"/><Relationship Id="rId12" Target="../media/image26.svg" Type="http://schemas.openxmlformats.org/officeDocument/2006/relationships/image"/><Relationship Id="rId2" Target="../media/image1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19.png" Type="http://schemas.openxmlformats.org/officeDocument/2006/relationships/image"/><Relationship Id="rId6" Target="../media/image20.svg" Type="http://schemas.openxmlformats.org/officeDocument/2006/relationships/image"/><Relationship Id="rId7" Target="../media/image21.png" Type="http://schemas.openxmlformats.org/officeDocument/2006/relationships/image"/><Relationship Id="rId8" Target="../media/image22.svg" Type="http://schemas.openxmlformats.org/officeDocument/2006/relationships/image"/><Relationship Id="rId9" Target="../media/image2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jpeg" Type="http://schemas.openxmlformats.org/officeDocument/2006/relationships/image"/><Relationship Id="rId3" Target="../media/image27.png" Type="http://schemas.openxmlformats.org/officeDocument/2006/relationships/image"/><Relationship Id="rId4" Target="../media/image28.svg" Type="http://schemas.openxmlformats.org/officeDocument/2006/relationships/image"/><Relationship Id="rId5" Target="../media/image29.png" Type="http://schemas.openxmlformats.org/officeDocument/2006/relationships/image"/><Relationship Id="rId6" Target="../media/image30.svg" Type="http://schemas.openxmlformats.org/officeDocument/2006/relationships/image"/><Relationship Id="rId7" Target="../media/image31.png" Type="http://schemas.openxmlformats.org/officeDocument/2006/relationships/image"/><Relationship Id="rId8" Target="../media/image3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0.svg" Type="http://schemas.openxmlformats.org/officeDocument/2006/relationships/image"/><Relationship Id="rId11" Target="../media/image41.png" Type="http://schemas.openxmlformats.org/officeDocument/2006/relationships/image"/><Relationship Id="rId12" Target="../media/image42.svg" Type="http://schemas.openxmlformats.org/officeDocument/2006/relationships/image"/><Relationship Id="rId13" Target="../media/image43.png" Type="http://schemas.openxmlformats.org/officeDocument/2006/relationships/image"/><Relationship Id="rId14" Target="../media/image44.svg" Type="http://schemas.openxmlformats.org/officeDocument/2006/relationships/image"/><Relationship Id="rId15" Target="../media/image45.png" Type="http://schemas.openxmlformats.org/officeDocument/2006/relationships/image"/><Relationship Id="rId16" Target="../media/image46.svg" Type="http://schemas.openxmlformats.org/officeDocument/2006/relationships/image"/><Relationship Id="rId17" Target="../media/image47.png" Type="http://schemas.openxmlformats.org/officeDocument/2006/relationships/image"/><Relationship Id="rId18" Target="../media/image48.svg" Type="http://schemas.openxmlformats.org/officeDocument/2006/relationships/image"/><Relationship Id="rId19" Target="../media/image49.png" Type="http://schemas.openxmlformats.org/officeDocument/2006/relationships/image"/><Relationship Id="rId2" Target="../media/image1.jpeg" Type="http://schemas.openxmlformats.org/officeDocument/2006/relationships/image"/><Relationship Id="rId20" Target="../media/image50.svg" Type="http://schemas.openxmlformats.org/officeDocument/2006/relationships/image"/><Relationship Id="rId21" Target="../media/image2.png" Type="http://schemas.openxmlformats.org/officeDocument/2006/relationships/image"/><Relationship Id="rId22" Target="../media/image3.svg" Type="http://schemas.openxmlformats.org/officeDocument/2006/relationships/image"/><Relationship Id="rId3" Target="../media/image33.png" Type="http://schemas.openxmlformats.org/officeDocument/2006/relationships/image"/><Relationship Id="rId4" Target="../media/image34.svg" Type="http://schemas.openxmlformats.org/officeDocument/2006/relationships/image"/><Relationship Id="rId5" Target="../media/image35.png" Type="http://schemas.openxmlformats.org/officeDocument/2006/relationships/image"/><Relationship Id="rId6" Target="../media/image36.svg" Type="http://schemas.openxmlformats.org/officeDocument/2006/relationships/image"/><Relationship Id="rId7" Target="../media/image37.png" Type="http://schemas.openxmlformats.org/officeDocument/2006/relationships/image"/><Relationship Id="rId8" Target="../media/image38.svg" Type="http://schemas.openxmlformats.org/officeDocument/2006/relationships/image"/><Relationship Id="rId9" Target="../media/image3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147994" y="4081939"/>
            <a:ext cx="3413119" cy="3067540"/>
          </a:xfrm>
          <a:custGeom>
            <a:avLst/>
            <a:gdLst/>
            <a:ahLst/>
            <a:cxnLst/>
            <a:rect r="r" b="b" t="t" l="l"/>
            <a:pathLst>
              <a:path h="3067540" w="3413119">
                <a:moveTo>
                  <a:pt x="0" y="0"/>
                </a:moveTo>
                <a:lnTo>
                  <a:pt x="3413118" y="0"/>
                </a:lnTo>
                <a:lnTo>
                  <a:pt x="3413118" y="3067541"/>
                </a:lnTo>
                <a:lnTo>
                  <a:pt x="0" y="30675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172142" y="4330770"/>
            <a:ext cx="12000212" cy="22942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198"/>
              </a:lnSpc>
            </a:pPr>
            <a:r>
              <a:rPr lang="en-US" b="true" sz="14198">
                <a:solidFill>
                  <a:srgbClr val="F8F8F8"/>
                </a:solidFill>
                <a:latin typeface="Agrandir Bold"/>
                <a:ea typeface="Agrandir Bold"/>
                <a:cs typeface="Agrandir Bold"/>
                <a:sym typeface="Agrandir Bold"/>
              </a:rPr>
              <a:t>OFERTA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981343">
            <a:off x="14705254" y="7404798"/>
            <a:ext cx="3959416" cy="3707004"/>
          </a:xfrm>
          <a:custGeom>
            <a:avLst/>
            <a:gdLst/>
            <a:ahLst/>
            <a:cxnLst/>
            <a:rect r="r" b="b" t="t" l="l"/>
            <a:pathLst>
              <a:path h="3707004" w="3959416">
                <a:moveTo>
                  <a:pt x="0" y="0"/>
                </a:moveTo>
                <a:lnTo>
                  <a:pt x="3959416" y="0"/>
                </a:lnTo>
                <a:lnTo>
                  <a:pt x="3959416" y="3707004"/>
                </a:lnTo>
                <a:lnTo>
                  <a:pt x="0" y="370700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12726888" y="3560056"/>
            <a:ext cx="3413119" cy="3067540"/>
          </a:xfrm>
          <a:custGeom>
            <a:avLst/>
            <a:gdLst/>
            <a:ahLst/>
            <a:cxnLst/>
            <a:rect r="r" b="b" t="t" l="l"/>
            <a:pathLst>
              <a:path h="3067540" w="3413119">
                <a:moveTo>
                  <a:pt x="3413118" y="3067541"/>
                </a:moveTo>
                <a:lnTo>
                  <a:pt x="0" y="3067541"/>
                </a:lnTo>
                <a:lnTo>
                  <a:pt x="0" y="0"/>
                </a:lnTo>
                <a:lnTo>
                  <a:pt x="3413118" y="0"/>
                </a:lnTo>
                <a:lnTo>
                  <a:pt x="3413118" y="3067541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288405">
            <a:off x="-544196" y="-495368"/>
            <a:ext cx="3923812" cy="3338807"/>
          </a:xfrm>
          <a:custGeom>
            <a:avLst/>
            <a:gdLst/>
            <a:ahLst/>
            <a:cxnLst/>
            <a:rect r="r" b="b" t="t" l="l"/>
            <a:pathLst>
              <a:path h="3338807" w="3923812">
                <a:moveTo>
                  <a:pt x="0" y="0"/>
                </a:moveTo>
                <a:lnTo>
                  <a:pt x="3923812" y="0"/>
                </a:lnTo>
                <a:lnTo>
                  <a:pt x="3923812" y="3338807"/>
                </a:lnTo>
                <a:lnTo>
                  <a:pt x="0" y="333880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6472765">
            <a:off x="3854744" y="-406460"/>
            <a:ext cx="1786831" cy="2620685"/>
          </a:xfrm>
          <a:custGeom>
            <a:avLst/>
            <a:gdLst/>
            <a:ahLst/>
            <a:cxnLst/>
            <a:rect r="r" b="b" t="t" l="l"/>
            <a:pathLst>
              <a:path h="2620685" w="1786831">
                <a:moveTo>
                  <a:pt x="0" y="0"/>
                </a:moveTo>
                <a:lnTo>
                  <a:pt x="1786831" y="0"/>
                </a:lnTo>
                <a:lnTo>
                  <a:pt x="1786831" y="2620685"/>
                </a:lnTo>
                <a:lnTo>
                  <a:pt x="0" y="262068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276917" y="3308970"/>
            <a:ext cx="9012826" cy="1120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6999">
                <a:solidFill>
                  <a:srgbClr val="CAEDAB"/>
                </a:solidFill>
                <a:latin typeface="Agrandir"/>
                <a:ea typeface="Agrandir"/>
                <a:cs typeface="Agrandir"/>
                <a:sym typeface="Agrandir"/>
              </a:rPr>
              <a:t>La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-4873975">
            <a:off x="11742342" y="8113087"/>
            <a:ext cx="1937841" cy="2842167"/>
          </a:xfrm>
          <a:custGeom>
            <a:avLst/>
            <a:gdLst/>
            <a:ahLst/>
            <a:cxnLst/>
            <a:rect r="r" b="b" t="t" l="l"/>
            <a:pathLst>
              <a:path h="2842167" w="1937841">
                <a:moveTo>
                  <a:pt x="0" y="0"/>
                </a:moveTo>
                <a:lnTo>
                  <a:pt x="1937841" y="0"/>
                </a:lnTo>
                <a:lnTo>
                  <a:pt x="1937841" y="2842167"/>
                </a:lnTo>
                <a:lnTo>
                  <a:pt x="0" y="284216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119942" y="2096569"/>
            <a:ext cx="13842786" cy="1130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7000" b="true">
                <a:solidFill>
                  <a:srgbClr val="F8F8F8"/>
                </a:solidFill>
                <a:latin typeface="Agrandir Bold"/>
                <a:ea typeface="Agrandir Bold"/>
                <a:cs typeface="Agrandir Bold"/>
                <a:sym typeface="Agrandir Bold"/>
              </a:rPr>
              <a:t>Oferta individual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597206" y="3281638"/>
            <a:ext cx="13093588" cy="1978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8"/>
              </a:lnSpc>
            </a:pPr>
            <a:r>
              <a:rPr lang="en-US" sz="2400">
                <a:solidFill>
                  <a:srgbClr val="F8F8F8"/>
                </a:solidFill>
                <a:latin typeface="Agrandir"/>
                <a:ea typeface="Agrandir"/>
                <a:cs typeface="Agrandir"/>
                <a:sym typeface="Agrandir"/>
              </a:rPr>
              <a:t>La oferta individual se refiere a la cantidad de un bien o servicio que un productor está dispuesto a vender a diferentes precios, manteniendo constantes otros factores.</a:t>
            </a:r>
          </a:p>
          <a:p>
            <a:pPr algn="ctr">
              <a:lnSpc>
                <a:spcPts val="3048"/>
              </a:lnSpc>
            </a:pPr>
          </a:p>
          <a:p>
            <a:pPr algn="ctr">
              <a:lnSpc>
                <a:spcPts val="3048"/>
              </a:lnSpc>
            </a:pPr>
            <a:r>
              <a:rPr lang="en-US" sz="2400">
                <a:solidFill>
                  <a:srgbClr val="F8F8F8"/>
                </a:solidFill>
                <a:latin typeface="Agrandir"/>
                <a:ea typeface="Agrandir"/>
                <a:cs typeface="Agrandir"/>
                <a:sym typeface="Agrandir"/>
              </a:rPr>
              <a:t>Ejemplo: La cantidad de pan que un panadero está dispuesto a vender a distintos precios, dependiendo de sus costos y capacidad de producción.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-1848245">
            <a:off x="12931264" y="7677774"/>
            <a:ext cx="8266318" cy="4652176"/>
          </a:xfrm>
          <a:custGeom>
            <a:avLst/>
            <a:gdLst/>
            <a:ahLst/>
            <a:cxnLst/>
            <a:rect r="r" b="b" t="t" l="l"/>
            <a:pathLst>
              <a:path h="4652176" w="8266318">
                <a:moveTo>
                  <a:pt x="0" y="0"/>
                </a:moveTo>
                <a:lnTo>
                  <a:pt x="8266318" y="0"/>
                </a:lnTo>
                <a:lnTo>
                  <a:pt x="8266318" y="4652176"/>
                </a:lnTo>
                <a:lnTo>
                  <a:pt x="0" y="46521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-1848245">
            <a:off x="-2912166" y="-1577948"/>
            <a:ext cx="8266318" cy="4652176"/>
          </a:xfrm>
          <a:custGeom>
            <a:avLst/>
            <a:gdLst/>
            <a:ahLst/>
            <a:cxnLst/>
            <a:rect r="r" b="b" t="t" l="l"/>
            <a:pathLst>
              <a:path h="4652176" w="8266318">
                <a:moveTo>
                  <a:pt x="0" y="4652176"/>
                </a:moveTo>
                <a:lnTo>
                  <a:pt x="8266318" y="4652176"/>
                </a:lnTo>
                <a:lnTo>
                  <a:pt x="8266318" y="0"/>
                </a:lnTo>
                <a:lnTo>
                  <a:pt x="0" y="0"/>
                </a:lnTo>
                <a:lnTo>
                  <a:pt x="0" y="4652176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423048">
            <a:off x="-1949876" y="6028248"/>
            <a:ext cx="6832742" cy="3373666"/>
          </a:xfrm>
          <a:custGeom>
            <a:avLst/>
            <a:gdLst/>
            <a:ahLst/>
            <a:cxnLst/>
            <a:rect r="r" b="b" t="t" l="l"/>
            <a:pathLst>
              <a:path h="3373666" w="6832742">
                <a:moveTo>
                  <a:pt x="6832742" y="3373667"/>
                </a:moveTo>
                <a:lnTo>
                  <a:pt x="0" y="3373667"/>
                </a:lnTo>
                <a:lnTo>
                  <a:pt x="0" y="0"/>
                </a:lnTo>
                <a:lnTo>
                  <a:pt x="6832742" y="0"/>
                </a:lnTo>
                <a:lnTo>
                  <a:pt x="6832742" y="3373667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442044" y="748140"/>
            <a:ext cx="6832742" cy="3373666"/>
          </a:xfrm>
          <a:custGeom>
            <a:avLst/>
            <a:gdLst/>
            <a:ahLst/>
            <a:cxnLst/>
            <a:rect r="r" b="b" t="t" l="l"/>
            <a:pathLst>
              <a:path h="3373666" w="6832742">
                <a:moveTo>
                  <a:pt x="0" y="0"/>
                </a:moveTo>
                <a:lnTo>
                  <a:pt x="6832742" y="0"/>
                </a:lnTo>
                <a:lnTo>
                  <a:pt x="6832742" y="3373666"/>
                </a:lnTo>
                <a:lnTo>
                  <a:pt x="0" y="337366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127778" y="5889322"/>
            <a:ext cx="3131689" cy="3151385"/>
          </a:xfrm>
          <a:custGeom>
            <a:avLst/>
            <a:gdLst/>
            <a:ahLst/>
            <a:cxnLst/>
            <a:rect r="r" b="b" t="t" l="l"/>
            <a:pathLst>
              <a:path h="3151385" w="3131689">
                <a:moveTo>
                  <a:pt x="0" y="0"/>
                </a:moveTo>
                <a:lnTo>
                  <a:pt x="3131689" y="0"/>
                </a:lnTo>
                <a:lnTo>
                  <a:pt x="3131689" y="3151386"/>
                </a:lnTo>
                <a:lnTo>
                  <a:pt x="0" y="315138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119942" y="2096569"/>
            <a:ext cx="13842786" cy="1130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7000" b="true">
                <a:solidFill>
                  <a:srgbClr val="F8F8F8"/>
                </a:solidFill>
                <a:latin typeface="Agrandir Bold"/>
                <a:ea typeface="Agrandir Bold"/>
                <a:cs typeface="Agrandir Bold"/>
                <a:sym typeface="Agrandir Bold"/>
              </a:rPr>
              <a:t>Oferta de mercado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597206" y="3281638"/>
            <a:ext cx="13093588" cy="1978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8"/>
              </a:lnSpc>
            </a:pPr>
            <a:r>
              <a:rPr lang="en-US" sz="2400">
                <a:solidFill>
                  <a:srgbClr val="F8F8F8"/>
                </a:solidFill>
                <a:latin typeface="Agrandir"/>
                <a:ea typeface="Agrandir"/>
                <a:cs typeface="Agrandir"/>
                <a:sym typeface="Agrandir"/>
              </a:rPr>
              <a:t>La oferta de mercado es la suma de todas las ofertas individuales de un bien o servicio en un mercado.</a:t>
            </a:r>
          </a:p>
          <a:p>
            <a:pPr algn="ctr">
              <a:lnSpc>
                <a:spcPts val="3048"/>
              </a:lnSpc>
            </a:pPr>
          </a:p>
          <a:p>
            <a:pPr algn="ctr">
              <a:lnSpc>
                <a:spcPts val="3048"/>
              </a:lnSpc>
            </a:pPr>
            <a:r>
              <a:rPr lang="en-US" sz="2400">
                <a:solidFill>
                  <a:srgbClr val="F8F8F8"/>
                </a:solidFill>
                <a:latin typeface="Agrandir"/>
                <a:ea typeface="Agrandir"/>
                <a:cs typeface="Agrandir"/>
                <a:sym typeface="Agrandir"/>
              </a:rPr>
              <a:t>Cálculo: Se obtiene sumando las cantidades ofrecidas por cada productor a cada nivel de precio.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-1848245">
            <a:off x="12931264" y="7677774"/>
            <a:ext cx="8266318" cy="4652176"/>
          </a:xfrm>
          <a:custGeom>
            <a:avLst/>
            <a:gdLst/>
            <a:ahLst/>
            <a:cxnLst/>
            <a:rect r="r" b="b" t="t" l="l"/>
            <a:pathLst>
              <a:path h="4652176" w="8266318">
                <a:moveTo>
                  <a:pt x="0" y="0"/>
                </a:moveTo>
                <a:lnTo>
                  <a:pt x="8266318" y="0"/>
                </a:lnTo>
                <a:lnTo>
                  <a:pt x="8266318" y="4652176"/>
                </a:lnTo>
                <a:lnTo>
                  <a:pt x="0" y="46521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-1848245">
            <a:off x="-2912166" y="-1577948"/>
            <a:ext cx="8266318" cy="4652176"/>
          </a:xfrm>
          <a:custGeom>
            <a:avLst/>
            <a:gdLst/>
            <a:ahLst/>
            <a:cxnLst/>
            <a:rect r="r" b="b" t="t" l="l"/>
            <a:pathLst>
              <a:path h="4652176" w="8266318">
                <a:moveTo>
                  <a:pt x="0" y="4652176"/>
                </a:moveTo>
                <a:lnTo>
                  <a:pt x="8266318" y="4652176"/>
                </a:lnTo>
                <a:lnTo>
                  <a:pt x="8266318" y="0"/>
                </a:lnTo>
                <a:lnTo>
                  <a:pt x="0" y="0"/>
                </a:lnTo>
                <a:lnTo>
                  <a:pt x="0" y="4652176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423048">
            <a:off x="-1949876" y="6028248"/>
            <a:ext cx="6832742" cy="3373666"/>
          </a:xfrm>
          <a:custGeom>
            <a:avLst/>
            <a:gdLst/>
            <a:ahLst/>
            <a:cxnLst/>
            <a:rect r="r" b="b" t="t" l="l"/>
            <a:pathLst>
              <a:path h="3373666" w="6832742">
                <a:moveTo>
                  <a:pt x="6832742" y="3373667"/>
                </a:moveTo>
                <a:lnTo>
                  <a:pt x="0" y="3373667"/>
                </a:lnTo>
                <a:lnTo>
                  <a:pt x="0" y="0"/>
                </a:lnTo>
                <a:lnTo>
                  <a:pt x="6832742" y="0"/>
                </a:lnTo>
                <a:lnTo>
                  <a:pt x="6832742" y="3373667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442044" y="748140"/>
            <a:ext cx="6832742" cy="3373666"/>
          </a:xfrm>
          <a:custGeom>
            <a:avLst/>
            <a:gdLst/>
            <a:ahLst/>
            <a:cxnLst/>
            <a:rect r="r" b="b" t="t" l="l"/>
            <a:pathLst>
              <a:path h="3373666" w="6832742">
                <a:moveTo>
                  <a:pt x="0" y="0"/>
                </a:moveTo>
                <a:lnTo>
                  <a:pt x="6832742" y="0"/>
                </a:lnTo>
                <a:lnTo>
                  <a:pt x="6832742" y="3373666"/>
                </a:lnTo>
                <a:lnTo>
                  <a:pt x="0" y="337366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961890" y="5734578"/>
            <a:ext cx="2364220" cy="2686613"/>
          </a:xfrm>
          <a:custGeom>
            <a:avLst/>
            <a:gdLst/>
            <a:ahLst/>
            <a:cxnLst/>
            <a:rect r="r" b="b" t="t" l="l"/>
            <a:pathLst>
              <a:path h="2686613" w="2364220">
                <a:moveTo>
                  <a:pt x="0" y="0"/>
                </a:moveTo>
                <a:lnTo>
                  <a:pt x="2364220" y="0"/>
                </a:lnTo>
                <a:lnTo>
                  <a:pt x="2364220" y="2686613"/>
                </a:lnTo>
                <a:lnTo>
                  <a:pt x="0" y="268661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848245">
            <a:off x="14068169" y="7155292"/>
            <a:ext cx="5098498" cy="2869368"/>
          </a:xfrm>
          <a:custGeom>
            <a:avLst/>
            <a:gdLst/>
            <a:ahLst/>
            <a:cxnLst/>
            <a:rect r="r" b="b" t="t" l="l"/>
            <a:pathLst>
              <a:path h="2869368" w="5098498">
                <a:moveTo>
                  <a:pt x="0" y="0"/>
                </a:moveTo>
                <a:lnTo>
                  <a:pt x="5098498" y="0"/>
                </a:lnTo>
                <a:lnTo>
                  <a:pt x="5098498" y="2869369"/>
                </a:lnTo>
                <a:lnTo>
                  <a:pt x="0" y="286936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392449" y="1122239"/>
            <a:ext cx="11335137" cy="1481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00"/>
              </a:lnSpc>
            </a:pPr>
            <a:r>
              <a:rPr lang="en-US" sz="9200" b="true">
                <a:solidFill>
                  <a:srgbClr val="355952"/>
                </a:solidFill>
                <a:latin typeface="Agrandir Bold"/>
                <a:ea typeface="Agrandir Bold"/>
                <a:cs typeface="Agrandir Bold"/>
                <a:sym typeface="Agrandir Bold"/>
              </a:rPr>
              <a:t>La Ley de la Oferta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92449" y="3830268"/>
            <a:ext cx="13326249" cy="3071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9"/>
              </a:lnSpc>
            </a:pPr>
            <a:r>
              <a:rPr lang="en-US" sz="2700" b="true">
                <a:solidFill>
                  <a:srgbClr val="2B2B2B"/>
                </a:solidFill>
                <a:latin typeface="Agrandir Bold"/>
                <a:ea typeface="Agrandir Bold"/>
                <a:cs typeface="Agrandir Bold"/>
                <a:sym typeface="Agrandir Bold"/>
              </a:rPr>
              <a:t>Ley de la Oferta:</a:t>
            </a:r>
            <a:r>
              <a:rPr lang="en-US" sz="2700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 A medida que el precio de un bien aumenta, la cantidad ofrecida también aumenta, y viceversa, manteniendo constantes otros factores.</a:t>
            </a:r>
          </a:p>
          <a:p>
            <a:pPr algn="l">
              <a:lnSpc>
                <a:spcPts val="3429"/>
              </a:lnSpc>
            </a:pPr>
          </a:p>
          <a:p>
            <a:pPr algn="l">
              <a:lnSpc>
                <a:spcPts val="3429"/>
              </a:lnSpc>
            </a:pPr>
            <a:r>
              <a:rPr lang="en-US" sz="2700" b="true">
                <a:solidFill>
                  <a:srgbClr val="2B2B2B"/>
                </a:solidFill>
                <a:latin typeface="Agrandir Bold"/>
                <a:ea typeface="Agrandir Bold"/>
                <a:cs typeface="Agrandir Bold"/>
                <a:sym typeface="Agrandir Bold"/>
              </a:rPr>
              <a:t>Relación precio-oferta: </a:t>
            </a:r>
            <a:r>
              <a:rPr lang="en-US" sz="2700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Explica el comportamiento directo entre el precio y la cantidad ofrecida.</a:t>
            </a:r>
          </a:p>
          <a:p>
            <a:pPr algn="l">
              <a:lnSpc>
                <a:spcPts val="3429"/>
              </a:lnSpc>
            </a:pPr>
            <a:r>
              <a:rPr lang="en-US" sz="2700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Ejemplo: Un aumento en el precio de las manzanas incentiva a más productores a ofrecer más manzanas en el mercado.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-9587801">
            <a:off x="14181525" y="-559981"/>
            <a:ext cx="5098498" cy="2869368"/>
          </a:xfrm>
          <a:custGeom>
            <a:avLst/>
            <a:gdLst/>
            <a:ahLst/>
            <a:cxnLst/>
            <a:rect r="r" b="b" t="t" l="l"/>
            <a:pathLst>
              <a:path h="2869368" w="5098498">
                <a:moveTo>
                  <a:pt x="0" y="0"/>
                </a:moveTo>
                <a:lnTo>
                  <a:pt x="5098498" y="0"/>
                </a:lnTo>
                <a:lnTo>
                  <a:pt x="5098498" y="2869368"/>
                </a:lnTo>
                <a:lnTo>
                  <a:pt x="0" y="28693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272315" y="2233265"/>
            <a:ext cx="15074599" cy="1481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00"/>
              </a:lnSpc>
            </a:pPr>
            <a:r>
              <a:rPr lang="en-US" sz="9200" b="true">
                <a:solidFill>
                  <a:srgbClr val="355952"/>
                </a:solidFill>
                <a:latin typeface="Agrandir Bold"/>
                <a:ea typeface="Agrandir Bold"/>
                <a:cs typeface="Agrandir Bold"/>
                <a:sym typeface="Agrandir Bold"/>
              </a:rPr>
              <a:t>su relación con los precios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92449" y="2233265"/>
            <a:ext cx="805314" cy="1481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00"/>
              </a:lnSpc>
            </a:pPr>
            <a:r>
              <a:rPr lang="en-US" sz="9200" b="true">
                <a:solidFill>
                  <a:srgbClr val="355952"/>
                </a:solidFill>
                <a:latin typeface="Agrandir Bold"/>
                <a:ea typeface="Agrandir Bold"/>
                <a:cs typeface="Agrandir Bold"/>
                <a:sym typeface="Agrandir Bold"/>
              </a:rPr>
              <a:t>y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746603" y="476452"/>
            <a:ext cx="12699545" cy="2600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00"/>
              </a:lnSpc>
            </a:pPr>
            <a:r>
              <a:rPr lang="en-US" sz="9000">
                <a:solidFill>
                  <a:srgbClr val="F8F8F8"/>
                </a:solidFill>
                <a:latin typeface="Agrandir"/>
                <a:ea typeface="Agrandir"/>
                <a:cs typeface="Agrandir"/>
                <a:sym typeface="Agrandir"/>
              </a:rPr>
              <a:t>Factores que desplazan la curva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374746" y="4467537"/>
            <a:ext cx="5172145" cy="1001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40"/>
              </a:lnSpc>
            </a:pPr>
            <a:r>
              <a:rPr lang="en-US" sz="2000">
                <a:solidFill>
                  <a:srgbClr val="F8F8F8"/>
                </a:solidFill>
                <a:latin typeface="Agrandir"/>
                <a:ea typeface="Agrandir"/>
                <a:cs typeface="Agrandir"/>
                <a:sym typeface="Agrandir"/>
              </a:rPr>
              <a:t>Costos de producción</a:t>
            </a:r>
          </a:p>
          <a:p>
            <a:pPr algn="ctr">
              <a:lnSpc>
                <a:spcPts val="2540"/>
              </a:lnSpc>
            </a:pPr>
            <a:r>
              <a:rPr lang="en-US" sz="2000">
                <a:solidFill>
                  <a:srgbClr val="F8F8F8"/>
                </a:solidFill>
                <a:latin typeface="Agrandir"/>
                <a:ea typeface="Agrandir"/>
                <a:cs typeface="Agrandir"/>
                <a:sym typeface="Agrandir"/>
              </a:rPr>
              <a:t>Cambios en los precios de los insumos pueden alterar la cantidad ofrecida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741109" y="4467537"/>
            <a:ext cx="5172145" cy="1001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40"/>
              </a:lnSpc>
            </a:pPr>
            <a:r>
              <a:rPr lang="en-US" sz="2000">
                <a:solidFill>
                  <a:srgbClr val="F8F8F8"/>
                </a:solidFill>
                <a:latin typeface="Agrandir"/>
                <a:ea typeface="Agrandir"/>
                <a:cs typeface="Agrandir"/>
                <a:sym typeface="Agrandir"/>
              </a:rPr>
              <a:t>Tecnología</a:t>
            </a:r>
          </a:p>
          <a:p>
            <a:pPr algn="ctr">
              <a:lnSpc>
                <a:spcPts val="2540"/>
              </a:lnSpc>
            </a:pPr>
            <a:r>
              <a:rPr lang="en-US" sz="2000">
                <a:solidFill>
                  <a:srgbClr val="F8F8F8"/>
                </a:solidFill>
                <a:latin typeface="Agrandir"/>
                <a:ea typeface="Agrandir"/>
                <a:cs typeface="Agrandir"/>
                <a:sym typeface="Agrandir"/>
              </a:rPr>
              <a:t>Avances tecnológicos pueden aumentar la eficiencia y reducir los costos.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374746" y="7820084"/>
            <a:ext cx="5172145" cy="1001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40"/>
              </a:lnSpc>
            </a:pPr>
            <a:r>
              <a:rPr lang="en-US" sz="2000">
                <a:solidFill>
                  <a:srgbClr val="F8F8F8"/>
                </a:solidFill>
                <a:latin typeface="Agrandir"/>
                <a:ea typeface="Agrandir"/>
                <a:cs typeface="Agrandir"/>
                <a:sym typeface="Agrandir"/>
              </a:rPr>
              <a:t>Número de productores</a:t>
            </a:r>
          </a:p>
          <a:p>
            <a:pPr algn="ctr">
              <a:lnSpc>
                <a:spcPts val="2540"/>
              </a:lnSpc>
            </a:pPr>
            <a:r>
              <a:rPr lang="en-US" sz="2000">
                <a:solidFill>
                  <a:srgbClr val="F8F8F8"/>
                </a:solidFill>
                <a:latin typeface="Agrandir"/>
                <a:ea typeface="Agrandir"/>
                <a:cs typeface="Agrandir"/>
                <a:sym typeface="Agrandir"/>
              </a:rPr>
              <a:t>La entrada o salida de empresas en el mercado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741109" y="7820084"/>
            <a:ext cx="5172145" cy="1001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40"/>
              </a:lnSpc>
            </a:pPr>
            <a:r>
              <a:rPr lang="en-US" sz="2000">
                <a:solidFill>
                  <a:srgbClr val="F8F8F8"/>
                </a:solidFill>
                <a:latin typeface="Agrandir"/>
                <a:ea typeface="Agrandir"/>
                <a:cs typeface="Agrandir"/>
                <a:sym typeface="Agrandir"/>
              </a:rPr>
              <a:t>Expectativas futuras</a:t>
            </a:r>
          </a:p>
          <a:p>
            <a:pPr algn="ctr">
              <a:lnSpc>
                <a:spcPts val="2540"/>
              </a:lnSpc>
            </a:pPr>
            <a:r>
              <a:rPr lang="en-US" sz="2000">
                <a:solidFill>
                  <a:srgbClr val="F8F8F8"/>
                </a:solidFill>
                <a:latin typeface="Agrandir"/>
                <a:ea typeface="Agrandir"/>
                <a:cs typeface="Agrandir"/>
                <a:sym typeface="Agrandir"/>
              </a:rPr>
              <a:t>Anticipaciones sobre precios o cambios en el mercado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096375" y="3341084"/>
            <a:ext cx="47625" cy="5404710"/>
            <a:chOff x="0" y="0"/>
            <a:chExt cx="12543" cy="142346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543" cy="1423463"/>
            </a:xfrm>
            <a:custGeom>
              <a:avLst/>
              <a:gdLst/>
              <a:ahLst/>
              <a:cxnLst/>
              <a:rect r="r" b="b" t="t" l="l"/>
              <a:pathLst>
                <a:path h="1423463" w="12543">
                  <a:moveTo>
                    <a:pt x="0" y="0"/>
                  </a:moveTo>
                  <a:lnTo>
                    <a:pt x="12543" y="0"/>
                  </a:lnTo>
                  <a:lnTo>
                    <a:pt x="12543" y="1423463"/>
                  </a:lnTo>
                  <a:lnTo>
                    <a:pt x="0" y="1423463"/>
                  </a:ln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23825"/>
              <a:ext cx="12543" cy="15472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5400000">
            <a:off x="9072563" y="-97790"/>
            <a:ext cx="47625" cy="12330082"/>
            <a:chOff x="0" y="0"/>
            <a:chExt cx="12543" cy="324742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543" cy="3247429"/>
            </a:xfrm>
            <a:custGeom>
              <a:avLst/>
              <a:gdLst/>
              <a:ahLst/>
              <a:cxnLst/>
              <a:rect r="r" b="b" t="t" l="l"/>
              <a:pathLst>
                <a:path h="3247429" w="12543">
                  <a:moveTo>
                    <a:pt x="0" y="0"/>
                  </a:moveTo>
                  <a:lnTo>
                    <a:pt x="12543" y="0"/>
                  </a:lnTo>
                  <a:lnTo>
                    <a:pt x="12543" y="3247429"/>
                  </a:lnTo>
                  <a:lnTo>
                    <a:pt x="0" y="3247429"/>
                  </a:ln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23825"/>
              <a:ext cx="12543" cy="33712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-4873975">
            <a:off x="-612131" y="5712696"/>
            <a:ext cx="3394987" cy="4979314"/>
          </a:xfrm>
          <a:custGeom>
            <a:avLst/>
            <a:gdLst/>
            <a:ahLst/>
            <a:cxnLst/>
            <a:rect r="r" b="b" t="t" l="l"/>
            <a:pathLst>
              <a:path h="4979314" w="3394987">
                <a:moveTo>
                  <a:pt x="0" y="0"/>
                </a:moveTo>
                <a:lnTo>
                  <a:pt x="3394987" y="0"/>
                </a:lnTo>
                <a:lnTo>
                  <a:pt x="3394987" y="4979314"/>
                </a:lnTo>
                <a:lnTo>
                  <a:pt x="0" y="49793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true" flipV="true" rot="-4873975">
            <a:off x="15529662" y="-442455"/>
            <a:ext cx="3587952" cy="5262330"/>
          </a:xfrm>
          <a:custGeom>
            <a:avLst/>
            <a:gdLst/>
            <a:ahLst/>
            <a:cxnLst/>
            <a:rect r="r" b="b" t="t" l="l"/>
            <a:pathLst>
              <a:path h="5262330" w="3587952">
                <a:moveTo>
                  <a:pt x="3587952" y="5262330"/>
                </a:moveTo>
                <a:lnTo>
                  <a:pt x="0" y="5262330"/>
                </a:lnTo>
                <a:lnTo>
                  <a:pt x="0" y="0"/>
                </a:lnTo>
                <a:lnTo>
                  <a:pt x="3587952" y="0"/>
                </a:lnTo>
                <a:lnTo>
                  <a:pt x="3587952" y="526233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5422548" y="3295854"/>
            <a:ext cx="986530" cy="986530"/>
          </a:xfrm>
          <a:custGeom>
            <a:avLst/>
            <a:gdLst/>
            <a:ahLst/>
            <a:cxnLst/>
            <a:rect r="r" b="b" t="t" l="l"/>
            <a:pathLst>
              <a:path h="986530" w="986530">
                <a:moveTo>
                  <a:pt x="0" y="0"/>
                </a:moveTo>
                <a:lnTo>
                  <a:pt x="986530" y="0"/>
                </a:lnTo>
                <a:lnTo>
                  <a:pt x="986530" y="986530"/>
                </a:lnTo>
                <a:lnTo>
                  <a:pt x="0" y="98653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5467553" y="6672806"/>
            <a:ext cx="986530" cy="986530"/>
          </a:xfrm>
          <a:custGeom>
            <a:avLst/>
            <a:gdLst/>
            <a:ahLst/>
            <a:cxnLst/>
            <a:rect r="r" b="b" t="t" l="l"/>
            <a:pathLst>
              <a:path h="986530" w="986530">
                <a:moveTo>
                  <a:pt x="0" y="0"/>
                </a:moveTo>
                <a:lnTo>
                  <a:pt x="986530" y="0"/>
                </a:lnTo>
                <a:lnTo>
                  <a:pt x="986530" y="986530"/>
                </a:lnTo>
                <a:lnTo>
                  <a:pt x="0" y="98653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1662467" y="3295854"/>
            <a:ext cx="986530" cy="986530"/>
          </a:xfrm>
          <a:custGeom>
            <a:avLst/>
            <a:gdLst/>
            <a:ahLst/>
            <a:cxnLst/>
            <a:rect r="r" b="b" t="t" l="l"/>
            <a:pathLst>
              <a:path h="986530" w="986530">
                <a:moveTo>
                  <a:pt x="0" y="0"/>
                </a:moveTo>
                <a:lnTo>
                  <a:pt x="986530" y="0"/>
                </a:lnTo>
                <a:lnTo>
                  <a:pt x="986530" y="986530"/>
                </a:lnTo>
                <a:lnTo>
                  <a:pt x="0" y="98653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1822778" y="6694845"/>
            <a:ext cx="826219" cy="986530"/>
          </a:xfrm>
          <a:custGeom>
            <a:avLst/>
            <a:gdLst/>
            <a:ahLst/>
            <a:cxnLst/>
            <a:rect r="r" b="b" t="t" l="l"/>
            <a:pathLst>
              <a:path h="986530" w="826219">
                <a:moveTo>
                  <a:pt x="0" y="0"/>
                </a:moveTo>
                <a:lnTo>
                  <a:pt x="826219" y="0"/>
                </a:lnTo>
                <a:lnTo>
                  <a:pt x="826219" y="986530"/>
                </a:lnTo>
                <a:lnTo>
                  <a:pt x="0" y="98653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20993" y="4418457"/>
            <a:ext cx="7647709" cy="3760635"/>
            <a:chOff x="0" y="0"/>
            <a:chExt cx="2014211" cy="99045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14211" cy="990455"/>
            </a:xfrm>
            <a:custGeom>
              <a:avLst/>
              <a:gdLst/>
              <a:ahLst/>
              <a:cxnLst/>
              <a:rect r="r" b="b" t="t" l="l"/>
              <a:pathLst>
                <a:path h="990455" w="2014211">
                  <a:moveTo>
                    <a:pt x="15185" y="0"/>
                  </a:moveTo>
                  <a:lnTo>
                    <a:pt x="1999027" y="0"/>
                  </a:lnTo>
                  <a:cubicBezTo>
                    <a:pt x="2003054" y="0"/>
                    <a:pt x="2006916" y="1600"/>
                    <a:pt x="2009764" y="4448"/>
                  </a:cubicBezTo>
                  <a:cubicBezTo>
                    <a:pt x="2012611" y="7295"/>
                    <a:pt x="2014211" y="11158"/>
                    <a:pt x="2014211" y="15185"/>
                  </a:cubicBezTo>
                  <a:lnTo>
                    <a:pt x="2014211" y="975270"/>
                  </a:lnTo>
                  <a:cubicBezTo>
                    <a:pt x="2014211" y="979298"/>
                    <a:pt x="2012611" y="983160"/>
                    <a:pt x="2009764" y="986008"/>
                  </a:cubicBezTo>
                  <a:cubicBezTo>
                    <a:pt x="2006916" y="988855"/>
                    <a:pt x="2003054" y="990455"/>
                    <a:pt x="1999027" y="990455"/>
                  </a:cubicBezTo>
                  <a:lnTo>
                    <a:pt x="15185" y="990455"/>
                  </a:lnTo>
                  <a:cubicBezTo>
                    <a:pt x="11158" y="990455"/>
                    <a:pt x="7295" y="988855"/>
                    <a:pt x="4448" y="986008"/>
                  </a:cubicBezTo>
                  <a:cubicBezTo>
                    <a:pt x="1600" y="983160"/>
                    <a:pt x="0" y="979298"/>
                    <a:pt x="0" y="975270"/>
                  </a:cubicBezTo>
                  <a:lnTo>
                    <a:pt x="0" y="15185"/>
                  </a:lnTo>
                  <a:cubicBezTo>
                    <a:pt x="0" y="11158"/>
                    <a:pt x="1600" y="7295"/>
                    <a:pt x="4448" y="4448"/>
                  </a:cubicBezTo>
                  <a:cubicBezTo>
                    <a:pt x="7295" y="1600"/>
                    <a:pt x="11158" y="0"/>
                    <a:pt x="15185" y="0"/>
                  </a:cubicBezTo>
                  <a:close/>
                </a:path>
              </a:pathLst>
            </a:custGeom>
            <a:solidFill>
              <a:srgbClr val="F7F8F3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014211" cy="10285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253668" y="2082422"/>
            <a:ext cx="7582358" cy="2016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7000">
                <a:solidFill>
                  <a:srgbClr val="F8F8F8"/>
                </a:solidFill>
                <a:latin typeface="Agrandir"/>
                <a:ea typeface="Agrandir"/>
                <a:cs typeface="Agrandir"/>
                <a:sym typeface="Agrandir"/>
              </a:rPr>
              <a:t>Movimiento a lo largo de la curva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03907" y="5731084"/>
            <a:ext cx="6881880" cy="1030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10"/>
              </a:lnSpc>
            </a:pPr>
            <a:r>
              <a:rPr lang="en-US" sz="3000">
                <a:solidFill>
                  <a:srgbClr val="355952"/>
                </a:solidFill>
                <a:latin typeface="Agrandir"/>
                <a:ea typeface="Agrandir"/>
                <a:cs typeface="Agrandir"/>
                <a:sym typeface="Agrandir"/>
              </a:rPr>
              <a:t>Un cambio en el precio genera un movimiento a lo largo de la curva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390998" y="2082422"/>
            <a:ext cx="7732385" cy="2016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7000">
                <a:solidFill>
                  <a:srgbClr val="F8F8F8"/>
                </a:solidFill>
                <a:latin typeface="Agrandir"/>
                <a:ea typeface="Agrandir"/>
                <a:cs typeface="Agrandir"/>
                <a:sym typeface="Agrandir"/>
              </a:rPr>
              <a:t>Desplazamiento de la curva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-1848245">
            <a:off x="12947886" y="4912279"/>
            <a:ext cx="8266318" cy="4652176"/>
          </a:xfrm>
          <a:custGeom>
            <a:avLst/>
            <a:gdLst/>
            <a:ahLst/>
            <a:cxnLst/>
            <a:rect r="r" b="b" t="t" l="l"/>
            <a:pathLst>
              <a:path h="4652176" w="8266318">
                <a:moveTo>
                  <a:pt x="0" y="0"/>
                </a:moveTo>
                <a:lnTo>
                  <a:pt x="8266318" y="0"/>
                </a:lnTo>
                <a:lnTo>
                  <a:pt x="8266318" y="4652176"/>
                </a:lnTo>
                <a:lnTo>
                  <a:pt x="0" y="46521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9433336" y="4418457"/>
            <a:ext cx="7647709" cy="3760635"/>
            <a:chOff x="0" y="0"/>
            <a:chExt cx="2014211" cy="99045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14211" cy="990455"/>
            </a:xfrm>
            <a:custGeom>
              <a:avLst/>
              <a:gdLst/>
              <a:ahLst/>
              <a:cxnLst/>
              <a:rect r="r" b="b" t="t" l="l"/>
              <a:pathLst>
                <a:path h="990455" w="2014211">
                  <a:moveTo>
                    <a:pt x="15185" y="0"/>
                  </a:moveTo>
                  <a:lnTo>
                    <a:pt x="1999027" y="0"/>
                  </a:lnTo>
                  <a:cubicBezTo>
                    <a:pt x="2003054" y="0"/>
                    <a:pt x="2006916" y="1600"/>
                    <a:pt x="2009764" y="4448"/>
                  </a:cubicBezTo>
                  <a:cubicBezTo>
                    <a:pt x="2012611" y="7295"/>
                    <a:pt x="2014211" y="11158"/>
                    <a:pt x="2014211" y="15185"/>
                  </a:cubicBezTo>
                  <a:lnTo>
                    <a:pt x="2014211" y="975270"/>
                  </a:lnTo>
                  <a:cubicBezTo>
                    <a:pt x="2014211" y="979298"/>
                    <a:pt x="2012611" y="983160"/>
                    <a:pt x="2009764" y="986008"/>
                  </a:cubicBezTo>
                  <a:cubicBezTo>
                    <a:pt x="2006916" y="988855"/>
                    <a:pt x="2003054" y="990455"/>
                    <a:pt x="1999027" y="990455"/>
                  </a:cubicBezTo>
                  <a:lnTo>
                    <a:pt x="15185" y="990455"/>
                  </a:lnTo>
                  <a:cubicBezTo>
                    <a:pt x="11158" y="990455"/>
                    <a:pt x="7295" y="988855"/>
                    <a:pt x="4448" y="986008"/>
                  </a:cubicBezTo>
                  <a:cubicBezTo>
                    <a:pt x="1600" y="983160"/>
                    <a:pt x="0" y="979298"/>
                    <a:pt x="0" y="975270"/>
                  </a:cubicBezTo>
                  <a:lnTo>
                    <a:pt x="0" y="15185"/>
                  </a:lnTo>
                  <a:cubicBezTo>
                    <a:pt x="0" y="11158"/>
                    <a:pt x="1600" y="7295"/>
                    <a:pt x="4448" y="4448"/>
                  </a:cubicBezTo>
                  <a:cubicBezTo>
                    <a:pt x="7295" y="1600"/>
                    <a:pt x="11158" y="0"/>
                    <a:pt x="15185" y="0"/>
                  </a:cubicBezTo>
                  <a:close/>
                </a:path>
              </a:pathLst>
            </a:custGeom>
            <a:solidFill>
              <a:srgbClr val="F7F8F3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014211" cy="10285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9888116" y="5492959"/>
            <a:ext cx="6881880" cy="1506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10"/>
              </a:lnSpc>
            </a:pPr>
            <a:r>
              <a:rPr lang="en-US" sz="3000">
                <a:solidFill>
                  <a:srgbClr val="355952"/>
                </a:solidFill>
                <a:latin typeface="Agrandir"/>
                <a:ea typeface="Agrandir"/>
                <a:cs typeface="Agrandir"/>
                <a:sym typeface="Agrandir"/>
              </a:rPr>
              <a:t>Un cambio en otros factores desplaza la curva hacia la derecha o la izquierda</a:t>
            </a:r>
          </a:p>
        </p:txBody>
      </p:sp>
      <p:sp>
        <p:nvSpPr>
          <p:cNvPr name="Freeform 14" id="14"/>
          <p:cNvSpPr/>
          <p:nvPr/>
        </p:nvSpPr>
        <p:spPr>
          <a:xfrm flipH="false" flipV="true" rot="-1848245">
            <a:off x="-2912166" y="-1577948"/>
            <a:ext cx="8266318" cy="4652176"/>
          </a:xfrm>
          <a:custGeom>
            <a:avLst/>
            <a:gdLst/>
            <a:ahLst/>
            <a:cxnLst/>
            <a:rect r="r" b="b" t="t" l="l"/>
            <a:pathLst>
              <a:path h="4652176" w="8266318">
                <a:moveTo>
                  <a:pt x="0" y="4652176"/>
                </a:moveTo>
                <a:lnTo>
                  <a:pt x="8266318" y="4652176"/>
                </a:lnTo>
                <a:lnTo>
                  <a:pt x="8266318" y="0"/>
                </a:lnTo>
                <a:lnTo>
                  <a:pt x="0" y="0"/>
                </a:lnTo>
                <a:lnTo>
                  <a:pt x="0" y="4652176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16299" y="1198439"/>
            <a:ext cx="9233830" cy="1481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00"/>
              </a:lnSpc>
            </a:pPr>
            <a:r>
              <a:rPr lang="en-US" sz="9200" b="true">
                <a:solidFill>
                  <a:srgbClr val="355952"/>
                </a:solidFill>
                <a:latin typeface="Agrandir Bold"/>
                <a:ea typeface="Agrandir Bold"/>
                <a:cs typeface="Agrandir Bold"/>
                <a:sym typeface="Agrandir Bold"/>
              </a:rPr>
              <a:t>Elasticidad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16299" y="3906468"/>
            <a:ext cx="10792847" cy="5357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9"/>
              </a:lnSpc>
            </a:pPr>
            <a:r>
              <a:rPr lang="en-US" sz="2700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 La elasticidad precio de la oferta mide la sensibilidad de la cantidad ofrecida ante un cambio en el precio del bien.</a:t>
            </a:r>
          </a:p>
          <a:p>
            <a:pPr algn="l">
              <a:lnSpc>
                <a:spcPts val="3429"/>
              </a:lnSpc>
            </a:pPr>
          </a:p>
          <a:p>
            <a:pPr algn="l">
              <a:lnSpc>
                <a:spcPts val="3429"/>
              </a:lnSpc>
            </a:pPr>
            <a:r>
              <a:rPr lang="en-US" sz="2700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Cálculo: </a:t>
            </a:r>
          </a:p>
          <a:p>
            <a:pPr algn="l">
              <a:lnSpc>
                <a:spcPts val="3429"/>
              </a:lnSpc>
            </a:pPr>
            <a:r>
              <a:rPr lang="en-US" sz="2700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EO = % cambio en cantidad ofrecida / % cambio en precio</a:t>
            </a:r>
          </a:p>
          <a:p>
            <a:pPr algn="l">
              <a:lnSpc>
                <a:spcPts val="3429"/>
              </a:lnSpc>
            </a:pPr>
          </a:p>
          <a:p>
            <a:pPr algn="l" marL="582933" indent="-291467" lvl="1">
              <a:lnSpc>
                <a:spcPts val="3429"/>
              </a:lnSpc>
              <a:buFont typeface="Arial"/>
              <a:buChar char="•"/>
            </a:pPr>
            <a:r>
              <a:rPr lang="en-US" sz="2700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Elasticidad elástica (EO &gt; 1): La cantidad ofrecida responde fuertemente al cambio de precio.</a:t>
            </a:r>
          </a:p>
          <a:p>
            <a:pPr algn="l" marL="582933" indent="-291467" lvl="1">
              <a:lnSpc>
                <a:spcPts val="3429"/>
              </a:lnSpc>
              <a:buFont typeface="Arial"/>
              <a:buChar char="•"/>
            </a:pPr>
            <a:r>
              <a:rPr lang="en-US" sz="2700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Elasticidad inelástica (EO &lt; 1): La cantidad ofrecida responde débilmente al cambio de precio.</a:t>
            </a:r>
          </a:p>
          <a:p>
            <a:pPr algn="l" marL="582933" indent="-291467" lvl="1">
              <a:lnSpc>
                <a:spcPts val="3429"/>
              </a:lnSpc>
              <a:buFont typeface="Arial"/>
              <a:buChar char="•"/>
            </a:pPr>
            <a:r>
              <a:rPr lang="en-US" sz="2700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Elasticidad unitaria (EO = 1): El cambio en la cantidad ofrecida es proporcional al cambio en el precio.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539955" y="2381331"/>
            <a:ext cx="6772928" cy="1481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00"/>
              </a:lnSpc>
            </a:pPr>
            <a:r>
              <a:rPr lang="en-US" sz="9200" b="true">
                <a:solidFill>
                  <a:srgbClr val="355952"/>
                </a:solidFill>
                <a:latin typeface="Agrandir Bold"/>
                <a:ea typeface="Agrandir Bold"/>
                <a:cs typeface="Agrandir Bold"/>
                <a:sym typeface="Agrandir Bold"/>
              </a:rPr>
              <a:t>oferta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16299" y="2309465"/>
            <a:ext cx="3823656" cy="1481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00"/>
              </a:lnSpc>
            </a:pPr>
            <a:r>
              <a:rPr lang="en-US" sz="9200" b="true">
                <a:solidFill>
                  <a:srgbClr val="355952"/>
                </a:solidFill>
                <a:latin typeface="Agrandir Bold"/>
                <a:ea typeface="Agrandir Bold"/>
                <a:cs typeface="Agrandir Bold"/>
                <a:sym typeface="Agrandir Bold"/>
              </a:rPr>
              <a:t>precio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3387481" y="3709632"/>
            <a:ext cx="2864289" cy="2864289"/>
          </a:xfrm>
          <a:custGeom>
            <a:avLst/>
            <a:gdLst/>
            <a:ahLst/>
            <a:cxnLst/>
            <a:rect r="r" b="b" t="t" l="l"/>
            <a:pathLst>
              <a:path h="2864289" w="2864289">
                <a:moveTo>
                  <a:pt x="0" y="0"/>
                </a:moveTo>
                <a:lnTo>
                  <a:pt x="2864289" y="0"/>
                </a:lnTo>
                <a:lnTo>
                  <a:pt x="2864289" y="2864289"/>
                </a:lnTo>
                <a:lnTo>
                  <a:pt x="0" y="286428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387481" y="658290"/>
            <a:ext cx="2864289" cy="2864289"/>
          </a:xfrm>
          <a:custGeom>
            <a:avLst/>
            <a:gdLst/>
            <a:ahLst/>
            <a:cxnLst/>
            <a:rect r="r" b="b" t="t" l="l"/>
            <a:pathLst>
              <a:path h="2864289" w="2864289">
                <a:moveTo>
                  <a:pt x="0" y="0"/>
                </a:moveTo>
                <a:lnTo>
                  <a:pt x="2864289" y="0"/>
                </a:lnTo>
                <a:lnTo>
                  <a:pt x="2864289" y="2864289"/>
                </a:lnTo>
                <a:lnTo>
                  <a:pt x="0" y="286428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387481" y="6764421"/>
            <a:ext cx="2864289" cy="2864289"/>
          </a:xfrm>
          <a:custGeom>
            <a:avLst/>
            <a:gdLst/>
            <a:ahLst/>
            <a:cxnLst/>
            <a:rect r="r" b="b" t="t" l="l"/>
            <a:pathLst>
              <a:path h="2864289" w="2864289">
                <a:moveTo>
                  <a:pt x="0" y="0"/>
                </a:moveTo>
                <a:lnTo>
                  <a:pt x="2864289" y="0"/>
                </a:lnTo>
                <a:lnTo>
                  <a:pt x="2864289" y="2864289"/>
                </a:lnTo>
                <a:lnTo>
                  <a:pt x="0" y="286428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154408" y="5488981"/>
            <a:ext cx="1844355" cy="1726777"/>
          </a:xfrm>
          <a:custGeom>
            <a:avLst/>
            <a:gdLst/>
            <a:ahLst/>
            <a:cxnLst/>
            <a:rect r="r" b="b" t="t" l="l"/>
            <a:pathLst>
              <a:path h="1726777" w="1844355">
                <a:moveTo>
                  <a:pt x="0" y="0"/>
                </a:moveTo>
                <a:lnTo>
                  <a:pt x="1844355" y="0"/>
                </a:lnTo>
                <a:lnTo>
                  <a:pt x="1844355" y="1726777"/>
                </a:lnTo>
                <a:lnTo>
                  <a:pt x="0" y="17267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693224" y="5488981"/>
            <a:ext cx="2029332" cy="1726777"/>
          </a:xfrm>
          <a:custGeom>
            <a:avLst/>
            <a:gdLst/>
            <a:ahLst/>
            <a:cxnLst/>
            <a:rect r="r" b="b" t="t" l="l"/>
            <a:pathLst>
              <a:path h="1726777" w="2029332">
                <a:moveTo>
                  <a:pt x="0" y="0"/>
                </a:moveTo>
                <a:lnTo>
                  <a:pt x="2029332" y="0"/>
                </a:lnTo>
                <a:lnTo>
                  <a:pt x="2029332" y="1726777"/>
                </a:lnTo>
                <a:lnTo>
                  <a:pt x="0" y="172677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685428" y="5488981"/>
            <a:ext cx="1726777" cy="1726777"/>
          </a:xfrm>
          <a:custGeom>
            <a:avLst/>
            <a:gdLst/>
            <a:ahLst/>
            <a:cxnLst/>
            <a:rect r="r" b="b" t="t" l="l"/>
            <a:pathLst>
              <a:path h="1726777" w="1726777">
                <a:moveTo>
                  <a:pt x="0" y="0"/>
                </a:moveTo>
                <a:lnTo>
                  <a:pt x="1726777" y="0"/>
                </a:lnTo>
                <a:lnTo>
                  <a:pt x="1726777" y="1726777"/>
                </a:lnTo>
                <a:lnTo>
                  <a:pt x="0" y="172677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810627" y="5488981"/>
            <a:ext cx="1446176" cy="1726777"/>
          </a:xfrm>
          <a:custGeom>
            <a:avLst/>
            <a:gdLst/>
            <a:ahLst/>
            <a:cxnLst/>
            <a:rect r="r" b="b" t="t" l="l"/>
            <a:pathLst>
              <a:path h="1726777" w="1446176">
                <a:moveTo>
                  <a:pt x="0" y="0"/>
                </a:moveTo>
                <a:lnTo>
                  <a:pt x="1446176" y="0"/>
                </a:lnTo>
                <a:lnTo>
                  <a:pt x="1446176" y="1726777"/>
                </a:lnTo>
                <a:lnTo>
                  <a:pt x="0" y="172677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427388" y="5488981"/>
            <a:ext cx="1726777" cy="1726777"/>
          </a:xfrm>
          <a:custGeom>
            <a:avLst/>
            <a:gdLst/>
            <a:ahLst/>
            <a:cxnLst/>
            <a:rect r="r" b="b" t="t" l="l"/>
            <a:pathLst>
              <a:path h="1726777" w="1726777">
                <a:moveTo>
                  <a:pt x="0" y="0"/>
                </a:moveTo>
                <a:lnTo>
                  <a:pt x="1726777" y="0"/>
                </a:lnTo>
                <a:lnTo>
                  <a:pt x="1726777" y="1726777"/>
                </a:lnTo>
                <a:lnTo>
                  <a:pt x="0" y="172677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593185" y="1280490"/>
            <a:ext cx="7101629" cy="1197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00"/>
              </a:lnSpc>
            </a:pPr>
            <a:r>
              <a:rPr lang="en-US" sz="7400">
                <a:solidFill>
                  <a:srgbClr val="F8F8F8"/>
                </a:solidFill>
                <a:latin typeface="Agrandir"/>
                <a:ea typeface="Agrandir"/>
                <a:cs typeface="Agrandir"/>
                <a:sym typeface="Agrandir"/>
              </a:rPr>
              <a:t>Muchas gracias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4132575" y="3223301"/>
            <a:ext cx="2352988" cy="1324231"/>
          </a:xfrm>
          <a:custGeom>
            <a:avLst/>
            <a:gdLst/>
            <a:ahLst/>
            <a:cxnLst/>
            <a:rect r="r" b="b" t="t" l="l"/>
            <a:pathLst>
              <a:path h="1324231" w="2352988">
                <a:moveTo>
                  <a:pt x="0" y="0"/>
                </a:moveTo>
                <a:lnTo>
                  <a:pt x="2352988" y="0"/>
                </a:lnTo>
                <a:lnTo>
                  <a:pt x="2352988" y="1324231"/>
                </a:lnTo>
                <a:lnTo>
                  <a:pt x="0" y="1324231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867999" y="5488981"/>
            <a:ext cx="1726777" cy="1726777"/>
          </a:xfrm>
          <a:custGeom>
            <a:avLst/>
            <a:gdLst/>
            <a:ahLst/>
            <a:cxnLst/>
            <a:rect r="r" b="b" t="t" l="l"/>
            <a:pathLst>
              <a:path h="1726777" w="1726777">
                <a:moveTo>
                  <a:pt x="0" y="0"/>
                </a:moveTo>
                <a:lnTo>
                  <a:pt x="1726777" y="0"/>
                </a:lnTo>
                <a:lnTo>
                  <a:pt x="1726777" y="1726777"/>
                </a:lnTo>
                <a:lnTo>
                  <a:pt x="0" y="1726777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true" rot="0">
            <a:off x="6883443" y="3248653"/>
            <a:ext cx="2630642" cy="1298879"/>
          </a:xfrm>
          <a:custGeom>
            <a:avLst/>
            <a:gdLst/>
            <a:ahLst/>
            <a:cxnLst/>
            <a:rect r="r" b="b" t="t" l="l"/>
            <a:pathLst>
              <a:path h="1298879" w="2630642">
                <a:moveTo>
                  <a:pt x="2630642" y="1298879"/>
                </a:moveTo>
                <a:lnTo>
                  <a:pt x="0" y="1298879"/>
                </a:lnTo>
                <a:lnTo>
                  <a:pt x="0" y="0"/>
                </a:lnTo>
                <a:lnTo>
                  <a:pt x="2630642" y="0"/>
                </a:lnTo>
                <a:lnTo>
                  <a:pt x="2630642" y="1298879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329698" y="3248653"/>
            <a:ext cx="1291941" cy="1894847"/>
          </a:xfrm>
          <a:custGeom>
            <a:avLst/>
            <a:gdLst/>
            <a:ahLst/>
            <a:cxnLst/>
            <a:rect r="r" b="b" t="t" l="l"/>
            <a:pathLst>
              <a:path h="1894847" w="1291941">
                <a:moveTo>
                  <a:pt x="0" y="0"/>
                </a:moveTo>
                <a:lnTo>
                  <a:pt x="1291941" y="0"/>
                </a:lnTo>
                <a:lnTo>
                  <a:pt x="1291941" y="1894847"/>
                </a:lnTo>
                <a:lnTo>
                  <a:pt x="0" y="1894847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true" rot="0">
            <a:off x="12440789" y="3211537"/>
            <a:ext cx="1714636" cy="1541029"/>
          </a:xfrm>
          <a:custGeom>
            <a:avLst/>
            <a:gdLst/>
            <a:ahLst/>
            <a:cxnLst/>
            <a:rect r="r" b="b" t="t" l="l"/>
            <a:pathLst>
              <a:path h="1541029" w="1714636">
                <a:moveTo>
                  <a:pt x="1714636" y="1541029"/>
                </a:moveTo>
                <a:lnTo>
                  <a:pt x="0" y="1541029"/>
                </a:lnTo>
                <a:lnTo>
                  <a:pt x="0" y="0"/>
                </a:lnTo>
                <a:lnTo>
                  <a:pt x="1714636" y="0"/>
                </a:lnTo>
                <a:lnTo>
                  <a:pt x="1714636" y="1541029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DAGViXLkkyA</dc:identifier>
  <dcterms:modified xsi:type="dcterms:W3CDTF">2011-08-01T06:04:30Z</dcterms:modified>
  <cp:revision>1</cp:revision>
  <dc:title>La</dc:title>
</cp:coreProperties>
</file>