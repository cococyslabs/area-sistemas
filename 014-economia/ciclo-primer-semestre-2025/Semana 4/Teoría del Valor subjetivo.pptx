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2qGYgFMnkV00WY/koSq/loPx0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640554" y="1297534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2956881" cy="3777209"/>
            </a:xfrm>
            <a:custGeom>
              <a:rect b="b" l="l" r="r" t="t"/>
              <a:pathLst>
                <a:path extrusionOk="0"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2837530" cy="3777209"/>
            </a:xfrm>
            <a:custGeom>
              <a:rect b="b" l="l" r="r" t="t"/>
              <a:pathLst>
                <a:path extrusionOk="0"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1028700" y="3445795"/>
            <a:ext cx="15204818" cy="3395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Teoría del Valor Subjetivo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2054482" y="2262850"/>
            <a:ext cx="6964686" cy="6645580"/>
            <a:chOff x="0" y="0"/>
            <a:chExt cx="1834320" cy="1750276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834320" cy="1750276"/>
            </a:xfrm>
            <a:custGeom>
              <a:rect b="b" l="l" r="r" t="t"/>
              <a:pathLst>
                <a:path extrusionOk="0" h="1750276" w="1834320">
                  <a:moveTo>
                    <a:pt x="56691" y="0"/>
                  </a:moveTo>
                  <a:lnTo>
                    <a:pt x="1777629" y="0"/>
                  </a:lnTo>
                  <a:cubicBezTo>
                    <a:pt x="1808939" y="0"/>
                    <a:pt x="1834320" y="25382"/>
                    <a:pt x="1834320" y="56691"/>
                  </a:cubicBezTo>
                  <a:lnTo>
                    <a:pt x="1834320" y="1693585"/>
                  </a:lnTo>
                  <a:cubicBezTo>
                    <a:pt x="1834320" y="1708620"/>
                    <a:pt x="1828348" y="1723040"/>
                    <a:pt x="1817716" y="1733672"/>
                  </a:cubicBezTo>
                  <a:cubicBezTo>
                    <a:pt x="1807084" y="1744303"/>
                    <a:pt x="1792664" y="1750276"/>
                    <a:pt x="1777629" y="1750276"/>
                  </a:cubicBezTo>
                  <a:lnTo>
                    <a:pt x="56691" y="1750276"/>
                  </a:lnTo>
                  <a:cubicBezTo>
                    <a:pt x="41656" y="1750276"/>
                    <a:pt x="27236" y="1744303"/>
                    <a:pt x="16605" y="1733672"/>
                  </a:cubicBezTo>
                  <a:cubicBezTo>
                    <a:pt x="5973" y="1723040"/>
                    <a:pt x="0" y="1708620"/>
                    <a:pt x="0" y="1693585"/>
                  </a:cubicBezTo>
                  <a:lnTo>
                    <a:pt x="0" y="56691"/>
                  </a:lnTo>
                  <a:cubicBezTo>
                    <a:pt x="0" y="41656"/>
                    <a:pt x="5973" y="27236"/>
                    <a:pt x="16605" y="16605"/>
                  </a:cubicBezTo>
                  <a:cubicBezTo>
                    <a:pt x="27236" y="5973"/>
                    <a:pt x="41656" y="0"/>
                    <a:pt x="5669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19050"/>
              <a:ext cx="1834320" cy="1731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960437" y="723970"/>
            <a:ext cx="63324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9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 y Desarrollo Histórico de la Teoría del Valor Subjetivo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811474" y="6480865"/>
            <a:ext cx="5085733" cy="1274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teoría del valor subjetivo plantea que el valor de un bien o servicio depende de la percepción y valoración individual de las personas, en lugar de una característica inherente del bien.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4583605" cy="4788220"/>
            </a:xfrm>
            <a:custGeom>
              <a:rect b="b" l="l" r="r" t="t"/>
              <a:pathLst>
                <a:path extrusionOk="0"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2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9473637" y="2262850"/>
            <a:ext cx="6964686" cy="6645580"/>
            <a:chOff x="0" y="0"/>
            <a:chExt cx="1834320" cy="1750276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834320" cy="1750276"/>
            </a:xfrm>
            <a:custGeom>
              <a:rect b="b" l="l" r="r" t="t"/>
              <a:pathLst>
                <a:path extrusionOk="0" h="1750276" w="1834320">
                  <a:moveTo>
                    <a:pt x="56691" y="0"/>
                  </a:moveTo>
                  <a:lnTo>
                    <a:pt x="1777629" y="0"/>
                  </a:lnTo>
                  <a:cubicBezTo>
                    <a:pt x="1808939" y="0"/>
                    <a:pt x="1834320" y="25382"/>
                    <a:pt x="1834320" y="56691"/>
                  </a:cubicBezTo>
                  <a:lnTo>
                    <a:pt x="1834320" y="1693585"/>
                  </a:lnTo>
                  <a:cubicBezTo>
                    <a:pt x="1834320" y="1708620"/>
                    <a:pt x="1828348" y="1723040"/>
                    <a:pt x="1817716" y="1733672"/>
                  </a:cubicBezTo>
                  <a:cubicBezTo>
                    <a:pt x="1807084" y="1744303"/>
                    <a:pt x="1792664" y="1750276"/>
                    <a:pt x="1777629" y="1750276"/>
                  </a:cubicBezTo>
                  <a:lnTo>
                    <a:pt x="56691" y="1750276"/>
                  </a:lnTo>
                  <a:cubicBezTo>
                    <a:pt x="41656" y="1750276"/>
                    <a:pt x="27236" y="1744303"/>
                    <a:pt x="16605" y="1733672"/>
                  </a:cubicBezTo>
                  <a:cubicBezTo>
                    <a:pt x="5973" y="1723040"/>
                    <a:pt x="0" y="1708620"/>
                    <a:pt x="0" y="1693585"/>
                  </a:cubicBezTo>
                  <a:lnTo>
                    <a:pt x="0" y="56691"/>
                  </a:lnTo>
                  <a:cubicBezTo>
                    <a:pt x="0" y="41656"/>
                    <a:pt x="5973" y="27236"/>
                    <a:pt x="16605" y="16605"/>
                  </a:cubicBezTo>
                  <a:cubicBezTo>
                    <a:pt x="27236" y="5973"/>
                    <a:pt x="41656" y="0"/>
                    <a:pt x="5669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19050"/>
              <a:ext cx="1834320" cy="1731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10413113" y="4256886"/>
            <a:ext cx="5085733" cy="2531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histórico: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Surgió en el siglo XIX como una alternativa a las teorías de valor objetivas, impulsada por economistas de la escuela austríaca como Carl Menger, Friedrich von Wieser y Eugen von Böhm-Bawerk.</a:t>
            </a:r>
            <a:endParaRPr/>
          </a:p>
          <a:p>
            <a:pPr indent="0" lvl="0" marL="0" marR="0" rtl="0" algn="l">
              <a:lnSpc>
                <a:spcPct val="159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 en la economía: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Marcó un cambio en la comprensión de la fijación de precios y el comportamiento del consumidor.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-5112338" y="-7228893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3"/>
          <p:cNvSpPr txBox="1"/>
          <p:nvPr/>
        </p:nvSpPr>
        <p:spPr>
          <a:xfrm>
            <a:off x="1128810" y="990600"/>
            <a:ext cx="16030380" cy="277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6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Diferencia entre valor objetivo y valor subjetivo</a:t>
            </a:r>
            <a:endParaRPr/>
          </a:p>
        </p:txBody>
      </p:sp>
      <p:grpSp>
        <p:nvGrpSpPr>
          <p:cNvPr id="114" name="Google Shape;114;p3"/>
          <p:cNvGrpSpPr/>
          <p:nvPr/>
        </p:nvGrpSpPr>
        <p:grpSpPr>
          <a:xfrm rot="-851681">
            <a:off x="325310" y="5580151"/>
            <a:ext cx="21825170" cy="18180272"/>
            <a:chOff x="0" y="0"/>
            <a:chExt cx="5748193" cy="4788220"/>
          </a:xfrm>
        </p:grpSpPr>
        <p:sp>
          <p:nvSpPr>
            <p:cNvPr id="115" name="Google Shape;115;p3"/>
            <p:cNvSpPr/>
            <p:nvPr/>
          </p:nvSpPr>
          <p:spPr>
            <a:xfrm>
              <a:off x="0" y="0"/>
              <a:ext cx="5748193" cy="4788220"/>
            </a:xfrm>
            <a:custGeom>
              <a:rect b="b" l="l" r="r" t="t"/>
              <a:pathLst>
                <a:path extrusionOk="0"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6" name="Google Shape;116;p3"/>
            <p:cNvSpPr txBox="1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"/>
          <p:cNvSpPr txBox="1"/>
          <p:nvPr/>
        </p:nvSpPr>
        <p:spPr>
          <a:xfrm>
            <a:off x="3549726" y="4330309"/>
            <a:ext cx="11188548" cy="418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0160" lvl="1" marL="340321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6"/>
              <a:buFont typeface="Arial"/>
              <a:buChar char="•"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Objetivo: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Se basa en características intrínsecas del bien, como los costos de producción o la cantidad de trabajo requerido.</a:t>
            </a:r>
            <a:endParaRPr/>
          </a:p>
          <a:p>
            <a:pPr indent="0" lvl="0" marL="0" marR="0" rtl="0" algn="ctr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teoría del valor trabajo de Karl Marx, que argumenta que el valor de un bien depende de la cantidad de trabajo necesario para producirlo.</a:t>
            </a:r>
            <a:endParaRPr/>
          </a:p>
          <a:p>
            <a:pPr indent="0" lvl="0" marL="0" marR="0" rtl="0" algn="ctr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160" lvl="1" marL="340321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6"/>
              <a:buFont typeface="Arial"/>
              <a:buChar char="•"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Subjetivo: 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Depende de la percepción individual de cada consumidor y del grado de utilidad que le asigna al bien.</a:t>
            </a:r>
            <a:endParaRPr/>
          </a:p>
          <a:p>
            <a:pPr indent="0" lvl="0" marL="0" marR="0" rtl="0" algn="ctr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Dos personas pueden valorar de manera diferente un mismo bien, como una botella de agua, dependiendo de su necesidad en un momento dado.</a:t>
            </a:r>
            <a:endParaRPr/>
          </a:p>
          <a:p>
            <a:pPr indent="0" lvl="0" marL="0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Diferencia clave: El valor objetivo está basado en propiedades del bien, mientras que el valor subjetivo depende de la apreciación personal.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4"/>
          <p:cNvGrpSpPr/>
          <p:nvPr/>
        </p:nvGrpSpPr>
        <p:grpSpPr>
          <a:xfrm rot="8586792">
            <a:off x="-6808948" y="-8585300"/>
            <a:ext cx="21825170" cy="18180272"/>
            <a:chOff x="0" y="0"/>
            <a:chExt cx="5748193" cy="4788220"/>
          </a:xfrm>
        </p:grpSpPr>
        <p:sp>
          <p:nvSpPr>
            <p:cNvPr id="123" name="Google Shape;123;p4"/>
            <p:cNvSpPr/>
            <p:nvPr/>
          </p:nvSpPr>
          <p:spPr>
            <a:xfrm>
              <a:off x="0" y="0"/>
              <a:ext cx="5748193" cy="4788220"/>
            </a:xfrm>
            <a:custGeom>
              <a:rect b="b" l="l" r="r" t="t"/>
              <a:pathLst>
                <a:path extrusionOk="0"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4" name="Google Shape;124;p4"/>
            <p:cNvSpPr txBox="1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4"/>
          <p:cNvSpPr txBox="1"/>
          <p:nvPr/>
        </p:nvSpPr>
        <p:spPr>
          <a:xfrm>
            <a:off x="1176112" y="1808576"/>
            <a:ext cx="15238774" cy="3003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Utilidad Marginal y su Papel en la Valoración de los Bienes</a:t>
            </a:r>
            <a:endParaRPr/>
          </a:p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16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4"/>
          <p:cNvGrpSpPr/>
          <p:nvPr/>
        </p:nvGrpSpPr>
        <p:grpSpPr>
          <a:xfrm>
            <a:off x="2493994" y="4775505"/>
            <a:ext cx="7089518" cy="2066558"/>
            <a:chOff x="0" y="0"/>
            <a:chExt cx="1867198" cy="544279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1867198" cy="544279"/>
            </a:xfrm>
            <a:custGeom>
              <a:rect b="b" l="l" r="r" t="t"/>
              <a:pathLst>
                <a:path extrusionOk="0" h="544279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502782"/>
                  </a:lnTo>
                  <a:cubicBezTo>
                    <a:pt x="1867198" y="513787"/>
                    <a:pt x="1862826" y="524342"/>
                    <a:pt x="1855044" y="532124"/>
                  </a:cubicBezTo>
                  <a:cubicBezTo>
                    <a:pt x="1847262" y="539907"/>
                    <a:pt x="1836707" y="544279"/>
                    <a:pt x="1825701" y="544279"/>
                  </a:cubicBezTo>
                  <a:lnTo>
                    <a:pt x="41497" y="544279"/>
                  </a:lnTo>
                  <a:cubicBezTo>
                    <a:pt x="18579" y="544279"/>
                    <a:pt x="0" y="525700"/>
                    <a:pt x="0" y="502782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19050"/>
              <a:ext cx="1867198" cy="525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4"/>
          <p:cNvSpPr txBox="1"/>
          <p:nvPr/>
        </p:nvSpPr>
        <p:spPr>
          <a:xfrm>
            <a:off x="2931141" y="5160440"/>
            <a:ext cx="2854366" cy="39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Utilidad Marginal: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3137273" y="5840779"/>
            <a:ext cx="5708731" cy="5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satisfacción adicional que obtiene un consumidor al consumir una unidad extra de un bien o servicio.</a:t>
            </a:r>
            <a:endParaRPr/>
          </a:p>
        </p:txBody>
      </p:sp>
      <p:grpSp>
        <p:nvGrpSpPr>
          <p:cNvPr id="131" name="Google Shape;131;p4"/>
          <p:cNvGrpSpPr/>
          <p:nvPr/>
        </p:nvGrpSpPr>
        <p:grpSpPr>
          <a:xfrm>
            <a:off x="10022370" y="4775505"/>
            <a:ext cx="7089518" cy="2066558"/>
            <a:chOff x="0" y="0"/>
            <a:chExt cx="1867198" cy="544279"/>
          </a:xfrm>
        </p:grpSpPr>
        <p:sp>
          <p:nvSpPr>
            <p:cNvPr id="132" name="Google Shape;132;p4"/>
            <p:cNvSpPr/>
            <p:nvPr/>
          </p:nvSpPr>
          <p:spPr>
            <a:xfrm>
              <a:off x="0" y="0"/>
              <a:ext cx="1867198" cy="544279"/>
            </a:xfrm>
            <a:custGeom>
              <a:rect b="b" l="l" r="r" t="t"/>
              <a:pathLst>
                <a:path extrusionOk="0" h="544279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502782"/>
                  </a:lnTo>
                  <a:cubicBezTo>
                    <a:pt x="1867198" y="513787"/>
                    <a:pt x="1862826" y="524342"/>
                    <a:pt x="1855044" y="532124"/>
                  </a:cubicBezTo>
                  <a:cubicBezTo>
                    <a:pt x="1847262" y="539907"/>
                    <a:pt x="1836707" y="544279"/>
                    <a:pt x="1825701" y="544279"/>
                  </a:cubicBezTo>
                  <a:lnTo>
                    <a:pt x="41497" y="544279"/>
                  </a:lnTo>
                  <a:cubicBezTo>
                    <a:pt x="18579" y="544279"/>
                    <a:pt x="0" y="525700"/>
                    <a:pt x="0" y="502782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0" y="19050"/>
              <a:ext cx="1867198" cy="525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4"/>
          <p:cNvSpPr txBox="1"/>
          <p:nvPr/>
        </p:nvSpPr>
        <p:spPr>
          <a:xfrm>
            <a:off x="10459516" y="5160440"/>
            <a:ext cx="5955369" cy="39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Ley de Utilidad Marginal Decreciente: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10665648" y="5840779"/>
            <a:ext cx="5708731" cy="5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medida que una persona consume más de un bien, la utilidad adicional que obtiene de cada unidad disminuye.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4454914" y="7870762"/>
            <a:ext cx="10791801" cy="5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persona tiene más valor para el primer vaso de agua que bebe cuando tiene sed que para el segundo o el tercero, ya que la necesidad de agua disminuye con cada vaso consumido.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-5112338" y="-7228893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5"/>
          <p:cNvSpPr txBox="1"/>
          <p:nvPr/>
        </p:nvSpPr>
        <p:spPr>
          <a:xfrm>
            <a:off x="1128810" y="990600"/>
            <a:ext cx="16030380" cy="277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6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Teoría del Valor Trabajo vs. Teoría del Valor Subjetivo</a:t>
            </a:r>
            <a:endParaRPr/>
          </a:p>
        </p:txBody>
      </p:sp>
      <p:grpSp>
        <p:nvGrpSpPr>
          <p:cNvPr id="143" name="Google Shape;143;p5"/>
          <p:cNvGrpSpPr/>
          <p:nvPr/>
        </p:nvGrpSpPr>
        <p:grpSpPr>
          <a:xfrm rot="-851681">
            <a:off x="325310" y="5580151"/>
            <a:ext cx="21825170" cy="18180272"/>
            <a:chOff x="0" y="0"/>
            <a:chExt cx="5748193" cy="4788220"/>
          </a:xfrm>
        </p:grpSpPr>
        <p:sp>
          <p:nvSpPr>
            <p:cNvPr id="144" name="Google Shape;144;p5"/>
            <p:cNvSpPr/>
            <p:nvPr/>
          </p:nvSpPr>
          <p:spPr>
            <a:xfrm>
              <a:off x="0" y="0"/>
              <a:ext cx="5748193" cy="4788220"/>
            </a:xfrm>
            <a:custGeom>
              <a:rect b="b" l="l" r="r" t="t"/>
              <a:pathLst>
                <a:path extrusionOk="0"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45" name="Google Shape;145;p5"/>
            <p:cNvSpPr txBox="1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5"/>
          <p:cNvSpPr txBox="1"/>
          <p:nvPr/>
        </p:nvSpPr>
        <p:spPr>
          <a:xfrm>
            <a:off x="3549726" y="4330309"/>
            <a:ext cx="11188548" cy="4191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0160" lvl="1" marL="340321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6"/>
              <a:buFont typeface="Arial"/>
              <a:buChar char="•"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Teoría del Valor Trabajo: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Propuesta por economistas como Adam Smith y Karl Marx, esta teoría sostiene que el valor de un bien está determinado por la cantidad de trabajo requerido para su producción.</a:t>
            </a:r>
            <a:endParaRPr/>
          </a:p>
          <a:p>
            <a:pPr indent="0" lvl="0" marL="0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160" lvl="1" marL="340321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6"/>
              <a:buFont typeface="Arial"/>
              <a:buChar char="•"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Teoría del Valor Subjetivo: </a:t>
            </a: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Postula que el valor depende de la utilidad o satisfacción que el bien proporciona a los individuos.</a:t>
            </a:r>
            <a:endParaRPr/>
          </a:p>
          <a:p>
            <a:pPr indent="0" lvl="0" marL="0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teoría del valor trabajo explica el valor en términos de producción, mientras que la teoría del valor subjetivo se enfoca en la percepción del consumidor.</a:t>
            </a:r>
            <a:endParaRPr/>
          </a:p>
          <a:p>
            <a:pPr indent="0" lvl="0" marL="0" marR="0" rtl="0" algn="ctr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Un cuadro pintado en pocas horas podría tener un alto valor subjetivo por su belleza o significado, a pesar de requerir poco trabajo para producirlo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6"/>
          <p:cNvGrpSpPr/>
          <p:nvPr/>
        </p:nvGrpSpPr>
        <p:grpSpPr>
          <a:xfrm rot="8586792">
            <a:off x="-6808948" y="-8585300"/>
            <a:ext cx="21825170" cy="18180272"/>
            <a:chOff x="0" y="0"/>
            <a:chExt cx="5748193" cy="4788220"/>
          </a:xfrm>
        </p:grpSpPr>
        <p:sp>
          <p:nvSpPr>
            <p:cNvPr id="152" name="Google Shape;152;p6"/>
            <p:cNvSpPr/>
            <p:nvPr/>
          </p:nvSpPr>
          <p:spPr>
            <a:xfrm>
              <a:off x="0" y="0"/>
              <a:ext cx="5748193" cy="4788220"/>
            </a:xfrm>
            <a:custGeom>
              <a:rect b="b" l="l" r="r" t="t"/>
              <a:pathLst>
                <a:path extrusionOk="0"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53" name="Google Shape;153;p6"/>
            <p:cNvSpPr txBox="1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6"/>
          <p:cNvSpPr txBox="1"/>
          <p:nvPr/>
        </p:nvSpPr>
        <p:spPr>
          <a:xfrm>
            <a:off x="1176112" y="1808576"/>
            <a:ext cx="15238774" cy="2060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Críticas y Limitaciones de la Teoría del Valor Subjetivo</a:t>
            </a:r>
            <a:endParaRPr/>
          </a:p>
        </p:txBody>
      </p:sp>
      <p:grpSp>
        <p:nvGrpSpPr>
          <p:cNvPr id="155" name="Google Shape;155;p6"/>
          <p:cNvGrpSpPr/>
          <p:nvPr/>
        </p:nvGrpSpPr>
        <p:grpSpPr>
          <a:xfrm>
            <a:off x="2493994" y="4775505"/>
            <a:ext cx="13920891" cy="3009031"/>
            <a:chOff x="0" y="0"/>
            <a:chExt cx="3666408" cy="792502"/>
          </a:xfrm>
        </p:grpSpPr>
        <p:sp>
          <p:nvSpPr>
            <p:cNvPr id="156" name="Google Shape;156;p6"/>
            <p:cNvSpPr/>
            <p:nvPr/>
          </p:nvSpPr>
          <p:spPr>
            <a:xfrm>
              <a:off x="0" y="0"/>
              <a:ext cx="3666408" cy="792502"/>
            </a:xfrm>
            <a:custGeom>
              <a:rect b="b" l="l" r="r" t="t"/>
              <a:pathLst>
                <a:path extrusionOk="0" h="792502" w="3666408">
                  <a:moveTo>
                    <a:pt x="21133" y="0"/>
                  </a:moveTo>
                  <a:lnTo>
                    <a:pt x="3645274" y="0"/>
                  </a:lnTo>
                  <a:cubicBezTo>
                    <a:pt x="3656946" y="0"/>
                    <a:pt x="3666408" y="9462"/>
                    <a:pt x="3666408" y="21133"/>
                  </a:cubicBezTo>
                  <a:lnTo>
                    <a:pt x="3666408" y="771369"/>
                  </a:lnTo>
                  <a:cubicBezTo>
                    <a:pt x="3666408" y="783040"/>
                    <a:pt x="3656946" y="792502"/>
                    <a:pt x="3645274" y="792502"/>
                  </a:cubicBezTo>
                  <a:lnTo>
                    <a:pt x="21133" y="792502"/>
                  </a:lnTo>
                  <a:cubicBezTo>
                    <a:pt x="15528" y="792502"/>
                    <a:pt x="10153" y="790275"/>
                    <a:pt x="6190" y="786312"/>
                  </a:cubicBezTo>
                  <a:cubicBezTo>
                    <a:pt x="2227" y="782349"/>
                    <a:pt x="0" y="776974"/>
                    <a:pt x="0" y="771369"/>
                  </a:cubicBezTo>
                  <a:lnTo>
                    <a:pt x="0" y="21133"/>
                  </a:lnTo>
                  <a:cubicBezTo>
                    <a:pt x="0" y="15528"/>
                    <a:pt x="2227" y="10153"/>
                    <a:pt x="6190" y="6190"/>
                  </a:cubicBezTo>
                  <a:cubicBezTo>
                    <a:pt x="10153" y="2227"/>
                    <a:pt x="15528" y="0"/>
                    <a:pt x="2113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0" y="19050"/>
              <a:ext cx="3666408" cy="773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6"/>
          <p:cNvSpPr txBox="1"/>
          <p:nvPr/>
        </p:nvSpPr>
        <p:spPr>
          <a:xfrm>
            <a:off x="2931141" y="5160440"/>
            <a:ext cx="2854366" cy="39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Críticas principales: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3049410" y="6148354"/>
            <a:ext cx="12810300" cy="19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0160" lvl="1" marL="340321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Subjetividad extrema: El valor es tan relativo que resulta difícil de medir o predecir.</a:t>
            </a:r>
            <a:endParaRPr/>
          </a:p>
          <a:p>
            <a:pPr indent="-170160" lvl="1" marL="340321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Influencia de factores externos: Los precios y valores percibidos también dependen de factores externos como la publicidad y el contexto social.</a:t>
            </a:r>
            <a:endParaRPr/>
          </a:p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Limitaciones: La teoría no considera los costos de producción, lo que puede resultar en precios desalineados de los costos en ciertos mercados.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4146451" y="8622736"/>
            <a:ext cx="10791801" cy="5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de crítica: El valor de un diamante puede ser subjetivo, pero el costo de extracción y procesamiento influye fuertemente en su precio.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-5112338" y="-7228893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7"/>
          <p:cNvSpPr txBox="1"/>
          <p:nvPr/>
        </p:nvSpPr>
        <p:spPr>
          <a:xfrm>
            <a:off x="1128810" y="990600"/>
            <a:ext cx="16030380" cy="404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6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Aplicaciones de la Teoría del Valor Subjetivo en la Fijación de Precios</a:t>
            </a:r>
            <a:endParaRPr/>
          </a:p>
        </p:txBody>
      </p:sp>
      <p:grpSp>
        <p:nvGrpSpPr>
          <p:cNvPr id="167" name="Google Shape;167;p7"/>
          <p:cNvGrpSpPr/>
          <p:nvPr/>
        </p:nvGrpSpPr>
        <p:grpSpPr>
          <a:xfrm rot="-851681">
            <a:off x="325310" y="5580151"/>
            <a:ext cx="21825170" cy="18180272"/>
            <a:chOff x="0" y="0"/>
            <a:chExt cx="5748193" cy="4788220"/>
          </a:xfrm>
        </p:grpSpPr>
        <p:sp>
          <p:nvSpPr>
            <p:cNvPr id="168" name="Google Shape;168;p7"/>
            <p:cNvSpPr/>
            <p:nvPr/>
          </p:nvSpPr>
          <p:spPr>
            <a:xfrm>
              <a:off x="0" y="0"/>
              <a:ext cx="5748193" cy="4788220"/>
            </a:xfrm>
            <a:custGeom>
              <a:rect b="b" l="l" r="r" t="t"/>
              <a:pathLst>
                <a:path extrusionOk="0"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69" name="Google Shape;169;p7"/>
            <p:cNvSpPr txBox="1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7"/>
          <p:cNvSpPr txBox="1"/>
          <p:nvPr/>
        </p:nvSpPr>
        <p:spPr>
          <a:xfrm>
            <a:off x="3549726" y="5847979"/>
            <a:ext cx="11188500" cy="27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empresas establecen precios de acuerdo con la percepción de valor del consumidor en lugar del costo de producción.</a:t>
            </a:r>
            <a:endParaRPr/>
          </a:p>
          <a:p>
            <a:pPr indent="0" lvl="0" marL="0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160" lvl="1" marL="340321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Los productos de lujo suelen tener precios altos debido a la percepción de exclusividad, no necesariamente porque su producción sea costosa.</a:t>
            </a:r>
            <a:endParaRPr/>
          </a:p>
          <a:p>
            <a:pPr indent="0" lvl="0" marL="0" marR="0" rtl="0" algn="l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2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Estrategia de marketing: Las empresas utilizan esta teoría para ajustar precios según el mercado y diferenciar productos, como la edición limitada de artículos.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8"/>
          <p:cNvGrpSpPr/>
          <p:nvPr/>
        </p:nvGrpSpPr>
        <p:grpSpPr>
          <a:xfrm rot="8586792">
            <a:off x="-6808948" y="-8585300"/>
            <a:ext cx="21825170" cy="18180272"/>
            <a:chOff x="0" y="0"/>
            <a:chExt cx="5748193" cy="4788220"/>
          </a:xfrm>
        </p:grpSpPr>
        <p:sp>
          <p:nvSpPr>
            <p:cNvPr id="176" name="Google Shape;176;p8"/>
            <p:cNvSpPr/>
            <p:nvPr/>
          </p:nvSpPr>
          <p:spPr>
            <a:xfrm>
              <a:off x="0" y="0"/>
              <a:ext cx="5748193" cy="4788220"/>
            </a:xfrm>
            <a:custGeom>
              <a:rect b="b" l="l" r="r" t="t"/>
              <a:pathLst>
                <a:path extrusionOk="0"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77" name="Google Shape;177;p8"/>
            <p:cNvSpPr txBox="1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8"/>
          <p:cNvSpPr txBox="1"/>
          <p:nvPr/>
        </p:nvSpPr>
        <p:spPr>
          <a:xfrm>
            <a:off x="1135606" y="1233389"/>
            <a:ext cx="15238774" cy="3946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Relación entre la Teoría del Valor Subjetivo y el Comportamiento del Consumidor</a:t>
            </a:r>
            <a:endParaRPr/>
          </a:p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16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8"/>
          <p:cNvGrpSpPr/>
          <p:nvPr/>
        </p:nvGrpSpPr>
        <p:grpSpPr>
          <a:xfrm>
            <a:off x="2493994" y="4775505"/>
            <a:ext cx="7089518" cy="2066558"/>
            <a:chOff x="0" y="0"/>
            <a:chExt cx="1867198" cy="544279"/>
          </a:xfrm>
        </p:grpSpPr>
        <p:sp>
          <p:nvSpPr>
            <p:cNvPr id="180" name="Google Shape;180;p8"/>
            <p:cNvSpPr/>
            <p:nvPr/>
          </p:nvSpPr>
          <p:spPr>
            <a:xfrm>
              <a:off x="0" y="0"/>
              <a:ext cx="1867198" cy="544279"/>
            </a:xfrm>
            <a:custGeom>
              <a:rect b="b" l="l" r="r" t="t"/>
              <a:pathLst>
                <a:path extrusionOk="0" h="544279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502782"/>
                  </a:lnTo>
                  <a:cubicBezTo>
                    <a:pt x="1867198" y="513787"/>
                    <a:pt x="1862826" y="524342"/>
                    <a:pt x="1855044" y="532124"/>
                  </a:cubicBezTo>
                  <a:cubicBezTo>
                    <a:pt x="1847262" y="539907"/>
                    <a:pt x="1836707" y="544279"/>
                    <a:pt x="1825701" y="544279"/>
                  </a:cubicBezTo>
                  <a:lnTo>
                    <a:pt x="41497" y="544279"/>
                  </a:lnTo>
                  <a:cubicBezTo>
                    <a:pt x="18579" y="544279"/>
                    <a:pt x="0" y="525700"/>
                    <a:pt x="0" y="502782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0" y="19050"/>
              <a:ext cx="1867198" cy="525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8"/>
          <p:cNvSpPr txBox="1"/>
          <p:nvPr/>
        </p:nvSpPr>
        <p:spPr>
          <a:xfrm>
            <a:off x="2931141" y="5160440"/>
            <a:ext cx="6212859" cy="39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Comportamiento del Consumidor: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3137273" y="5674091"/>
            <a:ext cx="5708731" cy="8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Los consumidores tienden a tomar decisiones basadas en su valoración personal del producto, lo cual explica variaciones en la demanda.</a:t>
            </a:r>
            <a:endParaRPr/>
          </a:p>
        </p:txBody>
      </p:sp>
      <p:grpSp>
        <p:nvGrpSpPr>
          <p:cNvPr id="184" name="Google Shape;184;p8"/>
          <p:cNvGrpSpPr/>
          <p:nvPr/>
        </p:nvGrpSpPr>
        <p:grpSpPr>
          <a:xfrm>
            <a:off x="10022370" y="4775505"/>
            <a:ext cx="7089518" cy="2066558"/>
            <a:chOff x="0" y="0"/>
            <a:chExt cx="1867198" cy="544279"/>
          </a:xfrm>
        </p:grpSpPr>
        <p:sp>
          <p:nvSpPr>
            <p:cNvPr id="185" name="Google Shape;185;p8"/>
            <p:cNvSpPr/>
            <p:nvPr/>
          </p:nvSpPr>
          <p:spPr>
            <a:xfrm>
              <a:off x="0" y="0"/>
              <a:ext cx="1867198" cy="544279"/>
            </a:xfrm>
            <a:custGeom>
              <a:rect b="b" l="l" r="r" t="t"/>
              <a:pathLst>
                <a:path extrusionOk="0" h="544279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502782"/>
                  </a:lnTo>
                  <a:cubicBezTo>
                    <a:pt x="1867198" y="513787"/>
                    <a:pt x="1862826" y="524342"/>
                    <a:pt x="1855044" y="532124"/>
                  </a:cubicBezTo>
                  <a:cubicBezTo>
                    <a:pt x="1847262" y="539907"/>
                    <a:pt x="1836707" y="544279"/>
                    <a:pt x="1825701" y="544279"/>
                  </a:cubicBezTo>
                  <a:lnTo>
                    <a:pt x="41497" y="544279"/>
                  </a:lnTo>
                  <a:cubicBezTo>
                    <a:pt x="18579" y="544279"/>
                    <a:pt x="0" y="525700"/>
                    <a:pt x="0" y="502782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 txBox="1"/>
            <p:nvPr/>
          </p:nvSpPr>
          <p:spPr>
            <a:xfrm>
              <a:off x="0" y="19050"/>
              <a:ext cx="1867198" cy="525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8"/>
          <p:cNvSpPr txBox="1"/>
          <p:nvPr/>
        </p:nvSpPr>
        <p:spPr>
          <a:xfrm>
            <a:off x="10459516" y="5160440"/>
            <a:ext cx="5955369" cy="39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de aplicación: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10665648" y="5840779"/>
            <a:ext cx="5708731" cy="5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persona puede estar dispuesta a pagar más por un bien si lo considera necesario o deseable en ese momento.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4454914" y="7870762"/>
            <a:ext cx="10791801" cy="5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Implicación en la economía: La teoría del valor subjetivo ayuda a entender mejor cómo y por qué los consumidores eligen ciertos productos y a predecir patrones de demanda en función de la utilidad percibida.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7640554" y="1297534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9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id="196" name="Google Shape;196;p9"/>
            <p:cNvSpPr/>
            <p:nvPr/>
          </p:nvSpPr>
          <p:spPr>
            <a:xfrm>
              <a:off x="0" y="0"/>
              <a:ext cx="2956881" cy="3777209"/>
            </a:xfrm>
            <a:custGeom>
              <a:rect b="b" l="l" r="r" t="t"/>
              <a:pathLst>
                <a:path extrusionOk="0"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7" name="Google Shape;197;p9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9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id="199" name="Google Shape;199;p9"/>
            <p:cNvSpPr/>
            <p:nvPr/>
          </p:nvSpPr>
          <p:spPr>
            <a:xfrm>
              <a:off x="0" y="0"/>
              <a:ext cx="2837530" cy="3777209"/>
            </a:xfrm>
            <a:custGeom>
              <a:rect b="b" l="l" r="r" t="t"/>
              <a:pathLst>
                <a:path extrusionOk="0"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00" name="Google Shape;200;p9"/>
            <p:cNvSpPr txBox="1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9"/>
          <p:cNvSpPr txBox="1"/>
          <p:nvPr/>
        </p:nvSpPr>
        <p:spPr>
          <a:xfrm>
            <a:off x="1028700" y="4217320"/>
            <a:ext cx="15204818" cy="185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