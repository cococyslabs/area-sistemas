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tillium Web Bold" charset="1" panose="00000800000000000000"/>
      <p:regular r:id="rId13"/>
    </p:embeddedFont>
    <p:embeddedFont>
      <p:font typeface="Titillium Web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166666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03742"/>
            <a:ext cx="16230600" cy="291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86"/>
              </a:lnSpc>
            </a:pPr>
            <a:r>
              <a:rPr lang="en-US" sz="12924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Estructuras de Mercado y Regulación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88327">
            <a:off x="9365754" y="-4163758"/>
            <a:ext cx="12995022" cy="10561408"/>
          </a:xfrm>
          <a:custGeom>
            <a:avLst/>
            <a:gdLst/>
            <a:ahLst/>
            <a:cxnLst/>
            <a:rect r="r" b="b" t="t" l="l"/>
            <a:pathLst>
              <a:path h="10561408" w="12995022">
                <a:moveTo>
                  <a:pt x="0" y="0"/>
                </a:moveTo>
                <a:lnTo>
                  <a:pt x="12995022" y="0"/>
                </a:lnTo>
                <a:lnTo>
                  <a:pt x="12995022" y="10561409"/>
                </a:lnTo>
                <a:lnTo>
                  <a:pt x="0" y="1056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623060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b="true" sz="8799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Clasificación de las Estructuras de Mercado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054458"/>
            <a:ext cx="16428125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Las estructuras de mercado se refieren a la forma en que están organizados los mercados en función del número de vendedores, el control sobre los precios y la diferenciación de productos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86404" y="8479847"/>
            <a:ext cx="5320252" cy="119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146">
                <a:solidFill>
                  <a:srgbClr val="24ADB2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Importancia: Cada estructura afecta la eficiencia, el precio y la variedad de productos en el mercado.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067547"/>
            <a:ext cx="437422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u="non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Competencia Perfecta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27013" y="7067547"/>
            <a:ext cx="437422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u="non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Monopolio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201680"/>
            <a:ext cx="437422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Oligopolio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27013" y="8201680"/>
            <a:ext cx="437422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u="non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Competencia Monopolista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83682">
            <a:off x="-8860025" y="-4173083"/>
            <a:ext cx="23703382" cy="19264385"/>
          </a:xfrm>
          <a:custGeom>
            <a:avLst/>
            <a:gdLst/>
            <a:ahLst/>
            <a:cxnLst/>
            <a:rect r="r" b="b" t="t" l="l"/>
            <a:pathLst>
              <a:path h="19264385" w="23703382">
                <a:moveTo>
                  <a:pt x="0" y="0"/>
                </a:moveTo>
                <a:lnTo>
                  <a:pt x="23703383" y="0"/>
                </a:lnTo>
                <a:lnTo>
                  <a:pt x="23703383" y="19264385"/>
                </a:lnTo>
                <a:lnTo>
                  <a:pt x="0" y="19264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6757159" cy="217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4"/>
              </a:lnSpc>
            </a:pPr>
            <a:r>
              <a:rPr lang="en-US" sz="7137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Características de la Competencia Perfecta</a:t>
            </a:r>
          </a:p>
          <a:p>
            <a:pPr algn="l" marL="0" indent="0" lvl="0">
              <a:lnSpc>
                <a:spcPts val="856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03494"/>
            <a:ext cx="16428125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Estructura de mercado con muchos vendedores y compradores donde ningún agente puede influir en el precio del bien o servicio.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38700"/>
            <a:ext cx="16230600" cy="396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Gran número de empresas y consumidores.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Productos homogéneos.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Libre entrada y salida del mercado.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Información perfecta y completa.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Ejemplo: Mercados de productos agrícolas, donde muchos productores ofrecen productos similares.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83682">
            <a:off x="1548415" y="1085159"/>
            <a:ext cx="23703382" cy="19264385"/>
          </a:xfrm>
          <a:custGeom>
            <a:avLst/>
            <a:gdLst/>
            <a:ahLst/>
            <a:cxnLst/>
            <a:rect r="r" b="b" t="t" l="l"/>
            <a:pathLst>
              <a:path h="19264385" w="23703382">
                <a:moveTo>
                  <a:pt x="0" y="0"/>
                </a:moveTo>
                <a:lnTo>
                  <a:pt x="23703382" y="0"/>
                </a:lnTo>
                <a:lnTo>
                  <a:pt x="23703382" y="19264386"/>
                </a:lnTo>
                <a:lnTo>
                  <a:pt x="0" y="19264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2079433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30"/>
              </a:lnSpc>
            </a:pPr>
            <a:r>
              <a:rPr lang="en-US" b="true" sz="10275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Monopolio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76575"/>
            <a:ext cx="16428125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Un mercado en el que una sola empresa es el único proveedor de un bien o servicio y tiene un control significativo sobre el precio.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088731"/>
            <a:ext cx="16230600" cy="346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Un único productor.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Alta barrera de entrada.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Control sobre el precio.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Ejemplo: Servicios públicos en algunas regiones, como el agua o la electricidad.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326475">
            <a:off x="-15241744" y="-11006221"/>
            <a:ext cx="27688515" cy="21546699"/>
          </a:xfrm>
          <a:custGeom>
            <a:avLst/>
            <a:gdLst/>
            <a:ahLst/>
            <a:cxnLst/>
            <a:rect r="r" b="b" t="t" l="l"/>
            <a:pathLst>
              <a:path h="21546699" w="27688515">
                <a:moveTo>
                  <a:pt x="0" y="0"/>
                </a:moveTo>
                <a:lnTo>
                  <a:pt x="27688515" y="0"/>
                </a:lnTo>
                <a:lnTo>
                  <a:pt x="27688515" y="21546699"/>
                </a:lnTo>
                <a:lnTo>
                  <a:pt x="0" y="21546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2079433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30"/>
              </a:lnSpc>
            </a:pPr>
            <a:r>
              <a:rPr lang="en-US" b="true" sz="10275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Oligopolio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76575"/>
            <a:ext cx="16428125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Mercado dominado por un pequeño número de empresas que pueden influir en el precio y las decisiones del mercado.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336381"/>
            <a:ext cx="16230600" cy="297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Pocas empresas dominan el mercado.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Productos pueden ser homogéneos o diferenciados.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Interdependencia entre las empresas (las decisiones de una empresa afectan a las demás).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Ejemplo: La</a:t>
            </a:r>
            <a:r>
              <a:rPr lang="en-US" sz="2799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 industria automotriz, donde pocas grandes empresas compiten a nivel global.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326475">
            <a:off x="1838813" y="-20535229"/>
            <a:ext cx="33916098" cy="26392891"/>
          </a:xfrm>
          <a:custGeom>
            <a:avLst/>
            <a:gdLst/>
            <a:ahLst/>
            <a:cxnLst/>
            <a:rect r="r" b="b" t="t" l="l"/>
            <a:pathLst>
              <a:path h="26392891" w="33916098">
                <a:moveTo>
                  <a:pt x="0" y="0"/>
                </a:moveTo>
                <a:lnTo>
                  <a:pt x="33916098" y="0"/>
                </a:lnTo>
                <a:lnTo>
                  <a:pt x="33916098" y="26392890"/>
                </a:lnTo>
                <a:lnTo>
                  <a:pt x="0" y="26392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5034637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30"/>
              </a:lnSpc>
            </a:pPr>
            <a:r>
              <a:rPr lang="en-US" b="true" sz="10275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Competencia Monopolista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76575"/>
            <a:ext cx="16428125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Mercado en el que muchas empresas venden productos diferenciados pero similares, y cada una tiene cierto control sobre el precio.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709752"/>
            <a:ext cx="16230600" cy="346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Gran número de empresas.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Diferenciación del producto (marcas, calidad, características).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Libertad de entrada y salida del mercado.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Ejemplo: Restaurantes o tiendas de ropa, donde cada empresa ofrece productos similares pero diferenciados.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9945" r="0" b="-672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45603" y="4452938"/>
            <a:ext cx="839679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19"/>
              </a:lnSpc>
              <a:spcBef>
                <a:spcPct val="0"/>
              </a:spcBef>
            </a:pPr>
            <a:r>
              <a:rPr lang="en-US" b="true" sz="9099">
                <a:solidFill>
                  <a:srgbClr val="FFFFFF"/>
                </a:solidFill>
                <a:latin typeface="Titillium Web Bold"/>
                <a:ea typeface="Titillium Web Bold"/>
                <a:cs typeface="Titillium Web Bold"/>
                <a:sym typeface="Titillium Web Bold"/>
              </a:rPr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DAGVgV2jHpo</dc:identifier>
  <dcterms:modified xsi:type="dcterms:W3CDTF">2011-08-01T06:04:30Z</dcterms:modified>
  <cp:revision>1</cp:revision>
  <dc:title>structuras de Mercado y Regulación</dc:title>
</cp:coreProperties>
</file>