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10287000" cx="18288000"/>
  <p:notesSz cx="6858000" cy="9144000"/>
  <p:embeddedFontLst>
    <p:embeddedFont>
      <p:font typeface="Hammersmith One"/>
      <p:regular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jQEOwdFKco4BWfy0AdHZYzseIv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753CC1-1519-4338-8AF0-87EDF9E86AF5}">
  <a:tblStyle styleId="{B0753CC1-1519-4338-8AF0-87EDF9E86AF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ammersmithOne-regular.fntdata"/><Relationship Id="rId20" Type="http://schemas.openxmlformats.org/officeDocument/2006/relationships/slide" Target="slides/slide14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6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5.xml"/><Relationship Id="rId43" Type="http://schemas.openxmlformats.org/officeDocument/2006/relationships/font" Target="fonts/OpenSans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d62a1c1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7d62a1c1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3" name="Google Shape;39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0" name="Google Shape;41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9" name="Google Shape;42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9" name="Google Shape;46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6" name="Google Shape;48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5" name="Google Shape;49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2" name="Google Shape;53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0" name="Google Shape;54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7" name="Google Shape;55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6" name="Google Shape;56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3" name="Google Shape;60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1" name="Google Shape;62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3" name="Google Shape;63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1" name="Google Shape;64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9" name="Google Shape;64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7" name="Google Shape;657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5" name="Google Shape;66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9" name="Google Shape;689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8" name="Google Shape;698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d62a1c113_0_5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82" name="Google Shape;82;g37d62a1c113_0_5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83" name="Google Shape;83;g37d62a1c113_0_5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Relationship Id="rId4" Type="http://schemas.openxmlformats.org/officeDocument/2006/relationships/image" Target="../media/image18.png"/><Relationship Id="rId5" Type="http://schemas.openxmlformats.org/officeDocument/2006/relationships/hyperlink" Target="https://aws.amazon.com/rekognition/" TargetMode="External"/><Relationship Id="rId6" Type="http://schemas.openxmlformats.org/officeDocument/2006/relationships/hyperlink" Target="https://aws.amazon.com/rekognition/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Google Shape;88;g37d62a1c113_0_0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{B0753CC1-1519-4338-8AF0-87EDF9E86AF5}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09</a:t>
                      </a:r>
                      <a:r>
                        <a:rPr lang="en-US" sz="2800"/>
                        <a:t>/09/2025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19:00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89" name="Google Shape;89;g37d62a1c113_0_0"/>
          <p:cNvSpPr txBox="1"/>
          <p:nvPr/>
        </p:nvSpPr>
        <p:spPr>
          <a:xfrm>
            <a:off x="2907700" y="4573950"/>
            <a:ext cx="13584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/>
              <a:t>Laboratorio de Seminario de Sistemas 1</a:t>
            </a:r>
            <a:endParaRPr b="1" i="0" sz="5000" u="none" cap="none" strike="noStrike">
              <a:solidFill>
                <a:srgbClr val="000000"/>
              </a:solidFill>
            </a:endParaRPr>
          </a:p>
        </p:txBody>
      </p:sp>
      <p:sp>
        <p:nvSpPr>
          <p:cNvPr id="90" name="Google Shape;90;g37d62a1c113_0_0"/>
          <p:cNvSpPr txBox="1"/>
          <p:nvPr/>
        </p:nvSpPr>
        <p:spPr>
          <a:xfrm>
            <a:off x="3557400" y="5801500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/>
              <a:t>Marco Pablo Mazariegos Macario</a:t>
            </a:r>
            <a:endParaRPr b="1" i="0" sz="40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13252288" y="201103"/>
            <a:ext cx="4684163" cy="1457826"/>
          </a:xfrm>
          <a:custGeom>
            <a:rect b="b" l="l" r="r" t="t"/>
            <a:pathLst>
              <a:path extrusionOk="0" h="1457826" w="4684163">
                <a:moveTo>
                  <a:pt x="0" y="0"/>
                </a:moveTo>
                <a:lnTo>
                  <a:pt x="4684163" y="0"/>
                </a:lnTo>
                <a:lnTo>
                  <a:pt x="4684163" y="1457827"/>
                </a:lnTo>
                <a:lnTo>
                  <a:pt x="0" y="145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96" name="Google Shape;96;p1"/>
          <p:cNvCxnSpPr/>
          <p:nvPr/>
        </p:nvCxnSpPr>
        <p:spPr>
          <a:xfrm>
            <a:off x="507314" y="8149956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121F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1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"/>
          <p:cNvSpPr txBox="1"/>
          <p:nvPr/>
        </p:nvSpPr>
        <p:spPr>
          <a:xfrm>
            <a:off x="1669741" y="2766935"/>
            <a:ext cx="151326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UNIDAD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“Inteligencia Artificial en Cloud Computing” - 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507314" y="8207106"/>
            <a:ext cx="4887216" cy="131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t/>
            </a:r>
            <a:endParaRPr b="0" i="0" sz="189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507314" y="7380141"/>
            <a:ext cx="6186876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Seminario de Sistemas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2" name="Google Shape;102;p1"/>
          <p:cNvCxnSpPr/>
          <p:nvPr/>
        </p:nvCxnSpPr>
        <p:spPr>
          <a:xfrm>
            <a:off x="6360815" y="3853064"/>
            <a:ext cx="5861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1421964" y="2747250"/>
            <a:ext cx="731003" cy="760368"/>
            <a:chOff x="0" y="0"/>
            <a:chExt cx="974670" cy="1013824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2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441" l="-169" r="-7084" t="-308517"/>
            </a:stretch>
          </a:blipFill>
          <a:ln>
            <a:noFill/>
          </a:ln>
        </p:spPr>
      </p:sp>
      <p:grpSp>
        <p:nvGrpSpPr>
          <p:cNvPr id="111" name="Google Shape;111;p2"/>
          <p:cNvGrpSpPr/>
          <p:nvPr/>
        </p:nvGrpSpPr>
        <p:grpSpPr>
          <a:xfrm>
            <a:off x="1421964" y="5820388"/>
            <a:ext cx="731003" cy="760368"/>
            <a:chOff x="0" y="0"/>
            <a:chExt cx="974670" cy="1013824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1421964" y="7243740"/>
            <a:ext cx="731003" cy="760368"/>
            <a:chOff x="0" y="0"/>
            <a:chExt cx="974670" cy="1013824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7" name="Google Shape;117;p2"/>
          <p:cNvCxnSpPr/>
          <p:nvPr/>
        </p:nvCxnSpPr>
        <p:spPr>
          <a:xfrm>
            <a:off x="1211924" y="2318625"/>
            <a:ext cx="4643555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2"/>
          <p:cNvCxnSpPr/>
          <p:nvPr/>
        </p:nvCxnSpPr>
        <p:spPr>
          <a:xfrm>
            <a:off x="1211924" y="5296513"/>
            <a:ext cx="2129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2"/>
          <p:cNvSpPr txBox="1"/>
          <p:nvPr/>
        </p:nvSpPr>
        <p:spPr>
          <a:xfrm>
            <a:off x="7337351" y="274500"/>
            <a:ext cx="3996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2640377" y="2830096"/>
            <a:ext cx="1401532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Foro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2335952" y="5622246"/>
            <a:ext cx="6052977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Amazon Rekognition: Análisis de imágenes.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2335952" y="7045598"/>
            <a:ext cx="6407869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Amazon Lex: Creación de chatbots.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1211924" y="1300032"/>
            <a:ext cx="4643555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Recordatorios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1211924" y="4208720"/>
            <a:ext cx="224805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2"/>
          <p:cNvGrpSpPr/>
          <p:nvPr/>
        </p:nvGrpSpPr>
        <p:grpSpPr>
          <a:xfrm>
            <a:off x="1421964" y="8733768"/>
            <a:ext cx="731003" cy="760368"/>
            <a:chOff x="0" y="0"/>
            <a:chExt cx="974670" cy="1013824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9410394" y="5820388"/>
            <a:ext cx="731003" cy="760368"/>
            <a:chOff x="0" y="0"/>
            <a:chExt cx="974670" cy="1013824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2"/>
          <p:cNvSpPr txBox="1"/>
          <p:nvPr/>
        </p:nvSpPr>
        <p:spPr>
          <a:xfrm>
            <a:off x="2335952" y="8535625"/>
            <a:ext cx="6052977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Amazon Polly: Conversión de texto a voz.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10435506" y="5341258"/>
            <a:ext cx="5963369" cy="168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Amazon Translate y Cognito: Traducción automática y autenticación.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3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38" name="Google Shape;138;p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39" name="Google Shape;139;p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3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41" name="Google Shape;141;p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42" name="Google Shape;142;p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" name="Google Shape;143;p3"/>
          <p:cNvGrpSpPr/>
          <p:nvPr/>
        </p:nvGrpSpPr>
        <p:grpSpPr>
          <a:xfrm>
            <a:off x="11812774" y="9645946"/>
            <a:ext cx="1419225" cy="641054"/>
            <a:chOff x="0" y="-38100"/>
            <a:chExt cx="373788" cy="168838"/>
          </a:xfrm>
        </p:grpSpPr>
        <p:sp>
          <p:nvSpPr>
            <p:cNvPr id="144" name="Google Shape;144;p3"/>
            <p:cNvSpPr/>
            <p:nvPr/>
          </p:nvSpPr>
          <p:spPr>
            <a:xfrm>
              <a:off x="0" y="0"/>
              <a:ext cx="373788" cy="130738"/>
            </a:xfrm>
            <a:custGeom>
              <a:rect b="b" l="l" r="r" t="t"/>
              <a:pathLst>
                <a:path extrusionOk="0" h="130738" w="373788">
                  <a:moveTo>
                    <a:pt x="0" y="0"/>
                  </a:moveTo>
                  <a:lnTo>
                    <a:pt x="373788" y="0"/>
                  </a:lnTo>
                  <a:lnTo>
                    <a:pt x="373788" y="130738"/>
                  </a:lnTo>
                  <a:lnTo>
                    <a:pt x="0" y="13073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45" name="Google Shape;145;p3"/>
            <p:cNvSpPr txBox="1"/>
            <p:nvPr/>
          </p:nvSpPr>
          <p:spPr>
            <a:xfrm>
              <a:off x="0" y="-38100"/>
              <a:ext cx="373788" cy="168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3"/>
          <p:cNvGrpSpPr/>
          <p:nvPr/>
        </p:nvGrpSpPr>
        <p:grpSpPr>
          <a:xfrm>
            <a:off x="12038199" y="9467051"/>
            <a:ext cx="6249801" cy="819949"/>
            <a:chOff x="0" y="-38100"/>
            <a:chExt cx="1646038" cy="215954"/>
          </a:xfrm>
        </p:grpSpPr>
        <p:sp>
          <p:nvSpPr>
            <p:cNvPr id="147" name="Google Shape;147;p3"/>
            <p:cNvSpPr/>
            <p:nvPr/>
          </p:nvSpPr>
          <p:spPr>
            <a:xfrm>
              <a:off x="0" y="0"/>
              <a:ext cx="1646038" cy="177854"/>
            </a:xfrm>
            <a:custGeom>
              <a:rect b="b" l="l" r="r" t="t"/>
              <a:pathLst>
                <a:path extrusionOk="0" h="177854" w="1646038">
                  <a:moveTo>
                    <a:pt x="0" y="0"/>
                  </a:moveTo>
                  <a:lnTo>
                    <a:pt x="1646038" y="0"/>
                  </a:lnTo>
                  <a:lnTo>
                    <a:pt x="1646038" y="177854"/>
                  </a:lnTo>
                  <a:lnTo>
                    <a:pt x="0" y="177854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48" name="Google Shape;148;p3"/>
            <p:cNvSpPr txBox="1"/>
            <p:nvPr/>
          </p:nvSpPr>
          <p:spPr>
            <a:xfrm>
              <a:off x="0" y="-38100"/>
              <a:ext cx="1646038" cy="215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3"/>
          <p:cNvSpPr/>
          <p:nvPr/>
        </p:nvSpPr>
        <p:spPr>
          <a:xfrm>
            <a:off x="11021535" y="2251729"/>
            <a:ext cx="6237765" cy="6356958"/>
          </a:xfrm>
          <a:custGeom>
            <a:rect b="b" l="l" r="r" t="t"/>
            <a:pathLst>
              <a:path extrusionOk="0" h="6356958" w="6237765">
                <a:moveTo>
                  <a:pt x="0" y="0"/>
                </a:moveTo>
                <a:lnTo>
                  <a:pt x="6237765" y="0"/>
                </a:lnTo>
                <a:lnTo>
                  <a:pt x="6237765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3"/>
          <p:cNvSpPr txBox="1"/>
          <p:nvPr/>
        </p:nvSpPr>
        <p:spPr>
          <a:xfrm>
            <a:off x="2630225" y="667400"/>
            <a:ext cx="14078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Inteligencia Artificial?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1732118" y="3687133"/>
            <a:ext cx="8432979" cy="3457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la inteligencia llevada a cabo por máquinas, en ciencias de la computación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una máquina «inteligente» ideal es un agente flexible que percibe su entorno y lleva a cabo acciones que maximicen sus posibilidades de éxito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en algún objetivo o tarea.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4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157" name="Google Shape;157;p4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58" name="Google Shape;158;p4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4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160" name="Google Shape;160;p4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61" name="Google Shape;161;p4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4"/>
          <p:cNvSpPr txBox="1"/>
          <p:nvPr/>
        </p:nvSpPr>
        <p:spPr>
          <a:xfrm>
            <a:off x="4989500" y="265125"/>
            <a:ext cx="8639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LA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" name="Google Shape;163;p4"/>
          <p:cNvGrpSpPr/>
          <p:nvPr/>
        </p:nvGrpSpPr>
        <p:grpSpPr>
          <a:xfrm>
            <a:off x="1028700" y="1560513"/>
            <a:ext cx="731003" cy="760368"/>
            <a:chOff x="0" y="0"/>
            <a:chExt cx="974670" cy="1013824"/>
          </a:xfrm>
        </p:grpSpPr>
        <p:sp>
          <p:nvSpPr>
            <p:cNvPr id="164" name="Google Shape;164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" name="Google Shape;166;p4"/>
          <p:cNvSpPr txBox="1"/>
          <p:nvPr/>
        </p:nvSpPr>
        <p:spPr>
          <a:xfrm>
            <a:off x="1932633" y="1531938"/>
            <a:ext cx="14678779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Las IAs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pueden realizar tareas repetitivas y monótonas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de manera eficiente y sin errores, liberando a los humanos para realizar tareas más creativas y estratégicas.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" name="Google Shape;167;p4"/>
          <p:cNvGrpSpPr/>
          <p:nvPr/>
        </p:nvGrpSpPr>
        <p:grpSpPr>
          <a:xfrm>
            <a:off x="1028700" y="3671072"/>
            <a:ext cx="731003" cy="760368"/>
            <a:chOff x="0" y="0"/>
            <a:chExt cx="974670" cy="1013824"/>
          </a:xfrm>
        </p:grpSpPr>
        <p:sp>
          <p:nvSpPr>
            <p:cNvPr id="168" name="Google Shape;168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" name="Google Shape;170;p4"/>
          <p:cNvSpPr txBox="1"/>
          <p:nvPr/>
        </p:nvSpPr>
        <p:spPr>
          <a:xfrm>
            <a:off x="1932633" y="3298781"/>
            <a:ext cx="15043904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En muchos sectores, la IA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puede mejorar la eficiencia operativa al analizar grandes cantidades de datos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identificar patrones y tomar decisiones rápidas y precisas.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" name="Google Shape;171;p4"/>
          <p:cNvGrpSpPr/>
          <p:nvPr/>
        </p:nvGrpSpPr>
        <p:grpSpPr>
          <a:xfrm>
            <a:off x="1028700" y="5394281"/>
            <a:ext cx="731003" cy="760368"/>
            <a:chOff x="0" y="0"/>
            <a:chExt cx="974670" cy="1013824"/>
          </a:xfrm>
        </p:grpSpPr>
        <p:sp>
          <p:nvSpPr>
            <p:cNvPr id="172" name="Google Shape;172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4"/>
          <p:cNvSpPr txBox="1"/>
          <p:nvPr/>
        </p:nvSpPr>
        <p:spPr>
          <a:xfrm>
            <a:off x="1932633" y="5365706"/>
            <a:ext cx="15043904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Los sistemas de IA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pueden proporcionar análisis y recomendaciones basadas en datos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ayudando a los tomadores de decisiones a evaluar diferentes escenarios y tomar decisiones más informadas.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4"/>
          <p:cNvGrpSpPr/>
          <p:nvPr/>
        </p:nvGrpSpPr>
        <p:grpSpPr>
          <a:xfrm>
            <a:off x="1028700" y="7156406"/>
            <a:ext cx="731003" cy="760368"/>
            <a:chOff x="0" y="0"/>
            <a:chExt cx="974670" cy="1013824"/>
          </a:xfrm>
        </p:grpSpPr>
        <p:sp>
          <p:nvSpPr>
            <p:cNvPr id="176" name="Google Shape;176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p4"/>
          <p:cNvSpPr txBox="1"/>
          <p:nvPr/>
        </p:nvSpPr>
        <p:spPr>
          <a:xfrm>
            <a:off x="1932633" y="7127831"/>
            <a:ext cx="15043904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IA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impulsa la innovación al facilitar el desarrollo de tecnologías emergentes como vehículos autónomos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robótica avanzada, realidad aumentada y virtual, entre otros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5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85" name="Google Shape;185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5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87" name="Google Shape;187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88" name="Google Shape;188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190" name="Google Shape;190;p5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91" name="Google Shape;191;p5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5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193" name="Google Shape;193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94" name="Google Shape;194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5"/>
          <p:cNvSpPr/>
          <p:nvPr/>
        </p:nvSpPr>
        <p:spPr>
          <a:xfrm>
            <a:off x="3493371" y="1965021"/>
            <a:ext cx="11301259" cy="6356958"/>
          </a:xfrm>
          <a:custGeom>
            <a:rect b="b" l="l" r="r" t="t"/>
            <a:pathLst>
              <a:path extrusionOk="0" h="6356958" w="11301259">
                <a:moveTo>
                  <a:pt x="0" y="0"/>
                </a:moveTo>
                <a:lnTo>
                  <a:pt x="11301258" y="0"/>
                </a:lnTo>
                <a:lnTo>
                  <a:pt x="113012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6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201" name="Google Shape;201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02" name="Google Shape;202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6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204" name="Google Shape;204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05" name="Google Shape;205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6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07" name="Google Shape;207;p6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08" name="Google Shape;208;p6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6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210" name="Google Shape;210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11" name="Google Shape;211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6"/>
          <p:cNvSpPr/>
          <p:nvPr/>
        </p:nvSpPr>
        <p:spPr>
          <a:xfrm>
            <a:off x="11554826" y="3727689"/>
            <a:ext cx="4402439" cy="4402439"/>
          </a:xfrm>
          <a:custGeom>
            <a:rect b="b" l="l" r="r" t="t"/>
            <a:pathLst>
              <a:path extrusionOk="0" h="4402439" w="4402439">
                <a:moveTo>
                  <a:pt x="0" y="0"/>
                </a:moveTo>
                <a:lnTo>
                  <a:pt x="4402439" y="0"/>
                </a:lnTo>
                <a:lnTo>
                  <a:pt x="4402439" y="4402439"/>
                </a:lnTo>
                <a:lnTo>
                  <a:pt x="0" y="4402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6"/>
          <p:cNvSpPr txBox="1"/>
          <p:nvPr/>
        </p:nvSpPr>
        <p:spPr>
          <a:xfrm>
            <a:off x="2341650" y="729500"/>
            <a:ext cx="13874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Amazon Rekognition?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1910454" y="1990284"/>
            <a:ext cx="8778300" cy="76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Facilita el análisis de imagen y video a sus aplicaciones con tecnologías probadas, altamente escalable y de aprendizaje profundo.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Puede identificar objetos, personas, texto, escenas y actividades en imágenes y videos, además de detectar cualquier contenido inapropiado.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También proporciona análisis facial de alta precisión y capacidades de búsqueda facial que puede usar para detectar, analizar y comparar rostros.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7"/>
          <p:cNvGrpSpPr/>
          <p:nvPr/>
        </p:nvGrpSpPr>
        <p:grpSpPr>
          <a:xfrm>
            <a:off x="311307" y="-144661"/>
            <a:ext cx="388125" cy="8565666"/>
            <a:chOff x="0" y="-38100"/>
            <a:chExt cx="102222" cy="2255978"/>
          </a:xfrm>
        </p:grpSpPr>
        <p:sp>
          <p:nvSpPr>
            <p:cNvPr id="220" name="Google Shape;220;p7"/>
            <p:cNvSpPr/>
            <p:nvPr/>
          </p:nvSpPr>
          <p:spPr>
            <a:xfrm>
              <a:off x="0" y="0"/>
              <a:ext cx="102222" cy="2217878"/>
            </a:xfrm>
            <a:custGeom>
              <a:rect b="b" l="l" r="r" t="t"/>
              <a:pathLst>
                <a:path extrusionOk="0" h="2217878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21" name="Google Shape;221;p7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7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223" name="Google Shape;223;p7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24" name="Google Shape;224;p7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7"/>
          <p:cNvGrpSpPr/>
          <p:nvPr/>
        </p:nvGrpSpPr>
        <p:grpSpPr>
          <a:xfrm>
            <a:off x="17660541" y="8602991"/>
            <a:ext cx="1066563" cy="1165957"/>
            <a:chOff x="0" y="-38100"/>
            <a:chExt cx="280906" cy="307083"/>
          </a:xfrm>
        </p:grpSpPr>
        <p:sp>
          <p:nvSpPr>
            <p:cNvPr id="226" name="Google Shape;226;p7"/>
            <p:cNvSpPr/>
            <p:nvPr/>
          </p:nvSpPr>
          <p:spPr>
            <a:xfrm>
              <a:off x="0" y="0"/>
              <a:ext cx="280906" cy="268983"/>
            </a:xfrm>
            <a:custGeom>
              <a:rect b="b" l="l" r="r" t="t"/>
              <a:pathLst>
                <a:path extrusionOk="0" h="268983" w="280906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27" name="Google Shape;227;p7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7"/>
          <p:cNvGrpSpPr/>
          <p:nvPr/>
        </p:nvGrpSpPr>
        <p:grpSpPr>
          <a:xfrm>
            <a:off x="17259300" y="9113639"/>
            <a:ext cx="1467805" cy="1435160"/>
            <a:chOff x="0" y="-38100"/>
            <a:chExt cx="386582" cy="377985"/>
          </a:xfrm>
        </p:grpSpPr>
        <p:sp>
          <p:nvSpPr>
            <p:cNvPr id="229" name="Google Shape;229;p7"/>
            <p:cNvSpPr/>
            <p:nvPr/>
          </p:nvSpPr>
          <p:spPr>
            <a:xfrm>
              <a:off x="0" y="0"/>
              <a:ext cx="386582" cy="339885"/>
            </a:xfrm>
            <a:custGeom>
              <a:rect b="b" l="l" r="r" t="t"/>
              <a:pathLst>
                <a:path extrusionOk="0" h="339885" w="386582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30" name="Google Shape;230;p7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7"/>
          <p:cNvSpPr txBox="1"/>
          <p:nvPr/>
        </p:nvSpPr>
        <p:spPr>
          <a:xfrm>
            <a:off x="1185775" y="484525"/>
            <a:ext cx="16955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se puede hacer con Rekognition?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2" name="Google Shape;232;p7"/>
          <p:cNvGrpSpPr/>
          <p:nvPr/>
        </p:nvGrpSpPr>
        <p:grpSpPr>
          <a:xfrm>
            <a:off x="5549844" y="1929154"/>
            <a:ext cx="731003" cy="760368"/>
            <a:chOff x="0" y="0"/>
            <a:chExt cx="974670" cy="1013824"/>
          </a:xfrm>
        </p:grpSpPr>
        <p:sp>
          <p:nvSpPr>
            <p:cNvPr id="233" name="Google Shape;233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7"/>
          <p:cNvGrpSpPr/>
          <p:nvPr/>
        </p:nvGrpSpPr>
        <p:grpSpPr>
          <a:xfrm>
            <a:off x="5549844" y="3060997"/>
            <a:ext cx="731003" cy="760368"/>
            <a:chOff x="0" y="0"/>
            <a:chExt cx="974670" cy="1013824"/>
          </a:xfrm>
        </p:grpSpPr>
        <p:sp>
          <p:nvSpPr>
            <p:cNvPr id="236" name="Google Shape;236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" name="Google Shape;238;p7"/>
          <p:cNvGrpSpPr/>
          <p:nvPr/>
        </p:nvGrpSpPr>
        <p:grpSpPr>
          <a:xfrm>
            <a:off x="5549844" y="4222949"/>
            <a:ext cx="731003" cy="760368"/>
            <a:chOff x="0" y="0"/>
            <a:chExt cx="974670" cy="1013824"/>
          </a:xfrm>
        </p:grpSpPr>
        <p:sp>
          <p:nvSpPr>
            <p:cNvPr id="239" name="Google Shape;239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" name="Google Shape;241;p7"/>
          <p:cNvSpPr txBox="1"/>
          <p:nvPr/>
        </p:nvSpPr>
        <p:spPr>
          <a:xfrm>
            <a:off x="6473580" y="2052163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Detección Facial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6473580" y="3184006"/>
            <a:ext cx="730897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Reconocimiento de objetos y escenas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 txBox="1"/>
          <p:nvPr/>
        </p:nvSpPr>
        <p:spPr>
          <a:xfrm>
            <a:off x="6473580" y="4345958"/>
            <a:ext cx="816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Análisis de emociones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p7"/>
          <p:cNvGrpSpPr/>
          <p:nvPr/>
        </p:nvGrpSpPr>
        <p:grpSpPr>
          <a:xfrm>
            <a:off x="5549844" y="5303014"/>
            <a:ext cx="731003" cy="760368"/>
            <a:chOff x="0" y="0"/>
            <a:chExt cx="974670" cy="1013824"/>
          </a:xfrm>
        </p:grpSpPr>
        <p:sp>
          <p:nvSpPr>
            <p:cNvPr id="245" name="Google Shape;245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" name="Google Shape;247;p7"/>
          <p:cNvGrpSpPr/>
          <p:nvPr/>
        </p:nvGrpSpPr>
        <p:grpSpPr>
          <a:xfrm>
            <a:off x="5549844" y="6434857"/>
            <a:ext cx="731003" cy="760368"/>
            <a:chOff x="0" y="0"/>
            <a:chExt cx="974670" cy="1013824"/>
          </a:xfrm>
        </p:grpSpPr>
        <p:sp>
          <p:nvSpPr>
            <p:cNvPr id="248" name="Google Shape;248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0" name="Google Shape;250;p7"/>
          <p:cNvSpPr txBox="1"/>
          <p:nvPr/>
        </p:nvSpPr>
        <p:spPr>
          <a:xfrm>
            <a:off x="6473580" y="5426023"/>
            <a:ext cx="494359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Reconocimiento de 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 txBox="1"/>
          <p:nvPr/>
        </p:nvSpPr>
        <p:spPr>
          <a:xfrm>
            <a:off x="6473580" y="6559498"/>
            <a:ext cx="816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Comparación facial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2" name="Google Shape;252;p7"/>
          <p:cNvGrpSpPr/>
          <p:nvPr/>
        </p:nvGrpSpPr>
        <p:grpSpPr>
          <a:xfrm>
            <a:off x="5549844" y="7597478"/>
            <a:ext cx="731003" cy="760368"/>
            <a:chOff x="0" y="0"/>
            <a:chExt cx="974670" cy="1013824"/>
          </a:xfrm>
        </p:grpSpPr>
        <p:sp>
          <p:nvSpPr>
            <p:cNvPr id="253" name="Google Shape;253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5" name="Google Shape;255;p7"/>
          <p:cNvSpPr txBox="1"/>
          <p:nvPr/>
        </p:nvSpPr>
        <p:spPr>
          <a:xfrm>
            <a:off x="6473580" y="7721548"/>
            <a:ext cx="700802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Seguimiento de objetos y personas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8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2" name="Google Shape;262;p8"/>
          <p:cNvGrpSpPr/>
          <p:nvPr/>
        </p:nvGrpSpPr>
        <p:grpSpPr>
          <a:xfrm>
            <a:off x="1517594" y="1929154"/>
            <a:ext cx="731003" cy="760368"/>
            <a:chOff x="0" y="0"/>
            <a:chExt cx="974670" cy="1013824"/>
          </a:xfrm>
        </p:grpSpPr>
        <p:sp>
          <p:nvSpPr>
            <p:cNvPr id="263" name="Google Shape;263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" name="Google Shape;265;p8"/>
          <p:cNvGrpSpPr/>
          <p:nvPr/>
        </p:nvGrpSpPr>
        <p:grpSpPr>
          <a:xfrm>
            <a:off x="1517594" y="3060997"/>
            <a:ext cx="731003" cy="760368"/>
            <a:chOff x="0" y="0"/>
            <a:chExt cx="974670" cy="1013824"/>
          </a:xfrm>
        </p:grpSpPr>
        <p:sp>
          <p:nvSpPr>
            <p:cNvPr id="266" name="Google Shape;266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" name="Google Shape;268;p8"/>
          <p:cNvGrpSpPr/>
          <p:nvPr/>
        </p:nvGrpSpPr>
        <p:grpSpPr>
          <a:xfrm>
            <a:off x="1517594" y="4222949"/>
            <a:ext cx="731003" cy="760368"/>
            <a:chOff x="0" y="0"/>
            <a:chExt cx="974670" cy="1013824"/>
          </a:xfrm>
        </p:grpSpPr>
        <p:sp>
          <p:nvSpPr>
            <p:cNvPr id="269" name="Google Shape;269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8"/>
          <p:cNvGrpSpPr/>
          <p:nvPr/>
        </p:nvGrpSpPr>
        <p:grpSpPr>
          <a:xfrm>
            <a:off x="1517594" y="5303014"/>
            <a:ext cx="731003" cy="760368"/>
            <a:chOff x="0" y="0"/>
            <a:chExt cx="974670" cy="1013824"/>
          </a:xfrm>
        </p:grpSpPr>
        <p:sp>
          <p:nvSpPr>
            <p:cNvPr id="272" name="Google Shape;272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4" name="Google Shape;274;p8"/>
          <p:cNvGrpSpPr/>
          <p:nvPr/>
        </p:nvGrpSpPr>
        <p:grpSpPr>
          <a:xfrm>
            <a:off x="1517594" y="6434857"/>
            <a:ext cx="731003" cy="760368"/>
            <a:chOff x="0" y="0"/>
            <a:chExt cx="974670" cy="1013824"/>
          </a:xfrm>
        </p:grpSpPr>
        <p:sp>
          <p:nvSpPr>
            <p:cNvPr id="275" name="Google Shape;275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7" name="Google Shape;277;p8"/>
          <p:cNvGrpSpPr/>
          <p:nvPr/>
        </p:nvGrpSpPr>
        <p:grpSpPr>
          <a:xfrm>
            <a:off x="1517594" y="7597478"/>
            <a:ext cx="731003" cy="760368"/>
            <a:chOff x="0" y="0"/>
            <a:chExt cx="974670" cy="1013824"/>
          </a:xfrm>
        </p:grpSpPr>
        <p:sp>
          <p:nvSpPr>
            <p:cNvPr id="278" name="Google Shape;278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0" name="Google Shape;280;p8"/>
          <p:cNvSpPr/>
          <p:nvPr/>
        </p:nvSpPr>
        <p:spPr>
          <a:xfrm>
            <a:off x="10608231" y="2276119"/>
            <a:ext cx="5991433" cy="6356958"/>
          </a:xfrm>
          <a:custGeom>
            <a:rect b="b" l="l" r="r" t="t"/>
            <a:pathLst>
              <a:path extrusionOk="0" h="6356958" w="5991433">
                <a:moveTo>
                  <a:pt x="0" y="0"/>
                </a:moveTo>
                <a:lnTo>
                  <a:pt x="5991434" y="0"/>
                </a:lnTo>
                <a:lnTo>
                  <a:pt x="599143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8"/>
          <p:cNvSpPr txBox="1"/>
          <p:nvPr/>
        </p:nvSpPr>
        <p:spPr>
          <a:xfrm>
            <a:off x="1517600" y="439725"/>
            <a:ext cx="15099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REKOGNITION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 txBox="1"/>
          <p:nvPr/>
        </p:nvSpPr>
        <p:spPr>
          <a:xfrm>
            <a:off x="2441330" y="2052163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Verificación de Identidad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 txBox="1"/>
          <p:nvPr/>
        </p:nvSpPr>
        <p:spPr>
          <a:xfrm>
            <a:off x="2441330" y="3184006"/>
            <a:ext cx="730897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Moderación de contenido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"/>
          <p:cNvSpPr txBox="1"/>
          <p:nvPr/>
        </p:nvSpPr>
        <p:spPr>
          <a:xfrm>
            <a:off x="2441330" y="4345958"/>
            <a:ext cx="816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Organización de Fotos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 txBox="1"/>
          <p:nvPr/>
        </p:nvSpPr>
        <p:spPr>
          <a:xfrm>
            <a:off x="2441330" y="5426023"/>
            <a:ext cx="494359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Seguridad y Vigilancia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 txBox="1"/>
          <p:nvPr/>
        </p:nvSpPr>
        <p:spPr>
          <a:xfrm>
            <a:off x="2441330" y="6559498"/>
            <a:ext cx="816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Análisis de Emociones en la publicidad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2441330" y="7721548"/>
            <a:ext cx="700802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Detección de fraudes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9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293" name="Google Shape;293;p9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94" name="Google Shape;294;p9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9"/>
          <p:cNvSpPr/>
          <p:nvPr/>
        </p:nvSpPr>
        <p:spPr>
          <a:xfrm>
            <a:off x="1028700" y="3044790"/>
            <a:ext cx="16230600" cy="3793903"/>
          </a:xfrm>
          <a:custGeom>
            <a:rect b="b" l="l" r="r" t="t"/>
            <a:pathLst>
              <a:path extrusionOk="0" h="3793903" w="16230600">
                <a:moveTo>
                  <a:pt x="0" y="0"/>
                </a:moveTo>
                <a:lnTo>
                  <a:pt x="16230600" y="0"/>
                </a:lnTo>
                <a:lnTo>
                  <a:pt x="16230600" y="3793903"/>
                </a:lnTo>
                <a:lnTo>
                  <a:pt x="0" y="37939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p9"/>
          <p:cNvSpPr txBox="1"/>
          <p:nvPr/>
        </p:nvSpPr>
        <p:spPr>
          <a:xfrm>
            <a:off x="2402350" y="1480500"/>
            <a:ext cx="13274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EMPRESAS QUE USAN REKOGNITION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10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302" name="Google Shape;302;p10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03" name="Google Shape;303;p10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10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305" name="Google Shape;305;p10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06" name="Google Shape;306;p10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10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308" name="Google Shape;308;p10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09" name="Google Shape;309;p10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0" name="Google Shape;310;p10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311" name="Google Shape;311;p10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12" name="Google Shape;312;p10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3" name="Google Shape;313;p10"/>
          <p:cNvSpPr/>
          <p:nvPr/>
        </p:nvSpPr>
        <p:spPr>
          <a:xfrm>
            <a:off x="3589125" y="2805817"/>
            <a:ext cx="11109750" cy="4675366"/>
          </a:xfrm>
          <a:custGeom>
            <a:rect b="b" l="l" r="r" t="t"/>
            <a:pathLst>
              <a:path extrusionOk="0" h="4675366" w="11109750">
                <a:moveTo>
                  <a:pt x="0" y="0"/>
                </a:moveTo>
                <a:lnTo>
                  <a:pt x="11109750" y="0"/>
                </a:lnTo>
                <a:lnTo>
                  <a:pt x="11109750" y="4675366"/>
                </a:lnTo>
                <a:lnTo>
                  <a:pt x="0" y="4675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0998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11"/>
          <p:cNvGrpSpPr/>
          <p:nvPr/>
        </p:nvGrpSpPr>
        <p:grpSpPr>
          <a:xfrm>
            <a:off x="0" y="-171146"/>
            <a:ext cx="566738" cy="2834568"/>
            <a:chOff x="0" y="-38100"/>
            <a:chExt cx="149264" cy="746553"/>
          </a:xfrm>
        </p:grpSpPr>
        <p:sp>
          <p:nvSpPr>
            <p:cNvPr id="319" name="Google Shape;319;p11"/>
            <p:cNvSpPr/>
            <p:nvPr/>
          </p:nvSpPr>
          <p:spPr>
            <a:xfrm>
              <a:off x="0" y="0"/>
              <a:ext cx="149264" cy="708453"/>
            </a:xfrm>
            <a:custGeom>
              <a:rect b="b" l="l" r="r" t="t"/>
              <a:pathLst>
                <a:path extrusionOk="0" h="708453" w="149264">
                  <a:moveTo>
                    <a:pt x="0" y="0"/>
                  </a:moveTo>
                  <a:lnTo>
                    <a:pt x="149264" y="0"/>
                  </a:lnTo>
                  <a:lnTo>
                    <a:pt x="149264" y="708453"/>
                  </a:lnTo>
                  <a:lnTo>
                    <a:pt x="0" y="708453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20" name="Google Shape;320;p11"/>
            <p:cNvSpPr txBox="1"/>
            <p:nvPr/>
          </p:nvSpPr>
          <p:spPr>
            <a:xfrm>
              <a:off x="0" y="-38100"/>
              <a:ext cx="149264" cy="746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11"/>
          <p:cNvGrpSpPr/>
          <p:nvPr/>
        </p:nvGrpSpPr>
        <p:grpSpPr>
          <a:xfrm>
            <a:off x="0" y="-144661"/>
            <a:ext cx="1133475" cy="1463129"/>
            <a:chOff x="0" y="-38100"/>
            <a:chExt cx="298528" cy="385351"/>
          </a:xfrm>
        </p:grpSpPr>
        <p:sp>
          <p:nvSpPr>
            <p:cNvPr id="322" name="Google Shape;322;p11"/>
            <p:cNvSpPr/>
            <p:nvPr/>
          </p:nvSpPr>
          <p:spPr>
            <a:xfrm>
              <a:off x="0" y="0"/>
              <a:ext cx="298528" cy="347251"/>
            </a:xfrm>
            <a:custGeom>
              <a:rect b="b" l="l" r="r" t="t"/>
              <a:pathLst>
                <a:path extrusionOk="0" h="347251" w="298528">
                  <a:moveTo>
                    <a:pt x="0" y="0"/>
                  </a:moveTo>
                  <a:lnTo>
                    <a:pt x="298528" y="0"/>
                  </a:lnTo>
                  <a:lnTo>
                    <a:pt x="298528" y="347251"/>
                  </a:lnTo>
                  <a:lnTo>
                    <a:pt x="0" y="3472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23" name="Google Shape;323;p11"/>
            <p:cNvSpPr txBox="1"/>
            <p:nvPr/>
          </p:nvSpPr>
          <p:spPr>
            <a:xfrm>
              <a:off x="0" y="-38100"/>
              <a:ext cx="298528" cy="3853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11"/>
          <p:cNvGrpSpPr/>
          <p:nvPr/>
        </p:nvGrpSpPr>
        <p:grpSpPr>
          <a:xfrm>
            <a:off x="16776087" y="8921922"/>
            <a:ext cx="2344551" cy="2157882"/>
            <a:chOff x="0" y="-38100"/>
            <a:chExt cx="617495" cy="568331"/>
          </a:xfrm>
        </p:grpSpPr>
        <p:sp>
          <p:nvSpPr>
            <p:cNvPr id="325" name="Google Shape;325;p11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26" name="Google Shape;326;p11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11"/>
          <p:cNvGrpSpPr/>
          <p:nvPr/>
        </p:nvGrpSpPr>
        <p:grpSpPr>
          <a:xfrm>
            <a:off x="17577588" y="6952876"/>
            <a:ext cx="3086100" cy="3120318"/>
            <a:chOff x="0" y="-38100"/>
            <a:chExt cx="812800" cy="821812"/>
          </a:xfrm>
        </p:grpSpPr>
        <p:sp>
          <p:nvSpPr>
            <p:cNvPr id="328" name="Google Shape;328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29" name="Google Shape;329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0" name="Google Shape;330;p11"/>
          <p:cNvSpPr txBox="1"/>
          <p:nvPr/>
        </p:nvSpPr>
        <p:spPr>
          <a:xfrm>
            <a:off x="1831975" y="2489114"/>
            <a:ext cx="8807743" cy="6851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799"/>
              <a:buFont typeface="Arial"/>
              <a:buChar char="•"/>
            </a:pPr>
            <a:r>
              <a:rPr b="1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Servicio de traducción automática neuronal</a:t>
            </a:r>
            <a:r>
              <a:rPr b="0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ofrece una solución eficaz y rápida para la traducción entre idiomas.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traducción automática neuronal es una forma de automatización de traducciones entre idiomas que </a:t>
            </a:r>
            <a:r>
              <a:rPr b="1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usa modelos de aprendizaje profundo para ofrecer traducciones más naturales y precisas</a:t>
            </a:r>
            <a:r>
              <a:rPr b="0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que los algoritmos estadísticos tradicionales y de traducción basado en reglas.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capa gratuita del servicio </a:t>
            </a:r>
            <a:r>
              <a:rPr b="1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incluye la traducción de hasta 2 millones de caracteres por mes.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12177333" y="3909142"/>
            <a:ext cx="4039533" cy="4039533"/>
          </a:xfrm>
          <a:custGeom>
            <a:rect b="b" l="l" r="r" t="t"/>
            <a:pathLst>
              <a:path extrusionOk="0" h="4039533" w="4039533">
                <a:moveTo>
                  <a:pt x="0" y="0"/>
                </a:moveTo>
                <a:lnTo>
                  <a:pt x="4039534" y="0"/>
                </a:lnTo>
                <a:lnTo>
                  <a:pt x="4039534" y="4039533"/>
                </a:lnTo>
                <a:lnTo>
                  <a:pt x="0" y="4039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2" name="Google Shape;332;p11"/>
          <p:cNvSpPr txBox="1"/>
          <p:nvPr/>
        </p:nvSpPr>
        <p:spPr>
          <a:xfrm>
            <a:off x="3341726" y="707500"/>
            <a:ext cx="12017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Amazon Translate?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8" name="Google Shape;338;p12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9" name="Google Shape;339;p12"/>
          <p:cNvGrpSpPr/>
          <p:nvPr/>
        </p:nvGrpSpPr>
        <p:grpSpPr>
          <a:xfrm>
            <a:off x="1517594" y="1929154"/>
            <a:ext cx="731003" cy="760368"/>
            <a:chOff x="0" y="0"/>
            <a:chExt cx="974670" cy="1013824"/>
          </a:xfrm>
        </p:grpSpPr>
        <p:sp>
          <p:nvSpPr>
            <p:cNvPr id="340" name="Google Shape;340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2" name="Google Shape;342;p12"/>
          <p:cNvGrpSpPr/>
          <p:nvPr/>
        </p:nvGrpSpPr>
        <p:grpSpPr>
          <a:xfrm>
            <a:off x="8079234" y="1929154"/>
            <a:ext cx="731003" cy="760368"/>
            <a:chOff x="0" y="0"/>
            <a:chExt cx="974670" cy="1013824"/>
          </a:xfrm>
        </p:grpSpPr>
        <p:sp>
          <p:nvSpPr>
            <p:cNvPr id="343" name="Google Shape;343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5" name="Google Shape;345;p12"/>
          <p:cNvGrpSpPr/>
          <p:nvPr/>
        </p:nvGrpSpPr>
        <p:grpSpPr>
          <a:xfrm>
            <a:off x="1517594" y="3145906"/>
            <a:ext cx="731003" cy="760368"/>
            <a:chOff x="0" y="0"/>
            <a:chExt cx="974670" cy="1013824"/>
          </a:xfrm>
        </p:grpSpPr>
        <p:sp>
          <p:nvSpPr>
            <p:cNvPr id="346" name="Google Shape;346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8" name="Google Shape;348;p12"/>
          <p:cNvGrpSpPr/>
          <p:nvPr/>
        </p:nvGrpSpPr>
        <p:grpSpPr>
          <a:xfrm>
            <a:off x="8079234" y="3145906"/>
            <a:ext cx="731003" cy="760368"/>
            <a:chOff x="0" y="0"/>
            <a:chExt cx="974670" cy="1013824"/>
          </a:xfrm>
        </p:grpSpPr>
        <p:sp>
          <p:nvSpPr>
            <p:cNvPr id="349" name="Google Shape;349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1" name="Google Shape;351;p12"/>
          <p:cNvSpPr txBox="1"/>
          <p:nvPr/>
        </p:nvSpPr>
        <p:spPr>
          <a:xfrm>
            <a:off x="1139575" y="408325"/>
            <a:ext cx="14106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TRANSLATE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"/>
          <p:cNvSpPr txBox="1"/>
          <p:nvPr/>
        </p:nvSpPr>
        <p:spPr>
          <a:xfrm>
            <a:off x="2441330" y="2052163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Traducción de documentos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 txBox="1"/>
          <p:nvPr/>
        </p:nvSpPr>
        <p:spPr>
          <a:xfrm>
            <a:off x="9002970" y="2052163"/>
            <a:ext cx="838847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Traducir automáticamente el contenido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2"/>
          <p:cNvSpPr txBox="1"/>
          <p:nvPr/>
        </p:nvSpPr>
        <p:spPr>
          <a:xfrm>
            <a:off x="2441330" y="3117331"/>
            <a:ext cx="5007777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Traducir comunicaciones en tiempo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 txBox="1"/>
          <p:nvPr/>
        </p:nvSpPr>
        <p:spPr>
          <a:xfrm>
            <a:off x="9002970" y="3061813"/>
            <a:ext cx="8258563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Funciones multilenguaje en aplicaciones internacionales.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 txBox="1"/>
          <p:nvPr/>
        </p:nvSpPr>
        <p:spPr>
          <a:xfrm>
            <a:off x="862375" y="4650850"/>
            <a:ext cx="13598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TRANSLATE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7" name="Google Shape;357;p12"/>
          <p:cNvGrpSpPr/>
          <p:nvPr/>
        </p:nvGrpSpPr>
        <p:grpSpPr>
          <a:xfrm>
            <a:off x="1526542" y="6002679"/>
            <a:ext cx="731003" cy="760368"/>
            <a:chOff x="0" y="0"/>
            <a:chExt cx="974670" cy="1013824"/>
          </a:xfrm>
        </p:grpSpPr>
        <p:sp>
          <p:nvSpPr>
            <p:cNvPr id="358" name="Google Shape;358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0" name="Google Shape;360;p12"/>
          <p:cNvGrpSpPr/>
          <p:nvPr/>
        </p:nvGrpSpPr>
        <p:grpSpPr>
          <a:xfrm>
            <a:off x="8088182" y="6002679"/>
            <a:ext cx="731003" cy="760368"/>
            <a:chOff x="0" y="0"/>
            <a:chExt cx="974670" cy="1013824"/>
          </a:xfrm>
        </p:grpSpPr>
        <p:sp>
          <p:nvSpPr>
            <p:cNvPr id="361" name="Google Shape;361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3" name="Google Shape;363;p12"/>
          <p:cNvGrpSpPr/>
          <p:nvPr/>
        </p:nvGrpSpPr>
        <p:grpSpPr>
          <a:xfrm>
            <a:off x="1526542" y="7219431"/>
            <a:ext cx="731003" cy="760368"/>
            <a:chOff x="0" y="0"/>
            <a:chExt cx="974670" cy="1013824"/>
          </a:xfrm>
        </p:grpSpPr>
        <p:sp>
          <p:nvSpPr>
            <p:cNvPr id="364" name="Google Shape;364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6" name="Google Shape;366;p12"/>
          <p:cNvGrpSpPr/>
          <p:nvPr/>
        </p:nvGrpSpPr>
        <p:grpSpPr>
          <a:xfrm>
            <a:off x="8088182" y="7219431"/>
            <a:ext cx="731003" cy="760368"/>
            <a:chOff x="0" y="0"/>
            <a:chExt cx="974670" cy="1013824"/>
          </a:xfrm>
        </p:grpSpPr>
        <p:sp>
          <p:nvSpPr>
            <p:cNvPr id="367" name="Google Shape;367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9" name="Google Shape;369;p12"/>
          <p:cNvSpPr txBox="1"/>
          <p:nvPr/>
        </p:nvSpPr>
        <p:spPr>
          <a:xfrm>
            <a:off x="2450278" y="6125688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Escalabilidad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2"/>
          <p:cNvSpPr txBox="1"/>
          <p:nvPr/>
        </p:nvSpPr>
        <p:spPr>
          <a:xfrm>
            <a:off x="9011917" y="6125688"/>
            <a:ext cx="883297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Traducción precisa con aprendizaje automático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2"/>
          <p:cNvSpPr txBox="1"/>
          <p:nvPr/>
        </p:nvSpPr>
        <p:spPr>
          <a:xfrm>
            <a:off x="2450278" y="7190856"/>
            <a:ext cx="5007777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Amplia Variedad de idiomas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2"/>
          <p:cNvSpPr txBox="1"/>
          <p:nvPr/>
        </p:nvSpPr>
        <p:spPr>
          <a:xfrm>
            <a:off x="9011917" y="7135338"/>
            <a:ext cx="8258563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Traducción de documentos en tiempo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oogle Shape;377;p13"/>
          <p:cNvGrpSpPr/>
          <p:nvPr/>
        </p:nvGrpSpPr>
        <p:grpSpPr>
          <a:xfrm>
            <a:off x="-1543050" y="8931406"/>
            <a:ext cx="3086100" cy="3120318"/>
            <a:chOff x="0" y="-38100"/>
            <a:chExt cx="812800" cy="821812"/>
          </a:xfrm>
        </p:grpSpPr>
        <p:sp>
          <p:nvSpPr>
            <p:cNvPr id="378" name="Google Shape;378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79" name="Google Shape;379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0" name="Google Shape;380;p13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381" name="Google Shape;381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82" name="Google Shape;382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3" name="Google Shape;383;p13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384" name="Google Shape;384;p13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85" name="Google Shape;385;p13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6" name="Google Shape;386;p13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387" name="Google Shape;387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88" name="Google Shape;388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p13"/>
          <p:cNvSpPr/>
          <p:nvPr/>
        </p:nvSpPr>
        <p:spPr>
          <a:xfrm>
            <a:off x="1638052" y="2634304"/>
            <a:ext cx="15011896" cy="5235399"/>
          </a:xfrm>
          <a:custGeom>
            <a:rect b="b" l="l" r="r" t="t"/>
            <a:pathLst>
              <a:path extrusionOk="0" h="5235399" w="15011896">
                <a:moveTo>
                  <a:pt x="0" y="0"/>
                </a:moveTo>
                <a:lnTo>
                  <a:pt x="15011896" y="0"/>
                </a:lnTo>
                <a:lnTo>
                  <a:pt x="15011896" y="5235399"/>
                </a:lnTo>
                <a:lnTo>
                  <a:pt x="0" y="5235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29303C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90" name="Google Shape;390;p13"/>
          <p:cNvSpPr txBox="1"/>
          <p:nvPr/>
        </p:nvSpPr>
        <p:spPr>
          <a:xfrm>
            <a:off x="2956750" y="1561150"/>
            <a:ext cx="11211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EMPRESAS QUE USAN TRANSLATE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oogle Shape;395;p14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396" name="Google Shape;396;p1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97" name="Google Shape;397;p1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8" name="Google Shape;398;p14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399" name="Google Shape;399;p1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400" name="Google Shape;400;p1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14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402" name="Google Shape;402;p14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403" name="Google Shape;403;p14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4" name="Google Shape;404;p14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405" name="Google Shape;405;p1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406" name="Google Shape;406;p1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7" name="Google Shape;407;p14"/>
          <p:cNvSpPr/>
          <p:nvPr/>
        </p:nvSpPr>
        <p:spPr>
          <a:xfrm>
            <a:off x="3036131" y="2532489"/>
            <a:ext cx="12010649" cy="5222022"/>
          </a:xfrm>
          <a:custGeom>
            <a:rect b="b" l="l" r="r" t="t"/>
            <a:pathLst>
              <a:path extrusionOk="0" h="5222022" w="12010649">
                <a:moveTo>
                  <a:pt x="0" y="0"/>
                </a:moveTo>
                <a:lnTo>
                  <a:pt x="12010650" y="0"/>
                </a:lnTo>
                <a:lnTo>
                  <a:pt x="12010650" y="5222022"/>
                </a:lnTo>
                <a:lnTo>
                  <a:pt x="0" y="52220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412;p15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413" name="Google Shape;413;p1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414" name="Google Shape;414;p1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" name="Google Shape;415;p15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416" name="Google Shape;416;p1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417" name="Google Shape;417;p1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8" name="Google Shape;418;p15"/>
          <p:cNvGrpSpPr/>
          <p:nvPr/>
        </p:nvGrpSpPr>
        <p:grpSpPr>
          <a:xfrm>
            <a:off x="16970593" y="-539578"/>
            <a:ext cx="2344551" cy="2157882"/>
            <a:chOff x="0" y="-38100"/>
            <a:chExt cx="617495" cy="568331"/>
          </a:xfrm>
        </p:grpSpPr>
        <p:sp>
          <p:nvSpPr>
            <p:cNvPr id="419" name="Google Shape;419;p15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420" name="Google Shape;420;p15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1" name="Google Shape;421;p15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422" name="Google Shape;422;p1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423" name="Google Shape;423;p1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4" name="Google Shape;424;p15"/>
          <p:cNvSpPr/>
          <p:nvPr/>
        </p:nvSpPr>
        <p:spPr>
          <a:xfrm>
            <a:off x="6909317" y="5304469"/>
            <a:ext cx="4773649" cy="4313539"/>
          </a:xfrm>
          <a:custGeom>
            <a:rect b="b" l="l" r="r" t="t"/>
            <a:pathLst>
              <a:path extrusionOk="0" h="4313539" w="4773649">
                <a:moveTo>
                  <a:pt x="0" y="0"/>
                </a:moveTo>
                <a:lnTo>
                  <a:pt x="4773649" y="0"/>
                </a:lnTo>
                <a:lnTo>
                  <a:pt x="4773649" y="4313539"/>
                </a:lnTo>
                <a:lnTo>
                  <a:pt x="0" y="43135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5" name="Google Shape;425;p15"/>
          <p:cNvSpPr txBox="1"/>
          <p:nvPr/>
        </p:nvSpPr>
        <p:spPr>
          <a:xfrm>
            <a:off x="1028700" y="1338768"/>
            <a:ext cx="15783104" cy="395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 servicio para la creación de interfaces de conversación con voz y texto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en cualquier aplicación.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Ofrece las funcionalidades de aprendizaje profundo avanzadas del reconocimiento automático de voz para convertir voz en texto y tecnología de comprensión del lenguaje natural para reconocer la intención del texto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lo que permite crear aplicaciones con experiencias de usuario muy interactivas y conversaciones realistas.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5"/>
          <p:cNvSpPr txBox="1"/>
          <p:nvPr/>
        </p:nvSpPr>
        <p:spPr>
          <a:xfrm>
            <a:off x="5604914" y="554543"/>
            <a:ext cx="7382455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Amazon Lex?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6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2" name="Google Shape;432;p16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33" name="Google Shape;433;p16"/>
          <p:cNvGrpSpPr/>
          <p:nvPr/>
        </p:nvGrpSpPr>
        <p:grpSpPr>
          <a:xfrm>
            <a:off x="1517594" y="1929154"/>
            <a:ext cx="731003" cy="760368"/>
            <a:chOff x="0" y="0"/>
            <a:chExt cx="974670" cy="1013824"/>
          </a:xfrm>
        </p:grpSpPr>
        <p:sp>
          <p:nvSpPr>
            <p:cNvPr id="434" name="Google Shape;434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6" name="Google Shape;436;p16"/>
          <p:cNvGrpSpPr/>
          <p:nvPr/>
        </p:nvGrpSpPr>
        <p:grpSpPr>
          <a:xfrm>
            <a:off x="8626288" y="1929154"/>
            <a:ext cx="731003" cy="760368"/>
            <a:chOff x="0" y="0"/>
            <a:chExt cx="974670" cy="1013824"/>
          </a:xfrm>
        </p:grpSpPr>
        <p:sp>
          <p:nvSpPr>
            <p:cNvPr id="437" name="Google Shape;437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9" name="Google Shape;439;p16"/>
          <p:cNvGrpSpPr/>
          <p:nvPr/>
        </p:nvGrpSpPr>
        <p:grpSpPr>
          <a:xfrm>
            <a:off x="1517594" y="3145906"/>
            <a:ext cx="731003" cy="760368"/>
            <a:chOff x="0" y="0"/>
            <a:chExt cx="974670" cy="1013824"/>
          </a:xfrm>
        </p:grpSpPr>
        <p:sp>
          <p:nvSpPr>
            <p:cNvPr id="440" name="Google Shape;440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2" name="Google Shape;442;p16"/>
          <p:cNvGrpSpPr/>
          <p:nvPr/>
        </p:nvGrpSpPr>
        <p:grpSpPr>
          <a:xfrm>
            <a:off x="8626288" y="3145906"/>
            <a:ext cx="731003" cy="760368"/>
            <a:chOff x="0" y="0"/>
            <a:chExt cx="974670" cy="1013824"/>
          </a:xfrm>
        </p:grpSpPr>
        <p:sp>
          <p:nvSpPr>
            <p:cNvPr id="443" name="Google Shape;443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5" name="Google Shape;445;p16"/>
          <p:cNvSpPr txBox="1"/>
          <p:nvPr/>
        </p:nvSpPr>
        <p:spPr>
          <a:xfrm>
            <a:off x="1432374" y="627400"/>
            <a:ext cx="10748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LEX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6"/>
          <p:cNvSpPr txBox="1"/>
          <p:nvPr/>
        </p:nvSpPr>
        <p:spPr>
          <a:xfrm>
            <a:off x="2441330" y="2052163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Traducción de documentos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6"/>
          <p:cNvSpPr txBox="1"/>
          <p:nvPr/>
        </p:nvSpPr>
        <p:spPr>
          <a:xfrm>
            <a:off x="9550023" y="2052571"/>
            <a:ext cx="646759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Reservas y Programación de Citas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6"/>
          <p:cNvSpPr txBox="1"/>
          <p:nvPr/>
        </p:nvSpPr>
        <p:spPr>
          <a:xfrm>
            <a:off x="2441330" y="2814163"/>
            <a:ext cx="5994458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Desarrollar asistentes virtuales que brinden capacitación y soporte interno.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6"/>
          <p:cNvSpPr txBox="1"/>
          <p:nvPr/>
        </p:nvSpPr>
        <p:spPr>
          <a:xfrm>
            <a:off x="9550023" y="3061813"/>
            <a:ext cx="8258563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Formularios Interactivos y Recopilación de Datos a través de conversaciones naturales.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6"/>
          <p:cNvSpPr txBox="1"/>
          <p:nvPr/>
        </p:nvSpPr>
        <p:spPr>
          <a:xfrm>
            <a:off x="1432374" y="4700125"/>
            <a:ext cx="9470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LEX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1" name="Google Shape;451;p16"/>
          <p:cNvGrpSpPr/>
          <p:nvPr/>
        </p:nvGrpSpPr>
        <p:grpSpPr>
          <a:xfrm>
            <a:off x="1526542" y="6002679"/>
            <a:ext cx="731003" cy="760368"/>
            <a:chOff x="0" y="0"/>
            <a:chExt cx="974670" cy="1013824"/>
          </a:xfrm>
        </p:grpSpPr>
        <p:sp>
          <p:nvSpPr>
            <p:cNvPr id="452" name="Google Shape;452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4" name="Google Shape;454;p16"/>
          <p:cNvGrpSpPr/>
          <p:nvPr/>
        </p:nvGrpSpPr>
        <p:grpSpPr>
          <a:xfrm>
            <a:off x="8626288" y="6002679"/>
            <a:ext cx="731003" cy="760368"/>
            <a:chOff x="0" y="0"/>
            <a:chExt cx="974670" cy="1013824"/>
          </a:xfrm>
        </p:grpSpPr>
        <p:sp>
          <p:nvSpPr>
            <p:cNvPr id="455" name="Google Shape;455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7" name="Google Shape;457;p16"/>
          <p:cNvGrpSpPr/>
          <p:nvPr/>
        </p:nvGrpSpPr>
        <p:grpSpPr>
          <a:xfrm>
            <a:off x="1526542" y="7219431"/>
            <a:ext cx="731003" cy="760368"/>
            <a:chOff x="0" y="0"/>
            <a:chExt cx="974670" cy="1013824"/>
          </a:xfrm>
        </p:grpSpPr>
        <p:sp>
          <p:nvSpPr>
            <p:cNvPr id="458" name="Google Shape;458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0" name="Google Shape;460;p16"/>
          <p:cNvGrpSpPr/>
          <p:nvPr/>
        </p:nvGrpSpPr>
        <p:grpSpPr>
          <a:xfrm>
            <a:off x="8626288" y="7219431"/>
            <a:ext cx="731003" cy="760368"/>
            <a:chOff x="0" y="0"/>
            <a:chExt cx="974670" cy="1013824"/>
          </a:xfrm>
        </p:grpSpPr>
        <p:sp>
          <p:nvSpPr>
            <p:cNvPr id="461" name="Google Shape;461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3" name="Google Shape;463;p16"/>
          <p:cNvSpPr txBox="1"/>
          <p:nvPr/>
        </p:nvSpPr>
        <p:spPr>
          <a:xfrm>
            <a:off x="2441330" y="5878038"/>
            <a:ext cx="5637904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Reconocimiento del lenguaje natural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6"/>
          <p:cNvSpPr txBox="1"/>
          <p:nvPr/>
        </p:nvSpPr>
        <p:spPr>
          <a:xfrm>
            <a:off x="9550023" y="6125688"/>
            <a:ext cx="791222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Facilidad de uso a través de su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6"/>
          <p:cNvSpPr txBox="1"/>
          <p:nvPr/>
        </p:nvSpPr>
        <p:spPr>
          <a:xfrm>
            <a:off x="2450278" y="7190856"/>
            <a:ext cx="5007777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Amplia compatibilidad con diferentes idiomas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6"/>
          <p:cNvSpPr txBox="1"/>
          <p:nvPr/>
        </p:nvSpPr>
        <p:spPr>
          <a:xfrm>
            <a:off x="9541075" y="7190856"/>
            <a:ext cx="7210813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Creación de Chatbots y asistentes virtuales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" name="Google Shape;471;p17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472" name="Google Shape;472;p1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473" name="Google Shape;473;p1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17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475" name="Google Shape;475;p1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476" name="Google Shape;476;p1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7" name="Google Shape;477;p17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478" name="Google Shape;478;p17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479" name="Google Shape;479;p17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0" name="Google Shape;480;p17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481" name="Google Shape;481;p1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482" name="Google Shape;482;p1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3" name="Google Shape;483;p17"/>
          <p:cNvSpPr/>
          <p:nvPr/>
        </p:nvSpPr>
        <p:spPr>
          <a:xfrm>
            <a:off x="6413823" y="2023297"/>
            <a:ext cx="5460355" cy="6240405"/>
          </a:xfrm>
          <a:custGeom>
            <a:rect b="b" l="l" r="r" t="t"/>
            <a:pathLst>
              <a:path extrusionOk="0" h="6240405" w="5460355">
                <a:moveTo>
                  <a:pt x="0" y="0"/>
                </a:moveTo>
                <a:lnTo>
                  <a:pt x="5460354" y="0"/>
                </a:lnTo>
                <a:lnTo>
                  <a:pt x="5460354" y="6240406"/>
                </a:lnTo>
                <a:lnTo>
                  <a:pt x="0" y="6240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8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9" name="Google Shape;489;p18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0" name="Google Shape;490;p18"/>
          <p:cNvSpPr txBox="1"/>
          <p:nvPr/>
        </p:nvSpPr>
        <p:spPr>
          <a:xfrm>
            <a:off x="862010" y="1838325"/>
            <a:ext cx="9798229" cy="7419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 servicio que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convierte texto en voz realista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lo que nos permite crear aplicaciones que hablan y crear categorías completamente nuevas de productos habilitados para voz.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El servicio Text-to-Speech (TTS)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de Polly utiliza tecnologías avanzadas de aprendizaje profundo para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sintetizar el habla humana que suena natural.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Además de las voces TTS estándar, Amazon Polly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ofrece voces Neural Text-to-Speech (NTTS) 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que brindan mejoras avanzadas en la calidad del habla o a través de un nuevo enfoque de aprendizaje automático.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8"/>
          <p:cNvSpPr/>
          <p:nvPr/>
        </p:nvSpPr>
        <p:spPr>
          <a:xfrm>
            <a:off x="10942630" y="2022044"/>
            <a:ext cx="6483360" cy="6321276"/>
          </a:xfrm>
          <a:custGeom>
            <a:rect b="b" l="l" r="r" t="t"/>
            <a:pathLst>
              <a:path extrusionOk="0" h="6321276" w="6483360">
                <a:moveTo>
                  <a:pt x="0" y="0"/>
                </a:moveTo>
                <a:lnTo>
                  <a:pt x="6483360" y="0"/>
                </a:lnTo>
                <a:lnTo>
                  <a:pt x="6483360" y="6321275"/>
                </a:lnTo>
                <a:lnTo>
                  <a:pt x="0" y="6321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2" name="Google Shape;492;p18"/>
          <p:cNvSpPr txBox="1"/>
          <p:nvPr/>
        </p:nvSpPr>
        <p:spPr>
          <a:xfrm>
            <a:off x="4358125" y="439725"/>
            <a:ext cx="10548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Amazon Polly?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oogle Shape;497;p19"/>
          <p:cNvGrpSpPr/>
          <p:nvPr/>
        </p:nvGrpSpPr>
        <p:grpSpPr>
          <a:xfrm>
            <a:off x="1526542" y="1710939"/>
            <a:ext cx="731003" cy="760368"/>
            <a:chOff x="0" y="0"/>
            <a:chExt cx="974670" cy="1013824"/>
          </a:xfrm>
        </p:grpSpPr>
        <p:sp>
          <p:nvSpPr>
            <p:cNvPr id="498" name="Google Shape;498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0" name="Google Shape;500;p19"/>
          <p:cNvGrpSpPr/>
          <p:nvPr/>
        </p:nvGrpSpPr>
        <p:grpSpPr>
          <a:xfrm>
            <a:off x="1517594" y="2728482"/>
            <a:ext cx="731003" cy="760368"/>
            <a:chOff x="0" y="0"/>
            <a:chExt cx="974670" cy="1013824"/>
          </a:xfrm>
        </p:grpSpPr>
        <p:sp>
          <p:nvSpPr>
            <p:cNvPr id="501" name="Google Shape;501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3" name="Google Shape;503;p19"/>
          <p:cNvGrpSpPr/>
          <p:nvPr/>
        </p:nvGrpSpPr>
        <p:grpSpPr>
          <a:xfrm>
            <a:off x="1517594" y="3746025"/>
            <a:ext cx="731003" cy="760368"/>
            <a:chOff x="0" y="0"/>
            <a:chExt cx="974670" cy="1013824"/>
          </a:xfrm>
        </p:grpSpPr>
        <p:sp>
          <p:nvSpPr>
            <p:cNvPr id="504" name="Google Shape;504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6" name="Google Shape;506;p19"/>
          <p:cNvSpPr txBox="1"/>
          <p:nvPr/>
        </p:nvSpPr>
        <p:spPr>
          <a:xfrm>
            <a:off x="1342976" y="408325"/>
            <a:ext cx="12085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POLLY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9"/>
          <p:cNvSpPr txBox="1"/>
          <p:nvPr/>
        </p:nvSpPr>
        <p:spPr>
          <a:xfrm>
            <a:off x="2450278" y="1833948"/>
            <a:ext cx="1748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Telefonía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9"/>
          <p:cNvSpPr txBox="1"/>
          <p:nvPr/>
        </p:nvSpPr>
        <p:spPr>
          <a:xfrm>
            <a:off x="2441330" y="2851491"/>
            <a:ext cx="1451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Crear aplicaciones que ayuden a personas con discapacidad auditiva o visual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9"/>
          <p:cNvSpPr txBox="1"/>
          <p:nvPr/>
        </p:nvSpPr>
        <p:spPr>
          <a:xfrm>
            <a:off x="2441330" y="3869034"/>
            <a:ext cx="1451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Complementar la creación de contenido con comunicaciones audiovisuales.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9"/>
          <p:cNvSpPr txBox="1"/>
          <p:nvPr/>
        </p:nvSpPr>
        <p:spPr>
          <a:xfrm>
            <a:off x="1342976" y="4650850"/>
            <a:ext cx="11315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POLLY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1" name="Google Shape;511;p19"/>
          <p:cNvGrpSpPr/>
          <p:nvPr/>
        </p:nvGrpSpPr>
        <p:grpSpPr>
          <a:xfrm>
            <a:off x="1526542" y="6002679"/>
            <a:ext cx="731003" cy="760368"/>
            <a:chOff x="0" y="0"/>
            <a:chExt cx="974670" cy="1013824"/>
          </a:xfrm>
        </p:grpSpPr>
        <p:sp>
          <p:nvSpPr>
            <p:cNvPr id="512" name="Google Shape;512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4" name="Google Shape;514;p19"/>
          <p:cNvGrpSpPr/>
          <p:nvPr/>
        </p:nvGrpSpPr>
        <p:grpSpPr>
          <a:xfrm>
            <a:off x="8088182" y="6002679"/>
            <a:ext cx="731003" cy="760368"/>
            <a:chOff x="0" y="0"/>
            <a:chExt cx="974670" cy="1013824"/>
          </a:xfrm>
        </p:grpSpPr>
        <p:sp>
          <p:nvSpPr>
            <p:cNvPr id="515" name="Google Shape;515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7" name="Google Shape;517;p19"/>
          <p:cNvGrpSpPr/>
          <p:nvPr/>
        </p:nvGrpSpPr>
        <p:grpSpPr>
          <a:xfrm>
            <a:off x="1526542" y="7219431"/>
            <a:ext cx="731003" cy="760368"/>
            <a:chOff x="0" y="0"/>
            <a:chExt cx="974670" cy="1013824"/>
          </a:xfrm>
        </p:grpSpPr>
        <p:sp>
          <p:nvSpPr>
            <p:cNvPr id="518" name="Google Shape;518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0" name="Google Shape;520;p19"/>
          <p:cNvGrpSpPr/>
          <p:nvPr/>
        </p:nvGrpSpPr>
        <p:grpSpPr>
          <a:xfrm>
            <a:off x="8088182" y="7219431"/>
            <a:ext cx="731003" cy="760368"/>
            <a:chOff x="0" y="0"/>
            <a:chExt cx="974670" cy="1013824"/>
          </a:xfrm>
        </p:grpSpPr>
        <p:sp>
          <p:nvSpPr>
            <p:cNvPr id="521" name="Google Shape;521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3" name="Google Shape;523;p19"/>
          <p:cNvSpPr txBox="1"/>
          <p:nvPr/>
        </p:nvSpPr>
        <p:spPr>
          <a:xfrm>
            <a:off x="2450278" y="6125688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Voces con sonido natural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9"/>
          <p:cNvSpPr txBox="1"/>
          <p:nvPr/>
        </p:nvSpPr>
        <p:spPr>
          <a:xfrm>
            <a:off x="9011917" y="5878038"/>
            <a:ext cx="8832970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personalizar y controlar el resultado de la locución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9"/>
          <p:cNvSpPr txBox="1"/>
          <p:nvPr/>
        </p:nvSpPr>
        <p:spPr>
          <a:xfrm>
            <a:off x="2450278" y="7190856"/>
            <a:ext cx="500777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Costos Bajos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9"/>
          <p:cNvSpPr txBox="1"/>
          <p:nvPr/>
        </p:nvSpPr>
        <p:spPr>
          <a:xfrm>
            <a:off x="9011917" y="7094790"/>
            <a:ext cx="8258563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Transmisión en tiempo real para reproducir las voces inmediatamente.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7" name="Google Shape;527;p19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528" name="Google Shape;528;p19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529" name="Google Shape;529;p19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0"/>
          <p:cNvSpPr/>
          <p:nvPr/>
        </p:nvSpPr>
        <p:spPr>
          <a:xfrm>
            <a:off x="1606715" y="2598380"/>
            <a:ext cx="15074571" cy="5090241"/>
          </a:xfrm>
          <a:custGeom>
            <a:rect b="b" l="l" r="r" t="t"/>
            <a:pathLst>
              <a:path extrusionOk="0" h="5090241" w="15074571">
                <a:moveTo>
                  <a:pt x="0" y="0"/>
                </a:moveTo>
                <a:lnTo>
                  <a:pt x="15074570" y="0"/>
                </a:lnTo>
                <a:lnTo>
                  <a:pt x="15074570" y="5090240"/>
                </a:lnTo>
                <a:lnTo>
                  <a:pt x="0" y="5090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4701" t="0"/>
            </a:stretch>
          </a:blipFill>
          <a:ln>
            <a:noFill/>
          </a:ln>
        </p:spPr>
      </p:sp>
      <p:sp>
        <p:nvSpPr>
          <p:cNvPr id="535" name="Google Shape;535;p20"/>
          <p:cNvSpPr txBox="1"/>
          <p:nvPr/>
        </p:nvSpPr>
        <p:spPr>
          <a:xfrm>
            <a:off x="2833550" y="1511300"/>
            <a:ext cx="12720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EMPRESAS QUE USAN AMAZON POLLY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0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7" name="Google Shape;537;p20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" name="Google Shape;542;p21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543" name="Google Shape;543;p2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544" name="Google Shape;544;p2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5" name="Google Shape;545;p21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546" name="Google Shape;546;p2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547" name="Google Shape;547;p2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8" name="Google Shape;548;p21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549" name="Google Shape;549;p21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550" name="Google Shape;550;p21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1" name="Google Shape;551;p21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552" name="Google Shape;552;p2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553" name="Google Shape;553;p2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4" name="Google Shape;554;p21"/>
          <p:cNvSpPr/>
          <p:nvPr/>
        </p:nvSpPr>
        <p:spPr>
          <a:xfrm>
            <a:off x="3001641" y="1833808"/>
            <a:ext cx="12284718" cy="6619385"/>
          </a:xfrm>
          <a:custGeom>
            <a:rect b="b" l="l" r="r" t="t"/>
            <a:pathLst>
              <a:path extrusionOk="0" h="6619385" w="12284718">
                <a:moveTo>
                  <a:pt x="0" y="0"/>
                </a:moveTo>
                <a:lnTo>
                  <a:pt x="12284718" y="0"/>
                </a:lnTo>
                <a:lnTo>
                  <a:pt x="12284718" y="6619384"/>
                </a:lnTo>
                <a:lnTo>
                  <a:pt x="0" y="66193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7318" r="-7318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2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0" name="Google Shape;560;p22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1" name="Google Shape;561;p22"/>
          <p:cNvSpPr/>
          <p:nvPr/>
        </p:nvSpPr>
        <p:spPr>
          <a:xfrm>
            <a:off x="10937925" y="1943100"/>
            <a:ext cx="6476901" cy="6323075"/>
          </a:xfrm>
          <a:custGeom>
            <a:rect b="b" l="l" r="r" t="t"/>
            <a:pathLst>
              <a:path extrusionOk="0" h="6323075" w="6476901">
                <a:moveTo>
                  <a:pt x="0" y="0"/>
                </a:moveTo>
                <a:lnTo>
                  <a:pt x="6476900" y="0"/>
                </a:lnTo>
                <a:lnTo>
                  <a:pt x="6476900" y="6323075"/>
                </a:lnTo>
                <a:lnTo>
                  <a:pt x="0" y="6323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2" name="Google Shape;562;p22"/>
          <p:cNvSpPr txBox="1"/>
          <p:nvPr/>
        </p:nvSpPr>
        <p:spPr>
          <a:xfrm>
            <a:off x="830260" y="1914525"/>
            <a:ext cx="9798229" cy="6429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 servicio que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la autenticación, autorización y gestión de usuarios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para aplicaciones web y móviles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facilita la autenticación y autorización a nuestras aplicaciones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sin tener que crear y administrar nuestro propio sistema de autenticación.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Proporciona varias funciones, incluyendo la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creación y gestión de usuarios, la autenticación mediante diferentes proveedores de identidad y gestión de roles y permisos.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2"/>
          <p:cNvSpPr txBox="1"/>
          <p:nvPr/>
        </p:nvSpPr>
        <p:spPr>
          <a:xfrm>
            <a:off x="3018350" y="439725"/>
            <a:ext cx="11906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Amazon Cognito?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8" name="Google Shape;568;p23"/>
          <p:cNvGrpSpPr/>
          <p:nvPr/>
        </p:nvGrpSpPr>
        <p:grpSpPr>
          <a:xfrm>
            <a:off x="1526542" y="1710939"/>
            <a:ext cx="731003" cy="760368"/>
            <a:chOff x="0" y="0"/>
            <a:chExt cx="974670" cy="1013824"/>
          </a:xfrm>
        </p:grpSpPr>
        <p:sp>
          <p:nvSpPr>
            <p:cNvPr id="569" name="Google Shape;569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1" name="Google Shape;571;p23"/>
          <p:cNvGrpSpPr/>
          <p:nvPr/>
        </p:nvGrpSpPr>
        <p:grpSpPr>
          <a:xfrm>
            <a:off x="1517594" y="2728482"/>
            <a:ext cx="731003" cy="760368"/>
            <a:chOff x="0" y="0"/>
            <a:chExt cx="974670" cy="1013824"/>
          </a:xfrm>
        </p:grpSpPr>
        <p:sp>
          <p:nvSpPr>
            <p:cNvPr id="572" name="Google Shape;572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4" name="Google Shape;574;p23"/>
          <p:cNvGrpSpPr/>
          <p:nvPr/>
        </p:nvGrpSpPr>
        <p:grpSpPr>
          <a:xfrm>
            <a:off x="1517594" y="3746025"/>
            <a:ext cx="731003" cy="760368"/>
            <a:chOff x="0" y="0"/>
            <a:chExt cx="974670" cy="1013824"/>
          </a:xfrm>
        </p:grpSpPr>
        <p:sp>
          <p:nvSpPr>
            <p:cNvPr id="575" name="Google Shape;575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7" name="Google Shape;577;p23"/>
          <p:cNvSpPr txBox="1"/>
          <p:nvPr/>
        </p:nvSpPr>
        <p:spPr>
          <a:xfrm>
            <a:off x="1081175" y="376475"/>
            <a:ext cx="13520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COGNITO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3"/>
          <p:cNvSpPr txBox="1"/>
          <p:nvPr/>
        </p:nvSpPr>
        <p:spPr>
          <a:xfrm>
            <a:off x="2450278" y="1833948"/>
            <a:ext cx="100732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Autenticación y Autorización en Aplicaciones Móviles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3"/>
          <p:cNvSpPr txBox="1"/>
          <p:nvPr/>
        </p:nvSpPr>
        <p:spPr>
          <a:xfrm>
            <a:off x="2441330" y="2851491"/>
            <a:ext cx="7258451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Acceso Seguro a Recursos de AWS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3"/>
          <p:cNvSpPr txBox="1"/>
          <p:nvPr/>
        </p:nvSpPr>
        <p:spPr>
          <a:xfrm>
            <a:off x="2450278" y="3621384"/>
            <a:ext cx="14516902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el ámbito empresarial, se implementa en aplicaciones internas y herramientas de colaboración.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3"/>
          <p:cNvSpPr txBox="1"/>
          <p:nvPr/>
        </p:nvSpPr>
        <p:spPr>
          <a:xfrm>
            <a:off x="1262775" y="4763913"/>
            <a:ext cx="11891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COGNITO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2" name="Google Shape;582;p23"/>
          <p:cNvGrpSpPr/>
          <p:nvPr/>
        </p:nvGrpSpPr>
        <p:grpSpPr>
          <a:xfrm>
            <a:off x="1526542" y="6002679"/>
            <a:ext cx="731003" cy="760368"/>
            <a:chOff x="0" y="0"/>
            <a:chExt cx="974670" cy="1013824"/>
          </a:xfrm>
        </p:grpSpPr>
        <p:sp>
          <p:nvSpPr>
            <p:cNvPr id="583" name="Google Shape;583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5" name="Google Shape;585;p23"/>
          <p:cNvGrpSpPr/>
          <p:nvPr/>
        </p:nvGrpSpPr>
        <p:grpSpPr>
          <a:xfrm>
            <a:off x="8088182" y="6002679"/>
            <a:ext cx="731003" cy="760368"/>
            <a:chOff x="0" y="0"/>
            <a:chExt cx="974670" cy="1013824"/>
          </a:xfrm>
        </p:grpSpPr>
        <p:sp>
          <p:nvSpPr>
            <p:cNvPr id="586" name="Google Shape;586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8" name="Google Shape;588;p23"/>
          <p:cNvGrpSpPr/>
          <p:nvPr/>
        </p:nvGrpSpPr>
        <p:grpSpPr>
          <a:xfrm>
            <a:off x="1526542" y="7219431"/>
            <a:ext cx="731003" cy="760368"/>
            <a:chOff x="0" y="0"/>
            <a:chExt cx="974670" cy="1013824"/>
          </a:xfrm>
        </p:grpSpPr>
        <p:sp>
          <p:nvSpPr>
            <p:cNvPr id="589" name="Google Shape;589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1" name="Google Shape;591;p23"/>
          <p:cNvGrpSpPr/>
          <p:nvPr/>
        </p:nvGrpSpPr>
        <p:grpSpPr>
          <a:xfrm>
            <a:off x="8088182" y="7219431"/>
            <a:ext cx="731003" cy="760368"/>
            <a:chOff x="0" y="0"/>
            <a:chExt cx="974670" cy="1013824"/>
          </a:xfrm>
        </p:grpSpPr>
        <p:sp>
          <p:nvSpPr>
            <p:cNvPr id="592" name="Google Shape;592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4" name="Google Shape;594;p23"/>
          <p:cNvSpPr txBox="1"/>
          <p:nvPr/>
        </p:nvSpPr>
        <p:spPr>
          <a:xfrm>
            <a:off x="2450278" y="6125688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Voces con sonido natural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3"/>
          <p:cNvSpPr txBox="1"/>
          <p:nvPr/>
        </p:nvSpPr>
        <p:spPr>
          <a:xfrm>
            <a:off x="9011917" y="5878038"/>
            <a:ext cx="8832970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personalizar y controlar el resultado de la locución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3"/>
          <p:cNvSpPr txBox="1"/>
          <p:nvPr/>
        </p:nvSpPr>
        <p:spPr>
          <a:xfrm>
            <a:off x="2450278" y="7190856"/>
            <a:ext cx="500777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Costos Bajos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3"/>
          <p:cNvSpPr txBox="1"/>
          <p:nvPr/>
        </p:nvSpPr>
        <p:spPr>
          <a:xfrm>
            <a:off x="9011917" y="7094790"/>
            <a:ext cx="8258563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Transmisión en tiempo real para reproducir las voces inmediatamente.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8" name="Google Shape;598;p23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599" name="Google Shape;599;p23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600" name="Google Shape;600;p23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4"/>
          <p:cNvSpPr/>
          <p:nvPr/>
        </p:nvSpPr>
        <p:spPr>
          <a:xfrm>
            <a:off x="2052814" y="2574181"/>
            <a:ext cx="15690498" cy="5138638"/>
          </a:xfrm>
          <a:custGeom>
            <a:rect b="b" l="l" r="r" t="t"/>
            <a:pathLst>
              <a:path extrusionOk="0" h="5138638" w="15690498">
                <a:moveTo>
                  <a:pt x="0" y="0"/>
                </a:moveTo>
                <a:lnTo>
                  <a:pt x="15690497" y="0"/>
                </a:lnTo>
                <a:lnTo>
                  <a:pt x="15690497" y="5138638"/>
                </a:lnTo>
                <a:lnTo>
                  <a:pt x="0" y="5138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6" name="Google Shape;606;p24"/>
          <p:cNvSpPr txBox="1"/>
          <p:nvPr/>
        </p:nvSpPr>
        <p:spPr>
          <a:xfrm>
            <a:off x="3110750" y="1511300"/>
            <a:ext cx="13366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EMPRESAS QUE USAN AMAZON COGNITO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7" name="Google Shape;607;p24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608" name="Google Shape;608;p2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609" name="Google Shape;609;p2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0" name="Google Shape;610;p24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611" name="Google Shape;611;p2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612" name="Google Shape;612;p2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3" name="Google Shape;613;p24"/>
          <p:cNvGrpSpPr/>
          <p:nvPr/>
        </p:nvGrpSpPr>
        <p:grpSpPr>
          <a:xfrm>
            <a:off x="11812774" y="9645946"/>
            <a:ext cx="1419225" cy="641054"/>
            <a:chOff x="0" y="-38100"/>
            <a:chExt cx="373788" cy="168838"/>
          </a:xfrm>
        </p:grpSpPr>
        <p:sp>
          <p:nvSpPr>
            <p:cNvPr id="614" name="Google Shape;614;p24"/>
            <p:cNvSpPr/>
            <p:nvPr/>
          </p:nvSpPr>
          <p:spPr>
            <a:xfrm>
              <a:off x="0" y="0"/>
              <a:ext cx="373788" cy="130738"/>
            </a:xfrm>
            <a:custGeom>
              <a:rect b="b" l="l" r="r" t="t"/>
              <a:pathLst>
                <a:path extrusionOk="0" h="130738" w="373788">
                  <a:moveTo>
                    <a:pt x="0" y="0"/>
                  </a:moveTo>
                  <a:lnTo>
                    <a:pt x="373788" y="0"/>
                  </a:lnTo>
                  <a:lnTo>
                    <a:pt x="373788" y="130738"/>
                  </a:lnTo>
                  <a:lnTo>
                    <a:pt x="0" y="13073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615" name="Google Shape;615;p24"/>
            <p:cNvSpPr txBox="1"/>
            <p:nvPr/>
          </p:nvSpPr>
          <p:spPr>
            <a:xfrm>
              <a:off x="0" y="-38100"/>
              <a:ext cx="373788" cy="168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6" name="Google Shape;616;p24"/>
          <p:cNvGrpSpPr/>
          <p:nvPr/>
        </p:nvGrpSpPr>
        <p:grpSpPr>
          <a:xfrm>
            <a:off x="12038199" y="9467051"/>
            <a:ext cx="6249801" cy="819949"/>
            <a:chOff x="0" y="-38100"/>
            <a:chExt cx="1646038" cy="215954"/>
          </a:xfrm>
        </p:grpSpPr>
        <p:sp>
          <p:nvSpPr>
            <p:cNvPr id="617" name="Google Shape;617;p24"/>
            <p:cNvSpPr/>
            <p:nvPr/>
          </p:nvSpPr>
          <p:spPr>
            <a:xfrm>
              <a:off x="0" y="0"/>
              <a:ext cx="1646038" cy="177854"/>
            </a:xfrm>
            <a:custGeom>
              <a:rect b="b" l="l" r="r" t="t"/>
              <a:pathLst>
                <a:path extrusionOk="0" h="177854" w="1646038">
                  <a:moveTo>
                    <a:pt x="0" y="0"/>
                  </a:moveTo>
                  <a:lnTo>
                    <a:pt x="1646038" y="0"/>
                  </a:lnTo>
                  <a:lnTo>
                    <a:pt x="1646038" y="177854"/>
                  </a:lnTo>
                  <a:lnTo>
                    <a:pt x="0" y="177854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618" name="Google Shape;618;p24"/>
            <p:cNvSpPr txBox="1"/>
            <p:nvPr/>
          </p:nvSpPr>
          <p:spPr>
            <a:xfrm>
              <a:off x="0" y="-38100"/>
              <a:ext cx="1646038" cy="215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3" name="Google Shape;623;p25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624" name="Google Shape;624;p25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625" name="Google Shape;625;p25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6" name="Google Shape;626;p25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627" name="Google Shape;627;p25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628" name="Google Shape;628;p25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9" name="Google Shape;629;p25"/>
          <p:cNvSpPr/>
          <p:nvPr/>
        </p:nvSpPr>
        <p:spPr>
          <a:xfrm>
            <a:off x="1343513" y="1715119"/>
            <a:ext cx="15600974" cy="7254453"/>
          </a:xfrm>
          <a:custGeom>
            <a:rect b="b" l="l" r="r" t="t"/>
            <a:pathLst>
              <a:path extrusionOk="0" h="7254453" w="15600974">
                <a:moveTo>
                  <a:pt x="0" y="0"/>
                </a:moveTo>
                <a:lnTo>
                  <a:pt x="15600974" y="0"/>
                </a:lnTo>
                <a:lnTo>
                  <a:pt x="15600974" y="7254453"/>
                </a:lnTo>
                <a:lnTo>
                  <a:pt x="0" y="72544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0" name="Google Shape;630;p25"/>
          <p:cNvSpPr txBox="1"/>
          <p:nvPr/>
        </p:nvSpPr>
        <p:spPr>
          <a:xfrm>
            <a:off x="1343525" y="458625"/>
            <a:ext cx="1601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OFRECEN SUS CAPAS GRATUITAS?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6"/>
          <p:cNvSpPr txBox="1"/>
          <p:nvPr/>
        </p:nvSpPr>
        <p:spPr>
          <a:xfrm>
            <a:off x="6168735" y="2476681"/>
            <a:ext cx="6860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6"/>
          <p:cNvSpPr txBox="1"/>
          <p:nvPr/>
        </p:nvSpPr>
        <p:spPr>
          <a:xfrm>
            <a:off x="1911259" y="3540306"/>
            <a:ext cx="14581800" cy="3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IMPLEMENTACIÓN DE TRANSLATE, POLLY Y REKOGNITION EN WEB APPS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6"/>
          <p:cNvSpPr/>
          <p:nvPr/>
        </p:nvSpPr>
        <p:spPr>
          <a:xfrm flipH="1" rot="5675120">
            <a:off x="7631704" y="868549"/>
            <a:ext cx="3140904" cy="18377629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8" name="Google Shape;638;p26"/>
          <p:cNvSpPr/>
          <p:nvPr/>
        </p:nvSpPr>
        <p:spPr>
          <a:xfrm flipH="1" rot="5675120">
            <a:off x="7815660" y="1046787"/>
            <a:ext cx="3140904" cy="18377629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7"/>
          <p:cNvSpPr txBox="1"/>
          <p:nvPr/>
        </p:nvSpPr>
        <p:spPr>
          <a:xfrm>
            <a:off x="6110523" y="2800106"/>
            <a:ext cx="6860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7"/>
          <p:cNvSpPr txBox="1"/>
          <p:nvPr/>
        </p:nvSpPr>
        <p:spPr>
          <a:xfrm>
            <a:off x="1853046" y="3863731"/>
            <a:ext cx="145818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CREACIÓN DE CHATBOT MEDIANTE AMAZON LEX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7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6" name="Google Shape;646;p27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8"/>
          <p:cNvSpPr txBox="1"/>
          <p:nvPr/>
        </p:nvSpPr>
        <p:spPr>
          <a:xfrm>
            <a:off x="5907210" y="2599906"/>
            <a:ext cx="7464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8"/>
          <p:cNvSpPr txBox="1"/>
          <p:nvPr/>
        </p:nvSpPr>
        <p:spPr>
          <a:xfrm>
            <a:off x="1951359" y="3716500"/>
            <a:ext cx="145818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CONFIGURACIÓN DE COGNITO PARA LA GESTIÓN DE USUARIOS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8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4" name="Google Shape;654;p28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9"/>
          <p:cNvSpPr txBox="1"/>
          <p:nvPr/>
        </p:nvSpPr>
        <p:spPr>
          <a:xfrm>
            <a:off x="5294443" y="153997"/>
            <a:ext cx="7454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VALOR O ACTITUD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9"/>
          <p:cNvSpPr txBox="1"/>
          <p:nvPr/>
        </p:nvSpPr>
        <p:spPr>
          <a:xfrm>
            <a:off x="689104" y="1384297"/>
            <a:ext cx="16474500" cy="78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B923"/>
                </a:solidFill>
                <a:latin typeface="Arial"/>
                <a:ea typeface="Arial"/>
                <a:cs typeface="Arial"/>
                <a:sym typeface="Arial"/>
              </a:rPr>
              <a:t>Ética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Diseñar aplicaciones y servicios con la privacidad como prioridad, utilizando buenas prácticas de cifrado, control de accesos.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Informar claramente a los usuarios sobre cómo se almacenan, procesan y utilizan sus datos en la nube.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Asegurarse de que los trabajos no causen daño, respetar los derechos de los participantes en investigaciones y considerar el impacto social de los proyectos.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9"/>
          <p:cNvSpPr/>
          <p:nvPr/>
        </p:nvSpPr>
        <p:spPr>
          <a:xfrm flipH="1" rot="-5252869">
            <a:off x="7166333" y="2041017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2" name="Google Shape;662;p29"/>
          <p:cNvSpPr/>
          <p:nvPr/>
        </p:nvSpPr>
        <p:spPr>
          <a:xfrm flipH="1" rot="-5252869">
            <a:off x="7357019" y="2212036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0"/>
          <p:cNvSpPr/>
          <p:nvPr/>
        </p:nvSpPr>
        <p:spPr>
          <a:xfrm rot="5400000">
            <a:off x="1035086" y="1228236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8" name="Google Shape;668;p30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9" name="Google Shape;669;p30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0" name="Google Shape;670;p30"/>
          <p:cNvSpPr txBox="1"/>
          <p:nvPr/>
        </p:nvSpPr>
        <p:spPr>
          <a:xfrm>
            <a:off x="3865129" y="1230119"/>
            <a:ext cx="10557741" cy="755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61"/>
              <a:buFont typeface="Arial"/>
              <a:buNone/>
            </a:pPr>
            <a:r>
              <a:rPr b="0" i="0" lang="en-US" sz="5361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CONCEPTOS CLAVES APRENDIDOS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0"/>
          <p:cNvSpPr txBox="1"/>
          <p:nvPr/>
        </p:nvSpPr>
        <p:spPr>
          <a:xfrm>
            <a:off x="3865123" y="2672525"/>
            <a:ext cx="6083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Inteligencia Artificial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2" name="Google Shape;672;p30"/>
          <p:cNvGrpSpPr/>
          <p:nvPr/>
        </p:nvGrpSpPr>
        <p:grpSpPr>
          <a:xfrm>
            <a:off x="2905062" y="2593975"/>
            <a:ext cx="731003" cy="760368"/>
            <a:chOff x="0" y="0"/>
            <a:chExt cx="974670" cy="1013824"/>
          </a:xfrm>
        </p:grpSpPr>
        <p:sp>
          <p:nvSpPr>
            <p:cNvPr id="673" name="Google Shape;673;p3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3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5" name="Google Shape;675;p30"/>
          <p:cNvGrpSpPr/>
          <p:nvPr/>
        </p:nvGrpSpPr>
        <p:grpSpPr>
          <a:xfrm>
            <a:off x="2905062" y="3661478"/>
            <a:ext cx="731003" cy="760368"/>
            <a:chOff x="0" y="0"/>
            <a:chExt cx="974670" cy="1013824"/>
          </a:xfrm>
        </p:grpSpPr>
        <p:sp>
          <p:nvSpPr>
            <p:cNvPr id="676" name="Google Shape;676;p3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3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8" name="Google Shape;678;p30"/>
          <p:cNvGrpSpPr/>
          <p:nvPr/>
        </p:nvGrpSpPr>
        <p:grpSpPr>
          <a:xfrm>
            <a:off x="2905062" y="4825036"/>
            <a:ext cx="731003" cy="760368"/>
            <a:chOff x="0" y="0"/>
            <a:chExt cx="974670" cy="1013824"/>
          </a:xfrm>
        </p:grpSpPr>
        <p:sp>
          <p:nvSpPr>
            <p:cNvPr id="679" name="Google Shape;679;p3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3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1" name="Google Shape;681;p30"/>
          <p:cNvGrpSpPr/>
          <p:nvPr/>
        </p:nvGrpSpPr>
        <p:grpSpPr>
          <a:xfrm>
            <a:off x="2905062" y="5988595"/>
            <a:ext cx="731003" cy="760368"/>
            <a:chOff x="0" y="0"/>
            <a:chExt cx="974670" cy="1013824"/>
          </a:xfrm>
        </p:grpSpPr>
        <p:sp>
          <p:nvSpPr>
            <p:cNvPr id="682" name="Google Shape;682;p3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3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4" name="Google Shape;684;p30"/>
          <p:cNvSpPr txBox="1"/>
          <p:nvPr/>
        </p:nvSpPr>
        <p:spPr>
          <a:xfrm>
            <a:off x="3865123" y="4841875"/>
            <a:ext cx="4758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Lenguaje natural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30"/>
          <p:cNvSpPr txBox="1"/>
          <p:nvPr/>
        </p:nvSpPr>
        <p:spPr>
          <a:xfrm>
            <a:off x="3865124" y="6067150"/>
            <a:ext cx="5297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Gestión de usuarios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0"/>
          <p:cNvSpPr txBox="1"/>
          <p:nvPr/>
        </p:nvSpPr>
        <p:spPr>
          <a:xfrm>
            <a:off x="3865124" y="3740025"/>
            <a:ext cx="5636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Análisis de imagenes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1"/>
          <p:cNvSpPr/>
          <p:nvPr/>
        </p:nvSpPr>
        <p:spPr>
          <a:xfrm>
            <a:off x="-242146" y="-201788"/>
            <a:ext cx="7408840" cy="10690576"/>
          </a:xfrm>
          <a:prstGeom prst="rect">
            <a:avLst/>
          </a:prstGeom>
          <a:solidFill>
            <a:srgbClr val="FFB9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1"/>
          <p:cNvSpPr/>
          <p:nvPr/>
        </p:nvSpPr>
        <p:spPr>
          <a:xfrm rot="5400000">
            <a:off x="1035086" y="8288411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3" name="Google Shape;693;p31"/>
          <p:cNvSpPr txBox="1"/>
          <p:nvPr/>
        </p:nvSpPr>
        <p:spPr>
          <a:xfrm>
            <a:off x="935917" y="1369165"/>
            <a:ext cx="5294859" cy="9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24"/>
              <a:buFont typeface="Arial"/>
              <a:buNone/>
            </a:pPr>
            <a:r>
              <a:rPr b="0" i="0" lang="en-US" sz="6624" u="none" cap="none" strike="noStrike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REFERENCIAS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1"/>
          <p:cNvSpPr/>
          <p:nvPr/>
        </p:nvSpPr>
        <p:spPr>
          <a:xfrm>
            <a:off x="935917" y="2310552"/>
            <a:ext cx="3863467" cy="285524"/>
          </a:xfrm>
          <a:custGeom>
            <a:rect b="b" l="l" r="r" t="t"/>
            <a:pathLst>
              <a:path extrusionOk="0" h="285524" w="3863467">
                <a:moveTo>
                  <a:pt x="0" y="0"/>
                </a:moveTo>
                <a:lnTo>
                  <a:pt x="3863468" y="0"/>
                </a:lnTo>
                <a:lnTo>
                  <a:pt x="3863468" y="285524"/>
                </a:lnTo>
                <a:lnTo>
                  <a:pt x="0" y="285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42441" l="-169" r="-7084" t="-308517"/>
            </a:stretch>
          </a:blipFill>
          <a:ln>
            <a:noFill/>
          </a:ln>
        </p:spPr>
      </p:sp>
      <p:sp>
        <p:nvSpPr>
          <p:cNvPr id="695" name="Google Shape;695;p31"/>
          <p:cNvSpPr txBox="1"/>
          <p:nvPr/>
        </p:nvSpPr>
        <p:spPr>
          <a:xfrm>
            <a:off x="7775691" y="507350"/>
            <a:ext cx="9514500" cy="89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982" lvl="1" marL="609967" marR="0" rtl="0" algn="l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Services, Inc. (n.d.). Amazon Lex – Build conversational interfaces into any application using voice and text. AWS. 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https://aws.amazon.com/lex/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82" lvl="1" marL="609967" marR="0" rtl="0" algn="l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Services, Inc. (n.d.). Amazon Translate – Neural machine translation service. AWS. 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https://aws.amazon.com/translate/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82" lvl="1" marL="609967" marR="0" rtl="0" algn="l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Services, Inc. (n.d.). Amazon Polly – Text-to-speech service that turns text into lifelike speech. AWS.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https://aws.amazon.com/polly/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82" lvl="1" marL="609967" marR="0" rtl="0" algn="l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Services, Inc. (n.d.). Amazon Rekognition – Analyze image and video. AWS.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25" u="none" cap="none" strike="noStrike">
                <a:solidFill>
                  <a:srgbClr val="29303C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https://aws.amazon.com/rekog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825" u="none" cap="none" strike="noStrike">
                <a:solidFill>
                  <a:srgbClr val="29303C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ition/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82" lvl="1" marL="609967" marR="0" rtl="0" algn="l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Services, Inc. (n.d.). Amazon Cognito – Secure user sign-up, sign-in, and access control. AWS.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https://aws.amazon.com/cognito/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2"/>
          <p:cNvSpPr txBox="1"/>
          <p:nvPr/>
        </p:nvSpPr>
        <p:spPr>
          <a:xfrm>
            <a:off x="3207779" y="4022725"/>
            <a:ext cx="11872442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¡GRACIAS POR SU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32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02" name="Google Shape;702;p32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03" name="Google Shape;703;p32"/>
          <p:cNvSpPr txBox="1"/>
          <p:nvPr/>
        </p:nvSpPr>
        <p:spPr>
          <a:xfrm>
            <a:off x="6949660" y="5086350"/>
            <a:ext cx="434105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