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0287000" cx="18288000"/>
  <p:notesSz cx="6858000" cy="9144000"/>
  <p:embeddedFontLst>
    <p:embeddedFont>
      <p:font typeface="Hammersmith One"/>
      <p:regular r:id="rId40"/>
    </p:embeddedFont>
    <p:embeddedFont>
      <p:font typeface="Open Sans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2baZKx9oK2iNu4UkJNze+V9Jq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1B8B48-A738-4B46-BCA4-BB3E86F145C5}">
  <a:tblStyle styleId="{FF1B8B48-A738-4B46-BCA4-BB3E86F145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mmersmithOne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a944b5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85a944b5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a944b514_0_8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2" name="Google Shape;82;g385a944b514_0_8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3" name="Google Shape;83;g385a944b514_0_8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hyperlink" Target="https://aws.amazon.com/rekognition/" TargetMode="External"/><Relationship Id="rId6" Type="http://schemas.openxmlformats.org/officeDocument/2006/relationships/hyperlink" Target="https://aws.amazon.com/rekognition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g385a944b514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{FF1B8B48-A738-4B46-BCA4-BB3E86F145C5}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07/10/2025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20:00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chemeClr val="dk1"/>
                          </a:solidFill>
                        </a:rPr>
                        <a:t>Hora Fin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20:20</a:t>
                      </a:r>
                      <a:endParaRPr sz="2800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89" name="Google Shape;89;g385a944b514_0_0"/>
          <p:cNvSpPr txBox="1"/>
          <p:nvPr/>
        </p:nvSpPr>
        <p:spPr>
          <a:xfrm>
            <a:off x="2907700" y="457395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/>
              <a:t>ACTIVIDAD: CORTO 3</a:t>
            </a:r>
            <a:endParaRPr b="1" i="0" sz="5000" u="none" cap="none" strike="noStrike">
              <a:solidFill>
                <a:srgbClr val="000000"/>
              </a:solidFill>
            </a:endParaRPr>
          </a:p>
        </p:txBody>
      </p:sp>
      <p:sp>
        <p:nvSpPr>
          <p:cNvPr id="90" name="Google Shape;90;g385a944b514_0_0"/>
          <p:cNvSpPr txBox="1"/>
          <p:nvPr/>
        </p:nvSpPr>
        <p:spPr>
          <a:xfrm>
            <a:off x="3557400" y="5801500"/>
            <a:ext cx="11173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/>
              <a:t>Seminario de Sistemas 1 - Seccion B</a:t>
            </a:r>
            <a:endParaRPr b="1" sz="4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/>
              <a:t>Marco Pablo Mazariegos Macario</a:t>
            </a:r>
            <a:endParaRPr b="1" i="0" sz="4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6" name="Google Shape;96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 txBox="1"/>
          <p:nvPr/>
        </p:nvSpPr>
        <p:spPr>
          <a:xfrm>
            <a:off x="1669741" y="2766935"/>
            <a:ext cx="151326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</a:t>
            </a:r>
            <a:r>
              <a:rPr lang="en-US" sz="6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9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</a:t>
            </a:r>
            <a:r>
              <a:rPr lang="en-US" sz="45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Inteligencia Artificial en Cloud Computing</a:t>
            </a: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” - I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2" name="Google Shape;102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10" name="Google Shape;110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grpSp>
        <p:nvGrpSpPr>
          <p:cNvPr id="111" name="Google Shape;111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421964" y="7243740"/>
            <a:ext cx="731003" cy="760368"/>
            <a:chOff x="0" y="0"/>
            <a:chExt cx="974670" cy="1013824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17" name="Google Shape;117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 txBox="1"/>
          <p:nvPr/>
        </p:nvSpPr>
        <p:spPr>
          <a:xfrm>
            <a:off x="7337351" y="274500"/>
            <a:ext cx="3996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8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2335952" y="5622246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Rekognition: Análisis de imágenes.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2335952" y="7045598"/>
            <a:ext cx="640786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Lex: Creación de chatbots.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grpSp>
        <p:nvGrpSpPr>
          <p:cNvPr id="125" name="Google Shape;125;p2"/>
          <p:cNvGrpSpPr/>
          <p:nvPr/>
        </p:nvGrpSpPr>
        <p:grpSpPr>
          <a:xfrm>
            <a:off x="1421964" y="8733768"/>
            <a:ext cx="731003" cy="760368"/>
            <a:chOff x="0" y="0"/>
            <a:chExt cx="974670" cy="1013824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9410394" y="5820388"/>
            <a:ext cx="731003" cy="760368"/>
            <a:chOff x="0" y="0"/>
            <a:chExt cx="974670" cy="1013824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31" name="Google Shape;131;p2"/>
          <p:cNvSpPr txBox="1"/>
          <p:nvPr/>
        </p:nvSpPr>
        <p:spPr>
          <a:xfrm>
            <a:off x="2335952" y="8535625"/>
            <a:ext cx="6052977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Polly: Conversión de texto a voz.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0435506" y="5341258"/>
            <a:ext cx="596336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Translate y Cognito: Traducción automática y autenticación.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41" name="Google Shape;141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2" name="Google Shape;142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44" name="Google Shape;144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45" name="Google Shape;145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8" name="Google Shape;148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3"/>
          <p:cNvSpPr/>
          <p:nvPr/>
        </p:nvSpPr>
        <p:spPr>
          <a:xfrm>
            <a:off x="11021535" y="2251729"/>
            <a:ext cx="6237765" cy="6356958"/>
          </a:xfrm>
          <a:custGeom>
            <a:rect b="b" l="l" r="r" t="t"/>
            <a:pathLst>
              <a:path extrusionOk="0" h="6356958" w="6237765">
                <a:moveTo>
                  <a:pt x="0" y="0"/>
                </a:moveTo>
                <a:lnTo>
                  <a:pt x="6237765" y="0"/>
                </a:lnTo>
                <a:lnTo>
                  <a:pt x="6237765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3"/>
          <p:cNvSpPr txBox="1"/>
          <p:nvPr/>
        </p:nvSpPr>
        <p:spPr>
          <a:xfrm>
            <a:off x="2630225" y="667400"/>
            <a:ext cx="140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Inteligencia </a:t>
            </a:r>
            <a:r>
              <a:rPr b="1" lang="en-US" sz="6999">
                <a:solidFill>
                  <a:srgbClr val="29303C"/>
                </a:solidFill>
              </a:rPr>
              <a:t>Artificial</a:t>
            </a: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1732118" y="3687133"/>
            <a:ext cx="8432979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la inteligencia llevada a cabo por máquinas, en ciencias de la computación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una máquina «inteligente» ideal es un agente flexible que percibe su entorno y lleva a cabo acciones que maximicen sus posibilidades de éxito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algún objetivo o tarea.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58" name="Google Shape;158;p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60" name="Google Shape;160;p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61" name="Google Shape;161;p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4989500" y="265125"/>
            <a:ext cx="863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 IA</a:t>
            </a:r>
            <a:endParaRPr/>
          </a:p>
        </p:txBody>
      </p:sp>
      <p:grpSp>
        <p:nvGrpSpPr>
          <p:cNvPr id="163" name="Google Shape;163;p4"/>
          <p:cNvGrpSpPr/>
          <p:nvPr/>
        </p:nvGrpSpPr>
        <p:grpSpPr>
          <a:xfrm>
            <a:off x="1028700" y="1560513"/>
            <a:ext cx="731003" cy="760368"/>
            <a:chOff x="0" y="0"/>
            <a:chExt cx="974670" cy="1013824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66" name="Google Shape;166;p4"/>
          <p:cNvSpPr txBox="1"/>
          <p:nvPr/>
        </p:nvSpPr>
        <p:spPr>
          <a:xfrm>
            <a:off x="1932633" y="1531938"/>
            <a:ext cx="14678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IAs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pueden realizar tareas repetitivas y monótonas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manera eficiente y sin errores, liberando a los humanos para realizar tareas más creativas y estratégicas.</a:t>
            </a:r>
            <a:endParaRPr/>
          </a:p>
        </p:txBody>
      </p:sp>
      <p:grpSp>
        <p:nvGrpSpPr>
          <p:cNvPr id="167" name="Google Shape;167;p4"/>
          <p:cNvGrpSpPr/>
          <p:nvPr/>
        </p:nvGrpSpPr>
        <p:grpSpPr>
          <a:xfrm>
            <a:off x="1028700" y="3671072"/>
            <a:ext cx="731003" cy="760368"/>
            <a:chOff x="0" y="0"/>
            <a:chExt cx="974670" cy="1013824"/>
          </a:xfrm>
        </p:grpSpPr>
        <p:sp>
          <p:nvSpPr>
            <p:cNvPr id="168" name="Google Shape;168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70" name="Google Shape;170;p4"/>
          <p:cNvSpPr txBox="1"/>
          <p:nvPr/>
        </p:nvSpPr>
        <p:spPr>
          <a:xfrm>
            <a:off x="1932633" y="3298781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muchos sectores, la IA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puede mejorar la eficiencia operativa al analizar grandes cantidades de datos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identificar patrones y tomar decisiones rápidas y precisas.</a:t>
            </a:r>
            <a:endParaRPr/>
          </a:p>
        </p:txBody>
      </p:sp>
      <p:grpSp>
        <p:nvGrpSpPr>
          <p:cNvPr id="171" name="Google Shape;171;p4"/>
          <p:cNvGrpSpPr/>
          <p:nvPr/>
        </p:nvGrpSpPr>
        <p:grpSpPr>
          <a:xfrm>
            <a:off x="1028700" y="5394281"/>
            <a:ext cx="731003" cy="760368"/>
            <a:chOff x="0" y="0"/>
            <a:chExt cx="974670" cy="1013824"/>
          </a:xfrm>
        </p:grpSpPr>
        <p:sp>
          <p:nvSpPr>
            <p:cNvPr id="172" name="Google Shape;172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74" name="Google Shape;174;p4"/>
          <p:cNvSpPr txBox="1"/>
          <p:nvPr/>
        </p:nvSpPr>
        <p:spPr>
          <a:xfrm>
            <a:off x="1932633" y="5365706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sistemas de IA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proporcionar análisis y recomendaciones basadas en datos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ayudando a los tomadores de decisiones a evaluar diferentes escenarios y tomar decisiones más informadas.</a:t>
            </a:r>
            <a:endParaRPr/>
          </a:p>
        </p:txBody>
      </p:sp>
      <p:grpSp>
        <p:nvGrpSpPr>
          <p:cNvPr id="175" name="Google Shape;175;p4"/>
          <p:cNvGrpSpPr/>
          <p:nvPr/>
        </p:nvGrpSpPr>
        <p:grpSpPr>
          <a:xfrm>
            <a:off x="1028700" y="7156406"/>
            <a:ext cx="731003" cy="760368"/>
            <a:chOff x="0" y="0"/>
            <a:chExt cx="974670" cy="1013824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78" name="Google Shape;178;p4"/>
          <p:cNvSpPr txBox="1"/>
          <p:nvPr/>
        </p:nvSpPr>
        <p:spPr>
          <a:xfrm>
            <a:off x="1932633" y="7127831"/>
            <a:ext cx="1504390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IA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impulsa la innovación al facilitar el desarrollo de tecnologías emergentes como vehículos autónomos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robótica avanzada, realidad aumentada y virtual, entre otros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5"/>
          <p:cNvSpPr/>
          <p:nvPr/>
        </p:nvSpPr>
        <p:spPr>
          <a:xfrm>
            <a:off x="3493371" y="196502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10" name="Google Shape;210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11" name="Google Shape;211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6"/>
          <p:cNvSpPr/>
          <p:nvPr/>
        </p:nvSpPr>
        <p:spPr>
          <a:xfrm>
            <a:off x="11554826" y="3727689"/>
            <a:ext cx="4402439" cy="4402439"/>
          </a:xfrm>
          <a:custGeom>
            <a:rect b="b" l="l" r="r" t="t"/>
            <a:pathLst>
              <a:path extrusionOk="0" h="4402439" w="4402439">
                <a:moveTo>
                  <a:pt x="0" y="0"/>
                </a:moveTo>
                <a:lnTo>
                  <a:pt x="4402439" y="0"/>
                </a:lnTo>
                <a:lnTo>
                  <a:pt x="4402439" y="4402439"/>
                </a:lnTo>
                <a:lnTo>
                  <a:pt x="0" y="4402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2341650" y="729500"/>
            <a:ext cx="13874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Rekognition?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1910454" y="1990284"/>
            <a:ext cx="8778300" cy="7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el análisis de imagen y video a sus aplicaciones con tecnologías probadas, altamente escalable y de aprendizaje profundo.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identificar objetos, personas, texto, escenas y actividades en imágenes y videos, además de detectar cualquier contenido inapropiado.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También proporciona análisis facial de alta precisión y capacidades de búsqueda facial que puede usar para detectar, analizar y comparar rostros.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7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23" name="Google Shape;223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24" name="Google Shape;224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7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26" name="Google Shape;226;p7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27" name="Google Shape;227;p7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7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29" name="Google Shape;229;p7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30" name="Google Shape;230;p7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7"/>
          <p:cNvSpPr txBox="1"/>
          <p:nvPr/>
        </p:nvSpPr>
        <p:spPr>
          <a:xfrm>
            <a:off x="1185775" y="484525"/>
            <a:ext cx="16955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se puede hacer con Rekognition?</a:t>
            </a:r>
            <a:endParaRPr/>
          </a:p>
        </p:txBody>
      </p:sp>
      <p:grpSp>
        <p:nvGrpSpPr>
          <p:cNvPr id="232" name="Google Shape;232;p7"/>
          <p:cNvGrpSpPr/>
          <p:nvPr/>
        </p:nvGrpSpPr>
        <p:grpSpPr>
          <a:xfrm>
            <a:off x="5549844" y="1929154"/>
            <a:ext cx="731003" cy="760368"/>
            <a:chOff x="0" y="0"/>
            <a:chExt cx="974670" cy="1013824"/>
          </a:xfrm>
        </p:grpSpPr>
        <p:sp>
          <p:nvSpPr>
            <p:cNvPr id="233" name="Google Shape;233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5549844" y="3060997"/>
            <a:ext cx="731003" cy="760368"/>
            <a:chOff x="0" y="0"/>
            <a:chExt cx="974670" cy="1013824"/>
          </a:xfrm>
        </p:grpSpPr>
        <p:sp>
          <p:nvSpPr>
            <p:cNvPr id="236" name="Google Shape;236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5549844" y="4222949"/>
            <a:ext cx="731003" cy="760368"/>
            <a:chOff x="0" y="0"/>
            <a:chExt cx="974670" cy="1013824"/>
          </a:xfrm>
        </p:grpSpPr>
        <p:sp>
          <p:nvSpPr>
            <p:cNvPr id="239" name="Google Shape;239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41" name="Google Shape;241;p7"/>
          <p:cNvSpPr txBox="1"/>
          <p:nvPr/>
        </p:nvSpPr>
        <p:spPr>
          <a:xfrm>
            <a:off x="647358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Detección Facial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6473580" y="3184006"/>
            <a:ext cx="7308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 objetos y escenas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6473580" y="434595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emociones</a:t>
            </a:r>
            <a:endParaRPr/>
          </a:p>
        </p:txBody>
      </p:sp>
      <p:grpSp>
        <p:nvGrpSpPr>
          <p:cNvPr id="244" name="Google Shape;244;p7"/>
          <p:cNvGrpSpPr/>
          <p:nvPr/>
        </p:nvGrpSpPr>
        <p:grpSpPr>
          <a:xfrm>
            <a:off x="5549844" y="5303014"/>
            <a:ext cx="731003" cy="760368"/>
            <a:chOff x="0" y="0"/>
            <a:chExt cx="974670" cy="1013824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5549844" y="6434857"/>
            <a:ext cx="731003" cy="760368"/>
            <a:chOff x="0" y="0"/>
            <a:chExt cx="974670" cy="1013824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250" name="Google Shape;250;p7"/>
          <p:cNvSpPr txBox="1"/>
          <p:nvPr/>
        </p:nvSpPr>
        <p:spPr>
          <a:xfrm>
            <a:off x="6473580" y="5426023"/>
            <a:ext cx="4943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 texto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6473580" y="655949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Comparación facial</a:t>
            </a:r>
            <a:endParaRPr/>
          </a:p>
        </p:txBody>
      </p:sp>
      <p:grpSp>
        <p:nvGrpSpPr>
          <p:cNvPr id="252" name="Google Shape;252;p7"/>
          <p:cNvGrpSpPr/>
          <p:nvPr/>
        </p:nvGrpSpPr>
        <p:grpSpPr>
          <a:xfrm>
            <a:off x="5549844" y="7597478"/>
            <a:ext cx="731003" cy="760368"/>
            <a:chOff x="0" y="0"/>
            <a:chExt cx="974670" cy="1013824"/>
          </a:xfrm>
        </p:grpSpPr>
        <p:sp>
          <p:nvSpPr>
            <p:cNvPr id="253" name="Google Shape;253;p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255" name="Google Shape;255;p7"/>
          <p:cNvSpPr txBox="1"/>
          <p:nvPr/>
        </p:nvSpPr>
        <p:spPr>
          <a:xfrm>
            <a:off x="6473580" y="7721548"/>
            <a:ext cx="70080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Seguimiento de objetos y personas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8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263" name="Google Shape;263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65" name="Google Shape;265;p8"/>
          <p:cNvGrpSpPr/>
          <p:nvPr/>
        </p:nvGrpSpPr>
        <p:grpSpPr>
          <a:xfrm>
            <a:off x="1517594" y="3060997"/>
            <a:ext cx="731003" cy="760368"/>
            <a:chOff x="0" y="0"/>
            <a:chExt cx="974670" cy="1013824"/>
          </a:xfrm>
        </p:grpSpPr>
        <p:sp>
          <p:nvSpPr>
            <p:cNvPr id="266" name="Google Shape;26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68" name="Google Shape;268;p8"/>
          <p:cNvGrpSpPr/>
          <p:nvPr/>
        </p:nvGrpSpPr>
        <p:grpSpPr>
          <a:xfrm>
            <a:off x="1517594" y="4222949"/>
            <a:ext cx="731003" cy="760368"/>
            <a:chOff x="0" y="0"/>
            <a:chExt cx="974670" cy="1013824"/>
          </a:xfrm>
        </p:grpSpPr>
        <p:sp>
          <p:nvSpPr>
            <p:cNvPr id="269" name="Google Shape;269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71" name="Google Shape;271;p8"/>
          <p:cNvGrpSpPr/>
          <p:nvPr/>
        </p:nvGrpSpPr>
        <p:grpSpPr>
          <a:xfrm>
            <a:off x="1517594" y="5303014"/>
            <a:ext cx="731003" cy="760368"/>
            <a:chOff x="0" y="0"/>
            <a:chExt cx="974670" cy="1013824"/>
          </a:xfrm>
        </p:grpSpPr>
        <p:sp>
          <p:nvSpPr>
            <p:cNvPr id="272" name="Google Shape;272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274" name="Google Shape;274;p8"/>
          <p:cNvGrpSpPr/>
          <p:nvPr/>
        </p:nvGrpSpPr>
        <p:grpSpPr>
          <a:xfrm>
            <a:off x="1517594" y="6434857"/>
            <a:ext cx="731003" cy="760368"/>
            <a:chOff x="0" y="0"/>
            <a:chExt cx="974670" cy="1013824"/>
          </a:xfrm>
        </p:grpSpPr>
        <p:sp>
          <p:nvSpPr>
            <p:cNvPr id="275" name="Google Shape;275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277" name="Google Shape;277;p8"/>
          <p:cNvGrpSpPr/>
          <p:nvPr/>
        </p:nvGrpSpPr>
        <p:grpSpPr>
          <a:xfrm>
            <a:off x="1517594" y="7597478"/>
            <a:ext cx="731003" cy="760368"/>
            <a:chOff x="0" y="0"/>
            <a:chExt cx="974670" cy="1013824"/>
          </a:xfrm>
        </p:grpSpPr>
        <p:sp>
          <p:nvSpPr>
            <p:cNvPr id="278" name="Google Shape;278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280" name="Google Shape;280;p8"/>
          <p:cNvSpPr/>
          <p:nvPr/>
        </p:nvSpPr>
        <p:spPr>
          <a:xfrm>
            <a:off x="10608231" y="2276119"/>
            <a:ext cx="5991433" cy="6356958"/>
          </a:xfrm>
          <a:custGeom>
            <a:rect b="b" l="l" r="r" t="t"/>
            <a:pathLst>
              <a:path extrusionOk="0" h="6356958" w="5991433">
                <a:moveTo>
                  <a:pt x="0" y="0"/>
                </a:moveTo>
                <a:lnTo>
                  <a:pt x="5991434" y="0"/>
                </a:lnTo>
                <a:lnTo>
                  <a:pt x="599143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8"/>
          <p:cNvSpPr txBox="1"/>
          <p:nvPr/>
        </p:nvSpPr>
        <p:spPr>
          <a:xfrm>
            <a:off x="1517600" y="439725"/>
            <a:ext cx="15099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REKOGNITION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Verificación de Identidad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2441330" y="3184006"/>
            <a:ext cx="7308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Moderación de contenido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2441330" y="434595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Organización de Fotos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2441330" y="5426023"/>
            <a:ext cx="4943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Seguridad y Vigilancia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2441330" y="6559498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Emociones en la publicidad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2441330" y="7721548"/>
            <a:ext cx="700802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Detección de fraudes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93" name="Google Shape;293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94" name="Google Shape;294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9"/>
          <p:cNvSpPr/>
          <p:nvPr/>
        </p:nvSpPr>
        <p:spPr>
          <a:xfrm>
            <a:off x="1028700" y="3044790"/>
            <a:ext cx="16230600" cy="3793903"/>
          </a:xfrm>
          <a:custGeom>
            <a:rect b="b" l="l" r="r" t="t"/>
            <a:pathLst>
              <a:path extrusionOk="0" h="3793903" w="16230600">
                <a:moveTo>
                  <a:pt x="0" y="0"/>
                </a:moveTo>
                <a:lnTo>
                  <a:pt x="16230600" y="0"/>
                </a:lnTo>
                <a:lnTo>
                  <a:pt x="16230600" y="3793903"/>
                </a:lnTo>
                <a:lnTo>
                  <a:pt x="0" y="3793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9"/>
          <p:cNvSpPr txBox="1"/>
          <p:nvPr/>
        </p:nvSpPr>
        <p:spPr>
          <a:xfrm>
            <a:off x="2402350" y="1480500"/>
            <a:ext cx="13274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REKOGNITION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0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02" name="Google Shape;302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03" name="Google Shape;303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0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05" name="Google Shape;305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6" name="Google Shape;306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08" name="Google Shape;308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9" name="Google Shape;309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11" name="Google Shape;311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12" name="Google Shape;312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10"/>
          <p:cNvSpPr/>
          <p:nvPr/>
        </p:nvSpPr>
        <p:spPr>
          <a:xfrm>
            <a:off x="3589125" y="2805817"/>
            <a:ext cx="11109750" cy="4675366"/>
          </a:xfrm>
          <a:custGeom>
            <a:rect b="b" l="l" r="r" t="t"/>
            <a:pathLst>
              <a:path extrusionOk="0" h="4675366" w="11109750">
                <a:moveTo>
                  <a:pt x="0" y="0"/>
                </a:moveTo>
                <a:lnTo>
                  <a:pt x="11109750" y="0"/>
                </a:lnTo>
                <a:lnTo>
                  <a:pt x="11109750" y="4675366"/>
                </a:lnTo>
                <a:lnTo>
                  <a:pt x="0" y="4675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00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1"/>
          <p:cNvGrpSpPr/>
          <p:nvPr/>
        </p:nvGrpSpPr>
        <p:grpSpPr>
          <a:xfrm>
            <a:off x="0" y="-171146"/>
            <a:ext cx="566738" cy="2834568"/>
            <a:chOff x="0" y="-38100"/>
            <a:chExt cx="149264" cy="746553"/>
          </a:xfrm>
        </p:grpSpPr>
        <p:sp>
          <p:nvSpPr>
            <p:cNvPr id="319" name="Google Shape;319;p11"/>
            <p:cNvSpPr/>
            <p:nvPr/>
          </p:nvSpPr>
          <p:spPr>
            <a:xfrm>
              <a:off x="0" y="0"/>
              <a:ext cx="149264" cy="708453"/>
            </a:xfrm>
            <a:custGeom>
              <a:rect b="b" l="l" r="r" t="t"/>
              <a:pathLst>
                <a:path extrusionOk="0" h="708453" w="149264">
                  <a:moveTo>
                    <a:pt x="0" y="0"/>
                  </a:moveTo>
                  <a:lnTo>
                    <a:pt x="149264" y="0"/>
                  </a:lnTo>
                  <a:lnTo>
                    <a:pt x="149264" y="708453"/>
                  </a:lnTo>
                  <a:lnTo>
                    <a:pt x="0" y="70845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20" name="Google Shape;320;p11"/>
            <p:cNvSpPr txBox="1"/>
            <p:nvPr/>
          </p:nvSpPr>
          <p:spPr>
            <a:xfrm>
              <a:off x="0" y="-38100"/>
              <a:ext cx="149264" cy="74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1"/>
          <p:cNvGrpSpPr/>
          <p:nvPr/>
        </p:nvGrpSpPr>
        <p:grpSpPr>
          <a:xfrm>
            <a:off x="0" y="-144661"/>
            <a:ext cx="1133475" cy="1463129"/>
            <a:chOff x="0" y="-38100"/>
            <a:chExt cx="298528" cy="385351"/>
          </a:xfrm>
        </p:grpSpPr>
        <p:sp>
          <p:nvSpPr>
            <p:cNvPr id="322" name="Google Shape;322;p11"/>
            <p:cNvSpPr/>
            <p:nvPr/>
          </p:nvSpPr>
          <p:spPr>
            <a:xfrm>
              <a:off x="0" y="0"/>
              <a:ext cx="298528" cy="347251"/>
            </a:xfrm>
            <a:custGeom>
              <a:rect b="b" l="l" r="r" t="t"/>
              <a:pathLst>
                <a:path extrusionOk="0" h="347251" w="298528">
                  <a:moveTo>
                    <a:pt x="0" y="0"/>
                  </a:moveTo>
                  <a:lnTo>
                    <a:pt x="298528" y="0"/>
                  </a:lnTo>
                  <a:lnTo>
                    <a:pt x="298528" y="347251"/>
                  </a:lnTo>
                  <a:lnTo>
                    <a:pt x="0" y="3472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3" name="Google Shape;323;p11"/>
            <p:cNvSpPr txBox="1"/>
            <p:nvPr/>
          </p:nvSpPr>
          <p:spPr>
            <a:xfrm>
              <a:off x="0" y="-38100"/>
              <a:ext cx="298528" cy="385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1"/>
          <p:cNvGrpSpPr/>
          <p:nvPr/>
        </p:nvGrpSpPr>
        <p:grpSpPr>
          <a:xfrm>
            <a:off x="16776087" y="8921922"/>
            <a:ext cx="2344551" cy="2157882"/>
            <a:chOff x="0" y="-38100"/>
            <a:chExt cx="617495" cy="568331"/>
          </a:xfrm>
        </p:grpSpPr>
        <p:sp>
          <p:nvSpPr>
            <p:cNvPr id="325" name="Google Shape;325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26" name="Google Shape;326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1"/>
          <p:cNvGrpSpPr/>
          <p:nvPr/>
        </p:nvGrpSpPr>
        <p:grpSpPr>
          <a:xfrm>
            <a:off x="17577588" y="6952876"/>
            <a:ext cx="3086100" cy="3120318"/>
            <a:chOff x="0" y="-38100"/>
            <a:chExt cx="812800" cy="821812"/>
          </a:xfrm>
        </p:grpSpPr>
        <p:sp>
          <p:nvSpPr>
            <p:cNvPr id="328" name="Google Shape;328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29" name="Google Shape;329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1"/>
          <p:cNvSpPr txBox="1"/>
          <p:nvPr/>
        </p:nvSpPr>
        <p:spPr>
          <a:xfrm>
            <a:off x="1831975" y="2489114"/>
            <a:ext cx="8807743" cy="6851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 de traducción automática neuronal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ofrece una solución eficaz y rápida para la traducción entre idiomas. 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traducción automática neuronal es una forma de automatización de traducciones entre idiomas que 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usa modelos de aprendizaje profundo para ofrecer traducciones más naturales y precisas</a:t>
            </a: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los algoritmos estadísticos tradicionales y de traducción basado en reglas.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capa gratuita del servicio </a:t>
            </a:r>
            <a:r>
              <a:rPr b="1" i="0" lang="en-US" sz="27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incluye la traducción de hasta 2 millones de caracteres por mes.</a:t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12177333" y="3909142"/>
            <a:ext cx="4039533" cy="4039533"/>
          </a:xfrm>
          <a:custGeom>
            <a:rect b="b" l="l" r="r" t="t"/>
            <a:pathLst>
              <a:path extrusionOk="0" h="4039533" w="4039533">
                <a:moveTo>
                  <a:pt x="0" y="0"/>
                </a:moveTo>
                <a:lnTo>
                  <a:pt x="4039534" y="0"/>
                </a:lnTo>
                <a:lnTo>
                  <a:pt x="4039534" y="4039533"/>
                </a:lnTo>
                <a:lnTo>
                  <a:pt x="0" y="4039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1"/>
          <p:cNvSpPr txBox="1"/>
          <p:nvPr/>
        </p:nvSpPr>
        <p:spPr>
          <a:xfrm>
            <a:off x="3341726" y="707500"/>
            <a:ext cx="12017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Translate?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9" name="Google Shape;339;p12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340" name="Google Shape;340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42" name="Google Shape;342;p12"/>
          <p:cNvGrpSpPr/>
          <p:nvPr/>
        </p:nvGrpSpPr>
        <p:grpSpPr>
          <a:xfrm>
            <a:off x="8079234" y="1929154"/>
            <a:ext cx="731003" cy="760368"/>
            <a:chOff x="0" y="0"/>
            <a:chExt cx="974670" cy="1013824"/>
          </a:xfrm>
        </p:grpSpPr>
        <p:sp>
          <p:nvSpPr>
            <p:cNvPr id="343" name="Google Shape;343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45" name="Google Shape;345;p12"/>
          <p:cNvGrpSpPr/>
          <p:nvPr/>
        </p:nvGrpSpPr>
        <p:grpSpPr>
          <a:xfrm>
            <a:off x="1517594" y="3145906"/>
            <a:ext cx="731003" cy="760368"/>
            <a:chOff x="0" y="0"/>
            <a:chExt cx="974670" cy="1013824"/>
          </a:xfrm>
        </p:grpSpPr>
        <p:sp>
          <p:nvSpPr>
            <p:cNvPr id="346" name="Google Shape;346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48" name="Google Shape;348;p12"/>
          <p:cNvGrpSpPr/>
          <p:nvPr/>
        </p:nvGrpSpPr>
        <p:grpSpPr>
          <a:xfrm>
            <a:off x="8079234" y="3145906"/>
            <a:ext cx="731003" cy="760368"/>
            <a:chOff x="0" y="0"/>
            <a:chExt cx="974670" cy="1013824"/>
          </a:xfrm>
        </p:grpSpPr>
        <p:sp>
          <p:nvSpPr>
            <p:cNvPr id="349" name="Google Shape;349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51" name="Google Shape;351;p12"/>
          <p:cNvSpPr txBox="1"/>
          <p:nvPr/>
        </p:nvSpPr>
        <p:spPr>
          <a:xfrm>
            <a:off x="1139575" y="408325"/>
            <a:ext cx="1410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TRANSLATE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</a:t>
            </a:r>
            <a:endParaRPr/>
          </a:p>
        </p:txBody>
      </p:sp>
      <p:sp>
        <p:nvSpPr>
          <p:cNvPr id="353" name="Google Shape;353;p12"/>
          <p:cNvSpPr txBox="1"/>
          <p:nvPr/>
        </p:nvSpPr>
        <p:spPr>
          <a:xfrm>
            <a:off x="9002970" y="2052163"/>
            <a:ext cx="83884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Traducir automáticamente el contenido Web</a:t>
            </a:r>
            <a:endParaRPr/>
          </a:p>
        </p:txBody>
      </p:sp>
      <p:sp>
        <p:nvSpPr>
          <p:cNvPr id="354" name="Google Shape;354;p12"/>
          <p:cNvSpPr txBox="1"/>
          <p:nvPr/>
        </p:nvSpPr>
        <p:spPr>
          <a:xfrm>
            <a:off x="2441330" y="3117331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Traducir comunicaciones en tiempo real.</a:t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9002970" y="3061813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Funciones multilenguaje en aplicaciones internacionales.</a:t>
            </a: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862375" y="4650850"/>
            <a:ext cx="13598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TRANSLATE</a:t>
            </a:r>
            <a:endParaRPr/>
          </a:p>
        </p:txBody>
      </p:sp>
      <p:grpSp>
        <p:nvGrpSpPr>
          <p:cNvPr id="357" name="Google Shape;357;p12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358" name="Google Shape;358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60" name="Google Shape;360;p12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361" name="Google Shape;361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63" name="Google Shape;363;p12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364" name="Google Shape;364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66" name="Google Shape;366;p12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367" name="Google Shape;367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69" name="Google Shape;369;p12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9011917" y="6125688"/>
            <a:ext cx="8832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precisa con aprendizaje automático</a:t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2450278" y="7190856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 Variedad de idiomas</a:t>
            </a:r>
            <a:endParaRPr/>
          </a:p>
        </p:txBody>
      </p:sp>
      <p:sp>
        <p:nvSpPr>
          <p:cNvPr id="372" name="Google Shape;372;p12"/>
          <p:cNvSpPr txBox="1"/>
          <p:nvPr/>
        </p:nvSpPr>
        <p:spPr>
          <a:xfrm>
            <a:off x="9011917" y="7135338"/>
            <a:ext cx="825856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 en tiempo real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3"/>
          <p:cNvGrpSpPr/>
          <p:nvPr/>
        </p:nvGrpSpPr>
        <p:grpSpPr>
          <a:xfrm>
            <a:off x="-1543050" y="8931406"/>
            <a:ext cx="3086100" cy="3120318"/>
            <a:chOff x="0" y="-38100"/>
            <a:chExt cx="812800" cy="821812"/>
          </a:xfrm>
        </p:grpSpPr>
        <p:sp>
          <p:nvSpPr>
            <p:cNvPr id="378" name="Google Shape;378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79" name="Google Shape;379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81" name="Google Shape;381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82" name="Google Shape;382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84" name="Google Shape;384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85" name="Google Shape;385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87" name="Google Shape;387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88" name="Google Shape;388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3"/>
          <p:cNvSpPr/>
          <p:nvPr/>
        </p:nvSpPr>
        <p:spPr>
          <a:xfrm>
            <a:off x="1638052" y="2634304"/>
            <a:ext cx="15011896" cy="5235399"/>
          </a:xfrm>
          <a:custGeom>
            <a:rect b="b" l="l" r="r" t="t"/>
            <a:pathLst>
              <a:path extrusionOk="0" h="5235399" w="15011896">
                <a:moveTo>
                  <a:pt x="0" y="0"/>
                </a:moveTo>
                <a:lnTo>
                  <a:pt x="15011896" y="0"/>
                </a:lnTo>
                <a:lnTo>
                  <a:pt x="15011896" y="5235399"/>
                </a:lnTo>
                <a:lnTo>
                  <a:pt x="0" y="5235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0" name="Google Shape;390;p13"/>
          <p:cNvSpPr txBox="1"/>
          <p:nvPr/>
        </p:nvSpPr>
        <p:spPr>
          <a:xfrm>
            <a:off x="2956750" y="1561150"/>
            <a:ext cx="1121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TRANSLATE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1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96" name="Google Shape;396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97" name="Google Shape;397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99" name="Google Shape;399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00" name="Google Shape;400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02" name="Google Shape;402;p1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03" name="Google Shape;403;p1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05" name="Google Shape;405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06" name="Google Shape;406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14"/>
          <p:cNvSpPr/>
          <p:nvPr/>
        </p:nvSpPr>
        <p:spPr>
          <a:xfrm>
            <a:off x="3036131" y="2532489"/>
            <a:ext cx="12010649" cy="5222022"/>
          </a:xfrm>
          <a:custGeom>
            <a:rect b="b" l="l" r="r" t="t"/>
            <a:pathLst>
              <a:path extrusionOk="0" h="5222022" w="12010649">
                <a:moveTo>
                  <a:pt x="0" y="0"/>
                </a:moveTo>
                <a:lnTo>
                  <a:pt x="12010650" y="0"/>
                </a:lnTo>
                <a:lnTo>
                  <a:pt x="12010650" y="5222022"/>
                </a:lnTo>
                <a:lnTo>
                  <a:pt x="0" y="5222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13" name="Google Shape;413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14" name="Google Shape;414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16" name="Google Shape;416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17" name="Google Shape;417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5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419" name="Google Shape;419;p1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20" name="Google Shape;420;p1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1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22" name="Google Shape;422;p1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23" name="Google Shape;423;p1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p15"/>
          <p:cNvSpPr/>
          <p:nvPr/>
        </p:nvSpPr>
        <p:spPr>
          <a:xfrm>
            <a:off x="6909317" y="5304469"/>
            <a:ext cx="4773649" cy="4313539"/>
          </a:xfrm>
          <a:custGeom>
            <a:rect b="b" l="l" r="r" t="t"/>
            <a:pathLst>
              <a:path extrusionOk="0" h="4313539" w="4773649">
                <a:moveTo>
                  <a:pt x="0" y="0"/>
                </a:moveTo>
                <a:lnTo>
                  <a:pt x="4773649" y="0"/>
                </a:lnTo>
                <a:lnTo>
                  <a:pt x="4773649" y="4313539"/>
                </a:lnTo>
                <a:lnTo>
                  <a:pt x="0" y="4313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5"/>
          <p:cNvSpPr txBox="1"/>
          <p:nvPr/>
        </p:nvSpPr>
        <p:spPr>
          <a:xfrm>
            <a:off x="1028700" y="1338768"/>
            <a:ext cx="1578310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servicio para la creación de interfaces de conversación con voz y texto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cualquier aplicación.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las funcionalidades de aprendizaje profundo avanzadas del reconocimiento automático de voz para convertir voz en texto y tecnología de comprensión del lenguaje natural para reconocer la intención del texto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lo que permite crear aplicaciones con experiencias de usuario muy interactivas y conversaciones realistas.</a:t>
            </a:r>
            <a:endParaRPr/>
          </a:p>
        </p:txBody>
      </p:sp>
      <p:sp>
        <p:nvSpPr>
          <p:cNvPr id="426" name="Google Shape;426;p15"/>
          <p:cNvSpPr txBox="1"/>
          <p:nvPr/>
        </p:nvSpPr>
        <p:spPr>
          <a:xfrm>
            <a:off x="5604914" y="554543"/>
            <a:ext cx="738245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Lex?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6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3" name="Google Shape;433;p16"/>
          <p:cNvGrpSpPr/>
          <p:nvPr/>
        </p:nvGrpSpPr>
        <p:grpSpPr>
          <a:xfrm>
            <a:off x="1517594" y="1929154"/>
            <a:ext cx="731003" cy="760368"/>
            <a:chOff x="0" y="0"/>
            <a:chExt cx="974670" cy="1013824"/>
          </a:xfrm>
        </p:grpSpPr>
        <p:sp>
          <p:nvSpPr>
            <p:cNvPr id="434" name="Google Shape;434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36" name="Google Shape;436;p16"/>
          <p:cNvGrpSpPr/>
          <p:nvPr/>
        </p:nvGrpSpPr>
        <p:grpSpPr>
          <a:xfrm>
            <a:off x="8626288" y="1929154"/>
            <a:ext cx="731003" cy="760368"/>
            <a:chOff x="0" y="0"/>
            <a:chExt cx="974670" cy="1013824"/>
          </a:xfrm>
        </p:grpSpPr>
        <p:sp>
          <p:nvSpPr>
            <p:cNvPr id="437" name="Google Shape;437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439" name="Google Shape;439;p16"/>
          <p:cNvGrpSpPr/>
          <p:nvPr/>
        </p:nvGrpSpPr>
        <p:grpSpPr>
          <a:xfrm>
            <a:off x="1517594" y="3145906"/>
            <a:ext cx="731003" cy="760368"/>
            <a:chOff x="0" y="0"/>
            <a:chExt cx="974670" cy="1013824"/>
          </a:xfrm>
        </p:grpSpPr>
        <p:sp>
          <p:nvSpPr>
            <p:cNvPr id="440" name="Google Shape;440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442" name="Google Shape;442;p16"/>
          <p:cNvGrpSpPr/>
          <p:nvPr/>
        </p:nvGrpSpPr>
        <p:grpSpPr>
          <a:xfrm>
            <a:off x="8626288" y="3145906"/>
            <a:ext cx="731003" cy="760368"/>
            <a:chOff x="0" y="0"/>
            <a:chExt cx="974670" cy="1013824"/>
          </a:xfrm>
        </p:grpSpPr>
        <p:sp>
          <p:nvSpPr>
            <p:cNvPr id="443" name="Google Shape;443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45" name="Google Shape;445;p16"/>
          <p:cNvSpPr txBox="1"/>
          <p:nvPr/>
        </p:nvSpPr>
        <p:spPr>
          <a:xfrm>
            <a:off x="1432374" y="627400"/>
            <a:ext cx="1074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LEX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2441330" y="2052163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Traducción de documentos</a:t>
            </a:r>
            <a:endParaRPr/>
          </a:p>
        </p:txBody>
      </p:sp>
      <p:sp>
        <p:nvSpPr>
          <p:cNvPr id="447" name="Google Shape;447;p16"/>
          <p:cNvSpPr txBox="1"/>
          <p:nvPr/>
        </p:nvSpPr>
        <p:spPr>
          <a:xfrm>
            <a:off x="9550023" y="2052571"/>
            <a:ext cx="646759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Reservas y Programación de Citas</a:t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2441330" y="2814163"/>
            <a:ext cx="5994458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Desarrollar asistentes virtuales que brinden capacitación y soporte interno.</a:t>
            </a:r>
            <a:endParaRPr/>
          </a:p>
        </p:txBody>
      </p:sp>
      <p:sp>
        <p:nvSpPr>
          <p:cNvPr id="449" name="Google Shape;449;p16"/>
          <p:cNvSpPr txBox="1"/>
          <p:nvPr/>
        </p:nvSpPr>
        <p:spPr>
          <a:xfrm>
            <a:off x="9550023" y="3061813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Formularios Interactivos y Recopilación de Datos a través de conversaciones naturales.</a:t>
            </a:r>
            <a:endParaRPr/>
          </a:p>
        </p:txBody>
      </p:sp>
      <p:sp>
        <p:nvSpPr>
          <p:cNvPr id="450" name="Google Shape;450;p16"/>
          <p:cNvSpPr txBox="1"/>
          <p:nvPr/>
        </p:nvSpPr>
        <p:spPr>
          <a:xfrm>
            <a:off x="1432374" y="4700125"/>
            <a:ext cx="947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LEX</a:t>
            </a:r>
            <a:endParaRPr/>
          </a:p>
        </p:txBody>
      </p:sp>
      <p:grpSp>
        <p:nvGrpSpPr>
          <p:cNvPr id="451" name="Google Shape;451;p16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452" name="Google Shape;45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54" name="Google Shape;454;p16"/>
          <p:cNvGrpSpPr/>
          <p:nvPr/>
        </p:nvGrpSpPr>
        <p:grpSpPr>
          <a:xfrm>
            <a:off x="8626288" y="6002679"/>
            <a:ext cx="731003" cy="760368"/>
            <a:chOff x="0" y="0"/>
            <a:chExt cx="974670" cy="1013824"/>
          </a:xfrm>
        </p:grpSpPr>
        <p:sp>
          <p:nvSpPr>
            <p:cNvPr id="455" name="Google Shape;455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457" name="Google Shape;457;p16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458" name="Google Shape;458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460" name="Google Shape;460;p16"/>
          <p:cNvGrpSpPr/>
          <p:nvPr/>
        </p:nvGrpSpPr>
        <p:grpSpPr>
          <a:xfrm>
            <a:off x="8626288" y="7219431"/>
            <a:ext cx="731003" cy="760368"/>
            <a:chOff x="0" y="0"/>
            <a:chExt cx="974670" cy="1013824"/>
          </a:xfrm>
        </p:grpSpPr>
        <p:sp>
          <p:nvSpPr>
            <p:cNvPr id="461" name="Google Shape;461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63" name="Google Shape;463;p16"/>
          <p:cNvSpPr txBox="1"/>
          <p:nvPr/>
        </p:nvSpPr>
        <p:spPr>
          <a:xfrm>
            <a:off x="2441330" y="5878038"/>
            <a:ext cx="563790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Reconocimiento del lenguaje natural</a:t>
            </a:r>
            <a:endParaRPr/>
          </a:p>
        </p:txBody>
      </p:sp>
      <p:sp>
        <p:nvSpPr>
          <p:cNvPr id="464" name="Google Shape;464;p16"/>
          <p:cNvSpPr txBox="1"/>
          <p:nvPr/>
        </p:nvSpPr>
        <p:spPr>
          <a:xfrm>
            <a:off x="9550023" y="6125688"/>
            <a:ext cx="791222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Facilidad de uso a través de su consola</a:t>
            </a:r>
            <a:endParaRPr/>
          </a:p>
        </p:txBody>
      </p:sp>
      <p:sp>
        <p:nvSpPr>
          <p:cNvPr id="465" name="Google Shape;465;p16"/>
          <p:cNvSpPr txBox="1"/>
          <p:nvPr/>
        </p:nvSpPr>
        <p:spPr>
          <a:xfrm>
            <a:off x="2450278" y="7190856"/>
            <a:ext cx="500777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Amplia compatibilidad con diferentes idiomas </a:t>
            </a: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9541075" y="7190856"/>
            <a:ext cx="721081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Chatbots y asistentes virtuales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1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72" name="Google Shape;472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73" name="Google Shape;473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75" name="Google Shape;475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76" name="Google Shape;476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1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78" name="Google Shape;478;p1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479" name="Google Shape;479;p1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1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81" name="Google Shape;481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482" name="Google Shape;482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7"/>
          <p:cNvSpPr/>
          <p:nvPr/>
        </p:nvSpPr>
        <p:spPr>
          <a:xfrm>
            <a:off x="6413823" y="2023297"/>
            <a:ext cx="5460355" cy="6240405"/>
          </a:xfrm>
          <a:custGeom>
            <a:rect b="b" l="l" r="r" t="t"/>
            <a:pathLst>
              <a:path extrusionOk="0" h="6240405" w="5460355">
                <a:moveTo>
                  <a:pt x="0" y="0"/>
                </a:moveTo>
                <a:lnTo>
                  <a:pt x="5460354" y="0"/>
                </a:lnTo>
                <a:lnTo>
                  <a:pt x="5460354" y="6240406"/>
                </a:lnTo>
                <a:lnTo>
                  <a:pt x="0" y="6240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9" name="Google Shape;489;p1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18"/>
          <p:cNvSpPr txBox="1"/>
          <p:nvPr/>
        </p:nvSpPr>
        <p:spPr>
          <a:xfrm>
            <a:off x="862010" y="1838325"/>
            <a:ext cx="9798229" cy="741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que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convierte texto en voz realista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lo que nos permite crear aplicaciones que hablan y crear categorías completamente nuevas de productos habilitados para voz.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servicio Text-to-Speech (TTS)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Polly utiliza tecnologías avanzadas de aprendizaje profundo para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sintetizar el habla humana que suena natural.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Además de las voces TTS estándar, Amazon Polly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voces Neural Text-to-Speech (NTTS)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que brindan mejoras avanzadas en la calidad del habla o a través de un nuevo enfoque de aprendizaje automático.</a:t>
            </a:r>
            <a:endParaRPr/>
          </a:p>
        </p:txBody>
      </p:sp>
      <p:sp>
        <p:nvSpPr>
          <p:cNvPr id="491" name="Google Shape;491;p18"/>
          <p:cNvSpPr/>
          <p:nvPr/>
        </p:nvSpPr>
        <p:spPr>
          <a:xfrm>
            <a:off x="10942630" y="2022044"/>
            <a:ext cx="6483360" cy="6321276"/>
          </a:xfrm>
          <a:custGeom>
            <a:rect b="b" l="l" r="r" t="t"/>
            <a:pathLst>
              <a:path extrusionOk="0" h="6321276" w="6483360">
                <a:moveTo>
                  <a:pt x="0" y="0"/>
                </a:moveTo>
                <a:lnTo>
                  <a:pt x="6483360" y="0"/>
                </a:lnTo>
                <a:lnTo>
                  <a:pt x="6483360" y="6321275"/>
                </a:lnTo>
                <a:lnTo>
                  <a:pt x="0" y="6321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2" name="Google Shape;492;p18"/>
          <p:cNvSpPr txBox="1"/>
          <p:nvPr/>
        </p:nvSpPr>
        <p:spPr>
          <a:xfrm>
            <a:off x="4358125" y="439725"/>
            <a:ext cx="1054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Polly?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19"/>
          <p:cNvGrpSpPr/>
          <p:nvPr/>
        </p:nvGrpSpPr>
        <p:grpSpPr>
          <a:xfrm>
            <a:off x="1526542" y="1710939"/>
            <a:ext cx="731003" cy="760368"/>
            <a:chOff x="0" y="0"/>
            <a:chExt cx="974670" cy="1013824"/>
          </a:xfrm>
        </p:grpSpPr>
        <p:sp>
          <p:nvSpPr>
            <p:cNvPr id="498" name="Google Shape;498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00" name="Google Shape;500;p19"/>
          <p:cNvGrpSpPr/>
          <p:nvPr/>
        </p:nvGrpSpPr>
        <p:grpSpPr>
          <a:xfrm>
            <a:off x="1517594" y="2728482"/>
            <a:ext cx="731003" cy="760368"/>
            <a:chOff x="0" y="0"/>
            <a:chExt cx="974670" cy="1013824"/>
          </a:xfrm>
        </p:grpSpPr>
        <p:sp>
          <p:nvSpPr>
            <p:cNvPr id="501" name="Google Shape;501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503" name="Google Shape;503;p19"/>
          <p:cNvGrpSpPr/>
          <p:nvPr/>
        </p:nvGrpSpPr>
        <p:grpSpPr>
          <a:xfrm>
            <a:off x="1517594" y="3746025"/>
            <a:ext cx="731003" cy="760368"/>
            <a:chOff x="0" y="0"/>
            <a:chExt cx="974670" cy="1013824"/>
          </a:xfrm>
        </p:grpSpPr>
        <p:sp>
          <p:nvSpPr>
            <p:cNvPr id="504" name="Google Shape;504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506" name="Google Shape;506;p19"/>
          <p:cNvSpPr txBox="1"/>
          <p:nvPr/>
        </p:nvSpPr>
        <p:spPr>
          <a:xfrm>
            <a:off x="1342976" y="408325"/>
            <a:ext cx="12085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POLLY</a:t>
            </a:r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2450278" y="1833948"/>
            <a:ext cx="1748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Telefonía</a:t>
            </a:r>
            <a:endParaRPr/>
          </a:p>
        </p:txBody>
      </p:sp>
      <p:sp>
        <p:nvSpPr>
          <p:cNvPr id="508" name="Google Shape;508;p19"/>
          <p:cNvSpPr txBox="1"/>
          <p:nvPr/>
        </p:nvSpPr>
        <p:spPr>
          <a:xfrm>
            <a:off x="2441330" y="2851491"/>
            <a:ext cx="1451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que ayuden a personas con discapacidad auditiva o visual</a:t>
            </a:r>
            <a:endParaRPr/>
          </a:p>
        </p:txBody>
      </p:sp>
      <p:sp>
        <p:nvSpPr>
          <p:cNvPr id="509" name="Google Shape;509;p19"/>
          <p:cNvSpPr txBox="1"/>
          <p:nvPr/>
        </p:nvSpPr>
        <p:spPr>
          <a:xfrm>
            <a:off x="2441330" y="3869034"/>
            <a:ext cx="1451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Complementar la creación de contenido con comunicaciones audiovisuales.</a:t>
            </a:r>
            <a:endParaRPr/>
          </a:p>
        </p:txBody>
      </p:sp>
      <p:sp>
        <p:nvSpPr>
          <p:cNvPr id="510" name="Google Shape;510;p19"/>
          <p:cNvSpPr txBox="1"/>
          <p:nvPr/>
        </p:nvSpPr>
        <p:spPr>
          <a:xfrm>
            <a:off x="1342976" y="4650850"/>
            <a:ext cx="11315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POLLY</a:t>
            </a:r>
            <a:endParaRPr/>
          </a:p>
        </p:txBody>
      </p:sp>
      <p:grpSp>
        <p:nvGrpSpPr>
          <p:cNvPr id="511" name="Google Shape;511;p19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512" name="Google Shape;512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14" name="Google Shape;514;p19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515" name="Google Shape;515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517" name="Google Shape;517;p19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518" name="Google Shape;518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520" name="Google Shape;520;p19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521" name="Google Shape;521;p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523" name="Google Shape;523;p19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Voces con sonido natural</a:t>
            </a:r>
            <a:endParaRPr/>
          </a:p>
        </p:txBody>
      </p:sp>
      <p:sp>
        <p:nvSpPr>
          <p:cNvPr id="524" name="Google Shape;524;p19"/>
          <p:cNvSpPr txBox="1"/>
          <p:nvPr/>
        </p:nvSpPr>
        <p:spPr>
          <a:xfrm>
            <a:off x="9011917" y="5878038"/>
            <a:ext cx="88329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personalizar y controlar el resultado de la locución</a:t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2450278" y="7190856"/>
            <a:ext cx="5007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Bajos</a:t>
            </a:r>
            <a:endParaRPr/>
          </a:p>
        </p:txBody>
      </p:sp>
      <p:sp>
        <p:nvSpPr>
          <p:cNvPr id="526" name="Google Shape;526;p19"/>
          <p:cNvSpPr txBox="1"/>
          <p:nvPr/>
        </p:nvSpPr>
        <p:spPr>
          <a:xfrm>
            <a:off x="9011917" y="7094790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Transmisión en tiempo real para reproducir las voces inmediatamente.</a:t>
            </a:r>
            <a:endParaRPr/>
          </a:p>
        </p:txBody>
      </p:sp>
      <p:grpSp>
        <p:nvGrpSpPr>
          <p:cNvPr id="527" name="Google Shape;527;p1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528" name="Google Shape;528;p1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29" name="Google Shape;529;p1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/>
          <p:nvPr/>
        </p:nvSpPr>
        <p:spPr>
          <a:xfrm>
            <a:off x="1606715" y="2598380"/>
            <a:ext cx="15074571" cy="5090241"/>
          </a:xfrm>
          <a:custGeom>
            <a:rect b="b" l="l" r="r" t="t"/>
            <a:pathLst>
              <a:path extrusionOk="0" h="5090241" w="15074571">
                <a:moveTo>
                  <a:pt x="0" y="0"/>
                </a:moveTo>
                <a:lnTo>
                  <a:pt x="15074570" y="0"/>
                </a:lnTo>
                <a:lnTo>
                  <a:pt x="15074570" y="5090240"/>
                </a:lnTo>
                <a:lnTo>
                  <a:pt x="0" y="5090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4703" t="0"/>
            </a:stretch>
          </a:blipFill>
          <a:ln>
            <a:noFill/>
          </a:ln>
        </p:spPr>
      </p:sp>
      <p:sp>
        <p:nvSpPr>
          <p:cNvPr id="535" name="Google Shape;535;p20"/>
          <p:cNvSpPr txBox="1"/>
          <p:nvPr/>
        </p:nvSpPr>
        <p:spPr>
          <a:xfrm>
            <a:off x="2833550" y="1511300"/>
            <a:ext cx="1272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AMAZON POLLY</a:t>
            </a:r>
            <a:endParaRPr/>
          </a:p>
        </p:txBody>
      </p:sp>
      <p:sp>
        <p:nvSpPr>
          <p:cNvPr id="536" name="Google Shape;536;p20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20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2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543" name="Google Shape;543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544" name="Google Shape;544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5" name="Google Shape;545;p2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546" name="Google Shape;546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47" name="Google Shape;547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2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549" name="Google Shape;549;p2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550" name="Google Shape;550;p2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2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552" name="Google Shape;552;p2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553" name="Google Shape;553;p2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4" name="Google Shape;554;p21"/>
          <p:cNvSpPr/>
          <p:nvPr/>
        </p:nvSpPr>
        <p:spPr>
          <a:xfrm>
            <a:off x="3001641" y="1833808"/>
            <a:ext cx="12284718" cy="6619385"/>
          </a:xfrm>
          <a:custGeom>
            <a:rect b="b" l="l" r="r" t="t"/>
            <a:pathLst>
              <a:path extrusionOk="0" h="6619385" w="12284718">
                <a:moveTo>
                  <a:pt x="0" y="0"/>
                </a:moveTo>
                <a:lnTo>
                  <a:pt x="12284718" y="0"/>
                </a:lnTo>
                <a:lnTo>
                  <a:pt x="12284718" y="6619384"/>
                </a:lnTo>
                <a:lnTo>
                  <a:pt x="0" y="6619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319" r="-731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0" name="Google Shape;560;p2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1" name="Google Shape;561;p22"/>
          <p:cNvSpPr/>
          <p:nvPr/>
        </p:nvSpPr>
        <p:spPr>
          <a:xfrm>
            <a:off x="10937925" y="1943100"/>
            <a:ext cx="6476901" cy="6323075"/>
          </a:xfrm>
          <a:custGeom>
            <a:rect b="b" l="l" r="r" t="t"/>
            <a:pathLst>
              <a:path extrusionOk="0" h="6323075" w="6476901">
                <a:moveTo>
                  <a:pt x="0" y="0"/>
                </a:moveTo>
                <a:lnTo>
                  <a:pt x="6476900" y="0"/>
                </a:lnTo>
                <a:lnTo>
                  <a:pt x="6476900" y="6323075"/>
                </a:lnTo>
                <a:lnTo>
                  <a:pt x="0" y="632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2" name="Google Shape;562;p22"/>
          <p:cNvSpPr txBox="1"/>
          <p:nvPr/>
        </p:nvSpPr>
        <p:spPr>
          <a:xfrm>
            <a:off x="830260" y="1914525"/>
            <a:ext cx="9798229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la autenticación, autorización y gestión de usuarios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aplicaciones web y móviles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la autenticación y autorización a nuestras aplicaciones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sin tener que crear y administrar nuestro propio sistema de autenticación.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varias funciones, incluyendo la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y gestión de usuarios, la autenticación mediante diferentes proveedores de identidad y gestión de roles y permisos.</a:t>
            </a:r>
            <a:endParaRPr/>
          </a:p>
        </p:txBody>
      </p:sp>
      <p:sp>
        <p:nvSpPr>
          <p:cNvPr id="563" name="Google Shape;563;p22"/>
          <p:cNvSpPr txBox="1"/>
          <p:nvPr/>
        </p:nvSpPr>
        <p:spPr>
          <a:xfrm>
            <a:off x="3018350" y="439725"/>
            <a:ext cx="11906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Amazon Cognito?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23"/>
          <p:cNvGrpSpPr/>
          <p:nvPr/>
        </p:nvGrpSpPr>
        <p:grpSpPr>
          <a:xfrm>
            <a:off x="1526542" y="1710939"/>
            <a:ext cx="731003" cy="760368"/>
            <a:chOff x="0" y="0"/>
            <a:chExt cx="974670" cy="1013824"/>
          </a:xfrm>
        </p:grpSpPr>
        <p:sp>
          <p:nvSpPr>
            <p:cNvPr id="569" name="Google Shape;569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71" name="Google Shape;571;p23"/>
          <p:cNvGrpSpPr/>
          <p:nvPr/>
        </p:nvGrpSpPr>
        <p:grpSpPr>
          <a:xfrm>
            <a:off x="1517594" y="2728482"/>
            <a:ext cx="731003" cy="760368"/>
            <a:chOff x="0" y="0"/>
            <a:chExt cx="974670" cy="1013824"/>
          </a:xfrm>
        </p:grpSpPr>
        <p:sp>
          <p:nvSpPr>
            <p:cNvPr id="572" name="Google Shape;572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574" name="Google Shape;574;p23"/>
          <p:cNvGrpSpPr/>
          <p:nvPr/>
        </p:nvGrpSpPr>
        <p:grpSpPr>
          <a:xfrm>
            <a:off x="1517594" y="3746025"/>
            <a:ext cx="731003" cy="760368"/>
            <a:chOff x="0" y="0"/>
            <a:chExt cx="974670" cy="1013824"/>
          </a:xfrm>
        </p:grpSpPr>
        <p:sp>
          <p:nvSpPr>
            <p:cNvPr id="575" name="Google Shape;575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577" name="Google Shape;577;p23"/>
          <p:cNvSpPr txBox="1"/>
          <p:nvPr/>
        </p:nvSpPr>
        <p:spPr>
          <a:xfrm>
            <a:off x="1081175" y="376475"/>
            <a:ext cx="1352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COGNITO</a:t>
            </a:r>
            <a:endParaRPr/>
          </a:p>
        </p:txBody>
      </p:sp>
      <p:sp>
        <p:nvSpPr>
          <p:cNvPr id="578" name="Google Shape;578;p23"/>
          <p:cNvSpPr txBox="1"/>
          <p:nvPr/>
        </p:nvSpPr>
        <p:spPr>
          <a:xfrm>
            <a:off x="2450278" y="1833948"/>
            <a:ext cx="10073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Autenticación y Autorización en Aplicaciones Móviles</a:t>
            </a:r>
            <a:endParaRPr/>
          </a:p>
        </p:txBody>
      </p:sp>
      <p:sp>
        <p:nvSpPr>
          <p:cNvPr id="579" name="Google Shape;579;p23"/>
          <p:cNvSpPr txBox="1"/>
          <p:nvPr/>
        </p:nvSpPr>
        <p:spPr>
          <a:xfrm>
            <a:off x="2441330" y="2851491"/>
            <a:ext cx="725845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Acceso Seguro a Recursos de AWS</a:t>
            </a:r>
            <a:endParaRPr/>
          </a:p>
        </p:txBody>
      </p:sp>
      <p:sp>
        <p:nvSpPr>
          <p:cNvPr id="580" name="Google Shape;580;p23"/>
          <p:cNvSpPr txBox="1"/>
          <p:nvPr/>
        </p:nvSpPr>
        <p:spPr>
          <a:xfrm>
            <a:off x="2450278" y="3621384"/>
            <a:ext cx="14516902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el ámbito empresarial, se implementa en aplicaciones internas y herramientas de colaboración. </a:t>
            </a:r>
            <a:endParaRPr/>
          </a:p>
        </p:txBody>
      </p:sp>
      <p:sp>
        <p:nvSpPr>
          <p:cNvPr id="581" name="Google Shape;581;p23"/>
          <p:cNvSpPr txBox="1"/>
          <p:nvPr/>
        </p:nvSpPr>
        <p:spPr>
          <a:xfrm>
            <a:off x="1262775" y="4763913"/>
            <a:ext cx="11891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COGNITO</a:t>
            </a:r>
            <a:endParaRPr/>
          </a:p>
        </p:txBody>
      </p:sp>
      <p:grpSp>
        <p:nvGrpSpPr>
          <p:cNvPr id="582" name="Google Shape;582;p23"/>
          <p:cNvGrpSpPr/>
          <p:nvPr/>
        </p:nvGrpSpPr>
        <p:grpSpPr>
          <a:xfrm>
            <a:off x="1526542" y="6002679"/>
            <a:ext cx="731003" cy="760368"/>
            <a:chOff x="0" y="0"/>
            <a:chExt cx="974670" cy="1013824"/>
          </a:xfrm>
        </p:grpSpPr>
        <p:sp>
          <p:nvSpPr>
            <p:cNvPr id="583" name="Google Shape;583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85" name="Google Shape;585;p23"/>
          <p:cNvGrpSpPr/>
          <p:nvPr/>
        </p:nvGrpSpPr>
        <p:grpSpPr>
          <a:xfrm>
            <a:off x="8088182" y="6002679"/>
            <a:ext cx="731003" cy="760368"/>
            <a:chOff x="0" y="0"/>
            <a:chExt cx="974670" cy="1013824"/>
          </a:xfrm>
        </p:grpSpPr>
        <p:sp>
          <p:nvSpPr>
            <p:cNvPr id="586" name="Google Shape;586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588" name="Google Shape;588;p23"/>
          <p:cNvGrpSpPr/>
          <p:nvPr/>
        </p:nvGrpSpPr>
        <p:grpSpPr>
          <a:xfrm>
            <a:off x="1526542" y="7219431"/>
            <a:ext cx="731003" cy="760368"/>
            <a:chOff x="0" y="0"/>
            <a:chExt cx="974670" cy="1013824"/>
          </a:xfrm>
        </p:grpSpPr>
        <p:sp>
          <p:nvSpPr>
            <p:cNvPr id="589" name="Google Shape;589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591" name="Google Shape;591;p23"/>
          <p:cNvGrpSpPr/>
          <p:nvPr/>
        </p:nvGrpSpPr>
        <p:grpSpPr>
          <a:xfrm>
            <a:off x="8088182" y="7219431"/>
            <a:ext cx="731003" cy="760368"/>
            <a:chOff x="0" y="0"/>
            <a:chExt cx="974670" cy="1013824"/>
          </a:xfrm>
        </p:grpSpPr>
        <p:sp>
          <p:nvSpPr>
            <p:cNvPr id="592" name="Google Shape;592;p2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594" name="Google Shape;594;p23"/>
          <p:cNvSpPr txBox="1"/>
          <p:nvPr/>
        </p:nvSpPr>
        <p:spPr>
          <a:xfrm>
            <a:off x="2450278" y="6125688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Voces con sonido natural</a:t>
            </a:r>
            <a:endParaRPr/>
          </a:p>
        </p:txBody>
      </p:sp>
      <p:sp>
        <p:nvSpPr>
          <p:cNvPr id="595" name="Google Shape;595;p23"/>
          <p:cNvSpPr txBox="1"/>
          <p:nvPr/>
        </p:nvSpPr>
        <p:spPr>
          <a:xfrm>
            <a:off x="9011917" y="5878038"/>
            <a:ext cx="88329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personalizar y controlar el resultado de la locución</a:t>
            </a:r>
            <a:endParaRPr/>
          </a:p>
        </p:txBody>
      </p:sp>
      <p:sp>
        <p:nvSpPr>
          <p:cNvPr id="596" name="Google Shape;596;p23"/>
          <p:cNvSpPr txBox="1"/>
          <p:nvPr/>
        </p:nvSpPr>
        <p:spPr>
          <a:xfrm>
            <a:off x="2450278" y="7190856"/>
            <a:ext cx="5007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Bajos</a:t>
            </a:r>
            <a:endParaRPr/>
          </a:p>
        </p:txBody>
      </p:sp>
      <p:sp>
        <p:nvSpPr>
          <p:cNvPr id="597" name="Google Shape;597;p23"/>
          <p:cNvSpPr txBox="1"/>
          <p:nvPr/>
        </p:nvSpPr>
        <p:spPr>
          <a:xfrm>
            <a:off x="9011917" y="7094790"/>
            <a:ext cx="8258563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Transmisión en tiempo real para reproducir las voces inmediatamente.</a:t>
            </a:r>
            <a:endParaRPr/>
          </a:p>
        </p:txBody>
      </p:sp>
      <p:grpSp>
        <p:nvGrpSpPr>
          <p:cNvPr id="598" name="Google Shape;598;p2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599" name="Google Shape;599;p2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00" name="Google Shape;600;p2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4"/>
          <p:cNvSpPr/>
          <p:nvPr/>
        </p:nvSpPr>
        <p:spPr>
          <a:xfrm>
            <a:off x="2052814" y="2574181"/>
            <a:ext cx="15690498" cy="5138638"/>
          </a:xfrm>
          <a:custGeom>
            <a:rect b="b" l="l" r="r" t="t"/>
            <a:pathLst>
              <a:path extrusionOk="0" h="5138638" w="15690498">
                <a:moveTo>
                  <a:pt x="0" y="0"/>
                </a:moveTo>
                <a:lnTo>
                  <a:pt x="15690497" y="0"/>
                </a:lnTo>
                <a:lnTo>
                  <a:pt x="15690497" y="5138638"/>
                </a:lnTo>
                <a:lnTo>
                  <a:pt x="0" y="5138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6" name="Google Shape;606;p24"/>
          <p:cNvSpPr txBox="1"/>
          <p:nvPr/>
        </p:nvSpPr>
        <p:spPr>
          <a:xfrm>
            <a:off x="3110750" y="1511300"/>
            <a:ext cx="1336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EMPRESAS QUE USAN AMAZON COGNITO</a:t>
            </a:r>
            <a:endParaRPr/>
          </a:p>
        </p:txBody>
      </p:sp>
      <p:grpSp>
        <p:nvGrpSpPr>
          <p:cNvPr id="607" name="Google Shape;607;p2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608" name="Google Shape;608;p2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09" name="Google Shape;609;p2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0" name="Google Shape;610;p2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611" name="Google Shape;611;p2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12" name="Google Shape;612;p2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24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614" name="Google Shape;614;p24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15" name="Google Shape;615;p24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6" name="Google Shape;616;p24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617" name="Google Shape;617;p24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18" name="Google Shape;618;p24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2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625" name="Google Shape;625;p2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2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627" name="Google Shape;627;p2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628" name="Google Shape;628;p2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9" name="Google Shape;629;p25"/>
          <p:cNvSpPr/>
          <p:nvPr/>
        </p:nvSpPr>
        <p:spPr>
          <a:xfrm>
            <a:off x="1343513" y="1715119"/>
            <a:ext cx="15600974" cy="7254453"/>
          </a:xfrm>
          <a:custGeom>
            <a:rect b="b" l="l" r="r" t="t"/>
            <a:pathLst>
              <a:path extrusionOk="0" h="7254453" w="15600974">
                <a:moveTo>
                  <a:pt x="0" y="0"/>
                </a:moveTo>
                <a:lnTo>
                  <a:pt x="15600974" y="0"/>
                </a:lnTo>
                <a:lnTo>
                  <a:pt x="15600974" y="7254453"/>
                </a:lnTo>
                <a:lnTo>
                  <a:pt x="0" y="7254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0" name="Google Shape;630;p25"/>
          <p:cNvSpPr txBox="1"/>
          <p:nvPr/>
        </p:nvSpPr>
        <p:spPr>
          <a:xfrm>
            <a:off x="1343525" y="458625"/>
            <a:ext cx="1601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OFRECEN SUS CAPAS GRATUITAS?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"/>
          <p:cNvSpPr txBox="1"/>
          <p:nvPr/>
        </p:nvSpPr>
        <p:spPr>
          <a:xfrm>
            <a:off x="6168735" y="2476681"/>
            <a:ext cx="686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/>
          </a:p>
        </p:txBody>
      </p:sp>
      <p:sp>
        <p:nvSpPr>
          <p:cNvPr id="636" name="Google Shape;636;p26"/>
          <p:cNvSpPr txBox="1"/>
          <p:nvPr/>
        </p:nvSpPr>
        <p:spPr>
          <a:xfrm>
            <a:off x="1911259" y="3540306"/>
            <a:ext cx="14581800" cy="3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IMPLEMENTACIÓN DE TRANSLATE, POLLY Y REKOGNITION EN WEB APPS</a:t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 flipH="1" rot="5675120">
            <a:off x="7631704" y="868549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8" name="Google Shape;638;p26"/>
          <p:cNvSpPr/>
          <p:nvPr/>
        </p:nvSpPr>
        <p:spPr>
          <a:xfrm flipH="1" rot="5675120">
            <a:off x="7815660" y="1046787"/>
            <a:ext cx="3140904" cy="18377629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/>
          <p:nvPr/>
        </p:nvSpPr>
        <p:spPr>
          <a:xfrm>
            <a:off x="6110523" y="2800106"/>
            <a:ext cx="686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/>
          </a:p>
        </p:txBody>
      </p:sp>
      <p:sp>
        <p:nvSpPr>
          <p:cNvPr id="644" name="Google Shape;644;p27"/>
          <p:cNvSpPr txBox="1"/>
          <p:nvPr/>
        </p:nvSpPr>
        <p:spPr>
          <a:xfrm>
            <a:off x="1853046" y="3863731"/>
            <a:ext cx="14581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CHATBOT MEDIANTE AMAZON LEX</a:t>
            </a:r>
            <a:endParaRPr/>
          </a:p>
        </p:txBody>
      </p:sp>
      <p:sp>
        <p:nvSpPr>
          <p:cNvPr id="645" name="Google Shape;645;p2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6" name="Google Shape;646;p2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8"/>
          <p:cNvSpPr txBox="1"/>
          <p:nvPr/>
        </p:nvSpPr>
        <p:spPr>
          <a:xfrm>
            <a:off x="5907210" y="2599906"/>
            <a:ext cx="746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III</a:t>
            </a:r>
            <a:endParaRPr/>
          </a:p>
        </p:txBody>
      </p:sp>
      <p:sp>
        <p:nvSpPr>
          <p:cNvPr id="652" name="Google Shape;652;p28"/>
          <p:cNvSpPr txBox="1"/>
          <p:nvPr/>
        </p:nvSpPr>
        <p:spPr>
          <a:xfrm>
            <a:off x="1951359" y="3716500"/>
            <a:ext cx="14581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COGNITO PARA LA GESTIÓN DE USUARIOS</a:t>
            </a:r>
            <a:endParaRPr/>
          </a:p>
        </p:txBody>
      </p:sp>
      <p:sp>
        <p:nvSpPr>
          <p:cNvPr id="653" name="Google Shape;653;p2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4" name="Google Shape;654;p2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 txBox="1"/>
          <p:nvPr/>
        </p:nvSpPr>
        <p:spPr>
          <a:xfrm>
            <a:off x="5294443" y="153997"/>
            <a:ext cx="745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660" name="Google Shape;660;p29"/>
          <p:cNvSpPr txBox="1"/>
          <p:nvPr/>
        </p:nvSpPr>
        <p:spPr>
          <a:xfrm>
            <a:off x="689104" y="1384297"/>
            <a:ext cx="16474500" cy="7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Diseñar aplicaciones y servicios con la privacidad como prioridad, utilizando buenas prácticas de cifrado, control de accesos.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Informar claramente a los usuarios sobre cómo se almacenan, procesan y utilizan sus datos en la nube.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Asegurarse de que los trabajos no causen daño, respetar los derechos de los participantes en investigaciones y considerar el impacto social de los proyectos.</a:t>
            </a:r>
            <a:endParaRPr/>
          </a:p>
        </p:txBody>
      </p:sp>
      <p:sp>
        <p:nvSpPr>
          <p:cNvPr id="661" name="Google Shape;661;p29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2" name="Google Shape;662;p29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0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8" name="Google Shape;668;p3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9" name="Google Shape;669;p3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0" name="Google Shape;670;p30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671" name="Google Shape;671;p30"/>
          <p:cNvSpPr txBox="1"/>
          <p:nvPr/>
        </p:nvSpPr>
        <p:spPr>
          <a:xfrm>
            <a:off x="3865123" y="2672525"/>
            <a:ext cx="6083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/>
          </a:p>
        </p:txBody>
      </p:sp>
      <p:grpSp>
        <p:nvGrpSpPr>
          <p:cNvPr id="672" name="Google Shape;672;p30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673" name="Google Shape;673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75" name="Google Shape;675;p30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676" name="Google Shape;676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678" name="Google Shape;678;p30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679" name="Google Shape;679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681" name="Google Shape;681;p30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682" name="Google Shape;682;p3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684" name="Google Shape;684;p30"/>
          <p:cNvSpPr txBox="1"/>
          <p:nvPr/>
        </p:nvSpPr>
        <p:spPr>
          <a:xfrm>
            <a:off x="3865123" y="4841875"/>
            <a:ext cx="4758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 natural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3865124" y="6067150"/>
            <a:ext cx="5297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3865124" y="3740025"/>
            <a:ext cx="5636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imagenes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3" name="Google Shape;693;p31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694" name="Google Shape;694;p31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sp>
        <p:nvSpPr>
          <p:cNvPr id="695" name="Google Shape;695;p31"/>
          <p:cNvSpPr txBox="1"/>
          <p:nvPr/>
        </p:nvSpPr>
        <p:spPr>
          <a:xfrm>
            <a:off x="7775691" y="507350"/>
            <a:ext cx="9514500" cy="89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Lex – Build conversational interfaces into any application using voice and text. AWS.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https://aws.amazon.com/lex/ 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Translate – Neural machine translation service. AWS.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https://aws.amazon.com/translate/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Polly – Text-to-speech service that turns text into lifelike speech.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https://aws.amazon.com/polly/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Rekognition – Analyze image and video.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25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https://aws.amazon.com/rekog</a:t>
            </a:r>
            <a:r>
              <a:rPr b="0" i="0" lang="en-US" sz="2825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25" cap="none" strike="noStrike">
                <a:solidFill>
                  <a:srgbClr val="29303C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ition/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Services, Inc. (n.d.). Amazon Cognito – Secure user sign-up, sign-in, and access control. AWS.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https://aws.amazon.com/cognito/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2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701" name="Google Shape;701;p3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2" name="Google Shape;702;p3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3" name="Google Shape;703;p32"/>
          <p:cNvSpPr txBox="1"/>
          <p:nvPr/>
        </p:nvSpPr>
        <p:spPr>
          <a:xfrm>
            <a:off x="6949660" y="5086350"/>
            <a:ext cx="43410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