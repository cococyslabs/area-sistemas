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10287000" cx="18288000"/>
  <p:notesSz cx="6858000" cy="9144000"/>
  <p:embeddedFontLst>
    <p:embeddedFont>
      <p:font typeface="Hammersmith One"/>
      <p:regular r:id="rId25"/>
    </p:embeddedFont>
    <p:embeddedFont>
      <p:font typeface="Open Sans"/>
      <p:bold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gAmF3woCP0/Ja3V6sWq4qIGcTA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.fntdata"/><Relationship Id="rId25" Type="http://schemas.openxmlformats.org/officeDocument/2006/relationships/font" Target="fonts/HammersmithOne-regular.fntdata"/><Relationship Id="rId28" Type="http://customschemas.google.com/relationships/presentationmetadata" Target="metadata"/><Relationship Id="rId27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3252288" y="201103"/>
            <a:ext cx="4684163" cy="1457826"/>
          </a:xfrm>
          <a:custGeom>
            <a:rect b="b" l="l" r="r" t="t"/>
            <a:pathLst>
              <a:path extrusionOk="0" h="1457826" w="4684163">
                <a:moveTo>
                  <a:pt x="0" y="0"/>
                </a:moveTo>
                <a:lnTo>
                  <a:pt x="4684163" y="0"/>
                </a:lnTo>
                <a:lnTo>
                  <a:pt x="4684163" y="1457827"/>
                </a:lnTo>
                <a:lnTo>
                  <a:pt x="0" y="1457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85" name="Google Shape;85;p1"/>
          <p:cNvCxnSpPr/>
          <p:nvPr/>
        </p:nvCxnSpPr>
        <p:spPr>
          <a:xfrm>
            <a:off x="507314" y="8149956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121F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1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1669741" y="2766935"/>
            <a:ext cx="15132474" cy="1857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UNIDAD 7</a:t>
            </a:r>
            <a:endParaRPr/>
          </a:p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“Configuración de Arquitecturas Serverless”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507314" y="8207106"/>
            <a:ext cx="4887216" cy="1313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Escuela de Ingenieria de Ciencias y Sistemas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Facultad de Ingenieria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94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07314" y="7380141"/>
            <a:ext cx="6186876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Seminario de Sistemas 1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91" name="Google Shape;91;p1"/>
          <p:cNvCxnSpPr/>
          <p:nvPr/>
        </p:nvCxnSpPr>
        <p:spPr>
          <a:xfrm>
            <a:off x="6360815" y="3853064"/>
            <a:ext cx="586122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2"/>
          <p:cNvGrpSpPr/>
          <p:nvPr/>
        </p:nvGrpSpPr>
        <p:grpSpPr>
          <a:xfrm>
            <a:off x="1421964" y="2747250"/>
            <a:ext cx="731003" cy="760368"/>
            <a:chOff x="0" y="0"/>
            <a:chExt cx="974670" cy="1013824"/>
          </a:xfrm>
        </p:grpSpPr>
        <p:sp>
          <p:nvSpPr>
            <p:cNvPr id="97" name="Google Shape;97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99" name="Google Shape;99;p2"/>
          <p:cNvSpPr/>
          <p:nvPr/>
        </p:nvSpPr>
        <p:spPr>
          <a:xfrm rot="5400000">
            <a:off x="12857023" y="4742132"/>
            <a:ext cx="10861953" cy="802736"/>
          </a:xfrm>
          <a:custGeom>
            <a:rect b="b" l="l" r="r" t="t"/>
            <a:pathLst>
              <a:path extrusionOk="0" h="802736" w="10861953">
                <a:moveTo>
                  <a:pt x="0" y="0"/>
                </a:moveTo>
                <a:lnTo>
                  <a:pt x="10861954" y="0"/>
                </a:lnTo>
                <a:lnTo>
                  <a:pt x="10861954" y="802736"/>
                </a:lnTo>
                <a:lnTo>
                  <a:pt x="0" y="802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42591" l="-170" r="-7086" t="-308576"/>
            </a:stretch>
          </a:blipFill>
          <a:ln>
            <a:noFill/>
          </a:ln>
        </p:spPr>
      </p:sp>
      <p:grpSp>
        <p:nvGrpSpPr>
          <p:cNvPr id="100" name="Google Shape;100;p2"/>
          <p:cNvGrpSpPr/>
          <p:nvPr/>
        </p:nvGrpSpPr>
        <p:grpSpPr>
          <a:xfrm>
            <a:off x="1421964" y="5820388"/>
            <a:ext cx="731003" cy="760368"/>
            <a:chOff x="0" y="0"/>
            <a:chExt cx="974670" cy="1013824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03" name="Google Shape;103;p2"/>
          <p:cNvGrpSpPr/>
          <p:nvPr/>
        </p:nvGrpSpPr>
        <p:grpSpPr>
          <a:xfrm>
            <a:off x="1421964" y="6990935"/>
            <a:ext cx="731003" cy="760368"/>
            <a:chOff x="0" y="0"/>
            <a:chExt cx="974670" cy="1013824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cxnSp>
        <p:nvCxnSpPr>
          <p:cNvPr id="106" name="Google Shape;106;p2"/>
          <p:cNvCxnSpPr/>
          <p:nvPr/>
        </p:nvCxnSpPr>
        <p:spPr>
          <a:xfrm>
            <a:off x="1211924" y="2318625"/>
            <a:ext cx="4643555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2"/>
          <p:cNvCxnSpPr/>
          <p:nvPr/>
        </p:nvCxnSpPr>
        <p:spPr>
          <a:xfrm>
            <a:off x="1211924" y="5296513"/>
            <a:ext cx="212922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2"/>
          <p:cNvSpPr txBox="1"/>
          <p:nvPr/>
        </p:nvSpPr>
        <p:spPr>
          <a:xfrm>
            <a:off x="6729676" y="274500"/>
            <a:ext cx="4082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2640377" y="2830096"/>
            <a:ext cx="1401532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Foro 5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2335952" y="5933228"/>
            <a:ext cx="9942352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AWS Lambda: Ejecución de código sin servidores.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2335952" y="7073780"/>
            <a:ext cx="7995369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Amazon API Gateway: Gestión de APIs.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1211924" y="1300032"/>
            <a:ext cx="4643555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Recordatorios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1211924" y="4208720"/>
            <a:ext cx="2248057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Temas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3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119" name="Google Shape;119;p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120" name="Google Shape;120;p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3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122" name="Google Shape;122;p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23" name="Google Shape;123;p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3"/>
          <p:cNvGrpSpPr/>
          <p:nvPr/>
        </p:nvGrpSpPr>
        <p:grpSpPr>
          <a:xfrm>
            <a:off x="11812774" y="9645946"/>
            <a:ext cx="1419225" cy="641054"/>
            <a:chOff x="0" y="-38100"/>
            <a:chExt cx="373788" cy="168838"/>
          </a:xfrm>
        </p:grpSpPr>
        <p:sp>
          <p:nvSpPr>
            <p:cNvPr id="125" name="Google Shape;125;p3"/>
            <p:cNvSpPr/>
            <p:nvPr/>
          </p:nvSpPr>
          <p:spPr>
            <a:xfrm>
              <a:off x="0" y="0"/>
              <a:ext cx="373788" cy="130738"/>
            </a:xfrm>
            <a:custGeom>
              <a:rect b="b" l="l" r="r" t="t"/>
              <a:pathLst>
                <a:path extrusionOk="0" h="130738" w="373788">
                  <a:moveTo>
                    <a:pt x="0" y="0"/>
                  </a:moveTo>
                  <a:lnTo>
                    <a:pt x="373788" y="0"/>
                  </a:lnTo>
                  <a:lnTo>
                    <a:pt x="373788" y="130738"/>
                  </a:lnTo>
                  <a:lnTo>
                    <a:pt x="0" y="130738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126" name="Google Shape;126;p3"/>
            <p:cNvSpPr txBox="1"/>
            <p:nvPr/>
          </p:nvSpPr>
          <p:spPr>
            <a:xfrm>
              <a:off x="0" y="-38100"/>
              <a:ext cx="373788" cy="168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3"/>
          <p:cNvGrpSpPr/>
          <p:nvPr/>
        </p:nvGrpSpPr>
        <p:grpSpPr>
          <a:xfrm>
            <a:off x="12038199" y="9467051"/>
            <a:ext cx="6249801" cy="819949"/>
            <a:chOff x="0" y="-38100"/>
            <a:chExt cx="1646038" cy="215954"/>
          </a:xfrm>
        </p:grpSpPr>
        <p:sp>
          <p:nvSpPr>
            <p:cNvPr id="128" name="Google Shape;128;p3"/>
            <p:cNvSpPr/>
            <p:nvPr/>
          </p:nvSpPr>
          <p:spPr>
            <a:xfrm>
              <a:off x="0" y="0"/>
              <a:ext cx="1646038" cy="177854"/>
            </a:xfrm>
            <a:custGeom>
              <a:rect b="b" l="l" r="r" t="t"/>
              <a:pathLst>
                <a:path extrusionOk="0" h="177854" w="1646038">
                  <a:moveTo>
                    <a:pt x="0" y="0"/>
                  </a:moveTo>
                  <a:lnTo>
                    <a:pt x="1646038" y="0"/>
                  </a:lnTo>
                  <a:lnTo>
                    <a:pt x="1646038" y="177854"/>
                  </a:lnTo>
                  <a:lnTo>
                    <a:pt x="0" y="177854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29" name="Google Shape;129;p3"/>
            <p:cNvSpPr txBox="1"/>
            <p:nvPr/>
          </p:nvSpPr>
          <p:spPr>
            <a:xfrm>
              <a:off x="0" y="-38100"/>
              <a:ext cx="1646038" cy="215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3"/>
          <p:cNvSpPr/>
          <p:nvPr/>
        </p:nvSpPr>
        <p:spPr>
          <a:xfrm>
            <a:off x="7074009" y="5257800"/>
            <a:ext cx="4139981" cy="4139981"/>
          </a:xfrm>
          <a:custGeom>
            <a:rect b="b" l="l" r="r" t="t"/>
            <a:pathLst>
              <a:path extrusionOk="0" h="4139981" w="4139981">
                <a:moveTo>
                  <a:pt x="0" y="0"/>
                </a:moveTo>
                <a:lnTo>
                  <a:pt x="4139982" y="0"/>
                </a:lnTo>
                <a:lnTo>
                  <a:pt x="4139982" y="4139981"/>
                </a:lnTo>
                <a:lnTo>
                  <a:pt x="0" y="4139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p3"/>
          <p:cNvSpPr txBox="1"/>
          <p:nvPr/>
        </p:nvSpPr>
        <p:spPr>
          <a:xfrm>
            <a:off x="4219525" y="342800"/>
            <a:ext cx="93021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es Serverless?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1474698" y="2181225"/>
            <a:ext cx="15338604" cy="296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Serverless computing es un modelo de ejecución de computación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en la nube en el que los desarrolladores ya no tienen que gestionar servidores, solo despliegan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código.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Serverless no significa que no haya servidores,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significa que simplemente no se gestionan, provisionan o ven.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4"/>
          <p:cNvGrpSpPr/>
          <p:nvPr/>
        </p:nvGrpSpPr>
        <p:grpSpPr>
          <a:xfrm>
            <a:off x="0" y="8824911"/>
            <a:ext cx="7251395" cy="1479444"/>
            <a:chOff x="0" y="-38100"/>
            <a:chExt cx="1909832" cy="389648"/>
          </a:xfrm>
        </p:grpSpPr>
        <p:sp>
          <p:nvSpPr>
            <p:cNvPr id="138" name="Google Shape;138;p4"/>
            <p:cNvSpPr/>
            <p:nvPr/>
          </p:nvSpPr>
          <p:spPr>
            <a:xfrm>
              <a:off x="0" y="0"/>
              <a:ext cx="1909832" cy="351548"/>
            </a:xfrm>
            <a:custGeom>
              <a:rect b="b" l="l" r="r" t="t"/>
              <a:pathLst>
                <a:path extrusionOk="0" h="351548" w="1909832">
                  <a:moveTo>
                    <a:pt x="0" y="0"/>
                  </a:moveTo>
                  <a:lnTo>
                    <a:pt x="1909832" y="0"/>
                  </a:lnTo>
                  <a:lnTo>
                    <a:pt x="1909832" y="351548"/>
                  </a:lnTo>
                  <a:lnTo>
                    <a:pt x="0" y="351548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139" name="Google Shape;139;p4"/>
            <p:cNvSpPr txBox="1"/>
            <p:nvPr/>
          </p:nvSpPr>
          <p:spPr>
            <a:xfrm>
              <a:off x="0" y="-38100"/>
              <a:ext cx="1909832" cy="389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4"/>
          <p:cNvGrpSpPr/>
          <p:nvPr/>
        </p:nvGrpSpPr>
        <p:grpSpPr>
          <a:xfrm>
            <a:off x="0" y="9233552"/>
            <a:ext cx="18288000" cy="1053448"/>
            <a:chOff x="0" y="-38100"/>
            <a:chExt cx="4816593" cy="277451"/>
          </a:xfrm>
        </p:grpSpPr>
        <p:sp>
          <p:nvSpPr>
            <p:cNvPr id="141" name="Google Shape;141;p4"/>
            <p:cNvSpPr/>
            <p:nvPr/>
          </p:nvSpPr>
          <p:spPr>
            <a:xfrm>
              <a:off x="0" y="0"/>
              <a:ext cx="4816592" cy="239351"/>
            </a:xfrm>
            <a:custGeom>
              <a:rect b="b" l="l" r="r" t="t"/>
              <a:pathLst>
                <a:path extrusionOk="0" h="23935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9351"/>
                  </a:lnTo>
                  <a:lnTo>
                    <a:pt x="0" y="23935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42" name="Google Shape;142;p4"/>
            <p:cNvSpPr txBox="1"/>
            <p:nvPr/>
          </p:nvSpPr>
          <p:spPr>
            <a:xfrm>
              <a:off x="0" y="-38100"/>
              <a:ext cx="4816593" cy="27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" name="Google Shape;143;p4"/>
          <p:cNvSpPr/>
          <p:nvPr/>
        </p:nvSpPr>
        <p:spPr>
          <a:xfrm>
            <a:off x="11299652" y="1790396"/>
            <a:ext cx="5959648" cy="6356958"/>
          </a:xfrm>
          <a:custGeom>
            <a:rect b="b" l="l" r="r" t="t"/>
            <a:pathLst>
              <a:path extrusionOk="0" h="6356958" w="5959648">
                <a:moveTo>
                  <a:pt x="0" y="0"/>
                </a:moveTo>
                <a:lnTo>
                  <a:pt x="5959648" y="0"/>
                </a:lnTo>
                <a:lnTo>
                  <a:pt x="595964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4"/>
          <p:cNvSpPr txBox="1"/>
          <p:nvPr/>
        </p:nvSpPr>
        <p:spPr>
          <a:xfrm>
            <a:off x="1028700" y="1812925"/>
            <a:ext cx="9088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Serverless en AWS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1028700" y="2905125"/>
            <a:ext cx="9337854" cy="444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 esta arquitectura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podemos trasladar más responsabilidades operativas a AWS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y se aumenta la agilidad y la innovación.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Nos permite eliminar las tareas de administración de infraestructura,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como el aprovisionamiento de servidores, clústeres, parches, el mantenimiento de sistemas operativos y la capacidad de aprovisionamiento.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5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151" name="Google Shape;151;p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152" name="Google Shape;152;p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5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154" name="Google Shape;154;p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55" name="Google Shape;155;p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5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157" name="Google Shape;157;p5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58" name="Google Shape;158;p5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5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160" name="Google Shape;160;p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161" name="Google Shape;161;p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5"/>
          <p:cNvSpPr/>
          <p:nvPr/>
        </p:nvSpPr>
        <p:spPr>
          <a:xfrm>
            <a:off x="2261035" y="2734462"/>
            <a:ext cx="13765929" cy="4818075"/>
          </a:xfrm>
          <a:custGeom>
            <a:rect b="b" l="l" r="r" t="t"/>
            <a:pathLst>
              <a:path extrusionOk="0" h="4818075" w="13765929">
                <a:moveTo>
                  <a:pt x="0" y="0"/>
                </a:moveTo>
                <a:lnTo>
                  <a:pt x="13765930" y="0"/>
                </a:lnTo>
                <a:lnTo>
                  <a:pt x="13765930" y="4818076"/>
                </a:lnTo>
                <a:lnTo>
                  <a:pt x="0" y="48180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oogle Shape;167;p6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168" name="Google Shape;168;p6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169" name="Google Shape;169;p6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" name="Google Shape;170;p6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171" name="Google Shape;171;p6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72" name="Google Shape;172;p6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" name="Google Shape;173;p6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174" name="Google Shape;174;p6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75" name="Google Shape;175;p6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" name="Google Shape;176;p6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177" name="Google Shape;177;p6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178" name="Google Shape;178;p6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9" name="Google Shape;179;p6"/>
          <p:cNvSpPr/>
          <p:nvPr/>
        </p:nvSpPr>
        <p:spPr>
          <a:xfrm>
            <a:off x="7210621" y="5570739"/>
            <a:ext cx="3687829" cy="4325899"/>
          </a:xfrm>
          <a:custGeom>
            <a:rect b="b" l="l" r="r" t="t"/>
            <a:pathLst>
              <a:path extrusionOk="0" h="4325899" w="3687829">
                <a:moveTo>
                  <a:pt x="0" y="0"/>
                </a:moveTo>
                <a:lnTo>
                  <a:pt x="3687828" y="0"/>
                </a:lnTo>
                <a:lnTo>
                  <a:pt x="3687828" y="4325899"/>
                </a:lnTo>
                <a:lnTo>
                  <a:pt x="0" y="43258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6"/>
          <p:cNvSpPr txBox="1"/>
          <p:nvPr/>
        </p:nvSpPr>
        <p:spPr>
          <a:xfrm>
            <a:off x="3772925" y="729500"/>
            <a:ext cx="10841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AWS Lambda, ¿Qué es?</a:t>
            </a:r>
            <a:endParaRPr/>
          </a:p>
        </p:txBody>
      </p:sp>
      <p:sp>
        <p:nvSpPr>
          <p:cNvPr id="181" name="Google Shape;181;p6"/>
          <p:cNvSpPr txBox="1"/>
          <p:nvPr/>
        </p:nvSpPr>
        <p:spPr>
          <a:xfrm>
            <a:off x="1821795" y="2113164"/>
            <a:ext cx="14465479" cy="3457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AWS Lambda es un servicio sin servidor de Amazon Web Services que permite a los desarrolladores ejecutar código sin preocuparse por la gestión de la infraestructura subyacente.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Las funciones en Lambda son invocadas en respuesta a eventos específicos, como cambios en datos de almacenamiento en S3 o actualizaciones en bases de datos en DynamoDB.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"/>
          <p:cNvSpPr/>
          <p:nvPr/>
        </p:nvSpPr>
        <p:spPr>
          <a:xfrm flipH="1" rot="10800000">
            <a:off x="-742919" y="1131592"/>
            <a:ext cx="2235888" cy="13082323"/>
          </a:xfrm>
          <a:custGeom>
            <a:rect b="b" l="l" r="r" t="t"/>
            <a:pathLst>
              <a:path extrusionOk="0" h="13082323" w="2235888">
                <a:moveTo>
                  <a:pt x="0" y="13082322"/>
                </a:moveTo>
                <a:lnTo>
                  <a:pt x="2235888" y="13082322"/>
                </a:lnTo>
                <a:lnTo>
                  <a:pt x="2235888" y="0"/>
                </a:lnTo>
                <a:lnTo>
                  <a:pt x="0" y="0"/>
                </a:lnTo>
                <a:lnTo>
                  <a:pt x="0" y="130823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7"/>
          <p:cNvSpPr/>
          <p:nvPr/>
        </p:nvSpPr>
        <p:spPr>
          <a:xfrm flipH="1" rot="5679621">
            <a:off x="13549610" y="-9711175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7"/>
          <p:cNvSpPr txBox="1"/>
          <p:nvPr/>
        </p:nvSpPr>
        <p:spPr>
          <a:xfrm>
            <a:off x="1127477" y="887925"/>
            <a:ext cx="141951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Beneficios de AWS Lambda</a:t>
            </a:r>
            <a:endParaRPr/>
          </a:p>
        </p:txBody>
      </p:sp>
      <p:grpSp>
        <p:nvGrpSpPr>
          <p:cNvPr id="189" name="Google Shape;189;p7"/>
          <p:cNvGrpSpPr/>
          <p:nvPr/>
        </p:nvGrpSpPr>
        <p:grpSpPr>
          <a:xfrm>
            <a:off x="1127467" y="2492925"/>
            <a:ext cx="731003" cy="760368"/>
            <a:chOff x="0" y="0"/>
            <a:chExt cx="974670" cy="1013824"/>
          </a:xfrm>
        </p:grpSpPr>
        <p:sp>
          <p:nvSpPr>
            <p:cNvPr id="190" name="Google Shape;190;p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192" name="Google Shape;192;p7"/>
          <p:cNvSpPr txBox="1"/>
          <p:nvPr/>
        </p:nvSpPr>
        <p:spPr>
          <a:xfrm>
            <a:off x="2031400" y="2615934"/>
            <a:ext cx="861452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Admite varios lenguajes de programación</a:t>
            </a:r>
            <a:endParaRPr/>
          </a:p>
        </p:txBody>
      </p:sp>
      <p:grpSp>
        <p:nvGrpSpPr>
          <p:cNvPr id="193" name="Google Shape;193;p7"/>
          <p:cNvGrpSpPr/>
          <p:nvPr/>
        </p:nvGrpSpPr>
        <p:grpSpPr>
          <a:xfrm>
            <a:off x="1127467" y="3736709"/>
            <a:ext cx="731003" cy="760368"/>
            <a:chOff x="0" y="0"/>
            <a:chExt cx="974670" cy="1013824"/>
          </a:xfrm>
        </p:grpSpPr>
        <p:sp>
          <p:nvSpPr>
            <p:cNvPr id="194" name="Google Shape;194;p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196" name="Google Shape;196;p7"/>
          <p:cNvSpPr txBox="1"/>
          <p:nvPr/>
        </p:nvSpPr>
        <p:spPr>
          <a:xfrm>
            <a:off x="2031400" y="3612068"/>
            <a:ext cx="13535779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Escala automáticamente según la carga de trabajo y factura solo por el tiempo de ejecución y los recursos utilizados.</a:t>
            </a:r>
            <a:endParaRPr/>
          </a:p>
        </p:txBody>
      </p:sp>
      <p:grpSp>
        <p:nvGrpSpPr>
          <p:cNvPr id="197" name="Google Shape;197;p7"/>
          <p:cNvGrpSpPr/>
          <p:nvPr/>
        </p:nvGrpSpPr>
        <p:grpSpPr>
          <a:xfrm>
            <a:off x="1127467" y="5079734"/>
            <a:ext cx="731003" cy="760368"/>
            <a:chOff x="0" y="0"/>
            <a:chExt cx="974670" cy="1013824"/>
          </a:xfrm>
        </p:grpSpPr>
        <p:sp>
          <p:nvSpPr>
            <p:cNvPr id="198" name="Google Shape;198;p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200" name="Google Shape;200;p7"/>
          <p:cNvSpPr txBox="1"/>
          <p:nvPr/>
        </p:nvSpPr>
        <p:spPr>
          <a:xfrm>
            <a:off x="2031400" y="4955093"/>
            <a:ext cx="15043904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Su integración con otros servicios de AWS facilita la construcción de aplicaciones escalables y ágiles</a:t>
            </a:r>
            <a:endParaRPr/>
          </a:p>
        </p:txBody>
      </p:sp>
      <p:grpSp>
        <p:nvGrpSpPr>
          <p:cNvPr id="201" name="Google Shape;201;p7"/>
          <p:cNvGrpSpPr/>
          <p:nvPr/>
        </p:nvGrpSpPr>
        <p:grpSpPr>
          <a:xfrm>
            <a:off x="1127467" y="6326693"/>
            <a:ext cx="731003" cy="760368"/>
            <a:chOff x="0" y="0"/>
            <a:chExt cx="974670" cy="1013824"/>
          </a:xfrm>
        </p:grpSpPr>
        <p:sp>
          <p:nvSpPr>
            <p:cNvPr id="202" name="Google Shape;202;p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204" name="Google Shape;204;p7"/>
          <p:cNvSpPr txBox="1"/>
          <p:nvPr/>
        </p:nvSpPr>
        <p:spPr>
          <a:xfrm>
            <a:off x="2031400" y="6451334"/>
            <a:ext cx="918602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Fácil monitorización a través de AWS CloudWatch</a:t>
            </a:r>
            <a:endParaRPr/>
          </a:p>
        </p:txBody>
      </p:sp>
      <p:grpSp>
        <p:nvGrpSpPr>
          <p:cNvPr id="205" name="Google Shape;205;p7"/>
          <p:cNvGrpSpPr/>
          <p:nvPr/>
        </p:nvGrpSpPr>
        <p:grpSpPr>
          <a:xfrm>
            <a:off x="1127467" y="7552970"/>
            <a:ext cx="731003" cy="760368"/>
            <a:chOff x="0" y="0"/>
            <a:chExt cx="974670" cy="1013824"/>
          </a:xfrm>
        </p:grpSpPr>
        <p:sp>
          <p:nvSpPr>
            <p:cNvPr id="206" name="Google Shape;206;p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sp>
        <p:nvSpPr>
          <p:cNvPr id="208" name="Google Shape;208;p7"/>
          <p:cNvSpPr txBox="1"/>
          <p:nvPr/>
        </p:nvSpPr>
        <p:spPr>
          <a:xfrm>
            <a:off x="2031400" y="7449011"/>
            <a:ext cx="13087559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Dirigido por eventos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: Las funciones son invocadas por AWS cuando se necesitan</a:t>
            </a:r>
            <a:endParaRPr/>
          </a:p>
        </p:txBody>
      </p:sp>
      <p:grpSp>
        <p:nvGrpSpPr>
          <p:cNvPr id="209" name="Google Shape;209;p7"/>
          <p:cNvGrpSpPr/>
          <p:nvPr/>
        </p:nvGrpSpPr>
        <p:grpSpPr>
          <a:xfrm>
            <a:off x="1127467" y="8799113"/>
            <a:ext cx="731003" cy="760368"/>
            <a:chOff x="0" y="0"/>
            <a:chExt cx="974670" cy="1013824"/>
          </a:xfrm>
        </p:grpSpPr>
        <p:sp>
          <p:nvSpPr>
            <p:cNvPr id="210" name="Google Shape;210;p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</p:grpSp>
      <p:sp>
        <p:nvSpPr>
          <p:cNvPr id="212" name="Google Shape;212;p7"/>
          <p:cNvSpPr txBox="1"/>
          <p:nvPr/>
        </p:nvSpPr>
        <p:spPr>
          <a:xfrm>
            <a:off x="2031400" y="8922122"/>
            <a:ext cx="861452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Medicion de tiempos inferiores a 1 segundo.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p8"/>
          <p:cNvGrpSpPr/>
          <p:nvPr/>
        </p:nvGrpSpPr>
        <p:grpSpPr>
          <a:xfrm>
            <a:off x="8759401" y="1892857"/>
            <a:ext cx="63924" cy="6491544"/>
            <a:chOff x="0" y="-38100"/>
            <a:chExt cx="16836" cy="1709707"/>
          </a:xfrm>
        </p:grpSpPr>
        <p:sp>
          <p:nvSpPr>
            <p:cNvPr id="218" name="Google Shape;218;p8"/>
            <p:cNvSpPr/>
            <p:nvPr/>
          </p:nvSpPr>
          <p:spPr>
            <a:xfrm>
              <a:off x="0" y="0"/>
              <a:ext cx="16836" cy="1671607"/>
            </a:xfrm>
            <a:custGeom>
              <a:rect b="b" l="l" r="r" t="t"/>
              <a:pathLst>
                <a:path extrusionOk="0" h="1671607" w="16836">
                  <a:moveTo>
                    <a:pt x="0" y="0"/>
                  </a:moveTo>
                  <a:lnTo>
                    <a:pt x="16836" y="0"/>
                  </a:lnTo>
                  <a:lnTo>
                    <a:pt x="16836" y="1671607"/>
                  </a:lnTo>
                  <a:lnTo>
                    <a:pt x="0" y="1671607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219" name="Google Shape;219;p8"/>
            <p:cNvSpPr txBox="1"/>
            <p:nvPr/>
          </p:nvSpPr>
          <p:spPr>
            <a:xfrm>
              <a:off x="0" y="-38100"/>
              <a:ext cx="16836" cy="17097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0" name="Google Shape;220;p8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221" name="Google Shape;221;p8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22" name="Google Shape;222;p8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3" name="Google Shape;223;p8"/>
          <p:cNvSpPr/>
          <p:nvPr/>
        </p:nvSpPr>
        <p:spPr>
          <a:xfrm>
            <a:off x="11995293" y="2158971"/>
            <a:ext cx="2095214" cy="2179677"/>
          </a:xfrm>
          <a:custGeom>
            <a:rect b="b" l="l" r="r" t="t"/>
            <a:pathLst>
              <a:path extrusionOk="0" h="2179677" w="2095214">
                <a:moveTo>
                  <a:pt x="0" y="0"/>
                </a:moveTo>
                <a:lnTo>
                  <a:pt x="2095214" y="0"/>
                </a:lnTo>
                <a:lnTo>
                  <a:pt x="2095214" y="2179677"/>
                </a:lnTo>
                <a:lnTo>
                  <a:pt x="0" y="21796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8"/>
          <p:cNvSpPr/>
          <p:nvPr/>
        </p:nvSpPr>
        <p:spPr>
          <a:xfrm>
            <a:off x="3505362" y="2037518"/>
            <a:ext cx="2101527" cy="2422583"/>
          </a:xfrm>
          <a:custGeom>
            <a:rect b="b" l="l" r="r" t="t"/>
            <a:pathLst>
              <a:path extrusionOk="0" h="2422583" w="2101527">
                <a:moveTo>
                  <a:pt x="0" y="0"/>
                </a:moveTo>
                <a:lnTo>
                  <a:pt x="2101526" y="0"/>
                </a:lnTo>
                <a:lnTo>
                  <a:pt x="2101526" y="2422583"/>
                </a:lnTo>
                <a:lnTo>
                  <a:pt x="0" y="24225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5694" l="-99707" r="-98951" t="-9827"/>
            </a:stretch>
          </a:blipFill>
          <a:ln>
            <a:noFill/>
          </a:ln>
        </p:spPr>
      </p:sp>
      <p:sp>
        <p:nvSpPr>
          <p:cNvPr id="225" name="Google Shape;225;p8"/>
          <p:cNvSpPr txBox="1"/>
          <p:nvPr/>
        </p:nvSpPr>
        <p:spPr>
          <a:xfrm>
            <a:off x="1677073" y="4431526"/>
            <a:ext cx="5758104" cy="395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Servidores virtuales en el Cloud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Limitado por la RAM y la CPU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Funcionamiento continuo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Escalar significa intervenir para añadir/quitar servidores</a:t>
            </a:r>
            <a:endParaRPr/>
          </a:p>
        </p:txBody>
      </p:sp>
      <p:sp>
        <p:nvSpPr>
          <p:cNvPr id="226" name="Google Shape;226;p8"/>
          <p:cNvSpPr txBox="1"/>
          <p:nvPr/>
        </p:nvSpPr>
        <p:spPr>
          <a:xfrm>
            <a:off x="939375" y="593725"/>
            <a:ext cx="16446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¿Por qué AWS Lambda en lugar de funciones en EC2?</a:t>
            </a:r>
            <a:endParaRPr/>
          </a:p>
        </p:txBody>
      </p:sp>
      <p:sp>
        <p:nvSpPr>
          <p:cNvPr id="227" name="Google Shape;227;p8"/>
          <p:cNvSpPr txBox="1"/>
          <p:nvPr/>
        </p:nvSpPr>
        <p:spPr>
          <a:xfrm>
            <a:off x="10163848" y="4431526"/>
            <a:ext cx="5758104" cy="296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No hay servidores que gestionar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Limitado por ejecuciones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Ejecución bajo demanda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El escalamiento está automatizado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9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9"/>
          <p:cNvSpPr/>
          <p:nvPr/>
        </p:nvSpPr>
        <p:spPr>
          <a:xfrm>
            <a:off x="10422668" y="1134573"/>
            <a:ext cx="5392007" cy="8017855"/>
          </a:xfrm>
          <a:custGeom>
            <a:rect b="b" l="l" r="r" t="t"/>
            <a:pathLst>
              <a:path extrusionOk="0" h="8017855" w="5392007">
                <a:moveTo>
                  <a:pt x="0" y="0"/>
                </a:moveTo>
                <a:lnTo>
                  <a:pt x="5392007" y="0"/>
                </a:lnTo>
                <a:lnTo>
                  <a:pt x="5392007" y="8017854"/>
                </a:lnTo>
                <a:lnTo>
                  <a:pt x="0" y="8017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9"/>
          <p:cNvSpPr txBox="1"/>
          <p:nvPr/>
        </p:nvSpPr>
        <p:spPr>
          <a:xfrm>
            <a:off x="2235200" y="3978275"/>
            <a:ext cx="6449203" cy="2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ofrece la capa Gratuita?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oogle Shape;240;p10"/>
          <p:cNvGrpSpPr/>
          <p:nvPr/>
        </p:nvGrpSpPr>
        <p:grpSpPr>
          <a:xfrm>
            <a:off x="-1543050" y="8931406"/>
            <a:ext cx="3086100" cy="3120318"/>
            <a:chOff x="0" y="-38100"/>
            <a:chExt cx="812800" cy="821812"/>
          </a:xfrm>
        </p:grpSpPr>
        <p:sp>
          <p:nvSpPr>
            <p:cNvPr id="241" name="Google Shape;241;p10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242" name="Google Shape;242;p10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3" name="Google Shape;243;p10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244" name="Google Shape;244;p10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45" name="Google Shape;245;p10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" name="Google Shape;246;p10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247" name="Google Shape;247;p10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48" name="Google Shape;248;p10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10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250" name="Google Shape;250;p10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251" name="Google Shape;251;p10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" name="Google Shape;252;p10"/>
          <p:cNvSpPr/>
          <p:nvPr/>
        </p:nvSpPr>
        <p:spPr>
          <a:xfrm>
            <a:off x="1763188" y="1367343"/>
            <a:ext cx="14420251" cy="8171476"/>
          </a:xfrm>
          <a:custGeom>
            <a:rect b="b" l="l" r="r" t="t"/>
            <a:pathLst>
              <a:path extrusionOk="0" h="8171476" w="14420251">
                <a:moveTo>
                  <a:pt x="0" y="0"/>
                </a:moveTo>
                <a:lnTo>
                  <a:pt x="14420251" y="0"/>
                </a:lnTo>
                <a:lnTo>
                  <a:pt x="14420251" y="8171476"/>
                </a:lnTo>
                <a:lnTo>
                  <a:pt x="0" y="8171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sq" cmpd="sng" w="38100">
            <a:solidFill>
              <a:srgbClr val="29303C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53" name="Google Shape;253;p10"/>
          <p:cNvSpPr txBox="1"/>
          <p:nvPr/>
        </p:nvSpPr>
        <p:spPr>
          <a:xfrm>
            <a:off x="3337226" y="382475"/>
            <a:ext cx="11272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Ejemplo de arquitectura de Lambda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p11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259" name="Google Shape;259;p11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260" name="Google Shape;260;p11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1" name="Google Shape;261;p11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262" name="Google Shape;262;p11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63" name="Google Shape;263;p11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4" name="Google Shape;264;p11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265" name="Google Shape;265;p11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66" name="Google Shape;266;p11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267;p11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268" name="Google Shape;268;p11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269" name="Google Shape;269;p11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" name="Google Shape;270;p11"/>
          <p:cNvSpPr/>
          <p:nvPr/>
        </p:nvSpPr>
        <p:spPr>
          <a:xfrm>
            <a:off x="5235000" y="1234500"/>
            <a:ext cx="7818000" cy="7818000"/>
          </a:xfrm>
          <a:custGeom>
            <a:rect b="b" l="l" r="r" t="t"/>
            <a:pathLst>
              <a:path extrusionOk="0" h="7818000" w="7818000">
                <a:moveTo>
                  <a:pt x="0" y="0"/>
                </a:moveTo>
                <a:lnTo>
                  <a:pt x="7818000" y="0"/>
                </a:lnTo>
                <a:lnTo>
                  <a:pt x="7818000" y="7818000"/>
                </a:lnTo>
                <a:lnTo>
                  <a:pt x="0" y="781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12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276" name="Google Shape;276;p12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277" name="Google Shape;277;p12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8" name="Google Shape;278;p12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279" name="Google Shape;279;p12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80" name="Google Shape;280;p12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1" name="Google Shape;281;p12"/>
          <p:cNvGrpSpPr/>
          <p:nvPr/>
        </p:nvGrpSpPr>
        <p:grpSpPr>
          <a:xfrm>
            <a:off x="16970593" y="-539578"/>
            <a:ext cx="2344551" cy="2157882"/>
            <a:chOff x="0" y="-38100"/>
            <a:chExt cx="617495" cy="568331"/>
          </a:xfrm>
        </p:grpSpPr>
        <p:sp>
          <p:nvSpPr>
            <p:cNvPr id="282" name="Google Shape;282;p12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83" name="Google Shape;283;p12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4" name="Google Shape;284;p12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285" name="Google Shape;285;p12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286" name="Google Shape;286;p12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7" name="Google Shape;287;p12"/>
          <p:cNvSpPr txBox="1"/>
          <p:nvPr/>
        </p:nvSpPr>
        <p:spPr>
          <a:xfrm>
            <a:off x="1911260" y="1771587"/>
            <a:ext cx="14465479" cy="395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 servicio completamente administrado que facilita a los desarrolladores la creación, la publicación, el mantenimiento, el monitorio y la protección de API a cualquier escala.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Los desarrolladores pueden usar API Gateway para definir y gestionar versiones, políticas de acceso y autenticación, transformaciones de solicitud y respuesta, así como para implementar escenarios de integración y orquestación de servicios.</a:t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2105767" y="6470587"/>
            <a:ext cx="14076466" cy="2586551"/>
          </a:xfrm>
          <a:custGeom>
            <a:rect b="b" l="l" r="r" t="t"/>
            <a:pathLst>
              <a:path extrusionOk="0" h="2586551" w="14076466">
                <a:moveTo>
                  <a:pt x="0" y="0"/>
                </a:moveTo>
                <a:lnTo>
                  <a:pt x="14076466" y="0"/>
                </a:lnTo>
                <a:lnTo>
                  <a:pt x="14076466" y="2586551"/>
                </a:lnTo>
                <a:lnTo>
                  <a:pt x="0" y="25865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9" name="Google Shape;289;p12"/>
          <p:cNvSpPr txBox="1"/>
          <p:nvPr/>
        </p:nvSpPr>
        <p:spPr>
          <a:xfrm>
            <a:off x="5604914" y="554543"/>
            <a:ext cx="7382455" cy="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es API Gateway?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oogle Shape;294;p13"/>
          <p:cNvGrpSpPr/>
          <p:nvPr/>
        </p:nvGrpSpPr>
        <p:grpSpPr>
          <a:xfrm>
            <a:off x="311307" y="-144661"/>
            <a:ext cx="388125" cy="8565666"/>
            <a:chOff x="0" y="-38100"/>
            <a:chExt cx="102222" cy="2255978"/>
          </a:xfrm>
        </p:grpSpPr>
        <p:sp>
          <p:nvSpPr>
            <p:cNvPr id="295" name="Google Shape;295;p13"/>
            <p:cNvSpPr/>
            <p:nvPr/>
          </p:nvSpPr>
          <p:spPr>
            <a:xfrm>
              <a:off x="0" y="0"/>
              <a:ext cx="102222" cy="2217878"/>
            </a:xfrm>
            <a:custGeom>
              <a:rect b="b" l="l" r="r" t="t"/>
              <a:pathLst>
                <a:path extrusionOk="0" h="2217878" w="102222">
                  <a:moveTo>
                    <a:pt x="0" y="0"/>
                  </a:moveTo>
                  <a:lnTo>
                    <a:pt x="102222" y="0"/>
                  </a:lnTo>
                  <a:lnTo>
                    <a:pt x="102222" y="2217878"/>
                  </a:lnTo>
                  <a:lnTo>
                    <a:pt x="0" y="2217878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296" name="Google Shape;296;p13"/>
            <p:cNvSpPr txBox="1"/>
            <p:nvPr/>
          </p:nvSpPr>
          <p:spPr>
            <a:xfrm>
              <a:off x="0" y="-38100"/>
              <a:ext cx="102222" cy="22559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7" name="Google Shape;297;p13"/>
          <p:cNvGrpSpPr/>
          <p:nvPr/>
        </p:nvGrpSpPr>
        <p:grpSpPr>
          <a:xfrm>
            <a:off x="0" y="-144661"/>
            <a:ext cx="505369" cy="10431661"/>
            <a:chOff x="0" y="-38100"/>
            <a:chExt cx="133101" cy="2747433"/>
          </a:xfrm>
        </p:grpSpPr>
        <p:sp>
          <p:nvSpPr>
            <p:cNvPr id="298" name="Google Shape;298;p13"/>
            <p:cNvSpPr/>
            <p:nvPr/>
          </p:nvSpPr>
          <p:spPr>
            <a:xfrm>
              <a:off x="0" y="0"/>
              <a:ext cx="133101" cy="2709333"/>
            </a:xfrm>
            <a:custGeom>
              <a:rect b="b" l="l" r="r" t="t"/>
              <a:pathLst>
                <a:path extrusionOk="0" h="2709333" w="133101">
                  <a:moveTo>
                    <a:pt x="0" y="0"/>
                  </a:moveTo>
                  <a:lnTo>
                    <a:pt x="133101" y="0"/>
                  </a:lnTo>
                  <a:lnTo>
                    <a:pt x="1331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99" name="Google Shape;299;p13"/>
            <p:cNvSpPr txBox="1"/>
            <p:nvPr/>
          </p:nvSpPr>
          <p:spPr>
            <a:xfrm>
              <a:off x="0" y="-38100"/>
              <a:ext cx="133101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0" name="Google Shape;300;p13"/>
          <p:cNvGrpSpPr/>
          <p:nvPr/>
        </p:nvGrpSpPr>
        <p:grpSpPr>
          <a:xfrm>
            <a:off x="17660541" y="8602991"/>
            <a:ext cx="1066563" cy="1165957"/>
            <a:chOff x="0" y="-38100"/>
            <a:chExt cx="280906" cy="307083"/>
          </a:xfrm>
        </p:grpSpPr>
        <p:sp>
          <p:nvSpPr>
            <p:cNvPr id="301" name="Google Shape;301;p13"/>
            <p:cNvSpPr/>
            <p:nvPr/>
          </p:nvSpPr>
          <p:spPr>
            <a:xfrm>
              <a:off x="0" y="0"/>
              <a:ext cx="280906" cy="268983"/>
            </a:xfrm>
            <a:custGeom>
              <a:rect b="b" l="l" r="r" t="t"/>
              <a:pathLst>
                <a:path extrusionOk="0" h="268983" w="280906">
                  <a:moveTo>
                    <a:pt x="0" y="0"/>
                  </a:moveTo>
                  <a:lnTo>
                    <a:pt x="280906" y="0"/>
                  </a:lnTo>
                  <a:lnTo>
                    <a:pt x="280906" y="268983"/>
                  </a:lnTo>
                  <a:lnTo>
                    <a:pt x="0" y="268983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302" name="Google Shape;302;p13"/>
            <p:cNvSpPr txBox="1"/>
            <p:nvPr/>
          </p:nvSpPr>
          <p:spPr>
            <a:xfrm>
              <a:off x="0" y="-38100"/>
              <a:ext cx="280906" cy="3070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3" name="Google Shape;303;p13"/>
          <p:cNvGrpSpPr/>
          <p:nvPr/>
        </p:nvGrpSpPr>
        <p:grpSpPr>
          <a:xfrm>
            <a:off x="17259300" y="9113639"/>
            <a:ext cx="1467805" cy="1435160"/>
            <a:chOff x="0" y="-38100"/>
            <a:chExt cx="386582" cy="377985"/>
          </a:xfrm>
        </p:grpSpPr>
        <p:sp>
          <p:nvSpPr>
            <p:cNvPr id="304" name="Google Shape;304;p13"/>
            <p:cNvSpPr/>
            <p:nvPr/>
          </p:nvSpPr>
          <p:spPr>
            <a:xfrm>
              <a:off x="0" y="0"/>
              <a:ext cx="386582" cy="339885"/>
            </a:xfrm>
            <a:custGeom>
              <a:rect b="b" l="l" r="r" t="t"/>
              <a:pathLst>
                <a:path extrusionOk="0" h="339885" w="386582">
                  <a:moveTo>
                    <a:pt x="0" y="0"/>
                  </a:moveTo>
                  <a:lnTo>
                    <a:pt x="386582" y="0"/>
                  </a:lnTo>
                  <a:lnTo>
                    <a:pt x="386582" y="339885"/>
                  </a:lnTo>
                  <a:lnTo>
                    <a:pt x="0" y="339885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305" name="Google Shape;305;p13"/>
            <p:cNvSpPr txBox="1"/>
            <p:nvPr/>
          </p:nvSpPr>
          <p:spPr>
            <a:xfrm>
              <a:off x="0" y="-38100"/>
              <a:ext cx="386582" cy="3779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6" name="Google Shape;306;p13"/>
          <p:cNvSpPr txBox="1"/>
          <p:nvPr/>
        </p:nvSpPr>
        <p:spPr>
          <a:xfrm>
            <a:off x="3772925" y="439725"/>
            <a:ext cx="12288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Beneficios de API Gateway</a:t>
            </a:r>
            <a:endParaRPr/>
          </a:p>
        </p:txBody>
      </p:sp>
      <p:grpSp>
        <p:nvGrpSpPr>
          <p:cNvPr id="307" name="Google Shape;307;p13"/>
          <p:cNvGrpSpPr/>
          <p:nvPr/>
        </p:nvGrpSpPr>
        <p:grpSpPr>
          <a:xfrm>
            <a:off x="6089594" y="1992313"/>
            <a:ext cx="731003" cy="760368"/>
            <a:chOff x="0" y="0"/>
            <a:chExt cx="974670" cy="1013824"/>
          </a:xfrm>
        </p:grpSpPr>
        <p:sp>
          <p:nvSpPr>
            <p:cNvPr id="308" name="Google Shape;308;p1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310" name="Google Shape;310;p13"/>
          <p:cNvGrpSpPr/>
          <p:nvPr/>
        </p:nvGrpSpPr>
        <p:grpSpPr>
          <a:xfrm>
            <a:off x="6089594" y="3124156"/>
            <a:ext cx="731003" cy="760368"/>
            <a:chOff x="0" y="0"/>
            <a:chExt cx="974670" cy="1013824"/>
          </a:xfrm>
        </p:grpSpPr>
        <p:sp>
          <p:nvSpPr>
            <p:cNvPr id="311" name="Google Shape;311;p1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313" name="Google Shape;313;p13"/>
          <p:cNvGrpSpPr/>
          <p:nvPr/>
        </p:nvGrpSpPr>
        <p:grpSpPr>
          <a:xfrm>
            <a:off x="6089594" y="4286107"/>
            <a:ext cx="731003" cy="760368"/>
            <a:chOff x="0" y="0"/>
            <a:chExt cx="974670" cy="1013824"/>
          </a:xfrm>
        </p:grpSpPr>
        <p:sp>
          <p:nvSpPr>
            <p:cNvPr id="314" name="Google Shape;314;p1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316" name="Google Shape;316;p13"/>
          <p:cNvSpPr txBox="1"/>
          <p:nvPr/>
        </p:nvSpPr>
        <p:spPr>
          <a:xfrm>
            <a:off x="7013330" y="2115322"/>
            <a:ext cx="563790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Desarrollo de APIs eficientes</a:t>
            </a:r>
            <a:endParaRPr/>
          </a:p>
        </p:txBody>
      </p:sp>
      <p:sp>
        <p:nvSpPr>
          <p:cNvPr id="317" name="Google Shape;317;p13"/>
          <p:cNvSpPr txBox="1"/>
          <p:nvPr/>
        </p:nvSpPr>
        <p:spPr>
          <a:xfrm>
            <a:off x="7013330" y="3247165"/>
            <a:ext cx="643584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Rendimiento a cualquier escala</a:t>
            </a:r>
            <a:endParaRPr/>
          </a:p>
        </p:txBody>
      </p:sp>
      <p:sp>
        <p:nvSpPr>
          <p:cNvPr id="318" name="Google Shape;318;p13"/>
          <p:cNvSpPr txBox="1"/>
          <p:nvPr/>
        </p:nvSpPr>
        <p:spPr>
          <a:xfrm>
            <a:off x="7013330" y="4409116"/>
            <a:ext cx="816690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Ahorro de costos a escala</a:t>
            </a:r>
            <a:endParaRPr/>
          </a:p>
        </p:txBody>
      </p:sp>
      <p:grpSp>
        <p:nvGrpSpPr>
          <p:cNvPr id="319" name="Google Shape;319;p13"/>
          <p:cNvGrpSpPr/>
          <p:nvPr/>
        </p:nvGrpSpPr>
        <p:grpSpPr>
          <a:xfrm>
            <a:off x="6089594" y="5366173"/>
            <a:ext cx="731003" cy="760368"/>
            <a:chOff x="0" y="0"/>
            <a:chExt cx="974670" cy="1013824"/>
          </a:xfrm>
        </p:grpSpPr>
        <p:sp>
          <p:nvSpPr>
            <p:cNvPr id="320" name="Google Shape;320;p1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grpSp>
        <p:nvGrpSpPr>
          <p:cNvPr id="322" name="Google Shape;322;p13"/>
          <p:cNvGrpSpPr/>
          <p:nvPr/>
        </p:nvGrpSpPr>
        <p:grpSpPr>
          <a:xfrm>
            <a:off x="6089594" y="6498016"/>
            <a:ext cx="731003" cy="760368"/>
            <a:chOff x="0" y="0"/>
            <a:chExt cx="974670" cy="1013824"/>
          </a:xfrm>
        </p:grpSpPr>
        <p:sp>
          <p:nvSpPr>
            <p:cNvPr id="323" name="Google Shape;323;p1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sp>
        <p:nvSpPr>
          <p:cNvPr id="325" name="Google Shape;325;p13"/>
          <p:cNvSpPr txBox="1"/>
          <p:nvPr/>
        </p:nvSpPr>
        <p:spPr>
          <a:xfrm>
            <a:off x="7013330" y="5489182"/>
            <a:ext cx="311797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Fácil monitoreo</a:t>
            </a:r>
            <a:endParaRPr/>
          </a:p>
        </p:txBody>
      </p:sp>
      <p:sp>
        <p:nvSpPr>
          <p:cNvPr id="326" name="Google Shape;326;p13"/>
          <p:cNvSpPr txBox="1"/>
          <p:nvPr/>
        </p:nvSpPr>
        <p:spPr>
          <a:xfrm>
            <a:off x="7013330" y="6622657"/>
            <a:ext cx="816690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Controles de seguridad flexibles.</a:t>
            </a:r>
            <a:endParaRPr/>
          </a:p>
        </p:txBody>
      </p:sp>
      <p:grpSp>
        <p:nvGrpSpPr>
          <p:cNvPr id="327" name="Google Shape;327;p13"/>
          <p:cNvGrpSpPr/>
          <p:nvPr/>
        </p:nvGrpSpPr>
        <p:grpSpPr>
          <a:xfrm>
            <a:off x="6089594" y="7660637"/>
            <a:ext cx="731003" cy="760368"/>
            <a:chOff x="0" y="0"/>
            <a:chExt cx="974670" cy="1013824"/>
          </a:xfrm>
        </p:grpSpPr>
        <p:sp>
          <p:nvSpPr>
            <p:cNvPr id="328" name="Google Shape;328;p1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</p:grpSp>
      <p:sp>
        <p:nvSpPr>
          <p:cNvPr id="330" name="Google Shape;330;p13"/>
          <p:cNvSpPr txBox="1"/>
          <p:nvPr/>
        </p:nvSpPr>
        <p:spPr>
          <a:xfrm>
            <a:off x="7013330" y="7784707"/>
            <a:ext cx="526177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Operaciones de API Restful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4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6" name="Google Shape;336;p14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7" name="Google Shape;337;p14"/>
          <p:cNvSpPr/>
          <p:nvPr/>
        </p:nvSpPr>
        <p:spPr>
          <a:xfrm>
            <a:off x="9622215" y="1028700"/>
            <a:ext cx="7248095" cy="8075872"/>
          </a:xfrm>
          <a:custGeom>
            <a:rect b="b" l="l" r="r" t="t"/>
            <a:pathLst>
              <a:path extrusionOk="0" h="8075872" w="7248095">
                <a:moveTo>
                  <a:pt x="0" y="0"/>
                </a:moveTo>
                <a:lnTo>
                  <a:pt x="7248095" y="0"/>
                </a:lnTo>
                <a:lnTo>
                  <a:pt x="7248095" y="8075872"/>
                </a:lnTo>
                <a:lnTo>
                  <a:pt x="0" y="8075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8" name="Google Shape;338;p14"/>
          <p:cNvSpPr txBox="1"/>
          <p:nvPr/>
        </p:nvSpPr>
        <p:spPr>
          <a:xfrm>
            <a:off x="2235200" y="3978275"/>
            <a:ext cx="6449203" cy="2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ofrece la capa Gratuita?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5"/>
          <p:cNvSpPr txBox="1"/>
          <p:nvPr/>
        </p:nvSpPr>
        <p:spPr>
          <a:xfrm>
            <a:off x="6166085" y="2878719"/>
            <a:ext cx="5955830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PARTE PRÁTICA</a:t>
            </a:r>
            <a:endParaRPr/>
          </a:p>
        </p:txBody>
      </p:sp>
      <p:sp>
        <p:nvSpPr>
          <p:cNvPr id="344" name="Google Shape;344;p15"/>
          <p:cNvSpPr txBox="1"/>
          <p:nvPr/>
        </p:nvSpPr>
        <p:spPr>
          <a:xfrm>
            <a:off x="2162609" y="3925306"/>
            <a:ext cx="13962781" cy="342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CONFIGURACIÓN E IMPLEMENTACIÓN DE LAMBDA Y API GATEWAY</a:t>
            </a:r>
            <a:endParaRPr/>
          </a:p>
        </p:txBody>
      </p:sp>
      <p:sp>
        <p:nvSpPr>
          <p:cNvPr id="345" name="Google Shape;345;p15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6" name="Google Shape;346;p15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6"/>
          <p:cNvSpPr txBox="1"/>
          <p:nvPr/>
        </p:nvSpPr>
        <p:spPr>
          <a:xfrm>
            <a:off x="5542868" y="644847"/>
            <a:ext cx="745470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VALOR O ACTITUD</a:t>
            </a:r>
            <a:endParaRPr/>
          </a:p>
        </p:txBody>
      </p:sp>
      <p:sp>
        <p:nvSpPr>
          <p:cNvPr id="352" name="Google Shape;352;p16"/>
          <p:cNvSpPr txBox="1"/>
          <p:nvPr/>
        </p:nvSpPr>
        <p:spPr>
          <a:xfrm>
            <a:off x="906729" y="1727522"/>
            <a:ext cx="16474542" cy="592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B923"/>
                </a:solidFill>
                <a:latin typeface="Arial"/>
                <a:ea typeface="Arial"/>
                <a:cs typeface="Arial"/>
                <a:sym typeface="Arial"/>
              </a:rPr>
              <a:t>Creatividad</a:t>
            </a:r>
            <a:endParaRPr/>
          </a:p>
          <a:p>
            <a:pPr indent="-485775" lvl="1" marL="9715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Encontrar nuevas formas de desarrollar soluciones de aplicaciones web.</a:t>
            </a:r>
            <a:endParaRPr/>
          </a:p>
          <a:p>
            <a:pPr indent="-485775" lvl="1" marL="9715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Aplicar servicios como AWS Lambda, Azure Functions o Google Cloud Functions de manera innovadora para automatizar procesos complejos o integrar APIs inusuales.</a:t>
            </a:r>
            <a:endParaRPr/>
          </a:p>
          <a:p>
            <a:pPr indent="-485775" lvl="1" marL="9715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Buscar nuevas soluciones a problemas ya resueltos en la informática.</a:t>
            </a:r>
            <a:endParaRPr/>
          </a:p>
        </p:txBody>
      </p:sp>
      <p:sp>
        <p:nvSpPr>
          <p:cNvPr id="353" name="Google Shape;353;p16"/>
          <p:cNvSpPr/>
          <p:nvPr/>
        </p:nvSpPr>
        <p:spPr>
          <a:xfrm flipH="1" rot="-5252869">
            <a:off x="7166333" y="2041017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3138698" y="0"/>
                </a:moveTo>
                <a:lnTo>
                  <a:pt x="0" y="0"/>
                </a:lnTo>
                <a:lnTo>
                  <a:pt x="0" y="18364721"/>
                </a:lnTo>
                <a:lnTo>
                  <a:pt x="3138698" y="18364721"/>
                </a:lnTo>
                <a:lnTo>
                  <a:pt x="313869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4" name="Google Shape;354;p16"/>
          <p:cNvSpPr/>
          <p:nvPr/>
        </p:nvSpPr>
        <p:spPr>
          <a:xfrm flipH="1" rot="-5252869">
            <a:off x="7357019" y="2212036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3138698" y="0"/>
                </a:moveTo>
                <a:lnTo>
                  <a:pt x="0" y="0"/>
                </a:lnTo>
                <a:lnTo>
                  <a:pt x="0" y="18364721"/>
                </a:lnTo>
                <a:lnTo>
                  <a:pt x="3138698" y="18364721"/>
                </a:lnTo>
                <a:lnTo>
                  <a:pt x="313869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7"/>
          <p:cNvSpPr/>
          <p:nvPr/>
        </p:nvSpPr>
        <p:spPr>
          <a:xfrm rot="5400000">
            <a:off x="1035086" y="1228236"/>
            <a:ext cx="689712" cy="702485"/>
          </a:xfrm>
          <a:custGeom>
            <a:rect b="b" l="l" r="r" t="t"/>
            <a:pathLst>
              <a:path extrusionOk="0" h="702485" w="689712">
                <a:moveTo>
                  <a:pt x="0" y="0"/>
                </a:moveTo>
                <a:lnTo>
                  <a:pt x="689713" y="0"/>
                </a:lnTo>
                <a:lnTo>
                  <a:pt x="689713" y="702485"/>
                </a:lnTo>
                <a:lnTo>
                  <a:pt x="0" y="7024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0" name="Google Shape;360;p17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1" name="Google Shape;361;p17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2" name="Google Shape;362;p17"/>
          <p:cNvSpPr txBox="1"/>
          <p:nvPr/>
        </p:nvSpPr>
        <p:spPr>
          <a:xfrm>
            <a:off x="3865129" y="1230119"/>
            <a:ext cx="10557741" cy="755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361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CONCEPTOS CLAVES APRENDIDOS</a:t>
            </a:r>
            <a:endParaRPr/>
          </a:p>
        </p:txBody>
      </p:sp>
      <p:sp>
        <p:nvSpPr>
          <p:cNvPr id="363" name="Google Shape;363;p17"/>
          <p:cNvSpPr txBox="1"/>
          <p:nvPr/>
        </p:nvSpPr>
        <p:spPr>
          <a:xfrm>
            <a:off x="3865129" y="2672534"/>
            <a:ext cx="2076748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Serverless</a:t>
            </a:r>
            <a:endParaRPr/>
          </a:p>
        </p:txBody>
      </p:sp>
      <p:grpSp>
        <p:nvGrpSpPr>
          <p:cNvPr id="364" name="Google Shape;364;p17"/>
          <p:cNvGrpSpPr/>
          <p:nvPr/>
        </p:nvGrpSpPr>
        <p:grpSpPr>
          <a:xfrm>
            <a:off x="2905062" y="2593975"/>
            <a:ext cx="731003" cy="760368"/>
            <a:chOff x="0" y="0"/>
            <a:chExt cx="974670" cy="1013824"/>
          </a:xfrm>
        </p:grpSpPr>
        <p:sp>
          <p:nvSpPr>
            <p:cNvPr id="365" name="Google Shape;365;p1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367" name="Google Shape;367;p17"/>
          <p:cNvGrpSpPr/>
          <p:nvPr/>
        </p:nvGrpSpPr>
        <p:grpSpPr>
          <a:xfrm>
            <a:off x="2905062" y="3661478"/>
            <a:ext cx="731003" cy="760368"/>
            <a:chOff x="0" y="0"/>
            <a:chExt cx="974670" cy="1013824"/>
          </a:xfrm>
        </p:grpSpPr>
        <p:sp>
          <p:nvSpPr>
            <p:cNvPr id="368" name="Google Shape;368;p1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370" name="Google Shape;370;p17"/>
          <p:cNvGrpSpPr/>
          <p:nvPr/>
        </p:nvGrpSpPr>
        <p:grpSpPr>
          <a:xfrm>
            <a:off x="2905062" y="4825036"/>
            <a:ext cx="731003" cy="760368"/>
            <a:chOff x="0" y="0"/>
            <a:chExt cx="974670" cy="1013824"/>
          </a:xfrm>
        </p:grpSpPr>
        <p:sp>
          <p:nvSpPr>
            <p:cNvPr id="371" name="Google Shape;371;p1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373" name="Google Shape;373;p17"/>
          <p:cNvGrpSpPr/>
          <p:nvPr/>
        </p:nvGrpSpPr>
        <p:grpSpPr>
          <a:xfrm>
            <a:off x="2905062" y="5988595"/>
            <a:ext cx="731003" cy="760368"/>
            <a:chOff x="0" y="0"/>
            <a:chExt cx="974670" cy="1013824"/>
          </a:xfrm>
        </p:grpSpPr>
        <p:sp>
          <p:nvSpPr>
            <p:cNvPr id="374" name="Google Shape;374;p1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grpSp>
        <p:nvGrpSpPr>
          <p:cNvPr id="376" name="Google Shape;376;p17"/>
          <p:cNvGrpSpPr/>
          <p:nvPr/>
        </p:nvGrpSpPr>
        <p:grpSpPr>
          <a:xfrm>
            <a:off x="2905062" y="7038180"/>
            <a:ext cx="731003" cy="760368"/>
            <a:chOff x="0" y="0"/>
            <a:chExt cx="974670" cy="1013824"/>
          </a:xfrm>
        </p:grpSpPr>
        <p:sp>
          <p:nvSpPr>
            <p:cNvPr id="377" name="Google Shape;377;p1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sp>
        <p:nvSpPr>
          <p:cNvPr id="379" name="Google Shape;379;p17"/>
          <p:cNvSpPr txBox="1"/>
          <p:nvPr/>
        </p:nvSpPr>
        <p:spPr>
          <a:xfrm>
            <a:off x="3763612" y="7116739"/>
            <a:ext cx="8756507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Beneficios de las arquitecturas Serverless</a:t>
            </a:r>
            <a:endParaRPr/>
          </a:p>
        </p:txBody>
      </p:sp>
      <p:sp>
        <p:nvSpPr>
          <p:cNvPr id="380" name="Google Shape;380;p17"/>
          <p:cNvSpPr txBox="1"/>
          <p:nvPr/>
        </p:nvSpPr>
        <p:spPr>
          <a:xfrm>
            <a:off x="3865129" y="3743996"/>
            <a:ext cx="2608808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AWS Lambda</a:t>
            </a:r>
            <a:endParaRPr/>
          </a:p>
        </p:txBody>
      </p:sp>
      <p:sp>
        <p:nvSpPr>
          <p:cNvPr id="381" name="Google Shape;381;p17"/>
          <p:cNvSpPr txBox="1"/>
          <p:nvPr/>
        </p:nvSpPr>
        <p:spPr>
          <a:xfrm>
            <a:off x="3865129" y="4841875"/>
            <a:ext cx="6417915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Beneficios de Lambda sobre EC2</a:t>
            </a:r>
            <a:endParaRPr/>
          </a:p>
        </p:txBody>
      </p:sp>
      <p:sp>
        <p:nvSpPr>
          <p:cNvPr id="382" name="Google Shape;382;p17"/>
          <p:cNvSpPr txBox="1"/>
          <p:nvPr/>
        </p:nvSpPr>
        <p:spPr>
          <a:xfrm>
            <a:off x="3865129" y="6067154"/>
            <a:ext cx="11283937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AWS Api Gateway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8"/>
          <p:cNvSpPr/>
          <p:nvPr/>
        </p:nvSpPr>
        <p:spPr>
          <a:xfrm>
            <a:off x="-242146" y="-201788"/>
            <a:ext cx="7408840" cy="10690576"/>
          </a:xfrm>
          <a:prstGeom prst="rect">
            <a:avLst/>
          </a:prstGeom>
          <a:solidFill>
            <a:srgbClr val="FFB9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8"/>
          <p:cNvSpPr/>
          <p:nvPr/>
        </p:nvSpPr>
        <p:spPr>
          <a:xfrm rot="5400000">
            <a:off x="1035086" y="8288411"/>
            <a:ext cx="689712" cy="702485"/>
          </a:xfrm>
          <a:custGeom>
            <a:rect b="b" l="l" r="r" t="t"/>
            <a:pathLst>
              <a:path extrusionOk="0" h="702485" w="689712">
                <a:moveTo>
                  <a:pt x="0" y="0"/>
                </a:moveTo>
                <a:lnTo>
                  <a:pt x="689713" y="0"/>
                </a:lnTo>
                <a:lnTo>
                  <a:pt x="689713" y="702485"/>
                </a:lnTo>
                <a:lnTo>
                  <a:pt x="0" y="7024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9" name="Google Shape;389;p18"/>
          <p:cNvSpPr txBox="1"/>
          <p:nvPr/>
        </p:nvSpPr>
        <p:spPr>
          <a:xfrm>
            <a:off x="935917" y="1369165"/>
            <a:ext cx="5294859" cy="941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24" u="none" cap="none" strike="noStrike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REFERENCIAS</a:t>
            </a:r>
            <a:endParaRPr/>
          </a:p>
        </p:txBody>
      </p:sp>
      <p:sp>
        <p:nvSpPr>
          <p:cNvPr id="390" name="Google Shape;390;p18"/>
          <p:cNvSpPr/>
          <p:nvPr/>
        </p:nvSpPr>
        <p:spPr>
          <a:xfrm>
            <a:off x="935917" y="2310552"/>
            <a:ext cx="3863467" cy="285524"/>
          </a:xfrm>
          <a:custGeom>
            <a:rect b="b" l="l" r="r" t="t"/>
            <a:pathLst>
              <a:path extrusionOk="0" h="285524" w="3863467">
                <a:moveTo>
                  <a:pt x="0" y="0"/>
                </a:moveTo>
                <a:lnTo>
                  <a:pt x="3863468" y="0"/>
                </a:lnTo>
                <a:lnTo>
                  <a:pt x="3863468" y="285524"/>
                </a:lnTo>
                <a:lnTo>
                  <a:pt x="0" y="285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042591" l="-170" r="-7086" t="-308576"/>
            </a:stretch>
          </a:blipFill>
          <a:ln>
            <a:noFill/>
          </a:ln>
        </p:spPr>
      </p:sp>
      <p:sp>
        <p:nvSpPr>
          <p:cNvPr id="391" name="Google Shape;391;p18"/>
          <p:cNvSpPr txBox="1"/>
          <p:nvPr/>
        </p:nvSpPr>
        <p:spPr>
          <a:xfrm>
            <a:off x="7744891" y="1000125"/>
            <a:ext cx="9514409" cy="4107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9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Informática sin servidor: Amazon Web Services. (s. f.). Amazon Web Services, Inc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https://aws.amazon.com/es/serverless/</a:t>
            </a:r>
            <a:endParaRPr/>
          </a:p>
          <a:p>
            <a:pPr indent="-3049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Web Services. (n.d.). AWS Lambda – Serverless compute. Amazon Web Services.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https://aws.amazon.com/lambda/ </a:t>
            </a:r>
            <a:endParaRPr/>
          </a:p>
          <a:p>
            <a:pPr indent="-3049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Web Services. (n.d.). Amazon API Gateway – Build, deploy, and manage APIs. Amazon Web Services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https://aws.amazon.com/api-gateway/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9"/>
          <p:cNvSpPr txBox="1"/>
          <p:nvPr/>
        </p:nvSpPr>
        <p:spPr>
          <a:xfrm>
            <a:off x="3207779" y="4022725"/>
            <a:ext cx="11872442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¡GRACIAS POR SU ATENCIÓN!</a:t>
            </a:r>
            <a:endParaRPr/>
          </a:p>
        </p:txBody>
      </p:sp>
      <p:sp>
        <p:nvSpPr>
          <p:cNvPr id="397" name="Google Shape;397;p19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8" name="Google Shape;398;p19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9" name="Google Shape;399;p19"/>
          <p:cNvSpPr txBox="1"/>
          <p:nvPr/>
        </p:nvSpPr>
        <p:spPr>
          <a:xfrm>
            <a:off x="7003114" y="5143500"/>
            <a:ext cx="4478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¿DUDAS?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