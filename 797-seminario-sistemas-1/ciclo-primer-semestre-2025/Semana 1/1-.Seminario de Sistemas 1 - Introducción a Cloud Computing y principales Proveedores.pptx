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10287000" cx="18288000"/>
  <p:notesSz cx="6858000" cy="9144000"/>
  <p:embeddedFontLst>
    <p:embeddedFont>
      <p:font typeface="Hammersmith One"/>
      <p:regular r:id="rId27"/>
    </p:embeddedFont>
    <p:embeddedFont>
      <p:font typeface="Sansita"/>
      <p:regular r:id="rId28"/>
      <p:bold r:id="rId29"/>
      <p:italic r:id="rId30"/>
      <p:boldItalic r:id="rId31"/>
    </p:embeddedFont>
    <p:embeddedFont>
      <p:font typeface="Open Sans"/>
      <p:bold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4" roundtripDataSignature="AMtx7mh5i3d5M2mOPUjG3TFBwuL0lqas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Sansita-regular.fntdata"/><Relationship Id="rId27" Type="http://schemas.openxmlformats.org/officeDocument/2006/relationships/font" Target="fonts/HammersmithOn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ansita-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ansita-boldItalic.fntdata"/><Relationship Id="rId30" Type="http://schemas.openxmlformats.org/officeDocument/2006/relationships/font" Target="fonts/Sansita-italic.fntdata"/><Relationship Id="rId11" Type="http://schemas.openxmlformats.org/officeDocument/2006/relationships/slide" Target="slides/slide6.xml"/><Relationship Id="rId33" Type="http://schemas.openxmlformats.org/officeDocument/2006/relationships/font" Target="fonts/OpenSans-boldItalic.fntdata"/><Relationship Id="rId10" Type="http://schemas.openxmlformats.org/officeDocument/2006/relationships/slide" Target="slides/slide5.xml"/><Relationship Id="rId32" Type="http://schemas.openxmlformats.org/officeDocument/2006/relationships/font" Target="fonts/OpenSans-bold.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1"/>
          <p:cNvSpPr/>
          <p:nvPr>
            <p:ph idx="2" type="pic"/>
          </p:nvPr>
        </p:nvSpPr>
        <p:spPr>
          <a:xfrm>
            <a:off x="1792288" y="612775"/>
            <a:ext cx="5486400" cy="4114800"/>
          </a:xfrm>
          <a:prstGeom prst="rect">
            <a:avLst/>
          </a:prstGeom>
          <a:noFill/>
          <a:ln>
            <a:noFill/>
          </a:ln>
        </p:spPr>
      </p:sp>
      <p:sp>
        <p:nvSpPr>
          <p:cNvPr id="64" name="Google Shape;64;p3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14.png"/><Relationship Id="rId6"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20.png"/><Relationship Id="rId6" Type="http://schemas.openxmlformats.org/officeDocument/2006/relationships/image" Target="../media/image15.png"/><Relationship Id="rId7"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7.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7.png"/><Relationship Id="rId5"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7.png"/><Relationship Id="rId5"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3252288" y="201103"/>
            <a:ext cx="4684163" cy="1457826"/>
          </a:xfrm>
          <a:custGeom>
            <a:rect b="b" l="l" r="r" t="t"/>
            <a:pathLst>
              <a:path extrusionOk="0" h="1457826" w="4684163">
                <a:moveTo>
                  <a:pt x="0" y="0"/>
                </a:moveTo>
                <a:lnTo>
                  <a:pt x="4684163" y="0"/>
                </a:lnTo>
                <a:lnTo>
                  <a:pt x="4684163" y="1457827"/>
                </a:lnTo>
                <a:lnTo>
                  <a:pt x="0" y="1457827"/>
                </a:lnTo>
                <a:lnTo>
                  <a:pt x="0" y="0"/>
                </a:lnTo>
                <a:close/>
              </a:path>
            </a:pathLst>
          </a:custGeom>
          <a:blipFill rotWithShape="1">
            <a:blip r:embed="rId3">
              <a:alphaModFix/>
            </a:blip>
            <a:stretch>
              <a:fillRect b="0" l="0" r="0" t="0"/>
            </a:stretch>
          </a:blipFill>
          <a:ln>
            <a:noFill/>
          </a:ln>
        </p:spPr>
      </p:sp>
      <p:cxnSp>
        <p:nvCxnSpPr>
          <p:cNvPr id="85" name="Google Shape;85;p1"/>
          <p:cNvCxnSpPr/>
          <p:nvPr/>
        </p:nvCxnSpPr>
        <p:spPr>
          <a:xfrm>
            <a:off x="507314" y="8149956"/>
            <a:ext cx="6492240" cy="0"/>
          </a:xfrm>
          <a:prstGeom prst="straightConnector1">
            <a:avLst/>
          </a:prstGeom>
          <a:noFill/>
          <a:ln cap="flat" cmpd="sng" w="38100">
            <a:solidFill>
              <a:srgbClr val="121F39"/>
            </a:solidFill>
            <a:prstDash val="solid"/>
            <a:round/>
            <a:headEnd len="sm" w="sm" type="none"/>
            <a:tailEnd len="sm" w="sm" type="none"/>
          </a:ln>
        </p:spPr>
      </p:cxnSp>
      <p:sp>
        <p:nvSpPr>
          <p:cNvPr id="86" name="Google Shape;86;p1"/>
          <p:cNvSpPr/>
          <p:nvPr/>
        </p:nvSpPr>
        <p:spPr>
          <a:xfrm flipH="1" rot="5679621">
            <a:off x="7710161" y="786592"/>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4">
              <a:alphaModFix/>
            </a:blip>
            <a:stretch>
              <a:fillRect b="0" l="0" r="0" t="0"/>
            </a:stretch>
          </a:blipFill>
          <a:ln>
            <a:noFill/>
          </a:ln>
        </p:spPr>
      </p:sp>
      <p:sp>
        <p:nvSpPr>
          <p:cNvPr id="87" name="Google Shape;87;p1"/>
          <p:cNvSpPr txBox="1"/>
          <p:nvPr/>
        </p:nvSpPr>
        <p:spPr>
          <a:xfrm>
            <a:off x="0" y="3209848"/>
            <a:ext cx="18104045" cy="25622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6500" u="none" cap="none" strike="noStrike">
                <a:solidFill>
                  <a:srgbClr val="29303C"/>
                </a:solidFill>
                <a:latin typeface="Hammersmith One"/>
                <a:ea typeface="Hammersmith One"/>
                <a:cs typeface="Hammersmith One"/>
                <a:sym typeface="Hammersmith One"/>
              </a:rPr>
              <a:t>UNIDAD 1 y 2 </a:t>
            </a:r>
            <a:endParaRPr/>
          </a:p>
          <a:p>
            <a:pPr indent="0" lvl="0" marL="0" marR="0" rtl="0" algn="ctr">
              <a:lnSpc>
                <a:spcPct val="140010"/>
              </a:lnSpc>
              <a:spcBef>
                <a:spcPts val="0"/>
              </a:spcBef>
              <a:spcAft>
                <a:spcPts val="0"/>
              </a:spcAft>
              <a:buNone/>
            </a:pPr>
            <a:r>
              <a:rPr b="0" i="0" lang="en-US" sz="3999" u="none" cap="none" strike="noStrike">
                <a:solidFill>
                  <a:srgbClr val="29303C"/>
                </a:solidFill>
                <a:latin typeface="Hammersmith One"/>
                <a:ea typeface="Hammersmith One"/>
                <a:cs typeface="Hammersmith One"/>
                <a:sym typeface="Hammersmith One"/>
              </a:rPr>
              <a:t>“Conceptos Fundamentales de la Computación en la Nube” y “Servicios clave de proveedores Cloud” </a:t>
            </a:r>
            <a:endParaRPr/>
          </a:p>
        </p:txBody>
      </p:sp>
      <p:sp>
        <p:nvSpPr>
          <p:cNvPr id="88" name="Google Shape;88;p1"/>
          <p:cNvSpPr txBox="1"/>
          <p:nvPr/>
        </p:nvSpPr>
        <p:spPr>
          <a:xfrm>
            <a:off x="507314" y="8207106"/>
            <a:ext cx="4887216" cy="131394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0" i="0" lang="en-US" sz="1894" u="none" cap="none" strike="noStrike">
                <a:solidFill>
                  <a:srgbClr val="29303C"/>
                </a:solidFill>
                <a:latin typeface="Arial"/>
                <a:ea typeface="Arial"/>
                <a:cs typeface="Arial"/>
                <a:sym typeface="Arial"/>
              </a:rPr>
              <a:t>Escuela de Ingenieria de Ciencias y Sistemas</a:t>
            </a:r>
            <a:endParaRPr/>
          </a:p>
          <a:p>
            <a:pPr indent="0" lvl="0" marL="0" marR="0" rtl="0" algn="l">
              <a:lnSpc>
                <a:spcPct val="140021"/>
              </a:lnSpc>
              <a:spcBef>
                <a:spcPts val="0"/>
              </a:spcBef>
              <a:spcAft>
                <a:spcPts val="0"/>
              </a:spcAft>
              <a:buNone/>
            </a:pPr>
            <a:r>
              <a:rPr b="0" i="0" lang="en-US" sz="1894" u="none" cap="none" strike="noStrike">
                <a:solidFill>
                  <a:srgbClr val="29303C"/>
                </a:solidFill>
                <a:latin typeface="Arial"/>
                <a:ea typeface="Arial"/>
                <a:cs typeface="Arial"/>
                <a:sym typeface="Arial"/>
              </a:rPr>
              <a:t>Facultad de Ingenieria</a:t>
            </a:r>
            <a:endParaRPr/>
          </a:p>
          <a:p>
            <a:pPr indent="0" lvl="0" marL="0" marR="0" rtl="0" algn="l">
              <a:lnSpc>
                <a:spcPct val="140021"/>
              </a:lnSpc>
              <a:spcBef>
                <a:spcPts val="0"/>
              </a:spcBef>
              <a:spcAft>
                <a:spcPts val="0"/>
              </a:spcAft>
              <a:buNone/>
            </a:pPr>
            <a:r>
              <a:rPr b="0" i="0" lang="en-US" sz="1894" u="none" cap="none" strike="noStrike">
                <a:solidFill>
                  <a:srgbClr val="29303C"/>
                </a:solidFill>
                <a:latin typeface="Arial"/>
                <a:ea typeface="Arial"/>
                <a:cs typeface="Arial"/>
                <a:sym typeface="Arial"/>
              </a:rPr>
              <a:t>Universidad de San Carlos de Guatemala</a:t>
            </a:r>
            <a:endParaRPr/>
          </a:p>
          <a:p>
            <a:pPr indent="0" lvl="0" marL="0" marR="0" rtl="0" algn="l">
              <a:lnSpc>
                <a:spcPct val="140021"/>
              </a:lnSpc>
              <a:spcBef>
                <a:spcPts val="0"/>
              </a:spcBef>
              <a:spcAft>
                <a:spcPts val="0"/>
              </a:spcAft>
              <a:buNone/>
            </a:pPr>
            <a:r>
              <a:t/>
            </a:r>
            <a:endParaRPr b="0" i="0" sz="1894" u="none" cap="none" strike="noStrike">
              <a:solidFill>
                <a:srgbClr val="29303C"/>
              </a:solidFill>
              <a:latin typeface="Arial"/>
              <a:ea typeface="Arial"/>
              <a:cs typeface="Arial"/>
              <a:sym typeface="Arial"/>
            </a:endParaRPr>
          </a:p>
        </p:txBody>
      </p:sp>
      <p:sp>
        <p:nvSpPr>
          <p:cNvPr id="89" name="Google Shape;89;p1"/>
          <p:cNvSpPr txBox="1"/>
          <p:nvPr/>
        </p:nvSpPr>
        <p:spPr>
          <a:xfrm>
            <a:off x="507325" y="7364750"/>
            <a:ext cx="6313800" cy="6156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i="0" lang="en-US" sz="3999" u="none" cap="none" strike="noStrike">
                <a:solidFill>
                  <a:srgbClr val="29303C"/>
                </a:solidFill>
                <a:latin typeface="Arial"/>
                <a:ea typeface="Arial"/>
                <a:cs typeface="Arial"/>
                <a:sym typeface="Arial"/>
              </a:rPr>
              <a:t>Seminario de Sistemas 1</a:t>
            </a:r>
            <a:endParaRPr/>
          </a:p>
        </p:txBody>
      </p:sp>
      <p:sp>
        <p:nvSpPr>
          <p:cNvPr id="90" name="Google Shape;90;p1"/>
          <p:cNvSpPr/>
          <p:nvPr/>
        </p:nvSpPr>
        <p:spPr>
          <a:xfrm flipH="1" rot="5679621">
            <a:off x="7894116" y="96483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5">
              <a:alphaModFix/>
            </a:blip>
            <a:stretch>
              <a:fillRect b="0" l="0" r="0" t="0"/>
            </a:stretch>
          </a:blipFill>
          <a:ln>
            <a:noFill/>
          </a:ln>
        </p:spPr>
      </p:sp>
      <p:cxnSp>
        <p:nvCxnSpPr>
          <p:cNvPr id="91" name="Google Shape;91;p1"/>
          <p:cNvCxnSpPr/>
          <p:nvPr/>
        </p:nvCxnSpPr>
        <p:spPr>
          <a:xfrm>
            <a:off x="5535002" y="4310615"/>
            <a:ext cx="6492240" cy="0"/>
          </a:xfrm>
          <a:prstGeom prst="straightConnector1">
            <a:avLst/>
          </a:prstGeom>
          <a:noFill/>
          <a:ln cap="flat" cmpd="sng" w="38100">
            <a:solidFill>
              <a:srgbClr val="29303C"/>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grpSp>
        <p:nvGrpSpPr>
          <p:cNvPr id="96" name="Google Shape;96;p2"/>
          <p:cNvGrpSpPr/>
          <p:nvPr/>
        </p:nvGrpSpPr>
        <p:grpSpPr>
          <a:xfrm>
            <a:off x="1421964" y="2747250"/>
            <a:ext cx="731003" cy="760368"/>
            <a:chOff x="0" y="0"/>
            <a:chExt cx="974670" cy="1013824"/>
          </a:xfrm>
        </p:grpSpPr>
        <p:sp>
          <p:nvSpPr>
            <p:cNvPr id="97" name="Google Shape;97;p2"/>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29303C"/>
                  </a:solidFill>
                  <a:latin typeface="Arial"/>
                  <a:ea typeface="Arial"/>
                  <a:cs typeface="Arial"/>
                  <a:sym typeface="Arial"/>
                </a:rPr>
                <a:t>1</a:t>
              </a:r>
              <a:endParaRPr/>
            </a:p>
          </p:txBody>
        </p:sp>
      </p:grpSp>
      <p:sp>
        <p:nvSpPr>
          <p:cNvPr id="99" name="Google Shape;99;p2"/>
          <p:cNvSpPr/>
          <p:nvPr/>
        </p:nvSpPr>
        <p:spPr>
          <a:xfrm rot="5400000">
            <a:off x="12857023" y="4742132"/>
            <a:ext cx="10861953" cy="802736"/>
          </a:xfrm>
          <a:custGeom>
            <a:rect b="b" l="l" r="r" t="t"/>
            <a:pathLst>
              <a:path extrusionOk="0" h="802736" w="10861953">
                <a:moveTo>
                  <a:pt x="0" y="0"/>
                </a:moveTo>
                <a:lnTo>
                  <a:pt x="10861954" y="0"/>
                </a:lnTo>
                <a:lnTo>
                  <a:pt x="10861954" y="802736"/>
                </a:lnTo>
                <a:lnTo>
                  <a:pt x="0" y="802736"/>
                </a:lnTo>
                <a:lnTo>
                  <a:pt x="0" y="0"/>
                </a:lnTo>
                <a:close/>
              </a:path>
            </a:pathLst>
          </a:custGeom>
          <a:blipFill rotWithShape="1">
            <a:blip r:embed="rId3">
              <a:alphaModFix/>
            </a:blip>
            <a:stretch>
              <a:fillRect b="-1042591" l="-170" r="-7086" t="-308576"/>
            </a:stretch>
          </a:blipFill>
          <a:ln>
            <a:noFill/>
          </a:ln>
        </p:spPr>
      </p:sp>
      <p:grpSp>
        <p:nvGrpSpPr>
          <p:cNvPr id="100" name="Google Shape;100;p2"/>
          <p:cNvGrpSpPr/>
          <p:nvPr/>
        </p:nvGrpSpPr>
        <p:grpSpPr>
          <a:xfrm>
            <a:off x="4845710" y="2747250"/>
            <a:ext cx="731003" cy="760368"/>
            <a:chOff x="0" y="0"/>
            <a:chExt cx="974670" cy="1013824"/>
          </a:xfrm>
        </p:grpSpPr>
        <p:sp>
          <p:nvSpPr>
            <p:cNvPr id="101" name="Google Shape;101;p2"/>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29303C"/>
                  </a:solidFill>
                  <a:latin typeface="Arial"/>
                  <a:ea typeface="Arial"/>
                  <a:cs typeface="Arial"/>
                  <a:sym typeface="Arial"/>
                </a:rPr>
                <a:t>2</a:t>
              </a:r>
              <a:endParaRPr/>
            </a:p>
          </p:txBody>
        </p:sp>
      </p:grpSp>
      <p:grpSp>
        <p:nvGrpSpPr>
          <p:cNvPr id="103" name="Google Shape;103;p2"/>
          <p:cNvGrpSpPr/>
          <p:nvPr/>
        </p:nvGrpSpPr>
        <p:grpSpPr>
          <a:xfrm>
            <a:off x="1421964" y="5820388"/>
            <a:ext cx="731003" cy="760368"/>
            <a:chOff x="0" y="0"/>
            <a:chExt cx="974670" cy="1013824"/>
          </a:xfrm>
        </p:grpSpPr>
        <p:sp>
          <p:nvSpPr>
            <p:cNvPr id="104" name="Google Shape;104;p2"/>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29303C"/>
                  </a:solidFill>
                  <a:latin typeface="Arial"/>
                  <a:ea typeface="Arial"/>
                  <a:cs typeface="Arial"/>
                  <a:sym typeface="Arial"/>
                </a:rPr>
                <a:t>1</a:t>
              </a:r>
              <a:endParaRPr/>
            </a:p>
          </p:txBody>
        </p:sp>
      </p:grpSp>
      <p:grpSp>
        <p:nvGrpSpPr>
          <p:cNvPr id="106" name="Google Shape;106;p2"/>
          <p:cNvGrpSpPr/>
          <p:nvPr/>
        </p:nvGrpSpPr>
        <p:grpSpPr>
          <a:xfrm>
            <a:off x="1421964" y="6990935"/>
            <a:ext cx="731003" cy="760368"/>
            <a:chOff x="0" y="0"/>
            <a:chExt cx="974670" cy="1013824"/>
          </a:xfrm>
        </p:grpSpPr>
        <p:sp>
          <p:nvSpPr>
            <p:cNvPr id="107" name="Google Shape;107;p2"/>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29303C"/>
                  </a:solidFill>
                  <a:latin typeface="Arial"/>
                  <a:ea typeface="Arial"/>
                  <a:cs typeface="Arial"/>
                  <a:sym typeface="Arial"/>
                </a:rPr>
                <a:t>2</a:t>
              </a:r>
              <a:endParaRPr/>
            </a:p>
          </p:txBody>
        </p:sp>
      </p:grpSp>
      <p:cxnSp>
        <p:nvCxnSpPr>
          <p:cNvPr id="109" name="Google Shape;109;p2"/>
          <p:cNvCxnSpPr/>
          <p:nvPr/>
        </p:nvCxnSpPr>
        <p:spPr>
          <a:xfrm>
            <a:off x="1211924" y="2318625"/>
            <a:ext cx="4643555" cy="0"/>
          </a:xfrm>
          <a:prstGeom prst="straightConnector1">
            <a:avLst/>
          </a:prstGeom>
          <a:noFill/>
          <a:ln cap="flat" cmpd="sng" w="38100">
            <a:solidFill>
              <a:srgbClr val="000000"/>
            </a:solidFill>
            <a:prstDash val="solid"/>
            <a:round/>
            <a:headEnd len="sm" w="sm" type="none"/>
            <a:tailEnd len="sm" w="sm" type="none"/>
          </a:ln>
        </p:spPr>
      </p:cxnSp>
      <p:cxnSp>
        <p:nvCxnSpPr>
          <p:cNvPr id="110" name="Google Shape;110;p2"/>
          <p:cNvCxnSpPr/>
          <p:nvPr/>
        </p:nvCxnSpPr>
        <p:spPr>
          <a:xfrm>
            <a:off x="1211924" y="5296513"/>
            <a:ext cx="2129220" cy="0"/>
          </a:xfrm>
          <a:prstGeom prst="straightConnector1">
            <a:avLst/>
          </a:prstGeom>
          <a:noFill/>
          <a:ln cap="flat" cmpd="sng" w="38100">
            <a:solidFill>
              <a:srgbClr val="29303C"/>
            </a:solidFill>
            <a:prstDash val="solid"/>
            <a:round/>
            <a:headEnd len="sm" w="sm" type="none"/>
            <a:tailEnd len="sm" w="sm" type="none"/>
          </a:ln>
        </p:spPr>
      </p:cxnSp>
      <p:grpSp>
        <p:nvGrpSpPr>
          <p:cNvPr id="111" name="Google Shape;111;p2"/>
          <p:cNvGrpSpPr/>
          <p:nvPr/>
        </p:nvGrpSpPr>
        <p:grpSpPr>
          <a:xfrm>
            <a:off x="1421964" y="8160878"/>
            <a:ext cx="731003" cy="760368"/>
            <a:chOff x="0" y="0"/>
            <a:chExt cx="974670" cy="1013824"/>
          </a:xfrm>
        </p:grpSpPr>
        <p:sp>
          <p:nvSpPr>
            <p:cNvPr id="112" name="Google Shape;112;p2"/>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29303C"/>
                  </a:solidFill>
                  <a:latin typeface="Arial"/>
                  <a:ea typeface="Arial"/>
                  <a:cs typeface="Arial"/>
                  <a:sym typeface="Arial"/>
                </a:rPr>
                <a:t>3</a:t>
              </a:r>
              <a:endParaRPr/>
            </a:p>
          </p:txBody>
        </p:sp>
      </p:grpSp>
      <p:sp>
        <p:nvSpPr>
          <p:cNvPr id="114" name="Google Shape;114;p2"/>
          <p:cNvSpPr txBox="1"/>
          <p:nvPr/>
        </p:nvSpPr>
        <p:spPr>
          <a:xfrm>
            <a:off x="6945276" y="222725"/>
            <a:ext cx="4144200" cy="1077300"/>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None/>
            </a:pPr>
            <a:r>
              <a:rPr b="1" i="0" lang="en-US" sz="6999" u="none" cap="none" strike="noStrike">
                <a:solidFill>
                  <a:srgbClr val="29303C"/>
                </a:solidFill>
                <a:latin typeface="Arial"/>
                <a:ea typeface="Arial"/>
                <a:cs typeface="Arial"/>
                <a:sym typeface="Arial"/>
              </a:rPr>
              <a:t>AGENDA</a:t>
            </a:r>
            <a:endParaRPr/>
          </a:p>
        </p:txBody>
      </p:sp>
      <p:sp>
        <p:nvSpPr>
          <p:cNvPr id="115" name="Google Shape;115;p2"/>
          <p:cNvSpPr txBox="1"/>
          <p:nvPr/>
        </p:nvSpPr>
        <p:spPr>
          <a:xfrm>
            <a:off x="2640377" y="2830096"/>
            <a:ext cx="1401532"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None/>
            </a:pPr>
            <a:r>
              <a:rPr b="0" i="0" lang="en-US" sz="3425" u="none" cap="none" strike="noStrike">
                <a:solidFill>
                  <a:srgbClr val="29303C"/>
                </a:solidFill>
                <a:latin typeface="Hammersmith One"/>
                <a:ea typeface="Hammersmith One"/>
                <a:cs typeface="Hammersmith One"/>
                <a:sym typeface="Hammersmith One"/>
              </a:rPr>
              <a:t>Foro 1</a:t>
            </a:r>
            <a:endParaRPr/>
          </a:p>
        </p:txBody>
      </p:sp>
      <p:sp>
        <p:nvSpPr>
          <p:cNvPr id="116" name="Google Shape;116;p2"/>
          <p:cNvSpPr txBox="1"/>
          <p:nvPr/>
        </p:nvSpPr>
        <p:spPr>
          <a:xfrm>
            <a:off x="5770962" y="2830096"/>
            <a:ext cx="3499957"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None/>
            </a:pPr>
            <a:r>
              <a:rPr b="0" i="0" lang="en-US" sz="3425" u="none" cap="none" strike="noStrike">
                <a:solidFill>
                  <a:srgbClr val="29303C"/>
                </a:solidFill>
                <a:latin typeface="Hammersmith One"/>
                <a:ea typeface="Hammersmith One"/>
                <a:cs typeface="Hammersmith One"/>
                <a:sym typeface="Hammersmith One"/>
              </a:rPr>
              <a:t>Asignación a DTT</a:t>
            </a:r>
            <a:endParaRPr/>
          </a:p>
        </p:txBody>
      </p:sp>
      <p:sp>
        <p:nvSpPr>
          <p:cNvPr id="117" name="Google Shape;117;p2"/>
          <p:cNvSpPr txBox="1"/>
          <p:nvPr/>
        </p:nvSpPr>
        <p:spPr>
          <a:xfrm>
            <a:off x="2335952" y="5933228"/>
            <a:ext cx="6934966"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None/>
            </a:pPr>
            <a:r>
              <a:rPr b="0" i="0" lang="en-US" sz="3425" u="none" cap="none" strike="noStrike">
                <a:solidFill>
                  <a:srgbClr val="29303C"/>
                </a:solidFill>
                <a:latin typeface="Hammersmith One"/>
                <a:ea typeface="Hammersmith One"/>
                <a:cs typeface="Hammersmith One"/>
                <a:sym typeface="Hammersmith One"/>
              </a:rPr>
              <a:t>Introducción A Cloud Computing</a:t>
            </a:r>
            <a:endParaRPr/>
          </a:p>
        </p:txBody>
      </p:sp>
      <p:sp>
        <p:nvSpPr>
          <p:cNvPr id="118" name="Google Shape;118;p2"/>
          <p:cNvSpPr txBox="1"/>
          <p:nvPr/>
        </p:nvSpPr>
        <p:spPr>
          <a:xfrm>
            <a:off x="2335952" y="7099406"/>
            <a:ext cx="6808048"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None/>
            </a:pPr>
            <a:r>
              <a:rPr b="0" i="0" lang="en-US" sz="3425" u="none" cap="none" strike="noStrike">
                <a:solidFill>
                  <a:srgbClr val="29303C"/>
                </a:solidFill>
                <a:latin typeface="Hammersmith One"/>
                <a:ea typeface="Hammersmith One"/>
                <a:cs typeface="Hammersmith One"/>
                <a:sym typeface="Hammersmith One"/>
              </a:rPr>
              <a:t>Servicios clave de Google Cloud</a:t>
            </a:r>
            <a:endParaRPr/>
          </a:p>
        </p:txBody>
      </p:sp>
      <p:sp>
        <p:nvSpPr>
          <p:cNvPr id="119" name="Google Shape;119;p2"/>
          <p:cNvSpPr txBox="1"/>
          <p:nvPr/>
        </p:nvSpPr>
        <p:spPr>
          <a:xfrm>
            <a:off x="1211924" y="1300032"/>
            <a:ext cx="464355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199" u="none" cap="none" strike="noStrike">
                <a:solidFill>
                  <a:srgbClr val="29303C"/>
                </a:solidFill>
                <a:latin typeface="Open Sans"/>
                <a:ea typeface="Open Sans"/>
                <a:cs typeface="Open Sans"/>
                <a:sym typeface="Open Sans"/>
              </a:rPr>
              <a:t>Recordatorios</a:t>
            </a:r>
            <a:endParaRPr/>
          </a:p>
        </p:txBody>
      </p:sp>
      <p:sp>
        <p:nvSpPr>
          <p:cNvPr id="120" name="Google Shape;120;p2"/>
          <p:cNvSpPr txBox="1"/>
          <p:nvPr/>
        </p:nvSpPr>
        <p:spPr>
          <a:xfrm>
            <a:off x="1211924" y="4208720"/>
            <a:ext cx="2248057"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199" u="none" cap="none" strike="noStrike">
                <a:solidFill>
                  <a:srgbClr val="29303C"/>
                </a:solidFill>
                <a:latin typeface="Open Sans"/>
                <a:ea typeface="Open Sans"/>
                <a:cs typeface="Open Sans"/>
                <a:sym typeface="Open Sans"/>
              </a:rPr>
              <a:t>Temas</a:t>
            </a:r>
            <a:endParaRPr/>
          </a:p>
        </p:txBody>
      </p:sp>
      <p:sp>
        <p:nvSpPr>
          <p:cNvPr id="121" name="Google Shape;121;p2"/>
          <p:cNvSpPr txBox="1"/>
          <p:nvPr/>
        </p:nvSpPr>
        <p:spPr>
          <a:xfrm>
            <a:off x="2366938" y="8243723"/>
            <a:ext cx="7281377"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None/>
            </a:pPr>
            <a:r>
              <a:rPr b="0" i="0" lang="en-US" sz="3425" u="none" cap="none" strike="noStrike">
                <a:solidFill>
                  <a:srgbClr val="29303C"/>
                </a:solidFill>
                <a:latin typeface="Hammersmith One"/>
                <a:ea typeface="Hammersmith One"/>
                <a:cs typeface="Hammersmith One"/>
                <a:sym typeface="Hammersmith One"/>
              </a:rPr>
              <a:t>Servicios clave de Microsoft Azure</a:t>
            </a:r>
            <a:endParaRPr/>
          </a:p>
        </p:txBody>
      </p:sp>
      <p:grpSp>
        <p:nvGrpSpPr>
          <p:cNvPr id="122" name="Google Shape;122;p2"/>
          <p:cNvGrpSpPr/>
          <p:nvPr/>
        </p:nvGrpSpPr>
        <p:grpSpPr>
          <a:xfrm>
            <a:off x="10051052" y="5820388"/>
            <a:ext cx="716271" cy="760368"/>
            <a:chOff x="0" y="0"/>
            <a:chExt cx="955028" cy="1013824"/>
          </a:xfrm>
        </p:grpSpPr>
        <p:sp>
          <p:nvSpPr>
            <p:cNvPr id="123" name="Google Shape;123;p2"/>
            <p:cNvSpPr/>
            <p:nvPr/>
          </p:nvSpPr>
          <p:spPr>
            <a:xfrm>
              <a:off x="0" y="0"/>
              <a:ext cx="955028" cy="1013824"/>
            </a:xfrm>
            <a:prstGeom prst="rect">
              <a:avLst/>
            </a:prstGeom>
            <a:solidFill>
              <a:srgbClr val="FFB9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txBox="1"/>
            <p:nvPr/>
          </p:nvSpPr>
          <p:spPr>
            <a:xfrm>
              <a:off x="190648" y="64529"/>
              <a:ext cx="5737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29303C"/>
                  </a:solidFill>
                  <a:latin typeface="Arial"/>
                  <a:ea typeface="Arial"/>
                  <a:cs typeface="Arial"/>
                  <a:sym typeface="Arial"/>
                </a:rPr>
                <a:t>4</a:t>
              </a:r>
              <a:endParaRPr/>
            </a:p>
          </p:txBody>
        </p:sp>
      </p:grpSp>
      <p:sp>
        <p:nvSpPr>
          <p:cNvPr id="125" name="Google Shape;125;p2"/>
          <p:cNvSpPr txBox="1"/>
          <p:nvPr/>
        </p:nvSpPr>
        <p:spPr>
          <a:xfrm>
            <a:off x="10976981" y="5903233"/>
            <a:ext cx="4752215"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None/>
            </a:pPr>
            <a:r>
              <a:rPr b="0" i="0" lang="en-US" sz="3425" u="none" cap="none" strike="noStrike">
                <a:solidFill>
                  <a:srgbClr val="29303C"/>
                </a:solidFill>
                <a:latin typeface="Hammersmith One"/>
                <a:ea typeface="Hammersmith One"/>
                <a:cs typeface="Hammersmith One"/>
                <a:sym typeface="Hammersmith One"/>
              </a:rPr>
              <a:t>Servicios clave de AWS</a:t>
            </a:r>
            <a:endParaRPr/>
          </a:p>
        </p:txBody>
      </p:sp>
      <p:grpSp>
        <p:nvGrpSpPr>
          <p:cNvPr id="126" name="Google Shape;126;p2"/>
          <p:cNvGrpSpPr/>
          <p:nvPr/>
        </p:nvGrpSpPr>
        <p:grpSpPr>
          <a:xfrm>
            <a:off x="10051052" y="6986565"/>
            <a:ext cx="716271" cy="760368"/>
            <a:chOff x="0" y="0"/>
            <a:chExt cx="955028" cy="1013824"/>
          </a:xfrm>
        </p:grpSpPr>
        <p:sp>
          <p:nvSpPr>
            <p:cNvPr id="127" name="Google Shape;127;p2"/>
            <p:cNvSpPr/>
            <p:nvPr/>
          </p:nvSpPr>
          <p:spPr>
            <a:xfrm>
              <a:off x="0" y="0"/>
              <a:ext cx="955028" cy="1013824"/>
            </a:xfrm>
            <a:prstGeom prst="rect">
              <a:avLst/>
            </a:prstGeom>
            <a:solidFill>
              <a:srgbClr val="FFB9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txBox="1"/>
            <p:nvPr/>
          </p:nvSpPr>
          <p:spPr>
            <a:xfrm>
              <a:off x="190648" y="64529"/>
              <a:ext cx="5737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29303C"/>
                  </a:solidFill>
                  <a:latin typeface="Arial"/>
                  <a:ea typeface="Arial"/>
                  <a:cs typeface="Arial"/>
                  <a:sym typeface="Arial"/>
                </a:rPr>
                <a:t>5</a:t>
              </a:r>
              <a:endParaRPr/>
            </a:p>
          </p:txBody>
        </p:sp>
      </p:grpSp>
      <p:sp>
        <p:nvSpPr>
          <p:cNvPr id="129" name="Google Shape;129;p2"/>
          <p:cNvSpPr txBox="1"/>
          <p:nvPr/>
        </p:nvSpPr>
        <p:spPr>
          <a:xfrm>
            <a:off x="10948298" y="7958366"/>
            <a:ext cx="5732743" cy="1118552"/>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None/>
            </a:pPr>
            <a:r>
              <a:rPr b="0" i="0" lang="en-US" sz="3425" u="none" cap="none" strike="noStrike">
                <a:solidFill>
                  <a:srgbClr val="29303C"/>
                </a:solidFill>
                <a:latin typeface="Hammersmith One"/>
                <a:ea typeface="Hammersmith One"/>
                <a:cs typeface="Hammersmith One"/>
                <a:sym typeface="Hammersmith One"/>
              </a:rPr>
              <a:t>Familiarización con el entorno de Proveedores</a:t>
            </a:r>
            <a:endParaRPr/>
          </a:p>
        </p:txBody>
      </p:sp>
      <p:grpSp>
        <p:nvGrpSpPr>
          <p:cNvPr id="130" name="Google Shape;130;p2"/>
          <p:cNvGrpSpPr/>
          <p:nvPr/>
        </p:nvGrpSpPr>
        <p:grpSpPr>
          <a:xfrm>
            <a:off x="10051052" y="8156508"/>
            <a:ext cx="716271" cy="760368"/>
            <a:chOff x="0" y="0"/>
            <a:chExt cx="955028" cy="1013824"/>
          </a:xfrm>
        </p:grpSpPr>
        <p:sp>
          <p:nvSpPr>
            <p:cNvPr id="131" name="Google Shape;131;p2"/>
            <p:cNvSpPr/>
            <p:nvPr/>
          </p:nvSpPr>
          <p:spPr>
            <a:xfrm>
              <a:off x="0" y="0"/>
              <a:ext cx="955028" cy="1013824"/>
            </a:xfrm>
            <a:prstGeom prst="rect">
              <a:avLst/>
            </a:prstGeom>
            <a:solidFill>
              <a:srgbClr val="FFB9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
            <p:cNvSpPr txBox="1"/>
            <p:nvPr/>
          </p:nvSpPr>
          <p:spPr>
            <a:xfrm>
              <a:off x="190648" y="64529"/>
              <a:ext cx="5737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29303C"/>
                  </a:solidFill>
                  <a:latin typeface="Arial"/>
                  <a:ea typeface="Arial"/>
                  <a:cs typeface="Arial"/>
                  <a:sym typeface="Arial"/>
                </a:rPr>
                <a:t>6</a:t>
              </a:r>
              <a:endParaRPr/>
            </a:p>
          </p:txBody>
        </p:sp>
      </p:grpSp>
      <p:sp>
        <p:nvSpPr>
          <p:cNvPr id="133" name="Google Shape;133;p2"/>
          <p:cNvSpPr txBox="1"/>
          <p:nvPr/>
        </p:nvSpPr>
        <p:spPr>
          <a:xfrm>
            <a:off x="10976981" y="7069410"/>
            <a:ext cx="5606021"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None/>
            </a:pPr>
            <a:r>
              <a:rPr b="0" i="0" lang="en-US" sz="3425" u="none" cap="none" strike="noStrike">
                <a:solidFill>
                  <a:srgbClr val="29303C"/>
                </a:solidFill>
                <a:latin typeface="Hammersmith One"/>
                <a:ea typeface="Hammersmith One"/>
                <a:cs typeface="Hammersmith One"/>
                <a:sym typeface="Hammersmith One"/>
              </a:rPr>
              <a:t>Facturación y Presupuesto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3"/>
          <p:cNvSpPr txBox="1"/>
          <p:nvPr/>
        </p:nvSpPr>
        <p:spPr>
          <a:xfrm>
            <a:off x="2306103" y="4651375"/>
            <a:ext cx="14481462" cy="965200"/>
          </a:xfrm>
          <a:prstGeom prst="rect">
            <a:avLst/>
          </a:prstGeom>
          <a:noFill/>
          <a:ln>
            <a:noFill/>
          </a:ln>
        </p:spPr>
        <p:txBody>
          <a:bodyPr anchorCtr="0" anchor="t" bIns="0" lIns="0" spcFirstLastPara="1" rIns="0" wrap="square" tIns="0">
            <a:spAutoFit/>
          </a:bodyPr>
          <a:lstStyle/>
          <a:p>
            <a:pPr indent="-215900" lvl="1" marL="431801" marR="0" rtl="0" algn="l">
              <a:lnSpc>
                <a:spcPct val="130000"/>
              </a:lnSpc>
              <a:spcBef>
                <a:spcPts val="0"/>
              </a:spcBef>
              <a:spcAft>
                <a:spcPts val="0"/>
              </a:spcAft>
              <a:buClr>
                <a:srgbClr val="29303C"/>
              </a:buClr>
              <a:buSzPts val="2000"/>
              <a:buFont typeface="Arial"/>
              <a:buChar char="•"/>
            </a:pPr>
            <a:r>
              <a:rPr b="0" i="0" lang="en-US" sz="2000" u="none" cap="none" strike="noStrike">
                <a:solidFill>
                  <a:srgbClr val="29303C"/>
                </a:solidFill>
                <a:latin typeface="Hammersmith One"/>
                <a:ea typeface="Hammersmith One"/>
                <a:cs typeface="Hammersmith One"/>
                <a:sym typeface="Hammersmith One"/>
              </a:rPr>
              <a:t>Explica el concepto de  Cloud Computing, sus modelos de servicio y las ventajas y limitaciones de distintos proveedores Cloud  mediante ejemplos cotidianos, casos de uso empresarial y comparativas para el desarrollo de infraestructuras escalables y rentables. </a:t>
            </a:r>
            <a:endParaRPr/>
          </a:p>
        </p:txBody>
      </p:sp>
      <p:sp>
        <p:nvSpPr>
          <p:cNvPr id="139" name="Google Shape;139;p3"/>
          <p:cNvSpPr/>
          <p:nvPr/>
        </p:nvSpPr>
        <p:spPr>
          <a:xfrm rot="5400000">
            <a:off x="12761773" y="4742132"/>
            <a:ext cx="10861953" cy="802736"/>
          </a:xfrm>
          <a:custGeom>
            <a:rect b="b" l="l" r="r" t="t"/>
            <a:pathLst>
              <a:path extrusionOk="0" h="802736" w="10861953">
                <a:moveTo>
                  <a:pt x="0" y="0"/>
                </a:moveTo>
                <a:lnTo>
                  <a:pt x="10861954" y="0"/>
                </a:lnTo>
                <a:lnTo>
                  <a:pt x="10861954" y="802736"/>
                </a:lnTo>
                <a:lnTo>
                  <a:pt x="0" y="802736"/>
                </a:lnTo>
                <a:lnTo>
                  <a:pt x="0" y="0"/>
                </a:lnTo>
                <a:close/>
              </a:path>
            </a:pathLst>
          </a:custGeom>
          <a:blipFill rotWithShape="1">
            <a:blip r:embed="rId3">
              <a:alphaModFix/>
            </a:blip>
            <a:stretch>
              <a:fillRect b="-1042591" l="-170" r="-7086" t="-308576"/>
            </a:stretch>
          </a:blipFill>
          <a:ln>
            <a:noFill/>
          </a:ln>
        </p:spPr>
      </p:sp>
      <p:sp>
        <p:nvSpPr>
          <p:cNvPr id="140" name="Google Shape;140;p3"/>
          <p:cNvSpPr/>
          <p:nvPr/>
        </p:nvSpPr>
        <p:spPr>
          <a:xfrm>
            <a:off x="1248664" y="4565377"/>
            <a:ext cx="1057439" cy="1156245"/>
          </a:xfrm>
          <a:custGeom>
            <a:rect b="b" l="l" r="r" t="t"/>
            <a:pathLst>
              <a:path extrusionOk="0" h="1156245" w="1057439">
                <a:moveTo>
                  <a:pt x="0" y="0"/>
                </a:moveTo>
                <a:lnTo>
                  <a:pt x="1057439" y="0"/>
                </a:lnTo>
                <a:lnTo>
                  <a:pt x="1057439" y="1156246"/>
                </a:lnTo>
                <a:lnTo>
                  <a:pt x="0" y="1156246"/>
                </a:lnTo>
                <a:lnTo>
                  <a:pt x="0" y="0"/>
                </a:lnTo>
                <a:close/>
              </a:path>
            </a:pathLst>
          </a:custGeom>
          <a:blipFill rotWithShape="1">
            <a:blip r:embed="rId4">
              <a:alphaModFix/>
            </a:blip>
            <a:stretch>
              <a:fillRect b="0" l="0" r="0" t="0"/>
            </a:stretch>
          </a:blipFill>
          <a:ln>
            <a:noFill/>
          </a:ln>
        </p:spPr>
      </p:sp>
      <p:sp>
        <p:nvSpPr>
          <p:cNvPr id="141" name="Google Shape;141;p3"/>
          <p:cNvSpPr txBox="1"/>
          <p:nvPr/>
        </p:nvSpPr>
        <p:spPr>
          <a:xfrm>
            <a:off x="2306103" y="2564799"/>
            <a:ext cx="13675794"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29303C"/>
                </a:solidFill>
                <a:latin typeface="Open Sans"/>
                <a:ea typeface="Open Sans"/>
                <a:cs typeface="Open Sans"/>
                <a:sym typeface="Open Sans"/>
              </a:rPr>
              <a:t>COMPETENCIA[S] QUE DESARROLLAREMOS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4"/>
          <p:cNvSpPr/>
          <p:nvPr/>
        </p:nvSpPr>
        <p:spPr>
          <a:xfrm rot="5400000">
            <a:off x="1035086" y="1228236"/>
            <a:ext cx="689712" cy="702485"/>
          </a:xfrm>
          <a:custGeom>
            <a:rect b="b" l="l" r="r" t="t"/>
            <a:pathLst>
              <a:path extrusionOk="0" h="702485" w="689712">
                <a:moveTo>
                  <a:pt x="0" y="0"/>
                </a:moveTo>
                <a:lnTo>
                  <a:pt x="689713" y="0"/>
                </a:lnTo>
                <a:lnTo>
                  <a:pt x="689713" y="702485"/>
                </a:lnTo>
                <a:lnTo>
                  <a:pt x="0" y="702485"/>
                </a:lnTo>
                <a:lnTo>
                  <a:pt x="0" y="0"/>
                </a:lnTo>
                <a:close/>
              </a:path>
            </a:pathLst>
          </a:custGeom>
          <a:blipFill rotWithShape="1">
            <a:blip r:embed="rId3">
              <a:alphaModFix/>
            </a:blip>
            <a:stretch>
              <a:fillRect b="0" l="0" r="0" t="0"/>
            </a:stretch>
          </a:blipFill>
          <a:ln>
            <a:noFill/>
          </a:ln>
        </p:spPr>
      </p:sp>
      <p:sp>
        <p:nvSpPr>
          <p:cNvPr id="147" name="Google Shape;147;p4"/>
          <p:cNvSpPr txBox="1"/>
          <p:nvPr/>
        </p:nvSpPr>
        <p:spPr>
          <a:xfrm>
            <a:off x="2004515" y="3794098"/>
            <a:ext cx="8601960" cy="436562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1" lang="en-US" sz="2499" u="none" cap="none" strike="noStrike">
                <a:solidFill>
                  <a:srgbClr val="29303C"/>
                </a:solidFill>
                <a:latin typeface="Sansita"/>
                <a:ea typeface="Sansita"/>
                <a:cs typeface="Sansita"/>
                <a:sym typeface="Sansita"/>
              </a:rPr>
              <a:t>“Es la </a:t>
            </a:r>
            <a:r>
              <a:rPr b="1" i="1" lang="en-US" sz="2499" u="none" cap="none" strike="noStrike">
                <a:solidFill>
                  <a:srgbClr val="29303C"/>
                </a:solidFill>
                <a:latin typeface="Arial"/>
                <a:ea typeface="Arial"/>
                <a:cs typeface="Arial"/>
                <a:sym typeface="Arial"/>
              </a:rPr>
              <a:t>distribución de recursos de TI</a:t>
            </a:r>
            <a:r>
              <a:rPr b="0" i="1" lang="en-US" sz="2499" u="none" cap="none" strike="noStrike">
                <a:solidFill>
                  <a:srgbClr val="29303C"/>
                </a:solidFill>
                <a:latin typeface="Sansita"/>
                <a:ea typeface="Sansita"/>
                <a:cs typeface="Sansita"/>
                <a:sym typeface="Sansita"/>
              </a:rPr>
              <a:t> bajo demanda a través de Internet mediante un esquema de pago por uso. </a:t>
            </a:r>
            <a:endParaRPr/>
          </a:p>
          <a:p>
            <a:pPr indent="0" lvl="0" marL="0" marR="0" rtl="0" algn="l">
              <a:lnSpc>
                <a:spcPct val="140016"/>
              </a:lnSpc>
              <a:spcBef>
                <a:spcPts val="0"/>
              </a:spcBef>
              <a:spcAft>
                <a:spcPts val="0"/>
              </a:spcAft>
              <a:buNone/>
            </a:pPr>
            <a:r>
              <a:t/>
            </a:r>
            <a:endParaRPr b="0" i="1" sz="2499" u="none" cap="none" strike="noStrike">
              <a:solidFill>
                <a:srgbClr val="29303C"/>
              </a:solidFill>
              <a:latin typeface="Sansita"/>
              <a:ea typeface="Sansita"/>
              <a:cs typeface="Sansita"/>
              <a:sym typeface="Sansita"/>
            </a:endParaRPr>
          </a:p>
          <a:p>
            <a:pPr indent="0" lvl="0" marL="0" marR="0" rtl="0" algn="l">
              <a:lnSpc>
                <a:spcPct val="140016"/>
              </a:lnSpc>
              <a:spcBef>
                <a:spcPts val="0"/>
              </a:spcBef>
              <a:spcAft>
                <a:spcPts val="0"/>
              </a:spcAft>
              <a:buNone/>
            </a:pPr>
            <a:r>
              <a:rPr b="0" i="1" lang="en-US" sz="2499" u="none" cap="none" strike="noStrike">
                <a:solidFill>
                  <a:srgbClr val="29303C"/>
                </a:solidFill>
                <a:latin typeface="Sansita"/>
                <a:ea typeface="Sansita"/>
                <a:cs typeface="Sansita"/>
                <a:sym typeface="Sansita"/>
              </a:rPr>
              <a:t>En lugar de comprar, poseer y mantener servidores y centros de datos físicos, </a:t>
            </a:r>
            <a:r>
              <a:rPr b="1" i="1" lang="en-US" sz="2499" u="none" cap="none" strike="noStrike">
                <a:solidFill>
                  <a:srgbClr val="29303C"/>
                </a:solidFill>
                <a:latin typeface="Arial"/>
                <a:ea typeface="Arial"/>
                <a:cs typeface="Arial"/>
                <a:sym typeface="Arial"/>
              </a:rPr>
              <a:t>puede acceder a servicios</a:t>
            </a:r>
            <a:r>
              <a:rPr b="0" i="1" lang="en-US" sz="2499" u="none" cap="none" strike="noStrike">
                <a:solidFill>
                  <a:srgbClr val="29303C"/>
                </a:solidFill>
                <a:latin typeface="Sansita"/>
                <a:ea typeface="Sansita"/>
                <a:cs typeface="Sansita"/>
                <a:sym typeface="Sansita"/>
              </a:rPr>
              <a:t> tecnológicos, como capacidad informática, almacenamiento y bases de datos, en función de sus necesidades </a:t>
            </a:r>
            <a:r>
              <a:rPr b="1" i="1" lang="en-US" sz="2499" u="none" cap="none" strike="noStrike">
                <a:solidFill>
                  <a:srgbClr val="29303C"/>
                </a:solidFill>
                <a:latin typeface="Arial"/>
                <a:ea typeface="Arial"/>
                <a:cs typeface="Arial"/>
                <a:sym typeface="Arial"/>
              </a:rPr>
              <a:t>a través de un proveedor de la nube como</a:t>
            </a:r>
            <a:r>
              <a:rPr b="0" i="1" lang="en-US" sz="2499" u="none" cap="none" strike="noStrike">
                <a:solidFill>
                  <a:srgbClr val="29303C"/>
                </a:solidFill>
                <a:latin typeface="Sansita"/>
                <a:ea typeface="Sansita"/>
                <a:cs typeface="Sansita"/>
                <a:sym typeface="Sansita"/>
              </a:rPr>
              <a:t>”</a:t>
            </a:r>
            <a:endParaRPr/>
          </a:p>
          <a:p>
            <a:pPr indent="0" lvl="0" marL="0" marR="0" rtl="0" algn="l">
              <a:lnSpc>
                <a:spcPct val="140016"/>
              </a:lnSpc>
              <a:spcBef>
                <a:spcPts val="0"/>
              </a:spcBef>
              <a:spcAft>
                <a:spcPts val="0"/>
              </a:spcAft>
              <a:buNone/>
            </a:pPr>
            <a:r>
              <a:t/>
            </a:r>
            <a:endParaRPr b="0" i="1" sz="2499" u="none" cap="none" strike="noStrike">
              <a:solidFill>
                <a:srgbClr val="29303C"/>
              </a:solidFill>
              <a:latin typeface="Sansita"/>
              <a:ea typeface="Sansita"/>
              <a:cs typeface="Sansita"/>
              <a:sym typeface="Sansita"/>
            </a:endParaRPr>
          </a:p>
          <a:p>
            <a:pPr indent="0" lvl="0" marL="0" marR="0" rtl="0" algn="l">
              <a:lnSpc>
                <a:spcPct val="140016"/>
              </a:lnSpc>
              <a:spcBef>
                <a:spcPts val="0"/>
              </a:spcBef>
              <a:spcAft>
                <a:spcPts val="0"/>
              </a:spcAft>
              <a:buNone/>
            </a:pPr>
            <a:r>
              <a:rPr b="0" i="0" lang="en-US" sz="2499" u="none" cap="none" strike="noStrike">
                <a:solidFill>
                  <a:srgbClr val="29303C"/>
                </a:solidFill>
                <a:latin typeface="Arial"/>
                <a:ea typeface="Arial"/>
                <a:cs typeface="Arial"/>
                <a:sym typeface="Arial"/>
              </a:rPr>
              <a:t>- Amazon Web Services</a:t>
            </a:r>
            <a:endParaRPr/>
          </a:p>
        </p:txBody>
      </p:sp>
      <p:sp>
        <p:nvSpPr>
          <p:cNvPr id="148" name="Google Shape;148;p4"/>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4">
              <a:alphaModFix/>
            </a:blip>
            <a:stretch>
              <a:fillRect b="0" l="0" r="0" t="0"/>
            </a:stretch>
          </a:blipFill>
          <a:ln>
            <a:noFill/>
          </a:ln>
        </p:spPr>
      </p:sp>
      <p:sp>
        <p:nvSpPr>
          <p:cNvPr id="149" name="Google Shape;149;p4"/>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5">
              <a:alphaModFix/>
            </a:blip>
            <a:stretch>
              <a:fillRect b="0" l="0" r="0" t="0"/>
            </a:stretch>
          </a:blipFill>
          <a:ln>
            <a:noFill/>
          </a:ln>
        </p:spPr>
      </p:sp>
      <p:sp>
        <p:nvSpPr>
          <p:cNvPr id="150" name="Google Shape;150;p4"/>
          <p:cNvSpPr/>
          <p:nvPr/>
        </p:nvSpPr>
        <p:spPr>
          <a:xfrm>
            <a:off x="11286794" y="2263775"/>
            <a:ext cx="5972506" cy="4419654"/>
          </a:xfrm>
          <a:custGeom>
            <a:rect b="b" l="l" r="r" t="t"/>
            <a:pathLst>
              <a:path extrusionOk="0" h="4419654" w="5972506">
                <a:moveTo>
                  <a:pt x="0" y="0"/>
                </a:moveTo>
                <a:lnTo>
                  <a:pt x="5972506" y="0"/>
                </a:lnTo>
                <a:lnTo>
                  <a:pt x="5972506" y="4419654"/>
                </a:lnTo>
                <a:lnTo>
                  <a:pt x="0" y="4419654"/>
                </a:lnTo>
                <a:lnTo>
                  <a:pt x="0" y="0"/>
                </a:lnTo>
                <a:close/>
              </a:path>
            </a:pathLst>
          </a:custGeom>
          <a:blipFill rotWithShape="1">
            <a:blip r:embed="rId6">
              <a:alphaModFix/>
            </a:blip>
            <a:stretch>
              <a:fillRect b="0" l="0" r="0" t="0"/>
            </a:stretch>
          </a:blipFill>
          <a:ln>
            <a:noFill/>
          </a:ln>
        </p:spPr>
      </p:sp>
      <p:sp>
        <p:nvSpPr>
          <p:cNvPr id="151" name="Google Shape;151;p4"/>
          <p:cNvSpPr txBox="1"/>
          <p:nvPr/>
        </p:nvSpPr>
        <p:spPr>
          <a:xfrm>
            <a:off x="2004503" y="889300"/>
            <a:ext cx="9009000" cy="2747100"/>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None/>
            </a:pPr>
            <a:r>
              <a:rPr b="0" i="0" lang="en-US" sz="8499" u="none" cap="none" strike="noStrike">
                <a:solidFill>
                  <a:srgbClr val="29303C"/>
                </a:solidFill>
                <a:latin typeface="Hammersmith One"/>
                <a:ea typeface="Hammersmith One"/>
                <a:cs typeface="Hammersmith One"/>
                <a:sym typeface="Hammersmith One"/>
              </a:rPr>
              <a:t>¿QUÉ ES CLOUD COMPUTING?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cxnSp>
        <p:nvCxnSpPr>
          <p:cNvPr id="156" name="Google Shape;156;p5"/>
          <p:cNvCxnSpPr/>
          <p:nvPr/>
        </p:nvCxnSpPr>
        <p:spPr>
          <a:xfrm>
            <a:off x="8547917" y="2973061"/>
            <a:ext cx="8711383" cy="0"/>
          </a:xfrm>
          <a:prstGeom prst="straightConnector1">
            <a:avLst/>
          </a:prstGeom>
          <a:noFill/>
          <a:ln cap="rnd" cmpd="sng" w="19050">
            <a:solidFill>
              <a:srgbClr val="FFB923"/>
            </a:solidFill>
            <a:prstDash val="solid"/>
            <a:round/>
            <a:headEnd len="sm" w="sm" type="none"/>
            <a:tailEnd len="sm" w="sm" type="none"/>
          </a:ln>
        </p:spPr>
      </p:cxnSp>
      <p:cxnSp>
        <p:nvCxnSpPr>
          <p:cNvPr id="157" name="Google Shape;157;p5"/>
          <p:cNvCxnSpPr/>
          <p:nvPr/>
        </p:nvCxnSpPr>
        <p:spPr>
          <a:xfrm>
            <a:off x="8547917" y="6579498"/>
            <a:ext cx="8711383" cy="0"/>
          </a:xfrm>
          <a:prstGeom prst="straightConnector1">
            <a:avLst/>
          </a:prstGeom>
          <a:noFill/>
          <a:ln cap="rnd" cmpd="sng" w="19050">
            <a:solidFill>
              <a:srgbClr val="FFB923"/>
            </a:solidFill>
            <a:prstDash val="solid"/>
            <a:round/>
            <a:headEnd len="sm" w="sm" type="none"/>
            <a:tailEnd len="sm" w="sm" type="none"/>
          </a:ln>
        </p:spPr>
      </p:cxnSp>
      <p:sp>
        <p:nvSpPr>
          <p:cNvPr id="158" name="Google Shape;158;p5"/>
          <p:cNvSpPr/>
          <p:nvPr/>
        </p:nvSpPr>
        <p:spPr>
          <a:xfrm>
            <a:off x="-242146" y="-125588"/>
            <a:ext cx="7408800" cy="10690500"/>
          </a:xfrm>
          <a:prstGeom prst="rect">
            <a:avLst/>
          </a:prstGeom>
          <a:solidFill>
            <a:srgbClr val="FFB9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814844" y="6383978"/>
            <a:ext cx="3863467" cy="285524"/>
          </a:xfrm>
          <a:custGeom>
            <a:rect b="b" l="l" r="r" t="t"/>
            <a:pathLst>
              <a:path extrusionOk="0" h="285524" w="3863467">
                <a:moveTo>
                  <a:pt x="0" y="0"/>
                </a:moveTo>
                <a:lnTo>
                  <a:pt x="3863468" y="0"/>
                </a:lnTo>
                <a:lnTo>
                  <a:pt x="3863468" y="285524"/>
                </a:lnTo>
                <a:lnTo>
                  <a:pt x="0" y="285524"/>
                </a:lnTo>
                <a:lnTo>
                  <a:pt x="0" y="0"/>
                </a:lnTo>
                <a:close/>
              </a:path>
            </a:pathLst>
          </a:custGeom>
          <a:blipFill rotWithShape="1">
            <a:blip r:embed="rId3">
              <a:alphaModFix/>
            </a:blip>
            <a:stretch>
              <a:fillRect b="-1042591" l="-170" r="-7086" t="-308576"/>
            </a:stretch>
          </a:blipFill>
          <a:ln>
            <a:noFill/>
          </a:ln>
        </p:spPr>
      </p:sp>
      <p:grpSp>
        <p:nvGrpSpPr>
          <p:cNvPr id="160" name="Google Shape;160;p5"/>
          <p:cNvGrpSpPr/>
          <p:nvPr/>
        </p:nvGrpSpPr>
        <p:grpSpPr>
          <a:xfrm>
            <a:off x="8547917" y="886406"/>
            <a:ext cx="8711383" cy="1681540"/>
            <a:chOff x="0" y="-28575"/>
            <a:chExt cx="11615177" cy="2242054"/>
          </a:xfrm>
        </p:grpSpPr>
        <p:sp>
          <p:nvSpPr>
            <p:cNvPr id="161" name="Google Shape;161;p5"/>
            <p:cNvSpPr txBox="1"/>
            <p:nvPr/>
          </p:nvSpPr>
          <p:spPr>
            <a:xfrm>
              <a:off x="0" y="-28575"/>
              <a:ext cx="11615177" cy="73130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500" u="none" cap="none" strike="noStrike">
                  <a:solidFill>
                    <a:srgbClr val="29303C"/>
                  </a:solidFill>
                  <a:latin typeface="Hammersmith One"/>
                  <a:ea typeface="Hammersmith One"/>
                  <a:cs typeface="Hammersmith One"/>
                  <a:sym typeface="Hammersmith One"/>
                </a:rPr>
                <a:t>Nube Privada</a:t>
              </a:r>
              <a:endParaRPr/>
            </a:p>
          </p:txBody>
        </p:sp>
        <p:sp>
          <p:nvSpPr>
            <p:cNvPr id="162" name="Google Shape;162;p5"/>
            <p:cNvSpPr txBox="1"/>
            <p:nvPr/>
          </p:nvSpPr>
          <p:spPr>
            <a:xfrm>
              <a:off x="0" y="893314"/>
              <a:ext cx="11615177" cy="1320165"/>
            </a:xfrm>
            <a:prstGeom prst="rect">
              <a:avLst/>
            </a:prstGeom>
            <a:noFill/>
            <a:ln>
              <a:noFill/>
            </a:ln>
          </p:spPr>
          <p:txBody>
            <a:bodyPr anchorCtr="0" anchor="t" bIns="0" lIns="0" spcFirstLastPara="1" rIns="0" wrap="square" tIns="0">
              <a:spAutoFit/>
            </a:bodyPr>
            <a:lstStyle/>
            <a:p>
              <a:pPr indent="0" lvl="0" marL="0" marR="0" rtl="0" algn="l">
                <a:lnSpc>
                  <a:spcPct val="139965"/>
                </a:lnSpc>
                <a:spcBef>
                  <a:spcPts val="0"/>
                </a:spcBef>
                <a:spcAft>
                  <a:spcPts val="0"/>
                </a:spcAft>
                <a:buNone/>
              </a:pPr>
              <a:r>
                <a:rPr b="0" i="0" lang="en-US" sz="2925" u="none" cap="none" strike="noStrike">
                  <a:solidFill>
                    <a:srgbClr val="29303C"/>
                  </a:solidFill>
                  <a:latin typeface="Arial"/>
                  <a:ea typeface="Arial"/>
                  <a:cs typeface="Arial"/>
                  <a:sym typeface="Arial"/>
                </a:rPr>
                <a:t>Es una infraestructura en la nube dedicada exclusivamente a una organización específica. </a:t>
              </a:r>
              <a:endParaRPr/>
            </a:p>
          </p:txBody>
        </p:sp>
      </p:grpSp>
      <p:grpSp>
        <p:nvGrpSpPr>
          <p:cNvPr id="163" name="Google Shape;163;p5"/>
          <p:cNvGrpSpPr/>
          <p:nvPr/>
        </p:nvGrpSpPr>
        <p:grpSpPr>
          <a:xfrm>
            <a:off x="8547917" y="3345864"/>
            <a:ext cx="8711383" cy="3085473"/>
            <a:chOff x="0" y="-28575"/>
            <a:chExt cx="11615177" cy="4113964"/>
          </a:xfrm>
        </p:grpSpPr>
        <p:sp>
          <p:nvSpPr>
            <p:cNvPr id="164" name="Google Shape;164;p5"/>
            <p:cNvSpPr txBox="1"/>
            <p:nvPr/>
          </p:nvSpPr>
          <p:spPr>
            <a:xfrm>
              <a:off x="0" y="-28575"/>
              <a:ext cx="11615177" cy="73130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500" u="none" cap="none" strike="noStrike">
                  <a:solidFill>
                    <a:srgbClr val="29303C"/>
                  </a:solidFill>
                  <a:latin typeface="Hammersmith One"/>
                  <a:ea typeface="Hammersmith One"/>
                  <a:cs typeface="Hammersmith One"/>
                  <a:sym typeface="Hammersmith One"/>
                </a:rPr>
                <a:t>Nube Pública</a:t>
              </a:r>
              <a:endParaRPr/>
            </a:p>
          </p:txBody>
        </p:sp>
        <p:sp>
          <p:nvSpPr>
            <p:cNvPr id="165" name="Google Shape;165;p5"/>
            <p:cNvSpPr txBox="1"/>
            <p:nvPr/>
          </p:nvSpPr>
          <p:spPr>
            <a:xfrm>
              <a:off x="0" y="883789"/>
              <a:ext cx="11615100" cy="3201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29303C"/>
                  </a:solidFill>
                  <a:latin typeface="Arial"/>
                  <a:ea typeface="Arial"/>
                  <a:cs typeface="Arial"/>
                  <a:sym typeface="Arial"/>
                </a:rPr>
                <a:t>Son recursos informáticos propiedad de un proveedor externo y se ofrecen a través de internet. Estos recursos son compartidos entre múltiples clientes (Organizaciones o individuos)</a:t>
              </a:r>
              <a:endParaRPr/>
            </a:p>
          </p:txBody>
        </p:sp>
      </p:grpSp>
      <p:grpSp>
        <p:nvGrpSpPr>
          <p:cNvPr id="166" name="Google Shape;166;p5"/>
          <p:cNvGrpSpPr/>
          <p:nvPr/>
        </p:nvGrpSpPr>
        <p:grpSpPr>
          <a:xfrm>
            <a:off x="8547917" y="7007165"/>
            <a:ext cx="8711383" cy="2439048"/>
            <a:chOff x="0" y="-28575"/>
            <a:chExt cx="11615177" cy="3252064"/>
          </a:xfrm>
        </p:grpSpPr>
        <p:sp>
          <p:nvSpPr>
            <p:cNvPr id="167" name="Google Shape;167;p5"/>
            <p:cNvSpPr txBox="1"/>
            <p:nvPr/>
          </p:nvSpPr>
          <p:spPr>
            <a:xfrm>
              <a:off x="0" y="-28575"/>
              <a:ext cx="11615177" cy="73130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500" u="none" cap="none" strike="noStrike">
                  <a:solidFill>
                    <a:srgbClr val="29303C"/>
                  </a:solidFill>
                  <a:latin typeface="Hammersmith One"/>
                  <a:ea typeface="Hammersmith One"/>
                  <a:cs typeface="Hammersmith One"/>
                  <a:sym typeface="Hammersmith One"/>
                </a:rPr>
                <a:t>Nube Híbrida</a:t>
              </a:r>
              <a:endParaRPr/>
            </a:p>
          </p:txBody>
        </p:sp>
        <p:sp>
          <p:nvSpPr>
            <p:cNvPr id="168" name="Google Shape;168;p5"/>
            <p:cNvSpPr txBox="1"/>
            <p:nvPr/>
          </p:nvSpPr>
          <p:spPr>
            <a:xfrm>
              <a:off x="0" y="883789"/>
              <a:ext cx="11615100" cy="2339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29303C"/>
                  </a:solidFill>
                  <a:latin typeface="Arial"/>
                  <a:ea typeface="Arial"/>
                  <a:cs typeface="Arial"/>
                  <a:sym typeface="Arial"/>
                </a:rPr>
                <a:t>Es una combinación de elementos de las nubes públicas y privada. Permitiendo que datos y aplicaciones puedan compartirse entre ellas</a:t>
              </a:r>
              <a:endParaRPr/>
            </a:p>
          </p:txBody>
        </p:sp>
      </p:grpSp>
      <p:sp>
        <p:nvSpPr>
          <p:cNvPr id="169" name="Google Shape;169;p5"/>
          <p:cNvSpPr txBox="1"/>
          <p:nvPr/>
        </p:nvSpPr>
        <p:spPr>
          <a:xfrm>
            <a:off x="814769" y="3106741"/>
            <a:ext cx="5295000" cy="3262800"/>
          </a:xfrm>
          <a:prstGeom prst="rect">
            <a:avLst/>
          </a:prstGeom>
          <a:noFill/>
          <a:ln>
            <a:noFill/>
          </a:ln>
        </p:spPr>
        <p:txBody>
          <a:bodyPr anchorCtr="0" anchor="t" bIns="0" lIns="0" spcFirstLastPara="1" rIns="0" wrap="square" tIns="0">
            <a:spAutoFit/>
          </a:bodyPr>
          <a:lstStyle/>
          <a:p>
            <a:pPr indent="0" lvl="0" marL="0" marR="0" rtl="0" algn="l">
              <a:lnSpc>
                <a:spcPct val="110009"/>
              </a:lnSpc>
              <a:spcBef>
                <a:spcPts val="0"/>
              </a:spcBef>
              <a:spcAft>
                <a:spcPts val="0"/>
              </a:spcAft>
              <a:buNone/>
            </a:pPr>
            <a:r>
              <a:rPr b="0" i="0" lang="en-US" sz="6624" u="none" cap="none" strike="noStrike">
                <a:solidFill>
                  <a:srgbClr val="FFFFFF"/>
                </a:solidFill>
                <a:latin typeface="Hammersmith One"/>
                <a:ea typeface="Hammersmith One"/>
                <a:cs typeface="Hammersmith One"/>
                <a:sym typeface="Hammersmith One"/>
              </a:rPr>
              <a:t>MODELOS DE DESPLIEGUE DEL CLOUD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6"/>
          <p:cNvSpPr txBox="1"/>
          <p:nvPr/>
        </p:nvSpPr>
        <p:spPr>
          <a:xfrm>
            <a:off x="1310054" y="1540038"/>
            <a:ext cx="5358300" cy="5372100"/>
          </a:xfrm>
          <a:prstGeom prst="rect">
            <a:avLst/>
          </a:prstGeom>
          <a:noFill/>
          <a:ln>
            <a:noFill/>
          </a:ln>
        </p:spPr>
        <p:txBody>
          <a:bodyPr anchorCtr="0" anchor="t" bIns="0" lIns="0" spcFirstLastPara="1" rIns="0" wrap="square" tIns="0">
            <a:spAutoFit/>
          </a:bodyPr>
          <a:lstStyle/>
          <a:p>
            <a:pPr indent="0" lvl="0" marL="0" marR="0" rtl="0" algn="l">
              <a:lnSpc>
                <a:spcPct val="109991"/>
              </a:lnSpc>
              <a:spcBef>
                <a:spcPts val="0"/>
              </a:spcBef>
              <a:spcAft>
                <a:spcPts val="0"/>
              </a:spcAft>
              <a:buNone/>
            </a:pPr>
            <a:r>
              <a:rPr b="0" i="0" lang="en-US" sz="8117" u="none" cap="none" strike="noStrike">
                <a:solidFill>
                  <a:srgbClr val="29303C"/>
                </a:solidFill>
                <a:latin typeface="Hammersmith One"/>
                <a:ea typeface="Hammersmith One"/>
                <a:cs typeface="Hammersmith One"/>
                <a:sym typeface="Hammersmith One"/>
              </a:rPr>
              <a:t>¿Qué problemas Resuelve Cloud?</a:t>
            </a:r>
            <a:endParaRPr/>
          </a:p>
        </p:txBody>
      </p:sp>
      <p:sp>
        <p:nvSpPr>
          <p:cNvPr id="175" name="Google Shape;175;p6"/>
          <p:cNvSpPr/>
          <p:nvPr/>
        </p:nvSpPr>
        <p:spPr>
          <a:xfrm>
            <a:off x="1310054" y="7090801"/>
            <a:ext cx="5157894" cy="381186"/>
          </a:xfrm>
          <a:custGeom>
            <a:rect b="b" l="l" r="r" t="t"/>
            <a:pathLst>
              <a:path extrusionOk="0" h="381186" w="5157894">
                <a:moveTo>
                  <a:pt x="0" y="0"/>
                </a:moveTo>
                <a:lnTo>
                  <a:pt x="5157893" y="0"/>
                </a:lnTo>
                <a:lnTo>
                  <a:pt x="5157893" y="381186"/>
                </a:lnTo>
                <a:lnTo>
                  <a:pt x="0" y="381186"/>
                </a:lnTo>
                <a:lnTo>
                  <a:pt x="0" y="0"/>
                </a:lnTo>
                <a:close/>
              </a:path>
            </a:pathLst>
          </a:custGeom>
          <a:blipFill rotWithShape="1">
            <a:blip r:embed="rId3">
              <a:alphaModFix/>
            </a:blip>
            <a:stretch>
              <a:fillRect b="-1042591" l="-170" r="-7086" t="-308576"/>
            </a:stretch>
          </a:blipFill>
          <a:ln>
            <a:noFill/>
          </a:ln>
        </p:spPr>
      </p:sp>
      <p:grpSp>
        <p:nvGrpSpPr>
          <p:cNvPr id="176" name="Google Shape;176;p6"/>
          <p:cNvGrpSpPr/>
          <p:nvPr/>
        </p:nvGrpSpPr>
        <p:grpSpPr>
          <a:xfrm>
            <a:off x="8206148" y="1118104"/>
            <a:ext cx="8771798" cy="682626"/>
            <a:chOff x="0" y="-38100"/>
            <a:chExt cx="11695731" cy="910167"/>
          </a:xfrm>
        </p:grpSpPr>
        <p:sp>
          <p:nvSpPr>
            <p:cNvPr id="177" name="Google Shape;177;p6"/>
            <p:cNvSpPr/>
            <p:nvPr/>
          </p:nvSpPr>
          <p:spPr>
            <a:xfrm rot="5400000">
              <a:off x="226" y="-226"/>
              <a:ext cx="532260" cy="532712"/>
            </a:xfrm>
            <a:custGeom>
              <a:rect b="b" l="l" r="r" t="t"/>
              <a:pathLst>
                <a:path extrusionOk="0" h="532712" w="532260">
                  <a:moveTo>
                    <a:pt x="0" y="0"/>
                  </a:moveTo>
                  <a:lnTo>
                    <a:pt x="532260" y="0"/>
                  </a:lnTo>
                  <a:lnTo>
                    <a:pt x="532260" y="532712"/>
                  </a:lnTo>
                  <a:lnTo>
                    <a:pt x="0" y="532712"/>
                  </a:lnTo>
                  <a:lnTo>
                    <a:pt x="0" y="0"/>
                  </a:lnTo>
                  <a:close/>
                </a:path>
              </a:pathLst>
            </a:custGeom>
            <a:blipFill rotWithShape="1">
              <a:blip r:embed="rId4">
                <a:alphaModFix/>
              </a:blip>
              <a:stretch>
                <a:fillRect b="0" l="-49" r="-32" t="0"/>
              </a:stretch>
            </a:blipFill>
            <a:ln>
              <a:noFill/>
            </a:ln>
          </p:spPr>
        </p:sp>
        <p:sp>
          <p:nvSpPr>
            <p:cNvPr id="178" name="Google Shape;178;p6"/>
            <p:cNvSpPr txBox="1"/>
            <p:nvPr/>
          </p:nvSpPr>
          <p:spPr>
            <a:xfrm>
              <a:off x="1093551" y="-38100"/>
              <a:ext cx="10602180" cy="910167"/>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1" i="0" lang="en-US" sz="1999" u="none" cap="none" strike="noStrike">
                  <a:solidFill>
                    <a:srgbClr val="29303C"/>
                  </a:solidFill>
                  <a:latin typeface="Arial"/>
                  <a:ea typeface="Arial"/>
                  <a:cs typeface="Arial"/>
                  <a:sym typeface="Arial"/>
                </a:rPr>
                <a:t>Flexibilidad:</a:t>
              </a:r>
              <a:r>
                <a:rPr b="0" i="0" lang="en-US" sz="1999" u="none" cap="none" strike="noStrike">
                  <a:solidFill>
                    <a:srgbClr val="29303C"/>
                  </a:solidFill>
                  <a:latin typeface="Arial"/>
                  <a:ea typeface="Arial"/>
                  <a:cs typeface="Arial"/>
                  <a:sym typeface="Arial"/>
                </a:rPr>
                <a:t> Se pueden cambiar los tipos de recursos cuando sea necesario.</a:t>
              </a:r>
              <a:endParaRPr/>
            </a:p>
          </p:txBody>
        </p:sp>
      </p:grpSp>
      <p:grpSp>
        <p:nvGrpSpPr>
          <p:cNvPr id="179" name="Google Shape;179;p6"/>
          <p:cNvGrpSpPr/>
          <p:nvPr/>
        </p:nvGrpSpPr>
        <p:grpSpPr>
          <a:xfrm>
            <a:off x="8206148" y="2229354"/>
            <a:ext cx="8771798" cy="458043"/>
            <a:chOff x="0" y="-38100"/>
            <a:chExt cx="11695731" cy="610723"/>
          </a:xfrm>
        </p:grpSpPr>
        <p:sp>
          <p:nvSpPr>
            <p:cNvPr id="180" name="Google Shape;180;p6"/>
            <p:cNvSpPr/>
            <p:nvPr/>
          </p:nvSpPr>
          <p:spPr>
            <a:xfrm rot="5400000">
              <a:off x="226" y="40137"/>
              <a:ext cx="532260" cy="532712"/>
            </a:xfrm>
            <a:custGeom>
              <a:rect b="b" l="l" r="r" t="t"/>
              <a:pathLst>
                <a:path extrusionOk="0" h="532712" w="532260">
                  <a:moveTo>
                    <a:pt x="0" y="0"/>
                  </a:moveTo>
                  <a:lnTo>
                    <a:pt x="532260" y="0"/>
                  </a:lnTo>
                  <a:lnTo>
                    <a:pt x="532260" y="532712"/>
                  </a:lnTo>
                  <a:lnTo>
                    <a:pt x="0" y="532712"/>
                  </a:lnTo>
                  <a:lnTo>
                    <a:pt x="0" y="0"/>
                  </a:lnTo>
                  <a:close/>
                </a:path>
              </a:pathLst>
            </a:custGeom>
            <a:blipFill rotWithShape="1">
              <a:blip r:embed="rId4">
                <a:alphaModFix/>
              </a:blip>
              <a:stretch>
                <a:fillRect b="0" l="-49" r="-32" t="0"/>
              </a:stretch>
            </a:blipFill>
            <a:ln>
              <a:noFill/>
            </a:ln>
          </p:spPr>
        </p:sp>
        <p:sp>
          <p:nvSpPr>
            <p:cNvPr id="181" name="Google Shape;181;p6"/>
            <p:cNvSpPr txBox="1"/>
            <p:nvPr/>
          </p:nvSpPr>
          <p:spPr>
            <a:xfrm>
              <a:off x="1093551" y="-38100"/>
              <a:ext cx="10602180" cy="440267"/>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1" i="0" lang="en-US" sz="1999" u="none" cap="none" strike="noStrike">
                  <a:solidFill>
                    <a:srgbClr val="29303C"/>
                  </a:solidFill>
                  <a:latin typeface="Arial"/>
                  <a:ea typeface="Arial"/>
                  <a:cs typeface="Arial"/>
                  <a:sym typeface="Arial"/>
                </a:rPr>
                <a:t>Rentabilidad:</a:t>
              </a:r>
              <a:r>
                <a:rPr b="0" i="0" lang="en-US" sz="1999" u="none" cap="none" strike="noStrike">
                  <a:solidFill>
                    <a:srgbClr val="29303C"/>
                  </a:solidFill>
                  <a:latin typeface="Arial"/>
                  <a:ea typeface="Arial"/>
                  <a:cs typeface="Arial"/>
                  <a:sym typeface="Arial"/>
                </a:rPr>
                <a:t> Únicamente se paga por lo que se usa.</a:t>
              </a:r>
              <a:endParaRPr/>
            </a:p>
          </p:txBody>
        </p:sp>
      </p:grpSp>
      <p:grpSp>
        <p:nvGrpSpPr>
          <p:cNvPr id="182" name="Google Shape;182;p6"/>
          <p:cNvGrpSpPr/>
          <p:nvPr/>
        </p:nvGrpSpPr>
        <p:grpSpPr>
          <a:xfrm>
            <a:off x="8206148" y="3249372"/>
            <a:ext cx="8771798" cy="682625"/>
            <a:chOff x="0" y="-38100"/>
            <a:chExt cx="11695731" cy="910167"/>
          </a:xfrm>
        </p:grpSpPr>
        <p:sp>
          <p:nvSpPr>
            <p:cNvPr id="183" name="Google Shape;183;p6"/>
            <p:cNvSpPr/>
            <p:nvPr/>
          </p:nvSpPr>
          <p:spPr>
            <a:xfrm rot="5400000">
              <a:off x="226" y="-226"/>
              <a:ext cx="532260" cy="532712"/>
            </a:xfrm>
            <a:custGeom>
              <a:rect b="b" l="l" r="r" t="t"/>
              <a:pathLst>
                <a:path extrusionOk="0" h="532712" w="532260">
                  <a:moveTo>
                    <a:pt x="0" y="0"/>
                  </a:moveTo>
                  <a:lnTo>
                    <a:pt x="532260" y="0"/>
                  </a:lnTo>
                  <a:lnTo>
                    <a:pt x="532260" y="532712"/>
                  </a:lnTo>
                  <a:lnTo>
                    <a:pt x="0" y="532712"/>
                  </a:lnTo>
                  <a:lnTo>
                    <a:pt x="0" y="0"/>
                  </a:lnTo>
                  <a:close/>
                </a:path>
              </a:pathLst>
            </a:custGeom>
            <a:blipFill rotWithShape="1">
              <a:blip r:embed="rId4">
                <a:alphaModFix/>
              </a:blip>
              <a:stretch>
                <a:fillRect b="0" l="-49" r="-32" t="0"/>
              </a:stretch>
            </a:blipFill>
            <a:ln>
              <a:noFill/>
            </a:ln>
          </p:spPr>
        </p:sp>
        <p:sp>
          <p:nvSpPr>
            <p:cNvPr id="184" name="Google Shape;184;p6"/>
            <p:cNvSpPr txBox="1"/>
            <p:nvPr/>
          </p:nvSpPr>
          <p:spPr>
            <a:xfrm>
              <a:off x="1093551" y="-38100"/>
              <a:ext cx="10602180" cy="910167"/>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1" i="0" lang="en-US" sz="1999" u="none" cap="none" strike="noStrike">
                  <a:solidFill>
                    <a:srgbClr val="29303C"/>
                  </a:solidFill>
                  <a:latin typeface="Arial"/>
                  <a:ea typeface="Arial"/>
                  <a:cs typeface="Arial"/>
                  <a:sym typeface="Arial"/>
                </a:rPr>
                <a:t>Escalabilidad: </a:t>
              </a:r>
              <a:r>
                <a:rPr b="0" i="0" lang="en-US" sz="1999" u="none" cap="none" strike="noStrike">
                  <a:solidFill>
                    <a:srgbClr val="29303C"/>
                  </a:solidFill>
                  <a:latin typeface="Arial"/>
                  <a:ea typeface="Arial"/>
                  <a:cs typeface="Arial"/>
                  <a:sym typeface="Arial"/>
                </a:rPr>
                <a:t>Es posible acomodar mayores cargas reforzando el hardware o añadiendo nodos adicionales</a:t>
              </a:r>
              <a:endParaRPr/>
            </a:p>
          </p:txBody>
        </p:sp>
      </p:grpSp>
      <p:grpSp>
        <p:nvGrpSpPr>
          <p:cNvPr id="185" name="Google Shape;185;p6"/>
          <p:cNvGrpSpPr/>
          <p:nvPr/>
        </p:nvGrpSpPr>
        <p:grpSpPr>
          <a:xfrm>
            <a:off x="8206148" y="4616725"/>
            <a:ext cx="8771798" cy="682626"/>
            <a:chOff x="0" y="-38100"/>
            <a:chExt cx="11695731" cy="910167"/>
          </a:xfrm>
        </p:grpSpPr>
        <p:sp>
          <p:nvSpPr>
            <p:cNvPr id="186" name="Google Shape;186;p6"/>
            <p:cNvSpPr/>
            <p:nvPr/>
          </p:nvSpPr>
          <p:spPr>
            <a:xfrm rot="5400000">
              <a:off x="226" y="-226"/>
              <a:ext cx="532260" cy="532712"/>
            </a:xfrm>
            <a:custGeom>
              <a:rect b="b" l="l" r="r" t="t"/>
              <a:pathLst>
                <a:path extrusionOk="0" h="532712" w="532260">
                  <a:moveTo>
                    <a:pt x="0" y="0"/>
                  </a:moveTo>
                  <a:lnTo>
                    <a:pt x="532260" y="0"/>
                  </a:lnTo>
                  <a:lnTo>
                    <a:pt x="532260" y="532712"/>
                  </a:lnTo>
                  <a:lnTo>
                    <a:pt x="0" y="532712"/>
                  </a:lnTo>
                  <a:lnTo>
                    <a:pt x="0" y="0"/>
                  </a:lnTo>
                  <a:close/>
                </a:path>
              </a:pathLst>
            </a:custGeom>
            <a:blipFill rotWithShape="1">
              <a:blip r:embed="rId4">
                <a:alphaModFix/>
              </a:blip>
              <a:stretch>
                <a:fillRect b="0" l="-49" r="-32" t="0"/>
              </a:stretch>
            </a:blipFill>
            <a:ln>
              <a:noFill/>
            </a:ln>
          </p:spPr>
        </p:sp>
        <p:sp>
          <p:nvSpPr>
            <p:cNvPr id="187" name="Google Shape;187;p6"/>
            <p:cNvSpPr txBox="1"/>
            <p:nvPr/>
          </p:nvSpPr>
          <p:spPr>
            <a:xfrm>
              <a:off x="1093551" y="-38100"/>
              <a:ext cx="10602180" cy="910167"/>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1" i="0" lang="en-US" sz="1999" u="none" cap="none" strike="noStrike">
                  <a:solidFill>
                    <a:srgbClr val="29303C"/>
                  </a:solidFill>
                  <a:latin typeface="Arial"/>
                  <a:ea typeface="Arial"/>
                  <a:cs typeface="Arial"/>
                  <a:sym typeface="Arial"/>
                </a:rPr>
                <a:t>Elasticidad: </a:t>
              </a:r>
              <a:r>
                <a:rPr b="0" i="0" lang="en-US" sz="1999" u="none" cap="none" strike="noStrike">
                  <a:solidFill>
                    <a:srgbClr val="29303C"/>
                  </a:solidFill>
                  <a:latin typeface="Arial"/>
                  <a:ea typeface="Arial"/>
                  <a:cs typeface="Arial"/>
                  <a:sym typeface="Arial"/>
                </a:rPr>
                <a:t> Se tiene la capacidad de reducir y aumentar la escala cuando sea necesario</a:t>
              </a:r>
              <a:endParaRPr/>
            </a:p>
          </p:txBody>
        </p:sp>
      </p:grpSp>
      <p:grpSp>
        <p:nvGrpSpPr>
          <p:cNvPr id="188" name="Google Shape;188;p6"/>
          <p:cNvGrpSpPr/>
          <p:nvPr/>
        </p:nvGrpSpPr>
        <p:grpSpPr>
          <a:xfrm>
            <a:off x="8206148" y="5861325"/>
            <a:ext cx="8771798" cy="682626"/>
            <a:chOff x="0" y="-38100"/>
            <a:chExt cx="11695731" cy="910167"/>
          </a:xfrm>
        </p:grpSpPr>
        <p:sp>
          <p:nvSpPr>
            <p:cNvPr id="189" name="Google Shape;189;p6"/>
            <p:cNvSpPr/>
            <p:nvPr/>
          </p:nvSpPr>
          <p:spPr>
            <a:xfrm rot="5400000">
              <a:off x="226" y="12474"/>
              <a:ext cx="532260" cy="532712"/>
            </a:xfrm>
            <a:custGeom>
              <a:rect b="b" l="l" r="r" t="t"/>
              <a:pathLst>
                <a:path extrusionOk="0" h="532712" w="532260">
                  <a:moveTo>
                    <a:pt x="0" y="0"/>
                  </a:moveTo>
                  <a:lnTo>
                    <a:pt x="532260" y="0"/>
                  </a:lnTo>
                  <a:lnTo>
                    <a:pt x="532260" y="532712"/>
                  </a:lnTo>
                  <a:lnTo>
                    <a:pt x="0" y="532712"/>
                  </a:lnTo>
                  <a:lnTo>
                    <a:pt x="0" y="0"/>
                  </a:lnTo>
                  <a:close/>
                </a:path>
              </a:pathLst>
            </a:custGeom>
            <a:blipFill rotWithShape="1">
              <a:blip r:embed="rId4">
                <a:alphaModFix/>
              </a:blip>
              <a:stretch>
                <a:fillRect b="0" l="-49" r="-32" t="0"/>
              </a:stretch>
            </a:blipFill>
            <a:ln>
              <a:noFill/>
            </a:ln>
          </p:spPr>
        </p:sp>
        <p:sp>
          <p:nvSpPr>
            <p:cNvPr id="190" name="Google Shape;190;p6"/>
            <p:cNvSpPr txBox="1"/>
            <p:nvPr/>
          </p:nvSpPr>
          <p:spPr>
            <a:xfrm>
              <a:off x="1093551" y="-38100"/>
              <a:ext cx="10602180" cy="910167"/>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1" i="0" lang="en-US" sz="1999" u="none" cap="none" strike="noStrike">
                  <a:solidFill>
                    <a:srgbClr val="29303C"/>
                  </a:solidFill>
                  <a:latin typeface="Arial"/>
                  <a:ea typeface="Arial"/>
                  <a:cs typeface="Arial"/>
                  <a:sym typeface="Arial"/>
                </a:rPr>
                <a:t>Alta disponibilidad y tolerancia a los fallos</a:t>
              </a:r>
              <a:r>
                <a:rPr b="0" i="0" lang="en-US" sz="1999" u="none" cap="none" strike="noStrike">
                  <a:solidFill>
                    <a:srgbClr val="29303C"/>
                  </a:solidFill>
                  <a:latin typeface="Arial"/>
                  <a:ea typeface="Arial"/>
                  <a:cs typeface="Arial"/>
                  <a:sym typeface="Arial"/>
                </a:rPr>
                <a:t>: Se construye a través de los centros de datos (data centers) de los proveedores.</a:t>
              </a:r>
              <a:endParaRPr/>
            </a:p>
          </p:txBody>
        </p:sp>
      </p:grpSp>
      <p:grpSp>
        <p:nvGrpSpPr>
          <p:cNvPr id="191" name="Google Shape;191;p6"/>
          <p:cNvGrpSpPr/>
          <p:nvPr/>
        </p:nvGrpSpPr>
        <p:grpSpPr>
          <a:xfrm>
            <a:off x="8206148" y="7252819"/>
            <a:ext cx="8771798" cy="682626"/>
            <a:chOff x="0" y="-38100"/>
            <a:chExt cx="11695731" cy="910167"/>
          </a:xfrm>
        </p:grpSpPr>
        <p:sp>
          <p:nvSpPr>
            <p:cNvPr id="192" name="Google Shape;192;p6"/>
            <p:cNvSpPr/>
            <p:nvPr/>
          </p:nvSpPr>
          <p:spPr>
            <a:xfrm rot="5400000">
              <a:off x="226" y="40137"/>
              <a:ext cx="532260" cy="532712"/>
            </a:xfrm>
            <a:custGeom>
              <a:rect b="b" l="l" r="r" t="t"/>
              <a:pathLst>
                <a:path extrusionOk="0" h="532712" w="532260">
                  <a:moveTo>
                    <a:pt x="0" y="0"/>
                  </a:moveTo>
                  <a:lnTo>
                    <a:pt x="532260" y="0"/>
                  </a:lnTo>
                  <a:lnTo>
                    <a:pt x="532260" y="532712"/>
                  </a:lnTo>
                  <a:lnTo>
                    <a:pt x="0" y="532712"/>
                  </a:lnTo>
                  <a:lnTo>
                    <a:pt x="0" y="0"/>
                  </a:lnTo>
                  <a:close/>
                </a:path>
              </a:pathLst>
            </a:custGeom>
            <a:blipFill rotWithShape="1">
              <a:blip r:embed="rId4">
                <a:alphaModFix/>
              </a:blip>
              <a:stretch>
                <a:fillRect b="0" l="-49" r="-32" t="0"/>
              </a:stretch>
            </a:blipFill>
            <a:ln>
              <a:noFill/>
            </a:ln>
          </p:spPr>
        </p:sp>
        <p:sp>
          <p:nvSpPr>
            <p:cNvPr id="193" name="Google Shape;193;p6"/>
            <p:cNvSpPr txBox="1"/>
            <p:nvPr/>
          </p:nvSpPr>
          <p:spPr>
            <a:xfrm>
              <a:off x="1093551" y="-38100"/>
              <a:ext cx="10602180" cy="910167"/>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1" i="0" lang="en-US" sz="1999" u="none" cap="none" strike="noStrike">
                  <a:solidFill>
                    <a:srgbClr val="29303C"/>
                  </a:solidFill>
                  <a:latin typeface="Arial"/>
                  <a:ea typeface="Arial"/>
                  <a:cs typeface="Arial"/>
                  <a:sym typeface="Arial"/>
                </a:rPr>
                <a:t>Agilidad: </a:t>
              </a:r>
              <a:r>
                <a:rPr b="0" i="0" lang="en-US" sz="1999" u="none" cap="none" strike="noStrike">
                  <a:solidFill>
                    <a:srgbClr val="29303C"/>
                  </a:solidFill>
                  <a:latin typeface="Arial"/>
                  <a:ea typeface="Arial"/>
                  <a:cs typeface="Arial"/>
                  <a:sym typeface="Arial"/>
                </a:rPr>
                <a:t>Es posible desarrollar, testear y lanzar rápidamente aplicaciones de software</a:t>
              </a:r>
              <a:endParaRPr/>
            </a:p>
          </p:txBody>
        </p:sp>
      </p:grpSp>
      <p:sp>
        <p:nvSpPr>
          <p:cNvPr id="194" name="Google Shape;194;p6"/>
          <p:cNvSpPr/>
          <p:nvPr/>
        </p:nvSpPr>
        <p:spPr>
          <a:xfrm flipH="1" rot="-5252869">
            <a:off x="7166333" y="2041017"/>
            <a:ext cx="3138698" cy="18364721"/>
          </a:xfrm>
          <a:custGeom>
            <a:rect b="b" l="l" r="r" t="t"/>
            <a:pathLst>
              <a:path extrusionOk="0" h="18364721" w="3138698">
                <a:moveTo>
                  <a:pt x="3138698" y="0"/>
                </a:moveTo>
                <a:lnTo>
                  <a:pt x="0" y="0"/>
                </a:lnTo>
                <a:lnTo>
                  <a:pt x="0" y="18364721"/>
                </a:lnTo>
                <a:lnTo>
                  <a:pt x="3138698" y="18364721"/>
                </a:lnTo>
                <a:lnTo>
                  <a:pt x="3138698" y="0"/>
                </a:lnTo>
                <a:close/>
              </a:path>
            </a:pathLst>
          </a:custGeom>
          <a:blipFill rotWithShape="1">
            <a:blip r:embed="rId5">
              <a:alphaModFix/>
            </a:blip>
            <a:stretch>
              <a:fillRect b="0" l="0" r="0" t="0"/>
            </a:stretch>
          </a:blipFill>
          <a:ln>
            <a:noFill/>
          </a:ln>
        </p:spPr>
      </p:sp>
      <p:sp>
        <p:nvSpPr>
          <p:cNvPr id="195" name="Google Shape;195;p6"/>
          <p:cNvSpPr/>
          <p:nvPr/>
        </p:nvSpPr>
        <p:spPr>
          <a:xfrm flipH="1" rot="-5252869">
            <a:off x="7357019" y="2212036"/>
            <a:ext cx="3138698" cy="18364721"/>
          </a:xfrm>
          <a:custGeom>
            <a:rect b="b" l="l" r="r" t="t"/>
            <a:pathLst>
              <a:path extrusionOk="0" h="18364721" w="3138698">
                <a:moveTo>
                  <a:pt x="3138698" y="0"/>
                </a:moveTo>
                <a:lnTo>
                  <a:pt x="0" y="0"/>
                </a:lnTo>
                <a:lnTo>
                  <a:pt x="0" y="18364721"/>
                </a:lnTo>
                <a:lnTo>
                  <a:pt x="3138698" y="18364721"/>
                </a:lnTo>
                <a:lnTo>
                  <a:pt x="3138698" y="0"/>
                </a:lnTo>
                <a:close/>
              </a:path>
            </a:pathLst>
          </a:custGeom>
          <a:blipFill rotWithShape="1">
            <a:blip r:embed="rId6">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grpSp>
        <p:nvGrpSpPr>
          <p:cNvPr id="200" name="Google Shape;200;p7"/>
          <p:cNvGrpSpPr/>
          <p:nvPr/>
        </p:nvGrpSpPr>
        <p:grpSpPr>
          <a:xfrm>
            <a:off x="1028700" y="1078706"/>
            <a:ext cx="7230691" cy="1725941"/>
            <a:chOff x="0" y="66675"/>
            <a:chExt cx="9640922" cy="2301255"/>
          </a:xfrm>
        </p:grpSpPr>
        <p:sp>
          <p:nvSpPr>
            <p:cNvPr id="201" name="Google Shape;201;p7"/>
            <p:cNvSpPr txBox="1"/>
            <p:nvPr/>
          </p:nvSpPr>
          <p:spPr>
            <a:xfrm>
              <a:off x="0" y="66675"/>
              <a:ext cx="9640922" cy="1152948"/>
            </a:xfrm>
            <a:prstGeom prst="rect">
              <a:avLst/>
            </a:prstGeom>
            <a:noFill/>
            <a:ln>
              <a:noFill/>
            </a:ln>
          </p:spPr>
          <p:txBody>
            <a:bodyPr anchorCtr="0" anchor="t" bIns="0" lIns="0" spcFirstLastPara="1" rIns="0" wrap="square" tIns="0">
              <a:spAutoFit/>
            </a:bodyPr>
            <a:lstStyle/>
            <a:p>
              <a:pPr indent="0" lvl="0" marL="0" marR="0" rtl="0" algn="l">
                <a:lnSpc>
                  <a:spcPct val="110009"/>
                </a:lnSpc>
                <a:spcBef>
                  <a:spcPts val="0"/>
                </a:spcBef>
                <a:spcAft>
                  <a:spcPts val="0"/>
                </a:spcAft>
                <a:buNone/>
              </a:pPr>
              <a:r>
                <a:rPr b="0" i="0" lang="en-US" sz="6024" u="none" cap="none" strike="noStrike">
                  <a:solidFill>
                    <a:srgbClr val="29303C"/>
                  </a:solidFill>
                  <a:latin typeface="Hammersmith One"/>
                  <a:ea typeface="Hammersmith One"/>
                  <a:cs typeface="Hammersmith One"/>
                  <a:sym typeface="Hammersmith One"/>
                </a:rPr>
                <a:t>CARACTERÍSTICAS</a:t>
              </a:r>
              <a:endParaRPr/>
            </a:p>
          </p:txBody>
        </p:sp>
        <p:sp>
          <p:nvSpPr>
            <p:cNvPr id="202" name="Google Shape;202;p7"/>
            <p:cNvSpPr/>
            <p:nvPr/>
          </p:nvSpPr>
          <p:spPr>
            <a:xfrm>
              <a:off x="0" y="1934553"/>
              <a:ext cx="5864091" cy="433377"/>
            </a:xfrm>
            <a:custGeom>
              <a:rect b="b" l="l" r="r" t="t"/>
              <a:pathLst>
                <a:path extrusionOk="0" h="433377" w="5864091">
                  <a:moveTo>
                    <a:pt x="0" y="0"/>
                  </a:moveTo>
                  <a:lnTo>
                    <a:pt x="5864091" y="0"/>
                  </a:lnTo>
                  <a:lnTo>
                    <a:pt x="5864091" y="433377"/>
                  </a:lnTo>
                  <a:lnTo>
                    <a:pt x="0" y="433377"/>
                  </a:lnTo>
                  <a:lnTo>
                    <a:pt x="0" y="0"/>
                  </a:lnTo>
                  <a:close/>
                </a:path>
              </a:pathLst>
            </a:custGeom>
            <a:blipFill rotWithShape="1">
              <a:blip r:embed="rId3">
                <a:alphaModFix/>
              </a:blip>
              <a:stretch>
                <a:fillRect b="-1042591" l="-170" r="-7086" t="-308576"/>
              </a:stretch>
            </a:blipFill>
            <a:ln>
              <a:noFill/>
            </a:ln>
          </p:spPr>
        </p:sp>
      </p:grpSp>
      <p:grpSp>
        <p:nvGrpSpPr>
          <p:cNvPr id="203" name="Google Shape;203;p7"/>
          <p:cNvGrpSpPr/>
          <p:nvPr/>
        </p:nvGrpSpPr>
        <p:grpSpPr>
          <a:xfrm>
            <a:off x="1028700" y="4786337"/>
            <a:ext cx="4005225" cy="4837961"/>
            <a:chOff x="0" y="-28575"/>
            <a:chExt cx="5340300" cy="6450614"/>
          </a:xfrm>
        </p:grpSpPr>
        <p:sp>
          <p:nvSpPr>
            <p:cNvPr id="204" name="Google Shape;204;p7"/>
            <p:cNvSpPr txBox="1"/>
            <p:nvPr/>
          </p:nvSpPr>
          <p:spPr>
            <a:xfrm>
              <a:off x="0" y="-28575"/>
              <a:ext cx="5340153" cy="73130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3500" u="none" cap="none" strike="noStrike">
                  <a:solidFill>
                    <a:srgbClr val="29303C"/>
                  </a:solidFill>
                  <a:latin typeface="Hammersmith One"/>
                  <a:ea typeface="Hammersmith One"/>
                  <a:cs typeface="Hammersmith One"/>
                  <a:sym typeface="Hammersmith One"/>
                </a:rPr>
                <a:t>NUBE PRIVADA</a:t>
              </a:r>
              <a:endParaRPr/>
            </a:p>
          </p:txBody>
        </p:sp>
        <p:sp>
          <p:nvSpPr>
            <p:cNvPr id="205" name="Google Shape;205;p7"/>
            <p:cNvSpPr txBox="1"/>
            <p:nvPr/>
          </p:nvSpPr>
          <p:spPr>
            <a:xfrm>
              <a:off x="0" y="915539"/>
              <a:ext cx="5340300" cy="5506500"/>
            </a:xfrm>
            <a:prstGeom prst="rect">
              <a:avLst/>
            </a:prstGeom>
            <a:noFill/>
            <a:ln>
              <a:noFill/>
            </a:ln>
          </p:spPr>
          <p:txBody>
            <a:bodyPr anchorCtr="0" anchor="t" bIns="0" lIns="0" spcFirstLastPara="1" rIns="0" wrap="square" tIns="0">
              <a:spAutoFit/>
            </a:bodyPr>
            <a:lstStyle/>
            <a:p>
              <a:pPr indent="-237490" lvl="1" marL="474979" marR="0" rtl="0" algn="l">
                <a:lnSpc>
                  <a:spcPct val="140018"/>
                </a:lnSpc>
                <a:spcBef>
                  <a:spcPts val="0"/>
                </a:spcBef>
                <a:spcAft>
                  <a:spcPts val="0"/>
                </a:spcAft>
                <a:buClr>
                  <a:srgbClr val="29303C"/>
                </a:buClr>
                <a:buSzPts val="2199"/>
                <a:buFont typeface="Arial"/>
                <a:buChar char="•"/>
              </a:pPr>
              <a:r>
                <a:rPr b="0" i="0" lang="en-US" sz="2199" u="none" cap="none" strike="noStrike">
                  <a:solidFill>
                    <a:srgbClr val="29303C"/>
                  </a:solidFill>
                  <a:latin typeface="Arial"/>
                  <a:ea typeface="Arial"/>
                  <a:cs typeface="Arial"/>
                  <a:sym typeface="Arial"/>
                </a:rPr>
                <a:t>Acceso restringido para una única organización.</a:t>
              </a:r>
              <a:endParaRPr/>
            </a:p>
            <a:p>
              <a:pPr indent="0" lvl="0" marL="0" marR="0" rtl="0" algn="l">
                <a:lnSpc>
                  <a:spcPct val="140018"/>
                </a:lnSpc>
                <a:spcBef>
                  <a:spcPts val="0"/>
                </a:spcBef>
                <a:spcAft>
                  <a:spcPts val="0"/>
                </a:spcAft>
                <a:buNone/>
              </a:pPr>
              <a:r>
                <a:t/>
              </a:r>
              <a:endParaRPr b="0" i="0" sz="2199" u="none" cap="none" strike="noStrike">
                <a:solidFill>
                  <a:srgbClr val="29303C"/>
                </a:solidFill>
                <a:latin typeface="Arial"/>
                <a:ea typeface="Arial"/>
                <a:cs typeface="Arial"/>
                <a:sym typeface="Arial"/>
              </a:endParaRPr>
            </a:p>
            <a:p>
              <a:pPr indent="-237490" lvl="1" marL="474979" marR="0" rtl="0" algn="l">
                <a:lnSpc>
                  <a:spcPct val="140018"/>
                </a:lnSpc>
                <a:spcBef>
                  <a:spcPts val="0"/>
                </a:spcBef>
                <a:spcAft>
                  <a:spcPts val="0"/>
                </a:spcAft>
                <a:buClr>
                  <a:srgbClr val="29303C"/>
                </a:buClr>
                <a:buSzPts val="2199"/>
                <a:buFont typeface="Arial"/>
                <a:buChar char="•"/>
              </a:pPr>
              <a:r>
                <a:rPr b="0" i="0" lang="en-US" sz="2199" u="none" cap="none" strike="noStrike">
                  <a:solidFill>
                    <a:srgbClr val="29303C"/>
                  </a:solidFill>
                  <a:latin typeface="Arial"/>
                  <a:ea typeface="Arial"/>
                  <a:cs typeface="Arial"/>
                  <a:sym typeface="Arial"/>
                </a:rPr>
                <a:t>Seguridad al tener recursos dedicados.</a:t>
              </a:r>
              <a:endParaRPr/>
            </a:p>
            <a:p>
              <a:pPr indent="0" lvl="0" marL="0" marR="0" rtl="0" algn="l">
                <a:lnSpc>
                  <a:spcPct val="140018"/>
                </a:lnSpc>
                <a:spcBef>
                  <a:spcPts val="0"/>
                </a:spcBef>
                <a:spcAft>
                  <a:spcPts val="0"/>
                </a:spcAft>
                <a:buNone/>
              </a:pPr>
              <a:r>
                <a:t/>
              </a:r>
              <a:endParaRPr b="0" i="0" sz="2199" u="none" cap="none" strike="noStrike">
                <a:solidFill>
                  <a:srgbClr val="29303C"/>
                </a:solidFill>
                <a:latin typeface="Arial"/>
                <a:ea typeface="Arial"/>
                <a:cs typeface="Arial"/>
                <a:sym typeface="Arial"/>
              </a:endParaRPr>
            </a:p>
            <a:p>
              <a:pPr indent="-237490" lvl="1" marL="474979" marR="0" rtl="0" algn="l">
                <a:lnSpc>
                  <a:spcPct val="140018"/>
                </a:lnSpc>
                <a:spcBef>
                  <a:spcPts val="0"/>
                </a:spcBef>
                <a:spcAft>
                  <a:spcPts val="0"/>
                </a:spcAft>
                <a:buClr>
                  <a:srgbClr val="29303C"/>
                </a:buClr>
                <a:buSzPts val="2199"/>
                <a:buFont typeface="Arial"/>
                <a:buChar char="•"/>
              </a:pPr>
              <a:r>
                <a:rPr lang="en-US" sz="2199">
                  <a:solidFill>
                    <a:srgbClr val="29303C"/>
                  </a:solidFill>
                </a:rPr>
                <a:t>Personalización</a:t>
              </a:r>
              <a:r>
                <a:rPr b="0" i="0" lang="en-US" sz="2199" u="none" cap="none" strike="noStrike">
                  <a:solidFill>
                    <a:srgbClr val="29303C"/>
                  </a:solidFill>
                  <a:latin typeface="Arial"/>
                  <a:ea typeface="Arial"/>
                  <a:cs typeface="Arial"/>
                  <a:sym typeface="Arial"/>
                </a:rPr>
                <a:t> sobre la configuración de la infraestructura</a:t>
              </a:r>
              <a:endParaRPr/>
            </a:p>
          </p:txBody>
        </p:sp>
      </p:grpSp>
      <p:grpSp>
        <p:nvGrpSpPr>
          <p:cNvPr id="206" name="Google Shape;206;p7"/>
          <p:cNvGrpSpPr/>
          <p:nvPr/>
        </p:nvGrpSpPr>
        <p:grpSpPr>
          <a:xfrm>
            <a:off x="6911845" y="4786337"/>
            <a:ext cx="4005225" cy="5312035"/>
            <a:chOff x="0" y="-28575"/>
            <a:chExt cx="5340300" cy="7082714"/>
          </a:xfrm>
        </p:grpSpPr>
        <p:sp>
          <p:nvSpPr>
            <p:cNvPr id="207" name="Google Shape;207;p7"/>
            <p:cNvSpPr txBox="1"/>
            <p:nvPr/>
          </p:nvSpPr>
          <p:spPr>
            <a:xfrm>
              <a:off x="0" y="-28575"/>
              <a:ext cx="5340153" cy="73130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3500" u="none" cap="none" strike="noStrike">
                  <a:solidFill>
                    <a:srgbClr val="29303C"/>
                  </a:solidFill>
                  <a:latin typeface="Hammersmith One"/>
                  <a:ea typeface="Hammersmith One"/>
                  <a:cs typeface="Hammersmith One"/>
                  <a:sym typeface="Hammersmith One"/>
                </a:rPr>
                <a:t>NUBE PÚBLICA </a:t>
              </a:r>
              <a:endParaRPr/>
            </a:p>
          </p:txBody>
        </p:sp>
        <p:sp>
          <p:nvSpPr>
            <p:cNvPr id="208" name="Google Shape;208;p7"/>
            <p:cNvSpPr txBox="1"/>
            <p:nvPr/>
          </p:nvSpPr>
          <p:spPr>
            <a:xfrm>
              <a:off x="0" y="915539"/>
              <a:ext cx="5340300" cy="6138600"/>
            </a:xfrm>
            <a:prstGeom prst="rect">
              <a:avLst/>
            </a:prstGeom>
            <a:noFill/>
            <a:ln>
              <a:noFill/>
            </a:ln>
          </p:spPr>
          <p:txBody>
            <a:bodyPr anchorCtr="0" anchor="t" bIns="0" lIns="0" spcFirstLastPara="1" rIns="0" wrap="square" tIns="0">
              <a:spAutoFit/>
            </a:bodyPr>
            <a:lstStyle/>
            <a:p>
              <a:pPr indent="-237490" lvl="1" marL="474979" marR="0" rtl="0" algn="l">
                <a:lnSpc>
                  <a:spcPct val="140018"/>
                </a:lnSpc>
                <a:spcBef>
                  <a:spcPts val="0"/>
                </a:spcBef>
                <a:spcAft>
                  <a:spcPts val="0"/>
                </a:spcAft>
                <a:buClr>
                  <a:srgbClr val="29303C"/>
                </a:buClr>
                <a:buSzPts val="2199"/>
                <a:buFont typeface="Arial"/>
                <a:buChar char="•"/>
              </a:pPr>
              <a:r>
                <a:rPr b="0" i="0" lang="en-US" sz="2199" u="none" cap="none" strike="noStrike">
                  <a:solidFill>
                    <a:srgbClr val="29303C"/>
                  </a:solidFill>
                  <a:latin typeface="Arial"/>
                  <a:ea typeface="Arial"/>
                  <a:cs typeface="Arial"/>
                  <a:sym typeface="Arial"/>
                </a:rPr>
                <a:t>Acceso general a los servicios de la nube .</a:t>
              </a:r>
              <a:endParaRPr/>
            </a:p>
            <a:p>
              <a:pPr indent="0" lvl="0" marL="0" marR="0" rtl="0" algn="l">
                <a:lnSpc>
                  <a:spcPct val="140018"/>
                </a:lnSpc>
                <a:spcBef>
                  <a:spcPts val="0"/>
                </a:spcBef>
                <a:spcAft>
                  <a:spcPts val="0"/>
                </a:spcAft>
                <a:buNone/>
              </a:pPr>
              <a:r>
                <a:t/>
              </a:r>
              <a:endParaRPr b="0" i="0" sz="2199" u="none" cap="none" strike="noStrike">
                <a:solidFill>
                  <a:srgbClr val="29303C"/>
                </a:solidFill>
                <a:latin typeface="Arial"/>
                <a:ea typeface="Arial"/>
                <a:cs typeface="Arial"/>
                <a:sym typeface="Arial"/>
              </a:endParaRPr>
            </a:p>
            <a:p>
              <a:pPr indent="-237490" lvl="1" marL="474979" marR="0" rtl="0" algn="l">
                <a:lnSpc>
                  <a:spcPct val="140018"/>
                </a:lnSpc>
                <a:spcBef>
                  <a:spcPts val="0"/>
                </a:spcBef>
                <a:spcAft>
                  <a:spcPts val="0"/>
                </a:spcAft>
                <a:buClr>
                  <a:srgbClr val="29303C"/>
                </a:buClr>
                <a:buSzPts val="2199"/>
                <a:buFont typeface="Arial"/>
                <a:buChar char="•"/>
              </a:pPr>
              <a:r>
                <a:rPr b="0" i="0" lang="en-US" sz="2199" u="none" cap="none" strike="noStrike">
                  <a:solidFill>
                    <a:srgbClr val="29303C"/>
                  </a:solidFill>
                  <a:latin typeface="Arial"/>
                  <a:ea typeface="Arial"/>
                  <a:cs typeface="Arial"/>
                  <a:sym typeface="Arial"/>
                </a:rPr>
                <a:t>Rentabilidad en la economía de escala.</a:t>
              </a:r>
              <a:endParaRPr/>
            </a:p>
            <a:p>
              <a:pPr indent="0" lvl="0" marL="0" marR="0" rtl="0" algn="l">
                <a:lnSpc>
                  <a:spcPct val="140018"/>
                </a:lnSpc>
                <a:spcBef>
                  <a:spcPts val="0"/>
                </a:spcBef>
                <a:spcAft>
                  <a:spcPts val="0"/>
                </a:spcAft>
                <a:buNone/>
              </a:pPr>
              <a:r>
                <a:t/>
              </a:r>
              <a:endParaRPr b="0" i="0" sz="2199" u="none" cap="none" strike="noStrike">
                <a:solidFill>
                  <a:srgbClr val="29303C"/>
                </a:solidFill>
                <a:latin typeface="Arial"/>
                <a:ea typeface="Arial"/>
                <a:cs typeface="Arial"/>
                <a:sym typeface="Arial"/>
              </a:endParaRPr>
            </a:p>
            <a:p>
              <a:pPr indent="-237490" lvl="1" marL="474979" marR="0" rtl="0" algn="l">
                <a:lnSpc>
                  <a:spcPct val="140018"/>
                </a:lnSpc>
                <a:spcBef>
                  <a:spcPts val="0"/>
                </a:spcBef>
                <a:spcAft>
                  <a:spcPts val="0"/>
                </a:spcAft>
                <a:buClr>
                  <a:srgbClr val="29303C"/>
                </a:buClr>
                <a:buSzPts val="2199"/>
                <a:buFont typeface="Arial"/>
                <a:buChar char="•"/>
              </a:pPr>
              <a:r>
                <a:rPr b="0" i="0" lang="en-US" sz="2199" u="none" cap="none" strike="noStrike">
                  <a:solidFill>
                    <a:srgbClr val="29303C"/>
                  </a:solidFill>
                  <a:latin typeface="Arial"/>
                  <a:ea typeface="Arial"/>
                  <a:cs typeface="Arial"/>
                  <a:sym typeface="Arial"/>
                </a:rPr>
                <a:t>Escalabilidad para en el aumento o </a:t>
              </a:r>
              <a:r>
                <a:rPr lang="en-US" sz="2199">
                  <a:solidFill>
                    <a:srgbClr val="29303C"/>
                  </a:solidFill>
                </a:rPr>
                <a:t>reducción</a:t>
              </a:r>
              <a:r>
                <a:rPr b="0" i="0" lang="en-US" sz="2199" u="none" cap="none" strike="noStrike">
                  <a:solidFill>
                    <a:srgbClr val="29303C"/>
                  </a:solidFill>
                  <a:latin typeface="Arial"/>
                  <a:ea typeface="Arial"/>
                  <a:cs typeface="Arial"/>
                  <a:sym typeface="Arial"/>
                </a:rPr>
                <a:t> de recursos según las necesidades del usuario.</a:t>
              </a:r>
              <a:endParaRPr/>
            </a:p>
          </p:txBody>
        </p:sp>
      </p:grpSp>
      <p:grpSp>
        <p:nvGrpSpPr>
          <p:cNvPr id="209" name="Google Shape;209;p7"/>
          <p:cNvGrpSpPr/>
          <p:nvPr/>
        </p:nvGrpSpPr>
        <p:grpSpPr>
          <a:xfrm>
            <a:off x="12407054" y="4786337"/>
            <a:ext cx="4005225" cy="3890261"/>
            <a:chOff x="0" y="-28575"/>
            <a:chExt cx="5340300" cy="5187014"/>
          </a:xfrm>
        </p:grpSpPr>
        <p:sp>
          <p:nvSpPr>
            <p:cNvPr id="210" name="Google Shape;210;p7"/>
            <p:cNvSpPr txBox="1"/>
            <p:nvPr/>
          </p:nvSpPr>
          <p:spPr>
            <a:xfrm>
              <a:off x="0" y="-28575"/>
              <a:ext cx="5340153" cy="73130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3500" u="none" cap="none" strike="noStrike">
                  <a:solidFill>
                    <a:srgbClr val="29303C"/>
                  </a:solidFill>
                  <a:latin typeface="Hammersmith One"/>
                  <a:ea typeface="Hammersmith One"/>
                  <a:cs typeface="Hammersmith One"/>
                  <a:sym typeface="Hammersmith One"/>
                </a:rPr>
                <a:t>NUBE HÍBRIDA</a:t>
              </a:r>
              <a:endParaRPr/>
            </a:p>
          </p:txBody>
        </p:sp>
        <p:sp>
          <p:nvSpPr>
            <p:cNvPr id="211" name="Google Shape;211;p7"/>
            <p:cNvSpPr txBox="1"/>
            <p:nvPr/>
          </p:nvSpPr>
          <p:spPr>
            <a:xfrm>
              <a:off x="0" y="915539"/>
              <a:ext cx="5340300" cy="4242900"/>
            </a:xfrm>
            <a:prstGeom prst="rect">
              <a:avLst/>
            </a:prstGeom>
            <a:noFill/>
            <a:ln>
              <a:noFill/>
            </a:ln>
          </p:spPr>
          <p:txBody>
            <a:bodyPr anchorCtr="0" anchor="t" bIns="0" lIns="0" spcFirstLastPara="1" rIns="0" wrap="square" tIns="0">
              <a:spAutoFit/>
            </a:bodyPr>
            <a:lstStyle/>
            <a:p>
              <a:pPr indent="-237490" lvl="1" marL="474979" marR="0" rtl="0" algn="l">
                <a:lnSpc>
                  <a:spcPct val="140018"/>
                </a:lnSpc>
                <a:spcBef>
                  <a:spcPts val="0"/>
                </a:spcBef>
                <a:spcAft>
                  <a:spcPts val="0"/>
                </a:spcAft>
                <a:buClr>
                  <a:srgbClr val="29303C"/>
                </a:buClr>
                <a:buSzPts val="2199"/>
                <a:buFont typeface="Arial"/>
                <a:buChar char="•"/>
              </a:pPr>
              <a:r>
                <a:rPr b="0" i="0" lang="en-US" sz="2199" u="none" cap="none" strike="noStrike">
                  <a:solidFill>
                    <a:srgbClr val="29303C"/>
                  </a:solidFill>
                  <a:latin typeface="Arial"/>
                  <a:ea typeface="Arial"/>
                  <a:cs typeface="Arial"/>
                  <a:sym typeface="Arial"/>
                </a:rPr>
                <a:t>Integración entre núbes públicas y privadas.</a:t>
              </a:r>
              <a:endParaRPr/>
            </a:p>
            <a:p>
              <a:pPr indent="0" lvl="0" marL="0" marR="0" rtl="0" algn="l">
                <a:lnSpc>
                  <a:spcPct val="140018"/>
                </a:lnSpc>
                <a:spcBef>
                  <a:spcPts val="0"/>
                </a:spcBef>
                <a:spcAft>
                  <a:spcPts val="0"/>
                </a:spcAft>
                <a:buNone/>
              </a:pPr>
              <a:r>
                <a:t/>
              </a:r>
              <a:endParaRPr b="0" i="0" sz="2199" u="none" cap="none" strike="noStrike">
                <a:solidFill>
                  <a:srgbClr val="29303C"/>
                </a:solidFill>
                <a:latin typeface="Arial"/>
                <a:ea typeface="Arial"/>
                <a:cs typeface="Arial"/>
                <a:sym typeface="Arial"/>
              </a:endParaRPr>
            </a:p>
            <a:p>
              <a:pPr indent="-237490" lvl="1" marL="474979" marR="0" rtl="0" algn="l">
                <a:lnSpc>
                  <a:spcPct val="140018"/>
                </a:lnSpc>
                <a:spcBef>
                  <a:spcPts val="0"/>
                </a:spcBef>
                <a:spcAft>
                  <a:spcPts val="0"/>
                </a:spcAft>
                <a:buClr>
                  <a:srgbClr val="29303C"/>
                </a:buClr>
                <a:buSzPts val="2199"/>
                <a:buFont typeface="Arial"/>
                <a:buChar char="•"/>
              </a:pPr>
              <a:r>
                <a:rPr b="0" i="0" lang="en-US" sz="2199" u="none" cap="none" strike="noStrike">
                  <a:solidFill>
                    <a:srgbClr val="29303C"/>
                  </a:solidFill>
                  <a:latin typeface="Arial"/>
                  <a:ea typeface="Arial"/>
                  <a:cs typeface="Arial"/>
                  <a:sym typeface="Arial"/>
                </a:rPr>
                <a:t>Flexibilidad para guardar datos </a:t>
              </a:r>
              <a:r>
                <a:rPr lang="en-US" sz="2199">
                  <a:solidFill>
                    <a:srgbClr val="29303C"/>
                  </a:solidFill>
                </a:rPr>
                <a:t>sensibles</a:t>
              </a:r>
              <a:r>
                <a:rPr b="0" i="0" lang="en-US" sz="2199" u="none" cap="none" strike="noStrike">
                  <a:solidFill>
                    <a:srgbClr val="29303C"/>
                  </a:solidFill>
                  <a:latin typeface="Arial"/>
                  <a:ea typeface="Arial"/>
                  <a:cs typeface="Arial"/>
                  <a:sym typeface="Arial"/>
                </a:rPr>
                <a:t> en nubes privadas y datos menos </a:t>
              </a:r>
              <a:r>
                <a:rPr lang="en-US" sz="2199">
                  <a:solidFill>
                    <a:srgbClr val="29303C"/>
                  </a:solidFill>
                </a:rPr>
                <a:t>esenciales</a:t>
              </a:r>
              <a:r>
                <a:rPr b="0" i="0" lang="en-US" sz="2199" u="none" cap="none" strike="noStrike">
                  <a:solidFill>
                    <a:srgbClr val="29303C"/>
                  </a:solidFill>
                  <a:latin typeface="Arial"/>
                  <a:ea typeface="Arial"/>
                  <a:cs typeface="Arial"/>
                  <a:sym typeface="Arial"/>
                </a:rPr>
                <a:t> en públicas.</a:t>
              </a:r>
              <a:endParaRPr/>
            </a:p>
          </p:txBody>
        </p:sp>
      </p:grpSp>
      <p:sp>
        <p:nvSpPr>
          <p:cNvPr id="212" name="Google Shape;212;p7"/>
          <p:cNvSpPr/>
          <p:nvPr/>
        </p:nvSpPr>
        <p:spPr>
          <a:xfrm rot="5400000">
            <a:off x="12872655" y="4108524"/>
            <a:ext cx="10861953" cy="802736"/>
          </a:xfrm>
          <a:custGeom>
            <a:rect b="b" l="l" r="r" t="t"/>
            <a:pathLst>
              <a:path extrusionOk="0" h="802736" w="10861953">
                <a:moveTo>
                  <a:pt x="0" y="0"/>
                </a:moveTo>
                <a:lnTo>
                  <a:pt x="10861953" y="0"/>
                </a:lnTo>
                <a:lnTo>
                  <a:pt x="10861953" y="802736"/>
                </a:lnTo>
                <a:lnTo>
                  <a:pt x="0" y="802736"/>
                </a:lnTo>
                <a:lnTo>
                  <a:pt x="0" y="0"/>
                </a:lnTo>
                <a:close/>
              </a:path>
            </a:pathLst>
          </a:custGeom>
          <a:blipFill rotWithShape="1">
            <a:blip r:embed="rId3">
              <a:alphaModFix/>
            </a:blip>
            <a:stretch>
              <a:fillRect b="-1042591" l="-170" r="-7086" t="-308576"/>
            </a:stretch>
          </a:blipFill>
          <a:ln>
            <a:noFill/>
          </a:ln>
        </p:spPr>
      </p:sp>
      <p:sp>
        <p:nvSpPr>
          <p:cNvPr id="213" name="Google Shape;213;p7"/>
          <p:cNvSpPr/>
          <p:nvPr/>
        </p:nvSpPr>
        <p:spPr>
          <a:xfrm>
            <a:off x="8184132" y="3329808"/>
            <a:ext cx="847149" cy="1042353"/>
          </a:xfrm>
          <a:custGeom>
            <a:rect b="b" l="l" r="r" t="t"/>
            <a:pathLst>
              <a:path extrusionOk="0" h="1042353" w="847149">
                <a:moveTo>
                  <a:pt x="0" y="0"/>
                </a:moveTo>
                <a:lnTo>
                  <a:pt x="847148" y="0"/>
                </a:lnTo>
                <a:lnTo>
                  <a:pt x="847148" y="1042353"/>
                </a:lnTo>
                <a:lnTo>
                  <a:pt x="0" y="1042353"/>
                </a:lnTo>
                <a:lnTo>
                  <a:pt x="0" y="0"/>
                </a:lnTo>
                <a:close/>
              </a:path>
            </a:pathLst>
          </a:custGeom>
          <a:blipFill rotWithShape="1">
            <a:blip r:embed="rId4">
              <a:alphaModFix/>
            </a:blip>
            <a:stretch>
              <a:fillRect b="0" l="0" r="0" t="0"/>
            </a:stretch>
          </a:blipFill>
          <a:ln>
            <a:noFill/>
          </a:ln>
        </p:spPr>
      </p:sp>
      <p:sp>
        <p:nvSpPr>
          <p:cNvPr id="214" name="Google Shape;214;p7"/>
          <p:cNvSpPr/>
          <p:nvPr/>
        </p:nvSpPr>
        <p:spPr>
          <a:xfrm>
            <a:off x="2448100" y="3329808"/>
            <a:ext cx="1042353" cy="1042353"/>
          </a:xfrm>
          <a:custGeom>
            <a:rect b="b" l="l" r="r" t="t"/>
            <a:pathLst>
              <a:path extrusionOk="0" h="1042353" w="1042353">
                <a:moveTo>
                  <a:pt x="0" y="0"/>
                </a:moveTo>
                <a:lnTo>
                  <a:pt x="1042353" y="0"/>
                </a:lnTo>
                <a:lnTo>
                  <a:pt x="1042353" y="1042353"/>
                </a:lnTo>
                <a:lnTo>
                  <a:pt x="0" y="1042353"/>
                </a:lnTo>
                <a:lnTo>
                  <a:pt x="0" y="0"/>
                </a:lnTo>
                <a:close/>
              </a:path>
            </a:pathLst>
          </a:custGeom>
          <a:blipFill rotWithShape="1">
            <a:blip r:embed="rId5">
              <a:alphaModFix/>
            </a:blip>
            <a:stretch>
              <a:fillRect b="0" l="0" r="0" t="0"/>
            </a:stretch>
          </a:blipFill>
          <a:ln>
            <a:noFill/>
          </a:ln>
        </p:spPr>
      </p:sp>
      <p:sp>
        <p:nvSpPr>
          <p:cNvPr id="215" name="Google Shape;215;p7"/>
          <p:cNvSpPr/>
          <p:nvPr/>
        </p:nvSpPr>
        <p:spPr>
          <a:xfrm>
            <a:off x="13727105" y="3329808"/>
            <a:ext cx="1139024" cy="1035476"/>
          </a:xfrm>
          <a:custGeom>
            <a:rect b="b" l="l" r="r" t="t"/>
            <a:pathLst>
              <a:path extrusionOk="0" h="1035476" w="1139024">
                <a:moveTo>
                  <a:pt x="0" y="0"/>
                </a:moveTo>
                <a:lnTo>
                  <a:pt x="1139024" y="0"/>
                </a:lnTo>
                <a:lnTo>
                  <a:pt x="1139024" y="1035477"/>
                </a:lnTo>
                <a:lnTo>
                  <a:pt x="0" y="1035477"/>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B923"/>
        </a:solidFill>
      </p:bgPr>
    </p:bg>
    <p:spTree>
      <p:nvGrpSpPr>
        <p:cNvPr id="219" name="Shape 219"/>
        <p:cNvGrpSpPr/>
        <p:nvPr/>
      </p:nvGrpSpPr>
      <p:grpSpPr>
        <a:xfrm>
          <a:off x="0" y="0"/>
          <a:ext cx="0" cy="0"/>
          <a:chOff x="0" y="0"/>
          <a:chExt cx="0" cy="0"/>
        </a:xfrm>
      </p:grpSpPr>
      <p:sp>
        <p:nvSpPr>
          <p:cNvPr id="220" name="Google Shape;220;p8"/>
          <p:cNvSpPr/>
          <p:nvPr/>
        </p:nvSpPr>
        <p:spPr>
          <a:xfrm>
            <a:off x="-288614" y="-267999"/>
            <a:ext cx="7338976" cy="1082299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854458" y="6471891"/>
            <a:ext cx="3727446" cy="275471"/>
          </a:xfrm>
          <a:custGeom>
            <a:rect b="b" l="l" r="r" t="t"/>
            <a:pathLst>
              <a:path extrusionOk="0" h="275471" w="3727446">
                <a:moveTo>
                  <a:pt x="0" y="0"/>
                </a:moveTo>
                <a:lnTo>
                  <a:pt x="3727446" y="0"/>
                </a:lnTo>
                <a:lnTo>
                  <a:pt x="3727446" y="275471"/>
                </a:lnTo>
                <a:lnTo>
                  <a:pt x="0" y="275471"/>
                </a:lnTo>
                <a:lnTo>
                  <a:pt x="0" y="0"/>
                </a:lnTo>
                <a:close/>
              </a:path>
            </a:pathLst>
          </a:custGeom>
          <a:blipFill rotWithShape="1">
            <a:blip r:embed="rId3">
              <a:alphaModFix/>
            </a:blip>
            <a:stretch>
              <a:fillRect b="-1042591" l="-170" r="-7086" t="-308576"/>
            </a:stretch>
          </a:blipFill>
          <a:ln>
            <a:noFill/>
          </a:ln>
        </p:spPr>
      </p:sp>
      <p:sp>
        <p:nvSpPr>
          <p:cNvPr id="222" name="Google Shape;222;p8"/>
          <p:cNvSpPr txBox="1"/>
          <p:nvPr/>
        </p:nvSpPr>
        <p:spPr>
          <a:xfrm>
            <a:off x="854449" y="2248150"/>
            <a:ext cx="5890500" cy="3878400"/>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None/>
            </a:pPr>
            <a:r>
              <a:rPr b="0" i="0" lang="en-US" sz="6999" u="none" cap="none" strike="noStrike">
                <a:solidFill>
                  <a:srgbClr val="29303C"/>
                </a:solidFill>
                <a:latin typeface="Arial"/>
                <a:ea typeface="Arial"/>
                <a:cs typeface="Arial"/>
                <a:sym typeface="Arial"/>
              </a:rPr>
              <a:t>TIPOS DE CLOUD COMPUTING</a:t>
            </a:r>
            <a:endParaRPr/>
          </a:p>
        </p:txBody>
      </p:sp>
      <p:sp>
        <p:nvSpPr>
          <p:cNvPr id="223" name="Google Shape;223;p8"/>
          <p:cNvSpPr/>
          <p:nvPr/>
        </p:nvSpPr>
        <p:spPr>
          <a:xfrm rot="5400000">
            <a:off x="1035086" y="8768124"/>
            <a:ext cx="689712" cy="702485"/>
          </a:xfrm>
          <a:custGeom>
            <a:rect b="b" l="l" r="r" t="t"/>
            <a:pathLst>
              <a:path extrusionOk="0" h="702485" w="689712">
                <a:moveTo>
                  <a:pt x="0" y="0"/>
                </a:moveTo>
                <a:lnTo>
                  <a:pt x="689713" y="0"/>
                </a:lnTo>
                <a:lnTo>
                  <a:pt x="689713" y="702485"/>
                </a:lnTo>
                <a:lnTo>
                  <a:pt x="0" y="702485"/>
                </a:lnTo>
                <a:lnTo>
                  <a:pt x="0" y="0"/>
                </a:lnTo>
                <a:close/>
              </a:path>
            </a:pathLst>
          </a:custGeom>
          <a:blipFill rotWithShape="1">
            <a:blip r:embed="rId4">
              <a:alphaModFix/>
            </a:blip>
            <a:stretch>
              <a:fillRect b="0" l="0" r="0" t="0"/>
            </a:stretch>
          </a:blipFill>
          <a:ln>
            <a:noFill/>
          </a:ln>
        </p:spPr>
      </p:sp>
      <p:sp>
        <p:nvSpPr>
          <p:cNvPr id="224" name="Google Shape;224;p8"/>
          <p:cNvSpPr txBox="1"/>
          <p:nvPr/>
        </p:nvSpPr>
        <p:spPr>
          <a:xfrm>
            <a:off x="7789042" y="1000125"/>
            <a:ext cx="11030308" cy="55562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500" u="none" cap="none" strike="noStrike">
                <a:solidFill>
                  <a:srgbClr val="000000"/>
                </a:solidFill>
                <a:latin typeface="Hammersmith One"/>
                <a:ea typeface="Hammersmith One"/>
                <a:cs typeface="Hammersmith One"/>
                <a:sym typeface="Hammersmith One"/>
              </a:rPr>
              <a:t>Infraestructura como servicio (IaaS)</a:t>
            </a:r>
            <a:endParaRPr/>
          </a:p>
        </p:txBody>
      </p:sp>
      <p:sp>
        <p:nvSpPr>
          <p:cNvPr id="225" name="Google Shape;225;p8"/>
          <p:cNvSpPr txBox="1"/>
          <p:nvPr/>
        </p:nvSpPr>
        <p:spPr>
          <a:xfrm>
            <a:off x="7789042" y="1508125"/>
            <a:ext cx="11030308" cy="1108075"/>
          </a:xfrm>
          <a:prstGeom prst="rect">
            <a:avLst/>
          </a:prstGeom>
          <a:noFill/>
          <a:ln>
            <a:noFill/>
          </a:ln>
        </p:spPr>
        <p:txBody>
          <a:bodyPr anchorCtr="0" anchor="t" bIns="0" lIns="0" spcFirstLastPara="1" rIns="0" wrap="square" tIns="0">
            <a:spAutoFit/>
          </a:bodyPr>
          <a:lstStyle/>
          <a:p>
            <a:pPr indent="-229393" lvl="1" marL="458787" marR="0" rtl="0" algn="l">
              <a:lnSpc>
                <a:spcPct val="140018"/>
              </a:lnSpc>
              <a:spcBef>
                <a:spcPts val="0"/>
              </a:spcBef>
              <a:spcAft>
                <a:spcPts val="0"/>
              </a:spcAft>
              <a:buClr>
                <a:srgbClr val="000000"/>
              </a:buClr>
              <a:buSzPts val="2124"/>
              <a:buFont typeface="Arial"/>
              <a:buChar char="•"/>
            </a:pPr>
            <a:r>
              <a:rPr b="0" i="0" lang="en-US" sz="2124" u="none" cap="none" strike="noStrike">
                <a:solidFill>
                  <a:srgbClr val="000000"/>
                </a:solidFill>
                <a:latin typeface="Arial"/>
                <a:ea typeface="Arial"/>
                <a:cs typeface="Arial"/>
                <a:sym typeface="Arial"/>
              </a:rPr>
              <a:t>Servicios para arquitectos Cloud</a:t>
            </a:r>
            <a:endParaRPr/>
          </a:p>
          <a:p>
            <a:pPr indent="-229393" lvl="1" marL="458787" marR="0" rtl="0" algn="l">
              <a:lnSpc>
                <a:spcPct val="140018"/>
              </a:lnSpc>
              <a:spcBef>
                <a:spcPts val="0"/>
              </a:spcBef>
              <a:spcAft>
                <a:spcPts val="0"/>
              </a:spcAft>
              <a:buClr>
                <a:srgbClr val="000000"/>
              </a:buClr>
              <a:buSzPts val="2124"/>
              <a:buFont typeface="Arial"/>
              <a:buChar char="•"/>
            </a:pPr>
            <a:r>
              <a:rPr b="0" i="0" lang="en-US" sz="2124" u="none" cap="none" strike="noStrike">
                <a:solidFill>
                  <a:srgbClr val="000000"/>
                </a:solidFill>
                <a:latin typeface="Arial"/>
                <a:ea typeface="Arial"/>
                <a:cs typeface="Arial"/>
                <a:sym typeface="Arial"/>
              </a:rPr>
              <a:t>Ofrece servidores, networking, almacenamiento, etc</a:t>
            </a:r>
            <a:endParaRPr/>
          </a:p>
          <a:p>
            <a:pPr indent="-229393" lvl="1" marL="458787" marR="0" rtl="0" algn="l">
              <a:lnSpc>
                <a:spcPct val="140018"/>
              </a:lnSpc>
              <a:spcBef>
                <a:spcPts val="0"/>
              </a:spcBef>
              <a:spcAft>
                <a:spcPts val="0"/>
              </a:spcAft>
              <a:buClr>
                <a:srgbClr val="000000"/>
              </a:buClr>
              <a:buSzPts val="2124"/>
              <a:buFont typeface="Arial"/>
              <a:buChar char="•"/>
            </a:pPr>
            <a:r>
              <a:rPr b="0" i="0" lang="en-US" sz="2124" u="none" cap="none" strike="noStrike">
                <a:solidFill>
                  <a:srgbClr val="000000"/>
                </a:solidFill>
                <a:latin typeface="Arial"/>
                <a:ea typeface="Arial"/>
                <a:cs typeface="Arial"/>
                <a:sym typeface="Arial"/>
              </a:rPr>
              <a:t>El arquitecto Cloud diseña la solución a medida</a:t>
            </a:r>
            <a:endParaRPr/>
          </a:p>
        </p:txBody>
      </p:sp>
      <p:sp>
        <p:nvSpPr>
          <p:cNvPr id="226" name="Google Shape;226;p8"/>
          <p:cNvSpPr txBox="1"/>
          <p:nvPr/>
        </p:nvSpPr>
        <p:spPr>
          <a:xfrm>
            <a:off x="7717762" y="3762624"/>
            <a:ext cx="10919427" cy="55562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500" u="none" cap="none" strike="noStrike">
                <a:solidFill>
                  <a:srgbClr val="000000"/>
                </a:solidFill>
                <a:latin typeface="Hammersmith One"/>
                <a:ea typeface="Hammersmith One"/>
                <a:cs typeface="Hammersmith One"/>
                <a:sym typeface="Hammersmith One"/>
              </a:rPr>
              <a:t>Plataforma como servicio (PaaS)</a:t>
            </a:r>
            <a:endParaRPr/>
          </a:p>
        </p:txBody>
      </p:sp>
      <p:sp>
        <p:nvSpPr>
          <p:cNvPr id="227" name="Google Shape;227;p8"/>
          <p:cNvSpPr txBox="1"/>
          <p:nvPr/>
        </p:nvSpPr>
        <p:spPr>
          <a:xfrm>
            <a:off x="7717762" y="4271886"/>
            <a:ext cx="10919427" cy="1108075"/>
          </a:xfrm>
          <a:prstGeom prst="rect">
            <a:avLst/>
          </a:prstGeom>
          <a:noFill/>
          <a:ln>
            <a:noFill/>
          </a:ln>
        </p:spPr>
        <p:txBody>
          <a:bodyPr anchorCtr="0" anchor="t" bIns="0" lIns="0" spcFirstLastPara="1" rIns="0" wrap="square" tIns="0">
            <a:spAutoFit/>
          </a:bodyPr>
          <a:lstStyle/>
          <a:p>
            <a:pPr indent="-229393" lvl="1" marL="458787" marR="0" rtl="0" algn="l">
              <a:lnSpc>
                <a:spcPct val="140018"/>
              </a:lnSpc>
              <a:spcBef>
                <a:spcPts val="0"/>
              </a:spcBef>
              <a:spcAft>
                <a:spcPts val="0"/>
              </a:spcAft>
              <a:buClr>
                <a:srgbClr val="000000"/>
              </a:buClr>
              <a:buSzPts val="2124"/>
              <a:buFont typeface="Arial"/>
              <a:buChar char="•"/>
            </a:pPr>
            <a:r>
              <a:rPr b="0" i="0" lang="en-US" sz="2124" u="none" cap="none" strike="noStrike">
                <a:solidFill>
                  <a:srgbClr val="000000"/>
                </a:solidFill>
                <a:latin typeface="Arial"/>
                <a:ea typeface="Arial"/>
                <a:cs typeface="Arial"/>
                <a:sym typeface="Arial"/>
              </a:rPr>
              <a:t>Plataformas enfocadas a programadores.</a:t>
            </a:r>
            <a:endParaRPr/>
          </a:p>
          <a:p>
            <a:pPr indent="-229393" lvl="1" marL="458787" marR="0" rtl="0" algn="l">
              <a:lnSpc>
                <a:spcPct val="140018"/>
              </a:lnSpc>
              <a:spcBef>
                <a:spcPts val="0"/>
              </a:spcBef>
              <a:spcAft>
                <a:spcPts val="0"/>
              </a:spcAft>
              <a:buClr>
                <a:srgbClr val="000000"/>
              </a:buClr>
              <a:buSzPts val="2124"/>
              <a:buFont typeface="Arial"/>
              <a:buChar char="•"/>
            </a:pPr>
            <a:r>
              <a:rPr b="0" i="0" lang="en-US" sz="2124" u="none" cap="none" strike="noStrike">
                <a:solidFill>
                  <a:srgbClr val="000000"/>
                </a:solidFill>
                <a:latin typeface="Arial"/>
                <a:ea typeface="Arial"/>
                <a:cs typeface="Arial"/>
                <a:sym typeface="Arial"/>
              </a:rPr>
              <a:t>Permite y facilita el despliegue de aplicaciones</a:t>
            </a:r>
            <a:endParaRPr/>
          </a:p>
          <a:p>
            <a:pPr indent="-229393" lvl="1" marL="458787" marR="0" rtl="0" algn="l">
              <a:lnSpc>
                <a:spcPct val="140018"/>
              </a:lnSpc>
              <a:spcBef>
                <a:spcPts val="0"/>
              </a:spcBef>
              <a:spcAft>
                <a:spcPts val="0"/>
              </a:spcAft>
              <a:buClr>
                <a:srgbClr val="000000"/>
              </a:buClr>
              <a:buSzPts val="2124"/>
              <a:buFont typeface="Arial"/>
              <a:buChar char="•"/>
            </a:pPr>
            <a:r>
              <a:rPr b="0" i="0" lang="en-US" sz="2124" u="none" cap="none" strike="noStrike">
                <a:solidFill>
                  <a:srgbClr val="000000"/>
                </a:solidFill>
                <a:latin typeface="Arial"/>
                <a:ea typeface="Arial"/>
                <a:cs typeface="Arial"/>
                <a:sym typeface="Arial"/>
              </a:rPr>
              <a:t>No se debe preocupar por la infraestructura.</a:t>
            </a:r>
            <a:endParaRPr/>
          </a:p>
        </p:txBody>
      </p:sp>
      <p:sp>
        <p:nvSpPr>
          <p:cNvPr id="228" name="Google Shape;228;p8"/>
          <p:cNvSpPr txBox="1"/>
          <p:nvPr/>
        </p:nvSpPr>
        <p:spPr>
          <a:xfrm>
            <a:off x="7717762" y="6718787"/>
            <a:ext cx="10776865" cy="55562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500" u="none" cap="none" strike="noStrike">
                <a:solidFill>
                  <a:srgbClr val="000000"/>
                </a:solidFill>
                <a:latin typeface="Hammersmith One"/>
                <a:ea typeface="Hammersmith One"/>
                <a:cs typeface="Hammersmith One"/>
                <a:sym typeface="Hammersmith One"/>
              </a:rPr>
              <a:t> Software como servicio (SaaS)</a:t>
            </a:r>
            <a:endParaRPr/>
          </a:p>
        </p:txBody>
      </p:sp>
      <p:sp>
        <p:nvSpPr>
          <p:cNvPr id="229" name="Google Shape;229;p8"/>
          <p:cNvSpPr txBox="1"/>
          <p:nvPr/>
        </p:nvSpPr>
        <p:spPr>
          <a:xfrm>
            <a:off x="7789042" y="7236312"/>
            <a:ext cx="10776865" cy="1153795"/>
          </a:xfrm>
          <a:prstGeom prst="rect">
            <a:avLst/>
          </a:prstGeom>
          <a:noFill/>
          <a:ln>
            <a:noFill/>
          </a:ln>
        </p:spPr>
        <p:txBody>
          <a:bodyPr anchorCtr="0" anchor="t" bIns="0" lIns="0" spcFirstLastPara="1" rIns="0" wrap="square" tIns="0">
            <a:spAutoFit/>
          </a:bodyPr>
          <a:lstStyle/>
          <a:p>
            <a:pPr indent="-237490" lvl="1" marL="474979" marR="0" rtl="0" algn="l">
              <a:lnSpc>
                <a:spcPct val="140018"/>
              </a:lnSpc>
              <a:spcBef>
                <a:spcPts val="0"/>
              </a:spcBef>
              <a:spcAft>
                <a:spcPts val="0"/>
              </a:spcAft>
              <a:buClr>
                <a:srgbClr val="000000"/>
              </a:buClr>
              <a:buSzPts val="2199"/>
              <a:buFont typeface="Arial"/>
              <a:buChar char="•"/>
            </a:pPr>
            <a:r>
              <a:rPr b="0" i="0" lang="en-US" sz="2199" u="none" cap="none" strike="noStrike">
                <a:solidFill>
                  <a:srgbClr val="000000"/>
                </a:solidFill>
                <a:latin typeface="Arial"/>
                <a:ea typeface="Arial"/>
                <a:cs typeface="Arial"/>
                <a:sym typeface="Arial"/>
              </a:rPr>
              <a:t>Software para el usuario final</a:t>
            </a:r>
            <a:endParaRPr/>
          </a:p>
          <a:p>
            <a:pPr indent="-237490" lvl="1" marL="474979" marR="0" rtl="0" algn="l">
              <a:lnSpc>
                <a:spcPct val="140018"/>
              </a:lnSpc>
              <a:spcBef>
                <a:spcPts val="0"/>
              </a:spcBef>
              <a:spcAft>
                <a:spcPts val="0"/>
              </a:spcAft>
              <a:buClr>
                <a:srgbClr val="000000"/>
              </a:buClr>
              <a:buSzPts val="2199"/>
              <a:buFont typeface="Arial"/>
              <a:buChar char="•"/>
            </a:pPr>
            <a:r>
              <a:rPr b="0" i="0" lang="en-US" sz="2199" u="none" cap="none" strike="noStrike">
                <a:solidFill>
                  <a:srgbClr val="000000"/>
                </a:solidFill>
                <a:latin typeface="Arial"/>
                <a:ea typeface="Arial"/>
                <a:cs typeface="Arial"/>
                <a:sym typeface="Arial"/>
              </a:rPr>
              <a:t>No requiere necesariamente una instalación, se usa desde la web o App.</a:t>
            </a:r>
            <a:endParaRPr/>
          </a:p>
          <a:p>
            <a:pPr indent="-237490" lvl="1" marL="474979" marR="0" rtl="0" algn="l">
              <a:lnSpc>
                <a:spcPct val="140018"/>
              </a:lnSpc>
              <a:spcBef>
                <a:spcPts val="0"/>
              </a:spcBef>
              <a:spcAft>
                <a:spcPts val="0"/>
              </a:spcAft>
              <a:buClr>
                <a:srgbClr val="000000"/>
              </a:buClr>
              <a:buSzPts val="2199"/>
              <a:buFont typeface="Arial"/>
              <a:buChar char="•"/>
            </a:pPr>
            <a:r>
              <a:rPr b="0" i="0" lang="en-US" sz="2199" u="none" cap="none" strike="noStrike">
                <a:solidFill>
                  <a:srgbClr val="000000"/>
                </a:solidFill>
                <a:latin typeface="Arial"/>
                <a:ea typeface="Arial"/>
                <a:cs typeface="Arial"/>
                <a:sym typeface="Arial"/>
              </a:rPr>
              <a:t>No se requieren grandes conocimientos técnicos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9"/>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3">
              <a:alphaModFix/>
            </a:blip>
            <a:stretch>
              <a:fillRect b="0" l="0" r="0" t="0"/>
            </a:stretch>
          </a:blipFill>
          <a:ln>
            <a:noFill/>
          </a:ln>
        </p:spPr>
      </p:sp>
      <p:sp>
        <p:nvSpPr>
          <p:cNvPr id="235" name="Google Shape;235;p9"/>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4">
              <a:alphaModFix/>
            </a:blip>
            <a:stretch>
              <a:fillRect b="0" l="0" r="0" t="0"/>
            </a:stretch>
          </a:blipFill>
          <a:ln>
            <a:noFill/>
          </a:ln>
        </p:spPr>
      </p:sp>
      <p:sp>
        <p:nvSpPr>
          <p:cNvPr id="236" name="Google Shape;236;p9"/>
          <p:cNvSpPr txBox="1"/>
          <p:nvPr/>
        </p:nvSpPr>
        <p:spPr>
          <a:xfrm>
            <a:off x="1028700" y="1993900"/>
            <a:ext cx="13613550" cy="627062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500" u="none" cap="none" strike="noStrike">
                <a:solidFill>
                  <a:srgbClr val="29303C"/>
                </a:solidFill>
                <a:latin typeface="Hammersmith One"/>
                <a:ea typeface="Hammersmith One"/>
                <a:cs typeface="Hammersmith One"/>
                <a:sym typeface="Hammersmith One"/>
              </a:rPr>
              <a:t>Infraestructura como servicio: </a:t>
            </a:r>
            <a:endParaRPr/>
          </a:p>
          <a:p>
            <a:pPr indent="-377825" lvl="1" marL="755651" marR="0" rtl="0" algn="l">
              <a:lnSpc>
                <a:spcPct val="130000"/>
              </a:lnSpc>
              <a:spcBef>
                <a:spcPts val="0"/>
              </a:spcBef>
              <a:spcAft>
                <a:spcPts val="0"/>
              </a:spcAft>
              <a:buClr>
                <a:srgbClr val="29303C"/>
              </a:buClr>
              <a:buSzPts val="3500"/>
              <a:buFont typeface="Arial"/>
              <a:buChar char="•"/>
            </a:pPr>
            <a:r>
              <a:rPr b="0" i="0" lang="en-US" sz="3500" u="none" cap="none" strike="noStrike">
                <a:solidFill>
                  <a:srgbClr val="29303C"/>
                </a:solidFill>
                <a:latin typeface="Arial"/>
                <a:ea typeface="Arial"/>
                <a:cs typeface="Arial"/>
                <a:sym typeface="Arial"/>
              </a:rPr>
              <a:t>Amazon EC2 (en AWS) </a:t>
            </a:r>
            <a:endParaRPr/>
          </a:p>
          <a:p>
            <a:pPr indent="-377825" lvl="1" marL="755651" marR="0" rtl="0" algn="l">
              <a:lnSpc>
                <a:spcPct val="130000"/>
              </a:lnSpc>
              <a:spcBef>
                <a:spcPts val="0"/>
              </a:spcBef>
              <a:spcAft>
                <a:spcPts val="0"/>
              </a:spcAft>
              <a:buClr>
                <a:srgbClr val="29303C"/>
              </a:buClr>
              <a:buSzPts val="3500"/>
              <a:buFont typeface="Arial"/>
              <a:buChar char="•"/>
            </a:pPr>
            <a:r>
              <a:rPr b="0" i="0" lang="en-US" sz="3500" u="none" cap="none" strike="noStrike">
                <a:solidFill>
                  <a:srgbClr val="29303C"/>
                </a:solidFill>
                <a:latin typeface="Arial"/>
                <a:ea typeface="Arial"/>
                <a:cs typeface="Arial"/>
                <a:sym typeface="Arial"/>
              </a:rPr>
              <a:t>GCP, Azure, Rackspace, Digital Ocean, Linode</a:t>
            </a:r>
            <a:endParaRPr/>
          </a:p>
          <a:p>
            <a:pPr indent="0" lvl="0" marL="0" marR="0" rtl="0" algn="l">
              <a:lnSpc>
                <a:spcPct val="130000"/>
              </a:lnSpc>
              <a:spcBef>
                <a:spcPts val="0"/>
              </a:spcBef>
              <a:spcAft>
                <a:spcPts val="0"/>
              </a:spcAft>
              <a:buNone/>
            </a:pPr>
            <a:r>
              <a:t/>
            </a:r>
            <a:endParaRPr b="0" i="0" sz="35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None/>
            </a:pPr>
            <a:r>
              <a:rPr b="0" i="0" lang="en-US" sz="3500" u="none" cap="none" strike="noStrike">
                <a:solidFill>
                  <a:srgbClr val="29303C"/>
                </a:solidFill>
                <a:latin typeface="Hammersmith One"/>
                <a:ea typeface="Hammersmith One"/>
                <a:cs typeface="Hammersmith One"/>
                <a:sym typeface="Hammersmith One"/>
              </a:rPr>
              <a:t>Plataforma como servicio: </a:t>
            </a:r>
            <a:endParaRPr/>
          </a:p>
          <a:p>
            <a:pPr indent="-377825" lvl="1" marL="755651" marR="0" rtl="0" algn="l">
              <a:lnSpc>
                <a:spcPct val="130000"/>
              </a:lnSpc>
              <a:spcBef>
                <a:spcPts val="0"/>
              </a:spcBef>
              <a:spcAft>
                <a:spcPts val="0"/>
              </a:spcAft>
              <a:buClr>
                <a:srgbClr val="29303C"/>
              </a:buClr>
              <a:buSzPts val="3500"/>
              <a:buFont typeface="Arial"/>
              <a:buChar char="•"/>
            </a:pPr>
            <a:r>
              <a:rPr b="0" i="0" lang="en-US" sz="3500" u="none" cap="none" strike="noStrike">
                <a:solidFill>
                  <a:srgbClr val="29303C"/>
                </a:solidFill>
                <a:latin typeface="Arial"/>
                <a:ea typeface="Arial"/>
                <a:cs typeface="Arial"/>
                <a:sym typeface="Arial"/>
              </a:rPr>
              <a:t>Elastic Beanstalk (en AWS)</a:t>
            </a:r>
            <a:endParaRPr/>
          </a:p>
          <a:p>
            <a:pPr indent="-377825" lvl="1" marL="755651" marR="0" rtl="0" algn="l">
              <a:lnSpc>
                <a:spcPct val="130000"/>
              </a:lnSpc>
              <a:spcBef>
                <a:spcPts val="0"/>
              </a:spcBef>
              <a:spcAft>
                <a:spcPts val="0"/>
              </a:spcAft>
              <a:buClr>
                <a:srgbClr val="29303C"/>
              </a:buClr>
              <a:buSzPts val="3500"/>
              <a:buFont typeface="Arial"/>
              <a:buChar char="•"/>
            </a:pPr>
            <a:r>
              <a:rPr b="0" i="0" lang="en-US" sz="3500" u="none" cap="none" strike="noStrike">
                <a:solidFill>
                  <a:srgbClr val="29303C"/>
                </a:solidFill>
                <a:latin typeface="Arial"/>
                <a:ea typeface="Arial"/>
                <a:cs typeface="Arial"/>
                <a:sym typeface="Arial"/>
              </a:rPr>
              <a:t>Heroku, Google App Engine (GCP), Windows Azure (Microsoft) </a:t>
            </a:r>
            <a:endParaRPr/>
          </a:p>
          <a:p>
            <a:pPr indent="0" lvl="0" marL="0" marR="0" rtl="0" algn="l">
              <a:lnSpc>
                <a:spcPct val="130000"/>
              </a:lnSpc>
              <a:spcBef>
                <a:spcPts val="0"/>
              </a:spcBef>
              <a:spcAft>
                <a:spcPts val="0"/>
              </a:spcAft>
              <a:buNone/>
            </a:pPr>
            <a:r>
              <a:t/>
            </a:r>
            <a:endParaRPr b="0" i="0" sz="35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None/>
            </a:pPr>
            <a:r>
              <a:rPr b="0" i="0" lang="en-US" sz="3500" u="none" cap="none" strike="noStrike">
                <a:solidFill>
                  <a:srgbClr val="29303C"/>
                </a:solidFill>
                <a:latin typeface="Hammersmith One"/>
                <a:ea typeface="Hammersmith One"/>
                <a:cs typeface="Hammersmith One"/>
                <a:sym typeface="Hammersmith One"/>
              </a:rPr>
              <a:t> Software como servicio:</a:t>
            </a:r>
            <a:endParaRPr/>
          </a:p>
          <a:p>
            <a:pPr indent="-377825" lvl="1" marL="755651" marR="0" rtl="0" algn="l">
              <a:lnSpc>
                <a:spcPct val="130000"/>
              </a:lnSpc>
              <a:spcBef>
                <a:spcPts val="0"/>
              </a:spcBef>
              <a:spcAft>
                <a:spcPts val="0"/>
              </a:spcAft>
              <a:buClr>
                <a:srgbClr val="29303C"/>
              </a:buClr>
              <a:buSzPts val="3500"/>
              <a:buFont typeface="Arial"/>
              <a:buChar char="•"/>
            </a:pPr>
            <a:r>
              <a:rPr b="0" i="0" lang="en-US" sz="3500" u="none" cap="none" strike="noStrike">
                <a:solidFill>
                  <a:srgbClr val="29303C"/>
                </a:solidFill>
                <a:latin typeface="Arial"/>
                <a:ea typeface="Arial"/>
                <a:cs typeface="Arial"/>
                <a:sym typeface="Arial"/>
              </a:rPr>
              <a:t>Rekognition, Polly, Translate</a:t>
            </a:r>
            <a:endParaRPr/>
          </a:p>
          <a:p>
            <a:pPr indent="-377825" lvl="1" marL="755651" marR="0" rtl="0" algn="l">
              <a:lnSpc>
                <a:spcPct val="130000"/>
              </a:lnSpc>
              <a:spcBef>
                <a:spcPts val="0"/>
              </a:spcBef>
              <a:spcAft>
                <a:spcPts val="0"/>
              </a:spcAft>
              <a:buClr>
                <a:srgbClr val="29303C"/>
              </a:buClr>
              <a:buSzPts val="3500"/>
              <a:buFont typeface="Arial"/>
              <a:buChar char="•"/>
            </a:pPr>
            <a:r>
              <a:rPr b="0" i="0" lang="en-US" sz="3500" u="none" cap="none" strike="noStrike">
                <a:solidFill>
                  <a:srgbClr val="29303C"/>
                </a:solidFill>
                <a:latin typeface="Arial"/>
                <a:ea typeface="Arial"/>
                <a:cs typeface="Arial"/>
                <a:sym typeface="Arial"/>
              </a:rPr>
              <a:t>Google Apps (Gmail), Dropbox, Zoom</a:t>
            </a:r>
            <a:endParaRPr/>
          </a:p>
        </p:txBody>
      </p:sp>
      <p:sp>
        <p:nvSpPr>
          <p:cNvPr id="237" name="Google Shape;237;p9"/>
          <p:cNvSpPr/>
          <p:nvPr/>
        </p:nvSpPr>
        <p:spPr>
          <a:xfrm>
            <a:off x="13522855" y="6679153"/>
            <a:ext cx="2238790" cy="2238790"/>
          </a:xfrm>
          <a:custGeom>
            <a:rect b="b" l="l" r="r" t="t"/>
            <a:pathLst>
              <a:path extrusionOk="0" h="2238790" w="2238790">
                <a:moveTo>
                  <a:pt x="0" y="0"/>
                </a:moveTo>
                <a:lnTo>
                  <a:pt x="2238791" y="0"/>
                </a:lnTo>
                <a:lnTo>
                  <a:pt x="2238791" y="2238790"/>
                </a:lnTo>
                <a:lnTo>
                  <a:pt x="0" y="2238790"/>
                </a:lnTo>
                <a:lnTo>
                  <a:pt x="0" y="0"/>
                </a:lnTo>
                <a:close/>
              </a:path>
            </a:pathLst>
          </a:custGeom>
          <a:blipFill rotWithShape="1">
            <a:blip r:embed="rId5">
              <a:alphaModFix/>
            </a:blip>
            <a:stretch>
              <a:fillRect b="0" l="0" r="0" t="0"/>
            </a:stretch>
          </a:blipFill>
          <a:ln>
            <a:noFill/>
          </a:ln>
        </p:spPr>
      </p:sp>
      <p:sp>
        <p:nvSpPr>
          <p:cNvPr id="238" name="Google Shape;238;p9"/>
          <p:cNvSpPr/>
          <p:nvPr/>
        </p:nvSpPr>
        <p:spPr>
          <a:xfrm>
            <a:off x="15495998" y="3881684"/>
            <a:ext cx="2270188" cy="2270188"/>
          </a:xfrm>
          <a:custGeom>
            <a:rect b="b" l="l" r="r" t="t"/>
            <a:pathLst>
              <a:path extrusionOk="0" h="2270188" w="2270188">
                <a:moveTo>
                  <a:pt x="0" y="0"/>
                </a:moveTo>
                <a:lnTo>
                  <a:pt x="2270188" y="0"/>
                </a:lnTo>
                <a:lnTo>
                  <a:pt x="2270188" y="2270188"/>
                </a:lnTo>
                <a:lnTo>
                  <a:pt x="0" y="2270188"/>
                </a:lnTo>
                <a:lnTo>
                  <a:pt x="0" y="0"/>
                </a:lnTo>
                <a:close/>
              </a:path>
            </a:pathLst>
          </a:custGeom>
          <a:blipFill rotWithShape="1">
            <a:blip r:embed="rId6">
              <a:alphaModFix/>
            </a:blip>
            <a:stretch>
              <a:fillRect b="0" l="0" r="0" t="0"/>
            </a:stretch>
          </a:blipFill>
          <a:ln>
            <a:noFill/>
          </a:ln>
        </p:spPr>
      </p:sp>
      <p:sp>
        <p:nvSpPr>
          <p:cNvPr id="239" name="Google Shape;239;p9"/>
          <p:cNvSpPr/>
          <p:nvPr/>
        </p:nvSpPr>
        <p:spPr>
          <a:xfrm>
            <a:off x="12422105" y="1610630"/>
            <a:ext cx="2790392" cy="2159521"/>
          </a:xfrm>
          <a:custGeom>
            <a:rect b="b" l="l" r="r" t="t"/>
            <a:pathLst>
              <a:path extrusionOk="0" h="2159521" w="2790392">
                <a:moveTo>
                  <a:pt x="0" y="0"/>
                </a:moveTo>
                <a:lnTo>
                  <a:pt x="2790392" y="0"/>
                </a:lnTo>
                <a:lnTo>
                  <a:pt x="2790392" y="2159521"/>
                </a:lnTo>
                <a:lnTo>
                  <a:pt x="0" y="2159521"/>
                </a:lnTo>
                <a:lnTo>
                  <a:pt x="0" y="0"/>
                </a:lnTo>
                <a:close/>
              </a:path>
            </a:pathLst>
          </a:custGeom>
          <a:blipFill rotWithShape="1">
            <a:blip r:embed="rId7">
              <a:alphaModFix/>
            </a:blip>
            <a:stretch>
              <a:fillRect b="0" l="0" r="0" t="0"/>
            </a:stretch>
          </a:blipFill>
          <a:ln>
            <a:noFill/>
          </a:ln>
        </p:spPr>
      </p:sp>
      <p:sp>
        <p:nvSpPr>
          <p:cNvPr id="240" name="Google Shape;240;p9"/>
          <p:cNvSpPr txBox="1"/>
          <p:nvPr/>
        </p:nvSpPr>
        <p:spPr>
          <a:xfrm>
            <a:off x="4055886" y="706675"/>
            <a:ext cx="11950330" cy="682149"/>
          </a:xfrm>
          <a:prstGeom prst="rect">
            <a:avLst/>
          </a:prstGeom>
          <a:noFill/>
          <a:ln>
            <a:noFill/>
          </a:ln>
        </p:spPr>
        <p:txBody>
          <a:bodyPr anchorCtr="0" anchor="t" bIns="0" lIns="0" spcFirstLastPara="1" rIns="0" wrap="square" tIns="0">
            <a:spAutoFit/>
          </a:bodyPr>
          <a:lstStyle/>
          <a:p>
            <a:pPr indent="0" lvl="0" marL="0" marR="0" rtl="0" algn="l">
              <a:lnSpc>
                <a:spcPct val="109991"/>
              </a:lnSpc>
              <a:spcBef>
                <a:spcPts val="0"/>
              </a:spcBef>
              <a:spcAft>
                <a:spcPts val="0"/>
              </a:spcAft>
              <a:buNone/>
            </a:pPr>
            <a:r>
              <a:rPr b="0" i="0" lang="en-US" sz="4744" u="none" cap="none" strike="noStrike">
                <a:solidFill>
                  <a:srgbClr val="29303C"/>
                </a:solidFill>
                <a:latin typeface="Hammersmith One"/>
                <a:ea typeface="Hammersmith One"/>
                <a:cs typeface="Hammersmith One"/>
                <a:sym typeface="Hammersmith One"/>
              </a:rPr>
              <a:t>EJEMPLOS DE TIPOS DE CLOUD COMPUTING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0"/>
          <p:cNvSpPr/>
          <p:nvPr/>
        </p:nvSpPr>
        <p:spPr>
          <a:xfrm>
            <a:off x="2087586" y="3325747"/>
            <a:ext cx="4523401" cy="3635507"/>
          </a:xfrm>
          <a:custGeom>
            <a:rect b="b" l="l" r="r" t="t"/>
            <a:pathLst>
              <a:path extrusionOk="0" h="3635507" w="4523401">
                <a:moveTo>
                  <a:pt x="0" y="0"/>
                </a:moveTo>
                <a:lnTo>
                  <a:pt x="4523401" y="0"/>
                </a:lnTo>
                <a:lnTo>
                  <a:pt x="4523401" y="3635506"/>
                </a:lnTo>
                <a:lnTo>
                  <a:pt x="0" y="3635506"/>
                </a:lnTo>
                <a:lnTo>
                  <a:pt x="0" y="0"/>
                </a:lnTo>
                <a:close/>
              </a:path>
            </a:pathLst>
          </a:custGeom>
          <a:blipFill rotWithShape="1">
            <a:blip r:embed="rId3">
              <a:alphaModFix/>
            </a:blip>
            <a:stretch>
              <a:fillRect b="0" l="0" r="0" t="0"/>
            </a:stretch>
          </a:blipFill>
          <a:ln>
            <a:noFill/>
          </a:ln>
        </p:spPr>
      </p:sp>
      <p:sp>
        <p:nvSpPr>
          <p:cNvPr id="246" name="Google Shape;246;p10"/>
          <p:cNvSpPr txBox="1"/>
          <p:nvPr/>
        </p:nvSpPr>
        <p:spPr>
          <a:xfrm>
            <a:off x="7464731" y="1146068"/>
            <a:ext cx="9521700" cy="925800"/>
          </a:xfrm>
          <a:prstGeom prst="rect">
            <a:avLst/>
          </a:prstGeom>
          <a:noFill/>
          <a:ln>
            <a:noFill/>
          </a:ln>
        </p:spPr>
        <p:txBody>
          <a:bodyPr anchorCtr="0" anchor="t" bIns="0" lIns="0" spcFirstLastPara="1" rIns="0" wrap="square" tIns="0">
            <a:spAutoFit/>
          </a:bodyPr>
          <a:lstStyle/>
          <a:p>
            <a:pPr indent="0" lvl="0" marL="0" marR="0" rtl="0" algn="l">
              <a:lnSpc>
                <a:spcPct val="110008"/>
              </a:lnSpc>
              <a:spcBef>
                <a:spcPts val="0"/>
              </a:spcBef>
              <a:spcAft>
                <a:spcPts val="0"/>
              </a:spcAft>
              <a:buNone/>
            </a:pPr>
            <a:r>
              <a:rPr b="0" i="0" lang="en-US" sz="6015" u="none" cap="none" strike="noStrike">
                <a:solidFill>
                  <a:srgbClr val="29303C"/>
                </a:solidFill>
                <a:latin typeface="Hammersmith One"/>
                <a:ea typeface="Hammersmith One"/>
                <a:cs typeface="Hammersmith One"/>
                <a:sym typeface="Hammersmith One"/>
              </a:rPr>
              <a:t>GOOGLE CLOUD PLATFORM</a:t>
            </a:r>
            <a:endParaRPr/>
          </a:p>
        </p:txBody>
      </p:sp>
      <p:sp>
        <p:nvSpPr>
          <p:cNvPr id="247" name="Google Shape;247;p10"/>
          <p:cNvSpPr txBox="1"/>
          <p:nvPr/>
        </p:nvSpPr>
        <p:spPr>
          <a:xfrm>
            <a:off x="7298956" y="2424263"/>
            <a:ext cx="9514500" cy="6087000"/>
          </a:xfrm>
          <a:prstGeom prst="rect">
            <a:avLst/>
          </a:prstGeom>
          <a:noFill/>
          <a:ln>
            <a:noFill/>
          </a:ln>
        </p:spPr>
        <p:txBody>
          <a:bodyPr anchorCtr="0" anchor="t" bIns="0" lIns="0" spcFirstLastPara="1" rIns="0" wrap="square" tIns="0">
            <a:spAutoFit/>
          </a:bodyPr>
          <a:lstStyle/>
          <a:p>
            <a:pPr indent="-304982" lvl="1" marL="609967" marR="0" rtl="0" algn="l">
              <a:lnSpc>
                <a:spcPct val="129982"/>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Google Cloud Platform (GCP) es la platraforma de servicios en la nube proporcionada por Google.</a:t>
            </a:r>
            <a:endParaRPr/>
          </a:p>
          <a:p>
            <a:pPr indent="0" lvl="0" marL="0" marR="0" rtl="0" algn="l">
              <a:lnSpc>
                <a:spcPct val="129982"/>
              </a:lnSpc>
              <a:spcBef>
                <a:spcPts val="0"/>
              </a:spcBef>
              <a:spcAft>
                <a:spcPts val="0"/>
              </a:spcAft>
              <a:buNone/>
            </a:pPr>
            <a:r>
              <a:t/>
            </a:r>
            <a:endParaRPr b="0" i="0" sz="2825" u="none" cap="none" strike="noStrike">
              <a:solidFill>
                <a:srgbClr val="29303C"/>
              </a:solidFill>
              <a:latin typeface="Arial"/>
              <a:ea typeface="Arial"/>
              <a:cs typeface="Arial"/>
              <a:sym typeface="Arial"/>
            </a:endParaRPr>
          </a:p>
          <a:p>
            <a:pPr indent="-304982" lvl="1" marL="609967" marR="0" rtl="0" algn="l">
              <a:lnSpc>
                <a:spcPct val="129982"/>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Ofrece más de 90 servicios y recursos informáticos que permiten a las empresas desarrollar, implementar y gestionar aplicaciones y servicios en la infraestructura de Google.</a:t>
            </a:r>
            <a:endParaRPr/>
          </a:p>
          <a:p>
            <a:pPr indent="0" lvl="0" marL="0" marR="0" rtl="0" algn="l">
              <a:lnSpc>
                <a:spcPct val="129982"/>
              </a:lnSpc>
              <a:spcBef>
                <a:spcPts val="0"/>
              </a:spcBef>
              <a:spcAft>
                <a:spcPts val="0"/>
              </a:spcAft>
              <a:buNone/>
            </a:pPr>
            <a:r>
              <a:t/>
            </a:r>
            <a:endParaRPr b="0" i="0" sz="2825" u="none" cap="none" strike="noStrike">
              <a:solidFill>
                <a:srgbClr val="29303C"/>
              </a:solidFill>
              <a:latin typeface="Arial"/>
              <a:ea typeface="Arial"/>
              <a:cs typeface="Arial"/>
              <a:sym typeface="Arial"/>
            </a:endParaRPr>
          </a:p>
          <a:p>
            <a:pPr indent="-304982" lvl="1" marL="609967" marR="0" rtl="0" algn="l">
              <a:lnSpc>
                <a:spcPct val="129982"/>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La plataforma busca ofrecer soluciones eficientes y rentables, respaldadas por la red global de centros de datos de Google.</a:t>
            </a:r>
            <a:endParaRPr/>
          </a:p>
        </p:txBody>
      </p:sp>
      <p:sp>
        <p:nvSpPr>
          <p:cNvPr id="248" name="Google Shape;248;p10"/>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4">
              <a:alphaModFix/>
            </a:blip>
            <a:stretch>
              <a:fillRect b="0" l="0" r="0" t="0"/>
            </a:stretch>
          </a:blipFill>
          <a:ln>
            <a:noFill/>
          </a:ln>
        </p:spPr>
      </p:sp>
      <p:sp>
        <p:nvSpPr>
          <p:cNvPr id="249" name="Google Shape;249;p10"/>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5">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1"/>
          <p:cNvSpPr/>
          <p:nvPr/>
        </p:nvSpPr>
        <p:spPr>
          <a:xfrm>
            <a:off x="1171262" y="1941005"/>
            <a:ext cx="16230600" cy="7317296"/>
          </a:xfrm>
          <a:custGeom>
            <a:rect b="b" l="l" r="r" t="t"/>
            <a:pathLst>
              <a:path extrusionOk="0" h="7317296" w="16230600">
                <a:moveTo>
                  <a:pt x="0" y="0"/>
                </a:moveTo>
                <a:lnTo>
                  <a:pt x="16230600" y="0"/>
                </a:lnTo>
                <a:lnTo>
                  <a:pt x="16230600" y="7317295"/>
                </a:lnTo>
                <a:lnTo>
                  <a:pt x="0" y="7317295"/>
                </a:lnTo>
                <a:lnTo>
                  <a:pt x="0" y="0"/>
                </a:lnTo>
                <a:close/>
              </a:path>
            </a:pathLst>
          </a:custGeom>
          <a:blipFill rotWithShape="1">
            <a:blip r:embed="rId3">
              <a:alphaModFix/>
            </a:blip>
            <a:stretch>
              <a:fillRect b="0" l="0" r="0" t="0"/>
            </a:stretch>
          </a:blipFill>
          <a:ln>
            <a:noFill/>
          </a:ln>
        </p:spPr>
      </p:sp>
      <p:sp>
        <p:nvSpPr>
          <p:cNvPr id="255" name="Google Shape;255;p11"/>
          <p:cNvSpPr txBox="1"/>
          <p:nvPr/>
        </p:nvSpPr>
        <p:spPr>
          <a:xfrm>
            <a:off x="5753346" y="630937"/>
            <a:ext cx="6781307" cy="852675"/>
          </a:xfrm>
          <a:prstGeom prst="rect">
            <a:avLst/>
          </a:prstGeom>
          <a:noFill/>
          <a:ln>
            <a:noFill/>
          </a:ln>
        </p:spPr>
        <p:txBody>
          <a:bodyPr anchorCtr="0" anchor="t" bIns="0" lIns="0" spcFirstLastPara="1" rIns="0" wrap="square" tIns="0">
            <a:spAutoFit/>
          </a:bodyPr>
          <a:lstStyle/>
          <a:p>
            <a:pPr indent="0" lvl="0" marL="0" marR="0" rtl="0" algn="l">
              <a:lnSpc>
                <a:spcPct val="110008"/>
              </a:lnSpc>
              <a:spcBef>
                <a:spcPts val="0"/>
              </a:spcBef>
              <a:spcAft>
                <a:spcPts val="0"/>
              </a:spcAft>
              <a:buNone/>
            </a:pPr>
            <a:r>
              <a:rPr b="0" i="0" lang="en-US" sz="6015" u="none" cap="none" strike="noStrike">
                <a:solidFill>
                  <a:srgbClr val="29303C"/>
                </a:solidFill>
                <a:latin typeface="Hammersmith One"/>
                <a:ea typeface="Hammersmith One"/>
                <a:cs typeface="Hammersmith One"/>
                <a:sym typeface="Hammersmith One"/>
              </a:rPr>
              <a:t>SERVICIOS DE GCP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2"/>
          <p:cNvSpPr/>
          <p:nvPr/>
        </p:nvSpPr>
        <p:spPr>
          <a:xfrm>
            <a:off x="1618493" y="2164090"/>
            <a:ext cx="5802551" cy="5802551"/>
          </a:xfrm>
          <a:custGeom>
            <a:rect b="b" l="l" r="r" t="t"/>
            <a:pathLst>
              <a:path extrusionOk="0" h="5802551" w="5802551">
                <a:moveTo>
                  <a:pt x="0" y="0"/>
                </a:moveTo>
                <a:lnTo>
                  <a:pt x="5802552" y="0"/>
                </a:lnTo>
                <a:lnTo>
                  <a:pt x="5802552" y="5802551"/>
                </a:lnTo>
                <a:lnTo>
                  <a:pt x="0" y="5802551"/>
                </a:lnTo>
                <a:lnTo>
                  <a:pt x="0" y="0"/>
                </a:lnTo>
                <a:close/>
              </a:path>
            </a:pathLst>
          </a:custGeom>
          <a:blipFill rotWithShape="1">
            <a:blip r:embed="rId3">
              <a:alphaModFix/>
            </a:blip>
            <a:stretch>
              <a:fillRect b="0" l="0" r="0" t="0"/>
            </a:stretch>
          </a:blipFill>
          <a:ln>
            <a:noFill/>
          </a:ln>
        </p:spPr>
      </p:sp>
      <p:sp>
        <p:nvSpPr>
          <p:cNvPr id="261" name="Google Shape;261;p12"/>
          <p:cNvSpPr txBox="1"/>
          <p:nvPr/>
        </p:nvSpPr>
        <p:spPr>
          <a:xfrm>
            <a:off x="9144000" y="2037482"/>
            <a:ext cx="6702106" cy="852675"/>
          </a:xfrm>
          <a:prstGeom prst="rect">
            <a:avLst/>
          </a:prstGeom>
          <a:noFill/>
          <a:ln>
            <a:noFill/>
          </a:ln>
        </p:spPr>
        <p:txBody>
          <a:bodyPr anchorCtr="0" anchor="t" bIns="0" lIns="0" spcFirstLastPara="1" rIns="0" wrap="square" tIns="0">
            <a:spAutoFit/>
          </a:bodyPr>
          <a:lstStyle/>
          <a:p>
            <a:pPr indent="0" lvl="0" marL="0" marR="0" rtl="0" algn="l">
              <a:lnSpc>
                <a:spcPct val="110008"/>
              </a:lnSpc>
              <a:spcBef>
                <a:spcPts val="0"/>
              </a:spcBef>
              <a:spcAft>
                <a:spcPts val="0"/>
              </a:spcAft>
              <a:buNone/>
            </a:pPr>
            <a:r>
              <a:rPr b="0" i="0" lang="en-US" sz="6015" u="none" cap="none" strike="noStrike">
                <a:solidFill>
                  <a:srgbClr val="29303C"/>
                </a:solidFill>
                <a:latin typeface="Hammersmith One"/>
                <a:ea typeface="Hammersmith One"/>
                <a:cs typeface="Hammersmith One"/>
                <a:sym typeface="Hammersmith One"/>
              </a:rPr>
              <a:t>MICROSOFT AZURE</a:t>
            </a:r>
            <a:endParaRPr/>
          </a:p>
        </p:txBody>
      </p:sp>
      <p:sp>
        <p:nvSpPr>
          <p:cNvPr id="262" name="Google Shape;262;p12"/>
          <p:cNvSpPr txBox="1"/>
          <p:nvPr/>
        </p:nvSpPr>
        <p:spPr>
          <a:xfrm>
            <a:off x="7737848" y="3297172"/>
            <a:ext cx="9514409" cy="4564695"/>
          </a:xfrm>
          <a:prstGeom prst="rect">
            <a:avLst/>
          </a:prstGeom>
          <a:noFill/>
          <a:ln>
            <a:noFill/>
          </a:ln>
        </p:spPr>
        <p:txBody>
          <a:bodyPr anchorCtr="0" anchor="t" bIns="0" lIns="0" spcFirstLastPara="1" rIns="0" wrap="square" tIns="0">
            <a:spAutoFit/>
          </a:bodyPr>
          <a:lstStyle/>
          <a:p>
            <a:pPr indent="-304982" lvl="1" marL="609967" marR="0" rtl="0" algn="l">
              <a:lnSpc>
                <a:spcPct val="129982"/>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Azure es una plataforma de servicios en la nube ofrecida por Microsoft. </a:t>
            </a:r>
            <a:endParaRPr/>
          </a:p>
          <a:p>
            <a:pPr indent="0" lvl="0" marL="0" marR="0" rtl="0" algn="l">
              <a:lnSpc>
                <a:spcPct val="129982"/>
              </a:lnSpc>
              <a:spcBef>
                <a:spcPts val="0"/>
              </a:spcBef>
              <a:spcAft>
                <a:spcPts val="0"/>
              </a:spcAft>
              <a:buNone/>
            </a:pPr>
            <a:r>
              <a:t/>
            </a:r>
            <a:endParaRPr b="0" i="0" sz="2825" u="none" cap="none" strike="noStrike">
              <a:solidFill>
                <a:srgbClr val="29303C"/>
              </a:solidFill>
              <a:latin typeface="Arial"/>
              <a:ea typeface="Arial"/>
              <a:cs typeface="Arial"/>
              <a:sym typeface="Arial"/>
            </a:endParaRPr>
          </a:p>
          <a:p>
            <a:pPr indent="-304982" lvl="1" marL="609967" marR="0" rtl="0" algn="l">
              <a:lnSpc>
                <a:spcPct val="129982"/>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Este proveedor pone a nuestra disposición una amplia gama de servicios y recursos informáticos.</a:t>
            </a:r>
            <a:endParaRPr/>
          </a:p>
          <a:p>
            <a:pPr indent="0" lvl="0" marL="0" marR="0" rtl="0" algn="l">
              <a:lnSpc>
                <a:spcPct val="129982"/>
              </a:lnSpc>
              <a:spcBef>
                <a:spcPts val="0"/>
              </a:spcBef>
              <a:spcAft>
                <a:spcPts val="0"/>
              </a:spcAft>
              <a:buNone/>
            </a:pPr>
            <a:r>
              <a:t/>
            </a:r>
            <a:endParaRPr b="0" i="0" sz="2825" u="none" cap="none" strike="noStrike">
              <a:solidFill>
                <a:srgbClr val="29303C"/>
              </a:solidFill>
              <a:latin typeface="Arial"/>
              <a:ea typeface="Arial"/>
              <a:cs typeface="Arial"/>
              <a:sym typeface="Arial"/>
            </a:endParaRPr>
          </a:p>
          <a:p>
            <a:pPr indent="-304982" lvl="1" marL="609967" marR="0" rtl="0" algn="l">
              <a:lnSpc>
                <a:spcPct val="129982"/>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Le permite a las organizaciones desarrollar, implementar y administrar sus aplicaciones y servicios por medio de la infraestructura de Microsoft y centros de datos distribuidos en todo el mundo.</a:t>
            </a:r>
            <a:endParaRPr/>
          </a:p>
        </p:txBody>
      </p:sp>
      <p:sp>
        <p:nvSpPr>
          <p:cNvPr id="263" name="Google Shape;263;p12"/>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4">
              <a:alphaModFix/>
            </a:blip>
            <a:stretch>
              <a:fillRect b="0" l="0" r="0" t="0"/>
            </a:stretch>
          </a:blipFill>
          <a:ln>
            <a:noFill/>
          </a:ln>
        </p:spPr>
      </p:sp>
      <p:sp>
        <p:nvSpPr>
          <p:cNvPr id="264" name="Google Shape;264;p12"/>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5">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3"/>
          <p:cNvSpPr/>
          <p:nvPr/>
        </p:nvSpPr>
        <p:spPr>
          <a:xfrm>
            <a:off x="578775" y="1483613"/>
            <a:ext cx="16680525" cy="7944100"/>
          </a:xfrm>
          <a:custGeom>
            <a:rect b="b" l="l" r="r" t="t"/>
            <a:pathLst>
              <a:path extrusionOk="0" h="7944100" w="16680525">
                <a:moveTo>
                  <a:pt x="0" y="0"/>
                </a:moveTo>
                <a:lnTo>
                  <a:pt x="16680525" y="0"/>
                </a:lnTo>
                <a:lnTo>
                  <a:pt x="16680525" y="7944100"/>
                </a:lnTo>
                <a:lnTo>
                  <a:pt x="0" y="7944100"/>
                </a:lnTo>
                <a:lnTo>
                  <a:pt x="0" y="0"/>
                </a:lnTo>
                <a:close/>
              </a:path>
            </a:pathLst>
          </a:custGeom>
          <a:blipFill rotWithShape="1">
            <a:blip r:embed="rId3">
              <a:alphaModFix/>
            </a:blip>
            <a:stretch>
              <a:fillRect b="0" l="0" r="0" t="0"/>
            </a:stretch>
          </a:blipFill>
          <a:ln>
            <a:noFill/>
          </a:ln>
        </p:spPr>
      </p:sp>
      <p:sp>
        <p:nvSpPr>
          <p:cNvPr id="270" name="Google Shape;270;p13"/>
          <p:cNvSpPr txBox="1"/>
          <p:nvPr/>
        </p:nvSpPr>
        <p:spPr>
          <a:xfrm>
            <a:off x="5159339" y="630937"/>
            <a:ext cx="7969322" cy="852675"/>
          </a:xfrm>
          <a:prstGeom prst="rect">
            <a:avLst/>
          </a:prstGeom>
          <a:noFill/>
          <a:ln>
            <a:noFill/>
          </a:ln>
        </p:spPr>
        <p:txBody>
          <a:bodyPr anchorCtr="0" anchor="t" bIns="0" lIns="0" spcFirstLastPara="1" rIns="0" wrap="square" tIns="0">
            <a:spAutoFit/>
          </a:bodyPr>
          <a:lstStyle/>
          <a:p>
            <a:pPr indent="0" lvl="0" marL="0" marR="0" rtl="0" algn="l">
              <a:lnSpc>
                <a:spcPct val="110008"/>
              </a:lnSpc>
              <a:spcBef>
                <a:spcPts val="0"/>
              </a:spcBef>
              <a:spcAft>
                <a:spcPts val="0"/>
              </a:spcAft>
              <a:buNone/>
            </a:pPr>
            <a:r>
              <a:rPr b="0" i="0" lang="en-US" sz="6015" u="none" cap="none" strike="noStrike">
                <a:solidFill>
                  <a:srgbClr val="29303C"/>
                </a:solidFill>
                <a:latin typeface="Hammersmith One"/>
                <a:ea typeface="Hammersmith One"/>
                <a:cs typeface="Hammersmith One"/>
                <a:sym typeface="Hammersmith One"/>
              </a:rPr>
              <a:t>SERVICIOS DE AZURE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4"/>
          <p:cNvSpPr/>
          <p:nvPr/>
        </p:nvSpPr>
        <p:spPr>
          <a:xfrm>
            <a:off x="1642191" y="3491487"/>
            <a:ext cx="5518208" cy="3304027"/>
          </a:xfrm>
          <a:custGeom>
            <a:rect b="b" l="l" r="r" t="t"/>
            <a:pathLst>
              <a:path extrusionOk="0" h="3304027" w="5518208">
                <a:moveTo>
                  <a:pt x="0" y="0"/>
                </a:moveTo>
                <a:lnTo>
                  <a:pt x="5518208" y="0"/>
                </a:lnTo>
                <a:lnTo>
                  <a:pt x="5518208" y="3304026"/>
                </a:lnTo>
                <a:lnTo>
                  <a:pt x="0" y="3304026"/>
                </a:lnTo>
                <a:lnTo>
                  <a:pt x="0" y="0"/>
                </a:lnTo>
                <a:close/>
              </a:path>
            </a:pathLst>
          </a:custGeom>
          <a:blipFill rotWithShape="1">
            <a:blip r:embed="rId3">
              <a:alphaModFix/>
            </a:blip>
            <a:stretch>
              <a:fillRect b="0" l="0" r="0" t="0"/>
            </a:stretch>
          </a:blipFill>
          <a:ln>
            <a:noFill/>
          </a:ln>
        </p:spPr>
      </p:sp>
      <p:sp>
        <p:nvSpPr>
          <p:cNvPr id="276" name="Google Shape;276;p14"/>
          <p:cNvSpPr txBox="1"/>
          <p:nvPr/>
        </p:nvSpPr>
        <p:spPr>
          <a:xfrm>
            <a:off x="8249029" y="2005801"/>
            <a:ext cx="8492048" cy="857453"/>
          </a:xfrm>
          <a:prstGeom prst="rect">
            <a:avLst/>
          </a:prstGeom>
          <a:noFill/>
          <a:ln>
            <a:noFill/>
          </a:ln>
        </p:spPr>
        <p:txBody>
          <a:bodyPr anchorCtr="0" anchor="t" bIns="0" lIns="0" spcFirstLastPara="1" rIns="0" wrap="square" tIns="0">
            <a:spAutoFit/>
          </a:bodyPr>
          <a:lstStyle/>
          <a:p>
            <a:pPr indent="0" lvl="0" marL="0" marR="0" rtl="0" algn="l">
              <a:lnSpc>
                <a:spcPct val="110008"/>
              </a:lnSpc>
              <a:spcBef>
                <a:spcPts val="0"/>
              </a:spcBef>
              <a:spcAft>
                <a:spcPts val="0"/>
              </a:spcAft>
              <a:buNone/>
            </a:pPr>
            <a:r>
              <a:rPr b="0" i="0" lang="en-US" sz="6015" u="none" cap="none" strike="noStrike">
                <a:solidFill>
                  <a:srgbClr val="29303C"/>
                </a:solidFill>
                <a:latin typeface="Hammersmith One"/>
                <a:ea typeface="Hammersmith One"/>
                <a:cs typeface="Hammersmith One"/>
                <a:sym typeface="Hammersmith One"/>
              </a:rPr>
              <a:t>AMAZON WEB SERVICES</a:t>
            </a:r>
            <a:endParaRPr/>
          </a:p>
        </p:txBody>
      </p:sp>
      <p:sp>
        <p:nvSpPr>
          <p:cNvPr id="277" name="Google Shape;277;p14"/>
          <p:cNvSpPr txBox="1"/>
          <p:nvPr/>
        </p:nvSpPr>
        <p:spPr>
          <a:xfrm>
            <a:off x="7737848" y="2944747"/>
            <a:ext cx="9514500" cy="6087000"/>
          </a:xfrm>
          <a:prstGeom prst="rect">
            <a:avLst/>
          </a:prstGeom>
          <a:noFill/>
          <a:ln>
            <a:noFill/>
          </a:ln>
        </p:spPr>
        <p:txBody>
          <a:bodyPr anchorCtr="0" anchor="t" bIns="0" lIns="0" spcFirstLastPara="1" rIns="0" wrap="square" tIns="0">
            <a:spAutoFit/>
          </a:bodyPr>
          <a:lstStyle/>
          <a:p>
            <a:pPr indent="-304982" lvl="1" marL="609967" marR="0" rtl="0" algn="l">
              <a:lnSpc>
                <a:spcPct val="129982"/>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Amazon Web Services (AWS) es una plataforma de servicios ofrecida por Amazon. </a:t>
            </a:r>
            <a:endParaRPr/>
          </a:p>
          <a:p>
            <a:pPr indent="0" lvl="0" marL="0" marR="0" rtl="0" algn="l">
              <a:lnSpc>
                <a:spcPct val="129982"/>
              </a:lnSpc>
              <a:spcBef>
                <a:spcPts val="0"/>
              </a:spcBef>
              <a:spcAft>
                <a:spcPts val="0"/>
              </a:spcAft>
              <a:buNone/>
            </a:pPr>
            <a:r>
              <a:t/>
            </a:r>
            <a:endParaRPr b="0" i="0" sz="2825" u="none" cap="none" strike="noStrike">
              <a:solidFill>
                <a:srgbClr val="29303C"/>
              </a:solidFill>
              <a:latin typeface="Arial"/>
              <a:ea typeface="Arial"/>
              <a:cs typeface="Arial"/>
              <a:sym typeface="Arial"/>
            </a:endParaRPr>
          </a:p>
          <a:p>
            <a:pPr indent="-304982" lvl="1" marL="609967" marR="0" rtl="0" algn="l">
              <a:lnSpc>
                <a:spcPct val="129982"/>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Es uno de los proveedores de computación en la nube más grandes y ampliamente utilizados del mundo.</a:t>
            </a:r>
            <a:endParaRPr/>
          </a:p>
          <a:p>
            <a:pPr indent="0" lvl="0" marL="0" marR="0" rtl="0" algn="l">
              <a:lnSpc>
                <a:spcPct val="129982"/>
              </a:lnSpc>
              <a:spcBef>
                <a:spcPts val="0"/>
              </a:spcBef>
              <a:spcAft>
                <a:spcPts val="0"/>
              </a:spcAft>
              <a:buNone/>
            </a:pPr>
            <a:r>
              <a:t/>
            </a:r>
            <a:endParaRPr b="0" i="0" sz="2825" u="none" cap="none" strike="noStrike">
              <a:solidFill>
                <a:srgbClr val="29303C"/>
              </a:solidFill>
              <a:latin typeface="Arial"/>
              <a:ea typeface="Arial"/>
              <a:cs typeface="Arial"/>
              <a:sym typeface="Arial"/>
            </a:endParaRPr>
          </a:p>
          <a:p>
            <a:pPr indent="-304982" lvl="1" marL="609967" marR="0" rtl="0" algn="l">
              <a:lnSpc>
                <a:spcPct val="129982"/>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Nos ofrece más de 200 servicios integrales de centros de datos a nivel mundial. </a:t>
            </a:r>
            <a:endParaRPr/>
          </a:p>
          <a:p>
            <a:pPr indent="0" lvl="0" marL="0" marR="0" rtl="0" algn="l">
              <a:lnSpc>
                <a:spcPct val="129982"/>
              </a:lnSpc>
              <a:spcBef>
                <a:spcPts val="0"/>
              </a:spcBef>
              <a:spcAft>
                <a:spcPts val="0"/>
              </a:spcAft>
              <a:buNone/>
            </a:pPr>
            <a:r>
              <a:t/>
            </a:r>
            <a:endParaRPr b="0" i="0" sz="2825" u="none" cap="none" strike="noStrike">
              <a:solidFill>
                <a:srgbClr val="29303C"/>
              </a:solidFill>
              <a:latin typeface="Arial"/>
              <a:ea typeface="Arial"/>
              <a:cs typeface="Arial"/>
              <a:sym typeface="Arial"/>
            </a:endParaRPr>
          </a:p>
          <a:p>
            <a:pPr indent="-304982" lvl="1" marL="609967" marR="0" rtl="0" algn="l">
              <a:lnSpc>
                <a:spcPct val="129982"/>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Es utilizado por las compañías más grandes y organismos gubernamentales líderes.</a:t>
            </a:r>
            <a:endParaRPr/>
          </a:p>
        </p:txBody>
      </p:sp>
      <p:sp>
        <p:nvSpPr>
          <p:cNvPr id="278" name="Google Shape;278;p14"/>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4">
              <a:alphaModFix/>
            </a:blip>
            <a:stretch>
              <a:fillRect b="0" l="0" r="0" t="0"/>
            </a:stretch>
          </a:blipFill>
          <a:ln>
            <a:noFill/>
          </a:ln>
        </p:spPr>
      </p:sp>
      <p:sp>
        <p:nvSpPr>
          <p:cNvPr id="279" name="Google Shape;279;p14"/>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5">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5"/>
          <p:cNvSpPr/>
          <p:nvPr/>
        </p:nvSpPr>
        <p:spPr>
          <a:xfrm flipH="1" rot="-5252869">
            <a:off x="7166333" y="2041017"/>
            <a:ext cx="3138698" cy="18364721"/>
          </a:xfrm>
          <a:custGeom>
            <a:rect b="b" l="l" r="r" t="t"/>
            <a:pathLst>
              <a:path extrusionOk="0" h="18364721" w="3138698">
                <a:moveTo>
                  <a:pt x="3138698" y="0"/>
                </a:moveTo>
                <a:lnTo>
                  <a:pt x="0" y="0"/>
                </a:lnTo>
                <a:lnTo>
                  <a:pt x="0" y="18364721"/>
                </a:lnTo>
                <a:lnTo>
                  <a:pt x="3138698" y="18364721"/>
                </a:lnTo>
                <a:lnTo>
                  <a:pt x="3138698" y="0"/>
                </a:lnTo>
                <a:close/>
              </a:path>
            </a:pathLst>
          </a:custGeom>
          <a:blipFill rotWithShape="1">
            <a:blip r:embed="rId3">
              <a:alphaModFix/>
            </a:blip>
            <a:stretch>
              <a:fillRect b="0" l="0" r="0" t="0"/>
            </a:stretch>
          </a:blipFill>
          <a:ln>
            <a:noFill/>
          </a:ln>
        </p:spPr>
      </p:sp>
      <p:sp>
        <p:nvSpPr>
          <p:cNvPr id="285" name="Google Shape;285;p15"/>
          <p:cNvSpPr/>
          <p:nvPr/>
        </p:nvSpPr>
        <p:spPr>
          <a:xfrm flipH="1" rot="-5252869">
            <a:off x="7357019" y="2212036"/>
            <a:ext cx="3138698" cy="18364721"/>
          </a:xfrm>
          <a:custGeom>
            <a:rect b="b" l="l" r="r" t="t"/>
            <a:pathLst>
              <a:path extrusionOk="0" h="18364721" w="3138698">
                <a:moveTo>
                  <a:pt x="3138698" y="0"/>
                </a:moveTo>
                <a:lnTo>
                  <a:pt x="0" y="0"/>
                </a:lnTo>
                <a:lnTo>
                  <a:pt x="0" y="18364721"/>
                </a:lnTo>
                <a:lnTo>
                  <a:pt x="3138698" y="18364721"/>
                </a:lnTo>
                <a:lnTo>
                  <a:pt x="3138698" y="0"/>
                </a:lnTo>
                <a:close/>
              </a:path>
            </a:pathLst>
          </a:custGeom>
          <a:blipFill rotWithShape="1">
            <a:blip r:embed="rId4">
              <a:alphaModFix/>
            </a:blip>
            <a:stretch>
              <a:fillRect b="0" l="0" r="0" t="0"/>
            </a:stretch>
          </a:blipFill>
          <a:ln>
            <a:noFill/>
          </a:ln>
        </p:spPr>
      </p:sp>
      <p:sp>
        <p:nvSpPr>
          <p:cNvPr id="286" name="Google Shape;286;p15"/>
          <p:cNvSpPr/>
          <p:nvPr/>
        </p:nvSpPr>
        <p:spPr>
          <a:xfrm>
            <a:off x="11512698" y="2583673"/>
            <a:ext cx="5746602" cy="5938155"/>
          </a:xfrm>
          <a:custGeom>
            <a:rect b="b" l="l" r="r" t="t"/>
            <a:pathLst>
              <a:path extrusionOk="0" h="5938155" w="5746602">
                <a:moveTo>
                  <a:pt x="0" y="0"/>
                </a:moveTo>
                <a:lnTo>
                  <a:pt x="5746602" y="0"/>
                </a:lnTo>
                <a:lnTo>
                  <a:pt x="5746602" y="5938155"/>
                </a:lnTo>
                <a:lnTo>
                  <a:pt x="0" y="5938155"/>
                </a:lnTo>
                <a:lnTo>
                  <a:pt x="0" y="0"/>
                </a:lnTo>
                <a:close/>
              </a:path>
            </a:pathLst>
          </a:custGeom>
          <a:blipFill rotWithShape="1">
            <a:blip r:embed="rId5">
              <a:alphaModFix/>
            </a:blip>
            <a:stretch>
              <a:fillRect b="0" l="0" r="0" t="0"/>
            </a:stretch>
          </a:blipFill>
          <a:ln>
            <a:noFill/>
          </a:ln>
        </p:spPr>
      </p:sp>
      <p:sp>
        <p:nvSpPr>
          <p:cNvPr id="287" name="Google Shape;287;p15"/>
          <p:cNvSpPr txBox="1"/>
          <p:nvPr/>
        </p:nvSpPr>
        <p:spPr>
          <a:xfrm>
            <a:off x="669960" y="1085850"/>
            <a:ext cx="16948080" cy="857453"/>
          </a:xfrm>
          <a:prstGeom prst="rect">
            <a:avLst/>
          </a:prstGeom>
          <a:noFill/>
          <a:ln>
            <a:noFill/>
          </a:ln>
        </p:spPr>
        <p:txBody>
          <a:bodyPr anchorCtr="0" anchor="t" bIns="0" lIns="0" spcFirstLastPara="1" rIns="0" wrap="square" tIns="0">
            <a:spAutoFit/>
          </a:bodyPr>
          <a:lstStyle/>
          <a:p>
            <a:pPr indent="0" lvl="0" marL="0" marR="0" rtl="0" algn="just">
              <a:lnSpc>
                <a:spcPct val="110008"/>
              </a:lnSpc>
              <a:spcBef>
                <a:spcPts val="0"/>
              </a:spcBef>
              <a:spcAft>
                <a:spcPts val="0"/>
              </a:spcAft>
              <a:buNone/>
            </a:pPr>
            <a:r>
              <a:rPr b="0" i="0" lang="en-US" sz="6015" u="none" cap="none" strike="noStrike">
                <a:solidFill>
                  <a:srgbClr val="29303C"/>
                </a:solidFill>
                <a:latin typeface="Hammersmith One"/>
                <a:ea typeface="Hammersmith One"/>
                <a:cs typeface="Hammersmith One"/>
                <a:sym typeface="Hammersmith One"/>
              </a:rPr>
              <a:t>REGIONES Y ZONAS DE DISPONIBILIDAD DE AWS</a:t>
            </a:r>
            <a:endParaRPr/>
          </a:p>
        </p:txBody>
      </p:sp>
      <p:sp>
        <p:nvSpPr>
          <p:cNvPr id="288" name="Google Shape;288;p15"/>
          <p:cNvSpPr txBox="1"/>
          <p:nvPr/>
        </p:nvSpPr>
        <p:spPr>
          <a:xfrm>
            <a:off x="669960" y="2545573"/>
            <a:ext cx="9781622" cy="5614589"/>
          </a:xfrm>
          <a:prstGeom prst="rect">
            <a:avLst/>
          </a:prstGeom>
          <a:noFill/>
          <a:ln>
            <a:noFill/>
          </a:ln>
        </p:spPr>
        <p:txBody>
          <a:bodyPr anchorCtr="0" anchor="t" bIns="0" lIns="0" spcFirstLastPara="1" rIns="0" wrap="square" tIns="0">
            <a:spAutoFit/>
          </a:bodyPr>
          <a:lstStyle/>
          <a:p>
            <a:pPr indent="-367721" lvl="1" marL="735442" marR="0" rtl="0" algn="l">
              <a:lnSpc>
                <a:spcPct val="130005"/>
              </a:lnSpc>
              <a:spcBef>
                <a:spcPts val="0"/>
              </a:spcBef>
              <a:spcAft>
                <a:spcPts val="0"/>
              </a:spcAft>
              <a:buClr>
                <a:srgbClr val="29303C"/>
              </a:buClr>
              <a:buSzPts val="3406"/>
              <a:buFont typeface="Arial"/>
              <a:buChar char="•"/>
            </a:pPr>
            <a:r>
              <a:rPr b="1" i="0" lang="en-US" sz="3406" u="none" cap="none" strike="noStrike">
                <a:solidFill>
                  <a:srgbClr val="29303C"/>
                </a:solidFill>
                <a:latin typeface="Arial"/>
                <a:ea typeface="Arial"/>
                <a:cs typeface="Arial"/>
                <a:sym typeface="Arial"/>
              </a:rPr>
              <a:t>Una región</a:t>
            </a:r>
            <a:r>
              <a:rPr b="0" i="0" lang="en-US" sz="3406" u="none" cap="none" strike="noStrike">
                <a:solidFill>
                  <a:srgbClr val="29303C"/>
                </a:solidFill>
                <a:latin typeface="Arial"/>
                <a:ea typeface="Arial"/>
                <a:cs typeface="Arial"/>
                <a:sym typeface="Arial"/>
              </a:rPr>
              <a:t> es un grupo de centros de datos  y la mayoría de los servicios de AWS son de ámbito regional</a:t>
            </a:r>
            <a:endParaRPr/>
          </a:p>
          <a:p>
            <a:pPr indent="-367721" lvl="1" marL="735442" marR="0" rtl="0" algn="l">
              <a:lnSpc>
                <a:spcPct val="130005"/>
              </a:lnSpc>
              <a:spcBef>
                <a:spcPts val="0"/>
              </a:spcBef>
              <a:spcAft>
                <a:spcPts val="0"/>
              </a:spcAft>
              <a:buClr>
                <a:srgbClr val="29303C"/>
              </a:buClr>
              <a:buSzPts val="3406"/>
              <a:buFont typeface="Arial"/>
              <a:buChar char="•"/>
            </a:pPr>
            <a:r>
              <a:rPr b="1" i="0" lang="en-US" sz="3406" u="none" cap="none" strike="noStrike">
                <a:solidFill>
                  <a:srgbClr val="29303C"/>
                </a:solidFill>
                <a:latin typeface="Arial"/>
                <a:ea typeface="Arial"/>
                <a:cs typeface="Arial"/>
                <a:sym typeface="Arial"/>
              </a:rPr>
              <a:t>Cada región </a:t>
            </a:r>
            <a:r>
              <a:rPr b="0" i="0" lang="en-US" sz="3406" u="none" cap="none" strike="noStrike">
                <a:solidFill>
                  <a:srgbClr val="29303C"/>
                </a:solidFill>
                <a:latin typeface="Arial"/>
                <a:ea typeface="Arial"/>
                <a:cs typeface="Arial"/>
                <a:sym typeface="Arial"/>
              </a:rPr>
              <a:t>tiene muchas zonas de disponibilidad [ZA]</a:t>
            </a:r>
            <a:endParaRPr/>
          </a:p>
          <a:p>
            <a:pPr indent="-367721" lvl="1" marL="735442" marR="0" rtl="0" algn="l">
              <a:lnSpc>
                <a:spcPct val="130005"/>
              </a:lnSpc>
              <a:spcBef>
                <a:spcPts val="0"/>
              </a:spcBef>
              <a:spcAft>
                <a:spcPts val="0"/>
              </a:spcAft>
              <a:buClr>
                <a:srgbClr val="29303C"/>
              </a:buClr>
              <a:buSzPts val="3406"/>
              <a:buFont typeface="Arial"/>
              <a:buChar char="•"/>
            </a:pPr>
            <a:r>
              <a:rPr b="1" i="0" lang="en-US" sz="3406" u="none" cap="none" strike="noStrike">
                <a:solidFill>
                  <a:srgbClr val="29303C"/>
                </a:solidFill>
                <a:latin typeface="Arial"/>
                <a:ea typeface="Arial"/>
                <a:cs typeface="Arial"/>
                <a:sym typeface="Arial"/>
              </a:rPr>
              <a:t>Cada ZA </a:t>
            </a:r>
            <a:r>
              <a:rPr b="0" i="0" lang="en-US" sz="3406" u="none" cap="none" strike="noStrike">
                <a:solidFill>
                  <a:srgbClr val="29303C"/>
                </a:solidFill>
                <a:latin typeface="Arial"/>
                <a:ea typeface="Arial"/>
                <a:cs typeface="Arial"/>
                <a:sym typeface="Arial"/>
              </a:rPr>
              <a:t>está aislada y es uno o varios centros de datos discretos con alimentación, red y conectividad redundantes</a:t>
            </a:r>
            <a:endParaRPr/>
          </a:p>
          <a:p>
            <a:pPr indent="-367721" lvl="1" marL="735442" marR="0" rtl="0" algn="l">
              <a:lnSpc>
                <a:spcPct val="130005"/>
              </a:lnSpc>
              <a:spcBef>
                <a:spcPts val="0"/>
              </a:spcBef>
              <a:spcAft>
                <a:spcPts val="0"/>
              </a:spcAft>
              <a:buClr>
                <a:srgbClr val="29303C"/>
              </a:buClr>
              <a:buSzPts val="3406"/>
              <a:buFont typeface="Arial"/>
              <a:buChar char="•"/>
            </a:pPr>
            <a:r>
              <a:rPr b="0" i="0" lang="en-US" sz="3406" u="none" cap="none" strike="noStrike">
                <a:solidFill>
                  <a:srgbClr val="29303C"/>
                </a:solidFill>
                <a:latin typeface="Arial"/>
                <a:ea typeface="Arial"/>
                <a:cs typeface="Arial"/>
                <a:sym typeface="Arial"/>
              </a:rPr>
              <a:t>Sabiendo esto, </a:t>
            </a:r>
            <a:r>
              <a:rPr b="1" i="0" lang="en-US" sz="3406" u="none" cap="none" strike="noStrike">
                <a:solidFill>
                  <a:srgbClr val="29303C"/>
                </a:solidFill>
                <a:latin typeface="Arial"/>
                <a:ea typeface="Arial"/>
                <a:cs typeface="Arial"/>
                <a:sym typeface="Arial"/>
              </a:rPr>
              <a:t>los servicios pueden ser regionales o globales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6"/>
          <p:cNvSpPr/>
          <p:nvPr/>
        </p:nvSpPr>
        <p:spPr>
          <a:xfrm>
            <a:off x="3242469" y="6130362"/>
            <a:ext cx="11945060" cy="3731756"/>
          </a:xfrm>
          <a:custGeom>
            <a:rect b="b" l="l" r="r" t="t"/>
            <a:pathLst>
              <a:path extrusionOk="0" h="3731756" w="11945060">
                <a:moveTo>
                  <a:pt x="0" y="0"/>
                </a:moveTo>
                <a:lnTo>
                  <a:pt x="11945061" y="0"/>
                </a:lnTo>
                <a:lnTo>
                  <a:pt x="11945061" y="3731756"/>
                </a:lnTo>
                <a:lnTo>
                  <a:pt x="0" y="3731756"/>
                </a:lnTo>
                <a:lnTo>
                  <a:pt x="0" y="0"/>
                </a:lnTo>
                <a:close/>
              </a:path>
            </a:pathLst>
          </a:custGeom>
          <a:blipFill rotWithShape="1">
            <a:blip r:embed="rId3">
              <a:alphaModFix/>
            </a:blip>
            <a:stretch>
              <a:fillRect b="-1812" l="0" r="0" t="-1813"/>
            </a:stretch>
          </a:blipFill>
          <a:ln>
            <a:noFill/>
          </a:ln>
        </p:spPr>
      </p:sp>
      <p:sp>
        <p:nvSpPr>
          <p:cNvPr id="294" name="Google Shape;294;p16"/>
          <p:cNvSpPr txBox="1"/>
          <p:nvPr/>
        </p:nvSpPr>
        <p:spPr>
          <a:xfrm>
            <a:off x="789977" y="344150"/>
            <a:ext cx="8049600" cy="1077300"/>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None/>
            </a:pPr>
            <a:r>
              <a:rPr b="0" i="0" lang="en-US" sz="6999" u="none" cap="none" strike="noStrike">
                <a:solidFill>
                  <a:srgbClr val="29303C"/>
                </a:solidFill>
                <a:latin typeface="Arial"/>
                <a:ea typeface="Arial"/>
                <a:cs typeface="Arial"/>
                <a:sym typeface="Arial"/>
              </a:rPr>
              <a:t>FACTURACIÓN</a:t>
            </a:r>
            <a:endParaRPr/>
          </a:p>
        </p:txBody>
      </p:sp>
      <p:sp>
        <p:nvSpPr>
          <p:cNvPr id="295" name="Google Shape;295;p16"/>
          <p:cNvSpPr txBox="1"/>
          <p:nvPr/>
        </p:nvSpPr>
        <p:spPr>
          <a:xfrm>
            <a:off x="789970" y="1528280"/>
            <a:ext cx="16850100" cy="22341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2199" u="none" cap="none" strike="noStrike">
                <a:solidFill>
                  <a:srgbClr val="29303C"/>
                </a:solidFill>
                <a:latin typeface="Arial"/>
                <a:ea typeface="Arial"/>
                <a:cs typeface="Arial"/>
                <a:sym typeface="Arial"/>
              </a:rPr>
              <a:t>La página “Facturas” mostrará los cargos estimados más recientes según los servicios medidos hasta la fecha,  nos brinda dará una visión mensual de los costos facturables para los periodos de facturación mensual que aún no se hayan cerrado.</a:t>
            </a:r>
            <a:endParaRPr/>
          </a:p>
          <a:p>
            <a:pPr indent="0" lvl="0" marL="0" marR="0" rtl="0" algn="l">
              <a:lnSpc>
                <a:spcPct val="140018"/>
              </a:lnSpc>
              <a:spcBef>
                <a:spcPts val="0"/>
              </a:spcBef>
              <a:spcAft>
                <a:spcPts val="0"/>
              </a:spcAft>
              <a:buNone/>
            </a:pPr>
            <a:r>
              <a:t/>
            </a:r>
            <a:endParaRPr b="0" i="0" sz="2199" u="none" cap="none" strike="noStrike">
              <a:solidFill>
                <a:srgbClr val="29303C"/>
              </a:solidFill>
              <a:latin typeface="Arial"/>
              <a:ea typeface="Arial"/>
              <a:cs typeface="Arial"/>
              <a:sym typeface="Arial"/>
            </a:endParaRPr>
          </a:p>
          <a:p>
            <a:pPr indent="0" lvl="0" marL="0" marR="0" rtl="0" algn="l">
              <a:lnSpc>
                <a:spcPct val="140018"/>
              </a:lnSpc>
              <a:spcBef>
                <a:spcPts val="0"/>
              </a:spcBef>
              <a:spcAft>
                <a:spcPts val="0"/>
              </a:spcAft>
              <a:buNone/>
            </a:pPr>
            <a:r>
              <a:rPr b="0" i="0" lang="en-US" sz="2199" u="none" cap="none" strike="noStrike">
                <a:solidFill>
                  <a:srgbClr val="29303C"/>
                </a:solidFill>
                <a:latin typeface="Arial"/>
                <a:ea typeface="Arial"/>
                <a:cs typeface="Arial"/>
                <a:sym typeface="Arial"/>
              </a:rPr>
              <a:t>Las facturas son generadas al completar el ciclo de facturación mensual o al completar una compra única o suscripción.</a:t>
            </a:r>
            <a:endParaRPr/>
          </a:p>
          <a:p>
            <a:pPr indent="0" lvl="0" marL="0" marR="0" rtl="0" algn="l">
              <a:lnSpc>
                <a:spcPct val="140018"/>
              </a:lnSpc>
              <a:spcBef>
                <a:spcPts val="0"/>
              </a:spcBef>
              <a:spcAft>
                <a:spcPts val="0"/>
              </a:spcAft>
              <a:buNone/>
            </a:pPr>
            <a:r>
              <a:t/>
            </a:r>
            <a:endParaRPr b="0" i="0" sz="2199" u="none" cap="none" strike="noStrike">
              <a:solidFill>
                <a:srgbClr val="29303C"/>
              </a:solidFill>
              <a:latin typeface="Arial"/>
              <a:ea typeface="Arial"/>
              <a:cs typeface="Arial"/>
              <a:sym typeface="Arial"/>
            </a:endParaRPr>
          </a:p>
        </p:txBody>
      </p:sp>
      <p:sp>
        <p:nvSpPr>
          <p:cNvPr id="296" name="Google Shape;296;p16"/>
          <p:cNvSpPr txBox="1"/>
          <p:nvPr/>
        </p:nvSpPr>
        <p:spPr>
          <a:xfrm>
            <a:off x="647976" y="3510750"/>
            <a:ext cx="9269400" cy="1077300"/>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None/>
            </a:pPr>
            <a:r>
              <a:rPr b="0" i="0" lang="en-US" sz="6999" u="none" cap="none" strike="noStrike">
                <a:solidFill>
                  <a:srgbClr val="29303C"/>
                </a:solidFill>
                <a:latin typeface="Arial"/>
                <a:ea typeface="Arial"/>
                <a:cs typeface="Arial"/>
                <a:sym typeface="Arial"/>
              </a:rPr>
              <a:t>PRESUPUESTOS</a:t>
            </a:r>
            <a:endParaRPr/>
          </a:p>
        </p:txBody>
      </p:sp>
      <p:sp>
        <p:nvSpPr>
          <p:cNvPr id="297" name="Google Shape;297;p16"/>
          <p:cNvSpPr txBox="1"/>
          <p:nvPr/>
        </p:nvSpPr>
        <p:spPr>
          <a:xfrm>
            <a:off x="647971" y="4698200"/>
            <a:ext cx="16850059" cy="1153795"/>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1" i="0" lang="en-US" sz="2199" u="none" cap="none" strike="noStrike">
                <a:solidFill>
                  <a:srgbClr val="29303C"/>
                </a:solidFill>
                <a:latin typeface="Arial"/>
                <a:ea typeface="Arial"/>
                <a:cs typeface="Arial"/>
                <a:sym typeface="Arial"/>
              </a:rPr>
              <a:t>AWS Budgets </a:t>
            </a:r>
            <a:r>
              <a:rPr b="0" i="0" lang="en-US" sz="2199" u="none" cap="none" strike="noStrike">
                <a:solidFill>
                  <a:srgbClr val="29303C"/>
                </a:solidFill>
                <a:latin typeface="Arial"/>
                <a:ea typeface="Arial"/>
                <a:cs typeface="Arial"/>
                <a:sym typeface="Arial"/>
              </a:rPr>
              <a:t>nos ofrece la posibilidad de crear presupuestos personalizados o presupuestos predefinidos (plantillas) que nos alertan cuando los costos o el uso de nuestros servicios superan o se prevé que superarán el importe presupuestado, este tiene un límite gratuito de 62 días de presupuesto por mes (2 presupuestos que actúan de forma asimultánea).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7"/>
          <p:cNvSpPr txBox="1"/>
          <p:nvPr/>
        </p:nvSpPr>
        <p:spPr>
          <a:xfrm>
            <a:off x="6166085" y="2931687"/>
            <a:ext cx="5955830" cy="1120775"/>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None/>
            </a:pPr>
            <a:r>
              <a:rPr b="0" i="0" lang="en-US" sz="6999" u="none" cap="none" strike="noStrike">
                <a:solidFill>
                  <a:srgbClr val="29303C"/>
                </a:solidFill>
                <a:latin typeface="Hammersmith One"/>
                <a:ea typeface="Hammersmith One"/>
                <a:cs typeface="Hammersmith One"/>
                <a:sym typeface="Hammersmith One"/>
              </a:rPr>
              <a:t>PARTE PRÁTICA</a:t>
            </a:r>
            <a:endParaRPr/>
          </a:p>
        </p:txBody>
      </p:sp>
      <p:sp>
        <p:nvSpPr>
          <p:cNvPr id="303" name="Google Shape;303;p17"/>
          <p:cNvSpPr txBox="1"/>
          <p:nvPr/>
        </p:nvSpPr>
        <p:spPr>
          <a:xfrm>
            <a:off x="2162609" y="3978275"/>
            <a:ext cx="13962781" cy="2273300"/>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None/>
            </a:pPr>
            <a:r>
              <a:rPr b="0" i="0" lang="en-US" sz="6999" u="none" cap="none" strike="noStrike">
                <a:solidFill>
                  <a:srgbClr val="29303C"/>
                </a:solidFill>
                <a:latin typeface="Arial"/>
                <a:ea typeface="Arial"/>
                <a:cs typeface="Arial"/>
                <a:sym typeface="Arial"/>
              </a:rPr>
              <a:t>ENTORNO DE LOS PROVEEDORES Y CREACIÓN DE PRESUPUESTOS</a:t>
            </a:r>
            <a:endParaRPr/>
          </a:p>
        </p:txBody>
      </p:sp>
      <p:sp>
        <p:nvSpPr>
          <p:cNvPr id="304" name="Google Shape;304;p17"/>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3">
              <a:alphaModFix/>
            </a:blip>
            <a:stretch>
              <a:fillRect b="0" l="0" r="0" t="0"/>
            </a:stretch>
          </a:blipFill>
          <a:ln>
            <a:noFill/>
          </a:ln>
        </p:spPr>
      </p:sp>
      <p:sp>
        <p:nvSpPr>
          <p:cNvPr id="305" name="Google Shape;305;p17"/>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4">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8"/>
          <p:cNvSpPr/>
          <p:nvPr/>
        </p:nvSpPr>
        <p:spPr>
          <a:xfrm rot="5400000">
            <a:off x="1035086" y="1228236"/>
            <a:ext cx="689712" cy="702485"/>
          </a:xfrm>
          <a:custGeom>
            <a:rect b="b" l="l" r="r" t="t"/>
            <a:pathLst>
              <a:path extrusionOk="0" h="702485" w="689712">
                <a:moveTo>
                  <a:pt x="0" y="0"/>
                </a:moveTo>
                <a:lnTo>
                  <a:pt x="689713" y="0"/>
                </a:lnTo>
                <a:lnTo>
                  <a:pt x="689713" y="702485"/>
                </a:lnTo>
                <a:lnTo>
                  <a:pt x="0" y="702485"/>
                </a:lnTo>
                <a:lnTo>
                  <a:pt x="0" y="0"/>
                </a:lnTo>
                <a:close/>
              </a:path>
            </a:pathLst>
          </a:custGeom>
          <a:blipFill rotWithShape="1">
            <a:blip r:embed="rId3">
              <a:alphaModFix/>
            </a:blip>
            <a:stretch>
              <a:fillRect b="0" l="0" r="0" t="0"/>
            </a:stretch>
          </a:blipFill>
          <a:ln>
            <a:noFill/>
          </a:ln>
        </p:spPr>
      </p:sp>
      <p:sp>
        <p:nvSpPr>
          <p:cNvPr id="311" name="Google Shape;311;p18"/>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4">
              <a:alphaModFix/>
            </a:blip>
            <a:stretch>
              <a:fillRect b="0" l="0" r="0" t="0"/>
            </a:stretch>
          </a:blipFill>
          <a:ln>
            <a:noFill/>
          </a:ln>
        </p:spPr>
      </p:sp>
      <p:sp>
        <p:nvSpPr>
          <p:cNvPr id="312" name="Google Shape;312;p18"/>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5">
              <a:alphaModFix/>
            </a:blip>
            <a:stretch>
              <a:fillRect b="0" l="0" r="0" t="0"/>
            </a:stretch>
          </a:blipFill>
          <a:ln>
            <a:noFill/>
          </a:ln>
        </p:spPr>
      </p:sp>
      <p:sp>
        <p:nvSpPr>
          <p:cNvPr id="313" name="Google Shape;313;p18"/>
          <p:cNvSpPr txBox="1"/>
          <p:nvPr/>
        </p:nvSpPr>
        <p:spPr>
          <a:xfrm>
            <a:off x="3865129" y="1230119"/>
            <a:ext cx="10557741" cy="755869"/>
          </a:xfrm>
          <a:prstGeom prst="rect">
            <a:avLst/>
          </a:prstGeom>
          <a:noFill/>
          <a:ln>
            <a:noFill/>
          </a:ln>
        </p:spPr>
        <p:txBody>
          <a:bodyPr anchorCtr="0" anchor="t" bIns="0" lIns="0" spcFirstLastPara="1" rIns="0" wrap="square" tIns="0">
            <a:spAutoFit/>
          </a:bodyPr>
          <a:lstStyle/>
          <a:p>
            <a:pPr indent="0" lvl="0" marL="0" marR="0" rtl="0" algn="l">
              <a:lnSpc>
                <a:spcPct val="109998"/>
              </a:lnSpc>
              <a:spcBef>
                <a:spcPts val="0"/>
              </a:spcBef>
              <a:spcAft>
                <a:spcPts val="0"/>
              </a:spcAft>
              <a:buNone/>
            </a:pPr>
            <a:r>
              <a:rPr b="0" i="0" lang="en-US" sz="5361" u="none" cap="none" strike="noStrike">
                <a:solidFill>
                  <a:srgbClr val="29303C"/>
                </a:solidFill>
                <a:latin typeface="Hammersmith One"/>
                <a:ea typeface="Hammersmith One"/>
                <a:cs typeface="Hammersmith One"/>
                <a:sym typeface="Hammersmith One"/>
              </a:rPr>
              <a:t>CONCEPTOS CLAVES APRENDIDOS</a:t>
            </a:r>
            <a:endParaRPr/>
          </a:p>
        </p:txBody>
      </p:sp>
      <p:sp>
        <p:nvSpPr>
          <p:cNvPr id="314" name="Google Shape;314;p18"/>
          <p:cNvSpPr txBox="1"/>
          <p:nvPr/>
        </p:nvSpPr>
        <p:spPr>
          <a:xfrm>
            <a:off x="3865125" y="2134413"/>
            <a:ext cx="14183400" cy="61416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500" u="none" cap="none" strike="noStrike">
                <a:solidFill>
                  <a:srgbClr val="29303C"/>
                </a:solidFill>
                <a:latin typeface="Arial"/>
                <a:ea typeface="Arial"/>
                <a:cs typeface="Arial"/>
                <a:sym typeface="Arial"/>
              </a:rPr>
              <a:t>Concepto y beneficios de Cloud Computing</a:t>
            </a:r>
            <a:endParaRPr/>
          </a:p>
          <a:p>
            <a:pPr indent="0" lvl="0" marL="0" marR="0" rtl="0" algn="l">
              <a:lnSpc>
                <a:spcPct val="130000"/>
              </a:lnSpc>
              <a:spcBef>
                <a:spcPts val="0"/>
              </a:spcBef>
              <a:spcAft>
                <a:spcPts val="0"/>
              </a:spcAft>
              <a:buNone/>
            </a:pPr>
            <a:r>
              <a:t/>
            </a:r>
            <a:endParaRPr b="1" i="0" sz="35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None/>
            </a:pPr>
            <a:r>
              <a:rPr b="1" i="0" lang="en-US" sz="3500" u="none" cap="none" strike="noStrike">
                <a:solidFill>
                  <a:srgbClr val="29303C"/>
                </a:solidFill>
                <a:latin typeface="Arial"/>
                <a:ea typeface="Arial"/>
                <a:cs typeface="Arial"/>
                <a:sym typeface="Arial"/>
              </a:rPr>
              <a:t>Modelos de despliegue de la nube (pública, privada e híbrida)</a:t>
            </a:r>
            <a:endParaRPr/>
          </a:p>
          <a:p>
            <a:pPr indent="0" lvl="0" marL="0" marR="0" rtl="0" algn="l">
              <a:lnSpc>
                <a:spcPct val="130000"/>
              </a:lnSpc>
              <a:spcBef>
                <a:spcPts val="0"/>
              </a:spcBef>
              <a:spcAft>
                <a:spcPts val="0"/>
              </a:spcAft>
              <a:buNone/>
            </a:pPr>
            <a:r>
              <a:t/>
            </a:r>
            <a:endParaRPr b="1" i="0" sz="35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None/>
            </a:pPr>
            <a:r>
              <a:rPr b="1" i="0" lang="en-US" sz="3500" u="none" cap="none" strike="noStrike">
                <a:solidFill>
                  <a:srgbClr val="29303C"/>
                </a:solidFill>
                <a:latin typeface="Arial"/>
                <a:ea typeface="Arial"/>
                <a:cs typeface="Arial"/>
                <a:sym typeface="Arial"/>
              </a:rPr>
              <a:t>Modelos de servicio en Cloud Computing: IaaS, PaaS y SaaS</a:t>
            </a:r>
            <a:endParaRPr/>
          </a:p>
          <a:p>
            <a:pPr indent="0" lvl="0" marL="0" marR="0" rtl="0" algn="l">
              <a:lnSpc>
                <a:spcPct val="130000"/>
              </a:lnSpc>
              <a:spcBef>
                <a:spcPts val="0"/>
              </a:spcBef>
              <a:spcAft>
                <a:spcPts val="0"/>
              </a:spcAft>
              <a:buNone/>
            </a:pPr>
            <a:r>
              <a:t/>
            </a:r>
            <a:endParaRPr b="1" i="0" sz="35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None/>
            </a:pPr>
            <a:r>
              <a:rPr b="1" i="0" lang="en-US" sz="3500" u="none" cap="none" strike="noStrike">
                <a:solidFill>
                  <a:srgbClr val="29303C"/>
                </a:solidFill>
                <a:latin typeface="Arial"/>
                <a:ea typeface="Arial"/>
                <a:cs typeface="Arial"/>
                <a:sym typeface="Arial"/>
              </a:rPr>
              <a:t>Comparativa entre principales proveedores: AWS, Azure y GCP</a:t>
            </a:r>
            <a:endParaRPr/>
          </a:p>
          <a:p>
            <a:pPr indent="0" lvl="0" marL="0" marR="0" rtl="0" algn="l">
              <a:lnSpc>
                <a:spcPct val="130000"/>
              </a:lnSpc>
              <a:spcBef>
                <a:spcPts val="0"/>
              </a:spcBef>
              <a:spcAft>
                <a:spcPts val="0"/>
              </a:spcAft>
              <a:buNone/>
            </a:pPr>
            <a:r>
              <a:t/>
            </a:r>
            <a:endParaRPr b="1" i="0" sz="35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None/>
            </a:pPr>
            <a:r>
              <a:rPr b="1" i="0" lang="en-US" sz="3500" u="none" cap="none" strike="noStrike">
                <a:solidFill>
                  <a:srgbClr val="29303C"/>
                </a:solidFill>
                <a:latin typeface="Arial"/>
                <a:ea typeface="Arial"/>
                <a:cs typeface="Arial"/>
                <a:sym typeface="Arial"/>
              </a:rPr>
              <a:t>Facturación y control de presupuesto en servicios cloud</a:t>
            </a:r>
            <a:endParaRPr/>
          </a:p>
        </p:txBody>
      </p:sp>
      <p:grpSp>
        <p:nvGrpSpPr>
          <p:cNvPr id="315" name="Google Shape;315;p18"/>
          <p:cNvGrpSpPr/>
          <p:nvPr/>
        </p:nvGrpSpPr>
        <p:grpSpPr>
          <a:xfrm>
            <a:off x="2905062" y="1986000"/>
            <a:ext cx="731002" cy="760368"/>
            <a:chOff x="0" y="0"/>
            <a:chExt cx="974670" cy="1013824"/>
          </a:xfrm>
        </p:grpSpPr>
        <p:sp>
          <p:nvSpPr>
            <p:cNvPr id="316" name="Google Shape;316;p18"/>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8"/>
            <p:cNvSpPr txBox="1"/>
            <p:nvPr/>
          </p:nvSpPr>
          <p:spPr>
            <a:xfrm>
              <a:off x="194570" y="64529"/>
              <a:ext cx="585600" cy="805200"/>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29303C"/>
                  </a:solidFill>
                  <a:latin typeface="Arial"/>
                  <a:ea typeface="Arial"/>
                  <a:cs typeface="Arial"/>
                  <a:sym typeface="Arial"/>
                </a:rPr>
                <a:t>1</a:t>
              </a:r>
              <a:endParaRPr/>
            </a:p>
          </p:txBody>
        </p:sp>
      </p:grpSp>
      <p:grpSp>
        <p:nvGrpSpPr>
          <p:cNvPr id="318" name="Google Shape;318;p18"/>
          <p:cNvGrpSpPr/>
          <p:nvPr/>
        </p:nvGrpSpPr>
        <p:grpSpPr>
          <a:xfrm>
            <a:off x="2905062" y="3405516"/>
            <a:ext cx="731002" cy="760368"/>
            <a:chOff x="0" y="0"/>
            <a:chExt cx="974670" cy="1013824"/>
          </a:xfrm>
        </p:grpSpPr>
        <p:sp>
          <p:nvSpPr>
            <p:cNvPr id="319" name="Google Shape;319;p18"/>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8"/>
            <p:cNvSpPr txBox="1"/>
            <p:nvPr/>
          </p:nvSpPr>
          <p:spPr>
            <a:xfrm>
              <a:off x="194570" y="64529"/>
              <a:ext cx="585600" cy="805200"/>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29303C"/>
                  </a:solidFill>
                  <a:latin typeface="Arial"/>
                  <a:ea typeface="Arial"/>
                  <a:cs typeface="Arial"/>
                  <a:sym typeface="Arial"/>
                </a:rPr>
                <a:t>2</a:t>
              </a:r>
              <a:endParaRPr/>
            </a:p>
          </p:txBody>
        </p:sp>
      </p:grpSp>
      <p:grpSp>
        <p:nvGrpSpPr>
          <p:cNvPr id="321" name="Google Shape;321;p18"/>
          <p:cNvGrpSpPr/>
          <p:nvPr/>
        </p:nvGrpSpPr>
        <p:grpSpPr>
          <a:xfrm>
            <a:off x="2905062" y="4825036"/>
            <a:ext cx="731003" cy="760368"/>
            <a:chOff x="0" y="0"/>
            <a:chExt cx="974670" cy="1013824"/>
          </a:xfrm>
        </p:grpSpPr>
        <p:sp>
          <p:nvSpPr>
            <p:cNvPr id="322" name="Google Shape;322;p18"/>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8"/>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29303C"/>
                  </a:solidFill>
                  <a:latin typeface="Arial"/>
                  <a:ea typeface="Arial"/>
                  <a:cs typeface="Arial"/>
                  <a:sym typeface="Arial"/>
                </a:rPr>
                <a:t>3</a:t>
              </a:r>
              <a:endParaRPr/>
            </a:p>
          </p:txBody>
        </p:sp>
      </p:grpSp>
      <p:grpSp>
        <p:nvGrpSpPr>
          <p:cNvPr id="324" name="Google Shape;324;p18"/>
          <p:cNvGrpSpPr/>
          <p:nvPr/>
        </p:nvGrpSpPr>
        <p:grpSpPr>
          <a:xfrm>
            <a:off x="2905062" y="6208795"/>
            <a:ext cx="731002" cy="760368"/>
            <a:chOff x="0" y="0"/>
            <a:chExt cx="974670" cy="1013824"/>
          </a:xfrm>
        </p:grpSpPr>
        <p:sp>
          <p:nvSpPr>
            <p:cNvPr id="325" name="Google Shape;325;p18"/>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8"/>
            <p:cNvSpPr txBox="1"/>
            <p:nvPr/>
          </p:nvSpPr>
          <p:spPr>
            <a:xfrm>
              <a:off x="194570" y="64529"/>
              <a:ext cx="585600" cy="805200"/>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29303C"/>
                  </a:solidFill>
                  <a:latin typeface="Arial"/>
                  <a:ea typeface="Arial"/>
                  <a:cs typeface="Arial"/>
                  <a:sym typeface="Arial"/>
                </a:rPr>
                <a:t>4</a:t>
              </a:r>
              <a:endParaRPr/>
            </a:p>
          </p:txBody>
        </p:sp>
      </p:grpSp>
      <p:grpSp>
        <p:nvGrpSpPr>
          <p:cNvPr id="327" name="Google Shape;327;p18"/>
          <p:cNvGrpSpPr/>
          <p:nvPr/>
        </p:nvGrpSpPr>
        <p:grpSpPr>
          <a:xfrm>
            <a:off x="2905062" y="7592580"/>
            <a:ext cx="731002" cy="760368"/>
            <a:chOff x="0" y="0"/>
            <a:chExt cx="974670" cy="1013824"/>
          </a:xfrm>
        </p:grpSpPr>
        <p:sp>
          <p:nvSpPr>
            <p:cNvPr id="328" name="Google Shape;328;p18"/>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8"/>
            <p:cNvSpPr txBox="1"/>
            <p:nvPr/>
          </p:nvSpPr>
          <p:spPr>
            <a:xfrm>
              <a:off x="194570" y="64529"/>
              <a:ext cx="585600" cy="805200"/>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29303C"/>
                  </a:solidFill>
                  <a:latin typeface="Arial"/>
                  <a:ea typeface="Arial"/>
                  <a:cs typeface="Arial"/>
                  <a:sym typeface="Arial"/>
                </a:rPr>
                <a:t>5</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19"/>
          <p:cNvSpPr txBox="1"/>
          <p:nvPr/>
        </p:nvSpPr>
        <p:spPr>
          <a:xfrm>
            <a:off x="5416647" y="644847"/>
            <a:ext cx="7454705" cy="1120775"/>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None/>
            </a:pPr>
            <a:r>
              <a:rPr b="0" i="0" lang="en-US" sz="6999" u="none" cap="none" strike="noStrike">
                <a:solidFill>
                  <a:srgbClr val="29303C"/>
                </a:solidFill>
                <a:latin typeface="Hammersmith One"/>
                <a:ea typeface="Hammersmith One"/>
                <a:cs typeface="Hammersmith One"/>
                <a:sym typeface="Hammersmith One"/>
              </a:rPr>
              <a:t>VALOR O ACTITUD</a:t>
            </a:r>
            <a:endParaRPr/>
          </a:p>
        </p:txBody>
      </p:sp>
      <p:sp>
        <p:nvSpPr>
          <p:cNvPr id="335" name="Google Shape;335;p19"/>
          <p:cNvSpPr txBox="1"/>
          <p:nvPr/>
        </p:nvSpPr>
        <p:spPr>
          <a:xfrm>
            <a:off x="1998641" y="2050953"/>
            <a:ext cx="13855455" cy="6255369"/>
          </a:xfrm>
          <a:prstGeom prst="rect">
            <a:avLst/>
          </a:prstGeom>
          <a:noFill/>
          <a:ln>
            <a:noFill/>
          </a:ln>
        </p:spPr>
        <p:txBody>
          <a:bodyPr anchorCtr="0" anchor="t" bIns="0" lIns="0" spcFirstLastPara="1" rIns="0" wrap="square" tIns="0">
            <a:spAutoFit/>
          </a:bodyPr>
          <a:lstStyle/>
          <a:p>
            <a:pPr indent="0" lvl="0" marL="0" marR="0" rtl="0" algn="ctr">
              <a:lnSpc>
                <a:spcPct val="129994"/>
              </a:lnSpc>
              <a:spcBef>
                <a:spcPts val="0"/>
              </a:spcBef>
              <a:spcAft>
                <a:spcPts val="0"/>
              </a:spcAft>
              <a:buNone/>
            </a:pPr>
            <a:r>
              <a:rPr b="1" i="0" lang="en-US" sz="5451" u="none" cap="none" strike="noStrike">
                <a:solidFill>
                  <a:srgbClr val="FFB923"/>
                </a:solidFill>
                <a:latin typeface="Arial"/>
                <a:ea typeface="Arial"/>
                <a:cs typeface="Arial"/>
                <a:sym typeface="Arial"/>
              </a:rPr>
              <a:t>Responsabilidad</a:t>
            </a:r>
            <a:endParaRPr/>
          </a:p>
          <a:p>
            <a:pPr indent="-588461" lvl="1" marL="1176921" marR="0" rtl="0" algn="l">
              <a:lnSpc>
                <a:spcPct val="129994"/>
              </a:lnSpc>
              <a:spcBef>
                <a:spcPts val="0"/>
              </a:spcBef>
              <a:spcAft>
                <a:spcPts val="0"/>
              </a:spcAft>
              <a:buClr>
                <a:srgbClr val="29303C"/>
              </a:buClr>
              <a:buSzPts val="5451"/>
              <a:buFont typeface="Arial"/>
              <a:buChar char="•"/>
            </a:pPr>
            <a:r>
              <a:rPr b="0" i="0" lang="en-US" sz="5451" u="none" cap="none" strike="noStrike">
                <a:solidFill>
                  <a:srgbClr val="29303C"/>
                </a:solidFill>
                <a:latin typeface="Arial"/>
                <a:ea typeface="Arial"/>
                <a:cs typeface="Arial"/>
                <a:sym typeface="Arial"/>
              </a:rPr>
              <a:t>Ser responsable al entregar los ejercicios solicitados del curso.</a:t>
            </a:r>
            <a:endParaRPr/>
          </a:p>
          <a:p>
            <a:pPr indent="-588461" lvl="1" marL="1176921" marR="0" rtl="0" algn="l">
              <a:lnSpc>
                <a:spcPct val="129994"/>
              </a:lnSpc>
              <a:spcBef>
                <a:spcPts val="0"/>
              </a:spcBef>
              <a:spcAft>
                <a:spcPts val="0"/>
              </a:spcAft>
              <a:buClr>
                <a:srgbClr val="29303C"/>
              </a:buClr>
              <a:buSzPts val="5451"/>
              <a:buFont typeface="Arial"/>
              <a:buChar char="•"/>
            </a:pPr>
            <a:r>
              <a:rPr b="0" i="0" lang="en-US" sz="5451" u="none" cap="none" strike="noStrike">
                <a:solidFill>
                  <a:srgbClr val="29303C"/>
                </a:solidFill>
                <a:latin typeface="Arial"/>
                <a:ea typeface="Arial"/>
                <a:cs typeface="Arial"/>
                <a:sym typeface="Arial"/>
              </a:rPr>
              <a:t>Cumplir con los tiempos establecidos de cortos, ht, practicas, etc.</a:t>
            </a:r>
            <a:endParaRPr/>
          </a:p>
          <a:p>
            <a:pPr indent="-588461" lvl="1" marL="1176921" marR="0" rtl="0" algn="l">
              <a:lnSpc>
                <a:spcPct val="129994"/>
              </a:lnSpc>
              <a:spcBef>
                <a:spcPts val="0"/>
              </a:spcBef>
              <a:spcAft>
                <a:spcPts val="0"/>
              </a:spcAft>
              <a:buClr>
                <a:srgbClr val="29303C"/>
              </a:buClr>
              <a:buSzPts val="5451"/>
              <a:buFont typeface="Arial"/>
              <a:buChar char="•"/>
            </a:pPr>
            <a:r>
              <a:rPr b="0" i="0" lang="en-US" sz="5451" u="none" cap="none" strike="noStrike">
                <a:solidFill>
                  <a:srgbClr val="29303C"/>
                </a:solidFill>
                <a:latin typeface="Arial"/>
                <a:ea typeface="Arial"/>
                <a:cs typeface="Arial"/>
                <a:sym typeface="Arial"/>
              </a:rPr>
              <a:t>Cumplir con la división del trabajo en grupo.</a:t>
            </a:r>
            <a:endParaRPr/>
          </a:p>
        </p:txBody>
      </p:sp>
      <p:sp>
        <p:nvSpPr>
          <p:cNvPr id="336" name="Google Shape;336;p19"/>
          <p:cNvSpPr/>
          <p:nvPr/>
        </p:nvSpPr>
        <p:spPr>
          <a:xfrm flipH="1" rot="-5252869">
            <a:off x="7166333" y="2041017"/>
            <a:ext cx="3138698" cy="18364721"/>
          </a:xfrm>
          <a:custGeom>
            <a:rect b="b" l="l" r="r" t="t"/>
            <a:pathLst>
              <a:path extrusionOk="0" h="18364721" w="3138698">
                <a:moveTo>
                  <a:pt x="3138698" y="0"/>
                </a:moveTo>
                <a:lnTo>
                  <a:pt x="0" y="0"/>
                </a:lnTo>
                <a:lnTo>
                  <a:pt x="0" y="18364721"/>
                </a:lnTo>
                <a:lnTo>
                  <a:pt x="3138698" y="18364721"/>
                </a:lnTo>
                <a:lnTo>
                  <a:pt x="3138698" y="0"/>
                </a:lnTo>
                <a:close/>
              </a:path>
            </a:pathLst>
          </a:custGeom>
          <a:blipFill rotWithShape="1">
            <a:blip r:embed="rId3">
              <a:alphaModFix/>
            </a:blip>
            <a:stretch>
              <a:fillRect b="0" l="0" r="0" t="0"/>
            </a:stretch>
          </a:blipFill>
          <a:ln>
            <a:noFill/>
          </a:ln>
        </p:spPr>
      </p:sp>
      <p:sp>
        <p:nvSpPr>
          <p:cNvPr id="337" name="Google Shape;337;p19"/>
          <p:cNvSpPr/>
          <p:nvPr/>
        </p:nvSpPr>
        <p:spPr>
          <a:xfrm flipH="1" rot="-5252869">
            <a:off x="7357019" y="2212036"/>
            <a:ext cx="3138698" cy="18364721"/>
          </a:xfrm>
          <a:custGeom>
            <a:rect b="b" l="l" r="r" t="t"/>
            <a:pathLst>
              <a:path extrusionOk="0" h="18364721" w="3138698">
                <a:moveTo>
                  <a:pt x="3138698" y="0"/>
                </a:moveTo>
                <a:lnTo>
                  <a:pt x="0" y="0"/>
                </a:lnTo>
                <a:lnTo>
                  <a:pt x="0" y="18364721"/>
                </a:lnTo>
                <a:lnTo>
                  <a:pt x="3138698" y="18364721"/>
                </a:lnTo>
                <a:lnTo>
                  <a:pt x="3138698" y="0"/>
                </a:lnTo>
                <a:close/>
              </a:path>
            </a:pathLst>
          </a:custGeom>
          <a:blipFill rotWithShape="1">
            <a:blip r:embed="rId4">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0"/>
          <p:cNvSpPr/>
          <p:nvPr/>
        </p:nvSpPr>
        <p:spPr>
          <a:xfrm>
            <a:off x="-242146" y="-201788"/>
            <a:ext cx="7408840" cy="10690576"/>
          </a:xfrm>
          <a:prstGeom prst="rect">
            <a:avLst/>
          </a:prstGeom>
          <a:solidFill>
            <a:srgbClr val="FFB9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0"/>
          <p:cNvSpPr/>
          <p:nvPr/>
        </p:nvSpPr>
        <p:spPr>
          <a:xfrm rot="5400000">
            <a:off x="1035086" y="8288411"/>
            <a:ext cx="689712" cy="702485"/>
          </a:xfrm>
          <a:custGeom>
            <a:rect b="b" l="l" r="r" t="t"/>
            <a:pathLst>
              <a:path extrusionOk="0" h="702485" w="689712">
                <a:moveTo>
                  <a:pt x="0" y="0"/>
                </a:moveTo>
                <a:lnTo>
                  <a:pt x="689713" y="0"/>
                </a:lnTo>
                <a:lnTo>
                  <a:pt x="689713" y="702485"/>
                </a:lnTo>
                <a:lnTo>
                  <a:pt x="0" y="702485"/>
                </a:lnTo>
                <a:lnTo>
                  <a:pt x="0" y="0"/>
                </a:lnTo>
                <a:close/>
              </a:path>
            </a:pathLst>
          </a:custGeom>
          <a:blipFill rotWithShape="1">
            <a:blip r:embed="rId3">
              <a:alphaModFix/>
            </a:blip>
            <a:stretch>
              <a:fillRect b="0" l="0" r="0" t="0"/>
            </a:stretch>
          </a:blipFill>
          <a:ln>
            <a:noFill/>
          </a:ln>
        </p:spPr>
      </p:sp>
      <p:sp>
        <p:nvSpPr>
          <p:cNvPr id="344" name="Google Shape;344;p20"/>
          <p:cNvSpPr txBox="1"/>
          <p:nvPr/>
        </p:nvSpPr>
        <p:spPr>
          <a:xfrm>
            <a:off x="935917" y="1369165"/>
            <a:ext cx="5294859" cy="941387"/>
          </a:xfrm>
          <a:prstGeom prst="rect">
            <a:avLst/>
          </a:prstGeom>
          <a:noFill/>
          <a:ln>
            <a:noFill/>
          </a:ln>
        </p:spPr>
        <p:txBody>
          <a:bodyPr anchorCtr="0" anchor="t" bIns="0" lIns="0" spcFirstLastPara="1" rIns="0" wrap="square" tIns="0">
            <a:spAutoFit/>
          </a:bodyPr>
          <a:lstStyle/>
          <a:p>
            <a:pPr indent="0" lvl="0" marL="0" marR="0" rtl="0" algn="l">
              <a:lnSpc>
                <a:spcPct val="110009"/>
              </a:lnSpc>
              <a:spcBef>
                <a:spcPts val="0"/>
              </a:spcBef>
              <a:spcAft>
                <a:spcPts val="0"/>
              </a:spcAft>
              <a:buNone/>
            </a:pPr>
            <a:r>
              <a:rPr b="0" i="0" lang="en-US" sz="6624" u="none" cap="none" strike="noStrike">
                <a:solidFill>
                  <a:srgbClr val="FFFFFF"/>
                </a:solidFill>
                <a:latin typeface="Hammersmith One"/>
                <a:ea typeface="Hammersmith One"/>
                <a:cs typeface="Hammersmith One"/>
                <a:sym typeface="Hammersmith One"/>
              </a:rPr>
              <a:t>REFERENCIAS</a:t>
            </a:r>
            <a:endParaRPr/>
          </a:p>
        </p:txBody>
      </p:sp>
      <p:sp>
        <p:nvSpPr>
          <p:cNvPr id="345" name="Google Shape;345;p20"/>
          <p:cNvSpPr/>
          <p:nvPr/>
        </p:nvSpPr>
        <p:spPr>
          <a:xfrm>
            <a:off x="935917" y="2310552"/>
            <a:ext cx="3863467" cy="285524"/>
          </a:xfrm>
          <a:custGeom>
            <a:rect b="b" l="l" r="r" t="t"/>
            <a:pathLst>
              <a:path extrusionOk="0" h="285524" w="3863467">
                <a:moveTo>
                  <a:pt x="0" y="0"/>
                </a:moveTo>
                <a:lnTo>
                  <a:pt x="3863468" y="0"/>
                </a:lnTo>
                <a:lnTo>
                  <a:pt x="3863468" y="285524"/>
                </a:lnTo>
                <a:lnTo>
                  <a:pt x="0" y="285524"/>
                </a:lnTo>
                <a:lnTo>
                  <a:pt x="0" y="0"/>
                </a:lnTo>
                <a:close/>
              </a:path>
            </a:pathLst>
          </a:custGeom>
          <a:blipFill rotWithShape="1">
            <a:blip r:embed="rId4">
              <a:alphaModFix/>
            </a:blip>
            <a:stretch>
              <a:fillRect b="-1042591" l="-170" r="-7086" t="-308576"/>
            </a:stretch>
          </a:blipFill>
          <a:ln>
            <a:noFill/>
          </a:ln>
        </p:spPr>
      </p:sp>
      <p:sp>
        <p:nvSpPr>
          <p:cNvPr id="346" name="Google Shape;346;p20"/>
          <p:cNvSpPr txBox="1"/>
          <p:nvPr/>
        </p:nvSpPr>
        <p:spPr>
          <a:xfrm>
            <a:off x="7783366" y="391961"/>
            <a:ext cx="9514500" cy="9687900"/>
          </a:xfrm>
          <a:prstGeom prst="rect">
            <a:avLst/>
          </a:prstGeom>
          <a:noFill/>
          <a:ln>
            <a:noFill/>
          </a:ln>
        </p:spPr>
        <p:txBody>
          <a:bodyPr anchorCtr="0" anchor="t" bIns="0" lIns="0" spcFirstLastPara="1" rIns="0" wrap="square" tIns="0">
            <a:spAutoFit/>
          </a:bodyPr>
          <a:lstStyle/>
          <a:p>
            <a:pPr indent="-298632" lvl="1" marL="609967" marR="0" rtl="0" algn="l">
              <a:lnSpc>
                <a:spcPct val="129982"/>
              </a:lnSpc>
              <a:spcBef>
                <a:spcPts val="0"/>
              </a:spcBef>
              <a:spcAft>
                <a:spcPts val="0"/>
              </a:spcAft>
              <a:buClr>
                <a:srgbClr val="29303C"/>
              </a:buClr>
              <a:buSzPts val="2725"/>
              <a:buFont typeface="Arial"/>
              <a:buChar char="•"/>
            </a:pPr>
            <a:r>
              <a:rPr b="1" i="0" lang="en-US" sz="2725" u="none" cap="none" strike="noStrike">
                <a:solidFill>
                  <a:srgbClr val="29303C"/>
                </a:solidFill>
                <a:latin typeface="Arial"/>
                <a:ea typeface="Arial"/>
                <a:cs typeface="Arial"/>
                <a:sym typeface="Arial"/>
              </a:rPr>
              <a:t>¿What is cloud Computing? </a:t>
            </a:r>
            <a:r>
              <a:rPr b="0" i="0" lang="en-US" sz="2725" u="none" cap="none" strike="noStrike">
                <a:solidFill>
                  <a:srgbClr val="29303C"/>
                </a:solidFill>
                <a:latin typeface="Arial"/>
                <a:ea typeface="Arial"/>
                <a:cs typeface="Arial"/>
                <a:sym typeface="Arial"/>
              </a:rPr>
              <a:t>(n.d.). [Video]. Amazon Web Services, Inc. https://aws.amazon.com/es/what-is-cloud-computing/</a:t>
            </a:r>
            <a:endParaRPr sz="1300"/>
          </a:p>
          <a:p>
            <a:pPr indent="0" lvl="0" marL="0" marR="0" rtl="0" algn="l">
              <a:lnSpc>
                <a:spcPct val="129982"/>
              </a:lnSpc>
              <a:spcBef>
                <a:spcPts val="0"/>
              </a:spcBef>
              <a:spcAft>
                <a:spcPts val="0"/>
              </a:spcAft>
              <a:buNone/>
            </a:pPr>
            <a:r>
              <a:t/>
            </a:r>
            <a:endParaRPr b="0" i="0" sz="2725" u="none" cap="none" strike="noStrike">
              <a:solidFill>
                <a:srgbClr val="29303C"/>
              </a:solidFill>
              <a:latin typeface="Arial"/>
              <a:ea typeface="Arial"/>
              <a:cs typeface="Arial"/>
              <a:sym typeface="Arial"/>
            </a:endParaRPr>
          </a:p>
          <a:p>
            <a:pPr indent="-298632" lvl="1" marL="609967" marR="0" rtl="0" algn="l">
              <a:lnSpc>
                <a:spcPct val="129982"/>
              </a:lnSpc>
              <a:spcBef>
                <a:spcPts val="0"/>
              </a:spcBef>
              <a:spcAft>
                <a:spcPts val="0"/>
              </a:spcAft>
              <a:buClr>
                <a:srgbClr val="29303C"/>
              </a:buClr>
              <a:buSzPts val="2725"/>
              <a:buFont typeface="Arial"/>
              <a:buChar char="•"/>
            </a:pPr>
            <a:r>
              <a:rPr b="1" i="0" lang="en-US" sz="2725" u="none" cap="none" strike="noStrike">
                <a:solidFill>
                  <a:srgbClr val="29303C"/>
                </a:solidFill>
                <a:latin typeface="Arial"/>
                <a:ea typeface="Arial"/>
                <a:cs typeface="Arial"/>
                <a:sym typeface="Arial"/>
              </a:rPr>
              <a:t>Products and Services | Google Cloud.</a:t>
            </a:r>
            <a:r>
              <a:rPr b="0" i="0" lang="en-US" sz="2725" u="none" cap="none" strike="noStrike">
                <a:solidFill>
                  <a:srgbClr val="29303C"/>
                </a:solidFill>
                <a:latin typeface="Arial"/>
                <a:ea typeface="Arial"/>
                <a:cs typeface="Arial"/>
                <a:sym typeface="Arial"/>
              </a:rPr>
              <a:t> (n.d.). Google Cloud. https://cloud.google.com/products</a:t>
            </a:r>
            <a:endParaRPr sz="1300"/>
          </a:p>
          <a:p>
            <a:pPr indent="0" lvl="0" marL="0" marR="0" rtl="0" algn="l">
              <a:lnSpc>
                <a:spcPct val="129982"/>
              </a:lnSpc>
              <a:spcBef>
                <a:spcPts val="0"/>
              </a:spcBef>
              <a:spcAft>
                <a:spcPts val="0"/>
              </a:spcAft>
              <a:buNone/>
            </a:pPr>
            <a:r>
              <a:t/>
            </a:r>
            <a:endParaRPr b="0" i="0" sz="2725" u="none" cap="none" strike="noStrike">
              <a:solidFill>
                <a:srgbClr val="29303C"/>
              </a:solidFill>
              <a:latin typeface="Arial"/>
              <a:ea typeface="Arial"/>
              <a:cs typeface="Arial"/>
              <a:sym typeface="Arial"/>
            </a:endParaRPr>
          </a:p>
          <a:p>
            <a:pPr indent="-298632" lvl="1" marL="609967" marR="0" rtl="0" algn="l">
              <a:lnSpc>
                <a:spcPct val="129982"/>
              </a:lnSpc>
              <a:spcBef>
                <a:spcPts val="0"/>
              </a:spcBef>
              <a:spcAft>
                <a:spcPts val="0"/>
              </a:spcAft>
              <a:buClr>
                <a:srgbClr val="29303C"/>
              </a:buClr>
              <a:buSzPts val="2725"/>
              <a:buFont typeface="Arial"/>
              <a:buChar char="•"/>
            </a:pPr>
            <a:r>
              <a:rPr b="1" i="0" lang="en-US" sz="2725" u="none" cap="none" strike="noStrike">
                <a:solidFill>
                  <a:srgbClr val="29303C"/>
                </a:solidFill>
                <a:latin typeface="Arial"/>
                <a:ea typeface="Arial"/>
                <a:cs typeface="Arial"/>
                <a:sym typeface="Arial"/>
              </a:rPr>
              <a:t>Directory of Azure Cloud Services | Microsoft Azure. </a:t>
            </a:r>
            <a:r>
              <a:rPr b="0" i="0" lang="en-US" sz="2725" u="none" cap="none" strike="noStrike">
                <a:solidFill>
                  <a:srgbClr val="29303C"/>
                </a:solidFill>
                <a:latin typeface="Arial"/>
                <a:ea typeface="Arial"/>
                <a:cs typeface="Arial"/>
                <a:sym typeface="Arial"/>
              </a:rPr>
              <a:t>(n.d.). https://azure.microsoft.com/en-us/products</a:t>
            </a:r>
            <a:endParaRPr sz="1300"/>
          </a:p>
          <a:p>
            <a:pPr indent="0" lvl="0" marL="0" marR="0" rtl="0" algn="l">
              <a:lnSpc>
                <a:spcPct val="129982"/>
              </a:lnSpc>
              <a:spcBef>
                <a:spcPts val="0"/>
              </a:spcBef>
              <a:spcAft>
                <a:spcPts val="0"/>
              </a:spcAft>
              <a:buNone/>
            </a:pPr>
            <a:r>
              <a:t/>
            </a:r>
            <a:endParaRPr b="0" i="0" sz="2725" u="none" cap="none" strike="noStrike">
              <a:solidFill>
                <a:srgbClr val="29303C"/>
              </a:solidFill>
              <a:latin typeface="Arial"/>
              <a:ea typeface="Arial"/>
              <a:cs typeface="Arial"/>
              <a:sym typeface="Arial"/>
            </a:endParaRPr>
          </a:p>
          <a:p>
            <a:pPr indent="-298632" lvl="1" marL="609967" marR="0" rtl="0" algn="l">
              <a:lnSpc>
                <a:spcPct val="129982"/>
              </a:lnSpc>
              <a:spcBef>
                <a:spcPts val="0"/>
              </a:spcBef>
              <a:spcAft>
                <a:spcPts val="0"/>
              </a:spcAft>
              <a:buClr>
                <a:srgbClr val="29303C"/>
              </a:buClr>
              <a:buSzPts val="2725"/>
              <a:buFont typeface="Arial"/>
              <a:buChar char="•"/>
            </a:pPr>
            <a:r>
              <a:rPr b="1" i="0" lang="en-US" sz="2725" u="none" cap="none" strike="noStrike">
                <a:solidFill>
                  <a:srgbClr val="29303C"/>
                </a:solidFill>
                <a:latin typeface="Arial"/>
                <a:ea typeface="Arial"/>
                <a:cs typeface="Arial"/>
                <a:sym typeface="Arial"/>
              </a:rPr>
              <a:t>Types of cloud computing - Overview of Amazon Web Services.</a:t>
            </a:r>
            <a:r>
              <a:rPr b="0" i="0" lang="en-US" sz="2725" u="none" cap="none" strike="noStrike">
                <a:solidFill>
                  <a:srgbClr val="29303C"/>
                </a:solidFill>
                <a:latin typeface="Arial"/>
                <a:ea typeface="Arial"/>
                <a:cs typeface="Arial"/>
                <a:sym typeface="Arial"/>
              </a:rPr>
              <a:t> (n.d.). https://docs.aws.amazon.com/whitepapers/latest/aws-overview/types-of-cloud-computing.html</a:t>
            </a:r>
            <a:endParaRPr sz="1300"/>
          </a:p>
          <a:p>
            <a:pPr indent="-298632" lvl="1" marL="609967" marR="0" rtl="0" algn="l">
              <a:lnSpc>
                <a:spcPct val="129982"/>
              </a:lnSpc>
              <a:spcBef>
                <a:spcPts val="0"/>
              </a:spcBef>
              <a:spcAft>
                <a:spcPts val="0"/>
              </a:spcAft>
              <a:buClr>
                <a:srgbClr val="29303C"/>
              </a:buClr>
              <a:buSzPts val="2725"/>
              <a:buFont typeface="Arial"/>
              <a:buChar char="•"/>
            </a:pPr>
            <a:r>
              <a:rPr b="1" i="0" lang="en-US" sz="2725" u="none" cap="none" strike="noStrike">
                <a:solidFill>
                  <a:srgbClr val="29303C"/>
                </a:solidFill>
                <a:latin typeface="Arial"/>
                <a:ea typeface="Arial"/>
                <a:cs typeface="Arial"/>
                <a:sym typeface="Arial"/>
              </a:rPr>
              <a:t>Modelos de servicio en la nube | Tipos de cloud computing |</a:t>
            </a:r>
            <a:r>
              <a:rPr b="0" i="0" lang="en-US" sz="2725" u="none" cap="none" strike="noStrike">
                <a:solidFill>
                  <a:srgbClr val="29303C"/>
                </a:solidFill>
                <a:latin typeface="Arial"/>
                <a:ea typeface="Arial"/>
                <a:cs typeface="Arial"/>
                <a:sym typeface="Arial"/>
              </a:rPr>
              <a:t> AWS. (n.d.). Amazon Web Services, Inc. https://aws.amazon.com/es/types-of-cloud-computing/</a:t>
            </a:r>
            <a:endParaRPr sz="1300"/>
          </a:p>
          <a:p>
            <a:pPr indent="0" lvl="0" marL="0" marR="0" rtl="0" algn="l">
              <a:lnSpc>
                <a:spcPct val="129982"/>
              </a:lnSpc>
              <a:spcBef>
                <a:spcPts val="0"/>
              </a:spcBef>
              <a:spcAft>
                <a:spcPts val="0"/>
              </a:spcAft>
              <a:buNone/>
            </a:pPr>
            <a:r>
              <a:t/>
            </a:r>
            <a:endParaRPr b="0" i="0" sz="2725" u="none" cap="none" strike="noStrike">
              <a:solidFill>
                <a:srgbClr val="29303C"/>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1"/>
          <p:cNvSpPr txBox="1"/>
          <p:nvPr/>
        </p:nvSpPr>
        <p:spPr>
          <a:xfrm>
            <a:off x="3207779" y="4022725"/>
            <a:ext cx="11872442" cy="1120775"/>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None/>
            </a:pPr>
            <a:r>
              <a:rPr b="0" i="0" lang="en-US" sz="6999" u="none" cap="none" strike="noStrike">
                <a:solidFill>
                  <a:srgbClr val="29303C"/>
                </a:solidFill>
                <a:latin typeface="Hammersmith One"/>
                <a:ea typeface="Hammersmith One"/>
                <a:cs typeface="Hammersmith One"/>
                <a:sym typeface="Hammersmith One"/>
              </a:rPr>
              <a:t>¡GRACIAS POR SU ATENCIÓN!</a:t>
            </a:r>
            <a:endParaRPr/>
          </a:p>
        </p:txBody>
      </p:sp>
      <p:sp>
        <p:nvSpPr>
          <p:cNvPr id="352" name="Google Shape;352;p21"/>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3">
              <a:alphaModFix/>
            </a:blip>
            <a:stretch>
              <a:fillRect b="0" l="0" r="0" t="0"/>
            </a:stretch>
          </a:blipFill>
          <a:ln>
            <a:noFill/>
          </a:ln>
        </p:spPr>
      </p:sp>
      <p:sp>
        <p:nvSpPr>
          <p:cNvPr id="353" name="Google Shape;353;p21"/>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4">
              <a:alphaModFix/>
            </a:blip>
            <a:stretch>
              <a:fillRect b="0" l="0" r="0" t="0"/>
            </a:stretch>
          </a:blipFill>
          <a:ln>
            <a:noFill/>
          </a:ln>
        </p:spPr>
      </p:sp>
      <p:sp>
        <p:nvSpPr>
          <p:cNvPr id="354" name="Google Shape;354;p21"/>
          <p:cNvSpPr txBox="1"/>
          <p:nvPr/>
        </p:nvSpPr>
        <p:spPr>
          <a:xfrm>
            <a:off x="6568559" y="5143500"/>
            <a:ext cx="5347500" cy="1077300"/>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None/>
            </a:pPr>
            <a:r>
              <a:rPr b="0" i="0" lang="en-US" sz="6999" u="none" cap="none" strike="noStrike">
                <a:solidFill>
                  <a:srgbClr val="29303C"/>
                </a:solidFill>
                <a:latin typeface="Arial"/>
                <a:ea typeface="Arial"/>
                <a:cs typeface="Arial"/>
                <a:sym typeface="Arial"/>
              </a:rPr>
              <a:t>¿DUDAS?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