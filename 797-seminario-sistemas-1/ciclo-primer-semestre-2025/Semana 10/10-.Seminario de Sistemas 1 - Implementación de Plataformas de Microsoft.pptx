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0287000" cx="18288000"/>
  <p:notesSz cx="6858000" cy="9144000"/>
  <p:embeddedFontLst>
    <p:embeddedFont>
      <p:font typeface="Hammersmith One"/>
      <p:regular r:id="rId28"/>
    </p:embeddedFont>
    <p:embeddedFont>
      <p:font typeface="Sansita"/>
      <p:regular r:id="rId29"/>
      <p:bold r:id="rId30"/>
      <p:italic r:id="rId31"/>
      <p:boldItalic r:id="rId32"/>
    </p:embeddedFont>
    <p:embeddedFont>
      <p:font typeface="Open Sans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5" roundtripDataSignature="AMtx7mifd9px2xqW7pApOGSAESJ6huu5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HammersmithOne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ansita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ansita-italic.fntdata"/><Relationship Id="rId30" Type="http://schemas.openxmlformats.org/officeDocument/2006/relationships/font" Target="fonts/Sansita-bold.fntdata"/><Relationship Id="rId11" Type="http://schemas.openxmlformats.org/officeDocument/2006/relationships/slide" Target="slides/slide6.xml"/><Relationship Id="rId33" Type="http://schemas.openxmlformats.org/officeDocument/2006/relationships/font" Target="fonts/OpenSans-bold.fntdata"/><Relationship Id="rId10" Type="http://schemas.openxmlformats.org/officeDocument/2006/relationships/slide" Target="slides/slide5.xml"/><Relationship Id="rId32" Type="http://schemas.openxmlformats.org/officeDocument/2006/relationships/font" Target="fonts/Sansita-boldItalic.fntdata"/><Relationship Id="rId13" Type="http://schemas.openxmlformats.org/officeDocument/2006/relationships/slide" Target="slides/slide8.xml"/><Relationship Id="rId35" Type="http://customschemas.google.com/relationships/presentationmetadata" Target="metadata"/><Relationship Id="rId12" Type="http://schemas.openxmlformats.org/officeDocument/2006/relationships/slide" Target="slides/slide7.xml"/><Relationship Id="rId34" Type="http://schemas.openxmlformats.org/officeDocument/2006/relationships/font" Target="fonts/OpenSans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Relationship Id="rId4" Type="http://schemas.openxmlformats.org/officeDocument/2006/relationships/image" Target="../media/image6.png"/><Relationship Id="rId5" Type="http://schemas.openxmlformats.org/officeDocument/2006/relationships/image" Target="../media/image1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hyperlink" Target="https://learn.microsoft.com/en-us/power-bi/" TargetMode="External"/><Relationship Id="rId6" Type="http://schemas.openxmlformats.org/officeDocument/2006/relationships/hyperlink" Target="https://learn.microsoft.com/en-us/power-automate/" TargetMode="External"/><Relationship Id="rId7" Type="http://schemas.openxmlformats.org/officeDocument/2006/relationships/hyperlink" Target="https://learn.microsoft.com/en-us/power-virtual-agents/" TargetMode="External"/><Relationship Id="rId8" Type="http://schemas.openxmlformats.org/officeDocument/2006/relationships/hyperlink" Target="https://learn.microsoft.com/en-us/power-pages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85" name="Google Shape;85;p1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1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p1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10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500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“Implementación de Plataformas de Microsoft”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94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94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90" name="Google Shape;90;p1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" name="Google Shape;91;p1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2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99" name="Google Shape;99;p2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grpSp>
        <p:nvGrpSpPr>
          <p:cNvPr id="100" name="Google Shape;100;p2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421964" y="7243740"/>
            <a:ext cx="731003" cy="760368"/>
            <a:chOff x="0" y="0"/>
            <a:chExt cx="974670" cy="1013824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06" name="Google Shape;106;p2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" name="Google Shape;107;p2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2"/>
          <p:cNvSpPr txBox="1"/>
          <p:nvPr/>
        </p:nvSpPr>
        <p:spPr>
          <a:xfrm>
            <a:off x="7051596" y="274507"/>
            <a:ext cx="411002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2640377" y="2830096"/>
            <a:ext cx="2722063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425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10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2335890" y="5907509"/>
            <a:ext cx="60531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Microsoft Power Platforms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2409601" y="7360375"/>
            <a:ext cx="22482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Low Code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  <p:grpSp>
        <p:nvGrpSpPr>
          <p:cNvPr id="114" name="Google Shape;114;p2"/>
          <p:cNvGrpSpPr/>
          <p:nvPr/>
        </p:nvGrpSpPr>
        <p:grpSpPr>
          <a:xfrm>
            <a:off x="1421964" y="8733768"/>
            <a:ext cx="731003" cy="760368"/>
            <a:chOff x="0" y="0"/>
            <a:chExt cx="974670" cy="1013824"/>
          </a:xfrm>
        </p:grpSpPr>
        <p:sp>
          <p:nvSpPr>
            <p:cNvPr id="115" name="Google Shape;115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9410394" y="5820388"/>
            <a:ext cx="731002" cy="760368"/>
            <a:chOff x="0" y="0"/>
            <a:chExt cx="974670" cy="1013824"/>
          </a:xfrm>
        </p:grpSpPr>
        <p:sp>
          <p:nvSpPr>
            <p:cNvPr id="118" name="Google Shape;118;p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2"/>
            <p:cNvSpPr txBox="1"/>
            <p:nvPr/>
          </p:nvSpPr>
          <p:spPr>
            <a:xfrm>
              <a:off x="194570" y="64529"/>
              <a:ext cx="585600" cy="83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120" name="Google Shape;120;p2"/>
          <p:cNvSpPr txBox="1"/>
          <p:nvPr/>
        </p:nvSpPr>
        <p:spPr>
          <a:xfrm>
            <a:off x="2335899" y="8813250"/>
            <a:ext cx="52407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Microsoft PowerApps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10312306" y="5820408"/>
            <a:ext cx="59634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Microsoft Power Automate</a:t>
            </a:r>
            <a:endParaRPr/>
          </a:p>
        </p:txBody>
      </p:sp>
      <p:grpSp>
        <p:nvGrpSpPr>
          <p:cNvPr id="122" name="Google Shape;122;p2"/>
          <p:cNvGrpSpPr/>
          <p:nvPr/>
        </p:nvGrpSpPr>
        <p:grpSpPr>
          <a:xfrm>
            <a:off x="9410382" y="7017651"/>
            <a:ext cx="731025" cy="760275"/>
            <a:chOff x="0" y="0"/>
            <a:chExt cx="974700" cy="1013700"/>
          </a:xfrm>
        </p:grpSpPr>
        <p:sp>
          <p:nvSpPr>
            <p:cNvPr id="123" name="Google Shape;123;p2"/>
            <p:cNvSpPr/>
            <p:nvPr/>
          </p:nvSpPr>
          <p:spPr>
            <a:xfrm>
              <a:off x="0" y="0"/>
              <a:ext cx="974700" cy="1013700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"/>
            <p:cNvSpPr txBox="1"/>
            <p:nvPr/>
          </p:nvSpPr>
          <p:spPr>
            <a:xfrm>
              <a:off x="194570" y="64529"/>
              <a:ext cx="585600" cy="80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FFFFFF"/>
                  </a:solidFill>
                </a:rPr>
                <a:t>5</a:t>
              </a:r>
              <a:endParaRPr/>
            </a:p>
          </p:txBody>
        </p:sp>
      </p:grpSp>
      <p:sp>
        <p:nvSpPr>
          <p:cNvPr id="125" name="Google Shape;125;p2"/>
          <p:cNvSpPr txBox="1"/>
          <p:nvPr/>
        </p:nvSpPr>
        <p:spPr>
          <a:xfrm>
            <a:off x="10235306" y="6791508"/>
            <a:ext cx="5963400" cy="12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Otros Servicios de Microsoft Power Platforms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34" name="Google Shape;134;p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35" name="Google Shape;135;p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3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37" name="Google Shape;137;p3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38" name="Google Shape;138;p3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3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40" name="Google Shape;140;p3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41" name="Google Shape;141;p3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3"/>
          <p:cNvSpPr/>
          <p:nvPr/>
        </p:nvSpPr>
        <p:spPr>
          <a:xfrm>
            <a:off x="6510339" y="3723617"/>
            <a:ext cx="5267321" cy="5003955"/>
          </a:xfrm>
          <a:custGeom>
            <a:rect b="b" l="l" r="r" t="t"/>
            <a:pathLst>
              <a:path extrusionOk="0" h="5003955" w="5267321">
                <a:moveTo>
                  <a:pt x="0" y="0"/>
                </a:moveTo>
                <a:lnTo>
                  <a:pt x="5267322" y="0"/>
                </a:lnTo>
                <a:lnTo>
                  <a:pt x="5267322" y="5003956"/>
                </a:lnTo>
                <a:lnTo>
                  <a:pt x="0" y="500395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3"/>
          <p:cNvSpPr txBox="1"/>
          <p:nvPr/>
        </p:nvSpPr>
        <p:spPr>
          <a:xfrm>
            <a:off x="658900" y="805325"/>
            <a:ext cx="16801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MICROSOFT POWER PLATFORMS?</a:t>
            </a:r>
            <a:endParaRPr sz="400"/>
          </a:p>
        </p:txBody>
      </p:sp>
      <p:sp>
        <p:nvSpPr>
          <p:cNvPr id="144" name="Google Shape;144;p3"/>
          <p:cNvSpPr txBox="1"/>
          <p:nvPr/>
        </p:nvSpPr>
        <p:spPr>
          <a:xfrm>
            <a:off x="944189" y="2274258"/>
            <a:ext cx="162306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 Power Platform es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 conjunto de herramientas “low-code” de Microsoft 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que permite a las empresas crear soluciones sin necesidad de ser un programador experto.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Google Shape;149;p4"/>
          <p:cNvGrpSpPr/>
          <p:nvPr/>
        </p:nvGrpSpPr>
        <p:grpSpPr>
          <a:xfrm>
            <a:off x="0" y="-144661"/>
            <a:ext cx="357187" cy="10449016"/>
            <a:chOff x="0" y="-38100"/>
            <a:chExt cx="94074" cy="2752004"/>
          </a:xfrm>
        </p:grpSpPr>
        <p:sp>
          <p:nvSpPr>
            <p:cNvPr id="150" name="Google Shape;150;p4"/>
            <p:cNvSpPr/>
            <p:nvPr/>
          </p:nvSpPr>
          <p:spPr>
            <a:xfrm>
              <a:off x="0" y="0"/>
              <a:ext cx="94074" cy="2713904"/>
            </a:xfrm>
            <a:custGeom>
              <a:rect b="b" l="l" r="r" t="t"/>
              <a:pathLst>
                <a:path extrusionOk="0" h="2713904" w="94074">
                  <a:moveTo>
                    <a:pt x="0" y="0"/>
                  </a:moveTo>
                  <a:lnTo>
                    <a:pt x="94074" y="0"/>
                  </a:lnTo>
                  <a:lnTo>
                    <a:pt x="94074" y="2713904"/>
                  </a:lnTo>
                  <a:lnTo>
                    <a:pt x="0" y="2713904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51" name="Google Shape;151;p4"/>
            <p:cNvSpPr txBox="1"/>
            <p:nvPr/>
          </p:nvSpPr>
          <p:spPr>
            <a:xfrm>
              <a:off x="0" y="-38100"/>
              <a:ext cx="94074" cy="27520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4"/>
          <p:cNvGrpSpPr/>
          <p:nvPr/>
        </p:nvGrpSpPr>
        <p:grpSpPr>
          <a:xfrm>
            <a:off x="0" y="5256014"/>
            <a:ext cx="714375" cy="5030986"/>
            <a:chOff x="0" y="-38100"/>
            <a:chExt cx="188148" cy="1325033"/>
          </a:xfrm>
        </p:grpSpPr>
        <p:sp>
          <p:nvSpPr>
            <p:cNvPr id="153" name="Google Shape;153;p4"/>
            <p:cNvSpPr/>
            <p:nvPr/>
          </p:nvSpPr>
          <p:spPr>
            <a:xfrm>
              <a:off x="0" y="0"/>
              <a:ext cx="188148" cy="1286933"/>
            </a:xfrm>
            <a:custGeom>
              <a:rect b="b" l="l" r="r" t="t"/>
              <a:pathLst>
                <a:path extrusionOk="0" h="1286933" w="188148">
                  <a:moveTo>
                    <a:pt x="0" y="0"/>
                  </a:moveTo>
                  <a:lnTo>
                    <a:pt x="188148" y="0"/>
                  </a:lnTo>
                  <a:lnTo>
                    <a:pt x="188148" y="1286933"/>
                  </a:lnTo>
                  <a:lnTo>
                    <a:pt x="0" y="1286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54" name="Google Shape;154;p4"/>
            <p:cNvSpPr txBox="1"/>
            <p:nvPr/>
          </p:nvSpPr>
          <p:spPr>
            <a:xfrm>
              <a:off x="0" y="-38100"/>
              <a:ext cx="188148" cy="1325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p4"/>
          <p:cNvSpPr/>
          <p:nvPr/>
        </p:nvSpPr>
        <p:spPr>
          <a:xfrm>
            <a:off x="5411182" y="3842253"/>
            <a:ext cx="7465635" cy="4774193"/>
          </a:xfrm>
          <a:custGeom>
            <a:rect b="b" l="l" r="r" t="t"/>
            <a:pathLst>
              <a:path extrusionOk="0" h="4774193" w="7465635">
                <a:moveTo>
                  <a:pt x="0" y="0"/>
                </a:moveTo>
                <a:lnTo>
                  <a:pt x="7465636" y="0"/>
                </a:lnTo>
                <a:lnTo>
                  <a:pt x="7465636" y="4774194"/>
                </a:lnTo>
                <a:lnTo>
                  <a:pt x="0" y="4774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8010" r="-64817" t="0"/>
            </a:stretch>
          </a:blipFill>
          <a:ln>
            <a:noFill/>
          </a:ln>
        </p:spPr>
      </p:sp>
      <p:sp>
        <p:nvSpPr>
          <p:cNvPr id="156" name="Google Shape;156;p4"/>
          <p:cNvSpPr txBox="1"/>
          <p:nvPr/>
        </p:nvSpPr>
        <p:spPr>
          <a:xfrm>
            <a:off x="3496932" y="854578"/>
            <a:ext cx="1129413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LOW CODE?</a:t>
            </a:r>
            <a:endParaRPr/>
          </a:p>
        </p:txBody>
      </p:sp>
      <p:sp>
        <p:nvSpPr>
          <p:cNvPr id="157" name="Google Shape;157;p4"/>
          <p:cNvSpPr txBox="1"/>
          <p:nvPr/>
        </p:nvSpPr>
        <p:spPr>
          <a:xfrm>
            <a:off x="1028700" y="2156328"/>
            <a:ext cx="1623060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enfoque de desarrollo de aplicaciones que utiliza herramientas gráficas y visuales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, junto con componentes prefabricados para construir aplicaciones con una mínima cantidad de codificación manual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5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63" name="Google Shape;163;p5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64" name="Google Shape;164;p5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5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66" name="Google Shape;166;p5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67" name="Google Shape;167;p5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5"/>
          <p:cNvSpPr/>
          <p:nvPr/>
        </p:nvSpPr>
        <p:spPr>
          <a:xfrm>
            <a:off x="2874714" y="1732966"/>
            <a:ext cx="12538571" cy="5105213"/>
          </a:xfrm>
          <a:custGeom>
            <a:rect b="b" l="l" r="r" t="t"/>
            <a:pathLst>
              <a:path extrusionOk="0" h="5105213" w="12538571">
                <a:moveTo>
                  <a:pt x="0" y="0"/>
                </a:moveTo>
                <a:lnTo>
                  <a:pt x="12538572" y="0"/>
                </a:lnTo>
                <a:lnTo>
                  <a:pt x="12538572" y="5105214"/>
                </a:lnTo>
                <a:lnTo>
                  <a:pt x="0" y="51052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6658" l="-14559" r="-11772" t="-17867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9" name="Google Shape;169;p5"/>
          <p:cNvSpPr txBox="1"/>
          <p:nvPr/>
        </p:nvSpPr>
        <p:spPr>
          <a:xfrm>
            <a:off x="536574" y="578325"/>
            <a:ext cx="174921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¿QUE PRODUCTOS OFRECE MICROSOFT POWER PLATFORMS?</a:t>
            </a:r>
            <a:endParaRPr sz="800"/>
          </a:p>
        </p:txBody>
      </p:sp>
      <p:sp>
        <p:nvSpPr>
          <p:cNvPr id="170" name="Google Shape;170;p5"/>
          <p:cNvSpPr txBox="1"/>
          <p:nvPr/>
        </p:nvSpPr>
        <p:spPr>
          <a:xfrm>
            <a:off x="615950" y="7315422"/>
            <a:ext cx="17056100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29303C"/>
                </a:solidFill>
                <a:latin typeface="Sansita"/>
                <a:ea typeface="Sansita"/>
                <a:cs typeface="Sansita"/>
                <a:sym typeface="Sansita"/>
              </a:rPr>
              <a:t>*La gama de Power Platform ofrece varios productos, pero dentro del curso se desarrollarán principalmente </a:t>
            </a:r>
            <a:r>
              <a:rPr b="1" i="1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Power Apps </a:t>
            </a:r>
            <a:r>
              <a:rPr b="0" i="1" lang="en-US" sz="3000" u="none" cap="none" strike="noStrike">
                <a:solidFill>
                  <a:srgbClr val="29303C"/>
                </a:solidFill>
                <a:latin typeface="Sansita"/>
                <a:ea typeface="Sansita"/>
                <a:cs typeface="Sansita"/>
                <a:sym typeface="Sansita"/>
              </a:rPr>
              <a:t>y </a:t>
            </a:r>
            <a:r>
              <a:rPr b="1" i="1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Power Automate.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76" name="Google Shape;176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77" name="Google Shape;177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79" name="Google Shape;179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80" name="Google Shape;180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1" name="Google Shape;181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82" name="Google Shape;182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83" name="Google Shape;183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" name="Google Shape;184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85" name="Google Shape;185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86" name="Google Shape;186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6"/>
          <p:cNvSpPr/>
          <p:nvPr/>
        </p:nvSpPr>
        <p:spPr>
          <a:xfrm>
            <a:off x="3493371" y="3010387"/>
            <a:ext cx="11301259" cy="4266225"/>
          </a:xfrm>
          <a:custGeom>
            <a:rect b="b" l="l" r="r" t="t"/>
            <a:pathLst>
              <a:path extrusionOk="0" h="4266225" w="11301259">
                <a:moveTo>
                  <a:pt x="0" y="0"/>
                </a:moveTo>
                <a:lnTo>
                  <a:pt x="11301258" y="0"/>
                </a:lnTo>
                <a:lnTo>
                  <a:pt x="11301258" y="4266226"/>
                </a:lnTo>
                <a:lnTo>
                  <a:pt x="0" y="4266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p7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193" name="Google Shape;193;p7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194" name="Google Shape;194;p7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7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196" name="Google Shape;196;p7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197" name="Google Shape;197;p7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7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199" name="Google Shape;199;p7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00" name="Google Shape;200;p7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7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202" name="Google Shape;202;p7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03" name="Google Shape;203;p7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7"/>
          <p:cNvSpPr/>
          <p:nvPr/>
        </p:nvSpPr>
        <p:spPr>
          <a:xfrm>
            <a:off x="2155694" y="5099050"/>
            <a:ext cx="14331338" cy="4836826"/>
          </a:xfrm>
          <a:custGeom>
            <a:rect b="b" l="l" r="r" t="t"/>
            <a:pathLst>
              <a:path extrusionOk="0" h="4836826" w="14331338">
                <a:moveTo>
                  <a:pt x="0" y="0"/>
                </a:moveTo>
                <a:lnTo>
                  <a:pt x="14331337" y="0"/>
                </a:lnTo>
                <a:lnTo>
                  <a:pt x="14331337" y="4836826"/>
                </a:lnTo>
                <a:lnTo>
                  <a:pt x="0" y="4836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7"/>
          <p:cNvSpPr txBox="1"/>
          <p:nvPr/>
        </p:nvSpPr>
        <p:spPr>
          <a:xfrm>
            <a:off x="1201176" y="285000"/>
            <a:ext cx="14820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Microsoft PowerApps?</a:t>
            </a:r>
            <a:endParaRPr/>
          </a:p>
        </p:txBody>
      </p:sp>
      <p:sp>
        <p:nvSpPr>
          <p:cNvPr id="206" name="Google Shape;206;p7"/>
          <p:cNvSpPr txBox="1"/>
          <p:nvPr/>
        </p:nvSpPr>
        <p:spPr>
          <a:xfrm>
            <a:off x="1278155" y="1508125"/>
            <a:ext cx="16382387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de desarrollo de aplicaciones low-code que nos permite crear aplicaciones móviles y web personalizadas sin necesidad de ser programadores expertos, entre las funciones de PowerApps hay: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sin código.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Personalizar aplicaciones.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Integrar nuestras aplicaciones con otros productos de Microsoft.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Compartir nuestras aplicaciones con otros.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8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3" name="Google Shape;213;p8"/>
          <p:cNvGrpSpPr/>
          <p:nvPr/>
        </p:nvGrpSpPr>
        <p:grpSpPr>
          <a:xfrm>
            <a:off x="1517594" y="2085789"/>
            <a:ext cx="731003" cy="760368"/>
            <a:chOff x="0" y="0"/>
            <a:chExt cx="974670" cy="1013824"/>
          </a:xfrm>
        </p:grpSpPr>
        <p:sp>
          <p:nvSpPr>
            <p:cNvPr id="214" name="Google Shape;214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16" name="Google Shape;216;p8"/>
          <p:cNvGrpSpPr/>
          <p:nvPr/>
        </p:nvGrpSpPr>
        <p:grpSpPr>
          <a:xfrm>
            <a:off x="1517594" y="4148195"/>
            <a:ext cx="731003" cy="760368"/>
            <a:chOff x="0" y="0"/>
            <a:chExt cx="974670" cy="1013824"/>
          </a:xfrm>
        </p:grpSpPr>
        <p:sp>
          <p:nvSpPr>
            <p:cNvPr id="217" name="Google Shape;217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19" name="Google Shape;219;p8"/>
          <p:cNvGrpSpPr/>
          <p:nvPr/>
        </p:nvGrpSpPr>
        <p:grpSpPr>
          <a:xfrm>
            <a:off x="1517594" y="6439867"/>
            <a:ext cx="731003" cy="760368"/>
            <a:chOff x="0" y="0"/>
            <a:chExt cx="974670" cy="1013824"/>
          </a:xfrm>
        </p:grpSpPr>
        <p:sp>
          <p:nvSpPr>
            <p:cNvPr id="220" name="Google Shape;220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22" name="Google Shape;222;p8"/>
          <p:cNvSpPr txBox="1"/>
          <p:nvPr/>
        </p:nvSpPr>
        <p:spPr>
          <a:xfrm>
            <a:off x="1663522" y="8536803"/>
            <a:ext cx="439148" cy="6359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2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223" name="Google Shape;223;p8"/>
          <p:cNvSpPr txBox="1"/>
          <p:nvPr/>
        </p:nvSpPr>
        <p:spPr>
          <a:xfrm>
            <a:off x="2309801" y="439737"/>
            <a:ext cx="14307328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PowerApps</a:t>
            </a:r>
            <a:endParaRPr/>
          </a:p>
        </p:txBody>
      </p:sp>
      <p:sp>
        <p:nvSpPr>
          <p:cNvPr id="224" name="Google Shape;224;p8"/>
          <p:cNvSpPr txBox="1"/>
          <p:nvPr/>
        </p:nvSpPr>
        <p:spPr>
          <a:xfrm>
            <a:off x="2441330" y="2057214"/>
            <a:ext cx="135912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Aplicaciones de Productividad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de automatización de tareas repetitivas, como la gestión de proyectos o la aprobación de flujos de trabajo.</a:t>
            </a:r>
            <a:endParaRPr/>
          </a:p>
        </p:txBody>
      </p:sp>
      <p:sp>
        <p:nvSpPr>
          <p:cNvPr id="225" name="Google Shape;225;p8"/>
          <p:cNvSpPr txBox="1"/>
          <p:nvPr/>
        </p:nvSpPr>
        <p:spPr>
          <a:xfrm>
            <a:off x="2441330" y="4119620"/>
            <a:ext cx="1417579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Aplicación de Clientes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móviles para clientes que les permitan realizar pedidos, acceder a información o solicitar asistencia.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2441330" y="6411292"/>
            <a:ext cx="1417579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Aplicaciones de Negocios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aplicaciones personalizadas para las necesidades específicas del negocio como aplicaciones de gestión de inventario.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1" name="Google Shape;231;p9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32" name="Google Shape;232;p9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33" name="Google Shape;233;p9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35" name="Google Shape;235;p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36" name="Google Shape;236;p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9"/>
          <p:cNvSpPr/>
          <p:nvPr/>
        </p:nvSpPr>
        <p:spPr>
          <a:xfrm>
            <a:off x="1643265" y="2329665"/>
            <a:ext cx="15616035" cy="4548170"/>
          </a:xfrm>
          <a:custGeom>
            <a:rect b="b" l="l" r="r" t="t"/>
            <a:pathLst>
              <a:path extrusionOk="0" h="4548170" w="15616035">
                <a:moveTo>
                  <a:pt x="0" y="0"/>
                </a:moveTo>
                <a:lnTo>
                  <a:pt x="15616035" y="0"/>
                </a:lnTo>
                <a:lnTo>
                  <a:pt x="15616035" y="4548170"/>
                </a:lnTo>
                <a:lnTo>
                  <a:pt x="0" y="45481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8" name="Google Shape;238;p9"/>
          <p:cNvSpPr txBox="1"/>
          <p:nvPr/>
        </p:nvSpPr>
        <p:spPr>
          <a:xfrm>
            <a:off x="3496932" y="971550"/>
            <a:ext cx="1129413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Precios de PowerApps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3" name="Google Shape;243;p10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44" name="Google Shape;244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45" name="Google Shape;245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10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47" name="Google Shape;247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48" name="Google Shape;248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10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50" name="Google Shape;250;p10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51" name="Google Shape;251;p10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2" name="Google Shape;252;p10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53" name="Google Shape;253;p10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54" name="Google Shape;254;p10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5" name="Google Shape;255;p10"/>
          <p:cNvSpPr/>
          <p:nvPr/>
        </p:nvSpPr>
        <p:spPr>
          <a:xfrm>
            <a:off x="3737095" y="2667137"/>
            <a:ext cx="10813811" cy="4952725"/>
          </a:xfrm>
          <a:custGeom>
            <a:rect b="b" l="l" r="r" t="t"/>
            <a:pathLst>
              <a:path extrusionOk="0" h="4952725" w="10813811">
                <a:moveTo>
                  <a:pt x="0" y="0"/>
                </a:moveTo>
                <a:lnTo>
                  <a:pt x="10813810" y="0"/>
                </a:lnTo>
                <a:lnTo>
                  <a:pt x="10813810" y="4952726"/>
                </a:lnTo>
                <a:lnTo>
                  <a:pt x="0" y="49527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0" name="Google Shape;260;p11"/>
          <p:cNvGrpSpPr/>
          <p:nvPr/>
        </p:nvGrpSpPr>
        <p:grpSpPr>
          <a:xfrm>
            <a:off x="0" y="-171146"/>
            <a:ext cx="566738" cy="2834568"/>
            <a:chOff x="0" y="-38100"/>
            <a:chExt cx="149264" cy="746553"/>
          </a:xfrm>
        </p:grpSpPr>
        <p:sp>
          <p:nvSpPr>
            <p:cNvPr id="261" name="Google Shape;261;p11"/>
            <p:cNvSpPr/>
            <p:nvPr/>
          </p:nvSpPr>
          <p:spPr>
            <a:xfrm>
              <a:off x="0" y="0"/>
              <a:ext cx="149264" cy="708453"/>
            </a:xfrm>
            <a:custGeom>
              <a:rect b="b" l="l" r="r" t="t"/>
              <a:pathLst>
                <a:path extrusionOk="0" h="708453" w="149264">
                  <a:moveTo>
                    <a:pt x="0" y="0"/>
                  </a:moveTo>
                  <a:lnTo>
                    <a:pt x="149264" y="0"/>
                  </a:lnTo>
                  <a:lnTo>
                    <a:pt x="149264" y="708453"/>
                  </a:lnTo>
                  <a:lnTo>
                    <a:pt x="0" y="708453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62" name="Google Shape;262;p11"/>
            <p:cNvSpPr txBox="1"/>
            <p:nvPr/>
          </p:nvSpPr>
          <p:spPr>
            <a:xfrm>
              <a:off x="0" y="-38100"/>
              <a:ext cx="149264" cy="746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3" name="Google Shape;263;p11"/>
          <p:cNvGrpSpPr/>
          <p:nvPr/>
        </p:nvGrpSpPr>
        <p:grpSpPr>
          <a:xfrm>
            <a:off x="0" y="-144661"/>
            <a:ext cx="1133475" cy="1463129"/>
            <a:chOff x="0" y="-38100"/>
            <a:chExt cx="298528" cy="385351"/>
          </a:xfrm>
        </p:grpSpPr>
        <p:sp>
          <p:nvSpPr>
            <p:cNvPr id="264" name="Google Shape;264;p11"/>
            <p:cNvSpPr/>
            <p:nvPr/>
          </p:nvSpPr>
          <p:spPr>
            <a:xfrm>
              <a:off x="0" y="0"/>
              <a:ext cx="298528" cy="347251"/>
            </a:xfrm>
            <a:custGeom>
              <a:rect b="b" l="l" r="r" t="t"/>
              <a:pathLst>
                <a:path extrusionOk="0" h="347251" w="298528">
                  <a:moveTo>
                    <a:pt x="0" y="0"/>
                  </a:moveTo>
                  <a:lnTo>
                    <a:pt x="298528" y="0"/>
                  </a:lnTo>
                  <a:lnTo>
                    <a:pt x="298528" y="347251"/>
                  </a:lnTo>
                  <a:lnTo>
                    <a:pt x="0" y="3472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5" name="Google Shape;265;p11"/>
            <p:cNvSpPr txBox="1"/>
            <p:nvPr/>
          </p:nvSpPr>
          <p:spPr>
            <a:xfrm>
              <a:off x="0" y="-38100"/>
              <a:ext cx="298528" cy="3853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6" name="Google Shape;266;p11"/>
          <p:cNvGrpSpPr/>
          <p:nvPr/>
        </p:nvGrpSpPr>
        <p:grpSpPr>
          <a:xfrm>
            <a:off x="16776087" y="8921922"/>
            <a:ext cx="2344551" cy="2157882"/>
            <a:chOff x="0" y="-38100"/>
            <a:chExt cx="617495" cy="568331"/>
          </a:xfrm>
        </p:grpSpPr>
        <p:sp>
          <p:nvSpPr>
            <p:cNvPr id="267" name="Google Shape;267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268" name="Google Shape;268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9" name="Google Shape;269;p11"/>
          <p:cNvGrpSpPr/>
          <p:nvPr/>
        </p:nvGrpSpPr>
        <p:grpSpPr>
          <a:xfrm>
            <a:off x="17577588" y="6952876"/>
            <a:ext cx="3086100" cy="3120318"/>
            <a:chOff x="0" y="-38100"/>
            <a:chExt cx="812800" cy="821812"/>
          </a:xfrm>
        </p:grpSpPr>
        <p:sp>
          <p:nvSpPr>
            <p:cNvPr id="270" name="Google Shape;270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271" name="Google Shape;271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1"/>
          <p:cNvSpPr/>
          <p:nvPr/>
        </p:nvSpPr>
        <p:spPr>
          <a:xfrm>
            <a:off x="9632730" y="2051629"/>
            <a:ext cx="7626570" cy="6730448"/>
          </a:xfrm>
          <a:custGeom>
            <a:rect b="b" l="l" r="r" t="t"/>
            <a:pathLst>
              <a:path extrusionOk="0" h="6730448" w="7626570">
                <a:moveTo>
                  <a:pt x="0" y="0"/>
                </a:moveTo>
                <a:lnTo>
                  <a:pt x="7626570" y="0"/>
                </a:lnTo>
                <a:lnTo>
                  <a:pt x="7626570" y="6730448"/>
                </a:lnTo>
                <a:lnTo>
                  <a:pt x="0" y="67304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1"/>
          <p:cNvSpPr txBox="1"/>
          <p:nvPr/>
        </p:nvSpPr>
        <p:spPr>
          <a:xfrm>
            <a:off x="1133475" y="2683178"/>
            <a:ext cx="8184930" cy="543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</a:t>
            </a: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herramienta de automatización de procesos robóticos</a:t>
            </a: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[RPA] que nos permite automatizar tareas repetitivas en aplicaciones de escritorio y web, entre las funciones principales de Power Automate están: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repetitivas.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flujos de trabajo.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Utilizar la RPA.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Compartir los flujos de trabajo con otros.</a:t>
            </a:r>
            <a:endParaRPr/>
          </a:p>
        </p:txBody>
      </p:sp>
      <p:sp>
        <p:nvSpPr>
          <p:cNvPr id="274" name="Google Shape;274;p11"/>
          <p:cNvSpPr txBox="1"/>
          <p:nvPr/>
        </p:nvSpPr>
        <p:spPr>
          <a:xfrm>
            <a:off x="1853676" y="439725"/>
            <a:ext cx="16610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Microsoft Power Automate?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1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1" name="Google Shape;281;p12"/>
          <p:cNvGrpSpPr/>
          <p:nvPr/>
        </p:nvGrpSpPr>
        <p:grpSpPr>
          <a:xfrm>
            <a:off x="1539208" y="2341904"/>
            <a:ext cx="731003" cy="760368"/>
            <a:chOff x="0" y="0"/>
            <a:chExt cx="974670" cy="1013824"/>
          </a:xfrm>
        </p:grpSpPr>
        <p:sp>
          <p:nvSpPr>
            <p:cNvPr id="282" name="Google Shape;282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284" name="Google Shape;284;p12"/>
          <p:cNvGrpSpPr/>
          <p:nvPr/>
        </p:nvGrpSpPr>
        <p:grpSpPr>
          <a:xfrm>
            <a:off x="1539208" y="4426247"/>
            <a:ext cx="731003" cy="760368"/>
            <a:chOff x="0" y="0"/>
            <a:chExt cx="974670" cy="1013824"/>
          </a:xfrm>
        </p:grpSpPr>
        <p:sp>
          <p:nvSpPr>
            <p:cNvPr id="285" name="Google Shape;285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287" name="Google Shape;287;p12"/>
          <p:cNvGrpSpPr/>
          <p:nvPr/>
        </p:nvGrpSpPr>
        <p:grpSpPr>
          <a:xfrm>
            <a:off x="1539208" y="6482015"/>
            <a:ext cx="731003" cy="760368"/>
            <a:chOff x="0" y="0"/>
            <a:chExt cx="974670" cy="1013824"/>
          </a:xfrm>
        </p:grpSpPr>
        <p:sp>
          <p:nvSpPr>
            <p:cNvPr id="288" name="Google Shape;288;p12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2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90" name="Google Shape;290;p12"/>
          <p:cNvSpPr txBox="1"/>
          <p:nvPr/>
        </p:nvSpPr>
        <p:spPr>
          <a:xfrm>
            <a:off x="1214699" y="439725"/>
            <a:ext cx="14924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Casos de uso de Power Automate</a:t>
            </a:r>
            <a:endParaRPr/>
          </a:p>
        </p:txBody>
      </p:sp>
      <p:sp>
        <p:nvSpPr>
          <p:cNvPr id="291" name="Google Shape;291;p12"/>
          <p:cNvSpPr txBox="1"/>
          <p:nvPr/>
        </p:nvSpPr>
        <p:spPr>
          <a:xfrm>
            <a:off x="2462943" y="2214904"/>
            <a:ext cx="14924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repetitivas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como enviar correos electrónicos, crear documentos y actualizar registros.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2462943" y="4320656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Automatización robótica de procesos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Automatizar tareas repetitivas en aplicaciones de escritorio, como la introducción de datos o la extracción de datos.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2462943" y="6425681"/>
            <a:ext cx="14358152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Creación de flujos de trabajos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Crear flujos de trabajo automatizados complejos que abarcan diferentes aplicaciones y servicios, como la aprobación de solicitudes de vacaciones o el procesamiento de pedidos.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8" name="Google Shape;298;p13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299" name="Google Shape;299;p13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00" name="Google Shape;300;p13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1" name="Google Shape;301;p13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302" name="Google Shape;302;p13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03" name="Google Shape;303;p13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4" name="Google Shape;304;p13"/>
          <p:cNvSpPr/>
          <p:nvPr/>
        </p:nvSpPr>
        <p:spPr>
          <a:xfrm>
            <a:off x="1028700" y="1932636"/>
            <a:ext cx="16230600" cy="6167628"/>
          </a:xfrm>
          <a:custGeom>
            <a:rect b="b" l="l" r="r" t="t"/>
            <a:pathLst>
              <a:path extrusionOk="0" h="6167628" w="16230600">
                <a:moveTo>
                  <a:pt x="0" y="0"/>
                </a:moveTo>
                <a:lnTo>
                  <a:pt x="16230600" y="0"/>
                </a:lnTo>
                <a:lnTo>
                  <a:pt x="16230600" y="6167628"/>
                </a:lnTo>
                <a:lnTo>
                  <a:pt x="0" y="61676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5" name="Google Shape;305;p13"/>
          <p:cNvSpPr txBox="1"/>
          <p:nvPr/>
        </p:nvSpPr>
        <p:spPr>
          <a:xfrm>
            <a:off x="3496932" y="971550"/>
            <a:ext cx="1129413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Precios de Power Automate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4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311" name="Google Shape;311;p14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12" name="Google Shape;312;p14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4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14" name="Google Shape;314;p1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15" name="Google Shape;315;p1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4"/>
          <p:cNvSpPr/>
          <p:nvPr/>
        </p:nvSpPr>
        <p:spPr>
          <a:xfrm>
            <a:off x="1616075" y="2274484"/>
            <a:ext cx="3205523" cy="3136262"/>
          </a:xfrm>
          <a:custGeom>
            <a:rect b="b" l="l" r="r" t="t"/>
            <a:pathLst>
              <a:path extrusionOk="0" h="3136262" w="3205523">
                <a:moveTo>
                  <a:pt x="0" y="0"/>
                </a:moveTo>
                <a:lnTo>
                  <a:pt x="3205523" y="0"/>
                </a:lnTo>
                <a:lnTo>
                  <a:pt x="3205523" y="3136261"/>
                </a:lnTo>
                <a:lnTo>
                  <a:pt x="0" y="3136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9482" l="-52767" r="-53638" t="-9184"/>
            </a:stretch>
          </a:blipFill>
          <a:ln cap="sq" cmpd="sng" w="1905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7" name="Google Shape;317;p14"/>
          <p:cNvSpPr/>
          <p:nvPr/>
        </p:nvSpPr>
        <p:spPr>
          <a:xfrm>
            <a:off x="7176109" y="2274484"/>
            <a:ext cx="3136262" cy="3136262"/>
          </a:xfrm>
          <a:custGeom>
            <a:rect b="b" l="l" r="r" t="t"/>
            <a:pathLst>
              <a:path extrusionOk="0" h="3136262" w="3136262">
                <a:moveTo>
                  <a:pt x="0" y="0"/>
                </a:moveTo>
                <a:lnTo>
                  <a:pt x="3136262" y="0"/>
                </a:lnTo>
                <a:lnTo>
                  <a:pt x="3136262" y="3136261"/>
                </a:lnTo>
                <a:lnTo>
                  <a:pt x="0" y="3136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 cap="sq" cmpd="sng" w="1905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8" name="Google Shape;318;p14"/>
          <p:cNvSpPr/>
          <p:nvPr/>
        </p:nvSpPr>
        <p:spPr>
          <a:xfrm>
            <a:off x="13323518" y="2274484"/>
            <a:ext cx="3136262" cy="3136262"/>
          </a:xfrm>
          <a:custGeom>
            <a:rect b="b" l="l" r="r" t="t"/>
            <a:pathLst>
              <a:path extrusionOk="0" h="3136262" w="3136262">
                <a:moveTo>
                  <a:pt x="0" y="0"/>
                </a:moveTo>
                <a:lnTo>
                  <a:pt x="3136262" y="0"/>
                </a:lnTo>
                <a:lnTo>
                  <a:pt x="3136262" y="3136261"/>
                </a:lnTo>
                <a:lnTo>
                  <a:pt x="0" y="313626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 cap="sq" cmpd="sng" w="1905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319" name="Google Shape;319;p14"/>
          <p:cNvSpPr txBox="1"/>
          <p:nvPr/>
        </p:nvSpPr>
        <p:spPr>
          <a:xfrm>
            <a:off x="1028700" y="332293"/>
            <a:ext cx="15431080" cy="163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OTRAS APLICACIONES DE MICROSOFT POWER PLATFORMS</a:t>
            </a:r>
            <a:endParaRPr/>
          </a:p>
        </p:txBody>
      </p:sp>
      <p:cxnSp>
        <p:nvCxnSpPr>
          <p:cNvPr id="320" name="Google Shape;320;p14"/>
          <p:cNvCxnSpPr/>
          <p:nvPr/>
        </p:nvCxnSpPr>
        <p:spPr>
          <a:xfrm>
            <a:off x="5866130" y="2416413"/>
            <a:ext cx="0" cy="6841887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4"/>
          <p:cNvCxnSpPr/>
          <p:nvPr/>
        </p:nvCxnSpPr>
        <p:spPr>
          <a:xfrm>
            <a:off x="12209780" y="2416413"/>
            <a:ext cx="0" cy="6841887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2" name="Google Shape;322;p14"/>
          <p:cNvSpPr txBox="1"/>
          <p:nvPr/>
        </p:nvSpPr>
        <p:spPr>
          <a:xfrm>
            <a:off x="1226812" y="5696495"/>
            <a:ext cx="398404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herramienta completa de visualización y análisis de datos que nos permite convertir nuestros datos en información útil</a:t>
            </a:r>
            <a:endParaRPr/>
          </a:p>
        </p:txBody>
      </p:sp>
      <p:sp>
        <p:nvSpPr>
          <p:cNvPr id="323" name="Google Shape;323;p14"/>
          <p:cNvSpPr txBox="1"/>
          <p:nvPr/>
        </p:nvSpPr>
        <p:spPr>
          <a:xfrm>
            <a:off x="6752215" y="5696495"/>
            <a:ext cx="398404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Plataforma para la creación de chatbots y asistentes virtuales que nos permite crear chatbots que pueden interactuar con los usuarios de forma natural</a:t>
            </a:r>
            <a:endParaRPr/>
          </a:p>
        </p:txBody>
      </p:sp>
      <p:sp>
        <p:nvSpPr>
          <p:cNvPr id="324" name="Google Shape;324;p14"/>
          <p:cNvSpPr txBox="1"/>
          <p:nvPr/>
        </p:nvSpPr>
        <p:spPr>
          <a:xfrm>
            <a:off x="12899625" y="5696495"/>
            <a:ext cx="398404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una plataforma de creación de sitios web sin código que nos permite crear sitios web modernos y profesionales sin necesidad de ser un programador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5"/>
          <p:cNvSpPr txBox="1"/>
          <p:nvPr/>
        </p:nvSpPr>
        <p:spPr>
          <a:xfrm>
            <a:off x="2334521" y="599507"/>
            <a:ext cx="13395714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VENTAJAS DE MICROSOFT POWER PLATFORMS</a:t>
            </a:r>
            <a:endParaRPr/>
          </a:p>
        </p:txBody>
      </p:sp>
      <p:grpSp>
        <p:nvGrpSpPr>
          <p:cNvPr id="330" name="Google Shape;330;p15"/>
          <p:cNvGrpSpPr/>
          <p:nvPr/>
        </p:nvGrpSpPr>
        <p:grpSpPr>
          <a:xfrm>
            <a:off x="16487775" y="8897057"/>
            <a:ext cx="1800225" cy="1389943"/>
            <a:chOff x="0" y="-38100"/>
            <a:chExt cx="474133" cy="366075"/>
          </a:xfrm>
        </p:grpSpPr>
        <p:sp>
          <p:nvSpPr>
            <p:cNvPr id="331" name="Google Shape;331;p15"/>
            <p:cNvSpPr/>
            <p:nvPr/>
          </p:nvSpPr>
          <p:spPr>
            <a:xfrm>
              <a:off x="0" y="0"/>
              <a:ext cx="474133" cy="327975"/>
            </a:xfrm>
            <a:custGeom>
              <a:rect b="b" l="l" r="r" t="t"/>
              <a:pathLst>
                <a:path extrusionOk="0" h="327975" w="474133">
                  <a:moveTo>
                    <a:pt x="0" y="0"/>
                  </a:moveTo>
                  <a:lnTo>
                    <a:pt x="474133" y="0"/>
                  </a:lnTo>
                  <a:lnTo>
                    <a:pt x="474133" y="327975"/>
                  </a:lnTo>
                  <a:lnTo>
                    <a:pt x="0" y="327975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32" name="Google Shape;332;p15"/>
            <p:cNvSpPr txBox="1"/>
            <p:nvPr/>
          </p:nvSpPr>
          <p:spPr>
            <a:xfrm>
              <a:off x="0" y="-38100"/>
              <a:ext cx="474133" cy="366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3" name="Google Shape;333;p15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334" name="Google Shape;334;p15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35" name="Google Shape;335;p15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6" name="Google Shape;336;p15"/>
          <p:cNvGrpSpPr/>
          <p:nvPr/>
        </p:nvGrpSpPr>
        <p:grpSpPr>
          <a:xfrm>
            <a:off x="1410785" y="2955357"/>
            <a:ext cx="731003" cy="760368"/>
            <a:chOff x="0" y="0"/>
            <a:chExt cx="974670" cy="1013824"/>
          </a:xfrm>
        </p:grpSpPr>
        <p:sp>
          <p:nvSpPr>
            <p:cNvPr id="337" name="Google Shape;337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39" name="Google Shape;339;p15"/>
          <p:cNvGrpSpPr/>
          <p:nvPr/>
        </p:nvGrpSpPr>
        <p:grpSpPr>
          <a:xfrm>
            <a:off x="1410785" y="4744834"/>
            <a:ext cx="731003" cy="760368"/>
            <a:chOff x="0" y="0"/>
            <a:chExt cx="974670" cy="1013824"/>
          </a:xfrm>
        </p:grpSpPr>
        <p:sp>
          <p:nvSpPr>
            <p:cNvPr id="340" name="Google Shape;340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42" name="Google Shape;342;p15"/>
          <p:cNvGrpSpPr/>
          <p:nvPr/>
        </p:nvGrpSpPr>
        <p:grpSpPr>
          <a:xfrm>
            <a:off x="1410785" y="6581527"/>
            <a:ext cx="731003" cy="760368"/>
            <a:chOff x="0" y="0"/>
            <a:chExt cx="974670" cy="1013824"/>
          </a:xfrm>
        </p:grpSpPr>
        <p:sp>
          <p:nvSpPr>
            <p:cNvPr id="343" name="Google Shape;343;p15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15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45" name="Google Shape;345;p15"/>
          <p:cNvSpPr txBox="1"/>
          <p:nvPr/>
        </p:nvSpPr>
        <p:spPr>
          <a:xfrm>
            <a:off x="2334521" y="2828357"/>
            <a:ext cx="14924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Ahorro de costos de personal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Disminuye los gastos en desarrollo de aplicaciones al permitir que los usuarios no técnicos puedan crear soluciones empresariales</a:t>
            </a:r>
            <a:endParaRPr/>
          </a:p>
        </p:txBody>
      </p:sp>
      <p:sp>
        <p:nvSpPr>
          <p:cNvPr id="346" name="Google Shape;346;p15"/>
          <p:cNvSpPr txBox="1"/>
          <p:nvPr/>
        </p:nvSpPr>
        <p:spPr>
          <a:xfrm>
            <a:off x="2334521" y="4639243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Integración perfecta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 integran perfectamente con otras herramientas de Microsoft, como Office 365</a:t>
            </a:r>
            <a:endParaRPr/>
          </a:p>
        </p:txBody>
      </p:sp>
      <p:sp>
        <p:nvSpPr>
          <p:cNvPr id="347" name="Google Shape;347;p15"/>
          <p:cNvSpPr txBox="1"/>
          <p:nvPr/>
        </p:nvSpPr>
        <p:spPr>
          <a:xfrm>
            <a:off x="2334521" y="6525193"/>
            <a:ext cx="14358152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Desarrollo rápido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Permiten un desarrollo rápido de soluciones a la medida, lo que reduce el tiempo de lanzamiento al mercado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6"/>
          <p:cNvSpPr txBox="1"/>
          <p:nvPr/>
        </p:nvSpPr>
        <p:spPr>
          <a:xfrm>
            <a:off x="2037864" y="298450"/>
            <a:ext cx="14951464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DESVENTAJAS DE MICROSOFT POWER PLATFORMS</a:t>
            </a:r>
            <a:endParaRPr/>
          </a:p>
        </p:txBody>
      </p:sp>
      <p:grpSp>
        <p:nvGrpSpPr>
          <p:cNvPr id="353" name="Google Shape;353;p16"/>
          <p:cNvGrpSpPr/>
          <p:nvPr/>
        </p:nvGrpSpPr>
        <p:grpSpPr>
          <a:xfrm>
            <a:off x="0" y="8897057"/>
            <a:ext cx="1800225" cy="1389943"/>
            <a:chOff x="0" y="-38100"/>
            <a:chExt cx="474133" cy="366075"/>
          </a:xfrm>
        </p:grpSpPr>
        <p:sp>
          <p:nvSpPr>
            <p:cNvPr id="354" name="Google Shape;354;p16"/>
            <p:cNvSpPr/>
            <p:nvPr/>
          </p:nvSpPr>
          <p:spPr>
            <a:xfrm>
              <a:off x="0" y="0"/>
              <a:ext cx="474133" cy="327975"/>
            </a:xfrm>
            <a:custGeom>
              <a:rect b="b" l="l" r="r" t="t"/>
              <a:pathLst>
                <a:path extrusionOk="0" h="327975" w="474133">
                  <a:moveTo>
                    <a:pt x="0" y="0"/>
                  </a:moveTo>
                  <a:lnTo>
                    <a:pt x="474133" y="0"/>
                  </a:lnTo>
                  <a:lnTo>
                    <a:pt x="474133" y="327975"/>
                  </a:lnTo>
                  <a:lnTo>
                    <a:pt x="0" y="327975"/>
                  </a:lnTo>
                  <a:close/>
                </a:path>
              </a:pathLst>
            </a:custGeom>
            <a:solidFill>
              <a:srgbClr val="0A8987"/>
            </a:solidFill>
            <a:ln>
              <a:noFill/>
            </a:ln>
          </p:spPr>
        </p:sp>
        <p:sp>
          <p:nvSpPr>
            <p:cNvPr id="355" name="Google Shape;355;p16"/>
            <p:cNvSpPr txBox="1"/>
            <p:nvPr/>
          </p:nvSpPr>
          <p:spPr>
            <a:xfrm>
              <a:off x="0" y="-38100"/>
              <a:ext cx="474133" cy="3660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6" name="Google Shape;356;p16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357" name="Google Shape;357;p16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</p:sp>
        <p:sp>
          <p:nvSpPr>
            <p:cNvPr id="358" name="Google Shape;358;p16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9" name="Google Shape;359;p16"/>
          <p:cNvGrpSpPr/>
          <p:nvPr/>
        </p:nvGrpSpPr>
        <p:grpSpPr>
          <a:xfrm>
            <a:off x="1410785" y="2491671"/>
            <a:ext cx="731003" cy="760368"/>
            <a:chOff x="0" y="0"/>
            <a:chExt cx="974670" cy="1013824"/>
          </a:xfrm>
        </p:grpSpPr>
        <p:sp>
          <p:nvSpPr>
            <p:cNvPr id="360" name="Google Shape;360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62" name="Google Shape;362;p16"/>
          <p:cNvGrpSpPr/>
          <p:nvPr/>
        </p:nvGrpSpPr>
        <p:grpSpPr>
          <a:xfrm>
            <a:off x="1410785" y="4576014"/>
            <a:ext cx="731003" cy="760368"/>
            <a:chOff x="0" y="0"/>
            <a:chExt cx="974670" cy="1013824"/>
          </a:xfrm>
        </p:grpSpPr>
        <p:sp>
          <p:nvSpPr>
            <p:cNvPr id="363" name="Google Shape;363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65" name="Google Shape;365;p16"/>
          <p:cNvGrpSpPr/>
          <p:nvPr/>
        </p:nvGrpSpPr>
        <p:grpSpPr>
          <a:xfrm>
            <a:off x="1410785" y="6631782"/>
            <a:ext cx="731003" cy="760368"/>
            <a:chOff x="0" y="0"/>
            <a:chExt cx="974670" cy="1013824"/>
          </a:xfrm>
        </p:grpSpPr>
        <p:sp>
          <p:nvSpPr>
            <p:cNvPr id="366" name="Google Shape;366;p16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6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68" name="Google Shape;368;p16"/>
          <p:cNvSpPr txBox="1"/>
          <p:nvPr/>
        </p:nvSpPr>
        <p:spPr>
          <a:xfrm>
            <a:off x="2334521" y="2364671"/>
            <a:ext cx="14924779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Limitaciones de privacidad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Pueden surgir problemas de privacidad, especialmente al integrar la plataforma con otras herramientas</a:t>
            </a:r>
            <a:endParaRPr/>
          </a:p>
        </p:txBody>
      </p:sp>
      <p:sp>
        <p:nvSpPr>
          <p:cNvPr id="369" name="Google Shape;369;p16"/>
          <p:cNvSpPr txBox="1"/>
          <p:nvPr/>
        </p:nvSpPr>
        <p:spPr>
          <a:xfrm>
            <a:off x="2334521" y="4470423"/>
            <a:ext cx="14817970" cy="1476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Dependencia de Microsoft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dependencia de la plataforma de Microsoft puede limitar la flexibilidad y la capacidad de integrarse con otras herramientas externas. </a:t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2334521" y="6575448"/>
            <a:ext cx="14358152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Costos por suscripción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 suscripción a las herramientas de la plataforma puede resultar costosa, especialmente para pequeñas empresas o organizaciones con pocos usuarios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7"/>
          <p:cNvSpPr txBox="1"/>
          <p:nvPr/>
        </p:nvSpPr>
        <p:spPr>
          <a:xfrm>
            <a:off x="6420085" y="2861681"/>
            <a:ext cx="6860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</a:t>
            </a:r>
            <a:endParaRPr/>
          </a:p>
        </p:txBody>
      </p:sp>
      <p:sp>
        <p:nvSpPr>
          <p:cNvPr id="376" name="Google Shape;376;p17"/>
          <p:cNvSpPr txBox="1"/>
          <p:nvPr/>
        </p:nvSpPr>
        <p:spPr>
          <a:xfrm>
            <a:off x="2162609" y="3925306"/>
            <a:ext cx="14581906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Y USO DE POWER APPS</a:t>
            </a:r>
            <a:endParaRPr/>
          </a:p>
        </p:txBody>
      </p:sp>
      <p:sp>
        <p:nvSpPr>
          <p:cNvPr id="377" name="Google Shape;377;p17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78" name="Google Shape;378;p17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8"/>
          <p:cNvSpPr txBox="1"/>
          <p:nvPr/>
        </p:nvSpPr>
        <p:spPr>
          <a:xfrm>
            <a:off x="5995921" y="2861681"/>
            <a:ext cx="6860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 II</a:t>
            </a:r>
            <a:endParaRPr/>
          </a:p>
        </p:txBody>
      </p:sp>
      <p:sp>
        <p:nvSpPr>
          <p:cNvPr id="384" name="Google Shape;384;p18"/>
          <p:cNvSpPr txBox="1"/>
          <p:nvPr/>
        </p:nvSpPr>
        <p:spPr>
          <a:xfrm>
            <a:off x="2162609" y="3925306"/>
            <a:ext cx="14581906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DE POWER AUTOAMTE</a:t>
            </a:r>
            <a:endParaRPr/>
          </a:p>
        </p:txBody>
      </p:sp>
      <p:sp>
        <p:nvSpPr>
          <p:cNvPr id="385" name="Google Shape;385;p1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86" name="Google Shape;386;p1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9"/>
          <p:cNvSpPr txBox="1"/>
          <p:nvPr/>
        </p:nvSpPr>
        <p:spPr>
          <a:xfrm>
            <a:off x="5542868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392" name="Google Shape;392;p19"/>
          <p:cNvSpPr txBox="1"/>
          <p:nvPr/>
        </p:nvSpPr>
        <p:spPr>
          <a:xfrm>
            <a:off x="636925" y="1765625"/>
            <a:ext cx="16770300" cy="6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38" u="none" cap="none" strike="noStrike">
                <a:solidFill>
                  <a:srgbClr val="0A8987"/>
                </a:solidFill>
                <a:latin typeface="Arial"/>
                <a:ea typeface="Arial"/>
                <a:cs typeface="Arial"/>
                <a:sym typeface="Arial"/>
              </a:rPr>
              <a:t>Empatía</a:t>
            </a:r>
            <a:endParaRPr/>
          </a:p>
          <a:p>
            <a:pPr indent="-425154" lvl="1" marL="850308" marR="0" rtl="0" algn="l">
              <a:lnSpc>
                <a:spcPct val="12998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38"/>
              <a:buFont typeface="Arial"/>
              <a:buChar char="•"/>
            </a:pPr>
            <a:r>
              <a:rPr b="0" i="0" lang="en-US" sz="3938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un proyecto universitario o de desarrollo cloud, un estudiante o desarrollador demuestra empatía al escuchar con atención las ideas, inquietudes y dificultades de sus compañeros, sin interrumpir ni juzgar.</a:t>
            </a:r>
            <a:endParaRPr/>
          </a:p>
          <a:p>
            <a:pPr indent="-425154" lvl="1" marL="850308" marR="0" rtl="0" algn="l">
              <a:lnSpc>
                <a:spcPct val="129989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938"/>
              <a:buFont typeface="Arial"/>
              <a:buChar char="•"/>
            </a:pPr>
            <a:r>
              <a:rPr b="0" i="0" lang="en-US" sz="3938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 épocas de alta demanda académica o de presión por entregas en la nube, alguien empático detecta señales de estrés en sus colegas y actúa con comprensión, ajustando plazos si es posible, ofreciendo apoyo o simplemente mostrando interés genuino por el bienestar del otro.</a:t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94" name="Google Shape;394;p19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0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0" name="Google Shape;400;p2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1" name="Google Shape;401;p2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02" name="Google Shape;402;p20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61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403" name="Google Shape;403;p20"/>
          <p:cNvSpPr txBox="1"/>
          <p:nvPr/>
        </p:nvSpPr>
        <p:spPr>
          <a:xfrm>
            <a:off x="3865124" y="2672525"/>
            <a:ext cx="5621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Inteligencia Artificial</a:t>
            </a:r>
            <a:endParaRPr/>
          </a:p>
        </p:txBody>
      </p:sp>
      <p:grpSp>
        <p:nvGrpSpPr>
          <p:cNvPr id="404" name="Google Shape;404;p20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405" name="Google Shape;405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407" name="Google Shape;407;p20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408" name="Google Shape;408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410" name="Google Shape;410;p20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411" name="Google Shape;411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413" name="Google Shape;413;p20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414" name="Google Shape;414;p20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0A898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20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924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416" name="Google Shape;416;p20"/>
          <p:cNvSpPr txBox="1"/>
          <p:nvPr/>
        </p:nvSpPr>
        <p:spPr>
          <a:xfrm>
            <a:off x="3865123" y="4841875"/>
            <a:ext cx="53130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Lenguaje natural</a:t>
            </a:r>
            <a:endParaRPr/>
          </a:p>
        </p:txBody>
      </p:sp>
      <p:sp>
        <p:nvSpPr>
          <p:cNvPr id="417" name="Google Shape;417;p20"/>
          <p:cNvSpPr txBox="1"/>
          <p:nvPr/>
        </p:nvSpPr>
        <p:spPr>
          <a:xfrm>
            <a:off x="3865124" y="6067150"/>
            <a:ext cx="5621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/>
          </a:p>
        </p:txBody>
      </p:sp>
      <p:sp>
        <p:nvSpPr>
          <p:cNvPr id="418" name="Google Shape;418;p20"/>
          <p:cNvSpPr txBox="1"/>
          <p:nvPr/>
        </p:nvSpPr>
        <p:spPr>
          <a:xfrm>
            <a:off x="3865124" y="3740025"/>
            <a:ext cx="52515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Análisis de imagenes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1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0A89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1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25" name="Google Shape;425;p21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24" u="none" cap="none" strike="noStrike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426" name="Google Shape;426;p21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</p:sp>
      <p:sp>
        <p:nvSpPr>
          <p:cNvPr id="427" name="Google Shape;427;p21"/>
          <p:cNvSpPr txBox="1"/>
          <p:nvPr/>
        </p:nvSpPr>
        <p:spPr>
          <a:xfrm>
            <a:off x="7744891" y="417359"/>
            <a:ext cx="9514409" cy="8222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Microsoft Power Platform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https://learn.microsoft.com/en-us/power-platform/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Power BI documentation. Microsoft Learn.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https://learn.microsoft.com/en-us/power-bi/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Power Apps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https://learn.microsoft.com/en-us/power-apps/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Power Automate documentation. Microsoft Learn.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https://learn.microsoft.com/en-us/power-automate/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Microsoft. (s.f.). Power Virtual Agents documentation. Microsoft Learn.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https://learn.microsoft.com/en-us/power-virtual-agents/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Microsoft. (s.f.). Power Pages documentation. Microsoft Learn.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25" u="sng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https://learn.microsoft.com/en-us/power-pages/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433" name="Google Shape;433;p22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22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5" name="Google Shape;435;p22"/>
          <p:cNvSpPr txBox="1"/>
          <p:nvPr/>
        </p:nvSpPr>
        <p:spPr>
          <a:xfrm>
            <a:off x="6949660" y="5086350"/>
            <a:ext cx="434105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