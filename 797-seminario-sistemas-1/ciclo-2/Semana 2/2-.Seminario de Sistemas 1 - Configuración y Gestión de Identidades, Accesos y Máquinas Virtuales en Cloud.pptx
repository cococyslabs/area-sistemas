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Hammersmith One"/>
      <p:regular r:id="rId26"/>
    </p:embeddedFont>
    <p:embeddedFont>
      <p:font typeface="Open Sans"/>
      <p:bold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9" roundtripDataSignature="AMtx7mhY9T+C0gfp6DK/QPBq5626dsff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ammersmithOne-regular.fntdata"/><Relationship Id="rId25" Type="http://schemas.openxmlformats.org/officeDocument/2006/relationships/slide" Target="slides/slide20.xml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5" name="Google Shape;85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1669741" y="2766935"/>
            <a:ext cx="15132474" cy="34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UNIDADES 3 y 4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“Configuración y Gestión de Identidades y Accesos en Cloud” y “Configuración e Implementación de Máquinas Virtuales en la nube”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07327" y="7380150"/>
            <a:ext cx="673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1" name="Google Shape;91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99" name="Google Shape;99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grpSp>
        <p:nvGrpSpPr>
          <p:cNvPr id="100" name="Google Shape;100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8" name="Google Shape;108;p2"/>
          <p:cNvGrpSpPr/>
          <p:nvPr/>
        </p:nvGrpSpPr>
        <p:grpSpPr>
          <a:xfrm>
            <a:off x="1421964" y="8160878"/>
            <a:ext cx="731003" cy="760368"/>
            <a:chOff x="0" y="0"/>
            <a:chExt cx="974670" cy="1013824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6606476" y="274500"/>
            <a:ext cx="420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2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2335952" y="5933228"/>
            <a:ext cx="8986058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Usuarios, Grupos y Permisos en AWS - IAM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2266810" y="6792793"/>
            <a:ext cx="6808048" cy="1118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Creación y Configuración de Instancias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2366938" y="8243723"/>
            <a:ext cx="278475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EC2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3"/>
          <p:cNvGrpSpPr/>
          <p:nvPr/>
        </p:nvGrpSpPr>
        <p:grpSpPr>
          <a:xfrm>
            <a:off x="0" y="-144661"/>
            <a:ext cx="18288000" cy="1699673"/>
            <a:chOff x="0" y="-38100"/>
            <a:chExt cx="4816593" cy="447650"/>
          </a:xfrm>
        </p:grpSpPr>
        <p:sp>
          <p:nvSpPr>
            <p:cNvPr id="123" name="Google Shape;123;p3"/>
            <p:cNvSpPr/>
            <p:nvPr/>
          </p:nvSpPr>
          <p:spPr>
            <a:xfrm>
              <a:off x="0" y="0"/>
              <a:ext cx="4816592" cy="409550"/>
            </a:xfrm>
            <a:custGeom>
              <a:rect b="b" l="l" r="r" t="t"/>
              <a:pathLst>
                <a:path extrusionOk="0" h="4095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09550"/>
                  </a:lnTo>
                  <a:lnTo>
                    <a:pt x="0" y="40955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24" name="Google Shape;124;p3"/>
            <p:cNvSpPr txBox="1"/>
            <p:nvPr/>
          </p:nvSpPr>
          <p:spPr>
            <a:xfrm>
              <a:off x="0" y="-38100"/>
              <a:ext cx="4816593" cy="4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3"/>
          <p:cNvSpPr txBox="1"/>
          <p:nvPr/>
        </p:nvSpPr>
        <p:spPr>
          <a:xfrm>
            <a:off x="648460" y="1748765"/>
            <a:ext cx="16610840" cy="4490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IAM es un servicio global de AWS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que permite a los usuarios gestionar el acceso y los permisos a los recursos dentro de su entorno AWS.</a:t>
            </a:r>
            <a:endParaRPr/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25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Este servicio proporciona un marco de seguridad para controlar y gestionar de manera centralizada quien tiene acceso a los recursos y qué acciones puede realizar.</a:t>
            </a:r>
            <a:endParaRPr/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25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fin principal del servicio es poder gestionar:</a:t>
            </a:r>
            <a:endParaRPr/>
          </a:p>
        </p:txBody>
      </p:sp>
      <p:grpSp>
        <p:nvGrpSpPr>
          <p:cNvPr id="126" name="Google Shape;126;p3"/>
          <p:cNvGrpSpPr/>
          <p:nvPr/>
        </p:nvGrpSpPr>
        <p:grpSpPr>
          <a:xfrm>
            <a:off x="693550" y="6467767"/>
            <a:ext cx="3370097" cy="3370097"/>
            <a:chOff x="0" y="0"/>
            <a:chExt cx="4493463" cy="4493463"/>
          </a:xfrm>
        </p:grpSpPr>
        <p:grpSp>
          <p:nvGrpSpPr>
            <p:cNvPr id="127" name="Google Shape;127;p3"/>
            <p:cNvGrpSpPr/>
            <p:nvPr/>
          </p:nvGrpSpPr>
          <p:grpSpPr>
            <a:xfrm>
              <a:off x="0" y="0"/>
              <a:ext cx="4493463" cy="4493463"/>
              <a:chOff x="0" y="0"/>
              <a:chExt cx="812800" cy="812800"/>
            </a:xfrm>
          </p:grpSpPr>
          <p:sp>
            <p:nvSpPr>
              <p:cNvPr id="128" name="Google Shape;128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9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" name="Google Shape;130;p3"/>
            <p:cNvGrpSpPr/>
            <p:nvPr/>
          </p:nvGrpSpPr>
          <p:grpSpPr>
            <a:xfrm>
              <a:off x="183011" y="189332"/>
              <a:ext cx="4114800" cy="4114800"/>
              <a:chOff x="0" y="0"/>
              <a:chExt cx="812800" cy="812800"/>
            </a:xfrm>
          </p:grpSpPr>
          <p:sp>
            <p:nvSpPr>
              <p:cNvPr id="131" name="Google Shape;131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930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3" name="Google Shape;133;p3"/>
            <p:cNvSpPr txBox="1"/>
            <p:nvPr/>
          </p:nvSpPr>
          <p:spPr>
            <a:xfrm>
              <a:off x="828148" y="1872082"/>
              <a:ext cx="2824525" cy="666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USUARIOS</a:t>
              </a:r>
              <a:endParaRPr/>
            </a:p>
          </p:txBody>
        </p:sp>
      </p:grpSp>
      <p:grpSp>
        <p:nvGrpSpPr>
          <p:cNvPr id="134" name="Google Shape;134;p3"/>
          <p:cNvGrpSpPr/>
          <p:nvPr/>
        </p:nvGrpSpPr>
        <p:grpSpPr>
          <a:xfrm>
            <a:off x="5451024" y="6467767"/>
            <a:ext cx="3370097" cy="3370097"/>
            <a:chOff x="0" y="0"/>
            <a:chExt cx="4493463" cy="4493463"/>
          </a:xfrm>
        </p:grpSpPr>
        <p:grpSp>
          <p:nvGrpSpPr>
            <p:cNvPr id="135" name="Google Shape;135;p3"/>
            <p:cNvGrpSpPr/>
            <p:nvPr/>
          </p:nvGrpSpPr>
          <p:grpSpPr>
            <a:xfrm>
              <a:off x="0" y="0"/>
              <a:ext cx="4493463" cy="4493463"/>
              <a:chOff x="0" y="0"/>
              <a:chExt cx="812800" cy="812800"/>
            </a:xfrm>
          </p:grpSpPr>
          <p:sp>
            <p:nvSpPr>
              <p:cNvPr id="136" name="Google Shape;136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9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" name="Google Shape;138;p3"/>
            <p:cNvGrpSpPr/>
            <p:nvPr/>
          </p:nvGrpSpPr>
          <p:grpSpPr>
            <a:xfrm>
              <a:off x="189332" y="189332"/>
              <a:ext cx="4114800" cy="4114800"/>
              <a:chOff x="0" y="0"/>
              <a:chExt cx="812800" cy="812800"/>
            </a:xfrm>
          </p:grpSpPr>
          <p:sp>
            <p:nvSpPr>
              <p:cNvPr id="139" name="Google Shape;139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930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1" name="Google Shape;141;p3"/>
            <p:cNvSpPr txBox="1"/>
            <p:nvPr/>
          </p:nvSpPr>
          <p:spPr>
            <a:xfrm>
              <a:off x="834469" y="1173582"/>
              <a:ext cx="2824525" cy="2089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GRUPOS DE USUARIOS</a:t>
              </a:r>
              <a:endParaRPr/>
            </a:p>
          </p:txBody>
        </p:sp>
      </p:grpSp>
      <p:grpSp>
        <p:nvGrpSpPr>
          <p:cNvPr id="142" name="Google Shape;142;p3"/>
          <p:cNvGrpSpPr/>
          <p:nvPr/>
        </p:nvGrpSpPr>
        <p:grpSpPr>
          <a:xfrm>
            <a:off x="9836173" y="6467767"/>
            <a:ext cx="3370097" cy="3370097"/>
            <a:chOff x="0" y="0"/>
            <a:chExt cx="4493463" cy="4493463"/>
          </a:xfrm>
        </p:grpSpPr>
        <p:grpSp>
          <p:nvGrpSpPr>
            <p:cNvPr id="143" name="Google Shape;143;p3"/>
            <p:cNvGrpSpPr/>
            <p:nvPr/>
          </p:nvGrpSpPr>
          <p:grpSpPr>
            <a:xfrm>
              <a:off x="0" y="0"/>
              <a:ext cx="4493463" cy="4493463"/>
              <a:chOff x="0" y="0"/>
              <a:chExt cx="812800" cy="812800"/>
            </a:xfrm>
          </p:grpSpPr>
          <p:sp>
            <p:nvSpPr>
              <p:cNvPr id="144" name="Google Shape;144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9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6" name="Google Shape;146;p3"/>
            <p:cNvGrpSpPr/>
            <p:nvPr/>
          </p:nvGrpSpPr>
          <p:grpSpPr>
            <a:xfrm>
              <a:off x="189332" y="189332"/>
              <a:ext cx="4114800" cy="4114800"/>
              <a:chOff x="0" y="0"/>
              <a:chExt cx="812800" cy="812800"/>
            </a:xfrm>
          </p:grpSpPr>
          <p:sp>
            <p:nvSpPr>
              <p:cNvPr id="147" name="Google Shape;147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930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9" name="Google Shape;149;p3"/>
            <p:cNvSpPr txBox="1"/>
            <p:nvPr/>
          </p:nvSpPr>
          <p:spPr>
            <a:xfrm>
              <a:off x="834469" y="1872082"/>
              <a:ext cx="2824525" cy="666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POLÍTICAS</a:t>
              </a:r>
              <a:endParaRPr/>
            </a:p>
          </p:txBody>
        </p:sp>
      </p:grpSp>
      <p:grpSp>
        <p:nvGrpSpPr>
          <p:cNvPr id="150" name="Google Shape;150;p3"/>
          <p:cNvGrpSpPr/>
          <p:nvPr/>
        </p:nvGrpSpPr>
        <p:grpSpPr>
          <a:xfrm>
            <a:off x="14225445" y="6467767"/>
            <a:ext cx="3370097" cy="3370097"/>
            <a:chOff x="0" y="0"/>
            <a:chExt cx="4493463" cy="4493463"/>
          </a:xfrm>
        </p:grpSpPr>
        <p:grpSp>
          <p:nvGrpSpPr>
            <p:cNvPr id="151" name="Google Shape;151;p3"/>
            <p:cNvGrpSpPr/>
            <p:nvPr/>
          </p:nvGrpSpPr>
          <p:grpSpPr>
            <a:xfrm>
              <a:off x="0" y="0"/>
              <a:ext cx="4493463" cy="4493463"/>
              <a:chOff x="0" y="0"/>
              <a:chExt cx="812800" cy="812800"/>
            </a:xfrm>
          </p:grpSpPr>
          <p:sp>
            <p:nvSpPr>
              <p:cNvPr id="152" name="Google Shape;152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B92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" name="Google Shape;154;p3"/>
            <p:cNvGrpSpPr/>
            <p:nvPr/>
          </p:nvGrpSpPr>
          <p:grpSpPr>
            <a:xfrm>
              <a:off x="189332" y="189332"/>
              <a:ext cx="4114800" cy="4114800"/>
              <a:chOff x="0" y="0"/>
              <a:chExt cx="812800" cy="812800"/>
            </a:xfrm>
          </p:grpSpPr>
          <p:sp>
            <p:nvSpPr>
              <p:cNvPr id="155" name="Google Shape;155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930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7" name="Google Shape;157;p3"/>
            <p:cNvSpPr txBox="1"/>
            <p:nvPr/>
          </p:nvSpPr>
          <p:spPr>
            <a:xfrm>
              <a:off x="834469" y="1872082"/>
              <a:ext cx="2824525" cy="666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ROLES</a:t>
              </a:r>
              <a:endParaRPr/>
            </a:p>
          </p:txBody>
        </p:sp>
      </p:grpSp>
      <p:sp>
        <p:nvSpPr>
          <p:cNvPr id="158" name="Google Shape;158;p3"/>
          <p:cNvSpPr txBox="1"/>
          <p:nvPr/>
        </p:nvSpPr>
        <p:spPr>
          <a:xfrm>
            <a:off x="41337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4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4"/>
          <p:cNvSpPr/>
          <p:nvPr/>
        </p:nvSpPr>
        <p:spPr>
          <a:xfrm>
            <a:off x="5249051" y="5248248"/>
            <a:ext cx="7789899" cy="4379654"/>
          </a:xfrm>
          <a:custGeom>
            <a:rect b="b" l="l" r="r" t="t"/>
            <a:pathLst>
              <a:path extrusionOk="0" h="4379654" w="7789899">
                <a:moveTo>
                  <a:pt x="0" y="0"/>
                </a:moveTo>
                <a:lnTo>
                  <a:pt x="7789898" y="0"/>
                </a:lnTo>
                <a:lnTo>
                  <a:pt x="7789898" y="4379654"/>
                </a:lnTo>
                <a:lnTo>
                  <a:pt x="0" y="4379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4"/>
          <p:cNvSpPr txBox="1"/>
          <p:nvPr/>
        </p:nvSpPr>
        <p:spPr>
          <a:xfrm>
            <a:off x="25244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640571" y="1712396"/>
            <a:ext cx="17006858" cy="3366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usuarios o personas 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son entidades individuales dentro de una organización o empresa y pueden ser agrupadas.</a:t>
            </a:r>
            <a:endParaRPr/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grupos son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un conjunto de usuarios para simplificar la administración de permisos y no pueden contener otros grupos.</a:t>
            </a:r>
            <a:endParaRPr/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usuarios pueden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o no pertenecer a un grupo.</a:t>
            </a:r>
            <a:endParaRPr/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1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usuarios pueden </a:t>
            </a: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pertenecer a distintos grupos.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837501" y="393525"/>
            <a:ext cx="1605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USUARIOS Y GRUPOS DE USUARIOS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/>
          <p:nvPr/>
        </p:nvSpPr>
        <p:spPr>
          <a:xfrm>
            <a:off x="10288709" y="2706331"/>
            <a:ext cx="7287154" cy="4071698"/>
          </a:xfrm>
          <a:custGeom>
            <a:rect b="b" l="l" r="r" t="t"/>
            <a:pathLst>
              <a:path extrusionOk="0" h="4071698" w="7287154">
                <a:moveTo>
                  <a:pt x="0" y="0"/>
                </a:moveTo>
                <a:lnTo>
                  <a:pt x="7287155" y="0"/>
                </a:lnTo>
                <a:lnTo>
                  <a:pt x="7287155" y="4071697"/>
                </a:lnTo>
                <a:lnTo>
                  <a:pt x="0" y="4071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5"/>
          <p:cNvSpPr txBox="1"/>
          <p:nvPr/>
        </p:nvSpPr>
        <p:spPr>
          <a:xfrm>
            <a:off x="25244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670923" y="1907264"/>
            <a:ext cx="8807821" cy="6965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4827" lvl="1" marL="769654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 los usuarios o grupos </a:t>
            </a: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les puede asignar un documento</a:t>
            </a: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formato JSON conocidos como políticas</a:t>
            </a:r>
            <a:endParaRPr/>
          </a:p>
          <a:p>
            <a:pPr indent="0" lvl="0" marL="0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827" lvl="1" marL="769654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</a:t>
            </a: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políticas </a:t>
            </a: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definen los permisos y las acciones permitidas o denegadas para usuarios, grupos o roles en AWS.</a:t>
            </a:r>
            <a:endParaRPr/>
          </a:p>
          <a:p>
            <a:pPr indent="0" lvl="0" marL="0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827" lvl="1" marL="769654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AWS se aplica el principio de mínimo privilegio: no dar más permisos de los que un usuario necesita </a:t>
            </a:r>
            <a:endParaRPr/>
          </a:p>
          <a:p>
            <a:pPr indent="0" lvl="0" marL="0" marR="0" rtl="0" algn="l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191570" y="604475"/>
            <a:ext cx="15286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PERMISOS Y POLITICAS</a:t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 flipH="1" rot="-5305486">
            <a:off x="7397318" y="1791204"/>
            <a:ext cx="3270950" cy="19138539"/>
          </a:xfrm>
          <a:custGeom>
            <a:rect b="b" l="l" r="r" t="t"/>
            <a:pathLst>
              <a:path extrusionOk="0" h="19131306" w="3269714">
                <a:moveTo>
                  <a:pt x="3269714" y="0"/>
                </a:moveTo>
                <a:lnTo>
                  <a:pt x="0" y="0"/>
                </a:lnTo>
                <a:lnTo>
                  <a:pt x="0" y="19131306"/>
                </a:lnTo>
                <a:lnTo>
                  <a:pt x="3269714" y="19131306"/>
                </a:lnTo>
                <a:lnTo>
                  <a:pt x="326971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5"/>
          <p:cNvSpPr/>
          <p:nvPr/>
        </p:nvSpPr>
        <p:spPr>
          <a:xfrm flipH="1" rot="-5305486">
            <a:off x="7397306" y="2022704"/>
            <a:ext cx="3270950" cy="19138539"/>
          </a:xfrm>
          <a:custGeom>
            <a:rect b="b" l="l" r="r" t="t"/>
            <a:pathLst>
              <a:path extrusionOk="0" h="19131306" w="3269714">
                <a:moveTo>
                  <a:pt x="3269714" y="0"/>
                </a:moveTo>
                <a:lnTo>
                  <a:pt x="0" y="0"/>
                </a:lnTo>
                <a:lnTo>
                  <a:pt x="0" y="19131305"/>
                </a:lnTo>
                <a:lnTo>
                  <a:pt x="3269714" y="19131305"/>
                </a:lnTo>
                <a:lnTo>
                  <a:pt x="326971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9" name="Google Shape;179;p5"/>
          <p:cNvGrpSpPr/>
          <p:nvPr/>
        </p:nvGrpSpPr>
        <p:grpSpPr>
          <a:xfrm>
            <a:off x="10112388" y="2561670"/>
            <a:ext cx="7582725" cy="4449947"/>
            <a:chOff x="0" y="-38100"/>
            <a:chExt cx="1997096" cy="1172003"/>
          </a:xfrm>
        </p:grpSpPr>
        <p:sp>
          <p:nvSpPr>
            <p:cNvPr id="180" name="Google Shape;180;p5"/>
            <p:cNvSpPr/>
            <p:nvPr/>
          </p:nvSpPr>
          <p:spPr>
            <a:xfrm>
              <a:off x="0" y="0"/>
              <a:ext cx="1997096" cy="1133903"/>
            </a:xfrm>
            <a:custGeom>
              <a:rect b="b" l="l" r="r" t="t"/>
              <a:pathLst>
                <a:path extrusionOk="0" h="1133903" w="1997096">
                  <a:moveTo>
                    <a:pt x="0" y="0"/>
                  </a:moveTo>
                  <a:lnTo>
                    <a:pt x="1997096" y="0"/>
                  </a:lnTo>
                  <a:lnTo>
                    <a:pt x="1997096" y="1133903"/>
                  </a:lnTo>
                  <a:lnTo>
                    <a:pt x="0" y="11339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29303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81" name="Google Shape;181;p5"/>
            <p:cNvSpPr txBox="1"/>
            <p:nvPr/>
          </p:nvSpPr>
          <p:spPr>
            <a:xfrm>
              <a:off x="0" y="-38100"/>
              <a:ext cx="1997096" cy="1172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6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8" name="Google Shape;188;p6"/>
          <p:cNvSpPr/>
          <p:nvPr/>
        </p:nvSpPr>
        <p:spPr>
          <a:xfrm>
            <a:off x="1290017" y="3176004"/>
            <a:ext cx="7335602" cy="3934992"/>
          </a:xfrm>
          <a:custGeom>
            <a:rect b="b" l="l" r="r" t="t"/>
            <a:pathLst>
              <a:path extrusionOk="0" h="3934992" w="7335602">
                <a:moveTo>
                  <a:pt x="0" y="0"/>
                </a:moveTo>
                <a:lnTo>
                  <a:pt x="7335602" y="0"/>
                </a:lnTo>
                <a:lnTo>
                  <a:pt x="7335602" y="3934992"/>
                </a:lnTo>
                <a:lnTo>
                  <a:pt x="0" y="3934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89" name="Google Shape;189;p6"/>
          <p:cNvGrpSpPr/>
          <p:nvPr/>
        </p:nvGrpSpPr>
        <p:grpSpPr>
          <a:xfrm>
            <a:off x="779904" y="2469687"/>
            <a:ext cx="8040276" cy="5202965"/>
            <a:chOff x="0" y="-38100"/>
            <a:chExt cx="2117604" cy="1370328"/>
          </a:xfrm>
        </p:grpSpPr>
        <p:sp>
          <p:nvSpPr>
            <p:cNvPr id="190" name="Google Shape;190;p6"/>
            <p:cNvSpPr/>
            <p:nvPr/>
          </p:nvSpPr>
          <p:spPr>
            <a:xfrm>
              <a:off x="0" y="0"/>
              <a:ext cx="2117604" cy="1332228"/>
            </a:xfrm>
            <a:custGeom>
              <a:rect b="b" l="l" r="r" t="t"/>
              <a:pathLst>
                <a:path extrusionOk="0" h="1332228" w="2117604">
                  <a:moveTo>
                    <a:pt x="0" y="0"/>
                  </a:moveTo>
                  <a:lnTo>
                    <a:pt x="2117604" y="0"/>
                  </a:lnTo>
                  <a:lnTo>
                    <a:pt x="2117604" y="1332228"/>
                  </a:lnTo>
                  <a:lnTo>
                    <a:pt x="0" y="1332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29303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1" name="Google Shape;191;p6"/>
            <p:cNvSpPr txBox="1"/>
            <p:nvPr/>
          </p:nvSpPr>
          <p:spPr>
            <a:xfrm>
              <a:off x="0" y="-38100"/>
              <a:ext cx="2117604" cy="1370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2" name="Google Shape;192;p6"/>
          <p:cNvSpPr txBox="1"/>
          <p:nvPr/>
        </p:nvSpPr>
        <p:spPr>
          <a:xfrm>
            <a:off x="25244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9463465" y="2222912"/>
            <a:ext cx="7656054" cy="5803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entidad que define un conjunto de permisos y políticas, pero a diferencia de un usuario, no está asociado a una persona específica. </a:t>
            </a:r>
            <a:endParaRPr/>
          </a:p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lugar de eso, los roles se asocian a usuarios, grupos o servicios de AWS que necesitan temporariamente permisos adicionales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9463482" y="1102125"/>
            <a:ext cx="4704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7"/>
          <p:cNvGrpSpPr/>
          <p:nvPr/>
        </p:nvGrpSpPr>
        <p:grpSpPr>
          <a:xfrm>
            <a:off x="0" y="-144661"/>
            <a:ext cx="18288000" cy="1699673"/>
            <a:chOff x="0" y="-38100"/>
            <a:chExt cx="4816593" cy="447650"/>
          </a:xfrm>
        </p:grpSpPr>
        <p:sp>
          <p:nvSpPr>
            <p:cNvPr id="200" name="Google Shape;200;p7"/>
            <p:cNvSpPr/>
            <p:nvPr/>
          </p:nvSpPr>
          <p:spPr>
            <a:xfrm>
              <a:off x="0" y="0"/>
              <a:ext cx="4816592" cy="409550"/>
            </a:xfrm>
            <a:custGeom>
              <a:rect b="b" l="l" r="r" t="t"/>
              <a:pathLst>
                <a:path extrusionOk="0" h="4095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09550"/>
                  </a:lnTo>
                  <a:lnTo>
                    <a:pt x="0" y="409550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01" name="Google Shape;201;p7"/>
            <p:cNvSpPr txBox="1"/>
            <p:nvPr/>
          </p:nvSpPr>
          <p:spPr>
            <a:xfrm>
              <a:off x="0" y="-38100"/>
              <a:ext cx="4816593" cy="4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7"/>
          <p:cNvSpPr/>
          <p:nvPr/>
        </p:nvSpPr>
        <p:spPr>
          <a:xfrm>
            <a:off x="10845000" y="1863343"/>
            <a:ext cx="5938844" cy="7737396"/>
          </a:xfrm>
          <a:custGeom>
            <a:rect b="b" l="l" r="r" t="t"/>
            <a:pathLst>
              <a:path extrusionOk="0" h="7737396" w="5938844">
                <a:moveTo>
                  <a:pt x="0" y="0"/>
                </a:moveTo>
                <a:lnTo>
                  <a:pt x="5938844" y="0"/>
                </a:lnTo>
                <a:lnTo>
                  <a:pt x="5938844" y="7737396"/>
                </a:lnTo>
                <a:lnTo>
                  <a:pt x="0" y="77373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7"/>
          <p:cNvSpPr txBox="1"/>
          <p:nvPr/>
        </p:nvSpPr>
        <p:spPr>
          <a:xfrm>
            <a:off x="1123366" y="2624827"/>
            <a:ext cx="8590206" cy="6176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servicio web que proporciona capacidad de computación escalable bajo demanda en la nube y permite:</a:t>
            </a:r>
            <a:endParaRPr/>
          </a:p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25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Alquilar máquinas virtuales [EC2] *</a:t>
            </a:r>
            <a:endParaRPr/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Almacenar datos en unidades virtuales [EBS]</a:t>
            </a:r>
            <a:endParaRPr/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Distribuir la carga entre las máquinas [ELB]*</a:t>
            </a:r>
            <a:endParaRPr/>
          </a:p>
          <a:p>
            <a:pPr indent="-369729" lvl="1" marL="739458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425"/>
              <a:buFont typeface="Arial"/>
              <a:buChar char="•"/>
            </a:pPr>
            <a:r>
              <a:rPr b="0" i="0" lang="en-US" sz="34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Escalar los servicios mediante un Auto Scaling Group [ASG]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553794" y="266331"/>
            <a:ext cx="10291206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EC2 | Elastic Compute Cloud 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8"/>
          <p:cNvGrpSpPr/>
          <p:nvPr/>
        </p:nvGrpSpPr>
        <p:grpSpPr>
          <a:xfrm>
            <a:off x="-48045" y="-668786"/>
            <a:ext cx="18288122" cy="1699682"/>
            <a:chOff x="0" y="-38100"/>
            <a:chExt cx="4816593" cy="447650"/>
          </a:xfrm>
        </p:grpSpPr>
        <p:sp>
          <p:nvSpPr>
            <p:cNvPr id="210" name="Google Shape;210;p8"/>
            <p:cNvSpPr/>
            <p:nvPr/>
          </p:nvSpPr>
          <p:spPr>
            <a:xfrm>
              <a:off x="0" y="0"/>
              <a:ext cx="4816592" cy="409550"/>
            </a:xfrm>
            <a:custGeom>
              <a:rect b="b" l="l" r="r" t="t"/>
              <a:pathLst>
                <a:path extrusionOk="0" h="4095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09550"/>
                  </a:lnTo>
                  <a:lnTo>
                    <a:pt x="0" y="409550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211" name="Google Shape;211;p8"/>
            <p:cNvSpPr txBox="1"/>
            <p:nvPr/>
          </p:nvSpPr>
          <p:spPr>
            <a:xfrm>
              <a:off x="0" y="-38100"/>
              <a:ext cx="4816593" cy="4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8"/>
          <p:cNvSpPr txBox="1"/>
          <p:nvPr/>
        </p:nvSpPr>
        <p:spPr>
          <a:xfrm>
            <a:off x="4572000" y="4300"/>
            <a:ext cx="10564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TIPOS DE INSTANCIAS DE EC2</a:t>
            </a:r>
            <a:endParaRPr/>
          </a:p>
        </p:txBody>
      </p:sp>
      <p:grpSp>
        <p:nvGrpSpPr>
          <p:cNvPr id="213" name="Google Shape;213;p8"/>
          <p:cNvGrpSpPr/>
          <p:nvPr/>
        </p:nvGrpSpPr>
        <p:grpSpPr>
          <a:xfrm>
            <a:off x="759135" y="1216252"/>
            <a:ext cx="731003" cy="760368"/>
            <a:chOff x="0" y="0"/>
            <a:chExt cx="974670" cy="1013824"/>
          </a:xfrm>
        </p:grpSpPr>
        <p:sp>
          <p:nvSpPr>
            <p:cNvPr id="214" name="Google Shape;214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216" name="Google Shape;216;p8"/>
          <p:cNvSpPr txBox="1"/>
          <p:nvPr/>
        </p:nvSpPr>
        <p:spPr>
          <a:xfrm>
            <a:off x="1639322" y="1082900"/>
            <a:ext cx="755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PROPÓSITO GENERAL</a:t>
            </a:r>
            <a:endParaRPr/>
          </a:p>
        </p:txBody>
      </p:sp>
      <p:grpSp>
        <p:nvGrpSpPr>
          <p:cNvPr id="217" name="Google Shape;217;p8"/>
          <p:cNvGrpSpPr/>
          <p:nvPr/>
        </p:nvGrpSpPr>
        <p:grpSpPr>
          <a:xfrm>
            <a:off x="6315522" y="3050542"/>
            <a:ext cx="731002" cy="760368"/>
            <a:chOff x="0" y="0"/>
            <a:chExt cx="974670" cy="1013824"/>
          </a:xfrm>
        </p:grpSpPr>
        <p:sp>
          <p:nvSpPr>
            <p:cNvPr id="218" name="Google Shape;218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8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220" name="Google Shape;220;p8"/>
          <p:cNvSpPr txBox="1"/>
          <p:nvPr/>
        </p:nvSpPr>
        <p:spPr>
          <a:xfrm>
            <a:off x="7232026" y="2889104"/>
            <a:ext cx="770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COMPUTACIÓN OPTIMIZADA</a:t>
            </a:r>
            <a:endParaRPr/>
          </a:p>
        </p:txBody>
      </p:sp>
      <p:grpSp>
        <p:nvGrpSpPr>
          <p:cNvPr id="221" name="Google Shape;221;p8"/>
          <p:cNvGrpSpPr/>
          <p:nvPr/>
        </p:nvGrpSpPr>
        <p:grpSpPr>
          <a:xfrm>
            <a:off x="600573" y="5426002"/>
            <a:ext cx="731003" cy="760368"/>
            <a:chOff x="0" y="0"/>
            <a:chExt cx="974670" cy="1013824"/>
          </a:xfrm>
        </p:grpSpPr>
        <p:sp>
          <p:nvSpPr>
            <p:cNvPr id="222" name="Google Shape;222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8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24" name="Google Shape;224;p8"/>
          <p:cNvSpPr txBox="1"/>
          <p:nvPr/>
        </p:nvSpPr>
        <p:spPr>
          <a:xfrm>
            <a:off x="1490119" y="5270425"/>
            <a:ext cx="839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MEMORIA OPTIMIZADA</a:t>
            </a:r>
            <a:endParaRPr/>
          </a:p>
        </p:txBody>
      </p:sp>
      <p:grpSp>
        <p:nvGrpSpPr>
          <p:cNvPr id="225" name="Google Shape;225;p8"/>
          <p:cNvGrpSpPr/>
          <p:nvPr/>
        </p:nvGrpSpPr>
        <p:grpSpPr>
          <a:xfrm>
            <a:off x="6315518" y="7631586"/>
            <a:ext cx="731003" cy="760368"/>
            <a:chOff x="0" y="0"/>
            <a:chExt cx="974670" cy="1013824"/>
          </a:xfrm>
        </p:grpSpPr>
        <p:sp>
          <p:nvSpPr>
            <p:cNvPr id="226" name="Google Shape;226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228" name="Google Shape;228;p8"/>
          <p:cNvSpPr txBox="1"/>
          <p:nvPr/>
        </p:nvSpPr>
        <p:spPr>
          <a:xfrm>
            <a:off x="7262225" y="7479175"/>
            <a:ext cx="9330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ALMACENAMIENTO OPTIMIZAO</a:t>
            </a:r>
            <a:endParaRPr/>
          </a:p>
        </p:txBody>
      </p:sp>
      <p:cxnSp>
        <p:nvCxnSpPr>
          <p:cNvPr id="229" name="Google Shape;229;p8"/>
          <p:cNvCxnSpPr/>
          <p:nvPr/>
        </p:nvCxnSpPr>
        <p:spPr>
          <a:xfrm>
            <a:off x="1639332" y="1656753"/>
            <a:ext cx="961890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8"/>
          <p:cNvSpPr txBox="1"/>
          <p:nvPr/>
        </p:nvSpPr>
        <p:spPr>
          <a:xfrm>
            <a:off x="1639332" y="1736321"/>
            <a:ext cx="97680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Excelente para una diversidad de cargas de trabajo, como servidores web o repositorios de código, </a:t>
            </a:r>
            <a:r>
              <a:rPr b="1" i="0" lang="en-US" sz="21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equilibra computación, memoria y red.</a:t>
            </a:r>
            <a:endParaRPr/>
          </a:p>
        </p:txBody>
      </p:sp>
      <p:cxnSp>
        <p:nvCxnSpPr>
          <p:cNvPr id="231" name="Google Shape;231;p8"/>
          <p:cNvCxnSpPr/>
          <p:nvPr/>
        </p:nvCxnSpPr>
        <p:spPr>
          <a:xfrm>
            <a:off x="7232026" y="3577255"/>
            <a:ext cx="961890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8"/>
          <p:cNvSpPr txBox="1"/>
          <p:nvPr/>
        </p:nvSpPr>
        <p:spPr>
          <a:xfrm>
            <a:off x="7232026" y="3677560"/>
            <a:ext cx="97680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Ideal para tareas de cálculo intensivo que requieren procesadores de alto rendimiento como cargas de trabajo de procesamiento por lotes, servidores web de alto rendimiento o servidores dedicados a juegos</a:t>
            </a:r>
            <a:endParaRPr/>
          </a:p>
        </p:txBody>
      </p:sp>
      <p:cxnSp>
        <p:nvCxnSpPr>
          <p:cNvPr id="233" name="Google Shape;233;p8"/>
          <p:cNvCxnSpPr/>
          <p:nvPr/>
        </p:nvCxnSpPr>
        <p:spPr>
          <a:xfrm>
            <a:off x="1490137" y="5939536"/>
            <a:ext cx="961890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8"/>
          <p:cNvSpPr txBox="1"/>
          <p:nvPr/>
        </p:nvSpPr>
        <p:spPr>
          <a:xfrm>
            <a:off x="1490137" y="6039841"/>
            <a:ext cx="97680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Rápido rendimiento para cargas de trabajo que procesan grandes conjuntos de datos en memoria como aplicaciones que realizan el procesamiento en tiempo real de grandes datos no estructurado</a:t>
            </a:r>
            <a:endParaRPr/>
          </a:p>
        </p:txBody>
      </p:sp>
      <p:cxnSp>
        <p:nvCxnSpPr>
          <p:cNvPr id="235" name="Google Shape;235;p8"/>
          <p:cNvCxnSpPr/>
          <p:nvPr/>
        </p:nvCxnSpPr>
        <p:spPr>
          <a:xfrm>
            <a:off x="7262226" y="8072087"/>
            <a:ext cx="961890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8"/>
          <p:cNvSpPr txBox="1"/>
          <p:nvPr/>
        </p:nvSpPr>
        <p:spPr>
          <a:xfrm>
            <a:off x="7262226" y="8172392"/>
            <a:ext cx="9768000" cy="16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Ideal para tareas de almacenamiento intensivo que requieran un acceso alto y secuencial de lectura y escritura a grandes conjuntos de datos en el almacenamiento local como bases de datos relacionales y NoSQL o sistemas de archivos distribuido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2" name="Google Shape;242;p9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9"/>
          <p:cNvSpPr/>
          <p:nvPr/>
        </p:nvSpPr>
        <p:spPr>
          <a:xfrm>
            <a:off x="2308196" y="6113206"/>
            <a:ext cx="13422808" cy="2986575"/>
          </a:xfrm>
          <a:custGeom>
            <a:rect b="b" l="l" r="r" t="t"/>
            <a:pathLst>
              <a:path extrusionOk="0" h="2986575" w="13422808">
                <a:moveTo>
                  <a:pt x="0" y="0"/>
                </a:moveTo>
                <a:lnTo>
                  <a:pt x="13422808" y="0"/>
                </a:lnTo>
                <a:lnTo>
                  <a:pt x="13422808" y="2986575"/>
                </a:lnTo>
                <a:lnTo>
                  <a:pt x="0" y="2986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9"/>
          <p:cNvSpPr txBox="1"/>
          <p:nvPr/>
        </p:nvSpPr>
        <p:spPr>
          <a:xfrm>
            <a:off x="25244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/>
          </a:p>
        </p:txBody>
      </p:sp>
      <p:sp>
        <p:nvSpPr>
          <p:cNvPr id="245" name="Google Shape;245;p9"/>
          <p:cNvSpPr txBox="1"/>
          <p:nvPr/>
        </p:nvSpPr>
        <p:spPr>
          <a:xfrm>
            <a:off x="779904" y="1511337"/>
            <a:ext cx="16479396" cy="3422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00"/>
              <a:buFont typeface="Arial"/>
              <a:buChar char="•"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 grupo de seguridad funciona como un firewall virtual</a:t>
            </a:r>
            <a:r>
              <a:rPr b="0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para las instancias EC2 para controlar el tráfico entrante y saliente de las mismas.</a:t>
            </a:r>
            <a:endParaRPr/>
          </a:p>
          <a:p>
            <a:pPr indent="-377825" lvl="1" marL="75565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 forma predeterminada los grupos de seguridad </a:t>
            </a: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permiten el tráfico de salida, mas no el de entrada</a:t>
            </a:r>
            <a:r>
              <a:rPr b="0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por lo que debe ser configurado.</a:t>
            </a:r>
            <a:endParaRPr/>
          </a:p>
          <a:p>
            <a:pPr indent="-377825" lvl="1" marL="755651" marR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reglas del grupo de seguridad son siempre permisivas; </a:t>
            </a: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es posible crear reglas que denieguen el acceso</a:t>
            </a:r>
            <a:endParaRPr/>
          </a:p>
        </p:txBody>
      </p:sp>
      <p:sp>
        <p:nvSpPr>
          <p:cNvPr id="246" name="Google Shape;246;p9"/>
          <p:cNvSpPr txBox="1"/>
          <p:nvPr/>
        </p:nvSpPr>
        <p:spPr>
          <a:xfrm>
            <a:off x="779900" y="350800"/>
            <a:ext cx="17095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GRUPOS DE SEGURIDAD O SECURITY GROUPS</a:t>
            </a:r>
            <a:endParaRPr sz="5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10"/>
          <p:cNvGrpSpPr/>
          <p:nvPr/>
        </p:nvGrpSpPr>
        <p:grpSpPr>
          <a:xfrm>
            <a:off x="0" y="-144661"/>
            <a:ext cx="18288000" cy="1699673"/>
            <a:chOff x="0" y="-38100"/>
            <a:chExt cx="4816593" cy="447650"/>
          </a:xfrm>
        </p:grpSpPr>
        <p:sp>
          <p:nvSpPr>
            <p:cNvPr id="252" name="Google Shape;252;p10"/>
            <p:cNvSpPr/>
            <p:nvPr/>
          </p:nvSpPr>
          <p:spPr>
            <a:xfrm>
              <a:off x="0" y="0"/>
              <a:ext cx="4816592" cy="409550"/>
            </a:xfrm>
            <a:custGeom>
              <a:rect b="b" l="l" r="r" t="t"/>
              <a:pathLst>
                <a:path extrusionOk="0" h="4095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09550"/>
                  </a:lnTo>
                  <a:lnTo>
                    <a:pt x="0" y="40955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53" name="Google Shape;253;p10"/>
            <p:cNvSpPr txBox="1"/>
            <p:nvPr/>
          </p:nvSpPr>
          <p:spPr>
            <a:xfrm>
              <a:off x="0" y="-38100"/>
              <a:ext cx="4816593" cy="4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10"/>
          <p:cNvSpPr/>
          <p:nvPr/>
        </p:nvSpPr>
        <p:spPr>
          <a:xfrm>
            <a:off x="5295209" y="5670817"/>
            <a:ext cx="7697582" cy="3944117"/>
          </a:xfrm>
          <a:custGeom>
            <a:rect b="b" l="l" r="r" t="t"/>
            <a:pathLst>
              <a:path extrusionOk="0" h="3944117" w="7697582">
                <a:moveTo>
                  <a:pt x="0" y="0"/>
                </a:moveTo>
                <a:lnTo>
                  <a:pt x="7697582" y="0"/>
                </a:lnTo>
                <a:lnTo>
                  <a:pt x="7697582" y="3944117"/>
                </a:lnTo>
                <a:lnTo>
                  <a:pt x="0" y="39441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5" name="Google Shape;255;p10"/>
          <p:cNvSpPr txBox="1"/>
          <p:nvPr/>
        </p:nvSpPr>
        <p:spPr>
          <a:xfrm>
            <a:off x="648460" y="1810103"/>
            <a:ext cx="16989503" cy="1652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conjunto de claves, AWS EC2 utiliza una clave pública y una clave privada que en su conjunto funcionan como unas credenciales de seguridad que se utilizan para demostrar nuestra identidad cuando nos conectamos a una instancia.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648460" y="266331"/>
            <a:ext cx="10622537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KEY PAIRS O PARES DE CLAVES</a:t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756248" y="3808425"/>
            <a:ext cx="9886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TIPOS DE PAR DE CLAVES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756226" y="4408041"/>
            <a:ext cx="167754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EC2 admite los tipos de claves ED25519 y RSA, pero las claves ED25519 no son compatibles con las instancias de Windows.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11"/>
          <p:cNvGrpSpPr/>
          <p:nvPr/>
        </p:nvGrpSpPr>
        <p:grpSpPr>
          <a:xfrm>
            <a:off x="0" y="-144661"/>
            <a:ext cx="18288000" cy="1699673"/>
            <a:chOff x="0" y="-38100"/>
            <a:chExt cx="4816593" cy="447650"/>
          </a:xfrm>
        </p:grpSpPr>
        <p:sp>
          <p:nvSpPr>
            <p:cNvPr id="264" name="Google Shape;264;p11"/>
            <p:cNvSpPr/>
            <p:nvPr/>
          </p:nvSpPr>
          <p:spPr>
            <a:xfrm>
              <a:off x="0" y="0"/>
              <a:ext cx="4816592" cy="409550"/>
            </a:xfrm>
            <a:custGeom>
              <a:rect b="b" l="l" r="r" t="t"/>
              <a:pathLst>
                <a:path extrusionOk="0" h="40955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09550"/>
                  </a:lnTo>
                  <a:lnTo>
                    <a:pt x="0" y="409550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65" name="Google Shape;265;p11"/>
            <p:cNvSpPr txBox="1"/>
            <p:nvPr/>
          </p:nvSpPr>
          <p:spPr>
            <a:xfrm>
              <a:off x="0" y="-38100"/>
              <a:ext cx="4816593" cy="447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11"/>
          <p:cNvSpPr/>
          <p:nvPr/>
        </p:nvSpPr>
        <p:spPr>
          <a:xfrm>
            <a:off x="11081665" y="1965021"/>
            <a:ext cx="6356958" cy="6356958"/>
          </a:xfrm>
          <a:custGeom>
            <a:rect b="b" l="l" r="r" t="t"/>
            <a:pathLst>
              <a:path extrusionOk="0"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1"/>
          <p:cNvSpPr txBox="1"/>
          <p:nvPr/>
        </p:nvSpPr>
        <p:spPr>
          <a:xfrm>
            <a:off x="648460" y="266331"/>
            <a:ext cx="10433205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KEY PAIRS O PARES DE CLAVES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648446" y="1759175"/>
            <a:ext cx="1269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FORMATO DE ARCHIVOS DE CLAVE PRIVADA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648460" y="2431259"/>
            <a:ext cx="9678256" cy="6384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formato de archivo define el formato de la clave privada que se pedirá que descarguemos al crear el par de claves:</a:t>
            </a:r>
            <a:endParaRPr/>
          </a:p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827" lvl="1" marL="769654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Si utilizaremos OpenSHH para conectarnos a la instancia, debemos guardar la clave en formato .pem.</a:t>
            </a:r>
            <a:endParaRPr/>
          </a:p>
          <a:p>
            <a:pPr indent="0" lvl="0" marL="0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6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827" lvl="1" marL="769654" marR="0" rtl="0" algn="just">
              <a:lnSpc>
                <a:spcPct val="13002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564"/>
              <a:buFont typeface="Arial"/>
              <a:buChar char="•"/>
            </a:pPr>
            <a:r>
              <a:rPr b="0" i="0" lang="en-US" sz="356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Si utilizaremos PuTTY para conectarnos a la instancia, deberemos guardar la clave en formato .ppk.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12"/>
          <p:cNvSpPr/>
          <p:nvPr/>
        </p:nvSpPr>
        <p:spPr>
          <a:xfrm>
            <a:off x="4723104" y="2426646"/>
            <a:ext cx="8281621" cy="5059201"/>
          </a:xfrm>
          <a:custGeom>
            <a:rect b="b" l="l" r="r" t="t"/>
            <a:pathLst>
              <a:path extrusionOk="0" h="5059201" w="8281621">
                <a:moveTo>
                  <a:pt x="0" y="0"/>
                </a:moveTo>
                <a:lnTo>
                  <a:pt x="8281622" y="0"/>
                </a:lnTo>
                <a:lnTo>
                  <a:pt x="8281622" y="5059201"/>
                </a:lnTo>
                <a:lnTo>
                  <a:pt x="0" y="50592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12"/>
          <p:cNvSpPr txBox="1"/>
          <p:nvPr/>
        </p:nvSpPr>
        <p:spPr>
          <a:xfrm>
            <a:off x="252442" y="266331"/>
            <a:ext cx="14109393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IAM | Identity and Access Management </a:t>
            </a:r>
            <a:endParaRPr/>
          </a:p>
        </p:txBody>
      </p:sp>
      <p:sp>
        <p:nvSpPr>
          <p:cNvPr id="278" name="Google Shape;278;p12"/>
          <p:cNvSpPr txBox="1"/>
          <p:nvPr/>
        </p:nvSpPr>
        <p:spPr>
          <a:xfrm>
            <a:off x="640571" y="1311702"/>
            <a:ext cx="17006858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Una imagen de máquina de Amazon (AMI)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imagen compatible y mantenida que ofrece AWS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y  nos brinda la información necesaria para lanzar una instancia.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1320700" y="212350"/>
            <a:ext cx="1518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AMI - AMAZON MACHINE IMAGES</a:t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526215" y="7583493"/>
            <a:ext cx="17121214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Debemos especificar una AMI al lanzar una instancia,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cuando necesitemos varias instancias con la misma configuración, podemos lanzarlas desde una misma AMI, así mismo si necesitamos instancias con diferentes configuraciones, podemos utilizar distintas AMI para lanzarlas.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/>
          <p:nvPr/>
        </p:nvSpPr>
        <p:spPr>
          <a:xfrm>
            <a:off x="10578201" y="1696186"/>
            <a:ext cx="7395317" cy="6581832"/>
          </a:xfrm>
          <a:custGeom>
            <a:rect b="b" l="l" r="r" t="t"/>
            <a:pathLst>
              <a:path extrusionOk="0" h="6581832" w="7395317">
                <a:moveTo>
                  <a:pt x="0" y="0"/>
                </a:moveTo>
                <a:lnTo>
                  <a:pt x="7395317" y="0"/>
                </a:lnTo>
                <a:lnTo>
                  <a:pt x="7395317" y="6581832"/>
                </a:lnTo>
                <a:lnTo>
                  <a:pt x="0" y="65818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6" name="Google Shape;286;p13"/>
          <p:cNvSpPr txBox="1"/>
          <p:nvPr/>
        </p:nvSpPr>
        <p:spPr>
          <a:xfrm>
            <a:off x="7366485" y="161353"/>
            <a:ext cx="3555030" cy="742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ELASTIC IPs</a:t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267198" y="1667611"/>
            <a:ext cx="9402040" cy="6429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direcciones IP elásticas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son direcciones IPv4 reservadas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diseñadas para la informática en la nube dinámica.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 una dirección IP elástica, p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odemos enmascarar los errores de una instancia o software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volviendo a mapear rápidamente la dirección a otra instancia de nuestra cuenta.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Si así lo preferimos,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podemos especificar la dirección IP elástica en un registro DNS para el dominio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de modo que el dominio apunte a la instancia.</a:t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 flipH="1" rot="-5303289">
            <a:off x="7408524" y="1430134"/>
            <a:ext cx="3269714" cy="19131306"/>
          </a:xfrm>
          <a:custGeom>
            <a:rect b="b" l="l" r="r" t="t"/>
            <a:pathLst>
              <a:path extrusionOk="0" h="19131306" w="3269714">
                <a:moveTo>
                  <a:pt x="3269714" y="0"/>
                </a:moveTo>
                <a:lnTo>
                  <a:pt x="0" y="0"/>
                </a:lnTo>
                <a:lnTo>
                  <a:pt x="0" y="19131306"/>
                </a:lnTo>
                <a:lnTo>
                  <a:pt x="3269714" y="19131306"/>
                </a:lnTo>
                <a:lnTo>
                  <a:pt x="326971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9" name="Google Shape;289;p13"/>
          <p:cNvSpPr/>
          <p:nvPr/>
        </p:nvSpPr>
        <p:spPr>
          <a:xfrm flipH="1" rot="-5303289">
            <a:off x="7609762" y="1605359"/>
            <a:ext cx="3269714" cy="19131306"/>
          </a:xfrm>
          <a:custGeom>
            <a:rect b="b" l="l" r="r" t="t"/>
            <a:pathLst>
              <a:path extrusionOk="0" h="19131306" w="3269714">
                <a:moveTo>
                  <a:pt x="3269714" y="0"/>
                </a:moveTo>
                <a:lnTo>
                  <a:pt x="0" y="0"/>
                </a:lnTo>
                <a:lnTo>
                  <a:pt x="0" y="19131305"/>
                </a:lnTo>
                <a:lnTo>
                  <a:pt x="3269714" y="19131305"/>
                </a:lnTo>
                <a:lnTo>
                  <a:pt x="326971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0" name="Google Shape;290;p13"/>
          <p:cNvGrpSpPr/>
          <p:nvPr/>
        </p:nvGrpSpPr>
        <p:grpSpPr>
          <a:xfrm>
            <a:off x="10151817" y="1235163"/>
            <a:ext cx="7409171" cy="7380278"/>
            <a:chOff x="0" y="-38100"/>
            <a:chExt cx="1951387" cy="1943777"/>
          </a:xfrm>
        </p:grpSpPr>
        <p:sp>
          <p:nvSpPr>
            <p:cNvPr id="291" name="Google Shape;291;p13"/>
            <p:cNvSpPr/>
            <p:nvPr/>
          </p:nvSpPr>
          <p:spPr>
            <a:xfrm>
              <a:off x="0" y="0"/>
              <a:ext cx="1951387" cy="1905677"/>
            </a:xfrm>
            <a:custGeom>
              <a:rect b="b" l="l" r="r" t="t"/>
              <a:pathLst>
                <a:path extrusionOk="0" h="1905677" w="1951387">
                  <a:moveTo>
                    <a:pt x="0" y="0"/>
                  </a:moveTo>
                  <a:lnTo>
                    <a:pt x="1951387" y="0"/>
                  </a:lnTo>
                  <a:lnTo>
                    <a:pt x="1951387" y="1905677"/>
                  </a:lnTo>
                  <a:lnTo>
                    <a:pt x="0" y="19056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76200">
              <a:solidFill>
                <a:srgbClr val="29303C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92" name="Google Shape;292;p13"/>
            <p:cNvSpPr txBox="1"/>
            <p:nvPr/>
          </p:nvSpPr>
          <p:spPr>
            <a:xfrm>
              <a:off x="0" y="-38100"/>
              <a:ext cx="1951387" cy="1943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/>
          <p:nvPr/>
        </p:nvSpPr>
        <p:spPr>
          <a:xfrm>
            <a:off x="5317126" y="4349551"/>
            <a:ext cx="8080720" cy="5272670"/>
          </a:xfrm>
          <a:custGeom>
            <a:rect b="b" l="l" r="r" t="t"/>
            <a:pathLst>
              <a:path extrusionOk="0" h="5272670" w="8080720">
                <a:moveTo>
                  <a:pt x="0" y="0"/>
                </a:moveTo>
                <a:lnTo>
                  <a:pt x="8080720" y="0"/>
                </a:lnTo>
                <a:lnTo>
                  <a:pt x="8080720" y="5272669"/>
                </a:lnTo>
                <a:lnTo>
                  <a:pt x="0" y="5272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8" name="Google Shape;298;p14"/>
          <p:cNvSpPr txBox="1"/>
          <p:nvPr/>
        </p:nvSpPr>
        <p:spPr>
          <a:xfrm>
            <a:off x="4440827" y="286475"/>
            <a:ext cx="105402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ELASTIC LOAD BALANCING - ELB</a:t>
            </a:r>
            <a:endParaRPr/>
          </a:p>
        </p:txBody>
      </p:sp>
      <p:sp>
        <p:nvSpPr>
          <p:cNvPr id="299" name="Google Shape;299;p14"/>
          <p:cNvSpPr txBox="1"/>
          <p:nvPr/>
        </p:nvSpPr>
        <p:spPr>
          <a:xfrm>
            <a:off x="1180476" y="1236800"/>
            <a:ext cx="16700400" cy="25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Elastic Load Balancing (ELB) </a:t>
            </a:r>
            <a:r>
              <a:rPr b="1" i="0" lang="en-US" sz="27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distribuye automáticamente el tráfico entrante de aplicaciones a través de varios destinos</a:t>
            </a:r>
            <a:r>
              <a:rPr b="0" i="0" lang="en-US" sz="27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tales como instancias de Amazon EC2, contenedores, direcciones IP y funciones lambda.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 controlar la carga variable del tráfico de su aplicación en una única zona o en varias zonas de disponibilidad.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/>
          <p:nvPr/>
        </p:nvSpPr>
        <p:spPr>
          <a:xfrm>
            <a:off x="728476" y="3004689"/>
            <a:ext cx="6733364" cy="6253611"/>
          </a:xfrm>
          <a:custGeom>
            <a:rect b="b" l="l" r="r" t="t"/>
            <a:pathLst>
              <a:path extrusionOk="0" h="6253611" w="6733364">
                <a:moveTo>
                  <a:pt x="0" y="0"/>
                </a:moveTo>
                <a:lnTo>
                  <a:pt x="6733364" y="0"/>
                </a:lnTo>
                <a:lnTo>
                  <a:pt x="6733364" y="6253611"/>
                </a:lnTo>
                <a:lnTo>
                  <a:pt x="0" y="6253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5" name="Google Shape;305;p15"/>
          <p:cNvGrpSpPr/>
          <p:nvPr/>
        </p:nvGrpSpPr>
        <p:grpSpPr>
          <a:xfrm>
            <a:off x="13144500" y="-144661"/>
            <a:ext cx="5143500" cy="5288161"/>
            <a:chOff x="0" y="-38100"/>
            <a:chExt cx="1354667" cy="1392767"/>
          </a:xfrm>
        </p:grpSpPr>
        <p:sp>
          <p:nvSpPr>
            <p:cNvPr id="306" name="Google Shape;306;p15"/>
            <p:cNvSpPr/>
            <p:nvPr/>
          </p:nvSpPr>
          <p:spPr>
            <a:xfrm>
              <a:off x="0" y="0"/>
              <a:ext cx="1354667" cy="1354667"/>
            </a:xfrm>
            <a:custGeom>
              <a:rect b="b" l="l" r="r" t="t"/>
              <a:pathLst>
                <a:path extrusionOk="0" h="1354667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07" name="Google Shape;307;p15"/>
            <p:cNvSpPr txBox="1"/>
            <p:nvPr/>
          </p:nvSpPr>
          <p:spPr>
            <a:xfrm>
              <a:off x="0" y="-38100"/>
              <a:ext cx="1354667" cy="139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" name="Google Shape;308;p15"/>
          <p:cNvSpPr txBox="1"/>
          <p:nvPr/>
        </p:nvSpPr>
        <p:spPr>
          <a:xfrm>
            <a:off x="728476" y="849312"/>
            <a:ext cx="6323168" cy="195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¿QUE BENEFICIO TIENE EC2 SOBRE OTROS PROVEEDORES?</a:t>
            </a:r>
            <a:endParaRPr/>
          </a:p>
        </p:txBody>
      </p:sp>
      <p:grpSp>
        <p:nvGrpSpPr>
          <p:cNvPr id="309" name="Google Shape;309;p15"/>
          <p:cNvGrpSpPr/>
          <p:nvPr/>
        </p:nvGrpSpPr>
        <p:grpSpPr>
          <a:xfrm>
            <a:off x="13144500" y="4998839"/>
            <a:ext cx="5143500" cy="5288161"/>
            <a:chOff x="0" y="-38100"/>
            <a:chExt cx="1354667" cy="1392767"/>
          </a:xfrm>
        </p:grpSpPr>
        <p:sp>
          <p:nvSpPr>
            <p:cNvPr id="310" name="Google Shape;310;p15"/>
            <p:cNvSpPr/>
            <p:nvPr/>
          </p:nvSpPr>
          <p:spPr>
            <a:xfrm>
              <a:off x="0" y="0"/>
              <a:ext cx="1354667" cy="1354667"/>
            </a:xfrm>
            <a:custGeom>
              <a:rect b="b" l="l" r="r" t="t"/>
              <a:pathLst>
                <a:path extrusionOk="0" h="1354667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11" name="Google Shape;311;p15"/>
            <p:cNvSpPr txBox="1"/>
            <p:nvPr/>
          </p:nvSpPr>
          <p:spPr>
            <a:xfrm>
              <a:off x="0" y="-38100"/>
              <a:ext cx="1354667" cy="139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2" name="Google Shape;312;p15"/>
          <p:cNvGrpSpPr/>
          <p:nvPr/>
        </p:nvGrpSpPr>
        <p:grpSpPr>
          <a:xfrm>
            <a:off x="8001000" y="-144661"/>
            <a:ext cx="5143500" cy="5288161"/>
            <a:chOff x="0" y="-38100"/>
            <a:chExt cx="1354667" cy="1392767"/>
          </a:xfrm>
        </p:grpSpPr>
        <p:sp>
          <p:nvSpPr>
            <p:cNvPr id="313" name="Google Shape;313;p15"/>
            <p:cNvSpPr/>
            <p:nvPr/>
          </p:nvSpPr>
          <p:spPr>
            <a:xfrm>
              <a:off x="0" y="0"/>
              <a:ext cx="1354667" cy="1354667"/>
            </a:xfrm>
            <a:custGeom>
              <a:rect b="b" l="l" r="r" t="t"/>
              <a:pathLst>
                <a:path extrusionOk="0" h="1354667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14" name="Google Shape;314;p15"/>
            <p:cNvSpPr txBox="1"/>
            <p:nvPr/>
          </p:nvSpPr>
          <p:spPr>
            <a:xfrm>
              <a:off x="0" y="-38100"/>
              <a:ext cx="1354667" cy="139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8001000" y="4998839"/>
            <a:ext cx="5143500" cy="5288161"/>
            <a:chOff x="0" y="-38100"/>
            <a:chExt cx="1354667" cy="1392767"/>
          </a:xfrm>
        </p:grpSpPr>
        <p:sp>
          <p:nvSpPr>
            <p:cNvPr id="316" name="Google Shape;316;p15"/>
            <p:cNvSpPr/>
            <p:nvPr/>
          </p:nvSpPr>
          <p:spPr>
            <a:xfrm>
              <a:off x="0" y="0"/>
              <a:ext cx="1354667" cy="1354667"/>
            </a:xfrm>
            <a:custGeom>
              <a:rect b="b" l="l" r="r" t="t"/>
              <a:pathLst>
                <a:path extrusionOk="0" h="1354667" w="1354667">
                  <a:moveTo>
                    <a:pt x="0" y="0"/>
                  </a:moveTo>
                  <a:lnTo>
                    <a:pt x="1354667" y="0"/>
                  </a:lnTo>
                  <a:lnTo>
                    <a:pt x="1354667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</p:sp>
        <p:sp>
          <p:nvSpPr>
            <p:cNvPr id="317" name="Google Shape;317;p15"/>
            <p:cNvSpPr txBox="1"/>
            <p:nvPr/>
          </p:nvSpPr>
          <p:spPr>
            <a:xfrm>
              <a:off x="0" y="-38100"/>
              <a:ext cx="1354667" cy="139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15"/>
          <p:cNvSpPr txBox="1"/>
          <p:nvPr/>
        </p:nvSpPr>
        <p:spPr>
          <a:xfrm>
            <a:off x="13529097" y="1819275"/>
            <a:ext cx="4374307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33 regiones y 105 zonas de disponibilidad a nivel mundial</a:t>
            </a:r>
            <a:endParaRPr/>
          </a:p>
        </p:txBody>
      </p:sp>
      <p:sp>
        <p:nvSpPr>
          <p:cNvPr id="319" name="Google Shape;319;p15"/>
          <p:cNvSpPr txBox="1"/>
          <p:nvPr/>
        </p:nvSpPr>
        <p:spPr>
          <a:xfrm>
            <a:off x="8385597" y="1502731"/>
            <a:ext cx="4374307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 veces menos horas de inactividad que el siguiente proveedor de nube más grande.</a:t>
            </a:r>
            <a:endParaRPr/>
          </a:p>
        </p:txBody>
      </p:sp>
      <p:sp>
        <p:nvSpPr>
          <p:cNvPr id="320" name="Google Shape;320;p15"/>
          <p:cNvSpPr txBox="1"/>
          <p:nvPr/>
        </p:nvSpPr>
        <p:spPr>
          <a:xfrm>
            <a:off x="8385597" y="6467475"/>
            <a:ext cx="4374307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Millones de clientes, desde pequeñas compañías hasta empresas emergentes</a:t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13529097" y="6715125"/>
            <a:ext cx="4374307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275 instancias para prácticamente cualquier necesidad empresarial.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 txBox="1"/>
          <p:nvPr/>
        </p:nvSpPr>
        <p:spPr>
          <a:xfrm>
            <a:off x="6166085" y="2524125"/>
            <a:ext cx="595583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</a:t>
            </a:r>
            <a:endParaRPr/>
          </a:p>
        </p:txBody>
      </p:sp>
      <p:sp>
        <p:nvSpPr>
          <p:cNvPr id="327" name="Google Shape;327;p16"/>
          <p:cNvSpPr txBox="1"/>
          <p:nvPr/>
        </p:nvSpPr>
        <p:spPr>
          <a:xfrm>
            <a:off x="2162609" y="3587750"/>
            <a:ext cx="13962781" cy="342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GESTIÓN DE POLÍTICAS, USUARIOS Y CONFIGURACIÓN DE MAQUINAS VIRTUALES</a:t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16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7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17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6" name="Google Shape;336;p17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17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61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3865129" y="2555875"/>
            <a:ext cx="13285417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IAM (Identity and Access Management)</a:t>
            </a:r>
            <a:endParaRPr/>
          </a:p>
        </p:txBody>
      </p:sp>
      <p:grpSp>
        <p:nvGrpSpPr>
          <p:cNvPr id="339" name="Google Shape;339;p17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340" name="Google Shape;340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42" name="Google Shape;342;p17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343" name="Google Shape;343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45" name="Google Shape;345;p17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346" name="Google Shape;346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48" name="Google Shape;348;p17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349" name="Google Shape;349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351" name="Google Shape;351;p17"/>
          <p:cNvGrpSpPr/>
          <p:nvPr/>
        </p:nvGrpSpPr>
        <p:grpSpPr>
          <a:xfrm>
            <a:off x="2905062" y="7038180"/>
            <a:ext cx="731003" cy="760368"/>
            <a:chOff x="0" y="0"/>
            <a:chExt cx="974670" cy="1013824"/>
          </a:xfrm>
        </p:grpSpPr>
        <p:sp>
          <p:nvSpPr>
            <p:cNvPr id="352" name="Google Shape;352;p17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7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354" name="Google Shape;354;p17"/>
          <p:cNvSpPr txBox="1"/>
          <p:nvPr/>
        </p:nvSpPr>
        <p:spPr>
          <a:xfrm>
            <a:off x="3865124" y="3740025"/>
            <a:ext cx="9363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EC2 (Elastic Compute Cloud)</a:t>
            </a:r>
            <a:endParaRPr/>
          </a:p>
        </p:txBody>
      </p:sp>
      <p:sp>
        <p:nvSpPr>
          <p:cNvPr id="355" name="Google Shape;355;p17"/>
          <p:cNvSpPr txBox="1"/>
          <p:nvPr/>
        </p:nvSpPr>
        <p:spPr>
          <a:xfrm>
            <a:off x="3865123" y="4876675"/>
            <a:ext cx="7115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Tipos de Instancias EC2</a:t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3865123" y="6013325"/>
            <a:ext cx="10881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Grupos de Seguridad (Security Groups)</a:t>
            </a:r>
            <a:endParaRPr/>
          </a:p>
        </p:txBody>
      </p:sp>
      <p:sp>
        <p:nvSpPr>
          <p:cNvPr id="357" name="Google Shape;357;p17"/>
          <p:cNvSpPr txBox="1"/>
          <p:nvPr/>
        </p:nvSpPr>
        <p:spPr>
          <a:xfrm>
            <a:off x="3865121" y="7149975"/>
            <a:ext cx="10881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Pares de Claves (Key Pairs)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"/>
          <p:cNvSpPr txBox="1"/>
          <p:nvPr/>
        </p:nvSpPr>
        <p:spPr>
          <a:xfrm>
            <a:off x="5416647" y="644847"/>
            <a:ext cx="7454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/>
          </a:p>
        </p:txBody>
      </p:sp>
      <p:sp>
        <p:nvSpPr>
          <p:cNvPr id="363" name="Google Shape;363;p18"/>
          <p:cNvSpPr txBox="1"/>
          <p:nvPr/>
        </p:nvSpPr>
        <p:spPr>
          <a:xfrm>
            <a:off x="689097" y="1708472"/>
            <a:ext cx="16474542" cy="6255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51" u="none" cap="none" strike="noStrike">
                <a:solidFill>
                  <a:srgbClr val="FFB923"/>
                </a:solidFill>
                <a:latin typeface="Arial"/>
                <a:ea typeface="Arial"/>
                <a:cs typeface="Arial"/>
                <a:sym typeface="Arial"/>
              </a:rPr>
              <a:t>Integridad Moral</a:t>
            </a:r>
            <a:endParaRPr/>
          </a:p>
          <a:p>
            <a:pPr indent="-588461" lvl="1" marL="1176921" marR="0" rtl="0" algn="l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5451"/>
              <a:buFont typeface="Arial"/>
              <a:buChar char="•"/>
            </a:pPr>
            <a:r>
              <a:rPr b="0" i="0" lang="en-US" sz="5451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 profesional de cloud computing debe manejar los datos de los usuarios con honestidad, sin ocultar brechas de seguridad, mal uso de la información o prácticas poco éticas.</a:t>
            </a:r>
            <a:endParaRPr/>
          </a:p>
          <a:p>
            <a:pPr indent="-588461" lvl="1" marL="1176921" marR="0" rtl="0" algn="l">
              <a:lnSpc>
                <a:spcPct val="129994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5451"/>
              <a:buFont typeface="Arial"/>
              <a:buChar char="•"/>
            </a:pPr>
            <a:r>
              <a:rPr b="0" i="0" lang="en-US" sz="5451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aprovechar vulnerabilidades del sistema para beneficio personal.</a:t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p18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9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FFB9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9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2" name="Google Shape;372;p19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24" u="none" cap="none" strike="noStrik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/>
          </a:p>
        </p:txBody>
      </p:sp>
      <p:sp>
        <p:nvSpPr>
          <p:cNvPr id="373" name="Google Shape;373;p19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sp>
        <p:nvSpPr>
          <p:cNvPr id="374" name="Google Shape;374;p19"/>
          <p:cNvSpPr txBox="1"/>
          <p:nvPr/>
        </p:nvSpPr>
        <p:spPr>
          <a:xfrm>
            <a:off x="7602892" y="613880"/>
            <a:ext cx="9861517" cy="3650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Services. (n.d.). IAM User Guide. AWS Documentation.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https://docs.aws.amazon.com/IAM/latest/UserGuide/</a:t>
            </a:r>
            <a:endParaRPr/>
          </a:p>
          <a:p>
            <a:pPr indent="0" lvl="0" marL="0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25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Services. (n.d.). Amazon EC2 User Guide for Linux Instances. AWS Documentation. 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https://docs.aws.amazon.com/ec2/ </a:t>
            </a:r>
            <a:endParaRPr/>
          </a:p>
          <a:p>
            <a:pPr indent="0" lvl="0" marL="0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25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20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20"/>
          <p:cNvSpPr txBox="1"/>
          <p:nvPr/>
        </p:nvSpPr>
        <p:spPr>
          <a:xfrm>
            <a:off x="6820525" y="5086350"/>
            <a:ext cx="447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