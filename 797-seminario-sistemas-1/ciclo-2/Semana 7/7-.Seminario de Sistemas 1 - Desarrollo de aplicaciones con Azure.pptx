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Hammersmith One"/>
      <p:regular r:id="rId26"/>
    </p:embeddedFont>
    <p:embeddedFont>
      <p:font typeface="Open Sans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YRlQ/W+4qPvsQLYQJWVQkp8/T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mmersmithOne-regular.fntdata"/><Relationship Id="rId25" Type="http://schemas.openxmlformats.org/officeDocument/2006/relationships/slide" Target="slides/slide20.xml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hyperlink" Target="https://learn.microsoft.com/en-us/azure/storage/common/storage-introductio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8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“Desarrollo de aplicaciones con Azure”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1" name="Google Shape;91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 txBox="1"/>
          <p:nvPr/>
        </p:nvSpPr>
        <p:spPr>
          <a:xfrm>
            <a:off x="6891626" y="289900"/>
            <a:ext cx="4090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7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335952" y="5933228"/>
            <a:ext cx="550580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VM y Load Balancer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335952" y="8243723"/>
            <a:ext cx="409011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App Services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grpSp>
        <p:nvGrpSpPr>
          <p:cNvPr id="114" name="Google Shape;114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1135161" y="5820388"/>
            <a:ext cx="731003" cy="760368"/>
            <a:chOff x="0" y="0"/>
            <a:chExt cx="974670" cy="1013824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12210202" y="5933228"/>
            <a:ext cx="3655657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Logic Apps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2335952" y="7072306"/>
            <a:ext cx="3159894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Storage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0" y="-144661"/>
            <a:ext cx="5991225" cy="10431661"/>
            <a:chOff x="0" y="-38100"/>
            <a:chExt cx="1577936" cy="2747433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1577936" cy="2709333"/>
            </a:xfrm>
            <a:custGeom>
              <a:rect b="b" l="l" r="r" t="t"/>
              <a:pathLst>
                <a:path extrusionOk="0" h="2709333" w="1577936">
                  <a:moveTo>
                    <a:pt x="0" y="0"/>
                  </a:moveTo>
                  <a:lnTo>
                    <a:pt x="1577936" y="0"/>
                  </a:lnTo>
                  <a:lnTo>
                    <a:pt x="15779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28" name="Google Shape;128;p3"/>
            <p:cNvSpPr txBox="1"/>
            <p:nvPr/>
          </p:nvSpPr>
          <p:spPr>
            <a:xfrm>
              <a:off x="0" y="-38100"/>
              <a:ext cx="157793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868549" y="9645946"/>
            <a:ext cx="4752975" cy="641054"/>
            <a:chOff x="0" y="-38100"/>
            <a:chExt cx="1251812" cy="168838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1251812" cy="130738"/>
            </a:xfrm>
            <a:custGeom>
              <a:rect b="b" l="l" r="r" t="t"/>
              <a:pathLst>
                <a:path extrusionOk="0" h="130738" w="1251812">
                  <a:moveTo>
                    <a:pt x="0" y="0"/>
                  </a:moveTo>
                  <a:lnTo>
                    <a:pt x="1251812" y="0"/>
                  </a:lnTo>
                  <a:lnTo>
                    <a:pt x="1251812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-38100"/>
              <a:ext cx="1251812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0" y="8983453"/>
            <a:ext cx="2463069" cy="1453443"/>
            <a:chOff x="0" y="-38100"/>
            <a:chExt cx="648710" cy="382800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648710" cy="344700"/>
            </a:xfrm>
            <a:custGeom>
              <a:rect b="b" l="l" r="r" t="t"/>
              <a:pathLst>
                <a:path extrusionOk="0" h="344700" w="648710">
                  <a:moveTo>
                    <a:pt x="0" y="0"/>
                  </a:moveTo>
                  <a:lnTo>
                    <a:pt x="648710" y="0"/>
                  </a:lnTo>
                  <a:lnTo>
                    <a:pt x="648710" y="344700"/>
                  </a:lnTo>
                  <a:lnTo>
                    <a:pt x="0" y="34470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34" name="Google Shape;134;p3"/>
            <p:cNvSpPr txBox="1"/>
            <p:nvPr/>
          </p:nvSpPr>
          <p:spPr>
            <a:xfrm>
              <a:off x="0" y="-38100"/>
              <a:ext cx="648710" cy="3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37" name="Google Shape;137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39" name="Google Shape;139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0" name="Google Shape;140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3"/>
          <p:cNvSpPr/>
          <p:nvPr/>
        </p:nvSpPr>
        <p:spPr>
          <a:xfrm>
            <a:off x="7306958" y="1820710"/>
            <a:ext cx="3674083" cy="3674083"/>
          </a:xfrm>
          <a:custGeom>
            <a:rect b="b" l="l" r="r" t="t"/>
            <a:pathLst>
              <a:path extrusionOk="0" h="3674083" w="3674083">
                <a:moveTo>
                  <a:pt x="0" y="0"/>
                </a:moveTo>
                <a:lnTo>
                  <a:pt x="3674084" y="0"/>
                </a:lnTo>
                <a:lnTo>
                  <a:pt x="3674084" y="3674084"/>
                </a:lnTo>
                <a:lnTo>
                  <a:pt x="0" y="3674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3"/>
          <p:cNvSpPr txBox="1"/>
          <p:nvPr/>
        </p:nvSpPr>
        <p:spPr>
          <a:xfrm>
            <a:off x="2707275" y="458625"/>
            <a:ext cx="1258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Virtual Machines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497215" y="5801029"/>
            <a:ext cx="17293571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Cuando se crea una VM en Azure,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debe crear un Grupo de Recursos (o se puede usar uno existente)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incluye: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VM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interfaz de red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IP pública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red virtual,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3199166" y="4871402"/>
            <a:ext cx="11889668" cy="4845040"/>
          </a:xfrm>
          <a:custGeom>
            <a:rect b="b" l="l" r="r" t="t"/>
            <a:pathLst>
              <a:path extrusionOk="0" h="4845040" w="11889668">
                <a:moveTo>
                  <a:pt x="0" y="0"/>
                </a:moveTo>
                <a:lnTo>
                  <a:pt x="11889668" y="0"/>
                </a:lnTo>
                <a:lnTo>
                  <a:pt x="11889668" y="4845040"/>
                </a:lnTo>
                <a:lnTo>
                  <a:pt x="0" y="484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4"/>
          <p:cNvSpPr txBox="1"/>
          <p:nvPr/>
        </p:nvSpPr>
        <p:spPr>
          <a:xfrm>
            <a:off x="1028700" y="1905000"/>
            <a:ext cx="16545920" cy="2804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servidores que reenvían el tráfico de Internet a múltiples servidores (máquinas virtuales).</a:t>
            </a:r>
            <a:endParaRPr/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Distribuye flujos de entrada que llegan al front-end del equilibrador de carga a las instancias del grupo de back-end.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3862225" y="981600"/>
            <a:ext cx="1072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LOAD BALANCER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59" name="Google Shape;159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62" name="Google Shape;162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3" name="Google Shape;163;p5"/>
          <p:cNvCxnSpPr/>
          <p:nvPr/>
        </p:nvCxnSpPr>
        <p:spPr>
          <a:xfrm flipH="1" rot="10800000">
            <a:off x="4491574" y="1322213"/>
            <a:ext cx="8937117" cy="19050"/>
          </a:xfrm>
          <a:prstGeom prst="straightConnector1">
            <a:avLst/>
          </a:prstGeom>
          <a:noFill/>
          <a:ln cap="flat" cmpd="sng" w="38100">
            <a:solidFill>
              <a:srgbClr val="0071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5"/>
          <p:cNvSpPr/>
          <p:nvPr/>
        </p:nvSpPr>
        <p:spPr>
          <a:xfrm>
            <a:off x="4702270" y="3762312"/>
            <a:ext cx="8883461" cy="4186331"/>
          </a:xfrm>
          <a:custGeom>
            <a:rect b="b" l="l" r="r" t="t"/>
            <a:pathLst>
              <a:path extrusionOk="0" h="4186331" w="8883461">
                <a:moveTo>
                  <a:pt x="0" y="0"/>
                </a:moveTo>
                <a:lnTo>
                  <a:pt x="8883460" y="0"/>
                </a:lnTo>
                <a:lnTo>
                  <a:pt x="8883460" y="4186331"/>
                </a:lnTo>
                <a:lnTo>
                  <a:pt x="0" y="4186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5"/>
          <p:cNvSpPr txBox="1"/>
          <p:nvPr/>
        </p:nvSpPr>
        <p:spPr>
          <a:xfrm>
            <a:off x="6375475" y="351675"/>
            <a:ext cx="6699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949777" y="1580204"/>
            <a:ext cx="14388446" cy="19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 es una plataforma de almacenamiento en la nube que ofrece varios tipos de almacenamiento bajo un mismo servicio: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6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72" name="Google Shape;172;p6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73" name="Google Shape;173;p6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76" name="Google Shape;176;p6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6"/>
          <p:cNvSpPr txBox="1"/>
          <p:nvPr/>
        </p:nvSpPr>
        <p:spPr>
          <a:xfrm>
            <a:off x="1216575" y="289225"/>
            <a:ext cx="1555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CONCEPTOS IMPORTANTES DE AZURE STORAGE</a:t>
            </a:r>
            <a:endParaRPr/>
          </a:p>
        </p:txBody>
      </p:sp>
      <p:grpSp>
        <p:nvGrpSpPr>
          <p:cNvPr id="178" name="Google Shape;178;p6"/>
          <p:cNvGrpSpPr/>
          <p:nvPr/>
        </p:nvGrpSpPr>
        <p:grpSpPr>
          <a:xfrm>
            <a:off x="697799" y="1485900"/>
            <a:ext cx="731003" cy="760368"/>
            <a:chOff x="0" y="0"/>
            <a:chExt cx="974670" cy="1013824"/>
          </a:xfrm>
        </p:grpSpPr>
        <p:sp>
          <p:nvSpPr>
            <p:cNvPr id="179" name="Google Shape;179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631519" y="5143500"/>
            <a:ext cx="731003" cy="760368"/>
            <a:chOff x="0" y="0"/>
            <a:chExt cx="974670" cy="1013824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84" name="Google Shape;184;p6"/>
          <p:cNvSpPr txBox="1"/>
          <p:nvPr/>
        </p:nvSpPr>
        <p:spPr>
          <a:xfrm>
            <a:off x="1611786" y="1568745"/>
            <a:ext cx="6195420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CUENTAS DE ALMACENAMIENTO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545507" y="5226345"/>
            <a:ext cx="50743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CONTENEDORES DE BLOB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697799" y="2296974"/>
            <a:ext cx="16737946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espacio con nombre único para los datos de Azure Storage, donde se pueden almacenar diferentes tipos de datos, como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blobs (objetos), archivos, colas y tablas.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 crear una cuenta de almacenamiento, obtienes acceso a todos estos tipos de almacenamiento, y puedes elegir cuál usar según tus necesidades.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543342" y="5974074"/>
            <a:ext cx="16737946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unidad lógica dentro de una cuenta de almacenamiento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agrupar y organizar blobs (objetos), es similar a al concepto de Bucket en AWS.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Todos los blobs deben residir dentro de un contenedor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y no puedes almacenar blobs directamente en la cuenta de almacenamiento sin un contenedor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7"/>
          <p:cNvGrpSpPr/>
          <p:nvPr/>
        </p:nvGrpSpPr>
        <p:grpSpPr>
          <a:xfrm>
            <a:off x="17551400" y="-144661"/>
            <a:ext cx="736600" cy="929568"/>
            <a:chOff x="0" y="-38100"/>
            <a:chExt cx="194002" cy="244824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194002" cy="206724"/>
            </a:xfrm>
            <a:custGeom>
              <a:rect b="b" l="l" r="r" t="t"/>
              <a:pathLst>
                <a:path extrusionOk="0" h="206724" w="194002">
                  <a:moveTo>
                    <a:pt x="0" y="0"/>
                  </a:moveTo>
                  <a:lnTo>
                    <a:pt x="194002" y="0"/>
                  </a:lnTo>
                  <a:lnTo>
                    <a:pt x="194002" y="206724"/>
                  </a:lnTo>
                  <a:lnTo>
                    <a:pt x="0" y="206724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194" name="Google Shape;194;p7"/>
            <p:cNvSpPr txBox="1"/>
            <p:nvPr/>
          </p:nvSpPr>
          <p:spPr>
            <a:xfrm>
              <a:off x="0" y="-38100"/>
              <a:ext cx="194002" cy="24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7"/>
          <p:cNvGrpSpPr/>
          <p:nvPr/>
        </p:nvGrpSpPr>
        <p:grpSpPr>
          <a:xfrm>
            <a:off x="0" y="9738432"/>
            <a:ext cx="18288000" cy="548568"/>
            <a:chOff x="0" y="-38100"/>
            <a:chExt cx="4816593" cy="144479"/>
          </a:xfrm>
        </p:grpSpPr>
        <p:sp>
          <p:nvSpPr>
            <p:cNvPr id="196" name="Google Shape;196;p7"/>
            <p:cNvSpPr/>
            <p:nvPr/>
          </p:nvSpPr>
          <p:spPr>
            <a:xfrm>
              <a:off x="0" y="0"/>
              <a:ext cx="4816592" cy="106379"/>
            </a:xfrm>
            <a:custGeom>
              <a:rect b="b" l="l" r="r" t="t"/>
              <a:pathLst>
                <a:path extrusionOk="0" h="1063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6379"/>
                  </a:lnTo>
                  <a:lnTo>
                    <a:pt x="0" y="106379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7" name="Google Shape;197;p7"/>
            <p:cNvSpPr txBox="1"/>
            <p:nvPr/>
          </p:nvSpPr>
          <p:spPr>
            <a:xfrm>
              <a:off x="0" y="-38100"/>
              <a:ext cx="4816593" cy="144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7"/>
          <p:cNvGrpSpPr/>
          <p:nvPr/>
        </p:nvGrpSpPr>
        <p:grpSpPr>
          <a:xfrm>
            <a:off x="17783175" y="247792"/>
            <a:ext cx="504825" cy="700017"/>
            <a:chOff x="0" y="-38100"/>
            <a:chExt cx="132958" cy="184367"/>
          </a:xfrm>
        </p:grpSpPr>
        <p:sp>
          <p:nvSpPr>
            <p:cNvPr id="199" name="Google Shape;199;p7"/>
            <p:cNvSpPr/>
            <p:nvPr/>
          </p:nvSpPr>
          <p:spPr>
            <a:xfrm>
              <a:off x="0" y="0"/>
              <a:ext cx="132958" cy="146267"/>
            </a:xfrm>
            <a:custGeom>
              <a:rect b="b" l="l" r="r" t="t"/>
              <a:pathLst>
                <a:path extrusionOk="0" h="146267" w="132958">
                  <a:moveTo>
                    <a:pt x="0" y="0"/>
                  </a:moveTo>
                  <a:lnTo>
                    <a:pt x="132958" y="0"/>
                  </a:lnTo>
                  <a:lnTo>
                    <a:pt x="132958" y="146267"/>
                  </a:lnTo>
                  <a:lnTo>
                    <a:pt x="0" y="1462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0" name="Google Shape;200;p7"/>
            <p:cNvSpPr txBox="1"/>
            <p:nvPr/>
          </p:nvSpPr>
          <p:spPr>
            <a:xfrm>
              <a:off x="0" y="-38100"/>
              <a:ext cx="132958" cy="184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/>
          <p:nvPr/>
        </p:nvSpPr>
        <p:spPr>
          <a:xfrm>
            <a:off x="4065436" y="3774771"/>
            <a:ext cx="10157128" cy="5713385"/>
          </a:xfrm>
          <a:custGeom>
            <a:rect b="b" l="l" r="r" t="t"/>
            <a:pathLst>
              <a:path extrusionOk="0" h="5713385" w="10157128">
                <a:moveTo>
                  <a:pt x="0" y="0"/>
                </a:moveTo>
                <a:lnTo>
                  <a:pt x="10157128" y="0"/>
                </a:lnTo>
                <a:lnTo>
                  <a:pt x="10157128" y="5713385"/>
                </a:lnTo>
                <a:lnTo>
                  <a:pt x="0" y="5713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7"/>
          <p:cNvSpPr txBox="1"/>
          <p:nvPr/>
        </p:nvSpPr>
        <p:spPr>
          <a:xfrm>
            <a:off x="1863375" y="439725"/>
            <a:ext cx="12962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 EXPLORER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901864" y="1531938"/>
            <a:ext cx="16484273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File Storage no permite administrar o explorar de manera cómoda los archivos dentro de una cuenta de almacenamiento, por tal razón existe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 Explorer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un servicio que permite gestionar de forma visual tus recursos de almacenamiento en la nube de Microsoft Azure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09" name="Google Shape;209;p8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210" name="Google Shape;210;p8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8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212" name="Google Shape;212;p8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13" name="Google Shape;213;p8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8"/>
          <p:cNvSpPr txBox="1"/>
          <p:nvPr/>
        </p:nvSpPr>
        <p:spPr>
          <a:xfrm>
            <a:off x="1028700" y="1637354"/>
            <a:ext cx="10292696" cy="69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ejecutar aplicaciones web, back-ends móviles y API RESTful sin preocuparse por administrar la infraestructura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subyacente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Utilizar App Service es gratuito, pero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paga por los recursos subyacentes que se consumen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como VMs, grupos de escalado, Azure Load Balancer, Azure SQL Database, otros servicios de bases de datos, etc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considerar como un potente servicio de hospedaje web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se encarga de todo el trabajo pesado.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2013939" y="2491298"/>
            <a:ext cx="5245361" cy="5245361"/>
          </a:xfrm>
          <a:custGeom>
            <a:rect b="b" l="l" r="r" t="t"/>
            <a:pathLst>
              <a:path extrusionOk="0" h="5245361" w="5245361">
                <a:moveTo>
                  <a:pt x="0" y="0"/>
                </a:moveTo>
                <a:lnTo>
                  <a:pt x="5245361" y="0"/>
                </a:lnTo>
                <a:lnTo>
                  <a:pt x="5245361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 txBox="1"/>
          <p:nvPr/>
        </p:nvSpPr>
        <p:spPr>
          <a:xfrm>
            <a:off x="2156595" y="297175"/>
            <a:ext cx="11703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App Service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9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9"/>
          <p:cNvSpPr txBox="1"/>
          <p:nvPr/>
        </p:nvSpPr>
        <p:spPr>
          <a:xfrm>
            <a:off x="2605650" y="1241350"/>
            <a:ext cx="1373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gestiona Azure App Services?</a:t>
            </a:r>
            <a:endParaRPr/>
          </a:p>
        </p:txBody>
      </p:sp>
      <p:grpSp>
        <p:nvGrpSpPr>
          <p:cNvPr id="224" name="Google Shape;224;p9"/>
          <p:cNvGrpSpPr/>
          <p:nvPr/>
        </p:nvGrpSpPr>
        <p:grpSpPr>
          <a:xfrm>
            <a:off x="3713451" y="2872199"/>
            <a:ext cx="731003" cy="760368"/>
            <a:chOff x="0" y="0"/>
            <a:chExt cx="974670" cy="1013824"/>
          </a:xfrm>
        </p:grpSpPr>
        <p:sp>
          <p:nvSpPr>
            <p:cNvPr id="225" name="Google Shape;225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27" name="Google Shape;227;p9"/>
          <p:cNvGrpSpPr/>
          <p:nvPr/>
        </p:nvGrpSpPr>
        <p:grpSpPr>
          <a:xfrm>
            <a:off x="3713451" y="4340016"/>
            <a:ext cx="731003" cy="760368"/>
            <a:chOff x="0" y="0"/>
            <a:chExt cx="974670" cy="1013824"/>
          </a:xfrm>
        </p:grpSpPr>
        <p:sp>
          <p:nvSpPr>
            <p:cNvPr id="228" name="Google Shape;228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30" name="Google Shape;230;p9"/>
          <p:cNvSpPr txBox="1"/>
          <p:nvPr/>
        </p:nvSpPr>
        <p:spPr>
          <a:xfrm>
            <a:off x="4627438" y="2706579"/>
            <a:ext cx="9947111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configuración de la instancia/el sistema operativo.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4627438" y="4422862"/>
            <a:ext cx="935948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Aprovisionamiento automático de capacidad</a:t>
            </a:r>
            <a:endParaRPr/>
          </a:p>
        </p:txBody>
      </p:sp>
      <p:grpSp>
        <p:nvGrpSpPr>
          <p:cNvPr id="232" name="Google Shape;232;p9"/>
          <p:cNvGrpSpPr/>
          <p:nvPr/>
        </p:nvGrpSpPr>
        <p:grpSpPr>
          <a:xfrm>
            <a:off x="3713451" y="5681409"/>
            <a:ext cx="731003" cy="760368"/>
            <a:chOff x="0" y="0"/>
            <a:chExt cx="974670" cy="1013824"/>
          </a:xfrm>
        </p:grpSpPr>
        <p:sp>
          <p:nvSpPr>
            <p:cNvPr id="233" name="Google Shape;233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35" name="Google Shape;235;p9"/>
          <p:cNvSpPr txBox="1"/>
          <p:nvPr/>
        </p:nvSpPr>
        <p:spPr>
          <a:xfrm>
            <a:off x="4627438" y="5764255"/>
            <a:ext cx="969281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Balanceo de carga y auto escalado incorporados</a:t>
            </a:r>
            <a:endParaRPr/>
          </a:p>
        </p:txBody>
      </p:sp>
      <p:grpSp>
        <p:nvGrpSpPr>
          <p:cNvPr id="236" name="Google Shape;236;p9"/>
          <p:cNvGrpSpPr/>
          <p:nvPr/>
        </p:nvGrpSpPr>
        <p:grpSpPr>
          <a:xfrm>
            <a:off x="3713451" y="6898977"/>
            <a:ext cx="731003" cy="760368"/>
            <a:chOff x="0" y="0"/>
            <a:chExt cx="974670" cy="1013824"/>
          </a:xfrm>
        </p:grpSpPr>
        <p:sp>
          <p:nvSpPr>
            <p:cNvPr id="237" name="Google Shape;237;p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39" name="Google Shape;239;p9"/>
          <p:cNvSpPr txBox="1"/>
          <p:nvPr/>
        </p:nvSpPr>
        <p:spPr>
          <a:xfrm>
            <a:off x="4627438" y="6981823"/>
            <a:ext cx="9947111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Monitoreo del estado de la aplicación y capacidad de respuesta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45" name="Google Shape;245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46" name="Google Shape;246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48" name="Google Shape;248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249" name="Google Shape;249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0"/>
          <p:cNvGrpSpPr/>
          <p:nvPr/>
        </p:nvGrpSpPr>
        <p:grpSpPr>
          <a:xfrm>
            <a:off x="1028700" y="1475199"/>
            <a:ext cx="731003" cy="760368"/>
            <a:chOff x="0" y="0"/>
            <a:chExt cx="974670" cy="1013824"/>
          </a:xfrm>
        </p:grpSpPr>
        <p:sp>
          <p:nvSpPr>
            <p:cNvPr id="251" name="Google Shape;251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53" name="Google Shape;253;p10"/>
          <p:cNvGrpSpPr/>
          <p:nvPr/>
        </p:nvGrpSpPr>
        <p:grpSpPr>
          <a:xfrm>
            <a:off x="1028700" y="2943016"/>
            <a:ext cx="731003" cy="760368"/>
            <a:chOff x="0" y="0"/>
            <a:chExt cx="974670" cy="1013824"/>
          </a:xfrm>
        </p:grpSpPr>
        <p:sp>
          <p:nvSpPr>
            <p:cNvPr id="254" name="Google Shape;254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028700" y="4284409"/>
            <a:ext cx="731003" cy="760368"/>
            <a:chOff x="0" y="0"/>
            <a:chExt cx="974670" cy="1013824"/>
          </a:xfrm>
        </p:grpSpPr>
        <p:sp>
          <p:nvSpPr>
            <p:cNvPr id="257" name="Google Shape;257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59" name="Google Shape;259;p10"/>
          <p:cNvSpPr/>
          <p:nvPr/>
        </p:nvSpPr>
        <p:spPr>
          <a:xfrm>
            <a:off x="3042161" y="5276257"/>
            <a:ext cx="10732665" cy="4330230"/>
          </a:xfrm>
          <a:custGeom>
            <a:rect b="b" l="l" r="r" t="t"/>
            <a:pathLst>
              <a:path extrusionOk="0" h="4330230" w="10732665">
                <a:moveTo>
                  <a:pt x="0" y="0"/>
                </a:moveTo>
                <a:lnTo>
                  <a:pt x="10732665" y="0"/>
                </a:lnTo>
                <a:lnTo>
                  <a:pt x="10732665" y="4330230"/>
                </a:lnTo>
                <a:lnTo>
                  <a:pt x="0" y="43302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316" l="0" r="0" t="-1759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60" name="Google Shape;260;p10"/>
          <p:cNvSpPr txBox="1"/>
          <p:nvPr/>
        </p:nvSpPr>
        <p:spPr>
          <a:xfrm>
            <a:off x="1220799" y="351675"/>
            <a:ext cx="15010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USOS MAS COMUNES DE AZURE APP SERVICE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1942688" y="1309579"/>
            <a:ext cx="12931611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Web Apps,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decir webs dinámicas, blogs, webs de comercio electrónico, etc.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942688" y="2744874"/>
            <a:ext cx="13804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Web Apps para contenedores,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principalmente para ejecutar aplicaciones en contenedores de Docker.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1942688" y="4367255"/>
            <a:ext cx="1380448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API Apps,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es decir exponer </a:t>
            </a: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servicios webs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manera eficiente.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6756911" y="9587437"/>
            <a:ext cx="2997119" cy="310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2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By Nnaemezue Obi-Eyisi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1"/>
          <p:cNvSpPr/>
          <p:nvPr/>
        </p:nvSpPr>
        <p:spPr>
          <a:xfrm>
            <a:off x="8205783" y="1720139"/>
            <a:ext cx="9217760" cy="6975113"/>
          </a:xfrm>
          <a:custGeom>
            <a:rect b="b" l="l" r="r" t="t"/>
            <a:pathLst>
              <a:path extrusionOk="0" h="6975113" w="9217760">
                <a:moveTo>
                  <a:pt x="0" y="0"/>
                </a:moveTo>
                <a:lnTo>
                  <a:pt x="9217760" y="0"/>
                </a:lnTo>
                <a:lnTo>
                  <a:pt x="9217760" y="6975112"/>
                </a:lnTo>
                <a:lnTo>
                  <a:pt x="0" y="6975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8" r="-28" t="0"/>
            </a:stretch>
          </a:blipFill>
          <a:ln>
            <a:noFill/>
          </a:ln>
        </p:spPr>
      </p:sp>
      <p:sp>
        <p:nvSpPr>
          <p:cNvPr id="272" name="Google Shape;272;p11"/>
          <p:cNvSpPr txBox="1"/>
          <p:nvPr/>
        </p:nvSpPr>
        <p:spPr>
          <a:xfrm>
            <a:off x="3914305" y="439737"/>
            <a:ext cx="1045939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Logic Apps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992200" y="1560509"/>
            <a:ext cx="6991500" cy="82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en la nube en la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crear y ejecutar flujos de trabajo automatizados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dentro, entre y fuera de los ecosistemas de software de una empresa u organización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Logic Apps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incluye herramientas de código bajo y sin código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que se pueda trabajar con sistemas heredados, modernos y de vanguardia que existen en la nube, en locales o en entornos híbridos.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2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79" name="Google Shape;279;p12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80" name="Google Shape;280;p12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2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82" name="Google Shape;282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</p:sp>
        <p:sp>
          <p:nvSpPr>
            <p:cNvPr id="283" name="Google Shape;283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2"/>
          <p:cNvGrpSpPr/>
          <p:nvPr/>
        </p:nvGrpSpPr>
        <p:grpSpPr>
          <a:xfrm>
            <a:off x="1028700" y="1894300"/>
            <a:ext cx="731003" cy="760368"/>
            <a:chOff x="0" y="0"/>
            <a:chExt cx="974670" cy="1013824"/>
          </a:xfrm>
        </p:grpSpPr>
        <p:sp>
          <p:nvSpPr>
            <p:cNvPr id="285" name="Google Shape;285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87" name="Google Shape;287;p12"/>
          <p:cNvGrpSpPr/>
          <p:nvPr/>
        </p:nvGrpSpPr>
        <p:grpSpPr>
          <a:xfrm>
            <a:off x="1028700" y="4138866"/>
            <a:ext cx="731003" cy="760368"/>
            <a:chOff x="0" y="0"/>
            <a:chExt cx="974670" cy="1013824"/>
          </a:xfrm>
        </p:grpSpPr>
        <p:sp>
          <p:nvSpPr>
            <p:cNvPr id="288" name="Google Shape;288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90" name="Google Shape;290;p12"/>
          <p:cNvGrpSpPr/>
          <p:nvPr/>
        </p:nvGrpSpPr>
        <p:grpSpPr>
          <a:xfrm>
            <a:off x="1028700" y="5785059"/>
            <a:ext cx="731003" cy="760368"/>
            <a:chOff x="0" y="0"/>
            <a:chExt cx="974670" cy="1013824"/>
          </a:xfrm>
        </p:grpSpPr>
        <p:sp>
          <p:nvSpPr>
            <p:cNvPr id="291" name="Google Shape;291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93" name="Google Shape;293;p12"/>
          <p:cNvSpPr txBox="1"/>
          <p:nvPr/>
        </p:nvSpPr>
        <p:spPr>
          <a:xfrm>
            <a:off x="2109750" y="593725"/>
            <a:ext cx="1363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EJEMPLOS DE USO DE AZURE LOGIC APPS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1942688" y="1738204"/>
            <a:ext cx="14376236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Programación y envío de notificaciones por correo electrónico mediante Office 365 cuando se produce un evento específico, por ejemplo, cuando se ha cargado un archivo nuevo.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1942688" y="3942606"/>
            <a:ext cx="13804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Procesamiento y enrutamiento de pedidos entre sistemas locales y servicios en la nube.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1942688" y="5586916"/>
            <a:ext cx="13804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Traslado de archivos cargados desde un servidor SFTP o FTP a Azure Blob Storage.</a:t>
            </a:r>
            <a:endParaRPr/>
          </a:p>
        </p:txBody>
      </p:sp>
      <p:grpSp>
        <p:nvGrpSpPr>
          <p:cNvPr id="297" name="Google Shape;297;p12"/>
          <p:cNvGrpSpPr/>
          <p:nvPr/>
        </p:nvGrpSpPr>
        <p:grpSpPr>
          <a:xfrm>
            <a:off x="1028700" y="7427486"/>
            <a:ext cx="731003" cy="760368"/>
            <a:chOff x="0" y="0"/>
            <a:chExt cx="974670" cy="1013824"/>
          </a:xfrm>
        </p:grpSpPr>
        <p:sp>
          <p:nvSpPr>
            <p:cNvPr id="298" name="Google Shape;298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00" name="Google Shape;300;p12"/>
          <p:cNvSpPr txBox="1"/>
          <p:nvPr/>
        </p:nvSpPr>
        <p:spPr>
          <a:xfrm>
            <a:off x="1942688" y="7229344"/>
            <a:ext cx="1380448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Mejorar la supervisión de actividades en los medios sociales, analizar la opinión y crear alertas o tareas para los elementos que necesiten revisión.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 txBox="1"/>
          <p:nvPr/>
        </p:nvSpPr>
        <p:spPr>
          <a:xfrm>
            <a:off x="5700841" y="2861681"/>
            <a:ext cx="70829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VM + LOAD BALANCER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3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 txBox="1"/>
          <p:nvPr/>
        </p:nvSpPr>
        <p:spPr>
          <a:xfrm>
            <a:off x="5700841" y="2861681"/>
            <a:ext cx="70829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/>
          </a:p>
        </p:txBody>
      </p:sp>
      <p:sp>
        <p:nvSpPr>
          <p:cNvPr id="314" name="Google Shape;314;p14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BLOB STORAGE + WEB ESTÁTICA</a:t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4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"/>
          <p:cNvSpPr txBox="1"/>
          <p:nvPr/>
        </p:nvSpPr>
        <p:spPr>
          <a:xfrm>
            <a:off x="5700850" y="2861675"/>
            <a:ext cx="7358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III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AZURE APP SERVICE</a:t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15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"/>
          <p:cNvSpPr txBox="1"/>
          <p:nvPr/>
        </p:nvSpPr>
        <p:spPr>
          <a:xfrm>
            <a:off x="5700841" y="2861681"/>
            <a:ext cx="70829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IV</a:t>
            </a:r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LOGIC APPS</a:t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6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/>
        </p:nvSpPr>
        <p:spPr>
          <a:xfrm>
            <a:off x="5542868" y="787722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1032950" y="2397125"/>
            <a:ext cx="16474542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71C6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Aprender a cambiar el enfoque rápidamente según el contexto. 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Adaptar la comunicación y roles dentro de un grupo para mejorar el rendimiento del mismo.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Aprender a moverse entre tecnologías cloud según lo que necesita una empresa.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7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18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3865124" y="2672525"/>
            <a:ext cx="55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Virtual Machines</a:t>
            </a:r>
            <a:endParaRPr/>
          </a:p>
        </p:txBody>
      </p:sp>
      <p:grpSp>
        <p:nvGrpSpPr>
          <p:cNvPr id="350" name="Google Shape;350;p18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351" name="Google Shape;351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53" name="Google Shape;353;p18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354" name="Google Shape;354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56" name="Google Shape;356;p18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57" name="Google Shape;357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59" name="Google Shape;359;p18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60" name="Google Shape;360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62" name="Google Shape;362;p18"/>
          <p:cNvSpPr txBox="1"/>
          <p:nvPr/>
        </p:nvSpPr>
        <p:spPr>
          <a:xfrm>
            <a:off x="3865125" y="3744000"/>
            <a:ext cx="626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Cuentas de Almacenamiento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3865124" y="4841875"/>
            <a:ext cx="5975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Contenedores de Blob</a:t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3865129" y="6067154"/>
            <a:ext cx="5377189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App Service</a:t>
            </a:r>
            <a:endParaRPr/>
          </a:p>
        </p:txBody>
      </p:sp>
      <p:grpSp>
        <p:nvGrpSpPr>
          <p:cNvPr id="365" name="Google Shape;365;p18"/>
          <p:cNvGrpSpPr/>
          <p:nvPr/>
        </p:nvGrpSpPr>
        <p:grpSpPr>
          <a:xfrm>
            <a:off x="2905062" y="7177588"/>
            <a:ext cx="731003" cy="760368"/>
            <a:chOff x="0" y="0"/>
            <a:chExt cx="974670" cy="1013824"/>
          </a:xfrm>
        </p:grpSpPr>
        <p:sp>
          <p:nvSpPr>
            <p:cNvPr id="366" name="Google Shape;366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68" name="Google Shape;368;p18"/>
          <p:cNvSpPr txBox="1"/>
          <p:nvPr/>
        </p:nvSpPr>
        <p:spPr>
          <a:xfrm>
            <a:off x="3865129" y="7256147"/>
            <a:ext cx="5377189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Logic Apps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07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19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sp>
        <p:nvSpPr>
          <p:cNvPr id="377" name="Google Shape;377;p19"/>
          <p:cNvSpPr txBox="1"/>
          <p:nvPr/>
        </p:nvSpPr>
        <p:spPr>
          <a:xfrm>
            <a:off x="7775700" y="254300"/>
            <a:ext cx="10057200" cy="9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2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625"/>
              <a:buFont typeface="Arial"/>
              <a:buChar char="•"/>
            </a:pPr>
            <a:r>
              <a:rPr b="1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What is Azure Virtual Machines?. Microsoft Learn.</a:t>
            </a:r>
            <a:r>
              <a:rPr b="0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https://learn.microsoft.com/en-us/azure/virtual-machines/overview</a:t>
            </a:r>
            <a:endParaRPr sz="1200"/>
          </a:p>
          <a:p>
            <a:pPr indent="-2922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625"/>
              <a:buFont typeface="Arial"/>
              <a:buChar char="•"/>
            </a:pPr>
            <a:r>
              <a:rPr b="1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What is Azure Load Balancer?. Microsoft Learn</a:t>
            </a:r>
            <a:r>
              <a:rPr b="0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 https://learn.microsoft.com/en-us/azure/load-balancer/load-balancer-overview</a:t>
            </a:r>
            <a:endParaRPr sz="1200"/>
          </a:p>
          <a:p>
            <a:pPr indent="-2922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625"/>
              <a:buFont typeface="Arial"/>
              <a:buChar char="•"/>
            </a:pPr>
            <a:r>
              <a:rPr b="1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Introduction to Azure Storage. Microsoft Learn. </a:t>
            </a:r>
            <a:r>
              <a:rPr b="0" i="0" lang="en-US" sz="2625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https://learn.microsoft.com/en-us/azure/storage/common/storage-introduction</a:t>
            </a:r>
            <a:endParaRPr sz="1200"/>
          </a:p>
          <a:p>
            <a:pPr indent="-2922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625"/>
              <a:buFont typeface="Arial"/>
              <a:buChar char="•"/>
            </a:pPr>
            <a:r>
              <a:rPr b="1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What is Azure App Service?. Microsoft Learn. </a:t>
            </a:r>
            <a:r>
              <a:rPr b="0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https://learn.microsoft.com/en-us/azure/app-service/overview</a:t>
            </a:r>
            <a:endParaRPr sz="1200"/>
          </a:p>
          <a:p>
            <a:pPr indent="-2922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625"/>
              <a:buFont typeface="Arial"/>
              <a:buChar char="•"/>
            </a:pPr>
            <a:r>
              <a:rPr b="1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Ecfan. (s. f.). Información general - Azure Logic Apps. Microsoft Learn. </a:t>
            </a:r>
            <a:r>
              <a:rPr b="0" i="0" lang="en-US" sz="26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https://learn.microsoft.com/es-es/azure/logic-apps/logic-apps-overview</a:t>
            </a: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2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20"/>
          <p:cNvSpPr txBox="1"/>
          <p:nvPr/>
        </p:nvSpPr>
        <p:spPr>
          <a:xfrm>
            <a:off x="6760476" y="5086350"/>
            <a:ext cx="4339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