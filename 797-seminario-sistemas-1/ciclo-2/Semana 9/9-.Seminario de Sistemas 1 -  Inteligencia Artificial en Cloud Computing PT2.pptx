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10287000" cx="18288000"/>
  <p:notesSz cx="6858000" cy="9144000"/>
  <p:embeddedFontLst>
    <p:embeddedFont>
      <p:font typeface="Hammersmith One"/>
      <p:regular r:id="rId29"/>
    </p:embeddedFont>
    <p:embeddedFont>
      <p:font typeface="Open Sans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jvNpmMpLioFLJ18C66pVgM+wye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ammersmithOn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3252288" y="201103"/>
            <a:ext cx="4684163" cy="1457826"/>
          </a:xfrm>
          <a:custGeom>
            <a:rect b="b" l="l" r="r" t="t"/>
            <a:pathLst>
              <a:path extrusionOk="0" h="1457826" w="4684163">
                <a:moveTo>
                  <a:pt x="0" y="0"/>
                </a:moveTo>
                <a:lnTo>
                  <a:pt x="4684163" y="0"/>
                </a:lnTo>
                <a:lnTo>
                  <a:pt x="4684163" y="1457827"/>
                </a:lnTo>
                <a:lnTo>
                  <a:pt x="0" y="145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1"/>
          <p:cNvCxnSpPr/>
          <p:nvPr/>
        </p:nvCxnSpPr>
        <p:spPr>
          <a:xfrm>
            <a:off x="507314" y="8149956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121F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669741" y="2766935"/>
            <a:ext cx="15132474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UNIDAD 9</a:t>
            </a:r>
            <a:endParaRPr/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“Inteligencia Artificial en Cloud Computing” - II</a:t>
            </a:r>
            <a:endParaRPr sz="4500">
              <a:solidFill>
                <a:srgbClr val="29303C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07314" y="8207106"/>
            <a:ext cx="4887216" cy="131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4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4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4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4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07314" y="7380141"/>
            <a:ext cx="6186876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Seminario de Sistemas 1</a:t>
            </a:r>
            <a:endParaRPr/>
          </a:p>
        </p:txBody>
      </p:sp>
      <p:cxnSp>
        <p:nvCxnSpPr>
          <p:cNvPr id="90" name="Google Shape;90;p1"/>
          <p:cNvCxnSpPr/>
          <p:nvPr/>
        </p:nvCxnSpPr>
        <p:spPr>
          <a:xfrm>
            <a:off x="6360815" y="3853064"/>
            <a:ext cx="5861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1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1421964" y="2747250"/>
            <a:ext cx="731003" cy="760368"/>
            <a:chOff x="0" y="0"/>
            <a:chExt cx="974670" cy="1013824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99" name="Google Shape;99;p2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591" l="-170" r="-7086" t="-3085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1421964" y="5820388"/>
            <a:ext cx="731003" cy="760368"/>
            <a:chOff x="0" y="0"/>
            <a:chExt cx="974670" cy="1013824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421964" y="7243740"/>
            <a:ext cx="731003" cy="760368"/>
            <a:chOff x="0" y="0"/>
            <a:chExt cx="974670" cy="1013824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cxnSp>
        <p:nvCxnSpPr>
          <p:cNvPr id="106" name="Google Shape;106;p2"/>
          <p:cNvCxnSpPr/>
          <p:nvPr/>
        </p:nvCxnSpPr>
        <p:spPr>
          <a:xfrm>
            <a:off x="1211924" y="2318625"/>
            <a:ext cx="4643555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2"/>
          <p:cNvCxnSpPr/>
          <p:nvPr/>
        </p:nvCxnSpPr>
        <p:spPr>
          <a:xfrm>
            <a:off x="1211924" y="5296513"/>
            <a:ext cx="2129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2"/>
          <p:cNvSpPr txBox="1"/>
          <p:nvPr/>
        </p:nvSpPr>
        <p:spPr>
          <a:xfrm>
            <a:off x="7053075" y="274500"/>
            <a:ext cx="4296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2640377" y="2830096"/>
            <a:ext cx="1401532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Foro 9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2335952" y="5622246"/>
            <a:ext cx="6052977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Servicios de visión, lenguaje y toma de decisiones.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2335952" y="7326585"/>
            <a:ext cx="6407869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Integración en aplicaciones.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211924" y="1300032"/>
            <a:ext cx="4643555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Recordatorios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211924" y="4208720"/>
            <a:ext cx="224805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Temas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3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119" name="Google Shape;119;p3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3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3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122" name="Google Shape;122;p3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3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3"/>
          <p:cNvSpPr/>
          <p:nvPr/>
        </p:nvSpPr>
        <p:spPr>
          <a:xfrm>
            <a:off x="5534896" y="5006513"/>
            <a:ext cx="7218209" cy="3609104"/>
          </a:xfrm>
          <a:custGeom>
            <a:rect b="b" l="l" r="r" t="t"/>
            <a:pathLst>
              <a:path extrusionOk="0" h="3609104" w="7218209">
                <a:moveTo>
                  <a:pt x="0" y="0"/>
                </a:moveTo>
                <a:lnTo>
                  <a:pt x="7218208" y="0"/>
                </a:lnTo>
                <a:lnTo>
                  <a:pt x="7218208" y="3609104"/>
                </a:lnTo>
                <a:lnTo>
                  <a:pt x="0" y="36091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1755576" y="504825"/>
            <a:ext cx="1468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AZURE COGNITIVE SERVICE?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1028700" y="1690284"/>
            <a:ext cx="16230600" cy="296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Son un </a:t>
            </a: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conjunto de APIs de inteligencia artificial (IA) de Microsoft que permiten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a los desarrolladores </a:t>
            </a: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añadir capacidades de IA predefinidas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a sus aplicaciones sin necesidad de una experiencia extensa en IA o ciencia de datos.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Cognitive Services simplifican la incorporación de IA a las aplicaciones, eliminando la necesidad de crear modelos de IA desde cero.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4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32" name="Google Shape;132;p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4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35" name="Google Shape;135;p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4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138" name="Google Shape;138;p4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141" name="Google Shape;141;p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4"/>
          <p:cNvSpPr txBox="1"/>
          <p:nvPr/>
        </p:nvSpPr>
        <p:spPr>
          <a:xfrm>
            <a:off x="3534472" y="408999"/>
            <a:ext cx="10618018" cy="1787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CAPACIDADES TIENE COGNITIVE SERVICES?</a:t>
            </a:r>
            <a:endParaRPr/>
          </a:p>
        </p:txBody>
      </p:sp>
      <p:grpSp>
        <p:nvGrpSpPr>
          <p:cNvPr id="144" name="Google Shape;144;p4"/>
          <p:cNvGrpSpPr/>
          <p:nvPr/>
        </p:nvGrpSpPr>
        <p:grpSpPr>
          <a:xfrm>
            <a:off x="2798386" y="2710874"/>
            <a:ext cx="731003" cy="760368"/>
            <a:chOff x="0" y="0"/>
            <a:chExt cx="974670" cy="1013824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EFDF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47" name="Google Shape;147;p4"/>
          <p:cNvGrpSpPr/>
          <p:nvPr/>
        </p:nvGrpSpPr>
        <p:grpSpPr>
          <a:xfrm>
            <a:off x="2798386" y="4177724"/>
            <a:ext cx="731003" cy="760368"/>
            <a:chOff x="0" y="0"/>
            <a:chExt cx="974670" cy="1013824"/>
          </a:xfrm>
        </p:grpSpPr>
        <p:sp>
          <p:nvSpPr>
            <p:cNvPr id="148" name="Google Shape;148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EFDF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50" name="Google Shape;150;p4"/>
          <p:cNvGrpSpPr/>
          <p:nvPr/>
        </p:nvGrpSpPr>
        <p:grpSpPr>
          <a:xfrm>
            <a:off x="2798386" y="5625426"/>
            <a:ext cx="731003" cy="760368"/>
            <a:chOff x="0" y="0"/>
            <a:chExt cx="974670" cy="1013824"/>
          </a:xfrm>
        </p:grpSpPr>
        <p:sp>
          <p:nvSpPr>
            <p:cNvPr id="151" name="Google Shape;151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EFDF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153" name="Google Shape;153;p4"/>
          <p:cNvGrpSpPr/>
          <p:nvPr/>
        </p:nvGrpSpPr>
        <p:grpSpPr>
          <a:xfrm>
            <a:off x="2798386" y="6911867"/>
            <a:ext cx="731003" cy="760368"/>
            <a:chOff x="0" y="0"/>
            <a:chExt cx="974670" cy="1013824"/>
          </a:xfrm>
        </p:grpSpPr>
        <p:sp>
          <p:nvSpPr>
            <p:cNvPr id="154" name="Google Shape;154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EFDF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156" name="Google Shape;156;p4"/>
          <p:cNvGrpSpPr/>
          <p:nvPr/>
        </p:nvGrpSpPr>
        <p:grpSpPr>
          <a:xfrm>
            <a:off x="2798386" y="8238015"/>
            <a:ext cx="731003" cy="760368"/>
            <a:chOff x="0" y="0"/>
            <a:chExt cx="974670" cy="1013824"/>
          </a:xfrm>
        </p:grpSpPr>
        <p:sp>
          <p:nvSpPr>
            <p:cNvPr id="157" name="Google Shape;157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EFDF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159" name="Google Shape;159;p4"/>
          <p:cNvSpPr txBox="1"/>
          <p:nvPr/>
        </p:nvSpPr>
        <p:spPr>
          <a:xfrm>
            <a:off x="3751639" y="2586233"/>
            <a:ext cx="11737975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Visión: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Reconocimiento de imágenes, detección de caras, análisis de imágenes, detección de objetos, etc. 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3751639" y="4053083"/>
            <a:ext cx="11737975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Lenguaje: 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Traducción de idiomas, análisis de sentimientos, resumen de texto, comprensión del lenguaje natural, etc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3751639" y="5519933"/>
            <a:ext cx="11737975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Voz: 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Conversión de voz a texto, texto a voz, traducción de voz, reconocimiento del hablante, etc. </a:t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3751639" y="6787226"/>
            <a:ext cx="11737975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Búsqueda: 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Búsqueda semántica, recuperación de información, etc. 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3751639" y="8361024"/>
            <a:ext cx="117379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Decisión: 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Predicción de resultados, análisis de datos, etc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5"/>
          <p:cNvGrpSpPr/>
          <p:nvPr/>
        </p:nvGrpSpPr>
        <p:grpSpPr>
          <a:xfrm>
            <a:off x="505369" y="-144661"/>
            <a:ext cx="388125" cy="8565666"/>
            <a:chOff x="0" y="-38100"/>
            <a:chExt cx="102222" cy="2255978"/>
          </a:xfrm>
        </p:grpSpPr>
        <p:sp>
          <p:nvSpPr>
            <p:cNvPr id="169" name="Google Shape;169;p5"/>
            <p:cNvSpPr/>
            <p:nvPr/>
          </p:nvSpPr>
          <p:spPr>
            <a:xfrm>
              <a:off x="0" y="0"/>
              <a:ext cx="102222" cy="2217878"/>
            </a:xfrm>
            <a:custGeom>
              <a:rect b="b" l="l" r="r" t="t"/>
              <a:pathLst>
                <a:path extrusionOk="0" h="2217878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5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5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172" name="Google Shape;172;p5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5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5"/>
          <p:cNvGrpSpPr/>
          <p:nvPr/>
        </p:nvGrpSpPr>
        <p:grpSpPr>
          <a:xfrm>
            <a:off x="17854604" y="8602991"/>
            <a:ext cx="1066563" cy="1165957"/>
            <a:chOff x="0" y="-38100"/>
            <a:chExt cx="280906" cy="307083"/>
          </a:xfrm>
        </p:grpSpPr>
        <p:sp>
          <p:nvSpPr>
            <p:cNvPr id="175" name="Google Shape;175;p5"/>
            <p:cNvSpPr/>
            <p:nvPr/>
          </p:nvSpPr>
          <p:spPr>
            <a:xfrm>
              <a:off x="0" y="0"/>
              <a:ext cx="280906" cy="268983"/>
            </a:xfrm>
            <a:custGeom>
              <a:rect b="b" l="l" r="r" t="t"/>
              <a:pathLst>
                <a:path extrusionOk="0" h="268983" w="280906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5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5"/>
          <p:cNvGrpSpPr/>
          <p:nvPr/>
        </p:nvGrpSpPr>
        <p:grpSpPr>
          <a:xfrm>
            <a:off x="17259300" y="9113639"/>
            <a:ext cx="1467805" cy="1435160"/>
            <a:chOff x="0" y="-38100"/>
            <a:chExt cx="386582" cy="377985"/>
          </a:xfrm>
        </p:grpSpPr>
        <p:sp>
          <p:nvSpPr>
            <p:cNvPr id="178" name="Google Shape;178;p5"/>
            <p:cNvSpPr/>
            <p:nvPr/>
          </p:nvSpPr>
          <p:spPr>
            <a:xfrm>
              <a:off x="0" y="0"/>
              <a:ext cx="386582" cy="339885"/>
            </a:xfrm>
            <a:custGeom>
              <a:rect b="b" l="l" r="r" t="t"/>
              <a:pathLst>
                <a:path extrusionOk="0" h="339885" w="386582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5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p5"/>
          <p:cNvSpPr/>
          <p:nvPr/>
        </p:nvSpPr>
        <p:spPr>
          <a:xfrm>
            <a:off x="5413112" y="4210503"/>
            <a:ext cx="7921874" cy="4665633"/>
          </a:xfrm>
          <a:custGeom>
            <a:rect b="b" l="l" r="r" t="t"/>
            <a:pathLst>
              <a:path extrusionOk="0" h="4665633" w="7921874">
                <a:moveTo>
                  <a:pt x="0" y="0"/>
                </a:moveTo>
                <a:lnTo>
                  <a:pt x="7921874" y="0"/>
                </a:lnTo>
                <a:lnTo>
                  <a:pt x="7921874" y="4665633"/>
                </a:lnTo>
                <a:lnTo>
                  <a:pt x="0" y="46656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4692" l="-48209" r="-49040" t="-4328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4703499" y="804850"/>
            <a:ext cx="10064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OpenAI Service</a:t>
            </a:r>
            <a:endParaRPr/>
          </a:p>
        </p:txBody>
      </p:sp>
      <p:sp>
        <p:nvSpPr>
          <p:cNvPr id="182" name="Google Shape;182;p5"/>
          <p:cNvSpPr txBox="1"/>
          <p:nvPr/>
        </p:nvSpPr>
        <p:spPr>
          <a:xfrm>
            <a:off x="1433504" y="2133033"/>
            <a:ext cx="1623060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Proporciona acceso mediante la API de REST a los eficaces modelos de lenguaje de OpenAI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incluyendo las series de modelos de inserciones, además de GPT GPT-4 y GPT-3,5-turbo ya tienen disponibilidad general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9" name="Google Shape;189;p6"/>
          <p:cNvGrpSpPr/>
          <p:nvPr/>
        </p:nvGrpSpPr>
        <p:grpSpPr>
          <a:xfrm>
            <a:off x="1578798" y="1951825"/>
            <a:ext cx="731003" cy="760368"/>
            <a:chOff x="0" y="0"/>
            <a:chExt cx="974670" cy="1013824"/>
          </a:xfrm>
        </p:grpSpPr>
        <p:sp>
          <p:nvSpPr>
            <p:cNvPr id="190" name="Google Shape;190;p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92" name="Google Shape;192;p6"/>
          <p:cNvGrpSpPr/>
          <p:nvPr/>
        </p:nvGrpSpPr>
        <p:grpSpPr>
          <a:xfrm>
            <a:off x="1517594" y="3673694"/>
            <a:ext cx="731003" cy="760368"/>
            <a:chOff x="0" y="0"/>
            <a:chExt cx="974670" cy="1013824"/>
          </a:xfrm>
        </p:grpSpPr>
        <p:sp>
          <p:nvSpPr>
            <p:cNvPr id="193" name="Google Shape;193;p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95" name="Google Shape;195;p6"/>
          <p:cNvGrpSpPr/>
          <p:nvPr/>
        </p:nvGrpSpPr>
        <p:grpSpPr>
          <a:xfrm>
            <a:off x="1517594" y="5780680"/>
            <a:ext cx="731003" cy="760368"/>
            <a:chOff x="0" y="0"/>
            <a:chExt cx="974670" cy="1013824"/>
          </a:xfrm>
        </p:grpSpPr>
        <p:sp>
          <p:nvSpPr>
            <p:cNvPr id="196" name="Google Shape;196;p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198" name="Google Shape;198;p6"/>
          <p:cNvGrpSpPr/>
          <p:nvPr/>
        </p:nvGrpSpPr>
        <p:grpSpPr>
          <a:xfrm>
            <a:off x="1517594" y="7805912"/>
            <a:ext cx="731003" cy="760368"/>
            <a:chOff x="0" y="0"/>
            <a:chExt cx="974670" cy="1013824"/>
          </a:xfrm>
        </p:grpSpPr>
        <p:sp>
          <p:nvSpPr>
            <p:cNvPr id="199" name="Google Shape;199;p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201" name="Google Shape;201;p6"/>
          <p:cNvSpPr txBox="1"/>
          <p:nvPr/>
        </p:nvSpPr>
        <p:spPr>
          <a:xfrm>
            <a:off x="2309801" y="439737"/>
            <a:ext cx="14307328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AzureOpenAI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2516348" y="1776587"/>
            <a:ext cx="1481797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Creación y Diseño de Contenido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creación y el diseño de contenido efectivos son cruciales para atraer e involucrar a los clientes.</a:t>
            </a:r>
            <a:endParaRPr/>
          </a:p>
        </p:txBody>
      </p:sp>
      <p:sp>
        <p:nvSpPr>
          <p:cNvPr id="203" name="Google Shape;203;p6"/>
          <p:cNvSpPr txBox="1"/>
          <p:nvPr/>
        </p:nvSpPr>
        <p:spPr>
          <a:xfrm>
            <a:off x="2516348" y="3433937"/>
            <a:ext cx="14817970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Automatización Acelerada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automatización de las tareas de TI mejora las experiencias de los empleados, mejora las interacciones con los clientes e impulsa una mayor eficiencia dentro de la comunidad de desarrolladores de una empresa.</a:t>
            </a:r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2516348" y="5621979"/>
            <a:ext cx="14516902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Marketing Personalizado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personalización aumenta las posibilidades de participación y conversión del cliente y puede mejorar significativamente el retorno de la inversión en marketing.</a:t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2516348" y="7777337"/>
            <a:ext cx="1518297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Chatbots y Asistentes Virtuales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Los chatbots y asistentes virtuales impulsados ​​por IA generativa brindan respuestas instantáneas y precisas a las consultas de los clientes.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7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211" name="Google Shape;211;p7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7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7"/>
          <p:cNvSpPr/>
          <p:nvPr/>
        </p:nvSpPr>
        <p:spPr>
          <a:xfrm>
            <a:off x="6270784" y="4630848"/>
            <a:ext cx="5746433" cy="3547437"/>
          </a:xfrm>
          <a:custGeom>
            <a:rect b="b" l="l" r="r" t="t"/>
            <a:pathLst>
              <a:path extrusionOk="0" h="3547437" w="5746433">
                <a:moveTo>
                  <a:pt x="0" y="0"/>
                </a:moveTo>
                <a:lnTo>
                  <a:pt x="5746432" y="0"/>
                </a:lnTo>
                <a:lnTo>
                  <a:pt x="5746432" y="3547437"/>
                </a:lnTo>
                <a:lnTo>
                  <a:pt x="0" y="35474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4358125" y="971550"/>
            <a:ext cx="901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COGNITIVE SEARCH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1028700" y="2018562"/>
            <a:ext cx="16230600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AI Search, </a:t>
            </a: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una plataforma de recuperación de información basada en IA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ayuda a los desarrolladores a crear experiencias de búsqueda enriquecidas y aplicaciones de IA generativas que combinan grandes modelos de lenguaje con datos empresariales.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8"/>
          <p:cNvGrpSpPr/>
          <p:nvPr/>
        </p:nvGrpSpPr>
        <p:grpSpPr>
          <a:xfrm>
            <a:off x="1562923" y="2221700"/>
            <a:ext cx="731003" cy="760368"/>
            <a:chOff x="0" y="0"/>
            <a:chExt cx="974670" cy="1013824"/>
          </a:xfrm>
        </p:grpSpPr>
        <p:sp>
          <p:nvSpPr>
            <p:cNvPr id="221" name="Google Shape;221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23" name="Google Shape;223;p8"/>
          <p:cNvGrpSpPr/>
          <p:nvPr/>
        </p:nvGrpSpPr>
        <p:grpSpPr>
          <a:xfrm>
            <a:off x="1562923" y="4275312"/>
            <a:ext cx="731003" cy="760368"/>
            <a:chOff x="0" y="0"/>
            <a:chExt cx="974670" cy="1013824"/>
          </a:xfrm>
        </p:grpSpPr>
        <p:sp>
          <p:nvSpPr>
            <p:cNvPr id="224" name="Google Shape;224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226" name="Google Shape;226;p8"/>
          <p:cNvGrpSpPr/>
          <p:nvPr/>
        </p:nvGrpSpPr>
        <p:grpSpPr>
          <a:xfrm>
            <a:off x="1562923" y="6843838"/>
            <a:ext cx="731003" cy="760368"/>
            <a:chOff x="0" y="0"/>
            <a:chExt cx="974670" cy="1013824"/>
          </a:xfrm>
        </p:grpSpPr>
        <p:sp>
          <p:nvSpPr>
            <p:cNvPr id="227" name="Google Shape;227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229" name="Google Shape;229;p8"/>
          <p:cNvSpPr txBox="1"/>
          <p:nvPr/>
        </p:nvSpPr>
        <p:spPr>
          <a:xfrm>
            <a:off x="2309801" y="439737"/>
            <a:ext cx="14307328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AISearch </a:t>
            </a:r>
            <a:endParaRPr/>
          </a:p>
        </p:txBody>
      </p:sp>
      <p:sp>
        <p:nvSpPr>
          <p:cNvPr id="230" name="Google Shape;230;p8"/>
          <p:cNvSpPr txBox="1"/>
          <p:nvPr/>
        </p:nvSpPr>
        <p:spPr>
          <a:xfrm>
            <a:off x="2500473" y="2046462"/>
            <a:ext cx="1481797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Muestra de resultados relevantes para usuarios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Usar modelos avanzados de aprendizaje profundo de Microsoft Research y Bing para proporcionar resultados contextuales y relevantes en sus aplicaciones.</a:t>
            </a:r>
            <a:endParaRPr/>
          </a:p>
        </p:txBody>
      </p:sp>
      <p:sp>
        <p:nvSpPr>
          <p:cNvPr id="231" name="Google Shape;231;p8"/>
          <p:cNvSpPr txBox="1"/>
          <p:nvPr/>
        </p:nvSpPr>
        <p:spPr>
          <a:xfrm>
            <a:off x="2425455" y="4151487"/>
            <a:ext cx="14817970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Personalizar las capacidades de búsqueda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 integraciones de IA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AISearch Ofrece capacidades personalizables como extracción de frases clave, detección de idioma, reconocimiento óptico de caracteres (OCR), análisis de imágenes, traducción y control de acceso basado en roles (RBAC).</a:t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2500473" y="6815263"/>
            <a:ext cx="15183652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Escalar para gestionar grandes conjuntos de datos y cargas de trabajo elevado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AI Search está diseñado para manejar grandes cantidades de datos y admitir cargas de tráfico elevado, lo que garantiza que su solución de búsqueda pueda escalar a medida que crece su organización. </a:t>
            </a:r>
            <a:endParaRPr/>
          </a:p>
        </p:txBody>
      </p:sp>
      <p:grpSp>
        <p:nvGrpSpPr>
          <p:cNvPr id="233" name="Google Shape;233;p8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34" name="Google Shape;234;p8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8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p8"/>
          <p:cNvGrpSpPr/>
          <p:nvPr/>
        </p:nvGrpSpPr>
        <p:grpSpPr>
          <a:xfrm>
            <a:off x="17450588" y="669219"/>
            <a:ext cx="1450975" cy="1405818"/>
            <a:chOff x="0" y="-38100"/>
            <a:chExt cx="382150" cy="370256"/>
          </a:xfrm>
        </p:grpSpPr>
        <p:sp>
          <p:nvSpPr>
            <p:cNvPr id="237" name="Google Shape;237;p8"/>
            <p:cNvSpPr/>
            <p:nvPr/>
          </p:nvSpPr>
          <p:spPr>
            <a:xfrm>
              <a:off x="0" y="0"/>
              <a:ext cx="382150" cy="332156"/>
            </a:xfrm>
            <a:custGeom>
              <a:rect b="b" l="l" r="r" t="t"/>
              <a:pathLst>
                <a:path extrusionOk="0" h="332156" w="382150">
                  <a:moveTo>
                    <a:pt x="0" y="0"/>
                  </a:moveTo>
                  <a:lnTo>
                    <a:pt x="382150" y="0"/>
                  </a:lnTo>
                  <a:lnTo>
                    <a:pt x="382150" y="332156"/>
                  </a:lnTo>
                  <a:lnTo>
                    <a:pt x="0" y="332156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8"/>
            <p:cNvSpPr txBox="1"/>
            <p:nvPr/>
          </p:nvSpPr>
          <p:spPr>
            <a:xfrm>
              <a:off x="0" y="-38100"/>
              <a:ext cx="382150" cy="370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" name="Google Shape;239;p8"/>
          <p:cNvGrpSpPr/>
          <p:nvPr/>
        </p:nvGrpSpPr>
        <p:grpSpPr>
          <a:xfrm>
            <a:off x="-34751" y="9269295"/>
            <a:ext cx="2344551" cy="995616"/>
            <a:chOff x="0" y="-38100"/>
            <a:chExt cx="617495" cy="262220"/>
          </a:xfrm>
        </p:grpSpPr>
        <p:sp>
          <p:nvSpPr>
            <p:cNvPr id="240" name="Google Shape;240;p8"/>
            <p:cNvSpPr/>
            <p:nvPr/>
          </p:nvSpPr>
          <p:spPr>
            <a:xfrm>
              <a:off x="0" y="0"/>
              <a:ext cx="617495" cy="224120"/>
            </a:xfrm>
            <a:custGeom>
              <a:rect b="b" l="l" r="r" t="t"/>
              <a:pathLst>
                <a:path extrusionOk="0" h="224120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224120"/>
                  </a:lnTo>
                  <a:lnTo>
                    <a:pt x="0" y="224120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8"/>
            <p:cNvSpPr txBox="1"/>
            <p:nvPr/>
          </p:nvSpPr>
          <p:spPr>
            <a:xfrm>
              <a:off x="0" y="-38100"/>
              <a:ext cx="617495" cy="262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9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247" name="Google Shape;247;p9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9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9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250" name="Google Shape;250;p9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9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2" name="Google Shape;252;p9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53" name="Google Shape;253;p9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9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9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256" name="Google Shape;256;p9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9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8" name="Google Shape;258;p9"/>
          <p:cNvSpPr/>
          <p:nvPr/>
        </p:nvSpPr>
        <p:spPr>
          <a:xfrm>
            <a:off x="3645512" y="3647771"/>
            <a:ext cx="11301259" cy="6356958"/>
          </a:xfrm>
          <a:custGeom>
            <a:rect b="b" l="l" r="r" t="t"/>
            <a:pathLst>
              <a:path extrusionOk="0" h="6356958" w="11301259">
                <a:moveTo>
                  <a:pt x="0" y="0"/>
                </a:moveTo>
                <a:lnTo>
                  <a:pt x="11301259" y="0"/>
                </a:lnTo>
                <a:lnTo>
                  <a:pt x="113012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4917750" y="971550"/>
            <a:ext cx="9096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AI CONTENT SAFETY</a:t>
            </a:r>
            <a:endParaRPr/>
          </a:p>
        </p:txBody>
      </p:sp>
      <p:sp>
        <p:nvSpPr>
          <p:cNvPr id="260" name="Google Shape;260;p9"/>
          <p:cNvSpPr txBox="1"/>
          <p:nvPr/>
        </p:nvSpPr>
        <p:spPr>
          <a:xfrm>
            <a:off x="1401763" y="2018562"/>
            <a:ext cx="15484475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AI Content Safety </a:t>
            </a: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 sistema de seguridad para monitorear el contenido generado tanto por modelos básicos como por humanos,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permite detectar y bloquear posibles riesgos, amenazas y problemas de calidad.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10"/>
          <p:cNvGrpSpPr/>
          <p:nvPr/>
        </p:nvGrpSpPr>
        <p:grpSpPr>
          <a:xfrm>
            <a:off x="1137525" y="3472043"/>
            <a:ext cx="731003" cy="760368"/>
            <a:chOff x="0" y="0"/>
            <a:chExt cx="974670" cy="1013824"/>
          </a:xfrm>
        </p:grpSpPr>
        <p:sp>
          <p:nvSpPr>
            <p:cNvPr id="266" name="Google Shape;266;p1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68" name="Google Shape;268;p10"/>
          <p:cNvGrpSpPr/>
          <p:nvPr/>
        </p:nvGrpSpPr>
        <p:grpSpPr>
          <a:xfrm>
            <a:off x="1138099" y="6365487"/>
            <a:ext cx="731003" cy="760368"/>
            <a:chOff x="0" y="0"/>
            <a:chExt cx="974670" cy="1013824"/>
          </a:xfrm>
        </p:grpSpPr>
        <p:sp>
          <p:nvSpPr>
            <p:cNvPr id="269" name="Google Shape;269;p1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271" name="Google Shape;271;p10"/>
          <p:cNvSpPr txBox="1"/>
          <p:nvPr/>
        </p:nvSpPr>
        <p:spPr>
          <a:xfrm>
            <a:off x="1323612" y="543100"/>
            <a:ext cx="163209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AI CONTENT SAFETY</a:t>
            </a:r>
            <a:endParaRPr/>
          </a:p>
        </p:txBody>
      </p:sp>
      <p:sp>
        <p:nvSpPr>
          <p:cNvPr id="272" name="Google Shape;272;p10"/>
          <p:cNvSpPr txBox="1"/>
          <p:nvPr/>
        </p:nvSpPr>
        <p:spPr>
          <a:xfrm>
            <a:off x="2075074" y="3296805"/>
            <a:ext cx="14817970" cy="296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Proteger aplicaciones de IA generativa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Utilice Prompt Shields para detectar y bloquear ataques de inyección rápida, detección de conexión a tierra para identificar materiales alucinados o sin conexión a tierra, y detección de material protegido para identificar contenido con derechos de autor o de propiedad.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 txBox="1"/>
          <p:nvPr/>
        </p:nvSpPr>
        <p:spPr>
          <a:xfrm>
            <a:off x="2075074" y="6230505"/>
            <a:ext cx="1481797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Configurar filtros de contenido para reflejar estándares y políticas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posible ajustar filtros de contenido para alinearlos con sus políticas de IA responsable, pautas de la comunidad o escenarios de aplicación únicos.</a:t>
            </a:r>
            <a:endParaRPr/>
          </a:p>
        </p:txBody>
      </p:sp>
      <p:grpSp>
        <p:nvGrpSpPr>
          <p:cNvPr id="274" name="Google Shape;274;p10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75" name="Google Shape;275;p10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0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" name="Google Shape;277;p10"/>
          <p:cNvGrpSpPr/>
          <p:nvPr/>
        </p:nvGrpSpPr>
        <p:grpSpPr>
          <a:xfrm>
            <a:off x="17450588" y="669219"/>
            <a:ext cx="1450975" cy="1405818"/>
            <a:chOff x="0" y="-38100"/>
            <a:chExt cx="382150" cy="370256"/>
          </a:xfrm>
        </p:grpSpPr>
        <p:sp>
          <p:nvSpPr>
            <p:cNvPr id="278" name="Google Shape;278;p10"/>
            <p:cNvSpPr/>
            <p:nvPr/>
          </p:nvSpPr>
          <p:spPr>
            <a:xfrm>
              <a:off x="0" y="0"/>
              <a:ext cx="382150" cy="332156"/>
            </a:xfrm>
            <a:custGeom>
              <a:rect b="b" l="l" r="r" t="t"/>
              <a:pathLst>
                <a:path extrusionOk="0" h="332156" w="382150">
                  <a:moveTo>
                    <a:pt x="0" y="0"/>
                  </a:moveTo>
                  <a:lnTo>
                    <a:pt x="382150" y="0"/>
                  </a:lnTo>
                  <a:lnTo>
                    <a:pt x="382150" y="332156"/>
                  </a:lnTo>
                  <a:lnTo>
                    <a:pt x="0" y="332156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0"/>
            <p:cNvSpPr txBox="1"/>
            <p:nvPr/>
          </p:nvSpPr>
          <p:spPr>
            <a:xfrm>
              <a:off x="0" y="-38100"/>
              <a:ext cx="382150" cy="370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10"/>
          <p:cNvGrpSpPr/>
          <p:nvPr/>
        </p:nvGrpSpPr>
        <p:grpSpPr>
          <a:xfrm>
            <a:off x="-34751" y="9269295"/>
            <a:ext cx="2344551" cy="995616"/>
            <a:chOff x="0" y="-38100"/>
            <a:chExt cx="617495" cy="262220"/>
          </a:xfrm>
        </p:grpSpPr>
        <p:sp>
          <p:nvSpPr>
            <p:cNvPr id="281" name="Google Shape;281;p10"/>
            <p:cNvSpPr/>
            <p:nvPr/>
          </p:nvSpPr>
          <p:spPr>
            <a:xfrm>
              <a:off x="0" y="0"/>
              <a:ext cx="617495" cy="224120"/>
            </a:xfrm>
            <a:custGeom>
              <a:rect b="b" l="l" r="r" t="t"/>
              <a:pathLst>
                <a:path extrusionOk="0" h="224120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224120"/>
                  </a:lnTo>
                  <a:lnTo>
                    <a:pt x="0" y="224120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0"/>
            <p:cNvSpPr txBox="1"/>
            <p:nvPr/>
          </p:nvSpPr>
          <p:spPr>
            <a:xfrm>
              <a:off x="0" y="-38100"/>
              <a:ext cx="617495" cy="262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1"/>
          <p:cNvGrpSpPr/>
          <p:nvPr/>
        </p:nvGrpSpPr>
        <p:grpSpPr>
          <a:xfrm>
            <a:off x="0" y="-171146"/>
            <a:ext cx="566738" cy="2834568"/>
            <a:chOff x="0" y="-38100"/>
            <a:chExt cx="149264" cy="746553"/>
          </a:xfrm>
        </p:grpSpPr>
        <p:sp>
          <p:nvSpPr>
            <p:cNvPr id="288" name="Google Shape;288;p11"/>
            <p:cNvSpPr/>
            <p:nvPr/>
          </p:nvSpPr>
          <p:spPr>
            <a:xfrm>
              <a:off x="0" y="0"/>
              <a:ext cx="149264" cy="708453"/>
            </a:xfrm>
            <a:custGeom>
              <a:rect b="b" l="l" r="r" t="t"/>
              <a:pathLst>
                <a:path extrusionOk="0" h="708453" w="149264">
                  <a:moveTo>
                    <a:pt x="0" y="0"/>
                  </a:moveTo>
                  <a:lnTo>
                    <a:pt x="149264" y="0"/>
                  </a:lnTo>
                  <a:lnTo>
                    <a:pt x="149264" y="708453"/>
                  </a:lnTo>
                  <a:lnTo>
                    <a:pt x="0" y="708453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1"/>
            <p:cNvSpPr txBox="1"/>
            <p:nvPr/>
          </p:nvSpPr>
          <p:spPr>
            <a:xfrm>
              <a:off x="0" y="-38100"/>
              <a:ext cx="149264" cy="746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11"/>
          <p:cNvGrpSpPr/>
          <p:nvPr/>
        </p:nvGrpSpPr>
        <p:grpSpPr>
          <a:xfrm>
            <a:off x="0" y="-144661"/>
            <a:ext cx="1133475" cy="1463129"/>
            <a:chOff x="0" y="-38100"/>
            <a:chExt cx="298528" cy="385351"/>
          </a:xfrm>
        </p:grpSpPr>
        <p:sp>
          <p:nvSpPr>
            <p:cNvPr id="291" name="Google Shape;291;p11"/>
            <p:cNvSpPr/>
            <p:nvPr/>
          </p:nvSpPr>
          <p:spPr>
            <a:xfrm>
              <a:off x="0" y="0"/>
              <a:ext cx="298528" cy="347251"/>
            </a:xfrm>
            <a:custGeom>
              <a:rect b="b" l="l" r="r" t="t"/>
              <a:pathLst>
                <a:path extrusionOk="0" h="347251" w="298528">
                  <a:moveTo>
                    <a:pt x="0" y="0"/>
                  </a:moveTo>
                  <a:lnTo>
                    <a:pt x="298528" y="0"/>
                  </a:lnTo>
                  <a:lnTo>
                    <a:pt x="298528" y="347251"/>
                  </a:lnTo>
                  <a:lnTo>
                    <a:pt x="0" y="3472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1"/>
            <p:cNvSpPr txBox="1"/>
            <p:nvPr/>
          </p:nvSpPr>
          <p:spPr>
            <a:xfrm>
              <a:off x="0" y="-38100"/>
              <a:ext cx="298528" cy="3853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11"/>
          <p:cNvGrpSpPr/>
          <p:nvPr/>
        </p:nvGrpSpPr>
        <p:grpSpPr>
          <a:xfrm>
            <a:off x="16776087" y="8921922"/>
            <a:ext cx="2344551" cy="2157882"/>
            <a:chOff x="0" y="-38100"/>
            <a:chExt cx="617495" cy="568331"/>
          </a:xfrm>
        </p:grpSpPr>
        <p:sp>
          <p:nvSpPr>
            <p:cNvPr id="294" name="Google Shape;294;p11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1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11"/>
          <p:cNvGrpSpPr/>
          <p:nvPr/>
        </p:nvGrpSpPr>
        <p:grpSpPr>
          <a:xfrm>
            <a:off x="17577588" y="6952876"/>
            <a:ext cx="3086100" cy="3120318"/>
            <a:chOff x="0" y="-38100"/>
            <a:chExt cx="812800" cy="821812"/>
          </a:xfrm>
        </p:grpSpPr>
        <p:sp>
          <p:nvSpPr>
            <p:cNvPr id="297" name="Google Shape;297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9" name="Google Shape;299;p11"/>
          <p:cNvSpPr/>
          <p:nvPr/>
        </p:nvSpPr>
        <p:spPr>
          <a:xfrm>
            <a:off x="3816257" y="4551381"/>
            <a:ext cx="10655486" cy="5092311"/>
          </a:xfrm>
          <a:custGeom>
            <a:rect b="b" l="l" r="r" t="t"/>
            <a:pathLst>
              <a:path extrusionOk="0" h="5092311" w="10655486">
                <a:moveTo>
                  <a:pt x="0" y="0"/>
                </a:moveTo>
                <a:lnTo>
                  <a:pt x="10655486" y="0"/>
                </a:lnTo>
                <a:lnTo>
                  <a:pt x="10655486" y="5092311"/>
                </a:lnTo>
                <a:lnTo>
                  <a:pt x="0" y="5092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 txBox="1"/>
          <p:nvPr/>
        </p:nvSpPr>
        <p:spPr>
          <a:xfrm>
            <a:off x="1133475" y="2275636"/>
            <a:ext cx="16548888" cy="1821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Traduce texto al instante o en lotes en más de 100 idiomas , con la tecnología de las últimas innovaciones en traducción automática. Admite una amplia gama de casos de uso, como traducción para centros de llamadas, agentes conversacionales multilingües o comunicación dentro de la aplicación.</a:t>
            </a:r>
            <a:endParaRPr/>
          </a:p>
        </p:txBody>
      </p:sp>
      <p:sp>
        <p:nvSpPr>
          <p:cNvPr id="301" name="Google Shape;301;p11"/>
          <p:cNvSpPr txBox="1"/>
          <p:nvPr/>
        </p:nvSpPr>
        <p:spPr>
          <a:xfrm>
            <a:off x="4330176" y="729500"/>
            <a:ext cx="11238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AI TRANSLATOR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8" name="Google Shape;308;p12"/>
          <p:cNvGrpSpPr/>
          <p:nvPr/>
        </p:nvGrpSpPr>
        <p:grpSpPr>
          <a:xfrm>
            <a:off x="1781782" y="3239534"/>
            <a:ext cx="731003" cy="760368"/>
            <a:chOff x="0" y="0"/>
            <a:chExt cx="974670" cy="1013824"/>
          </a:xfrm>
        </p:grpSpPr>
        <p:sp>
          <p:nvSpPr>
            <p:cNvPr id="309" name="Google Shape;309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11" name="Google Shape;311;p12"/>
          <p:cNvGrpSpPr/>
          <p:nvPr/>
        </p:nvGrpSpPr>
        <p:grpSpPr>
          <a:xfrm>
            <a:off x="1781782" y="5727701"/>
            <a:ext cx="731003" cy="760368"/>
            <a:chOff x="0" y="0"/>
            <a:chExt cx="974670" cy="1013824"/>
          </a:xfrm>
        </p:grpSpPr>
        <p:sp>
          <p:nvSpPr>
            <p:cNvPr id="312" name="Google Shape;312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314" name="Google Shape;314;p12"/>
          <p:cNvSpPr txBox="1"/>
          <p:nvPr/>
        </p:nvSpPr>
        <p:spPr>
          <a:xfrm>
            <a:off x="2506188" y="414759"/>
            <a:ext cx="142122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AI TRANSLATOR</a:t>
            </a:r>
            <a:endParaRPr/>
          </a:p>
        </p:txBody>
      </p:sp>
      <p:sp>
        <p:nvSpPr>
          <p:cNvPr id="315" name="Google Shape;315;p12"/>
          <p:cNvSpPr txBox="1"/>
          <p:nvPr/>
        </p:nvSpPr>
        <p:spPr>
          <a:xfrm>
            <a:off x="2705517" y="3210959"/>
            <a:ext cx="1381352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Ampliar el alcance de las aplicaciones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AI Translator puede eliminar la complejidad de crear traducción instantánea en sus aplicaciones y soluciones con una sola llamada a la API REST.</a:t>
            </a:r>
            <a:endParaRPr/>
          </a:p>
        </p:txBody>
      </p:sp>
      <p:sp>
        <p:nvSpPr>
          <p:cNvPr id="316" name="Google Shape;316;p12"/>
          <p:cNvSpPr txBox="1"/>
          <p:nvPr/>
        </p:nvSpPr>
        <p:spPr>
          <a:xfrm>
            <a:off x="2705517" y="5762625"/>
            <a:ext cx="14071720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Personalizar las traducciones de texto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puede definir el cómo se traducen ciertos términos en función de documentos traducidos previamente, se crean modelos de traducción personalizados sin experiencia en aprendizaje automático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p13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322" name="Google Shape;322;p13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3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13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325" name="Google Shape;325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13"/>
          <p:cNvSpPr txBox="1"/>
          <p:nvPr/>
        </p:nvSpPr>
        <p:spPr>
          <a:xfrm>
            <a:off x="1028700" y="1932305"/>
            <a:ext cx="8674888" cy="639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crear aplicaciones habilitadas para voz con confianza y rapidez con Speech SDK</a:t>
            </a:r>
            <a:endParaRPr/>
          </a:p>
          <a:p>
            <a:pPr indent="0" lvl="0" marL="0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posible transcribir la voz a texto con alta precisión, produciendo voces de texto a voz con sonido natural</a:t>
            </a:r>
            <a:endParaRPr/>
          </a:p>
          <a:p>
            <a:pPr indent="0" lvl="0" marL="0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traducir audio hablado y utilizar el reconocimiento del hablante durante las conversaciones. </a:t>
            </a:r>
            <a:endParaRPr/>
          </a:p>
          <a:p>
            <a:pPr indent="0" lvl="0" marL="0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Ofrece  una experiencia sin código y permite crear modelos personalizados adaptados a las aplicaciones con Speech Studio </a:t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10781611" y="2704498"/>
            <a:ext cx="5994476" cy="4878005"/>
          </a:xfrm>
          <a:custGeom>
            <a:rect b="b" l="l" r="r" t="t"/>
            <a:pathLst>
              <a:path extrusionOk="0" h="4878005" w="5994476">
                <a:moveTo>
                  <a:pt x="0" y="0"/>
                </a:moveTo>
                <a:lnTo>
                  <a:pt x="5994476" y="0"/>
                </a:lnTo>
                <a:lnTo>
                  <a:pt x="5994476" y="4878004"/>
                </a:lnTo>
                <a:lnTo>
                  <a:pt x="0" y="48780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 txBox="1"/>
          <p:nvPr/>
        </p:nvSpPr>
        <p:spPr>
          <a:xfrm>
            <a:off x="5897275" y="439725"/>
            <a:ext cx="7346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SPEECH</a:t>
            </a:r>
            <a:endParaRPr/>
          </a:p>
        </p:txBody>
      </p:sp>
      <p:grpSp>
        <p:nvGrpSpPr>
          <p:cNvPr id="330" name="Google Shape;330;p13"/>
          <p:cNvGrpSpPr/>
          <p:nvPr/>
        </p:nvGrpSpPr>
        <p:grpSpPr>
          <a:xfrm>
            <a:off x="0" y="9643182"/>
            <a:ext cx="4895850" cy="643818"/>
            <a:chOff x="0" y="-38100"/>
            <a:chExt cx="1289442" cy="169565"/>
          </a:xfrm>
        </p:grpSpPr>
        <p:sp>
          <p:nvSpPr>
            <p:cNvPr id="331" name="Google Shape;331;p13"/>
            <p:cNvSpPr/>
            <p:nvPr/>
          </p:nvSpPr>
          <p:spPr>
            <a:xfrm>
              <a:off x="0" y="0"/>
              <a:ext cx="1289442" cy="131465"/>
            </a:xfrm>
            <a:custGeom>
              <a:rect b="b" l="l" r="r" t="t"/>
              <a:pathLst>
                <a:path extrusionOk="0" h="131465" w="1289442">
                  <a:moveTo>
                    <a:pt x="0" y="0"/>
                  </a:moveTo>
                  <a:lnTo>
                    <a:pt x="1289442" y="0"/>
                  </a:lnTo>
                  <a:lnTo>
                    <a:pt x="1289442" y="131465"/>
                  </a:lnTo>
                  <a:lnTo>
                    <a:pt x="0" y="131465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3"/>
            <p:cNvSpPr txBox="1"/>
            <p:nvPr/>
          </p:nvSpPr>
          <p:spPr>
            <a:xfrm>
              <a:off x="0" y="-38100"/>
              <a:ext cx="1289442" cy="169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13"/>
          <p:cNvGrpSpPr/>
          <p:nvPr/>
        </p:nvGrpSpPr>
        <p:grpSpPr>
          <a:xfrm>
            <a:off x="0" y="9256243"/>
            <a:ext cx="1265051" cy="1030757"/>
            <a:chOff x="0" y="-38100"/>
            <a:chExt cx="333182" cy="271475"/>
          </a:xfrm>
        </p:grpSpPr>
        <p:sp>
          <p:nvSpPr>
            <p:cNvPr id="334" name="Google Shape;334;p13"/>
            <p:cNvSpPr/>
            <p:nvPr/>
          </p:nvSpPr>
          <p:spPr>
            <a:xfrm>
              <a:off x="0" y="0"/>
              <a:ext cx="333182" cy="233375"/>
            </a:xfrm>
            <a:custGeom>
              <a:rect b="b" l="l" r="r" t="t"/>
              <a:pathLst>
                <a:path extrusionOk="0" h="233375" w="333182">
                  <a:moveTo>
                    <a:pt x="0" y="0"/>
                  </a:moveTo>
                  <a:lnTo>
                    <a:pt x="333182" y="0"/>
                  </a:lnTo>
                  <a:lnTo>
                    <a:pt x="333182" y="233375"/>
                  </a:lnTo>
                  <a:lnTo>
                    <a:pt x="0" y="233375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3"/>
            <p:cNvSpPr txBox="1"/>
            <p:nvPr/>
          </p:nvSpPr>
          <p:spPr>
            <a:xfrm>
              <a:off x="0" y="-38100"/>
              <a:ext cx="333182" cy="271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4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2" name="Google Shape;342;p14"/>
          <p:cNvGrpSpPr/>
          <p:nvPr/>
        </p:nvGrpSpPr>
        <p:grpSpPr>
          <a:xfrm>
            <a:off x="1786047" y="2017159"/>
            <a:ext cx="731003" cy="760368"/>
            <a:chOff x="0" y="0"/>
            <a:chExt cx="974670" cy="1013824"/>
          </a:xfrm>
        </p:grpSpPr>
        <p:sp>
          <p:nvSpPr>
            <p:cNvPr id="343" name="Google Shape;343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45" name="Google Shape;345;p14"/>
          <p:cNvGrpSpPr/>
          <p:nvPr/>
        </p:nvGrpSpPr>
        <p:grpSpPr>
          <a:xfrm>
            <a:off x="1786047" y="4482285"/>
            <a:ext cx="731003" cy="760368"/>
            <a:chOff x="0" y="0"/>
            <a:chExt cx="974670" cy="1013824"/>
          </a:xfrm>
        </p:grpSpPr>
        <p:sp>
          <p:nvSpPr>
            <p:cNvPr id="346" name="Google Shape;346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348" name="Google Shape;348;p14"/>
          <p:cNvSpPr txBox="1"/>
          <p:nvPr/>
        </p:nvSpPr>
        <p:spPr>
          <a:xfrm>
            <a:off x="1139575" y="439725"/>
            <a:ext cx="16446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AZURE SPEECH</a:t>
            </a:r>
            <a:endParaRPr/>
          </a:p>
        </p:txBody>
      </p:sp>
      <p:sp>
        <p:nvSpPr>
          <p:cNvPr id="349" name="Google Shape;349;p14"/>
          <p:cNvSpPr txBox="1"/>
          <p:nvPr/>
        </p:nvSpPr>
        <p:spPr>
          <a:xfrm>
            <a:off x="2709782" y="1988584"/>
            <a:ext cx="14560197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Convertir voz a texto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obtener información sobre los clientes con la transcripción de un de llamadas, mejorar las experiencias con asistentes habilitados por voz, capturar debates clave en reuniones y más.</a:t>
            </a:r>
            <a:endParaRPr/>
          </a:p>
        </p:txBody>
      </p:sp>
      <p:sp>
        <p:nvSpPr>
          <p:cNvPr id="350" name="Google Shape;350;p14"/>
          <p:cNvSpPr txBox="1"/>
          <p:nvPr/>
        </p:nvSpPr>
        <p:spPr>
          <a:xfrm>
            <a:off x="2709782" y="4453710"/>
            <a:ext cx="14071720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Verificar y reconocer hablantes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puede confirmar la identidad de una persona o reconocer quién está hablando en una reunión agregando verificación e identificación del orador a la aplicación.</a:t>
            </a:r>
            <a:endParaRPr/>
          </a:p>
        </p:txBody>
      </p:sp>
      <p:grpSp>
        <p:nvGrpSpPr>
          <p:cNvPr id="351" name="Google Shape;351;p14"/>
          <p:cNvGrpSpPr/>
          <p:nvPr/>
        </p:nvGrpSpPr>
        <p:grpSpPr>
          <a:xfrm>
            <a:off x="1656951" y="6949260"/>
            <a:ext cx="731003" cy="760368"/>
            <a:chOff x="0" y="0"/>
            <a:chExt cx="974670" cy="1013824"/>
          </a:xfrm>
        </p:grpSpPr>
        <p:sp>
          <p:nvSpPr>
            <p:cNvPr id="352" name="Google Shape;352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354" name="Google Shape;354;p14"/>
          <p:cNvSpPr txBox="1"/>
          <p:nvPr/>
        </p:nvSpPr>
        <p:spPr>
          <a:xfrm>
            <a:off x="2517049" y="6920685"/>
            <a:ext cx="14071720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Dar voz a la aplicación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puede usar el texto a voz para crear aplicaciones y servicios que hablen en forma conversacional mejorando la accesibilidad con la funcionalidad de lectura en voz alta y creando asistentes de voz personalizados.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oogle Shape;359;p15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360" name="Google Shape;360;p1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" name="Google Shape;362;p15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363" name="Google Shape;363;p1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" name="Google Shape;365;p15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366" name="Google Shape;366;p15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5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369" name="Google Shape;369;p1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1" name="Google Shape;371;p15"/>
          <p:cNvSpPr/>
          <p:nvPr/>
        </p:nvSpPr>
        <p:spPr>
          <a:xfrm>
            <a:off x="4300677" y="4814551"/>
            <a:ext cx="9686646" cy="4443749"/>
          </a:xfrm>
          <a:custGeom>
            <a:rect b="b" l="l" r="r" t="t"/>
            <a:pathLst>
              <a:path extrusionOk="0" h="4443749" w="9686646">
                <a:moveTo>
                  <a:pt x="0" y="0"/>
                </a:moveTo>
                <a:lnTo>
                  <a:pt x="9686646" y="0"/>
                </a:lnTo>
                <a:lnTo>
                  <a:pt x="9686646" y="4443749"/>
                </a:lnTo>
                <a:lnTo>
                  <a:pt x="0" y="44437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 txBox="1"/>
          <p:nvPr/>
        </p:nvSpPr>
        <p:spPr>
          <a:xfrm>
            <a:off x="4188700" y="424325"/>
            <a:ext cx="10102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AI LANGUAGE</a:t>
            </a:r>
            <a:endParaRPr/>
          </a:p>
        </p:txBody>
      </p:sp>
      <p:sp>
        <p:nvSpPr>
          <p:cNvPr id="373" name="Google Shape;373;p15"/>
          <p:cNvSpPr txBox="1"/>
          <p:nvPr/>
        </p:nvSpPr>
        <p:spPr>
          <a:xfrm>
            <a:off x="1270307" y="1700854"/>
            <a:ext cx="15747387" cy="2279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AI Language</a:t>
            </a:r>
            <a:r>
              <a:rPr b="1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es un servicio administrado para desarrollar aplicaciones de procesamiento de lenguaje natural</a:t>
            </a:r>
            <a:r>
              <a:rPr b="0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identificar términos y frases clave, analizar opiniones, resumir texto y crear interfaces conversacionales.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378;p16"/>
          <p:cNvGrpSpPr/>
          <p:nvPr/>
        </p:nvGrpSpPr>
        <p:grpSpPr>
          <a:xfrm>
            <a:off x="15201900" y="9706682"/>
            <a:ext cx="3086100" cy="580318"/>
            <a:chOff x="0" y="-38100"/>
            <a:chExt cx="812800" cy="152841"/>
          </a:xfrm>
        </p:grpSpPr>
        <p:sp>
          <p:nvSpPr>
            <p:cNvPr id="379" name="Google Shape;379;p16"/>
            <p:cNvSpPr/>
            <p:nvPr/>
          </p:nvSpPr>
          <p:spPr>
            <a:xfrm>
              <a:off x="0" y="0"/>
              <a:ext cx="812800" cy="114741"/>
            </a:xfrm>
            <a:custGeom>
              <a:rect b="b" l="l" r="r" t="t"/>
              <a:pathLst>
                <a:path extrusionOk="0" h="11474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14741"/>
                  </a:lnTo>
                  <a:lnTo>
                    <a:pt x="0" y="114741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6"/>
            <p:cNvSpPr txBox="1"/>
            <p:nvPr/>
          </p:nvSpPr>
          <p:spPr>
            <a:xfrm>
              <a:off x="0" y="-38100"/>
              <a:ext cx="812800" cy="1528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1" name="Google Shape;381;p16"/>
          <p:cNvGrpSpPr/>
          <p:nvPr/>
        </p:nvGrpSpPr>
        <p:grpSpPr>
          <a:xfrm>
            <a:off x="17202150" y="8389057"/>
            <a:ext cx="1085850" cy="1897943"/>
            <a:chOff x="0" y="-38100"/>
            <a:chExt cx="285985" cy="499870"/>
          </a:xfrm>
        </p:grpSpPr>
        <p:sp>
          <p:nvSpPr>
            <p:cNvPr id="382" name="Google Shape;382;p16"/>
            <p:cNvSpPr/>
            <p:nvPr/>
          </p:nvSpPr>
          <p:spPr>
            <a:xfrm>
              <a:off x="0" y="0"/>
              <a:ext cx="285985" cy="461770"/>
            </a:xfrm>
            <a:custGeom>
              <a:rect b="b" l="l" r="r" t="t"/>
              <a:pathLst>
                <a:path extrusionOk="0" h="461770" w="285985">
                  <a:moveTo>
                    <a:pt x="0" y="0"/>
                  </a:moveTo>
                  <a:lnTo>
                    <a:pt x="285985" y="0"/>
                  </a:lnTo>
                  <a:lnTo>
                    <a:pt x="285985" y="461770"/>
                  </a:lnTo>
                  <a:lnTo>
                    <a:pt x="0" y="461770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6"/>
            <p:cNvSpPr txBox="1"/>
            <p:nvPr/>
          </p:nvSpPr>
          <p:spPr>
            <a:xfrm>
              <a:off x="0" y="-38100"/>
              <a:ext cx="285985" cy="4998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16"/>
          <p:cNvGrpSpPr/>
          <p:nvPr/>
        </p:nvGrpSpPr>
        <p:grpSpPr>
          <a:xfrm>
            <a:off x="16970593" y="-539578"/>
            <a:ext cx="2344551" cy="2157882"/>
            <a:chOff x="0" y="-38100"/>
            <a:chExt cx="617495" cy="568331"/>
          </a:xfrm>
        </p:grpSpPr>
        <p:sp>
          <p:nvSpPr>
            <p:cNvPr id="385" name="Google Shape;385;p16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6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16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388" name="Google Shape;388;p1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0" name="Google Shape;390;p16"/>
          <p:cNvSpPr txBox="1"/>
          <p:nvPr/>
        </p:nvSpPr>
        <p:spPr>
          <a:xfrm>
            <a:off x="2756550" y="1183550"/>
            <a:ext cx="12966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AZURE LANGUAGE</a:t>
            </a:r>
            <a:endParaRPr/>
          </a:p>
        </p:txBody>
      </p:sp>
      <p:grpSp>
        <p:nvGrpSpPr>
          <p:cNvPr id="391" name="Google Shape;391;p16"/>
          <p:cNvGrpSpPr/>
          <p:nvPr/>
        </p:nvGrpSpPr>
        <p:grpSpPr>
          <a:xfrm>
            <a:off x="1261018" y="2634536"/>
            <a:ext cx="731003" cy="760368"/>
            <a:chOff x="0" y="0"/>
            <a:chExt cx="974670" cy="1013824"/>
          </a:xfrm>
        </p:grpSpPr>
        <p:sp>
          <p:nvSpPr>
            <p:cNvPr id="392" name="Google Shape;392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94" name="Google Shape;394;p16"/>
          <p:cNvGrpSpPr/>
          <p:nvPr/>
        </p:nvGrpSpPr>
        <p:grpSpPr>
          <a:xfrm>
            <a:off x="1261018" y="5709364"/>
            <a:ext cx="731003" cy="760368"/>
            <a:chOff x="0" y="0"/>
            <a:chExt cx="974670" cy="1013824"/>
          </a:xfrm>
        </p:grpSpPr>
        <p:sp>
          <p:nvSpPr>
            <p:cNvPr id="395" name="Google Shape;395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397" name="Google Shape;397;p16"/>
          <p:cNvSpPr txBox="1"/>
          <p:nvPr/>
        </p:nvSpPr>
        <p:spPr>
          <a:xfrm>
            <a:off x="2184753" y="2605961"/>
            <a:ext cx="14560197" cy="2466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Personalizar modelos multilingües para adaptarlos a un escenario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proporcionan algunos ejemplos etiquetados para entrenar el modelo de aprendizaje automático para un caso de uso específico, los modelos multilingües personalizados se pueden entrenar en un idioma y usarse para varios otros idiomas.</a:t>
            </a:r>
            <a:endParaRPr/>
          </a:p>
        </p:txBody>
      </p:sp>
      <p:sp>
        <p:nvSpPr>
          <p:cNvPr id="398" name="Google Shape;398;p16"/>
          <p:cNvSpPr txBox="1"/>
          <p:nvPr/>
        </p:nvSpPr>
        <p:spPr>
          <a:xfrm>
            <a:off x="2184753" y="5680789"/>
            <a:ext cx="14071720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Etiquetar datos al instante con el servicio Azure OpenAI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puede acceder a modelos de lenguaje avanzados con tecnología GPT a través de Language Studio para escanear y sugerir etiquetas rápidamente para su contenido.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p17"/>
          <p:cNvGrpSpPr/>
          <p:nvPr/>
        </p:nvGrpSpPr>
        <p:grpSpPr>
          <a:xfrm>
            <a:off x="505369" y="-144661"/>
            <a:ext cx="388125" cy="8565666"/>
            <a:chOff x="0" y="-38100"/>
            <a:chExt cx="102222" cy="2255978"/>
          </a:xfrm>
        </p:grpSpPr>
        <p:sp>
          <p:nvSpPr>
            <p:cNvPr id="404" name="Google Shape;404;p17"/>
            <p:cNvSpPr/>
            <p:nvPr/>
          </p:nvSpPr>
          <p:spPr>
            <a:xfrm>
              <a:off x="0" y="0"/>
              <a:ext cx="102222" cy="2217878"/>
            </a:xfrm>
            <a:custGeom>
              <a:rect b="b" l="l" r="r" t="t"/>
              <a:pathLst>
                <a:path extrusionOk="0" h="2217878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7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6" name="Google Shape;406;p17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407" name="Google Shape;407;p17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7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9" name="Google Shape;409;p17"/>
          <p:cNvGrpSpPr/>
          <p:nvPr/>
        </p:nvGrpSpPr>
        <p:grpSpPr>
          <a:xfrm>
            <a:off x="17854604" y="8602991"/>
            <a:ext cx="1066563" cy="1165957"/>
            <a:chOff x="0" y="-38100"/>
            <a:chExt cx="280906" cy="307083"/>
          </a:xfrm>
        </p:grpSpPr>
        <p:sp>
          <p:nvSpPr>
            <p:cNvPr id="410" name="Google Shape;410;p17"/>
            <p:cNvSpPr/>
            <p:nvPr/>
          </p:nvSpPr>
          <p:spPr>
            <a:xfrm>
              <a:off x="0" y="0"/>
              <a:ext cx="280906" cy="268983"/>
            </a:xfrm>
            <a:custGeom>
              <a:rect b="b" l="l" r="r" t="t"/>
              <a:pathLst>
                <a:path extrusionOk="0" h="268983" w="280906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7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2" name="Google Shape;412;p17"/>
          <p:cNvGrpSpPr/>
          <p:nvPr/>
        </p:nvGrpSpPr>
        <p:grpSpPr>
          <a:xfrm>
            <a:off x="17259300" y="9113639"/>
            <a:ext cx="1467805" cy="1435160"/>
            <a:chOff x="0" y="-38100"/>
            <a:chExt cx="386582" cy="377985"/>
          </a:xfrm>
        </p:grpSpPr>
        <p:sp>
          <p:nvSpPr>
            <p:cNvPr id="413" name="Google Shape;413;p17"/>
            <p:cNvSpPr/>
            <p:nvPr/>
          </p:nvSpPr>
          <p:spPr>
            <a:xfrm>
              <a:off x="0" y="0"/>
              <a:ext cx="386582" cy="339885"/>
            </a:xfrm>
            <a:custGeom>
              <a:rect b="b" l="l" r="r" t="t"/>
              <a:pathLst>
                <a:path extrusionOk="0" h="339885" w="386582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7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5" name="Google Shape;415;p17"/>
          <p:cNvSpPr/>
          <p:nvPr/>
        </p:nvSpPr>
        <p:spPr>
          <a:xfrm>
            <a:off x="3898174" y="4210503"/>
            <a:ext cx="11301259" cy="5650629"/>
          </a:xfrm>
          <a:custGeom>
            <a:rect b="b" l="l" r="r" t="t"/>
            <a:pathLst>
              <a:path extrusionOk="0" h="5650629" w="11301259">
                <a:moveTo>
                  <a:pt x="0" y="0"/>
                </a:moveTo>
                <a:lnTo>
                  <a:pt x="11301259" y="0"/>
                </a:lnTo>
                <a:lnTo>
                  <a:pt x="11301259" y="5650629"/>
                </a:lnTo>
                <a:lnTo>
                  <a:pt x="0" y="5650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 txBox="1"/>
          <p:nvPr/>
        </p:nvSpPr>
        <p:spPr>
          <a:xfrm>
            <a:off x="3040725" y="439725"/>
            <a:ext cx="14422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AI Document Intelligence</a:t>
            </a:r>
            <a:endParaRPr/>
          </a:p>
        </p:txBody>
      </p:sp>
      <p:sp>
        <p:nvSpPr>
          <p:cNvPr id="417" name="Google Shape;417;p17"/>
          <p:cNvSpPr txBox="1"/>
          <p:nvPr/>
        </p:nvSpPr>
        <p:spPr>
          <a:xfrm>
            <a:off x="1433504" y="1704408"/>
            <a:ext cx="16230600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AI Document Intelligence </a:t>
            </a: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 servicio de inteligencia artificial que aplica aprendizaje automático avanzado para extraer texto, pares clave-valor, tablas y estructuras de documentos de forma automática y precisa,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convierte los documentos en datos utilizables para actuar sobre la información en lugar de compilarla.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18"/>
          <p:cNvGrpSpPr/>
          <p:nvPr/>
        </p:nvGrpSpPr>
        <p:grpSpPr>
          <a:xfrm>
            <a:off x="15201900" y="9706682"/>
            <a:ext cx="3086100" cy="580318"/>
            <a:chOff x="0" y="-38100"/>
            <a:chExt cx="812800" cy="152841"/>
          </a:xfrm>
        </p:grpSpPr>
        <p:sp>
          <p:nvSpPr>
            <p:cNvPr id="423" name="Google Shape;423;p18"/>
            <p:cNvSpPr/>
            <p:nvPr/>
          </p:nvSpPr>
          <p:spPr>
            <a:xfrm>
              <a:off x="0" y="0"/>
              <a:ext cx="812800" cy="114741"/>
            </a:xfrm>
            <a:custGeom>
              <a:rect b="b" l="l" r="r" t="t"/>
              <a:pathLst>
                <a:path extrusionOk="0" h="11474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14741"/>
                  </a:lnTo>
                  <a:lnTo>
                    <a:pt x="0" y="114741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8"/>
            <p:cNvSpPr txBox="1"/>
            <p:nvPr/>
          </p:nvSpPr>
          <p:spPr>
            <a:xfrm>
              <a:off x="0" y="-38100"/>
              <a:ext cx="812800" cy="1528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5" name="Google Shape;425;p18"/>
          <p:cNvGrpSpPr/>
          <p:nvPr/>
        </p:nvGrpSpPr>
        <p:grpSpPr>
          <a:xfrm>
            <a:off x="17202150" y="8389057"/>
            <a:ext cx="1085850" cy="1897943"/>
            <a:chOff x="0" y="-38100"/>
            <a:chExt cx="285985" cy="499870"/>
          </a:xfrm>
        </p:grpSpPr>
        <p:sp>
          <p:nvSpPr>
            <p:cNvPr id="426" name="Google Shape;426;p18"/>
            <p:cNvSpPr/>
            <p:nvPr/>
          </p:nvSpPr>
          <p:spPr>
            <a:xfrm>
              <a:off x="0" y="0"/>
              <a:ext cx="285985" cy="461770"/>
            </a:xfrm>
            <a:custGeom>
              <a:rect b="b" l="l" r="r" t="t"/>
              <a:pathLst>
                <a:path extrusionOk="0" h="461770" w="285985">
                  <a:moveTo>
                    <a:pt x="0" y="0"/>
                  </a:moveTo>
                  <a:lnTo>
                    <a:pt x="285985" y="0"/>
                  </a:lnTo>
                  <a:lnTo>
                    <a:pt x="285985" y="461770"/>
                  </a:lnTo>
                  <a:lnTo>
                    <a:pt x="0" y="461770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8"/>
            <p:cNvSpPr txBox="1"/>
            <p:nvPr/>
          </p:nvSpPr>
          <p:spPr>
            <a:xfrm>
              <a:off x="0" y="-38100"/>
              <a:ext cx="285985" cy="4998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8" name="Google Shape;428;p18"/>
          <p:cNvGrpSpPr/>
          <p:nvPr/>
        </p:nvGrpSpPr>
        <p:grpSpPr>
          <a:xfrm>
            <a:off x="16970593" y="-539578"/>
            <a:ext cx="2344551" cy="2157882"/>
            <a:chOff x="0" y="-38100"/>
            <a:chExt cx="617495" cy="568331"/>
          </a:xfrm>
        </p:grpSpPr>
        <p:sp>
          <p:nvSpPr>
            <p:cNvPr id="429" name="Google Shape;429;p18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8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1" name="Google Shape;431;p18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432" name="Google Shape;432;p18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8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4" name="Google Shape;434;p18"/>
          <p:cNvSpPr txBox="1"/>
          <p:nvPr/>
        </p:nvSpPr>
        <p:spPr>
          <a:xfrm>
            <a:off x="1948325" y="1042575"/>
            <a:ext cx="14560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AI Document Intelligence</a:t>
            </a:r>
            <a:endParaRPr/>
          </a:p>
        </p:txBody>
      </p:sp>
      <p:grpSp>
        <p:nvGrpSpPr>
          <p:cNvPr id="435" name="Google Shape;435;p18"/>
          <p:cNvGrpSpPr/>
          <p:nvPr/>
        </p:nvGrpSpPr>
        <p:grpSpPr>
          <a:xfrm>
            <a:off x="1261018" y="2412286"/>
            <a:ext cx="731003" cy="760368"/>
            <a:chOff x="0" y="0"/>
            <a:chExt cx="974670" cy="1013824"/>
          </a:xfrm>
        </p:grpSpPr>
        <p:sp>
          <p:nvSpPr>
            <p:cNvPr id="436" name="Google Shape;436;p1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1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438" name="Google Shape;438;p18"/>
          <p:cNvGrpSpPr/>
          <p:nvPr/>
        </p:nvGrpSpPr>
        <p:grpSpPr>
          <a:xfrm>
            <a:off x="1261018" y="4636684"/>
            <a:ext cx="731003" cy="760368"/>
            <a:chOff x="0" y="0"/>
            <a:chExt cx="974670" cy="1013824"/>
          </a:xfrm>
        </p:grpSpPr>
        <p:sp>
          <p:nvSpPr>
            <p:cNvPr id="439" name="Google Shape;439;p1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1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441" name="Google Shape;441;p18"/>
          <p:cNvSpPr txBox="1"/>
          <p:nvPr/>
        </p:nvSpPr>
        <p:spPr>
          <a:xfrm>
            <a:off x="2184753" y="2245909"/>
            <a:ext cx="14560197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Analizar formularios y documentos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pueden tomar decisiones basadas en datos extrayendo datos de documentos y colocándolos en su servicio de visualización de datos para su análisis.</a:t>
            </a:r>
            <a:endParaRPr/>
          </a:p>
        </p:txBody>
      </p:sp>
      <p:sp>
        <p:nvSpPr>
          <p:cNvPr id="442" name="Google Shape;442;p18"/>
          <p:cNvSpPr txBox="1"/>
          <p:nvPr/>
        </p:nvSpPr>
        <p:spPr>
          <a:xfrm>
            <a:off x="2184753" y="4608109"/>
            <a:ext cx="1407172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Crear índices de búsquedas inteligentes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encontrar fácilmente información específica en  documentos y formularios, como el total de cuentas por pagar.</a:t>
            </a:r>
            <a:endParaRPr/>
          </a:p>
        </p:txBody>
      </p:sp>
      <p:grpSp>
        <p:nvGrpSpPr>
          <p:cNvPr id="443" name="Google Shape;443;p18"/>
          <p:cNvGrpSpPr/>
          <p:nvPr/>
        </p:nvGrpSpPr>
        <p:grpSpPr>
          <a:xfrm>
            <a:off x="1261018" y="6503584"/>
            <a:ext cx="731003" cy="760368"/>
            <a:chOff x="0" y="0"/>
            <a:chExt cx="974670" cy="1013824"/>
          </a:xfrm>
        </p:grpSpPr>
        <p:sp>
          <p:nvSpPr>
            <p:cNvPr id="444" name="Google Shape;444;p1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446" name="Google Shape;446;p18"/>
          <p:cNvSpPr txBox="1"/>
          <p:nvPr/>
        </p:nvSpPr>
        <p:spPr>
          <a:xfrm>
            <a:off x="2184753" y="6475009"/>
            <a:ext cx="14071720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Automatizar los flujos de trabajo empresarial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pueden extraer texto, pares clave-valor, tablas y estructuras de documentos y canalícelos a sus sistemas back-end para realizar tareas como el procesamiento de reclamos, facturas y recibos.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9"/>
          <p:cNvSpPr txBox="1"/>
          <p:nvPr/>
        </p:nvSpPr>
        <p:spPr>
          <a:xfrm>
            <a:off x="6625566" y="2868618"/>
            <a:ext cx="6003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</a:t>
            </a:r>
            <a:endParaRPr/>
          </a:p>
        </p:txBody>
      </p:sp>
      <p:sp>
        <p:nvSpPr>
          <p:cNvPr id="452" name="Google Shape;452;p19"/>
          <p:cNvSpPr txBox="1"/>
          <p:nvPr/>
        </p:nvSpPr>
        <p:spPr>
          <a:xfrm>
            <a:off x="2162609" y="3925306"/>
            <a:ext cx="14581906" cy="2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IMPLEMENTACIÓN DE AZURE COGNITIVE SERVICE EN WEB APPS</a:t>
            </a:r>
            <a:endParaRPr/>
          </a:p>
        </p:txBody>
      </p:sp>
      <p:sp>
        <p:nvSpPr>
          <p:cNvPr id="453" name="Google Shape;453;p19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0"/>
          <p:cNvSpPr txBox="1"/>
          <p:nvPr/>
        </p:nvSpPr>
        <p:spPr>
          <a:xfrm>
            <a:off x="5416647" y="1692597"/>
            <a:ext cx="745470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VALOR O ACTITUD</a:t>
            </a:r>
            <a:endParaRPr/>
          </a:p>
        </p:txBody>
      </p:sp>
      <p:sp>
        <p:nvSpPr>
          <p:cNvPr id="460" name="Google Shape;460;p20"/>
          <p:cNvSpPr txBox="1"/>
          <p:nvPr/>
        </p:nvSpPr>
        <p:spPr>
          <a:xfrm>
            <a:off x="906729" y="2905125"/>
            <a:ext cx="16474542" cy="443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0071C6"/>
                </a:solidFill>
                <a:latin typeface="Arial"/>
                <a:ea typeface="Arial"/>
                <a:cs typeface="Arial"/>
                <a:sym typeface="Arial"/>
              </a:rPr>
              <a:t>Respeto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Valorar las propuestas técnicas de otros miembros del equipo, fomentando un ambiente de colaboración abierta y constructiva.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Respetar al escuchar y considerar las opiniones de los demás, incluso cuando estas difieren de las propias</a:t>
            </a:r>
            <a:endParaRPr/>
          </a:p>
        </p:txBody>
      </p:sp>
      <p:sp>
        <p:nvSpPr>
          <p:cNvPr id="461" name="Google Shape;461;p20"/>
          <p:cNvSpPr/>
          <p:nvPr/>
        </p:nvSpPr>
        <p:spPr>
          <a:xfrm flipH="1" rot="-5252869">
            <a:off x="7166333" y="2041017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/>
          <p:nvPr/>
        </p:nvSpPr>
        <p:spPr>
          <a:xfrm flipH="1" rot="-5252869">
            <a:off x="7357019" y="2212036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1"/>
          <p:cNvSpPr/>
          <p:nvPr/>
        </p:nvSpPr>
        <p:spPr>
          <a:xfrm rot="5400000">
            <a:off x="1035086" y="1228236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1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1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1"/>
          <p:cNvSpPr txBox="1"/>
          <p:nvPr/>
        </p:nvSpPr>
        <p:spPr>
          <a:xfrm>
            <a:off x="3865129" y="1230119"/>
            <a:ext cx="10557741" cy="755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61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CONCEPTOS CLAVES APRENDIDOS</a:t>
            </a:r>
            <a:endParaRPr/>
          </a:p>
        </p:txBody>
      </p:sp>
      <p:sp>
        <p:nvSpPr>
          <p:cNvPr id="471" name="Google Shape;471;p21"/>
          <p:cNvSpPr txBox="1"/>
          <p:nvPr/>
        </p:nvSpPr>
        <p:spPr>
          <a:xfrm>
            <a:off x="3865124" y="2672525"/>
            <a:ext cx="5359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Servicios Cognitivos</a:t>
            </a:r>
            <a:endParaRPr/>
          </a:p>
        </p:txBody>
      </p:sp>
      <p:grpSp>
        <p:nvGrpSpPr>
          <p:cNvPr id="472" name="Google Shape;472;p21"/>
          <p:cNvGrpSpPr/>
          <p:nvPr/>
        </p:nvGrpSpPr>
        <p:grpSpPr>
          <a:xfrm>
            <a:off x="2905062" y="2593975"/>
            <a:ext cx="731003" cy="760368"/>
            <a:chOff x="0" y="0"/>
            <a:chExt cx="974670" cy="1013824"/>
          </a:xfrm>
        </p:grpSpPr>
        <p:sp>
          <p:nvSpPr>
            <p:cNvPr id="473" name="Google Shape;473;p21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21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475" name="Google Shape;475;p21"/>
          <p:cNvGrpSpPr/>
          <p:nvPr/>
        </p:nvGrpSpPr>
        <p:grpSpPr>
          <a:xfrm>
            <a:off x="2905062" y="3661478"/>
            <a:ext cx="731003" cy="760368"/>
            <a:chOff x="0" y="0"/>
            <a:chExt cx="974670" cy="1013824"/>
          </a:xfrm>
        </p:grpSpPr>
        <p:sp>
          <p:nvSpPr>
            <p:cNvPr id="476" name="Google Shape;476;p21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21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478" name="Google Shape;478;p21"/>
          <p:cNvGrpSpPr/>
          <p:nvPr/>
        </p:nvGrpSpPr>
        <p:grpSpPr>
          <a:xfrm>
            <a:off x="2905062" y="4825036"/>
            <a:ext cx="731003" cy="760368"/>
            <a:chOff x="0" y="0"/>
            <a:chExt cx="974670" cy="1013824"/>
          </a:xfrm>
        </p:grpSpPr>
        <p:sp>
          <p:nvSpPr>
            <p:cNvPr id="479" name="Google Shape;479;p21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21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481" name="Google Shape;481;p21"/>
          <p:cNvGrpSpPr/>
          <p:nvPr/>
        </p:nvGrpSpPr>
        <p:grpSpPr>
          <a:xfrm>
            <a:off x="2905062" y="5988595"/>
            <a:ext cx="731003" cy="760368"/>
            <a:chOff x="0" y="0"/>
            <a:chExt cx="974670" cy="1013824"/>
          </a:xfrm>
        </p:grpSpPr>
        <p:sp>
          <p:nvSpPr>
            <p:cNvPr id="482" name="Google Shape;482;p21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21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484" name="Google Shape;484;p21"/>
          <p:cNvSpPr txBox="1"/>
          <p:nvPr/>
        </p:nvSpPr>
        <p:spPr>
          <a:xfrm>
            <a:off x="3865121" y="4841875"/>
            <a:ext cx="6776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Lenguaje natural</a:t>
            </a:r>
            <a:endParaRPr/>
          </a:p>
        </p:txBody>
      </p:sp>
      <p:sp>
        <p:nvSpPr>
          <p:cNvPr id="485" name="Google Shape;485;p21"/>
          <p:cNvSpPr txBox="1"/>
          <p:nvPr/>
        </p:nvSpPr>
        <p:spPr>
          <a:xfrm>
            <a:off x="3865129" y="6067154"/>
            <a:ext cx="2534543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AI en Cloud</a:t>
            </a:r>
            <a:endParaRPr/>
          </a:p>
        </p:txBody>
      </p:sp>
      <p:sp>
        <p:nvSpPr>
          <p:cNvPr id="486" name="Google Shape;486;p21"/>
          <p:cNvSpPr txBox="1"/>
          <p:nvPr/>
        </p:nvSpPr>
        <p:spPr>
          <a:xfrm>
            <a:off x="3865123" y="3740025"/>
            <a:ext cx="6637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Análisis de Documentos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2"/>
          <p:cNvSpPr/>
          <p:nvPr/>
        </p:nvSpPr>
        <p:spPr>
          <a:xfrm>
            <a:off x="-242146" y="-201788"/>
            <a:ext cx="7408840" cy="10690576"/>
          </a:xfrm>
          <a:prstGeom prst="rect">
            <a:avLst/>
          </a:prstGeom>
          <a:solidFill>
            <a:srgbClr val="0071C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2"/>
          <p:cNvSpPr/>
          <p:nvPr/>
        </p:nvSpPr>
        <p:spPr>
          <a:xfrm rot="5400000">
            <a:off x="1035086" y="8288411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2"/>
          <p:cNvSpPr txBox="1"/>
          <p:nvPr/>
        </p:nvSpPr>
        <p:spPr>
          <a:xfrm>
            <a:off x="935917" y="1369165"/>
            <a:ext cx="5294859" cy="9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24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REFERENCIAS</a:t>
            </a:r>
            <a:endParaRPr/>
          </a:p>
        </p:txBody>
      </p:sp>
      <p:sp>
        <p:nvSpPr>
          <p:cNvPr id="494" name="Google Shape;494;p22"/>
          <p:cNvSpPr/>
          <p:nvPr/>
        </p:nvSpPr>
        <p:spPr>
          <a:xfrm>
            <a:off x="935917" y="2310552"/>
            <a:ext cx="3863467" cy="285524"/>
          </a:xfrm>
          <a:custGeom>
            <a:rect b="b" l="l" r="r" t="t"/>
            <a:pathLst>
              <a:path extrusionOk="0" h="285524" w="3863467">
                <a:moveTo>
                  <a:pt x="0" y="0"/>
                </a:moveTo>
                <a:lnTo>
                  <a:pt x="3863468" y="0"/>
                </a:lnTo>
                <a:lnTo>
                  <a:pt x="3863468" y="285524"/>
                </a:lnTo>
                <a:lnTo>
                  <a:pt x="0" y="285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42591" l="-170" r="-7086" t="-3085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2"/>
          <p:cNvSpPr txBox="1"/>
          <p:nvPr/>
        </p:nvSpPr>
        <p:spPr>
          <a:xfrm>
            <a:off x="7617891" y="639127"/>
            <a:ext cx="10117659" cy="8980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79" lvl="1" marL="5181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(s.f.). Azure Cognitive Services documentation. Microsoft Learn.</a:t>
            </a:r>
            <a:r>
              <a:rPr b="0" i="0" lang="en-US" sz="24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https://learn.microsoft.com/en-us/azure/cognitive-services/</a:t>
            </a:r>
            <a:endParaRPr/>
          </a:p>
          <a:p>
            <a:pPr indent="-259079" lvl="1" marL="5181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Microsoft. (s.f.). Azure OpenAI Service documentation. Microsoft Learn.</a:t>
            </a:r>
            <a:r>
              <a:rPr b="0" i="0" lang="en-US" sz="24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https://learn.microsoft.com/en-us/azure/ai-services/openai/</a:t>
            </a:r>
            <a:endParaRPr/>
          </a:p>
          <a:p>
            <a:pPr indent="-259079" lvl="1" marL="5181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(s.f.). Azure Cognitive Search documentation. Microsoft Learn.</a:t>
            </a:r>
            <a:r>
              <a:rPr b="0" i="0" lang="en-US" sz="24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https://learn.microsoft.com/en-us/azure/search/</a:t>
            </a:r>
            <a:endParaRPr/>
          </a:p>
          <a:p>
            <a:pPr indent="-259079" lvl="1" marL="5181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Microsoft. (s.f.). What is Azure AI Content Safety?. Microsoft Learn.</a:t>
            </a:r>
            <a:r>
              <a:rPr b="0" i="0" lang="en-US" sz="24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https://learn.microsoft.com/en-us/azure/ai-services/content-safety/overview</a:t>
            </a:r>
            <a:endParaRPr/>
          </a:p>
          <a:p>
            <a:pPr indent="-259079" lvl="1" marL="5181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Microsoft. (s.f.). What is Azure AI Translator?. Microsoft Learn.</a:t>
            </a:r>
            <a:r>
              <a:rPr b="0" i="0" lang="en-US" sz="24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https://learn.microsoft.com/en-us/azure/ai-services/translator/overview</a:t>
            </a:r>
            <a:endParaRPr/>
          </a:p>
          <a:p>
            <a:pPr indent="-259079" lvl="1" marL="5181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Microsoft. (s.f.). Language and voice support for the Speech service. Microsoft Learn.</a:t>
            </a:r>
            <a:r>
              <a:rPr b="0" i="0" lang="en-US" sz="24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https://learn.microsoft.com/en-us/azure/ai-services/speech-service/language-support</a:t>
            </a:r>
            <a:endParaRPr/>
          </a:p>
          <a:p>
            <a:pPr indent="-259079" lvl="1" marL="5181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Microsoft. (s.f.). Azure AI Language documentation. Microsoft Learn.</a:t>
            </a:r>
            <a:r>
              <a:rPr b="0" i="0" lang="en-US" sz="24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https://learn.microsoft.com/en-us/azure/ai-services/language-service/</a:t>
            </a:r>
            <a:endParaRPr/>
          </a:p>
          <a:p>
            <a:pPr indent="-259079" lvl="1" marL="5181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(s.f.). Azure AI Document Intelligence client library for Python. Microsoft Learn</a:t>
            </a:r>
            <a:r>
              <a:rPr b="0" i="0" lang="en-US" sz="24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. https://learn.microsoft.com/en-us/python/api/overview/azure/ai-documentintelligence-readme?view=azure-python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3"/>
          <p:cNvSpPr txBox="1"/>
          <p:nvPr/>
        </p:nvSpPr>
        <p:spPr>
          <a:xfrm>
            <a:off x="3207779" y="4022725"/>
            <a:ext cx="11872442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¡GRACIAS POR SU ATENCIÓN!</a:t>
            </a:r>
            <a:endParaRPr/>
          </a:p>
        </p:txBody>
      </p:sp>
      <p:sp>
        <p:nvSpPr>
          <p:cNvPr id="501" name="Google Shape;501;p23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3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3"/>
          <p:cNvSpPr txBox="1"/>
          <p:nvPr/>
        </p:nvSpPr>
        <p:spPr>
          <a:xfrm>
            <a:off x="6949660" y="5086350"/>
            <a:ext cx="434105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