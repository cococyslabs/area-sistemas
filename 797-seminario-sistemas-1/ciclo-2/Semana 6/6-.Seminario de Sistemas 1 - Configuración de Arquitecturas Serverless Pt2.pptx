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Hammersmith One"/>
      <p:regular r:id="rId22"/>
    </p:embeddedFont>
    <p:embeddedFont>
      <p:font typeface="Open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aBCGfQD6mhaHmvUG/Xc9qR/YG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ammersmithOne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7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de Arquitecturas Serverless” - II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6668076" y="274500"/>
            <a:ext cx="4144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6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335952" y="5933228"/>
            <a:ext cx="6068420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Crecimiento y Auge de Azure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335952" y="7073780"/>
            <a:ext cx="7995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importantes de Azure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14" name="Google Shape;114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1135161" y="5820388"/>
            <a:ext cx="731003" cy="760368"/>
            <a:chOff x="0" y="0"/>
            <a:chExt cx="974670" cy="1013824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2335952" y="7962736"/>
            <a:ext cx="8624532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Functions: Funciones sin servidor en Azure.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2049149" y="5903233"/>
            <a:ext cx="5001394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API Management.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28" name="Google Shape;128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34" name="Google Shape;134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37" name="Google Shape;137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3784368" y="1397642"/>
            <a:ext cx="10719263" cy="7034517"/>
          </a:xfrm>
          <a:custGeom>
            <a:rect b="b" l="l" r="r" t="t"/>
            <a:pathLst>
              <a:path extrusionOk="0" h="7034517" w="10719263">
                <a:moveTo>
                  <a:pt x="0" y="0"/>
                </a:moveTo>
                <a:lnTo>
                  <a:pt x="10719264" y="0"/>
                </a:lnTo>
                <a:lnTo>
                  <a:pt x="10719264" y="7034516"/>
                </a:lnTo>
                <a:lnTo>
                  <a:pt x="0" y="7034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3"/>
          <p:cNvSpPr txBox="1"/>
          <p:nvPr/>
        </p:nvSpPr>
        <p:spPr>
          <a:xfrm>
            <a:off x="4766204" y="283719"/>
            <a:ext cx="8755592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Crecimiento de Azure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5717067" y="8403583"/>
            <a:ext cx="685386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2024 Azure a crecido un 15.67%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4"/>
          <p:cNvGrpSpPr/>
          <p:nvPr/>
        </p:nvGrpSpPr>
        <p:grpSpPr>
          <a:xfrm>
            <a:off x="1112241" y="1618304"/>
            <a:ext cx="731003" cy="760368"/>
            <a:chOff x="0" y="0"/>
            <a:chExt cx="974670" cy="1013824"/>
          </a:xfrm>
        </p:grpSpPr>
        <p:sp>
          <p:nvSpPr>
            <p:cNvPr id="146" name="Google Shape;146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0" name="Google Shape;150;p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53" name="Google Shape;153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1112241" y="4178417"/>
            <a:ext cx="731003" cy="760368"/>
            <a:chOff x="0" y="0"/>
            <a:chExt cx="974670" cy="1013824"/>
          </a:xfrm>
        </p:grpSpPr>
        <p:sp>
          <p:nvSpPr>
            <p:cNvPr id="155" name="Google Shape;15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1112241" y="6891410"/>
            <a:ext cx="731003" cy="760368"/>
            <a:chOff x="0" y="0"/>
            <a:chExt cx="974670" cy="1013824"/>
          </a:xfrm>
        </p:grpSpPr>
        <p:sp>
          <p:nvSpPr>
            <p:cNvPr id="158" name="Google Shape;158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60" name="Google Shape;160;p4"/>
          <p:cNvSpPr txBox="1"/>
          <p:nvPr/>
        </p:nvSpPr>
        <p:spPr>
          <a:xfrm>
            <a:off x="4339388" y="290075"/>
            <a:ext cx="924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PLANES DE AZURE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2010155" y="1741313"/>
            <a:ext cx="60888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SIEMPRE GRATUITOS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2035976" y="4301426"/>
            <a:ext cx="692415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GRATUITOS DE 12 MESES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2035976" y="7014419"/>
            <a:ext cx="3900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DE PAGA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112241" y="2559647"/>
            <a:ext cx="1506736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Conjunto de algunos servicios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usarse de manera gratuita dentro de un límite por mes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luego de este límite se generan costos.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112241" y="5119760"/>
            <a:ext cx="1506736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servicios seleccionados y limitados durante 1 año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al crear una nueva cuenta, luego de este periodo de tiempo se inicia la generación de costos.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112241" y="7832753"/>
            <a:ext cx="1506736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aquellos servicios u opciones “Premium”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generan costos desde el inicio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estos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usarse de manera “gratuita” con los 200 créditos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las cuentas recién creada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s, esto último en un lapso de 30 días.</a:t>
            </a:r>
            <a:endParaRPr/>
          </a:p>
        </p:txBody>
      </p:sp>
      <p:cxnSp>
        <p:nvCxnSpPr>
          <p:cNvPr id="167" name="Google Shape;167;p4"/>
          <p:cNvCxnSpPr/>
          <p:nvPr/>
        </p:nvCxnSpPr>
        <p:spPr>
          <a:xfrm flipH="1" rot="10800000">
            <a:off x="4491574" y="1322213"/>
            <a:ext cx="8937117" cy="19050"/>
          </a:xfrm>
          <a:prstGeom prst="straightConnector1">
            <a:avLst/>
          </a:prstGeom>
          <a:noFill/>
          <a:ln cap="flat" cmpd="sng" w="38100">
            <a:solidFill>
              <a:srgbClr val="0071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74" name="Google Shape;174;p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77" name="Google Shape;177;p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5"/>
          <p:cNvSpPr/>
          <p:nvPr/>
        </p:nvSpPr>
        <p:spPr>
          <a:xfrm>
            <a:off x="9756881" y="1846184"/>
            <a:ext cx="7502419" cy="6067581"/>
          </a:xfrm>
          <a:custGeom>
            <a:rect b="b" l="l" r="r" t="t"/>
            <a:pathLst>
              <a:path extrusionOk="0" h="6067581" w="7502419">
                <a:moveTo>
                  <a:pt x="0" y="0"/>
                </a:moveTo>
                <a:lnTo>
                  <a:pt x="7502419" y="0"/>
                </a:lnTo>
                <a:lnTo>
                  <a:pt x="7502419" y="6067582"/>
                </a:lnTo>
                <a:lnTo>
                  <a:pt x="0" y="6067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5"/>
          <p:cNvSpPr txBox="1"/>
          <p:nvPr/>
        </p:nvSpPr>
        <p:spPr>
          <a:xfrm>
            <a:off x="631400" y="439725"/>
            <a:ext cx="17201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1028700" y="2895600"/>
            <a:ext cx="9337854" cy="393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Recurso:</a:t>
            </a: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Elemento administrable disponible a través de Azure, por ejemplo: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Máquinas Virtuales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Web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87" name="Google Shape;187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89" name="Google Shape;189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0" name="Google Shape;190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6"/>
          <p:cNvSpPr/>
          <p:nvPr/>
        </p:nvSpPr>
        <p:spPr>
          <a:xfrm>
            <a:off x="10454445" y="2026026"/>
            <a:ext cx="6804855" cy="6234948"/>
          </a:xfrm>
          <a:custGeom>
            <a:rect b="b" l="l" r="r" t="t"/>
            <a:pathLst>
              <a:path extrusionOk="0" h="6234948" w="6804855">
                <a:moveTo>
                  <a:pt x="0" y="0"/>
                </a:moveTo>
                <a:lnTo>
                  <a:pt x="6804855" y="0"/>
                </a:lnTo>
                <a:lnTo>
                  <a:pt x="6804855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6"/>
          <p:cNvSpPr txBox="1"/>
          <p:nvPr/>
        </p:nvSpPr>
        <p:spPr>
          <a:xfrm>
            <a:off x="754575" y="439725"/>
            <a:ext cx="17355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1028700" y="2294830"/>
            <a:ext cx="9337854" cy="590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Recursos: </a:t>
            </a: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Contenedor que almacena los recursos relacionados con una solución de Azure</a:t>
            </a:r>
            <a:endParaRPr/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incluir todos los recursos de la solución o solo aquellos que se desean administrar como grupo</a:t>
            </a:r>
            <a:endParaRPr/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7"/>
          <p:cNvGrpSpPr/>
          <p:nvPr/>
        </p:nvGrpSpPr>
        <p:grpSpPr>
          <a:xfrm>
            <a:off x="17551400" y="-144661"/>
            <a:ext cx="736600" cy="929568"/>
            <a:chOff x="0" y="-38100"/>
            <a:chExt cx="194002" cy="244824"/>
          </a:xfrm>
        </p:grpSpPr>
        <p:sp>
          <p:nvSpPr>
            <p:cNvPr id="199" name="Google Shape;199;p7"/>
            <p:cNvSpPr/>
            <p:nvPr/>
          </p:nvSpPr>
          <p:spPr>
            <a:xfrm>
              <a:off x="0" y="0"/>
              <a:ext cx="194002" cy="206724"/>
            </a:xfrm>
            <a:custGeom>
              <a:rect b="b" l="l" r="r" t="t"/>
              <a:pathLst>
                <a:path extrusionOk="0" h="206724" w="194002">
                  <a:moveTo>
                    <a:pt x="0" y="0"/>
                  </a:moveTo>
                  <a:lnTo>
                    <a:pt x="194002" y="0"/>
                  </a:lnTo>
                  <a:lnTo>
                    <a:pt x="194002" y="206724"/>
                  </a:lnTo>
                  <a:lnTo>
                    <a:pt x="0" y="206724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200" name="Google Shape;200;p7"/>
            <p:cNvSpPr txBox="1"/>
            <p:nvPr/>
          </p:nvSpPr>
          <p:spPr>
            <a:xfrm>
              <a:off x="0" y="-38100"/>
              <a:ext cx="194002" cy="24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0" y="9738432"/>
            <a:ext cx="18288000" cy="548568"/>
            <a:chOff x="0" y="-38100"/>
            <a:chExt cx="4816593" cy="144479"/>
          </a:xfrm>
        </p:grpSpPr>
        <p:sp>
          <p:nvSpPr>
            <p:cNvPr id="202" name="Google Shape;202;p7"/>
            <p:cNvSpPr/>
            <p:nvPr/>
          </p:nvSpPr>
          <p:spPr>
            <a:xfrm>
              <a:off x="0" y="0"/>
              <a:ext cx="4816592" cy="106379"/>
            </a:xfrm>
            <a:custGeom>
              <a:rect b="b" l="l" r="r" t="t"/>
              <a:pathLst>
                <a:path extrusionOk="0" h="1063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379"/>
                  </a:lnTo>
                  <a:lnTo>
                    <a:pt x="0" y="106379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3" name="Google Shape;203;p7"/>
            <p:cNvSpPr txBox="1"/>
            <p:nvPr/>
          </p:nvSpPr>
          <p:spPr>
            <a:xfrm>
              <a:off x="0" y="-38100"/>
              <a:ext cx="4816593" cy="144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7"/>
          <p:cNvSpPr/>
          <p:nvPr/>
        </p:nvSpPr>
        <p:spPr>
          <a:xfrm>
            <a:off x="10163931" y="2457483"/>
            <a:ext cx="7459631" cy="4876734"/>
          </a:xfrm>
          <a:custGeom>
            <a:rect b="b" l="l" r="r" t="t"/>
            <a:pathLst>
              <a:path extrusionOk="0" h="4876734" w="7459631">
                <a:moveTo>
                  <a:pt x="0" y="0"/>
                </a:moveTo>
                <a:lnTo>
                  <a:pt x="7459631" y="0"/>
                </a:lnTo>
                <a:lnTo>
                  <a:pt x="7459631" y="4876734"/>
                </a:lnTo>
                <a:lnTo>
                  <a:pt x="0" y="487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 txBox="1"/>
          <p:nvPr/>
        </p:nvSpPr>
        <p:spPr>
          <a:xfrm>
            <a:off x="4974100" y="439725"/>
            <a:ext cx="7677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SUSCRIPCIONES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506316" y="1933575"/>
            <a:ext cx="933785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Azure, el equivalente de una cuenta de AWS es la suscripción de Azure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Las suscripciones de Azure son unidades lógicas de servicios de Azure que están vinculadas a una cuenta de Azure en un entorno de Microsoft Entra.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016577" y="4867275"/>
            <a:ext cx="882759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organizar y controlar el acceso, costos y facturación.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Cada suscripción tiene límites en la cantidad y tipo de recursos que se pueden crear.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factura por suscripción, permitiendo un seguimiento detallado de los costos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08" name="Google Shape;208;p7"/>
          <p:cNvGrpSpPr/>
          <p:nvPr/>
        </p:nvGrpSpPr>
        <p:grpSpPr>
          <a:xfrm>
            <a:off x="17783175" y="247792"/>
            <a:ext cx="504825" cy="700017"/>
            <a:chOff x="0" y="-38100"/>
            <a:chExt cx="132958" cy="184367"/>
          </a:xfrm>
        </p:grpSpPr>
        <p:sp>
          <p:nvSpPr>
            <p:cNvPr id="209" name="Google Shape;209;p7"/>
            <p:cNvSpPr/>
            <p:nvPr/>
          </p:nvSpPr>
          <p:spPr>
            <a:xfrm>
              <a:off x="0" y="0"/>
              <a:ext cx="132958" cy="146267"/>
            </a:xfrm>
            <a:custGeom>
              <a:rect b="b" l="l" r="r" t="t"/>
              <a:pathLst>
                <a:path extrusionOk="0" h="146267" w="132958">
                  <a:moveTo>
                    <a:pt x="0" y="0"/>
                  </a:moveTo>
                  <a:lnTo>
                    <a:pt x="132958" y="0"/>
                  </a:lnTo>
                  <a:lnTo>
                    <a:pt x="132958" y="146267"/>
                  </a:lnTo>
                  <a:lnTo>
                    <a:pt x="0" y="1462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10" name="Google Shape;210;p7"/>
            <p:cNvSpPr txBox="1"/>
            <p:nvPr/>
          </p:nvSpPr>
          <p:spPr>
            <a:xfrm>
              <a:off x="0" y="-38100"/>
              <a:ext cx="132958" cy="184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>
            <a:off x="4682388" y="5357157"/>
            <a:ext cx="8923225" cy="4394688"/>
          </a:xfrm>
          <a:custGeom>
            <a:rect b="b" l="l" r="r" t="t"/>
            <a:pathLst>
              <a:path extrusionOk="0" h="4394688" w="8923225">
                <a:moveTo>
                  <a:pt x="0" y="0"/>
                </a:moveTo>
                <a:lnTo>
                  <a:pt x="8923224" y="0"/>
                </a:lnTo>
                <a:lnTo>
                  <a:pt x="8923224" y="4394689"/>
                </a:lnTo>
                <a:lnTo>
                  <a:pt x="0" y="439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 txBox="1"/>
          <p:nvPr/>
        </p:nvSpPr>
        <p:spPr>
          <a:xfrm>
            <a:off x="1028700" y="504825"/>
            <a:ext cx="127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</a:rPr>
              <a:t>APLICACIÓN</a:t>
            </a: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FUNCIONES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874689" y="1457325"/>
            <a:ext cx="16782995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Todas las funciones que se creen en Azure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deben agrupar en una Functions App.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Cada Function App requiere un plan de hospedaje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(Consumo, Premium o App Service Plan, etc)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 implementar estas soluciones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requiere de una cuenta de almacenamiento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la cuál generará costos.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9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9"/>
          <p:cNvSpPr/>
          <p:nvPr/>
        </p:nvSpPr>
        <p:spPr>
          <a:xfrm>
            <a:off x="1640885" y="3506215"/>
            <a:ext cx="6784892" cy="4545877"/>
          </a:xfrm>
          <a:custGeom>
            <a:rect b="b" l="l" r="r" t="t"/>
            <a:pathLst>
              <a:path extrusionOk="0" h="4545877" w="6784892">
                <a:moveTo>
                  <a:pt x="0" y="0"/>
                </a:moveTo>
                <a:lnTo>
                  <a:pt x="6784892" y="0"/>
                </a:lnTo>
                <a:lnTo>
                  <a:pt x="6784892" y="4545878"/>
                </a:lnTo>
                <a:lnTo>
                  <a:pt x="0" y="454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7" name="Google Shape;227;p9"/>
          <p:cNvGrpSpPr/>
          <p:nvPr/>
        </p:nvGrpSpPr>
        <p:grpSpPr>
          <a:xfrm>
            <a:off x="8858847" y="3643451"/>
            <a:ext cx="731003" cy="760368"/>
            <a:chOff x="0" y="0"/>
            <a:chExt cx="974670" cy="1013824"/>
          </a:xfrm>
        </p:grpSpPr>
        <p:sp>
          <p:nvSpPr>
            <p:cNvPr id="228" name="Google Shape;228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30" name="Google Shape;230;p9"/>
          <p:cNvGrpSpPr/>
          <p:nvPr/>
        </p:nvGrpSpPr>
        <p:grpSpPr>
          <a:xfrm>
            <a:off x="8858847" y="4813999"/>
            <a:ext cx="731003" cy="760368"/>
            <a:chOff x="0" y="0"/>
            <a:chExt cx="974670" cy="1013824"/>
          </a:xfrm>
        </p:grpSpPr>
        <p:sp>
          <p:nvSpPr>
            <p:cNvPr id="231" name="Google Shape;231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33" name="Google Shape;233;p9"/>
          <p:cNvSpPr txBox="1"/>
          <p:nvPr/>
        </p:nvSpPr>
        <p:spPr>
          <a:xfrm>
            <a:off x="9772835" y="3468115"/>
            <a:ext cx="6068420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Sólo se ejecuta cuando hay datos para procesar.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9772835" y="4615856"/>
            <a:ext cx="799536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 se paga por la función cuando no se hace uso de esta.</a:t>
            </a:r>
            <a:endParaRPr/>
          </a:p>
        </p:txBody>
      </p:sp>
      <p:grpSp>
        <p:nvGrpSpPr>
          <p:cNvPr id="235" name="Google Shape;235;p9"/>
          <p:cNvGrpSpPr/>
          <p:nvPr/>
        </p:nvGrpSpPr>
        <p:grpSpPr>
          <a:xfrm>
            <a:off x="8858847" y="5983942"/>
            <a:ext cx="731003" cy="760368"/>
            <a:chOff x="0" y="0"/>
            <a:chExt cx="974670" cy="1013824"/>
          </a:xfrm>
        </p:grpSpPr>
        <p:sp>
          <p:nvSpPr>
            <p:cNvPr id="236" name="Google Shape;236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38" name="Google Shape;238;p9"/>
          <p:cNvSpPr txBox="1"/>
          <p:nvPr/>
        </p:nvSpPr>
        <p:spPr>
          <a:xfrm>
            <a:off x="9772835" y="5785799"/>
            <a:ext cx="8098606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Si la función falla, no afecta a otras instancias de la función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3264750" y="2163063"/>
            <a:ext cx="1412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AZURE FUNCTIONS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0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0"/>
          <p:cNvSpPr/>
          <p:nvPr/>
        </p:nvSpPr>
        <p:spPr>
          <a:xfrm>
            <a:off x="1330767" y="2383466"/>
            <a:ext cx="8132698" cy="5520069"/>
          </a:xfrm>
          <a:custGeom>
            <a:rect b="b" l="l" r="r" t="t"/>
            <a:pathLst>
              <a:path extrusionOk="0" h="5520069" w="8132698">
                <a:moveTo>
                  <a:pt x="0" y="0"/>
                </a:moveTo>
                <a:lnTo>
                  <a:pt x="8132698" y="0"/>
                </a:lnTo>
                <a:lnTo>
                  <a:pt x="8132698" y="5520068"/>
                </a:lnTo>
                <a:lnTo>
                  <a:pt x="0" y="5520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7" name="Google Shape;247;p10"/>
          <p:cNvSpPr txBox="1"/>
          <p:nvPr/>
        </p:nvSpPr>
        <p:spPr>
          <a:xfrm>
            <a:off x="3189151" y="940750"/>
            <a:ext cx="11909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API MANAGEMENT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9663576" y="3152775"/>
            <a:ext cx="759572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APIs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definen mediante Operaciones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(endpoints) que se agrupan en Productos.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APIs se organizan en Secciones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(por ejemplo, backend, frontend) y se configuran mediante políticas XML.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1"/>
          <p:cNvGrpSpPr/>
          <p:nvPr/>
        </p:nvGrpSpPr>
        <p:grpSpPr>
          <a:xfrm>
            <a:off x="756298" y="2205449"/>
            <a:ext cx="731003" cy="760368"/>
            <a:chOff x="0" y="0"/>
            <a:chExt cx="974670" cy="1013824"/>
          </a:xfrm>
        </p:grpSpPr>
        <p:sp>
          <p:nvSpPr>
            <p:cNvPr id="254" name="Google Shape;254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56" name="Google Shape;256;p11"/>
          <p:cNvGrpSpPr/>
          <p:nvPr/>
        </p:nvGrpSpPr>
        <p:grpSpPr>
          <a:xfrm>
            <a:off x="756298" y="4848016"/>
            <a:ext cx="731003" cy="760368"/>
            <a:chOff x="0" y="0"/>
            <a:chExt cx="974670" cy="1013824"/>
          </a:xfrm>
        </p:grpSpPr>
        <p:sp>
          <p:nvSpPr>
            <p:cNvPr id="257" name="Google Shape;257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59" name="Google Shape;259;p11"/>
          <p:cNvSpPr txBox="1"/>
          <p:nvPr/>
        </p:nvSpPr>
        <p:spPr>
          <a:xfrm>
            <a:off x="1670286" y="2039829"/>
            <a:ext cx="9947111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herramientas para monitorizar el uso de las APIs, permitiendo la identificación de patrones de uso y la detección de posibles problemas.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1670286" y="4676566"/>
            <a:ext cx="9359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integra con otros servicios de Azure, como Logic Apps, App Services, y Function Apps</a:t>
            </a:r>
            <a:endParaRPr/>
          </a:p>
        </p:txBody>
      </p:sp>
      <p:grpSp>
        <p:nvGrpSpPr>
          <p:cNvPr id="261" name="Google Shape;261;p11"/>
          <p:cNvGrpSpPr/>
          <p:nvPr/>
        </p:nvGrpSpPr>
        <p:grpSpPr>
          <a:xfrm>
            <a:off x="756298" y="6684640"/>
            <a:ext cx="731003" cy="760368"/>
            <a:chOff x="0" y="0"/>
            <a:chExt cx="974670" cy="1013824"/>
          </a:xfrm>
        </p:grpSpPr>
        <p:sp>
          <p:nvSpPr>
            <p:cNvPr id="262" name="Google Shape;262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64" name="Google Shape;264;p11"/>
          <p:cNvSpPr txBox="1"/>
          <p:nvPr/>
        </p:nvSpPr>
        <p:spPr>
          <a:xfrm>
            <a:off x="1670286" y="6528544"/>
            <a:ext cx="969281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escalar las APIs según las necesidades de la organización, asegurando que puedan soportar grandes volúmenes de tráfico.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3002950" y="810125"/>
            <a:ext cx="1345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API MANAGEMENT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1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1"/>
          <p:cNvSpPr/>
          <p:nvPr/>
        </p:nvSpPr>
        <p:spPr>
          <a:xfrm>
            <a:off x="11896671" y="2614157"/>
            <a:ext cx="5362629" cy="5362629"/>
          </a:xfrm>
          <a:custGeom>
            <a:rect b="b" l="l" r="r" t="t"/>
            <a:pathLst>
              <a:path extrusionOk="0" h="5362629" w="5362629">
                <a:moveTo>
                  <a:pt x="0" y="0"/>
                </a:moveTo>
                <a:lnTo>
                  <a:pt x="5362629" y="0"/>
                </a:lnTo>
                <a:lnTo>
                  <a:pt x="5362629" y="5362629"/>
                </a:lnTo>
                <a:lnTo>
                  <a:pt x="0" y="5362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/>
        </p:nvSpPr>
        <p:spPr>
          <a:xfrm>
            <a:off x="6262710" y="1831519"/>
            <a:ext cx="5955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1251600" y="2878100"/>
            <a:ext cx="157848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E IMPLEMENTACIÓN DE AZURE FUNCTIONS Y API MANAGEMENT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906729" y="2489325"/>
            <a:ext cx="16474500" cy="5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71C6"/>
                </a:solidFill>
                <a:latin typeface="Arial"/>
                <a:ea typeface="Arial"/>
                <a:cs typeface="Arial"/>
                <a:sym typeface="Arial"/>
              </a:rPr>
              <a:t>Proactividad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Anticipar los problemas, como el monitorear el rendimiento de las aplicaciones a través de la implementación de alertas proactivas en los servicios.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Buscar aprender más allá de lo obligatorio.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Tomar la iniciativa en el desarrollo de los proyectos del curso</a:t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3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4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4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4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3865124" y="2672525"/>
            <a:ext cx="774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grpSp>
        <p:nvGrpSpPr>
          <p:cNvPr id="294" name="Google Shape;294;p14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295" name="Google Shape;295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97" name="Google Shape;297;p14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298" name="Google Shape;298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00" name="Google Shape;300;p14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01" name="Google Shape;301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03" name="Google Shape;303;p14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04" name="Google Shape;304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06" name="Google Shape;306;p14"/>
          <p:cNvSpPr txBox="1"/>
          <p:nvPr/>
        </p:nvSpPr>
        <p:spPr>
          <a:xfrm>
            <a:off x="3865123" y="3744000"/>
            <a:ext cx="6576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Suscripciones de Azure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3865121" y="4841875"/>
            <a:ext cx="646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Functions </a:t>
            </a:r>
            <a:endParaRPr/>
          </a:p>
        </p:txBody>
      </p:sp>
      <p:sp>
        <p:nvSpPr>
          <p:cNvPr id="308" name="Google Shape;308;p14"/>
          <p:cNvSpPr txBox="1"/>
          <p:nvPr/>
        </p:nvSpPr>
        <p:spPr>
          <a:xfrm>
            <a:off x="3865129" y="6067154"/>
            <a:ext cx="1128393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Api Management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07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5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317" name="Google Shape;317;p15"/>
          <p:cNvSpPr txBox="1"/>
          <p:nvPr/>
        </p:nvSpPr>
        <p:spPr>
          <a:xfrm>
            <a:off x="7744891" y="1000125"/>
            <a:ext cx="9514409" cy="502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Azure Functions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https://learn.microsoft.com/en-us/azure/azure-functions/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API Management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https://learn.microsoft.com/en-us/azure/api-management/ 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Zimmergren. (s. f.). Organize your Azure resources effectively - Cloud Adoption Framework. Microsoft Learn.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https://learn.microsoft.com/en-us/azure/cloud-adoption-framework/ready/azure-setup-guide/organize-resources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6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6"/>
          <p:cNvSpPr txBox="1"/>
          <p:nvPr/>
        </p:nvSpPr>
        <p:spPr>
          <a:xfrm>
            <a:off x="6621876" y="5086350"/>
            <a:ext cx="44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