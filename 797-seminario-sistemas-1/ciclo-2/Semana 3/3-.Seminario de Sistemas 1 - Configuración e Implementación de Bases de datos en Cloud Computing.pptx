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Hammersmith One"/>
      <p:regular r:id="rId25"/>
    </p:embeddedFont>
    <p:embeddedFont>
      <p:font typeface="Open Sa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gQjUUYNe3qDFIFIYub0HTvbsA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HammersmithOne-regular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5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e Implementación de Bases de datos en Cloud Computing”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4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54200" y="7380150"/>
            <a:ext cx="600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8" name="Google Shape;108;p2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6852876" y="274500"/>
            <a:ext cx="395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3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335952" y="5933228"/>
            <a:ext cx="8986058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Bases de datos en AWS y Azure.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266810" y="6792793"/>
            <a:ext cx="6539828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RDS: Configuración y administración.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2335952" y="7987545"/>
            <a:ext cx="7202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SQL: Servicios de bases de datos en Azure.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9279510" y="2899184"/>
            <a:ext cx="7979790" cy="4488632"/>
          </a:xfrm>
          <a:custGeom>
            <a:rect b="b" l="l" r="r" t="t"/>
            <a:pathLst>
              <a:path extrusionOk="0" h="4488632" w="7979790">
                <a:moveTo>
                  <a:pt x="0" y="0"/>
                </a:moveTo>
                <a:lnTo>
                  <a:pt x="7979790" y="0"/>
                </a:lnTo>
                <a:lnTo>
                  <a:pt x="7979790" y="4488632"/>
                </a:lnTo>
                <a:lnTo>
                  <a:pt x="0" y="448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2091000" y="439725"/>
            <a:ext cx="560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RDS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028700" y="2409825"/>
            <a:ext cx="7272060" cy="543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RDS significa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 de Base de Datos Relacional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es un servicio web que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la configuración, la operación y la escala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una base de datos relacional en Nube de AWS.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una capacidad rentable y de tamaño ajustable para una base de datos relacional estándar y se ocupa de las tareas de administración de bases de datos comunes.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 flipH="1" rot="10800000">
            <a:off x="-540649" y="-165089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028700" y="660625"/>
            <a:ext cx="9550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RDS</a:t>
            </a:r>
            <a:endParaRPr/>
          </a:p>
        </p:txBody>
      </p:sp>
      <p:grpSp>
        <p:nvGrpSpPr>
          <p:cNvPr id="134" name="Google Shape;134;p4"/>
          <p:cNvGrpSpPr/>
          <p:nvPr/>
        </p:nvGrpSpPr>
        <p:grpSpPr>
          <a:xfrm>
            <a:off x="1843243" y="2761984"/>
            <a:ext cx="731003" cy="760368"/>
            <a:chOff x="0" y="0"/>
            <a:chExt cx="974670" cy="1013824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37" name="Google Shape;137;p4"/>
          <p:cNvSpPr txBox="1"/>
          <p:nvPr/>
        </p:nvSpPr>
        <p:spPr>
          <a:xfrm>
            <a:off x="2777525" y="2637343"/>
            <a:ext cx="1353577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una capacidad rentable y escalable para las bases de datos relacionales.</a:t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>
            <a:off x="2208745" y="4516748"/>
            <a:ext cx="731003" cy="760368"/>
            <a:chOff x="0" y="0"/>
            <a:chExt cx="974670" cy="1013824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3143026" y="4144457"/>
            <a:ext cx="13535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 laboriosas tareas de administración, como el aprovisionamiento de hardware, la configuración de la base de datos, la aplicación de parches y copias de seguridad.</a:t>
            </a:r>
            <a:endParaRPr/>
          </a:p>
        </p:txBody>
      </p:sp>
      <p:grpSp>
        <p:nvGrpSpPr>
          <p:cNvPr id="142" name="Google Shape;142;p4"/>
          <p:cNvGrpSpPr/>
          <p:nvPr/>
        </p:nvGrpSpPr>
        <p:grpSpPr>
          <a:xfrm>
            <a:off x="2574246" y="6516998"/>
            <a:ext cx="731003" cy="760368"/>
            <a:chOff x="0" y="0"/>
            <a:chExt cx="974670" cy="1013824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3508527" y="6144707"/>
            <a:ext cx="13535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centrarnos en las aplicaciones y proporcionar el rápido rendimiento, alta disponibilidad, seguridad y compatibilidad que necesitemos.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5"/>
          <p:cNvGrpSpPr/>
          <p:nvPr/>
        </p:nvGrpSpPr>
        <p:grpSpPr>
          <a:xfrm>
            <a:off x="2815723" y="2486379"/>
            <a:ext cx="731003" cy="760368"/>
            <a:chOff x="0" y="0"/>
            <a:chExt cx="974670" cy="1013824"/>
          </a:xfrm>
        </p:grpSpPr>
        <p:sp>
          <p:nvSpPr>
            <p:cNvPr id="151" name="Google Shape;151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53" name="Google Shape;153;p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60" name="Google Shape;160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63" name="Google Shape;163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5"/>
          <p:cNvGrpSpPr/>
          <p:nvPr/>
        </p:nvGrpSpPr>
        <p:grpSpPr>
          <a:xfrm>
            <a:off x="2815723" y="3618222"/>
            <a:ext cx="731003" cy="760368"/>
            <a:chOff x="0" y="0"/>
            <a:chExt cx="974670" cy="1013824"/>
          </a:xfrm>
        </p:grpSpPr>
        <p:sp>
          <p:nvSpPr>
            <p:cNvPr id="166" name="Google Shape;166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68" name="Google Shape;168;p5"/>
          <p:cNvGrpSpPr/>
          <p:nvPr/>
        </p:nvGrpSpPr>
        <p:grpSpPr>
          <a:xfrm>
            <a:off x="2815723" y="4780174"/>
            <a:ext cx="731003" cy="760368"/>
            <a:chOff x="0" y="0"/>
            <a:chExt cx="974670" cy="1013824"/>
          </a:xfrm>
        </p:grpSpPr>
        <p:sp>
          <p:nvSpPr>
            <p:cNvPr id="169" name="Google Shape;169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71" name="Google Shape;171;p5"/>
          <p:cNvGrpSpPr/>
          <p:nvPr/>
        </p:nvGrpSpPr>
        <p:grpSpPr>
          <a:xfrm>
            <a:off x="2815723" y="5810083"/>
            <a:ext cx="731003" cy="760368"/>
            <a:chOff x="0" y="0"/>
            <a:chExt cx="974670" cy="1013824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2815723" y="6941926"/>
            <a:ext cx="731003" cy="760368"/>
            <a:chOff x="0" y="0"/>
            <a:chExt cx="974670" cy="1013824"/>
          </a:xfrm>
        </p:grpSpPr>
        <p:sp>
          <p:nvSpPr>
            <p:cNvPr id="175" name="Google Shape;175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2815723" y="8103878"/>
            <a:ext cx="731003" cy="760368"/>
            <a:chOff x="0" y="0"/>
            <a:chExt cx="974670" cy="1013824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180" name="Google Shape;180;p5"/>
          <p:cNvSpPr/>
          <p:nvPr/>
        </p:nvSpPr>
        <p:spPr>
          <a:xfrm>
            <a:off x="9948548" y="3618222"/>
            <a:ext cx="5523729" cy="3866610"/>
          </a:xfrm>
          <a:custGeom>
            <a:rect b="b" l="l" r="r" t="t"/>
            <a:pathLst>
              <a:path extrusionOk="0" h="3866610" w="5523729">
                <a:moveTo>
                  <a:pt x="0" y="0"/>
                </a:moveTo>
                <a:lnTo>
                  <a:pt x="5523729" y="0"/>
                </a:lnTo>
                <a:lnTo>
                  <a:pt x="5523729" y="3866610"/>
                </a:lnTo>
                <a:lnTo>
                  <a:pt x="0" y="386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3018349" y="729500"/>
            <a:ext cx="10241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Características de RDS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3739459" y="2609388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Administración Sencilla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3739459" y="3741231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Escalabilidad Sencilla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3739459" y="4903183"/>
            <a:ext cx="528407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Disponibilidad y Durabilidad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3739459" y="5933092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Respuesta Rápida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3739459" y="7064935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Alta Seguridad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3739459" y="8226887"/>
            <a:ext cx="27912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Asequibilidad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6"/>
          <p:cNvGrpSpPr/>
          <p:nvPr/>
        </p:nvGrpSpPr>
        <p:grpSpPr>
          <a:xfrm>
            <a:off x="1218032" y="3616419"/>
            <a:ext cx="731003" cy="760368"/>
            <a:chOff x="0" y="0"/>
            <a:chExt cx="974670" cy="1013824"/>
          </a:xfrm>
        </p:grpSpPr>
        <p:sp>
          <p:nvSpPr>
            <p:cNvPr id="193" name="Google Shape;193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95" name="Google Shape;195;p6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96" name="Google Shape;196;p6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99" name="Google Shape;199;p6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6"/>
          <p:cNvGrpSpPr/>
          <p:nvPr/>
        </p:nvGrpSpPr>
        <p:grpSpPr>
          <a:xfrm>
            <a:off x="1218032" y="4748262"/>
            <a:ext cx="731003" cy="760368"/>
            <a:chOff x="0" y="0"/>
            <a:chExt cx="974670" cy="1013824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1218032" y="5910213"/>
            <a:ext cx="731003" cy="760368"/>
            <a:chOff x="0" y="0"/>
            <a:chExt cx="974670" cy="1013824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07" name="Google Shape;207;p6"/>
          <p:cNvSpPr txBox="1"/>
          <p:nvPr/>
        </p:nvSpPr>
        <p:spPr>
          <a:xfrm>
            <a:off x="3973125" y="1244400"/>
            <a:ext cx="931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RDS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2141767" y="3739428"/>
            <a:ext cx="69407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Datos de aplicaciones web y móviles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2141767" y="4623621"/>
            <a:ext cx="839227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Administración de datos sobre juegos online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y para móviles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2141767" y="6033222"/>
            <a:ext cx="730361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Datos de aplicaciones de Comerciales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11735571" y="3195140"/>
            <a:ext cx="5523729" cy="3866610"/>
          </a:xfrm>
          <a:custGeom>
            <a:rect b="b" l="l" r="r" t="t"/>
            <a:pathLst>
              <a:path extrusionOk="0" h="3866610" w="5523729">
                <a:moveTo>
                  <a:pt x="0" y="0"/>
                </a:moveTo>
                <a:lnTo>
                  <a:pt x="5523729" y="0"/>
                </a:lnTo>
                <a:lnTo>
                  <a:pt x="5523729" y="3866611"/>
                </a:lnTo>
                <a:lnTo>
                  <a:pt x="0" y="3866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7"/>
          <p:cNvGrpSpPr/>
          <p:nvPr/>
        </p:nvGrpSpPr>
        <p:grpSpPr>
          <a:xfrm>
            <a:off x="1912247" y="884039"/>
            <a:ext cx="388125" cy="2538611"/>
            <a:chOff x="0" y="-38100"/>
            <a:chExt cx="102222" cy="668605"/>
          </a:xfrm>
        </p:grpSpPr>
        <p:sp>
          <p:nvSpPr>
            <p:cNvPr id="217" name="Google Shape;217;p7"/>
            <p:cNvSpPr/>
            <p:nvPr/>
          </p:nvSpPr>
          <p:spPr>
            <a:xfrm>
              <a:off x="0" y="0"/>
              <a:ext cx="102222" cy="630505"/>
            </a:xfrm>
            <a:custGeom>
              <a:rect b="b" l="l" r="r" t="t"/>
              <a:pathLst>
                <a:path extrusionOk="0" h="630505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630505"/>
                  </a:lnTo>
                  <a:lnTo>
                    <a:pt x="0" y="630505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7"/>
            <p:cNvSpPr txBox="1"/>
            <p:nvPr/>
          </p:nvSpPr>
          <p:spPr>
            <a:xfrm>
              <a:off x="0" y="-38100"/>
              <a:ext cx="102222" cy="668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7"/>
          <p:cNvSpPr/>
          <p:nvPr/>
        </p:nvSpPr>
        <p:spPr>
          <a:xfrm>
            <a:off x="9144000" y="1764757"/>
            <a:ext cx="6189492" cy="6189492"/>
          </a:xfrm>
          <a:custGeom>
            <a:rect b="b" l="l" r="r" t="t"/>
            <a:pathLst>
              <a:path extrusionOk="0" h="6189492" w="6189492">
                <a:moveTo>
                  <a:pt x="0" y="0"/>
                </a:moveTo>
                <a:lnTo>
                  <a:pt x="6189492" y="0"/>
                </a:lnTo>
                <a:lnTo>
                  <a:pt x="6189492" y="6189491"/>
                </a:lnTo>
                <a:lnTo>
                  <a:pt x="0" y="6189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2617188" y="884050"/>
            <a:ext cx="6526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Motores de bases de datos acepta AWS RDS?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2106310" y="3997458"/>
            <a:ext cx="6454777" cy="4522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Postgres</a:t>
            </a:r>
            <a:endParaRPr/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/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/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endParaRPr/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 SQL Server</a:t>
            </a:r>
            <a:endParaRPr/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Aurora (base de datos propia de AWS)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8"/>
          <p:cNvGrpSpPr/>
          <p:nvPr/>
        </p:nvGrpSpPr>
        <p:grpSpPr>
          <a:xfrm>
            <a:off x="0" y="8753472"/>
            <a:ext cx="9144000" cy="1533528"/>
            <a:chOff x="0" y="-38100"/>
            <a:chExt cx="2408296" cy="403892"/>
          </a:xfrm>
        </p:grpSpPr>
        <p:sp>
          <p:nvSpPr>
            <p:cNvPr id="230" name="Google Shape;230;p8"/>
            <p:cNvSpPr/>
            <p:nvPr/>
          </p:nvSpPr>
          <p:spPr>
            <a:xfrm>
              <a:off x="0" y="0"/>
              <a:ext cx="2408296" cy="365792"/>
            </a:xfrm>
            <a:custGeom>
              <a:rect b="b" l="l" r="r" t="t"/>
              <a:pathLst>
                <a:path extrusionOk="0" h="365792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65792"/>
                  </a:lnTo>
                  <a:lnTo>
                    <a:pt x="0" y="36579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 txBox="1"/>
            <p:nvPr/>
          </p:nvSpPr>
          <p:spPr>
            <a:xfrm>
              <a:off x="0" y="-38100"/>
              <a:ext cx="2408296" cy="403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8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33" name="Google Shape;233;p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8"/>
          <p:cNvSpPr txBox="1"/>
          <p:nvPr/>
        </p:nvSpPr>
        <p:spPr>
          <a:xfrm>
            <a:off x="807813" y="2167615"/>
            <a:ext cx="15933979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 diferencia de desplegar una DB en EC2, RDS es un servicio gestionado que permite: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Aprovisionamiento automatizado, parcheo del SO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Copias de seguridad continuas y restauración a una fecha determinada (Point in Time Restore)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Dashboards de monitorización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Configuración multi AZ para DR (Disaster Recovery)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Ventanas de mantenimiento para actualizaciones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Capacidad de escalado (vertical y horizontal)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1078239" y="4475355"/>
            <a:ext cx="6922610" cy="4422779"/>
          </a:xfrm>
          <a:custGeom>
            <a:rect b="b" l="l" r="r" t="t"/>
            <a:pathLst>
              <a:path extrusionOk="0" h="4422779" w="6922610">
                <a:moveTo>
                  <a:pt x="0" y="0"/>
                </a:moveTo>
                <a:lnTo>
                  <a:pt x="6922610" y="0"/>
                </a:lnTo>
                <a:lnTo>
                  <a:pt x="6922610" y="4422778"/>
                </a:lnTo>
                <a:lnTo>
                  <a:pt x="0" y="4422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3264243" y="408309"/>
            <a:ext cx="1205613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 sobre el uso de RDS frente al despliegue de la BD en EC2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9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43" name="Google Shape;243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9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46" name="Google Shape;246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9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49" name="Google Shape;249;p9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9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52" name="Google Shape;252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9"/>
          <p:cNvSpPr/>
          <p:nvPr/>
        </p:nvSpPr>
        <p:spPr>
          <a:xfrm>
            <a:off x="2274507" y="2106433"/>
            <a:ext cx="14043268" cy="6074134"/>
          </a:xfrm>
          <a:custGeom>
            <a:rect b="b" l="l" r="r" t="t"/>
            <a:pathLst>
              <a:path extrusionOk="0" h="6074134" w="14043268">
                <a:moveTo>
                  <a:pt x="0" y="0"/>
                </a:moveTo>
                <a:lnTo>
                  <a:pt x="14043269" y="0"/>
                </a:lnTo>
                <a:lnTo>
                  <a:pt x="14043269" y="6074134"/>
                </a:lnTo>
                <a:lnTo>
                  <a:pt x="0" y="6074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9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3403325" y="593725"/>
            <a:ext cx="1176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Ejemplo de una arquitectura con RDS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0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61" name="Google Shape;261;p10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64" name="Google Shape;264;p10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0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267" name="Google Shape;267;p10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0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70" name="Google Shape;270;p10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0"/>
          <p:cNvSpPr/>
          <p:nvPr/>
        </p:nvSpPr>
        <p:spPr>
          <a:xfrm>
            <a:off x="2019663" y="3430540"/>
            <a:ext cx="4605005" cy="4075429"/>
          </a:xfrm>
          <a:custGeom>
            <a:rect b="b" l="l" r="r" t="t"/>
            <a:pathLst>
              <a:path extrusionOk="0" h="4075429" w="4605005">
                <a:moveTo>
                  <a:pt x="0" y="0"/>
                </a:moveTo>
                <a:lnTo>
                  <a:pt x="4605005" y="0"/>
                </a:lnTo>
                <a:lnTo>
                  <a:pt x="4605005" y="4075430"/>
                </a:lnTo>
                <a:lnTo>
                  <a:pt x="0" y="4075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9606851" y="704168"/>
            <a:ext cx="476687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Aurora</a:t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7115712" y="2486930"/>
            <a:ext cx="9749148" cy="593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Aurora es una tecnología propietaria de AWS para bases de datos relacional compatible con MySQL y PostgreSQL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Está "optimizada para el Cloud de AWS" y afirma que mejora 5 veces el rendimiento de MySQL en RDS, y más de 3 veces el rendimiento de Postgres en RDS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almacenamiento de Aurora crece automáticamente en incrementos de 10 GB en 10GB, hasta 128 TB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9806115" y="1507443"/>
            <a:ext cx="4368341" cy="402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*No está en la capa gratuita</a:t>
            </a:r>
            <a:endParaRPr/>
          </a:p>
        </p:txBody>
      </p:sp>
      <p:cxnSp>
        <p:nvCxnSpPr>
          <p:cNvPr id="276" name="Google Shape;276;p10"/>
          <p:cNvCxnSpPr/>
          <p:nvPr/>
        </p:nvCxnSpPr>
        <p:spPr>
          <a:xfrm>
            <a:off x="9668508" y="1516968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11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82" name="Google Shape;282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85" name="Google Shape;285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88" name="Google Shape;288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91" name="Google Shape;291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1"/>
          <p:cNvSpPr/>
          <p:nvPr/>
        </p:nvSpPr>
        <p:spPr>
          <a:xfrm>
            <a:off x="1288371" y="2856190"/>
            <a:ext cx="15711257" cy="3967092"/>
          </a:xfrm>
          <a:custGeom>
            <a:rect b="b" l="l" r="r" t="t"/>
            <a:pathLst>
              <a:path extrusionOk="0" h="3967092" w="15711257">
                <a:moveTo>
                  <a:pt x="0" y="0"/>
                </a:moveTo>
                <a:lnTo>
                  <a:pt x="15711258" y="0"/>
                </a:lnTo>
                <a:lnTo>
                  <a:pt x="15711258" y="3967092"/>
                </a:lnTo>
                <a:lnTo>
                  <a:pt x="0" y="3967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3480325" y="642000"/>
            <a:ext cx="1075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¿Quiénes utilizan Amazon Aurora?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12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300" name="Google Shape;300;p12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2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303" name="Google Shape;303;p12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2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12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306" name="Google Shape;306;p12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2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2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309" name="Google Shape;309;p12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2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12"/>
          <p:cNvSpPr/>
          <p:nvPr/>
        </p:nvSpPr>
        <p:spPr>
          <a:xfrm>
            <a:off x="1147575" y="3302329"/>
            <a:ext cx="6362577" cy="3682342"/>
          </a:xfrm>
          <a:custGeom>
            <a:rect b="b" l="l" r="r" t="t"/>
            <a:pathLst>
              <a:path extrusionOk="0" h="3682342" w="6362577">
                <a:moveTo>
                  <a:pt x="0" y="0"/>
                </a:moveTo>
                <a:lnTo>
                  <a:pt x="6362577" y="0"/>
                </a:lnTo>
                <a:lnTo>
                  <a:pt x="6362577" y="3682342"/>
                </a:lnTo>
                <a:lnTo>
                  <a:pt x="0" y="3682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 txBox="1"/>
          <p:nvPr/>
        </p:nvSpPr>
        <p:spPr>
          <a:xfrm>
            <a:off x="8572798" y="547550"/>
            <a:ext cx="696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DynamoDB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7604818" y="1914525"/>
            <a:ext cx="9749148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base de datos NoSQL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ofrece un rendimiento de milisegundos en cualquier escala.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DynamoDB p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uede manejar mas de 10 billones de solicitudes por día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puede soportar picos de mas de 20 millones de solicitudes por segundo.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base de datos duradera, multiregional, multiactiva y totalmente administrada con seguridad integrada, respaldo y restauración y almacenamiento en cache en memoria para aplicaciones.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3"/>
          <p:cNvGrpSpPr/>
          <p:nvPr/>
        </p:nvGrpSpPr>
        <p:grpSpPr>
          <a:xfrm>
            <a:off x="2636412" y="3616419"/>
            <a:ext cx="731003" cy="760368"/>
            <a:chOff x="0" y="0"/>
            <a:chExt cx="974670" cy="1013824"/>
          </a:xfrm>
        </p:grpSpPr>
        <p:sp>
          <p:nvSpPr>
            <p:cNvPr id="319" name="Google Shape;319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21" name="Google Shape;321;p1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22" name="Google Shape;322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25" name="Google Shape;325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28" name="Google Shape;328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31" name="Google Shape;331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2636412" y="4748262"/>
            <a:ext cx="731003" cy="760368"/>
            <a:chOff x="0" y="0"/>
            <a:chExt cx="974670" cy="1013824"/>
          </a:xfrm>
        </p:grpSpPr>
        <p:sp>
          <p:nvSpPr>
            <p:cNvPr id="334" name="Google Shape;334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36" name="Google Shape;336;p13"/>
          <p:cNvGrpSpPr/>
          <p:nvPr/>
        </p:nvGrpSpPr>
        <p:grpSpPr>
          <a:xfrm>
            <a:off x="2636412" y="5910213"/>
            <a:ext cx="731003" cy="760368"/>
            <a:chOff x="0" y="0"/>
            <a:chExt cx="974670" cy="1013824"/>
          </a:xfrm>
        </p:grpSpPr>
        <p:sp>
          <p:nvSpPr>
            <p:cNvPr id="337" name="Google Shape;337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39" name="Google Shape;339;p13"/>
          <p:cNvSpPr/>
          <p:nvPr/>
        </p:nvSpPr>
        <p:spPr>
          <a:xfrm>
            <a:off x="9214037" y="2486379"/>
            <a:ext cx="6812102" cy="6233073"/>
          </a:xfrm>
          <a:custGeom>
            <a:rect b="b" l="l" r="r" t="t"/>
            <a:pathLst>
              <a:path extrusionOk="0" h="6233073" w="6812102">
                <a:moveTo>
                  <a:pt x="0" y="0"/>
                </a:moveTo>
                <a:lnTo>
                  <a:pt x="6812101" y="0"/>
                </a:lnTo>
                <a:lnTo>
                  <a:pt x="6812101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2064625" y="1005675"/>
            <a:ext cx="1305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Características de DynamoDB</a:t>
            </a:r>
            <a:endParaRPr/>
          </a:p>
        </p:txBody>
      </p:sp>
      <p:sp>
        <p:nvSpPr>
          <p:cNvPr id="341" name="Google Shape;341;p13"/>
          <p:cNvSpPr txBox="1"/>
          <p:nvPr/>
        </p:nvSpPr>
        <p:spPr>
          <a:xfrm>
            <a:off x="3560147" y="3739428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Desempeño a escala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3560147" y="4871271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administrar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3560147" y="6033222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4"/>
          <p:cNvGrpSpPr/>
          <p:nvPr/>
        </p:nvGrpSpPr>
        <p:grpSpPr>
          <a:xfrm>
            <a:off x="2985126" y="1971042"/>
            <a:ext cx="731003" cy="760368"/>
            <a:chOff x="0" y="0"/>
            <a:chExt cx="974670" cy="1013824"/>
          </a:xfrm>
        </p:grpSpPr>
        <p:sp>
          <p:nvSpPr>
            <p:cNvPr id="349" name="Google Shape;349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51" name="Google Shape;351;p14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352" name="Google Shape;352;p14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4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355" name="Google Shape;355;p14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4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4"/>
          <p:cNvGrpSpPr/>
          <p:nvPr/>
        </p:nvGrpSpPr>
        <p:grpSpPr>
          <a:xfrm>
            <a:off x="2985126" y="3102885"/>
            <a:ext cx="731003" cy="760368"/>
            <a:chOff x="0" y="0"/>
            <a:chExt cx="974670" cy="1013824"/>
          </a:xfrm>
        </p:grpSpPr>
        <p:sp>
          <p:nvSpPr>
            <p:cNvPr id="358" name="Google Shape;358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60" name="Google Shape;360;p14"/>
          <p:cNvGrpSpPr/>
          <p:nvPr/>
        </p:nvGrpSpPr>
        <p:grpSpPr>
          <a:xfrm>
            <a:off x="2985126" y="4264836"/>
            <a:ext cx="731003" cy="760368"/>
            <a:chOff x="0" y="0"/>
            <a:chExt cx="974670" cy="1013824"/>
          </a:xfrm>
        </p:grpSpPr>
        <p:sp>
          <p:nvSpPr>
            <p:cNvPr id="361" name="Google Shape;361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63" name="Google Shape;363;p14"/>
          <p:cNvSpPr txBox="1"/>
          <p:nvPr/>
        </p:nvSpPr>
        <p:spPr>
          <a:xfrm>
            <a:off x="2848950" y="497225"/>
            <a:ext cx="1285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DynamoDB</a:t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3908862" y="2094051"/>
            <a:ext cx="446364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Tecnología publicitaria</a:t>
            </a:r>
            <a:endParaRPr/>
          </a:p>
        </p:txBody>
      </p:sp>
      <p:sp>
        <p:nvSpPr>
          <p:cNvPr id="365" name="Google Shape;365;p14"/>
          <p:cNvSpPr txBox="1"/>
          <p:nvPr/>
        </p:nvSpPr>
        <p:spPr>
          <a:xfrm>
            <a:off x="3908862" y="3225894"/>
            <a:ext cx="260188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Video Juegos</a:t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3908862" y="4387845"/>
            <a:ext cx="384831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 al por menor</a:t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9214037" y="2486379"/>
            <a:ext cx="6812102" cy="6233073"/>
          </a:xfrm>
          <a:custGeom>
            <a:rect b="b" l="l" r="r" t="t"/>
            <a:pathLst>
              <a:path extrusionOk="0" h="6233073" w="6812102">
                <a:moveTo>
                  <a:pt x="0" y="0"/>
                </a:moveTo>
                <a:lnTo>
                  <a:pt x="6812101" y="0"/>
                </a:lnTo>
                <a:lnTo>
                  <a:pt x="6812101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14"/>
          <p:cNvGrpSpPr/>
          <p:nvPr/>
        </p:nvGrpSpPr>
        <p:grpSpPr>
          <a:xfrm>
            <a:off x="2985126" y="5425254"/>
            <a:ext cx="731003" cy="760368"/>
            <a:chOff x="0" y="0"/>
            <a:chExt cx="974670" cy="1013824"/>
          </a:xfrm>
        </p:grpSpPr>
        <p:sp>
          <p:nvSpPr>
            <p:cNvPr id="369" name="Google Shape;369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71" name="Google Shape;371;p14"/>
          <p:cNvSpPr txBox="1"/>
          <p:nvPr/>
        </p:nvSpPr>
        <p:spPr>
          <a:xfrm>
            <a:off x="3908862" y="5548263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Medios y entretenimiento</a:t>
            </a:r>
            <a:endParaRPr/>
          </a:p>
        </p:txBody>
      </p:sp>
      <p:grpSp>
        <p:nvGrpSpPr>
          <p:cNvPr id="372" name="Google Shape;372;p14"/>
          <p:cNvGrpSpPr/>
          <p:nvPr/>
        </p:nvGrpSpPr>
        <p:grpSpPr>
          <a:xfrm>
            <a:off x="2989443" y="6585672"/>
            <a:ext cx="731003" cy="760368"/>
            <a:chOff x="0" y="0"/>
            <a:chExt cx="974670" cy="1013824"/>
          </a:xfrm>
        </p:grpSpPr>
        <p:sp>
          <p:nvSpPr>
            <p:cNvPr id="373" name="Google Shape;373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75" name="Google Shape;375;p14"/>
          <p:cNvSpPr txBox="1"/>
          <p:nvPr/>
        </p:nvSpPr>
        <p:spPr>
          <a:xfrm>
            <a:off x="3913178" y="6708681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Software e internet</a:t>
            </a:r>
            <a:endParaRPr/>
          </a:p>
        </p:txBody>
      </p:sp>
      <p:grpSp>
        <p:nvGrpSpPr>
          <p:cNvPr id="376" name="Google Shape;376;p14"/>
          <p:cNvGrpSpPr/>
          <p:nvPr/>
        </p:nvGrpSpPr>
        <p:grpSpPr>
          <a:xfrm>
            <a:off x="2985126" y="7555590"/>
            <a:ext cx="731003" cy="760368"/>
            <a:chOff x="0" y="0"/>
            <a:chExt cx="974670" cy="1013824"/>
          </a:xfrm>
        </p:grpSpPr>
        <p:sp>
          <p:nvSpPr>
            <p:cNvPr id="377" name="Google Shape;377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379" name="Google Shape;379;p14"/>
          <p:cNvSpPr txBox="1"/>
          <p:nvPr/>
        </p:nvSpPr>
        <p:spPr>
          <a:xfrm>
            <a:off x="3908862" y="7678599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Banca y finanzas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15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385" name="Google Shape;385;p15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15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388" name="Google Shape;388;p15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5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391" name="Google Shape;391;p15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15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394" name="Google Shape;394;p15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5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15"/>
          <p:cNvSpPr txBox="1"/>
          <p:nvPr/>
        </p:nvSpPr>
        <p:spPr>
          <a:xfrm>
            <a:off x="6839603" y="1666875"/>
            <a:ext cx="11090246" cy="741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motor de base de datos de plataforma como servicio (PaaS) totalmente administrado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se encarga de la mayoría de las funciones de administración de bases de datos, como actualizar, aplicar revisiones, crear copias de seguridad y supervisar sin intervención del usuario.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Admite todas las ediciones de SQL Server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incluidas Enterprise, Standard y Express, y proporciona muchas funciones y beneficios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usar características avanzadas de procesamiento de consultas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como las tecnologías en memoria de alto rendimiento y el procesamiento de consultas inteligent</a:t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2371104" y="2578858"/>
            <a:ext cx="3861816" cy="5129284"/>
          </a:xfrm>
          <a:custGeom>
            <a:rect b="b" l="l" r="r" t="t"/>
            <a:pathLst>
              <a:path extrusionOk="0" h="5129284" w="3861816">
                <a:moveTo>
                  <a:pt x="0" y="0"/>
                </a:moveTo>
                <a:lnTo>
                  <a:pt x="3861816" y="0"/>
                </a:lnTo>
                <a:lnTo>
                  <a:pt x="3861816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9144000" y="593725"/>
            <a:ext cx="6975738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SQLDatabase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6"/>
          <p:cNvGrpSpPr/>
          <p:nvPr/>
        </p:nvGrpSpPr>
        <p:grpSpPr>
          <a:xfrm>
            <a:off x="2632183" y="2943988"/>
            <a:ext cx="731003" cy="760368"/>
            <a:chOff x="0" y="0"/>
            <a:chExt cx="974670" cy="1013824"/>
          </a:xfrm>
        </p:grpSpPr>
        <p:sp>
          <p:nvSpPr>
            <p:cNvPr id="404" name="Google Shape;404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406" name="Google Shape;406;p1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07" name="Google Shape;407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1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10" name="Google Shape;410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1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13" name="Google Shape;413;p1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1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16" name="Google Shape;416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6"/>
          <p:cNvGrpSpPr/>
          <p:nvPr/>
        </p:nvGrpSpPr>
        <p:grpSpPr>
          <a:xfrm>
            <a:off x="2632183" y="4075831"/>
            <a:ext cx="731003" cy="760368"/>
            <a:chOff x="0" y="0"/>
            <a:chExt cx="974670" cy="1013824"/>
          </a:xfrm>
        </p:grpSpPr>
        <p:sp>
          <p:nvSpPr>
            <p:cNvPr id="419" name="Google Shape;419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421" name="Google Shape;421;p16"/>
          <p:cNvGrpSpPr/>
          <p:nvPr/>
        </p:nvGrpSpPr>
        <p:grpSpPr>
          <a:xfrm>
            <a:off x="2632183" y="5237783"/>
            <a:ext cx="731003" cy="760368"/>
            <a:chOff x="0" y="0"/>
            <a:chExt cx="974670" cy="1013824"/>
          </a:xfrm>
        </p:grpSpPr>
        <p:sp>
          <p:nvSpPr>
            <p:cNvPr id="422" name="Google Shape;42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424" name="Google Shape;424;p16"/>
          <p:cNvSpPr txBox="1"/>
          <p:nvPr/>
        </p:nvSpPr>
        <p:spPr>
          <a:xfrm>
            <a:off x="1843275" y="1183325"/>
            <a:ext cx="1441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o Beneficios de Azure SQLDatabase</a:t>
            </a:r>
            <a:endParaRPr/>
          </a:p>
        </p:txBody>
      </p:sp>
      <p:sp>
        <p:nvSpPr>
          <p:cNvPr id="425" name="Google Shape;425;p16"/>
          <p:cNvSpPr txBox="1"/>
          <p:nvPr/>
        </p:nvSpPr>
        <p:spPr>
          <a:xfrm>
            <a:off x="3555918" y="3066997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Desempeño a escala</a:t>
            </a:r>
            <a:endParaRPr/>
          </a:p>
        </p:txBody>
      </p:sp>
      <p:sp>
        <p:nvSpPr>
          <p:cNvPr id="426" name="Google Shape;426;p16"/>
          <p:cNvSpPr txBox="1"/>
          <p:nvPr/>
        </p:nvSpPr>
        <p:spPr>
          <a:xfrm>
            <a:off x="3555918" y="4198840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administrar</a:t>
            </a:r>
            <a:endParaRPr/>
          </a:p>
        </p:txBody>
      </p:sp>
      <p:sp>
        <p:nvSpPr>
          <p:cNvPr id="427" name="Google Shape;427;p16"/>
          <p:cNvSpPr txBox="1"/>
          <p:nvPr/>
        </p:nvSpPr>
        <p:spPr>
          <a:xfrm>
            <a:off x="3555918" y="5360792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11696738" y="2943988"/>
            <a:ext cx="3861816" cy="5129284"/>
          </a:xfrm>
          <a:custGeom>
            <a:rect b="b" l="l" r="r" t="t"/>
            <a:pathLst>
              <a:path extrusionOk="0" h="5129284" w="3861816">
                <a:moveTo>
                  <a:pt x="0" y="0"/>
                </a:moveTo>
                <a:lnTo>
                  <a:pt x="3861816" y="0"/>
                </a:lnTo>
                <a:lnTo>
                  <a:pt x="3861816" y="5129283"/>
                </a:lnTo>
                <a:lnTo>
                  <a:pt x="0" y="5129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9" name="Google Shape;429;p16"/>
          <p:cNvGrpSpPr/>
          <p:nvPr/>
        </p:nvGrpSpPr>
        <p:grpSpPr>
          <a:xfrm>
            <a:off x="2632183" y="6522026"/>
            <a:ext cx="731003" cy="760368"/>
            <a:chOff x="0" y="0"/>
            <a:chExt cx="974670" cy="1013824"/>
          </a:xfrm>
        </p:grpSpPr>
        <p:sp>
          <p:nvSpPr>
            <p:cNvPr id="430" name="Google Shape;430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32" name="Google Shape;432;p16"/>
          <p:cNvSpPr txBox="1"/>
          <p:nvPr/>
        </p:nvSpPr>
        <p:spPr>
          <a:xfrm>
            <a:off x="3555918" y="6645035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17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38" name="Google Shape;438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17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41" name="Google Shape;441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" name="Google Shape;443;p17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44" name="Google Shape;444;p17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7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7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47" name="Google Shape;447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17"/>
          <p:cNvSpPr/>
          <p:nvPr/>
        </p:nvSpPr>
        <p:spPr>
          <a:xfrm>
            <a:off x="1692566" y="2780424"/>
            <a:ext cx="14902869" cy="3818860"/>
          </a:xfrm>
          <a:custGeom>
            <a:rect b="b" l="l" r="r" t="t"/>
            <a:pathLst>
              <a:path extrusionOk="0" h="3818860" w="14902869">
                <a:moveTo>
                  <a:pt x="0" y="0"/>
                </a:moveTo>
                <a:lnTo>
                  <a:pt x="14902868" y="0"/>
                </a:lnTo>
                <a:lnTo>
                  <a:pt x="14902868" y="3818860"/>
                </a:lnTo>
                <a:lnTo>
                  <a:pt x="0" y="3818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2587151" y="971550"/>
            <a:ext cx="1207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¿Quiénes utilizan Amazon DynamoDB?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"/>
          <p:cNvSpPr txBox="1"/>
          <p:nvPr/>
        </p:nvSpPr>
        <p:spPr>
          <a:xfrm>
            <a:off x="6166085" y="1542210"/>
            <a:ext cx="5955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/>
          </a:p>
        </p:txBody>
      </p:sp>
      <p:sp>
        <p:nvSpPr>
          <p:cNvPr id="456" name="Google Shape;456;p18"/>
          <p:cNvSpPr txBox="1"/>
          <p:nvPr/>
        </p:nvSpPr>
        <p:spPr>
          <a:xfrm>
            <a:off x="2162609" y="2588798"/>
            <a:ext cx="13962900" cy="5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CREACIÓN, CONFIGURACIÓN E IMPLEMENTACIÓN DE UNA BASE DE DATOS RELACIONAL DESPLEGADA EN LA NUBE</a:t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 txBox="1"/>
          <p:nvPr/>
        </p:nvSpPr>
        <p:spPr>
          <a:xfrm>
            <a:off x="7187774" y="5086350"/>
            <a:ext cx="4254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