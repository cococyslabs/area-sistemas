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Hammersmith One"/>
      <p:regular r:id="rId28"/>
    </p:embeddedFont>
    <p:embeddedFont>
      <p:font typeface="Open Sans"/>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VI5Vca2g20FxXKJMlDKVnQy9q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ammersmithOn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3252288" y="201103"/>
            <a:ext cx="4684163" cy="1457826"/>
          </a:xfrm>
          <a:custGeom>
            <a:rect b="b" l="l" r="r" t="t"/>
            <a:pathLst>
              <a:path extrusionOk="0" h="1457826" w="4684163">
                <a:moveTo>
                  <a:pt x="0" y="0"/>
                </a:moveTo>
                <a:lnTo>
                  <a:pt x="4684163" y="0"/>
                </a:lnTo>
                <a:lnTo>
                  <a:pt x="4684163" y="1457827"/>
                </a:lnTo>
                <a:lnTo>
                  <a:pt x="0" y="1457827"/>
                </a:lnTo>
                <a:lnTo>
                  <a:pt x="0" y="0"/>
                </a:lnTo>
                <a:close/>
              </a:path>
            </a:pathLst>
          </a:custGeom>
          <a:blipFill rotWithShape="1">
            <a:blip r:embed="rId3">
              <a:alphaModFix/>
            </a:blip>
            <a:stretch>
              <a:fillRect b="0" l="0" r="0" t="0"/>
            </a:stretch>
          </a:blipFill>
          <a:ln>
            <a:noFill/>
          </a:ln>
        </p:spPr>
      </p:sp>
      <p:cxnSp>
        <p:nvCxnSpPr>
          <p:cNvPr id="85" name="Google Shape;85;p1"/>
          <p:cNvCxnSpPr/>
          <p:nvPr/>
        </p:nvCxnSpPr>
        <p:spPr>
          <a:xfrm>
            <a:off x="507314" y="8149956"/>
            <a:ext cx="6492240" cy="0"/>
          </a:xfrm>
          <a:prstGeom prst="straightConnector1">
            <a:avLst/>
          </a:prstGeom>
          <a:noFill/>
          <a:ln cap="flat" cmpd="sng" w="38100">
            <a:solidFill>
              <a:srgbClr val="121F39"/>
            </a:solidFill>
            <a:prstDash val="solid"/>
            <a:round/>
            <a:headEnd len="sm" w="sm" type="none"/>
            <a:tailEnd len="sm" w="sm" type="none"/>
          </a:ln>
        </p:spPr>
      </p:cxnSp>
      <p:sp>
        <p:nvSpPr>
          <p:cNvPr id="86" name="Google Shape;86;p1"/>
          <p:cNvSpPr/>
          <p:nvPr/>
        </p:nvSpPr>
        <p:spPr>
          <a:xfrm flipH="1" rot="5679621">
            <a:off x="7710161" y="1015520"/>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87" name="Google Shape;87;p1"/>
          <p:cNvSpPr txBox="1"/>
          <p:nvPr/>
        </p:nvSpPr>
        <p:spPr>
          <a:xfrm>
            <a:off x="1669741" y="2766935"/>
            <a:ext cx="15132474" cy="185737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6000" u="none" cap="none" strike="noStrike">
                <a:solidFill>
                  <a:srgbClr val="29303C"/>
                </a:solidFill>
                <a:latin typeface="Hammersmith One"/>
                <a:ea typeface="Hammersmith One"/>
                <a:cs typeface="Hammersmith One"/>
                <a:sym typeface="Hammersmith One"/>
              </a:rPr>
              <a:t>UNIDAD 11</a:t>
            </a:r>
            <a:endParaRPr/>
          </a:p>
          <a:p>
            <a:pPr indent="0" lvl="0" marL="0" marR="0" rtl="0" algn="ctr">
              <a:lnSpc>
                <a:spcPct val="139977"/>
              </a:lnSpc>
              <a:spcBef>
                <a:spcPts val="0"/>
              </a:spcBef>
              <a:spcAft>
                <a:spcPts val="0"/>
              </a:spcAft>
              <a:buNone/>
            </a:pPr>
            <a:r>
              <a:rPr b="0" i="0" lang="en-US" sz="4500" u="none" cap="none" strike="noStrike">
                <a:solidFill>
                  <a:srgbClr val="29303C"/>
                </a:solidFill>
                <a:latin typeface="Hammersmith One"/>
                <a:ea typeface="Hammersmith One"/>
                <a:cs typeface="Hammersmith One"/>
                <a:sym typeface="Hammersmith One"/>
              </a:rPr>
              <a:t>“Desarrollo de aplicaciones con Docker”</a:t>
            </a:r>
            <a:endParaRPr/>
          </a:p>
        </p:txBody>
      </p:sp>
      <p:sp>
        <p:nvSpPr>
          <p:cNvPr id="88" name="Google Shape;88;p1"/>
          <p:cNvSpPr txBox="1"/>
          <p:nvPr/>
        </p:nvSpPr>
        <p:spPr>
          <a:xfrm>
            <a:off x="507314" y="8207106"/>
            <a:ext cx="4887216" cy="131394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Escuela de Ingenieria de Ciencias y Sistemas</a:t>
            </a:r>
            <a:endParaRPr/>
          </a:p>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Facultad de Ingenieria</a:t>
            </a:r>
            <a:endParaRPr/>
          </a:p>
          <a:p>
            <a:pPr indent="0" lvl="0" marL="0" marR="0" rtl="0" algn="l">
              <a:lnSpc>
                <a:spcPct val="140021"/>
              </a:lnSpc>
              <a:spcBef>
                <a:spcPts val="0"/>
              </a:spcBef>
              <a:spcAft>
                <a:spcPts val="0"/>
              </a:spcAft>
              <a:buNone/>
            </a:pPr>
            <a:r>
              <a:rPr b="0" i="0" lang="en-US" sz="1894" u="none" cap="none" strike="noStrike">
                <a:solidFill>
                  <a:srgbClr val="29303C"/>
                </a:solidFill>
                <a:latin typeface="Arial"/>
                <a:ea typeface="Arial"/>
                <a:cs typeface="Arial"/>
                <a:sym typeface="Arial"/>
              </a:rPr>
              <a:t>Universidad de San Carlos de Guatemala</a:t>
            </a:r>
            <a:endParaRPr/>
          </a:p>
          <a:p>
            <a:pPr indent="0" lvl="0" marL="0" marR="0" rtl="0" algn="l">
              <a:lnSpc>
                <a:spcPct val="140021"/>
              </a:lnSpc>
              <a:spcBef>
                <a:spcPts val="0"/>
              </a:spcBef>
              <a:spcAft>
                <a:spcPts val="0"/>
              </a:spcAft>
              <a:buNone/>
            </a:pPr>
            <a:r>
              <a:t/>
            </a:r>
            <a:endParaRPr b="0" i="0" sz="1894" u="none" cap="none" strike="noStrike">
              <a:solidFill>
                <a:srgbClr val="29303C"/>
              </a:solidFill>
              <a:latin typeface="Arial"/>
              <a:ea typeface="Arial"/>
              <a:cs typeface="Arial"/>
              <a:sym typeface="Arial"/>
            </a:endParaRPr>
          </a:p>
        </p:txBody>
      </p:sp>
      <p:sp>
        <p:nvSpPr>
          <p:cNvPr id="89" name="Google Shape;89;p1"/>
          <p:cNvSpPr/>
          <p:nvPr/>
        </p:nvSpPr>
        <p:spPr>
          <a:xfrm flipH="1" rot="5679621">
            <a:off x="7894116" y="1193759"/>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5">
              <a:alphaModFix/>
            </a:blip>
            <a:stretch>
              <a:fillRect b="0" l="0" r="0" t="0"/>
            </a:stretch>
          </a:blipFill>
          <a:ln>
            <a:noFill/>
          </a:ln>
        </p:spPr>
      </p:sp>
      <p:cxnSp>
        <p:nvCxnSpPr>
          <p:cNvPr id="90" name="Google Shape;90;p1"/>
          <p:cNvCxnSpPr/>
          <p:nvPr/>
        </p:nvCxnSpPr>
        <p:spPr>
          <a:xfrm>
            <a:off x="6360815" y="3853064"/>
            <a:ext cx="5861220" cy="0"/>
          </a:xfrm>
          <a:prstGeom prst="straightConnector1">
            <a:avLst/>
          </a:prstGeom>
          <a:noFill/>
          <a:ln cap="flat" cmpd="sng" w="38100">
            <a:solidFill>
              <a:srgbClr val="29303C"/>
            </a:solidFill>
            <a:prstDash val="solid"/>
            <a:round/>
            <a:headEnd len="sm" w="sm" type="none"/>
            <a:tailEnd len="sm" w="sm" type="none"/>
          </a:ln>
        </p:spPr>
      </p:cxnSp>
      <p:sp>
        <p:nvSpPr>
          <p:cNvPr id="91" name="Google Shape;91;p1"/>
          <p:cNvSpPr txBox="1"/>
          <p:nvPr/>
        </p:nvSpPr>
        <p:spPr>
          <a:xfrm>
            <a:off x="507314" y="7380141"/>
            <a:ext cx="6186876" cy="67945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3999" u="none" cap="none" strike="noStrike">
                <a:solidFill>
                  <a:srgbClr val="29303C"/>
                </a:solidFill>
                <a:latin typeface="Arial"/>
                <a:ea typeface="Arial"/>
                <a:cs typeface="Arial"/>
                <a:sym typeface="Arial"/>
              </a:rPr>
              <a:t>Seminario de Sistemas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421964" y="2747250"/>
            <a:ext cx="731003" cy="760368"/>
            <a:chOff x="0" y="0"/>
            <a:chExt cx="974670" cy="1013824"/>
          </a:xfrm>
        </p:grpSpPr>
        <p:sp>
          <p:nvSpPr>
            <p:cNvPr id="97" name="Google Shape;97;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1</a:t>
              </a:r>
              <a:endParaRPr/>
            </a:p>
          </p:txBody>
        </p:sp>
      </p:grpSp>
      <p:sp>
        <p:nvSpPr>
          <p:cNvPr id="99" name="Google Shape;99;p2"/>
          <p:cNvSpPr/>
          <p:nvPr/>
        </p:nvSpPr>
        <p:spPr>
          <a:xfrm rot="5400000">
            <a:off x="1285702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591" l="-170" r="-7086" t="-308576"/>
            </a:stretch>
          </a:blipFill>
          <a:ln>
            <a:noFill/>
          </a:ln>
        </p:spPr>
      </p:sp>
      <p:grpSp>
        <p:nvGrpSpPr>
          <p:cNvPr id="100" name="Google Shape;100;p2"/>
          <p:cNvGrpSpPr/>
          <p:nvPr/>
        </p:nvGrpSpPr>
        <p:grpSpPr>
          <a:xfrm>
            <a:off x="1421964" y="5820388"/>
            <a:ext cx="731003" cy="760368"/>
            <a:chOff x="0" y="0"/>
            <a:chExt cx="974670" cy="1013824"/>
          </a:xfrm>
        </p:grpSpPr>
        <p:sp>
          <p:nvSpPr>
            <p:cNvPr id="101" name="Google Shape;101;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1</a:t>
              </a:r>
              <a:endParaRPr/>
            </a:p>
          </p:txBody>
        </p:sp>
      </p:grpSp>
      <p:grpSp>
        <p:nvGrpSpPr>
          <p:cNvPr id="103" name="Google Shape;103;p2"/>
          <p:cNvGrpSpPr/>
          <p:nvPr/>
        </p:nvGrpSpPr>
        <p:grpSpPr>
          <a:xfrm>
            <a:off x="1421964" y="7243740"/>
            <a:ext cx="731003" cy="760368"/>
            <a:chOff x="0" y="0"/>
            <a:chExt cx="974670" cy="1013824"/>
          </a:xfrm>
        </p:grpSpPr>
        <p:sp>
          <p:nvSpPr>
            <p:cNvPr id="104" name="Google Shape;104;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2</a:t>
              </a:r>
              <a:endParaRPr/>
            </a:p>
          </p:txBody>
        </p:sp>
      </p:grpSp>
      <p:cxnSp>
        <p:nvCxnSpPr>
          <p:cNvPr id="106" name="Google Shape;106;p2"/>
          <p:cNvCxnSpPr/>
          <p:nvPr/>
        </p:nvCxnSpPr>
        <p:spPr>
          <a:xfrm>
            <a:off x="1211924" y="2318625"/>
            <a:ext cx="4643555" cy="0"/>
          </a:xfrm>
          <a:prstGeom prst="straightConnector1">
            <a:avLst/>
          </a:prstGeom>
          <a:noFill/>
          <a:ln cap="flat" cmpd="sng" w="38100">
            <a:solidFill>
              <a:srgbClr val="000000"/>
            </a:solidFill>
            <a:prstDash val="solid"/>
            <a:round/>
            <a:headEnd len="sm" w="sm" type="none"/>
            <a:tailEnd len="sm" w="sm" type="none"/>
          </a:ln>
        </p:spPr>
      </p:cxnSp>
      <p:cxnSp>
        <p:nvCxnSpPr>
          <p:cNvPr id="107" name="Google Shape;107;p2"/>
          <p:cNvCxnSpPr/>
          <p:nvPr/>
        </p:nvCxnSpPr>
        <p:spPr>
          <a:xfrm>
            <a:off x="1211924" y="5296513"/>
            <a:ext cx="2129220" cy="0"/>
          </a:xfrm>
          <a:prstGeom prst="straightConnector1">
            <a:avLst/>
          </a:prstGeom>
          <a:noFill/>
          <a:ln cap="flat" cmpd="sng" w="38100">
            <a:solidFill>
              <a:srgbClr val="29303C"/>
            </a:solidFill>
            <a:prstDash val="solid"/>
            <a:round/>
            <a:headEnd len="sm" w="sm" type="none"/>
            <a:tailEnd len="sm" w="sm" type="none"/>
          </a:ln>
        </p:spPr>
      </p:cxnSp>
      <p:sp>
        <p:nvSpPr>
          <p:cNvPr id="108" name="Google Shape;108;p2"/>
          <p:cNvSpPr txBox="1"/>
          <p:nvPr/>
        </p:nvSpPr>
        <p:spPr>
          <a:xfrm>
            <a:off x="7051596" y="274507"/>
            <a:ext cx="4110025"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AGENDA</a:t>
            </a:r>
            <a:endParaRPr/>
          </a:p>
        </p:txBody>
      </p:sp>
      <p:sp>
        <p:nvSpPr>
          <p:cNvPr id="109" name="Google Shape;109;p2"/>
          <p:cNvSpPr txBox="1"/>
          <p:nvPr/>
        </p:nvSpPr>
        <p:spPr>
          <a:xfrm>
            <a:off x="2640377" y="2830096"/>
            <a:ext cx="2722063"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Foro 11</a:t>
            </a:r>
            <a:endParaRPr/>
          </a:p>
        </p:txBody>
      </p:sp>
      <p:sp>
        <p:nvSpPr>
          <p:cNvPr id="110" name="Google Shape;110;p2"/>
          <p:cNvSpPr txBox="1"/>
          <p:nvPr/>
        </p:nvSpPr>
        <p:spPr>
          <a:xfrm>
            <a:off x="2335952" y="5622246"/>
            <a:ext cx="6513352"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Contenedores: Conceptos básicos.</a:t>
            </a:r>
            <a:endParaRPr/>
          </a:p>
        </p:txBody>
      </p:sp>
      <p:sp>
        <p:nvSpPr>
          <p:cNvPr id="111" name="Google Shape;111;p2"/>
          <p:cNvSpPr txBox="1"/>
          <p:nvPr/>
        </p:nvSpPr>
        <p:spPr>
          <a:xfrm>
            <a:off x="2335952" y="7045598"/>
            <a:ext cx="6407869"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Imágenes y volúmenes: Almacenamiento en Docker.</a:t>
            </a:r>
            <a:endParaRPr/>
          </a:p>
        </p:txBody>
      </p:sp>
      <p:sp>
        <p:nvSpPr>
          <p:cNvPr id="112" name="Google Shape;112;p2"/>
          <p:cNvSpPr txBox="1"/>
          <p:nvPr/>
        </p:nvSpPr>
        <p:spPr>
          <a:xfrm>
            <a:off x="1211924" y="1300032"/>
            <a:ext cx="464355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9303C"/>
                </a:solidFill>
                <a:latin typeface="Open Sans"/>
                <a:ea typeface="Open Sans"/>
                <a:cs typeface="Open Sans"/>
                <a:sym typeface="Open Sans"/>
              </a:rPr>
              <a:t>Recordatorios</a:t>
            </a:r>
            <a:endParaRPr/>
          </a:p>
        </p:txBody>
      </p:sp>
      <p:sp>
        <p:nvSpPr>
          <p:cNvPr id="113" name="Google Shape;113;p2"/>
          <p:cNvSpPr txBox="1"/>
          <p:nvPr/>
        </p:nvSpPr>
        <p:spPr>
          <a:xfrm>
            <a:off x="1211924" y="4208720"/>
            <a:ext cx="224805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29303C"/>
                </a:solidFill>
                <a:latin typeface="Open Sans"/>
                <a:ea typeface="Open Sans"/>
                <a:cs typeface="Open Sans"/>
                <a:sym typeface="Open Sans"/>
              </a:rPr>
              <a:t>Temas</a:t>
            </a:r>
            <a:endParaRPr/>
          </a:p>
        </p:txBody>
      </p:sp>
      <p:grpSp>
        <p:nvGrpSpPr>
          <p:cNvPr id="114" name="Google Shape;114;p2"/>
          <p:cNvGrpSpPr/>
          <p:nvPr/>
        </p:nvGrpSpPr>
        <p:grpSpPr>
          <a:xfrm>
            <a:off x="1421964" y="8733768"/>
            <a:ext cx="731003" cy="760368"/>
            <a:chOff x="0" y="0"/>
            <a:chExt cx="974670" cy="1013824"/>
          </a:xfrm>
        </p:grpSpPr>
        <p:sp>
          <p:nvSpPr>
            <p:cNvPr id="115" name="Google Shape;115;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3</a:t>
              </a:r>
              <a:endParaRPr/>
            </a:p>
          </p:txBody>
        </p:sp>
      </p:grpSp>
      <p:grpSp>
        <p:nvGrpSpPr>
          <p:cNvPr id="117" name="Google Shape;117;p2"/>
          <p:cNvGrpSpPr/>
          <p:nvPr/>
        </p:nvGrpSpPr>
        <p:grpSpPr>
          <a:xfrm>
            <a:off x="9410394" y="5820388"/>
            <a:ext cx="731003" cy="760368"/>
            <a:chOff x="0" y="0"/>
            <a:chExt cx="974670" cy="1013824"/>
          </a:xfrm>
        </p:grpSpPr>
        <p:sp>
          <p:nvSpPr>
            <p:cNvPr id="118" name="Google Shape;118;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4</a:t>
              </a:r>
              <a:endParaRPr/>
            </a:p>
          </p:txBody>
        </p:sp>
      </p:grpSp>
      <p:sp>
        <p:nvSpPr>
          <p:cNvPr id="120" name="Google Shape;120;p2"/>
          <p:cNvSpPr txBox="1"/>
          <p:nvPr/>
        </p:nvSpPr>
        <p:spPr>
          <a:xfrm>
            <a:off x="2335952" y="8811850"/>
            <a:ext cx="605297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Dockerizar aplicaciones.</a:t>
            </a:r>
            <a:endParaRPr/>
          </a:p>
        </p:txBody>
      </p:sp>
      <p:sp>
        <p:nvSpPr>
          <p:cNvPr id="121" name="Google Shape;121;p2"/>
          <p:cNvSpPr txBox="1"/>
          <p:nvPr/>
        </p:nvSpPr>
        <p:spPr>
          <a:xfrm>
            <a:off x="10322371" y="5622246"/>
            <a:ext cx="7026994"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Docker Compose: Orquestación de contenedores.</a:t>
            </a:r>
            <a:endParaRPr/>
          </a:p>
        </p:txBody>
      </p:sp>
      <p:grpSp>
        <p:nvGrpSpPr>
          <p:cNvPr id="122" name="Google Shape;122;p2"/>
          <p:cNvGrpSpPr/>
          <p:nvPr/>
        </p:nvGrpSpPr>
        <p:grpSpPr>
          <a:xfrm>
            <a:off x="9410394" y="7243740"/>
            <a:ext cx="731003" cy="760368"/>
            <a:chOff x="0" y="0"/>
            <a:chExt cx="974670" cy="1013824"/>
          </a:xfrm>
        </p:grpSpPr>
        <p:sp>
          <p:nvSpPr>
            <p:cNvPr id="123" name="Google Shape;123;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5</a:t>
              </a:r>
              <a:endParaRPr/>
            </a:p>
          </p:txBody>
        </p:sp>
      </p:grpSp>
      <p:sp>
        <p:nvSpPr>
          <p:cNvPr id="125" name="Google Shape;125;p2"/>
          <p:cNvSpPr txBox="1"/>
          <p:nvPr/>
        </p:nvSpPr>
        <p:spPr>
          <a:xfrm>
            <a:off x="10322371" y="7045598"/>
            <a:ext cx="7026994"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Despliegue y escalabilidad de aplicaciones con Docker.</a:t>
            </a:r>
            <a:endParaRPr/>
          </a:p>
        </p:txBody>
      </p:sp>
      <p:grpSp>
        <p:nvGrpSpPr>
          <p:cNvPr id="126" name="Google Shape;126;p2"/>
          <p:cNvGrpSpPr/>
          <p:nvPr/>
        </p:nvGrpSpPr>
        <p:grpSpPr>
          <a:xfrm>
            <a:off x="9410394" y="8729005"/>
            <a:ext cx="731003" cy="760368"/>
            <a:chOff x="0" y="0"/>
            <a:chExt cx="974670" cy="1013824"/>
          </a:xfrm>
        </p:grpSpPr>
        <p:sp>
          <p:nvSpPr>
            <p:cNvPr id="127" name="Google Shape;127;p2"/>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6</a:t>
              </a:r>
              <a:endParaRPr/>
            </a:p>
          </p:txBody>
        </p:sp>
      </p:grpSp>
      <p:sp>
        <p:nvSpPr>
          <p:cNvPr id="129" name="Google Shape;129;p2"/>
          <p:cNvSpPr txBox="1"/>
          <p:nvPr/>
        </p:nvSpPr>
        <p:spPr>
          <a:xfrm>
            <a:off x="10322371" y="8816613"/>
            <a:ext cx="3248744"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None/>
            </a:pPr>
            <a:r>
              <a:rPr b="0" i="0" lang="en-US" sz="3425" u="none" cap="none" strike="noStrike">
                <a:solidFill>
                  <a:srgbClr val="29303C"/>
                </a:solidFill>
                <a:latin typeface="Hammersmith One"/>
                <a:ea typeface="Hammersmith One"/>
                <a:cs typeface="Hammersmith One"/>
                <a:sym typeface="Hammersmith One"/>
              </a:rPr>
              <a:t>Docker y Cloud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3"/>
          <p:cNvGrpSpPr/>
          <p:nvPr/>
        </p:nvGrpSpPr>
        <p:grpSpPr>
          <a:xfrm>
            <a:off x="-1242857" y="8804406"/>
            <a:ext cx="3086100" cy="3120318"/>
            <a:chOff x="0" y="-38100"/>
            <a:chExt cx="812800" cy="821812"/>
          </a:xfrm>
        </p:grpSpPr>
        <p:sp>
          <p:nvSpPr>
            <p:cNvPr id="135" name="Google Shape;135;p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36" name="Google Shape;136;p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p3"/>
          <p:cNvGrpSpPr/>
          <p:nvPr/>
        </p:nvGrpSpPr>
        <p:grpSpPr>
          <a:xfrm>
            <a:off x="-1753117" y="7316578"/>
            <a:ext cx="3086100" cy="3120318"/>
            <a:chOff x="0" y="-38100"/>
            <a:chExt cx="812800" cy="821812"/>
          </a:xfrm>
        </p:grpSpPr>
        <p:sp>
          <p:nvSpPr>
            <p:cNvPr id="138" name="Google Shape;138;p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139" name="Google Shape;139;p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0" name="Google Shape;140;p3"/>
          <p:cNvGrpSpPr/>
          <p:nvPr/>
        </p:nvGrpSpPr>
        <p:grpSpPr>
          <a:xfrm>
            <a:off x="11812774" y="9645946"/>
            <a:ext cx="1419225" cy="641054"/>
            <a:chOff x="0" y="-38100"/>
            <a:chExt cx="373788" cy="168838"/>
          </a:xfrm>
        </p:grpSpPr>
        <p:sp>
          <p:nvSpPr>
            <p:cNvPr id="141" name="Google Shape;141;p3"/>
            <p:cNvSpPr/>
            <p:nvPr/>
          </p:nvSpPr>
          <p:spPr>
            <a:xfrm>
              <a:off x="0" y="0"/>
              <a:ext cx="373788" cy="130738"/>
            </a:xfrm>
            <a:custGeom>
              <a:rect b="b" l="l" r="r" t="t"/>
              <a:pathLst>
                <a:path extrusionOk="0" h="130738" w="373788">
                  <a:moveTo>
                    <a:pt x="0" y="0"/>
                  </a:moveTo>
                  <a:lnTo>
                    <a:pt x="373788" y="0"/>
                  </a:lnTo>
                  <a:lnTo>
                    <a:pt x="373788" y="130738"/>
                  </a:lnTo>
                  <a:lnTo>
                    <a:pt x="0" y="130738"/>
                  </a:lnTo>
                  <a:close/>
                </a:path>
              </a:pathLst>
            </a:custGeom>
            <a:solidFill>
              <a:srgbClr val="1E63ED"/>
            </a:solidFill>
            <a:ln>
              <a:noFill/>
            </a:ln>
          </p:spPr>
        </p:sp>
        <p:sp>
          <p:nvSpPr>
            <p:cNvPr id="142" name="Google Shape;142;p3"/>
            <p:cNvSpPr txBox="1"/>
            <p:nvPr/>
          </p:nvSpPr>
          <p:spPr>
            <a:xfrm>
              <a:off x="0" y="-38100"/>
              <a:ext cx="373788" cy="16883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3" name="Google Shape;143;p3"/>
          <p:cNvGrpSpPr/>
          <p:nvPr/>
        </p:nvGrpSpPr>
        <p:grpSpPr>
          <a:xfrm>
            <a:off x="12038199" y="9467051"/>
            <a:ext cx="6249801" cy="819949"/>
            <a:chOff x="0" y="-38100"/>
            <a:chExt cx="1646038" cy="215954"/>
          </a:xfrm>
        </p:grpSpPr>
        <p:sp>
          <p:nvSpPr>
            <p:cNvPr id="144" name="Google Shape;144;p3"/>
            <p:cNvSpPr/>
            <p:nvPr/>
          </p:nvSpPr>
          <p:spPr>
            <a:xfrm>
              <a:off x="0" y="0"/>
              <a:ext cx="1646038" cy="177854"/>
            </a:xfrm>
            <a:custGeom>
              <a:rect b="b" l="l" r="r" t="t"/>
              <a:pathLst>
                <a:path extrusionOk="0" h="177854" w="1646038">
                  <a:moveTo>
                    <a:pt x="0" y="0"/>
                  </a:moveTo>
                  <a:lnTo>
                    <a:pt x="1646038" y="0"/>
                  </a:lnTo>
                  <a:lnTo>
                    <a:pt x="1646038" y="177854"/>
                  </a:lnTo>
                  <a:lnTo>
                    <a:pt x="0" y="177854"/>
                  </a:lnTo>
                  <a:close/>
                </a:path>
              </a:pathLst>
            </a:custGeom>
            <a:solidFill>
              <a:srgbClr val="29303C"/>
            </a:solidFill>
            <a:ln>
              <a:noFill/>
            </a:ln>
          </p:spPr>
        </p:sp>
        <p:sp>
          <p:nvSpPr>
            <p:cNvPr id="145" name="Google Shape;145;p3"/>
            <p:cNvSpPr txBox="1"/>
            <p:nvPr/>
          </p:nvSpPr>
          <p:spPr>
            <a:xfrm>
              <a:off x="0" y="-38100"/>
              <a:ext cx="1646038" cy="21595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6" name="Google Shape;146;p3"/>
          <p:cNvSpPr/>
          <p:nvPr/>
        </p:nvSpPr>
        <p:spPr>
          <a:xfrm>
            <a:off x="3626254" y="5689242"/>
            <a:ext cx="10548970" cy="2529962"/>
          </a:xfrm>
          <a:custGeom>
            <a:rect b="b" l="l" r="r" t="t"/>
            <a:pathLst>
              <a:path extrusionOk="0" h="2529962" w="10548970">
                <a:moveTo>
                  <a:pt x="0" y="0"/>
                </a:moveTo>
                <a:lnTo>
                  <a:pt x="10548970" y="0"/>
                </a:lnTo>
                <a:lnTo>
                  <a:pt x="10548970" y="2529962"/>
                </a:lnTo>
                <a:lnTo>
                  <a:pt x="0" y="2529962"/>
                </a:lnTo>
                <a:lnTo>
                  <a:pt x="0" y="0"/>
                </a:lnTo>
                <a:close/>
              </a:path>
            </a:pathLst>
          </a:custGeom>
          <a:blipFill rotWithShape="1">
            <a:blip r:embed="rId3">
              <a:alphaModFix/>
            </a:blip>
            <a:stretch>
              <a:fillRect b="-105363" l="-2857" r="-5867" t="-97300"/>
            </a:stretch>
          </a:blipFill>
          <a:ln>
            <a:noFill/>
          </a:ln>
        </p:spPr>
      </p:sp>
      <p:sp>
        <p:nvSpPr>
          <p:cNvPr id="147" name="Google Shape;147;p3"/>
          <p:cNvSpPr txBox="1"/>
          <p:nvPr/>
        </p:nvSpPr>
        <p:spPr>
          <a:xfrm>
            <a:off x="300193" y="971550"/>
            <a:ext cx="17518592"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¿QUÉ ES DOCKER?</a:t>
            </a:r>
            <a:endParaRPr/>
          </a:p>
        </p:txBody>
      </p:sp>
      <p:sp>
        <p:nvSpPr>
          <p:cNvPr id="148" name="Google Shape;148;p3"/>
          <p:cNvSpPr txBox="1"/>
          <p:nvPr/>
        </p:nvSpPr>
        <p:spPr>
          <a:xfrm>
            <a:off x="944189" y="2425071"/>
            <a:ext cx="16230600" cy="24669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Docker es una plataforma de código abierto que nos permite automatizar el despliegue de aplicaciones dentro de contenedores.</a:t>
            </a:r>
            <a:endParaRPr/>
          </a:p>
          <a:p>
            <a:pPr indent="0" lvl="0" marL="0" marR="0" rtl="0" algn="l">
              <a:lnSpc>
                <a:spcPct val="130000"/>
              </a:lnSpc>
              <a:spcBef>
                <a:spcPts val="0"/>
              </a:spcBef>
              <a:spcAft>
                <a:spcPts val="0"/>
              </a:spcAft>
              <a:buNone/>
            </a:pPr>
            <a:r>
              <a:t/>
            </a:r>
            <a:endParaRPr b="0"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Un </a:t>
            </a:r>
            <a:r>
              <a:rPr b="1" i="0" lang="en-US" sz="3000" u="none" cap="none" strike="noStrike">
                <a:solidFill>
                  <a:srgbClr val="29303C"/>
                </a:solidFill>
                <a:latin typeface="Arial"/>
                <a:ea typeface="Arial"/>
                <a:cs typeface="Arial"/>
                <a:sym typeface="Arial"/>
              </a:rPr>
              <a:t>Contenedor </a:t>
            </a:r>
            <a:r>
              <a:rPr b="0" i="0" lang="en-US" sz="3000" u="none" cap="none" strike="noStrike">
                <a:solidFill>
                  <a:srgbClr val="29303C"/>
                </a:solidFill>
                <a:latin typeface="Arial"/>
                <a:ea typeface="Arial"/>
                <a:cs typeface="Arial"/>
                <a:sym typeface="Arial"/>
              </a:rPr>
              <a:t>es una unidad de software independiente y ligera, que incluye todo lo necesario para que la aplicación funcione de manera uniforme en cualquier entorno.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4"/>
          <p:cNvGrpSpPr/>
          <p:nvPr/>
        </p:nvGrpSpPr>
        <p:grpSpPr>
          <a:xfrm>
            <a:off x="0" y="-144661"/>
            <a:ext cx="357187" cy="10449016"/>
            <a:chOff x="0" y="-38100"/>
            <a:chExt cx="94074" cy="2752004"/>
          </a:xfrm>
        </p:grpSpPr>
        <p:sp>
          <p:nvSpPr>
            <p:cNvPr id="154" name="Google Shape;154;p4"/>
            <p:cNvSpPr/>
            <p:nvPr/>
          </p:nvSpPr>
          <p:spPr>
            <a:xfrm>
              <a:off x="0" y="0"/>
              <a:ext cx="94074" cy="2713904"/>
            </a:xfrm>
            <a:custGeom>
              <a:rect b="b" l="l" r="r" t="t"/>
              <a:pathLst>
                <a:path extrusionOk="0" h="2713904" w="94074">
                  <a:moveTo>
                    <a:pt x="0" y="0"/>
                  </a:moveTo>
                  <a:lnTo>
                    <a:pt x="94074" y="0"/>
                  </a:lnTo>
                  <a:lnTo>
                    <a:pt x="94074" y="2713904"/>
                  </a:lnTo>
                  <a:lnTo>
                    <a:pt x="0" y="2713904"/>
                  </a:lnTo>
                  <a:close/>
                </a:path>
              </a:pathLst>
            </a:custGeom>
            <a:solidFill>
              <a:srgbClr val="1E63ED"/>
            </a:solidFill>
            <a:ln>
              <a:noFill/>
            </a:ln>
          </p:spPr>
        </p:sp>
        <p:sp>
          <p:nvSpPr>
            <p:cNvPr id="155" name="Google Shape;155;p4"/>
            <p:cNvSpPr txBox="1"/>
            <p:nvPr/>
          </p:nvSpPr>
          <p:spPr>
            <a:xfrm>
              <a:off x="0" y="-38100"/>
              <a:ext cx="94074" cy="27520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p4"/>
          <p:cNvGrpSpPr/>
          <p:nvPr/>
        </p:nvGrpSpPr>
        <p:grpSpPr>
          <a:xfrm>
            <a:off x="0" y="5256014"/>
            <a:ext cx="714375" cy="5030986"/>
            <a:chOff x="0" y="-38100"/>
            <a:chExt cx="188148" cy="1325033"/>
          </a:xfrm>
        </p:grpSpPr>
        <p:sp>
          <p:nvSpPr>
            <p:cNvPr id="157" name="Google Shape;157;p4"/>
            <p:cNvSpPr/>
            <p:nvPr/>
          </p:nvSpPr>
          <p:spPr>
            <a:xfrm>
              <a:off x="0" y="0"/>
              <a:ext cx="188148" cy="1286933"/>
            </a:xfrm>
            <a:custGeom>
              <a:rect b="b" l="l" r="r" t="t"/>
              <a:pathLst>
                <a:path extrusionOk="0" h="1286933" w="188148">
                  <a:moveTo>
                    <a:pt x="0" y="0"/>
                  </a:moveTo>
                  <a:lnTo>
                    <a:pt x="188148" y="0"/>
                  </a:lnTo>
                  <a:lnTo>
                    <a:pt x="188148" y="1286933"/>
                  </a:lnTo>
                  <a:lnTo>
                    <a:pt x="0" y="1286933"/>
                  </a:lnTo>
                  <a:close/>
                </a:path>
              </a:pathLst>
            </a:custGeom>
            <a:solidFill>
              <a:srgbClr val="29303C"/>
            </a:solidFill>
            <a:ln>
              <a:noFill/>
            </a:ln>
          </p:spPr>
        </p:sp>
        <p:sp>
          <p:nvSpPr>
            <p:cNvPr id="158" name="Google Shape;158;p4"/>
            <p:cNvSpPr txBox="1"/>
            <p:nvPr/>
          </p:nvSpPr>
          <p:spPr>
            <a:xfrm>
              <a:off x="0" y="-38100"/>
              <a:ext cx="188148" cy="1325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9" name="Google Shape;159;p4"/>
          <p:cNvSpPr/>
          <p:nvPr/>
        </p:nvSpPr>
        <p:spPr>
          <a:xfrm>
            <a:off x="12523901" y="2854077"/>
            <a:ext cx="4866832" cy="5093196"/>
          </a:xfrm>
          <a:custGeom>
            <a:rect b="b" l="l" r="r" t="t"/>
            <a:pathLst>
              <a:path extrusionOk="0" h="5093196" w="4866832">
                <a:moveTo>
                  <a:pt x="0" y="0"/>
                </a:moveTo>
                <a:lnTo>
                  <a:pt x="4866831" y="0"/>
                </a:lnTo>
                <a:lnTo>
                  <a:pt x="4866831" y="5093196"/>
                </a:lnTo>
                <a:lnTo>
                  <a:pt x="0" y="5093196"/>
                </a:lnTo>
                <a:lnTo>
                  <a:pt x="0" y="0"/>
                </a:lnTo>
                <a:close/>
              </a:path>
            </a:pathLst>
          </a:custGeom>
          <a:blipFill rotWithShape="1">
            <a:blip r:embed="rId3">
              <a:alphaModFix/>
            </a:blip>
            <a:stretch>
              <a:fillRect b="0" l="0" r="0" t="0"/>
            </a:stretch>
          </a:blipFill>
          <a:ln>
            <a:noFill/>
          </a:ln>
        </p:spPr>
      </p:sp>
      <p:sp>
        <p:nvSpPr>
          <p:cNvPr id="160" name="Google Shape;160;p4"/>
          <p:cNvSpPr txBox="1"/>
          <p:nvPr/>
        </p:nvSpPr>
        <p:spPr>
          <a:xfrm>
            <a:off x="2710350" y="425950"/>
            <a:ext cx="14506500" cy="1077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¿CÓMO FUNCIONA DOCKER?</a:t>
            </a:r>
            <a:endParaRPr/>
          </a:p>
        </p:txBody>
      </p:sp>
      <p:sp>
        <p:nvSpPr>
          <p:cNvPr id="161" name="Google Shape;161;p4"/>
          <p:cNvSpPr txBox="1"/>
          <p:nvPr/>
        </p:nvSpPr>
        <p:spPr>
          <a:xfrm>
            <a:off x="1766150" y="2171700"/>
            <a:ext cx="9705975" cy="6429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Docker utiliza un sistema de imágenes y contenedores, </a:t>
            </a:r>
            <a:r>
              <a:rPr b="1" i="0" lang="en-US" sz="3000" u="none" cap="none" strike="noStrike">
                <a:solidFill>
                  <a:srgbClr val="29303C"/>
                </a:solidFill>
                <a:latin typeface="Arial"/>
                <a:ea typeface="Arial"/>
                <a:cs typeface="Arial"/>
                <a:sym typeface="Arial"/>
              </a:rPr>
              <a:t>una imagen de Docker es una plantilla inmutable que define el entorno de ejecución</a:t>
            </a:r>
            <a:r>
              <a:rPr b="0" i="0" lang="en-US" sz="3000" u="none" cap="none" strike="noStrike">
                <a:solidFill>
                  <a:srgbClr val="29303C"/>
                </a:solidFill>
                <a:latin typeface="Arial"/>
                <a:ea typeface="Arial"/>
                <a:cs typeface="Arial"/>
                <a:sym typeface="Arial"/>
              </a:rPr>
              <a:t> [incluyendo el sistema operativo, librerías, dependencias y código de la aplicación]. </a:t>
            </a:r>
            <a:r>
              <a:rPr b="1" i="0" lang="en-US" sz="3000" u="none" cap="none" strike="noStrike">
                <a:solidFill>
                  <a:srgbClr val="29303C"/>
                </a:solidFill>
                <a:latin typeface="Arial"/>
                <a:ea typeface="Arial"/>
                <a:cs typeface="Arial"/>
                <a:sym typeface="Arial"/>
              </a:rPr>
              <a:t>Al ejecutar una imágen, Docker crea un contenedor, que es una instancia activa de la imagen en ejecución. </a:t>
            </a:r>
            <a:endParaRPr/>
          </a:p>
          <a:p>
            <a:pPr indent="0" lvl="0" marL="0" marR="0" rtl="0" algn="l">
              <a:lnSpc>
                <a:spcPct val="130000"/>
              </a:lnSpc>
              <a:spcBef>
                <a:spcPts val="0"/>
              </a:spcBef>
              <a:spcAft>
                <a:spcPts val="0"/>
              </a:spcAft>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Esto permite encapsular la aplicación y todas sus dependencias</a:t>
            </a:r>
            <a:r>
              <a:rPr b="0" i="0" lang="en-US" sz="3000" u="none" cap="none" strike="noStrike">
                <a:solidFill>
                  <a:srgbClr val="29303C"/>
                </a:solidFill>
                <a:latin typeface="Arial"/>
                <a:ea typeface="Arial"/>
                <a:cs typeface="Arial"/>
                <a:sym typeface="Arial"/>
              </a:rPr>
              <a:t>, para que pueda ejecutarse de forma consistente en diferentes entornos.</a:t>
            </a:r>
            <a:endParaRPr/>
          </a:p>
          <a:p>
            <a:pPr indent="0" lvl="0" marL="0" marR="0" rtl="0" algn="l">
              <a:lnSpc>
                <a:spcPct val="130000"/>
              </a:lnSpc>
              <a:spcBef>
                <a:spcPts val="0"/>
              </a:spcBef>
              <a:spcAft>
                <a:spcPts val="0"/>
              </a:spcAft>
              <a:buNone/>
            </a:pPr>
            <a:r>
              <a:t/>
            </a:r>
            <a:endParaRPr b="0" i="0" sz="3000" u="none" cap="none" strike="noStrike">
              <a:solidFill>
                <a:srgbClr val="29303C"/>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5"/>
          <p:cNvGrpSpPr/>
          <p:nvPr/>
        </p:nvGrpSpPr>
        <p:grpSpPr>
          <a:xfrm>
            <a:off x="0" y="8824911"/>
            <a:ext cx="7251395" cy="1479444"/>
            <a:chOff x="0" y="-38100"/>
            <a:chExt cx="1909832" cy="389648"/>
          </a:xfrm>
        </p:grpSpPr>
        <p:sp>
          <p:nvSpPr>
            <p:cNvPr id="167" name="Google Shape;167;p5"/>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168" name="Google Shape;168;p5"/>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9" name="Google Shape;169;p5"/>
          <p:cNvGrpSpPr/>
          <p:nvPr/>
        </p:nvGrpSpPr>
        <p:grpSpPr>
          <a:xfrm>
            <a:off x="0" y="9233552"/>
            <a:ext cx="18288000" cy="1053448"/>
            <a:chOff x="0" y="-38100"/>
            <a:chExt cx="4816593" cy="277451"/>
          </a:xfrm>
        </p:grpSpPr>
        <p:sp>
          <p:nvSpPr>
            <p:cNvPr id="170" name="Google Shape;170;p5"/>
            <p:cNvSpPr/>
            <p:nvPr/>
          </p:nvSpPr>
          <p:spPr>
            <a:xfrm>
              <a:off x="0" y="0"/>
              <a:ext cx="4816592" cy="239351"/>
            </a:xfrm>
            <a:custGeom>
              <a:rect b="b" l="l" r="r" t="t"/>
              <a:pathLst>
                <a:path extrusionOk="0" h="239351" w="4816592">
                  <a:moveTo>
                    <a:pt x="0" y="0"/>
                  </a:moveTo>
                  <a:lnTo>
                    <a:pt x="4816592" y="0"/>
                  </a:lnTo>
                  <a:lnTo>
                    <a:pt x="4816592" y="239351"/>
                  </a:lnTo>
                  <a:lnTo>
                    <a:pt x="0" y="239351"/>
                  </a:lnTo>
                  <a:close/>
                </a:path>
              </a:pathLst>
            </a:custGeom>
            <a:solidFill>
              <a:srgbClr val="29303C"/>
            </a:solidFill>
            <a:ln>
              <a:noFill/>
            </a:ln>
          </p:spPr>
        </p:sp>
        <p:sp>
          <p:nvSpPr>
            <p:cNvPr id="171" name="Google Shape;171;p5"/>
            <p:cNvSpPr txBox="1"/>
            <p:nvPr/>
          </p:nvSpPr>
          <p:spPr>
            <a:xfrm>
              <a:off x="0" y="-38100"/>
              <a:ext cx="4816593" cy="2774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2" name="Google Shape;172;p5"/>
          <p:cNvSpPr/>
          <p:nvPr/>
        </p:nvSpPr>
        <p:spPr>
          <a:xfrm>
            <a:off x="3331757" y="3723863"/>
            <a:ext cx="11301259" cy="5071083"/>
          </a:xfrm>
          <a:custGeom>
            <a:rect b="b" l="l" r="r" t="t"/>
            <a:pathLst>
              <a:path extrusionOk="0" h="5071083" w="11301259">
                <a:moveTo>
                  <a:pt x="0" y="0"/>
                </a:moveTo>
                <a:lnTo>
                  <a:pt x="11301259" y="0"/>
                </a:lnTo>
                <a:lnTo>
                  <a:pt x="11301259" y="5071084"/>
                </a:lnTo>
                <a:lnTo>
                  <a:pt x="0" y="5071084"/>
                </a:lnTo>
                <a:lnTo>
                  <a:pt x="0" y="0"/>
                </a:lnTo>
                <a:close/>
              </a:path>
            </a:pathLst>
          </a:custGeom>
          <a:blipFill rotWithShape="1">
            <a:blip r:embed="rId3">
              <a:alphaModFix/>
            </a:blip>
            <a:stretch>
              <a:fillRect b="0" l="0" r="0" t="-25354"/>
            </a:stretch>
          </a:blipFill>
          <a:ln>
            <a:noFill/>
          </a:ln>
        </p:spPr>
      </p:sp>
      <p:sp>
        <p:nvSpPr>
          <p:cNvPr id="173" name="Google Shape;173;p5"/>
          <p:cNvSpPr txBox="1"/>
          <p:nvPr/>
        </p:nvSpPr>
        <p:spPr>
          <a:xfrm>
            <a:off x="2479350" y="593725"/>
            <a:ext cx="13443900" cy="769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5000" u="none" cap="none" strike="noStrike">
                <a:solidFill>
                  <a:srgbClr val="29303C"/>
                </a:solidFill>
                <a:latin typeface="Arial"/>
                <a:ea typeface="Arial"/>
                <a:cs typeface="Arial"/>
                <a:sym typeface="Arial"/>
              </a:rPr>
              <a:t>¿QUÉ SON LOS OBJETOS DE DOCKER?</a:t>
            </a:r>
            <a:endParaRPr/>
          </a:p>
        </p:txBody>
      </p:sp>
      <p:sp>
        <p:nvSpPr>
          <p:cNvPr id="174" name="Google Shape;174;p5"/>
          <p:cNvSpPr txBox="1"/>
          <p:nvPr/>
        </p:nvSpPr>
        <p:spPr>
          <a:xfrm>
            <a:off x="1028700" y="1666463"/>
            <a:ext cx="1623060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Los objetos de Docker </a:t>
            </a:r>
            <a:r>
              <a:rPr b="1" i="0" lang="en-US" sz="3000" u="none" cap="none" strike="noStrike">
                <a:solidFill>
                  <a:srgbClr val="29303C"/>
                </a:solidFill>
                <a:latin typeface="Arial"/>
                <a:ea typeface="Arial"/>
                <a:cs typeface="Arial"/>
                <a:sym typeface="Arial"/>
              </a:rPr>
              <a:t>son los componentes clave que se utilizan para construir, gestionar y ejecutar aplicaciones dentro de Docker.</a:t>
            </a:r>
            <a:r>
              <a:rPr b="0" i="0" lang="en-US" sz="3000" u="none" cap="none" strike="noStrike">
                <a:solidFill>
                  <a:srgbClr val="29303C"/>
                </a:solidFill>
                <a:latin typeface="Arial"/>
                <a:ea typeface="Arial"/>
                <a:cs typeface="Arial"/>
                <a:sym typeface="Arial"/>
              </a:rPr>
              <a:t> Cada uno de estos objetos cumple un rol específico en el ciclo de vida de una aplicación contenerizada.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6"/>
          <p:cNvGrpSpPr/>
          <p:nvPr/>
        </p:nvGrpSpPr>
        <p:grpSpPr>
          <a:xfrm>
            <a:off x="-1242857" y="8804406"/>
            <a:ext cx="3086100" cy="3120318"/>
            <a:chOff x="0" y="-38100"/>
            <a:chExt cx="812800" cy="821812"/>
          </a:xfrm>
        </p:grpSpPr>
        <p:sp>
          <p:nvSpPr>
            <p:cNvPr id="180" name="Google Shape;180;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81" name="Google Shape;181;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6"/>
          <p:cNvGrpSpPr/>
          <p:nvPr/>
        </p:nvGrpSpPr>
        <p:grpSpPr>
          <a:xfrm>
            <a:off x="-1753117" y="7316578"/>
            <a:ext cx="3086100" cy="3120318"/>
            <a:chOff x="0" y="-38100"/>
            <a:chExt cx="812800" cy="821812"/>
          </a:xfrm>
        </p:grpSpPr>
        <p:sp>
          <p:nvSpPr>
            <p:cNvPr id="183" name="Google Shape;183;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184" name="Google Shape;184;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6"/>
          <p:cNvGrpSpPr/>
          <p:nvPr/>
        </p:nvGrpSpPr>
        <p:grpSpPr>
          <a:xfrm>
            <a:off x="16776087" y="-539578"/>
            <a:ext cx="2344551" cy="2157882"/>
            <a:chOff x="0" y="-38100"/>
            <a:chExt cx="617495" cy="568331"/>
          </a:xfrm>
        </p:grpSpPr>
        <p:sp>
          <p:nvSpPr>
            <p:cNvPr id="186" name="Google Shape;186;p6"/>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187" name="Google Shape;187;p6"/>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6"/>
          <p:cNvGrpSpPr/>
          <p:nvPr/>
        </p:nvGrpSpPr>
        <p:grpSpPr>
          <a:xfrm>
            <a:off x="17259300" y="641994"/>
            <a:ext cx="3086100" cy="3120318"/>
            <a:chOff x="0" y="-38100"/>
            <a:chExt cx="812800" cy="821812"/>
          </a:xfrm>
        </p:grpSpPr>
        <p:sp>
          <p:nvSpPr>
            <p:cNvPr id="189" name="Google Shape;189;p6"/>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190" name="Google Shape;190;p6"/>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1" name="Google Shape;191;p6"/>
          <p:cNvSpPr/>
          <p:nvPr/>
        </p:nvSpPr>
        <p:spPr>
          <a:xfrm>
            <a:off x="3493371" y="5992075"/>
            <a:ext cx="11301259" cy="2938327"/>
          </a:xfrm>
          <a:custGeom>
            <a:rect b="b" l="l" r="r" t="t"/>
            <a:pathLst>
              <a:path extrusionOk="0" h="2938327" w="11301259">
                <a:moveTo>
                  <a:pt x="0" y="0"/>
                </a:moveTo>
                <a:lnTo>
                  <a:pt x="11301258" y="0"/>
                </a:lnTo>
                <a:lnTo>
                  <a:pt x="11301258" y="2938327"/>
                </a:lnTo>
                <a:lnTo>
                  <a:pt x="0" y="2938327"/>
                </a:lnTo>
                <a:lnTo>
                  <a:pt x="0" y="0"/>
                </a:lnTo>
                <a:close/>
              </a:path>
            </a:pathLst>
          </a:custGeom>
          <a:blipFill rotWithShape="1">
            <a:blip r:embed="rId3">
              <a:alphaModFix/>
            </a:blip>
            <a:stretch>
              <a:fillRect b="0" l="0" r="0" t="0"/>
            </a:stretch>
          </a:blipFill>
          <a:ln>
            <a:noFill/>
          </a:ln>
        </p:spPr>
      </p:sp>
      <p:sp>
        <p:nvSpPr>
          <p:cNvPr id="192" name="Google Shape;192;p6"/>
          <p:cNvSpPr txBox="1"/>
          <p:nvPr/>
        </p:nvSpPr>
        <p:spPr>
          <a:xfrm>
            <a:off x="2602550" y="593725"/>
            <a:ext cx="13397700" cy="769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5000" u="none" cap="none" strike="noStrike">
                <a:solidFill>
                  <a:srgbClr val="29303C"/>
                </a:solidFill>
                <a:latin typeface="Arial"/>
                <a:ea typeface="Arial"/>
                <a:cs typeface="Arial"/>
                <a:sym typeface="Arial"/>
              </a:rPr>
              <a:t>¿QUÉ SON LAS IMAGENES DE DOCKER?</a:t>
            </a:r>
            <a:endParaRPr/>
          </a:p>
        </p:txBody>
      </p:sp>
      <p:sp>
        <p:nvSpPr>
          <p:cNvPr id="193" name="Google Shape;193;p6"/>
          <p:cNvSpPr txBox="1"/>
          <p:nvPr/>
        </p:nvSpPr>
        <p:spPr>
          <a:xfrm>
            <a:off x="1592262" y="1589729"/>
            <a:ext cx="15103475" cy="34575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Es </a:t>
            </a:r>
            <a:r>
              <a:rPr b="1" i="0" lang="en-US" sz="3000" u="none" cap="none" strike="noStrike">
                <a:solidFill>
                  <a:srgbClr val="29303C"/>
                </a:solidFill>
                <a:latin typeface="Arial"/>
                <a:ea typeface="Arial"/>
                <a:cs typeface="Arial"/>
                <a:sym typeface="Arial"/>
              </a:rPr>
              <a:t>una plantilla de solo lectura que contiene todo lo necesario para ejecutar una aplicación</a:t>
            </a:r>
            <a:r>
              <a:rPr b="0" i="0" lang="en-US" sz="3000" u="none" cap="none" strike="noStrike">
                <a:solidFill>
                  <a:srgbClr val="29303C"/>
                </a:solidFill>
                <a:latin typeface="Arial"/>
                <a:ea typeface="Arial"/>
                <a:cs typeface="Arial"/>
                <a:sym typeface="Arial"/>
              </a:rPr>
              <a:t>, como el sistema operativo, dependencias, archivos y configuraciones.</a:t>
            </a:r>
            <a:endParaRPr/>
          </a:p>
          <a:p>
            <a:pPr indent="0" lvl="0" marL="0" marR="0" rtl="0" algn="l">
              <a:lnSpc>
                <a:spcPct val="130000"/>
              </a:lnSpc>
              <a:spcBef>
                <a:spcPts val="0"/>
              </a:spcBef>
              <a:spcAft>
                <a:spcPts val="0"/>
              </a:spcAft>
              <a:buNone/>
            </a:pPr>
            <a:r>
              <a:t/>
            </a:r>
            <a:endParaRPr b="0"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Las imágenes</a:t>
            </a:r>
            <a:r>
              <a:rPr b="1" i="0" lang="en-US" sz="3000" u="none" cap="none" strike="noStrike">
                <a:solidFill>
                  <a:srgbClr val="29303C"/>
                </a:solidFill>
                <a:latin typeface="Arial"/>
                <a:ea typeface="Arial"/>
                <a:cs typeface="Arial"/>
                <a:sym typeface="Arial"/>
              </a:rPr>
              <a:t> son la base para crear contenedores y pueden definirse con un Dockerfile</a:t>
            </a:r>
            <a:r>
              <a:rPr b="0" i="0" lang="en-US" sz="3000" u="none" cap="none" strike="noStrike">
                <a:solidFill>
                  <a:srgbClr val="29303C"/>
                </a:solidFill>
                <a:latin typeface="Arial"/>
                <a:ea typeface="Arial"/>
                <a:cs typeface="Arial"/>
                <a:sym typeface="Arial"/>
              </a:rPr>
              <a:t>, un archivo de configuración donde se indican las instrucciones para construir la imagen.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pSp>
        <p:nvGrpSpPr>
          <p:cNvPr id="198" name="Google Shape;198;p7"/>
          <p:cNvGrpSpPr/>
          <p:nvPr/>
        </p:nvGrpSpPr>
        <p:grpSpPr>
          <a:xfrm>
            <a:off x="0" y="8824911"/>
            <a:ext cx="7251395" cy="1479444"/>
            <a:chOff x="0" y="-38100"/>
            <a:chExt cx="1909832" cy="389648"/>
          </a:xfrm>
        </p:grpSpPr>
        <p:sp>
          <p:nvSpPr>
            <p:cNvPr id="199" name="Google Shape;199;p7"/>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200" name="Google Shape;200;p7"/>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1" name="Google Shape;201;p7"/>
          <p:cNvGrpSpPr/>
          <p:nvPr/>
        </p:nvGrpSpPr>
        <p:grpSpPr>
          <a:xfrm>
            <a:off x="0" y="9113639"/>
            <a:ext cx="18288000" cy="1173361"/>
            <a:chOff x="0" y="-38100"/>
            <a:chExt cx="4816593" cy="309033"/>
          </a:xfrm>
        </p:grpSpPr>
        <p:sp>
          <p:nvSpPr>
            <p:cNvPr id="202" name="Google Shape;202;p7"/>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203" name="Google Shape;203;p7"/>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7"/>
          <p:cNvSpPr/>
          <p:nvPr/>
        </p:nvSpPr>
        <p:spPr>
          <a:xfrm>
            <a:off x="5620916" y="4056704"/>
            <a:ext cx="7046168" cy="4912868"/>
          </a:xfrm>
          <a:custGeom>
            <a:rect b="b" l="l" r="r" t="t"/>
            <a:pathLst>
              <a:path extrusionOk="0" h="4912868" w="7046168">
                <a:moveTo>
                  <a:pt x="0" y="0"/>
                </a:moveTo>
                <a:lnTo>
                  <a:pt x="7046168" y="0"/>
                </a:lnTo>
                <a:lnTo>
                  <a:pt x="7046168" y="4912868"/>
                </a:lnTo>
                <a:lnTo>
                  <a:pt x="0" y="4912868"/>
                </a:lnTo>
                <a:lnTo>
                  <a:pt x="0" y="0"/>
                </a:lnTo>
                <a:close/>
              </a:path>
            </a:pathLst>
          </a:custGeom>
          <a:blipFill rotWithShape="1">
            <a:blip r:embed="rId3">
              <a:alphaModFix/>
            </a:blip>
            <a:stretch>
              <a:fillRect b="0" l="0" r="0" t="-11580"/>
            </a:stretch>
          </a:blipFill>
          <a:ln>
            <a:noFill/>
          </a:ln>
        </p:spPr>
      </p:sp>
      <p:sp>
        <p:nvSpPr>
          <p:cNvPr id="205" name="Google Shape;205;p7"/>
          <p:cNvSpPr txBox="1"/>
          <p:nvPr/>
        </p:nvSpPr>
        <p:spPr>
          <a:xfrm>
            <a:off x="1139575" y="593725"/>
            <a:ext cx="157848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29303C"/>
                </a:solidFill>
                <a:latin typeface="Arial"/>
                <a:ea typeface="Arial"/>
                <a:cs typeface="Arial"/>
                <a:sym typeface="Arial"/>
              </a:rPr>
              <a:t>¿QUÉ SON LAS CONTENEDORES DE DOCKER?</a:t>
            </a:r>
            <a:endParaRPr/>
          </a:p>
        </p:txBody>
      </p:sp>
      <p:sp>
        <p:nvSpPr>
          <p:cNvPr id="206" name="Google Shape;206;p7"/>
          <p:cNvSpPr txBox="1"/>
          <p:nvPr/>
        </p:nvSpPr>
        <p:spPr>
          <a:xfrm>
            <a:off x="1592262" y="1589729"/>
            <a:ext cx="15103475" cy="246697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Un contenedor Docker es una instancia ejecutable de una imagen. Cuando se lanza una imagen, Docker crea un contenedor donde la aplicación puede ejecutarse en un entorno aislado. Los contenedores son ligeros y rápidos de iniciar, ya que comparten el núcleo del sistema operativo con otros contenedores.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8"/>
          <p:cNvGrpSpPr/>
          <p:nvPr/>
        </p:nvGrpSpPr>
        <p:grpSpPr>
          <a:xfrm>
            <a:off x="311307" y="-144661"/>
            <a:ext cx="388125" cy="8565666"/>
            <a:chOff x="0" y="-38100"/>
            <a:chExt cx="102222" cy="2255978"/>
          </a:xfrm>
        </p:grpSpPr>
        <p:sp>
          <p:nvSpPr>
            <p:cNvPr id="212" name="Google Shape;212;p8"/>
            <p:cNvSpPr/>
            <p:nvPr/>
          </p:nvSpPr>
          <p:spPr>
            <a:xfrm>
              <a:off x="0" y="0"/>
              <a:ext cx="102222" cy="2217878"/>
            </a:xfrm>
            <a:custGeom>
              <a:rect b="b" l="l" r="r" t="t"/>
              <a:pathLst>
                <a:path extrusionOk="0" h="2217878" w="102222">
                  <a:moveTo>
                    <a:pt x="0" y="0"/>
                  </a:moveTo>
                  <a:lnTo>
                    <a:pt x="102222" y="0"/>
                  </a:lnTo>
                  <a:lnTo>
                    <a:pt x="102222" y="2217878"/>
                  </a:lnTo>
                  <a:lnTo>
                    <a:pt x="0" y="2217878"/>
                  </a:lnTo>
                  <a:close/>
                </a:path>
              </a:pathLst>
            </a:custGeom>
            <a:solidFill>
              <a:srgbClr val="1E63ED"/>
            </a:solidFill>
            <a:ln>
              <a:noFill/>
            </a:ln>
          </p:spPr>
        </p:sp>
        <p:sp>
          <p:nvSpPr>
            <p:cNvPr id="213" name="Google Shape;213;p8"/>
            <p:cNvSpPr txBox="1"/>
            <p:nvPr/>
          </p:nvSpPr>
          <p:spPr>
            <a:xfrm>
              <a:off x="0" y="-38100"/>
              <a:ext cx="102222" cy="225597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8"/>
          <p:cNvGrpSpPr/>
          <p:nvPr/>
        </p:nvGrpSpPr>
        <p:grpSpPr>
          <a:xfrm>
            <a:off x="0" y="-144661"/>
            <a:ext cx="505369" cy="10431661"/>
            <a:chOff x="0" y="-38100"/>
            <a:chExt cx="133101" cy="2747433"/>
          </a:xfrm>
        </p:grpSpPr>
        <p:sp>
          <p:nvSpPr>
            <p:cNvPr id="215" name="Google Shape;215;p8"/>
            <p:cNvSpPr/>
            <p:nvPr/>
          </p:nvSpPr>
          <p:spPr>
            <a:xfrm>
              <a:off x="0" y="0"/>
              <a:ext cx="133101" cy="2709333"/>
            </a:xfrm>
            <a:custGeom>
              <a:rect b="b" l="l" r="r" t="t"/>
              <a:pathLst>
                <a:path extrusionOk="0" h="2709333" w="133101">
                  <a:moveTo>
                    <a:pt x="0" y="0"/>
                  </a:moveTo>
                  <a:lnTo>
                    <a:pt x="133101" y="0"/>
                  </a:lnTo>
                  <a:lnTo>
                    <a:pt x="133101" y="2709333"/>
                  </a:lnTo>
                  <a:lnTo>
                    <a:pt x="0" y="2709333"/>
                  </a:lnTo>
                  <a:close/>
                </a:path>
              </a:pathLst>
            </a:custGeom>
            <a:solidFill>
              <a:srgbClr val="29303C"/>
            </a:solidFill>
            <a:ln>
              <a:noFill/>
            </a:ln>
          </p:spPr>
        </p:sp>
        <p:sp>
          <p:nvSpPr>
            <p:cNvPr id="216" name="Google Shape;216;p8"/>
            <p:cNvSpPr txBox="1"/>
            <p:nvPr/>
          </p:nvSpPr>
          <p:spPr>
            <a:xfrm>
              <a:off x="0" y="-38100"/>
              <a:ext cx="133101"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8"/>
          <p:cNvGrpSpPr/>
          <p:nvPr/>
        </p:nvGrpSpPr>
        <p:grpSpPr>
          <a:xfrm>
            <a:off x="17660541" y="8602991"/>
            <a:ext cx="1066563" cy="1165957"/>
            <a:chOff x="0" y="-38100"/>
            <a:chExt cx="280906" cy="307083"/>
          </a:xfrm>
        </p:grpSpPr>
        <p:sp>
          <p:nvSpPr>
            <p:cNvPr id="218" name="Google Shape;218;p8"/>
            <p:cNvSpPr/>
            <p:nvPr/>
          </p:nvSpPr>
          <p:spPr>
            <a:xfrm>
              <a:off x="0" y="0"/>
              <a:ext cx="280906" cy="268983"/>
            </a:xfrm>
            <a:custGeom>
              <a:rect b="b" l="l" r="r" t="t"/>
              <a:pathLst>
                <a:path extrusionOk="0" h="268983" w="280906">
                  <a:moveTo>
                    <a:pt x="0" y="0"/>
                  </a:moveTo>
                  <a:lnTo>
                    <a:pt x="280906" y="0"/>
                  </a:lnTo>
                  <a:lnTo>
                    <a:pt x="280906" y="268983"/>
                  </a:lnTo>
                  <a:lnTo>
                    <a:pt x="0" y="268983"/>
                  </a:lnTo>
                  <a:close/>
                </a:path>
              </a:pathLst>
            </a:custGeom>
            <a:solidFill>
              <a:srgbClr val="1E63ED"/>
            </a:solidFill>
            <a:ln>
              <a:noFill/>
            </a:ln>
          </p:spPr>
        </p:sp>
        <p:sp>
          <p:nvSpPr>
            <p:cNvPr id="219" name="Google Shape;219;p8"/>
            <p:cNvSpPr txBox="1"/>
            <p:nvPr/>
          </p:nvSpPr>
          <p:spPr>
            <a:xfrm>
              <a:off x="0" y="-38100"/>
              <a:ext cx="280906" cy="3070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8"/>
          <p:cNvGrpSpPr/>
          <p:nvPr/>
        </p:nvGrpSpPr>
        <p:grpSpPr>
          <a:xfrm>
            <a:off x="17259300" y="9113639"/>
            <a:ext cx="1467805" cy="1435160"/>
            <a:chOff x="0" y="-38100"/>
            <a:chExt cx="386582" cy="377985"/>
          </a:xfrm>
        </p:grpSpPr>
        <p:sp>
          <p:nvSpPr>
            <p:cNvPr id="221" name="Google Shape;221;p8"/>
            <p:cNvSpPr/>
            <p:nvPr/>
          </p:nvSpPr>
          <p:spPr>
            <a:xfrm>
              <a:off x="0" y="0"/>
              <a:ext cx="386582" cy="339885"/>
            </a:xfrm>
            <a:custGeom>
              <a:rect b="b" l="l" r="r" t="t"/>
              <a:pathLst>
                <a:path extrusionOk="0" h="339885" w="386582">
                  <a:moveTo>
                    <a:pt x="0" y="0"/>
                  </a:moveTo>
                  <a:lnTo>
                    <a:pt x="386582" y="0"/>
                  </a:lnTo>
                  <a:lnTo>
                    <a:pt x="386582" y="339885"/>
                  </a:lnTo>
                  <a:lnTo>
                    <a:pt x="0" y="339885"/>
                  </a:lnTo>
                  <a:close/>
                </a:path>
              </a:pathLst>
            </a:custGeom>
            <a:solidFill>
              <a:srgbClr val="29303C"/>
            </a:solidFill>
            <a:ln>
              <a:noFill/>
            </a:ln>
          </p:spPr>
        </p:sp>
        <p:sp>
          <p:nvSpPr>
            <p:cNvPr id="222" name="Google Shape;222;p8"/>
            <p:cNvSpPr txBox="1"/>
            <p:nvPr/>
          </p:nvSpPr>
          <p:spPr>
            <a:xfrm>
              <a:off x="0" y="-38100"/>
              <a:ext cx="386582" cy="37798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8"/>
          <p:cNvSpPr/>
          <p:nvPr/>
        </p:nvSpPr>
        <p:spPr>
          <a:xfrm>
            <a:off x="4581675" y="4978507"/>
            <a:ext cx="9124649" cy="4790441"/>
          </a:xfrm>
          <a:custGeom>
            <a:rect b="b" l="l" r="r" t="t"/>
            <a:pathLst>
              <a:path extrusionOk="0" h="4790441" w="9124649">
                <a:moveTo>
                  <a:pt x="0" y="0"/>
                </a:moveTo>
                <a:lnTo>
                  <a:pt x="9124650" y="0"/>
                </a:lnTo>
                <a:lnTo>
                  <a:pt x="9124650" y="4790441"/>
                </a:lnTo>
                <a:lnTo>
                  <a:pt x="0" y="4790441"/>
                </a:lnTo>
                <a:lnTo>
                  <a:pt x="0" y="0"/>
                </a:lnTo>
                <a:close/>
              </a:path>
            </a:pathLst>
          </a:custGeom>
          <a:blipFill rotWithShape="1">
            <a:blip r:embed="rId3">
              <a:alphaModFix/>
            </a:blip>
            <a:stretch>
              <a:fillRect b="0" l="0" r="0" t="0"/>
            </a:stretch>
          </a:blipFill>
          <a:ln>
            <a:noFill/>
          </a:ln>
        </p:spPr>
      </p:sp>
      <p:sp>
        <p:nvSpPr>
          <p:cNvPr id="224" name="Google Shape;224;p8"/>
          <p:cNvSpPr txBox="1"/>
          <p:nvPr/>
        </p:nvSpPr>
        <p:spPr>
          <a:xfrm>
            <a:off x="1201175" y="189750"/>
            <a:ext cx="16459500" cy="923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6000" u="none" cap="none" strike="noStrike">
                <a:solidFill>
                  <a:srgbClr val="29303C"/>
                </a:solidFill>
                <a:latin typeface="Arial"/>
                <a:ea typeface="Arial"/>
                <a:cs typeface="Arial"/>
                <a:sym typeface="Arial"/>
              </a:rPr>
              <a:t>¿QUÉ SON LAS VOLÚMENES DE DOCKER?</a:t>
            </a:r>
            <a:endParaRPr sz="900"/>
          </a:p>
        </p:txBody>
      </p:sp>
      <p:sp>
        <p:nvSpPr>
          <p:cNvPr id="225" name="Google Shape;225;p8"/>
          <p:cNvSpPr txBox="1"/>
          <p:nvPr/>
        </p:nvSpPr>
        <p:spPr>
          <a:xfrm>
            <a:off x="1278155" y="1508125"/>
            <a:ext cx="16382387"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Los volúmenes de Docker </a:t>
            </a:r>
            <a:r>
              <a:rPr b="1" i="0" lang="en-US" sz="3000" u="none" cap="none" strike="noStrike">
                <a:solidFill>
                  <a:srgbClr val="29303C"/>
                </a:solidFill>
                <a:latin typeface="Arial"/>
                <a:ea typeface="Arial"/>
                <a:cs typeface="Arial"/>
                <a:sym typeface="Arial"/>
              </a:rPr>
              <a:t>son una solución de almacenamiento que permite que los contenedores almacenen datos de manera persistente.</a:t>
            </a:r>
            <a:endParaRPr/>
          </a:p>
          <a:p>
            <a:pPr indent="0" lvl="0" marL="0" marR="0" rtl="0" algn="l">
              <a:lnSpc>
                <a:spcPct val="130000"/>
              </a:lnSpc>
              <a:spcBef>
                <a:spcPts val="0"/>
              </a:spcBef>
              <a:spcAft>
                <a:spcPts val="0"/>
              </a:spcAft>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Normalmente los datos generados dentro de un contenedor se eliminan al detener el contenedo</a:t>
            </a:r>
            <a:r>
              <a:rPr b="0" i="0" lang="en-US" sz="3000" u="none" cap="none" strike="noStrike">
                <a:solidFill>
                  <a:srgbClr val="29303C"/>
                </a:solidFill>
                <a:latin typeface="Arial"/>
                <a:ea typeface="Arial"/>
                <a:cs typeface="Arial"/>
                <a:sym typeface="Arial"/>
              </a:rPr>
              <a:t>r, pero los volúmenes permiten que los datos permanezcan, incluso si el contenedor es eliminado o recreado.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9"/>
          <p:cNvSpPr/>
          <p:nvPr/>
        </p:nvSpPr>
        <p:spPr>
          <a:xfrm flipH="1" rot="5679621">
            <a:off x="7710161" y="1015520"/>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231" name="Google Shape;231;p9"/>
          <p:cNvSpPr/>
          <p:nvPr/>
        </p:nvSpPr>
        <p:spPr>
          <a:xfrm flipH="1" rot="5679621">
            <a:off x="7894116" y="1193759"/>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grpSp>
        <p:nvGrpSpPr>
          <p:cNvPr id="232" name="Google Shape;232;p9"/>
          <p:cNvGrpSpPr/>
          <p:nvPr/>
        </p:nvGrpSpPr>
        <p:grpSpPr>
          <a:xfrm>
            <a:off x="1517594" y="2085789"/>
            <a:ext cx="731003" cy="760368"/>
            <a:chOff x="0" y="0"/>
            <a:chExt cx="974670" cy="1013824"/>
          </a:xfrm>
        </p:grpSpPr>
        <p:sp>
          <p:nvSpPr>
            <p:cNvPr id="233" name="Google Shape;233;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1</a:t>
              </a:r>
              <a:endParaRPr/>
            </a:p>
          </p:txBody>
        </p:sp>
      </p:grpSp>
      <p:grpSp>
        <p:nvGrpSpPr>
          <p:cNvPr id="235" name="Google Shape;235;p9"/>
          <p:cNvGrpSpPr/>
          <p:nvPr/>
        </p:nvGrpSpPr>
        <p:grpSpPr>
          <a:xfrm>
            <a:off x="1517594" y="4191000"/>
            <a:ext cx="731003" cy="760368"/>
            <a:chOff x="0" y="0"/>
            <a:chExt cx="974670" cy="1013824"/>
          </a:xfrm>
        </p:grpSpPr>
        <p:sp>
          <p:nvSpPr>
            <p:cNvPr id="236" name="Google Shape;236;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2</a:t>
              </a:r>
              <a:endParaRPr/>
            </a:p>
          </p:txBody>
        </p:sp>
      </p:grpSp>
      <p:grpSp>
        <p:nvGrpSpPr>
          <p:cNvPr id="238" name="Google Shape;238;p9"/>
          <p:cNvGrpSpPr/>
          <p:nvPr/>
        </p:nvGrpSpPr>
        <p:grpSpPr>
          <a:xfrm>
            <a:off x="1517594" y="7113406"/>
            <a:ext cx="731003" cy="760368"/>
            <a:chOff x="0" y="0"/>
            <a:chExt cx="974670" cy="1013824"/>
          </a:xfrm>
        </p:grpSpPr>
        <p:sp>
          <p:nvSpPr>
            <p:cNvPr id="239" name="Google Shape;239;p9"/>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3</a:t>
              </a:r>
              <a:endParaRPr/>
            </a:p>
          </p:txBody>
        </p:sp>
      </p:grpSp>
      <p:sp>
        <p:nvSpPr>
          <p:cNvPr id="241" name="Google Shape;241;p9"/>
          <p:cNvSpPr/>
          <p:nvPr/>
        </p:nvSpPr>
        <p:spPr>
          <a:xfrm>
            <a:off x="9545719" y="2846157"/>
            <a:ext cx="7713581" cy="4647432"/>
          </a:xfrm>
          <a:custGeom>
            <a:rect b="b" l="l" r="r" t="t"/>
            <a:pathLst>
              <a:path extrusionOk="0" h="4647432" w="7713581">
                <a:moveTo>
                  <a:pt x="0" y="0"/>
                </a:moveTo>
                <a:lnTo>
                  <a:pt x="7713581" y="0"/>
                </a:lnTo>
                <a:lnTo>
                  <a:pt x="7713581" y="4647433"/>
                </a:lnTo>
                <a:lnTo>
                  <a:pt x="0" y="4647433"/>
                </a:lnTo>
                <a:lnTo>
                  <a:pt x="0" y="0"/>
                </a:lnTo>
                <a:close/>
              </a:path>
            </a:pathLst>
          </a:custGeom>
          <a:blipFill rotWithShape="1">
            <a:blip r:embed="rId5">
              <a:alphaModFix/>
            </a:blip>
            <a:stretch>
              <a:fillRect b="0" l="0" r="0" t="0"/>
            </a:stretch>
          </a:blipFill>
          <a:ln>
            <a:noFill/>
          </a:ln>
        </p:spPr>
      </p:sp>
      <p:sp>
        <p:nvSpPr>
          <p:cNvPr id="242" name="Google Shape;242;p9"/>
          <p:cNvSpPr txBox="1"/>
          <p:nvPr/>
        </p:nvSpPr>
        <p:spPr>
          <a:xfrm>
            <a:off x="1663522" y="8536803"/>
            <a:ext cx="439148" cy="635953"/>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6</a:t>
            </a:r>
            <a:endParaRPr/>
          </a:p>
        </p:txBody>
      </p:sp>
      <p:sp>
        <p:nvSpPr>
          <p:cNvPr id="243" name="Google Shape;243;p9"/>
          <p:cNvSpPr txBox="1"/>
          <p:nvPr/>
        </p:nvSpPr>
        <p:spPr>
          <a:xfrm>
            <a:off x="2309801" y="439737"/>
            <a:ext cx="14307328"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TIPOS DE VOLÚMENES</a:t>
            </a:r>
            <a:endParaRPr/>
          </a:p>
        </p:txBody>
      </p:sp>
      <p:sp>
        <p:nvSpPr>
          <p:cNvPr id="244" name="Google Shape;244;p9"/>
          <p:cNvSpPr txBox="1"/>
          <p:nvPr/>
        </p:nvSpPr>
        <p:spPr>
          <a:xfrm>
            <a:off x="2441330" y="2057214"/>
            <a:ext cx="683818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Anónimos</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No tienen nombre y se crean automáticamente.</a:t>
            </a:r>
            <a:endParaRPr/>
          </a:p>
        </p:txBody>
      </p:sp>
      <p:sp>
        <p:nvSpPr>
          <p:cNvPr id="245" name="Google Shape;245;p9"/>
          <p:cNvSpPr txBox="1"/>
          <p:nvPr/>
        </p:nvSpPr>
        <p:spPr>
          <a:xfrm>
            <a:off x="2441330" y="4162425"/>
            <a:ext cx="6838180" cy="24669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Con nombres</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 Son identificados por un nombre específico, lo cual permite asociarlos y reutilizarlos en diferentes contenedores.</a:t>
            </a:r>
            <a:endParaRPr/>
          </a:p>
        </p:txBody>
      </p:sp>
      <p:sp>
        <p:nvSpPr>
          <p:cNvPr id="246" name="Google Shape;246;p9"/>
          <p:cNvSpPr txBox="1"/>
          <p:nvPr/>
        </p:nvSpPr>
        <p:spPr>
          <a:xfrm>
            <a:off x="2441330" y="7084831"/>
            <a:ext cx="6702670"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Bind Mounts</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 Monta una carpeta del sistema de archivos del host en el contenedor.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pSp>
        <p:nvGrpSpPr>
          <p:cNvPr id="251" name="Google Shape;251;p10"/>
          <p:cNvGrpSpPr/>
          <p:nvPr/>
        </p:nvGrpSpPr>
        <p:grpSpPr>
          <a:xfrm>
            <a:off x="0" y="8824911"/>
            <a:ext cx="7251395" cy="1479444"/>
            <a:chOff x="0" y="-38100"/>
            <a:chExt cx="1909832" cy="389648"/>
          </a:xfrm>
        </p:grpSpPr>
        <p:sp>
          <p:nvSpPr>
            <p:cNvPr id="252" name="Google Shape;252;p10"/>
            <p:cNvSpPr/>
            <p:nvPr/>
          </p:nvSpPr>
          <p:spPr>
            <a:xfrm>
              <a:off x="0" y="0"/>
              <a:ext cx="1909832" cy="351548"/>
            </a:xfrm>
            <a:custGeom>
              <a:rect b="b" l="l" r="r" t="t"/>
              <a:pathLst>
                <a:path extrusionOk="0" h="351548" w="1909832">
                  <a:moveTo>
                    <a:pt x="0" y="0"/>
                  </a:moveTo>
                  <a:lnTo>
                    <a:pt x="1909832" y="0"/>
                  </a:lnTo>
                  <a:lnTo>
                    <a:pt x="1909832" y="351548"/>
                  </a:lnTo>
                  <a:lnTo>
                    <a:pt x="0" y="351548"/>
                  </a:lnTo>
                  <a:close/>
                </a:path>
              </a:pathLst>
            </a:custGeom>
            <a:solidFill>
              <a:srgbClr val="1E63ED"/>
            </a:solidFill>
            <a:ln>
              <a:noFill/>
            </a:ln>
          </p:spPr>
        </p:sp>
        <p:sp>
          <p:nvSpPr>
            <p:cNvPr id="253" name="Google Shape;253;p10"/>
            <p:cNvSpPr txBox="1"/>
            <p:nvPr/>
          </p:nvSpPr>
          <p:spPr>
            <a:xfrm>
              <a:off x="0" y="-38100"/>
              <a:ext cx="1909832" cy="3896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10"/>
          <p:cNvGrpSpPr/>
          <p:nvPr/>
        </p:nvGrpSpPr>
        <p:grpSpPr>
          <a:xfrm>
            <a:off x="0" y="9113639"/>
            <a:ext cx="18288000" cy="1173361"/>
            <a:chOff x="0" y="-38100"/>
            <a:chExt cx="4816593" cy="309033"/>
          </a:xfrm>
        </p:grpSpPr>
        <p:sp>
          <p:nvSpPr>
            <p:cNvPr id="255" name="Google Shape;255;p10"/>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256" name="Google Shape;256;p10"/>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10"/>
          <p:cNvSpPr/>
          <p:nvPr/>
        </p:nvSpPr>
        <p:spPr>
          <a:xfrm>
            <a:off x="9144000" y="2445226"/>
            <a:ext cx="8200935" cy="5396549"/>
          </a:xfrm>
          <a:custGeom>
            <a:rect b="b" l="l" r="r" t="t"/>
            <a:pathLst>
              <a:path extrusionOk="0" h="5396549" w="8200935">
                <a:moveTo>
                  <a:pt x="0" y="0"/>
                </a:moveTo>
                <a:lnTo>
                  <a:pt x="8200935" y="0"/>
                </a:lnTo>
                <a:lnTo>
                  <a:pt x="8200935" y="5396548"/>
                </a:lnTo>
                <a:lnTo>
                  <a:pt x="0" y="5396548"/>
                </a:lnTo>
                <a:lnTo>
                  <a:pt x="0" y="0"/>
                </a:lnTo>
                <a:close/>
              </a:path>
            </a:pathLst>
          </a:custGeom>
          <a:blipFill rotWithShape="1">
            <a:blip r:embed="rId3">
              <a:alphaModFix/>
            </a:blip>
            <a:stretch>
              <a:fillRect b="0" l="0" r="0" t="0"/>
            </a:stretch>
          </a:blipFill>
          <a:ln>
            <a:noFill/>
          </a:ln>
        </p:spPr>
      </p:sp>
      <p:sp>
        <p:nvSpPr>
          <p:cNvPr id="258" name="Google Shape;258;p10"/>
          <p:cNvSpPr txBox="1"/>
          <p:nvPr/>
        </p:nvSpPr>
        <p:spPr>
          <a:xfrm>
            <a:off x="3496932" y="971550"/>
            <a:ext cx="11294135" cy="812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29303C"/>
                </a:solidFill>
                <a:latin typeface="Arial"/>
                <a:ea typeface="Arial"/>
                <a:cs typeface="Arial"/>
                <a:sym typeface="Arial"/>
              </a:rPr>
              <a:t>¿QUÉ SON LAS REDES DE DOCKER?</a:t>
            </a:r>
            <a:endParaRPr/>
          </a:p>
        </p:txBody>
      </p:sp>
      <p:sp>
        <p:nvSpPr>
          <p:cNvPr id="259" name="Google Shape;259;p10"/>
          <p:cNvSpPr txBox="1"/>
          <p:nvPr/>
        </p:nvSpPr>
        <p:spPr>
          <a:xfrm>
            <a:off x="1409700" y="3648075"/>
            <a:ext cx="7381262"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Las redes en Docker </a:t>
            </a:r>
            <a:r>
              <a:rPr b="1" i="0" lang="en-US" sz="3000" u="none" cap="none" strike="noStrike">
                <a:solidFill>
                  <a:srgbClr val="29303C"/>
                </a:solidFill>
                <a:latin typeface="Arial"/>
                <a:ea typeface="Arial"/>
                <a:cs typeface="Arial"/>
                <a:sym typeface="Arial"/>
              </a:rPr>
              <a:t>permiten la comunicación entre contenedores</a:t>
            </a:r>
            <a:r>
              <a:rPr b="0" i="0" lang="en-US" sz="3000" u="none" cap="none" strike="noStrike">
                <a:solidFill>
                  <a:srgbClr val="29303C"/>
                </a:solidFill>
                <a:latin typeface="Arial"/>
                <a:ea typeface="Arial"/>
                <a:cs typeface="Arial"/>
                <a:sym typeface="Arial"/>
              </a:rPr>
              <a:t>. Docker usa networks para gestionar el tráfico y asegurar que los contenedores puedan descubrirse y comunicarse entre ellos.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11"/>
          <p:cNvGrpSpPr/>
          <p:nvPr/>
        </p:nvGrpSpPr>
        <p:grpSpPr>
          <a:xfrm>
            <a:off x="-1893732" y="9582281"/>
            <a:ext cx="3086100" cy="3120318"/>
            <a:chOff x="0" y="-38100"/>
            <a:chExt cx="812800" cy="821812"/>
          </a:xfrm>
        </p:grpSpPr>
        <p:sp>
          <p:nvSpPr>
            <p:cNvPr id="265" name="Google Shape;265;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266" name="Google Shape;266;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11"/>
          <p:cNvGrpSpPr/>
          <p:nvPr/>
        </p:nvGrpSpPr>
        <p:grpSpPr>
          <a:xfrm>
            <a:off x="-2403992" y="8094453"/>
            <a:ext cx="3086100" cy="3120318"/>
            <a:chOff x="0" y="-38100"/>
            <a:chExt cx="812800" cy="821812"/>
          </a:xfrm>
        </p:grpSpPr>
        <p:sp>
          <p:nvSpPr>
            <p:cNvPr id="268" name="Google Shape;268;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29303C"/>
            </a:solidFill>
            <a:ln>
              <a:noFill/>
            </a:ln>
          </p:spPr>
        </p:sp>
        <p:sp>
          <p:nvSpPr>
            <p:cNvPr id="269" name="Google Shape;269;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1"/>
          <p:cNvGrpSpPr/>
          <p:nvPr/>
        </p:nvGrpSpPr>
        <p:grpSpPr>
          <a:xfrm>
            <a:off x="16776087" y="-539578"/>
            <a:ext cx="2344551" cy="2157882"/>
            <a:chOff x="0" y="-38100"/>
            <a:chExt cx="617495" cy="568331"/>
          </a:xfrm>
        </p:grpSpPr>
        <p:sp>
          <p:nvSpPr>
            <p:cNvPr id="271" name="Google Shape;271;p11"/>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272" name="Google Shape;272;p11"/>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11"/>
          <p:cNvGrpSpPr/>
          <p:nvPr/>
        </p:nvGrpSpPr>
        <p:grpSpPr>
          <a:xfrm>
            <a:off x="17259300" y="641994"/>
            <a:ext cx="3086100" cy="3120318"/>
            <a:chOff x="0" y="-38100"/>
            <a:chExt cx="812800" cy="821812"/>
          </a:xfrm>
        </p:grpSpPr>
        <p:sp>
          <p:nvSpPr>
            <p:cNvPr id="274" name="Google Shape;274;p11"/>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275" name="Google Shape;275;p11"/>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6" name="Google Shape;276;p11"/>
          <p:cNvSpPr txBox="1"/>
          <p:nvPr/>
        </p:nvSpPr>
        <p:spPr>
          <a:xfrm>
            <a:off x="2309801" y="439737"/>
            <a:ext cx="14307328"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TIPOS DE REDES</a:t>
            </a:r>
            <a:endParaRPr/>
          </a:p>
        </p:txBody>
      </p:sp>
      <p:grpSp>
        <p:nvGrpSpPr>
          <p:cNvPr id="277" name="Google Shape;277;p11"/>
          <p:cNvGrpSpPr/>
          <p:nvPr/>
        </p:nvGrpSpPr>
        <p:grpSpPr>
          <a:xfrm>
            <a:off x="1517594" y="2133476"/>
            <a:ext cx="731003" cy="760368"/>
            <a:chOff x="0" y="0"/>
            <a:chExt cx="974670" cy="1013824"/>
          </a:xfrm>
        </p:grpSpPr>
        <p:sp>
          <p:nvSpPr>
            <p:cNvPr id="278" name="Google Shape;278;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1</a:t>
              </a:r>
              <a:endParaRPr/>
            </a:p>
          </p:txBody>
        </p:sp>
      </p:grpSp>
      <p:grpSp>
        <p:nvGrpSpPr>
          <p:cNvPr id="280" name="Google Shape;280;p11"/>
          <p:cNvGrpSpPr/>
          <p:nvPr/>
        </p:nvGrpSpPr>
        <p:grpSpPr>
          <a:xfrm>
            <a:off x="1517594" y="3809998"/>
            <a:ext cx="731003" cy="760368"/>
            <a:chOff x="0" y="0"/>
            <a:chExt cx="974670" cy="1013824"/>
          </a:xfrm>
        </p:grpSpPr>
        <p:sp>
          <p:nvSpPr>
            <p:cNvPr id="281" name="Google Shape;281;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2</a:t>
              </a:r>
              <a:endParaRPr/>
            </a:p>
          </p:txBody>
        </p:sp>
      </p:grpSp>
      <p:grpSp>
        <p:nvGrpSpPr>
          <p:cNvPr id="283" name="Google Shape;283;p11"/>
          <p:cNvGrpSpPr/>
          <p:nvPr/>
        </p:nvGrpSpPr>
        <p:grpSpPr>
          <a:xfrm>
            <a:off x="1517594" y="6003234"/>
            <a:ext cx="731003" cy="760368"/>
            <a:chOff x="0" y="0"/>
            <a:chExt cx="974670" cy="1013824"/>
          </a:xfrm>
        </p:grpSpPr>
        <p:sp>
          <p:nvSpPr>
            <p:cNvPr id="284" name="Google Shape;284;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3</a:t>
              </a:r>
              <a:endParaRPr/>
            </a:p>
          </p:txBody>
        </p:sp>
      </p:grpSp>
      <p:sp>
        <p:nvSpPr>
          <p:cNvPr id="286" name="Google Shape;286;p11"/>
          <p:cNvSpPr txBox="1"/>
          <p:nvPr/>
        </p:nvSpPr>
        <p:spPr>
          <a:xfrm>
            <a:off x="2441330" y="2104901"/>
            <a:ext cx="14175799" cy="1971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Bridge Network</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Es el tipo de red por defecto para contenedores. Conecta contenedores en una misma red aislada dentro del host.</a:t>
            </a:r>
            <a:endParaRPr/>
          </a:p>
          <a:p>
            <a:pPr indent="0" lvl="0" marL="0" marR="0" rtl="0" algn="l">
              <a:lnSpc>
                <a:spcPct val="130000"/>
              </a:lnSpc>
              <a:spcBef>
                <a:spcPts val="0"/>
              </a:spcBef>
              <a:spcAft>
                <a:spcPts val="0"/>
              </a:spcAft>
              <a:buNone/>
            </a:pPr>
            <a:r>
              <a:t/>
            </a:r>
            <a:endParaRPr b="0" i="0" sz="3000" u="none" cap="none" strike="noStrike">
              <a:solidFill>
                <a:srgbClr val="29303C"/>
              </a:solidFill>
              <a:latin typeface="Arial"/>
              <a:ea typeface="Arial"/>
              <a:cs typeface="Arial"/>
              <a:sym typeface="Arial"/>
            </a:endParaRPr>
          </a:p>
        </p:txBody>
      </p:sp>
      <p:sp>
        <p:nvSpPr>
          <p:cNvPr id="287" name="Google Shape;287;p11"/>
          <p:cNvSpPr txBox="1"/>
          <p:nvPr/>
        </p:nvSpPr>
        <p:spPr>
          <a:xfrm>
            <a:off x="2441330" y="3781423"/>
            <a:ext cx="14334757" cy="1971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HOST NETWORK</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Usa la interfaz de red del host y permite que el contenedor comparta su IP con el host. Ideal para entornos en los que el rendimiento de la red es una prioridad.</a:t>
            </a:r>
            <a:endParaRPr/>
          </a:p>
        </p:txBody>
      </p:sp>
      <p:sp>
        <p:nvSpPr>
          <p:cNvPr id="288" name="Google Shape;288;p11"/>
          <p:cNvSpPr txBox="1"/>
          <p:nvPr/>
        </p:nvSpPr>
        <p:spPr>
          <a:xfrm>
            <a:off x="2441330" y="5974659"/>
            <a:ext cx="14175799" cy="14763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OVERLAY NETWORK</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Permite la comunicación entre varios hosts Docker, ideal para configuraciones de orquestación con Docker Swarm o Kubernetes.</a:t>
            </a:r>
            <a:endParaRPr/>
          </a:p>
        </p:txBody>
      </p:sp>
      <p:grpSp>
        <p:nvGrpSpPr>
          <p:cNvPr id="289" name="Google Shape;289;p11"/>
          <p:cNvGrpSpPr/>
          <p:nvPr/>
        </p:nvGrpSpPr>
        <p:grpSpPr>
          <a:xfrm>
            <a:off x="1517594" y="8092384"/>
            <a:ext cx="731003" cy="760368"/>
            <a:chOff x="0" y="0"/>
            <a:chExt cx="974670" cy="1013824"/>
          </a:xfrm>
        </p:grpSpPr>
        <p:sp>
          <p:nvSpPr>
            <p:cNvPr id="290" name="Google Shape;290;p11"/>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4</a:t>
              </a:r>
              <a:endParaRPr/>
            </a:p>
          </p:txBody>
        </p:sp>
      </p:grpSp>
      <p:sp>
        <p:nvSpPr>
          <p:cNvPr id="292" name="Google Shape;292;p11"/>
          <p:cNvSpPr txBox="1"/>
          <p:nvPr/>
        </p:nvSpPr>
        <p:spPr>
          <a:xfrm>
            <a:off x="2441330" y="8063809"/>
            <a:ext cx="14175799" cy="981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29303C"/>
                </a:solidFill>
                <a:latin typeface="Arial"/>
                <a:ea typeface="Arial"/>
                <a:cs typeface="Arial"/>
                <a:sym typeface="Arial"/>
              </a:rPr>
              <a:t>NONE NETWORK</a:t>
            </a:r>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No asigna una red al contenedor, lo que aísla completamente al contenedor.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12"/>
          <p:cNvGrpSpPr/>
          <p:nvPr/>
        </p:nvGrpSpPr>
        <p:grpSpPr>
          <a:xfrm>
            <a:off x="0" y="-171146"/>
            <a:ext cx="566738" cy="2834568"/>
            <a:chOff x="0" y="-38100"/>
            <a:chExt cx="149264" cy="746553"/>
          </a:xfrm>
        </p:grpSpPr>
        <p:sp>
          <p:nvSpPr>
            <p:cNvPr id="298" name="Google Shape;298;p12"/>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299" name="Google Shape;299;p12"/>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0" name="Google Shape;300;p12"/>
          <p:cNvGrpSpPr/>
          <p:nvPr/>
        </p:nvGrpSpPr>
        <p:grpSpPr>
          <a:xfrm>
            <a:off x="0" y="-144661"/>
            <a:ext cx="1133475" cy="1463129"/>
            <a:chOff x="0" y="-38100"/>
            <a:chExt cx="298528" cy="385351"/>
          </a:xfrm>
        </p:grpSpPr>
        <p:sp>
          <p:nvSpPr>
            <p:cNvPr id="301" name="Google Shape;301;p12"/>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02" name="Google Shape;302;p12"/>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12"/>
          <p:cNvGrpSpPr/>
          <p:nvPr/>
        </p:nvGrpSpPr>
        <p:grpSpPr>
          <a:xfrm>
            <a:off x="16776087" y="8921922"/>
            <a:ext cx="2344551" cy="2157882"/>
            <a:chOff x="0" y="-38100"/>
            <a:chExt cx="617495" cy="568331"/>
          </a:xfrm>
        </p:grpSpPr>
        <p:sp>
          <p:nvSpPr>
            <p:cNvPr id="304" name="Google Shape;304;p12"/>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305" name="Google Shape;305;p12"/>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2"/>
          <p:cNvGrpSpPr/>
          <p:nvPr/>
        </p:nvGrpSpPr>
        <p:grpSpPr>
          <a:xfrm>
            <a:off x="17577588" y="6952876"/>
            <a:ext cx="3086100" cy="3120318"/>
            <a:chOff x="0" y="-38100"/>
            <a:chExt cx="812800" cy="821812"/>
          </a:xfrm>
        </p:grpSpPr>
        <p:sp>
          <p:nvSpPr>
            <p:cNvPr id="307" name="Google Shape;307;p12"/>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308" name="Google Shape;308;p12"/>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2"/>
          <p:cNvSpPr/>
          <p:nvPr/>
        </p:nvSpPr>
        <p:spPr>
          <a:xfrm>
            <a:off x="3805722" y="1911554"/>
            <a:ext cx="10676557" cy="7913998"/>
          </a:xfrm>
          <a:custGeom>
            <a:rect b="b" l="l" r="r" t="t"/>
            <a:pathLst>
              <a:path extrusionOk="0" h="7913998" w="10676557">
                <a:moveTo>
                  <a:pt x="0" y="0"/>
                </a:moveTo>
                <a:lnTo>
                  <a:pt x="10676556" y="0"/>
                </a:lnTo>
                <a:lnTo>
                  <a:pt x="10676556" y="7913997"/>
                </a:lnTo>
                <a:lnTo>
                  <a:pt x="0" y="7913997"/>
                </a:lnTo>
                <a:lnTo>
                  <a:pt x="0" y="0"/>
                </a:lnTo>
                <a:close/>
              </a:path>
            </a:pathLst>
          </a:custGeom>
          <a:blipFill rotWithShape="1">
            <a:blip r:embed="rId3">
              <a:alphaModFix/>
            </a:blip>
            <a:stretch>
              <a:fillRect b="0" l="0" r="0" t="0"/>
            </a:stretch>
          </a:blipFill>
          <a:ln>
            <a:noFill/>
          </a:ln>
        </p:spPr>
      </p:sp>
      <p:sp>
        <p:nvSpPr>
          <p:cNvPr id="310" name="Google Shape;310;p12"/>
          <p:cNvSpPr txBox="1"/>
          <p:nvPr/>
        </p:nvSpPr>
        <p:spPr>
          <a:xfrm>
            <a:off x="5115982" y="602084"/>
            <a:ext cx="805603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DOCKER NETWORKS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grpSp>
        <p:nvGrpSpPr>
          <p:cNvPr id="315" name="Google Shape;315;p13"/>
          <p:cNvGrpSpPr/>
          <p:nvPr/>
        </p:nvGrpSpPr>
        <p:grpSpPr>
          <a:xfrm>
            <a:off x="1028700" y="1310478"/>
            <a:ext cx="7832725" cy="2515431"/>
            <a:chOff x="0" y="-47625"/>
            <a:chExt cx="2062940" cy="662500"/>
          </a:xfrm>
        </p:grpSpPr>
        <p:sp>
          <p:nvSpPr>
            <p:cNvPr id="316" name="Google Shape;316;p13"/>
            <p:cNvSpPr/>
            <p:nvPr/>
          </p:nvSpPr>
          <p:spPr>
            <a:xfrm>
              <a:off x="0" y="0"/>
              <a:ext cx="2062940" cy="614875"/>
            </a:xfrm>
            <a:custGeom>
              <a:rect b="b" l="l" r="r" t="t"/>
              <a:pathLst>
                <a:path extrusionOk="0" h="614875" w="2062940">
                  <a:moveTo>
                    <a:pt x="50409" y="0"/>
                  </a:moveTo>
                  <a:lnTo>
                    <a:pt x="2012531" y="0"/>
                  </a:lnTo>
                  <a:cubicBezTo>
                    <a:pt x="2025900" y="0"/>
                    <a:pt x="2038722" y="5311"/>
                    <a:pt x="2048176" y="14764"/>
                  </a:cubicBezTo>
                  <a:cubicBezTo>
                    <a:pt x="2057629" y="24218"/>
                    <a:pt x="2062940" y="37040"/>
                    <a:pt x="2062940" y="50409"/>
                  </a:cubicBezTo>
                  <a:lnTo>
                    <a:pt x="2062940" y="564467"/>
                  </a:lnTo>
                  <a:cubicBezTo>
                    <a:pt x="2062940" y="577836"/>
                    <a:pt x="2057629" y="590657"/>
                    <a:pt x="2048176" y="600111"/>
                  </a:cubicBezTo>
                  <a:cubicBezTo>
                    <a:pt x="2038722" y="609564"/>
                    <a:pt x="2025900" y="614875"/>
                    <a:pt x="2012531" y="614875"/>
                  </a:cubicBezTo>
                  <a:lnTo>
                    <a:pt x="50409" y="614875"/>
                  </a:lnTo>
                  <a:cubicBezTo>
                    <a:pt x="37040" y="614875"/>
                    <a:pt x="24218" y="609564"/>
                    <a:pt x="14764" y="600111"/>
                  </a:cubicBezTo>
                  <a:cubicBezTo>
                    <a:pt x="5311" y="590657"/>
                    <a:pt x="0" y="577836"/>
                    <a:pt x="0" y="564467"/>
                  </a:cubicBezTo>
                  <a:lnTo>
                    <a:pt x="0" y="50409"/>
                  </a:lnTo>
                  <a:cubicBezTo>
                    <a:pt x="0" y="37040"/>
                    <a:pt x="5311" y="24218"/>
                    <a:pt x="14764" y="14764"/>
                  </a:cubicBezTo>
                  <a:cubicBezTo>
                    <a:pt x="24218" y="5311"/>
                    <a:pt x="37040" y="0"/>
                    <a:pt x="50409" y="0"/>
                  </a:cubicBezTo>
                  <a:close/>
                </a:path>
              </a:pathLst>
            </a:cu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txBox="1"/>
            <p:nvPr/>
          </p:nvSpPr>
          <p:spPr>
            <a:xfrm>
              <a:off x="0" y="-47625"/>
              <a:ext cx="2062940"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PORTABILIDAD</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Los contenedores de Docker pueden ejecutarse de manera uniforme en cualquier entorno, ya sea de desarrollo, pruebas o producción.</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sp>
        <p:nvSpPr>
          <p:cNvPr id="318" name="Google Shape;318;p13"/>
          <p:cNvSpPr txBox="1"/>
          <p:nvPr/>
        </p:nvSpPr>
        <p:spPr>
          <a:xfrm>
            <a:off x="1028700" y="332293"/>
            <a:ext cx="15431080" cy="812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000" u="none" cap="none" strike="noStrike">
                <a:solidFill>
                  <a:srgbClr val="29303C"/>
                </a:solidFill>
                <a:latin typeface="Arial"/>
                <a:ea typeface="Arial"/>
                <a:cs typeface="Arial"/>
                <a:sym typeface="Arial"/>
              </a:rPr>
              <a:t>¿POR QUÉ UTILIZAR DOCKER?</a:t>
            </a:r>
            <a:endParaRPr/>
          </a:p>
        </p:txBody>
      </p:sp>
      <p:grpSp>
        <p:nvGrpSpPr>
          <p:cNvPr id="319" name="Google Shape;319;p13"/>
          <p:cNvGrpSpPr/>
          <p:nvPr/>
        </p:nvGrpSpPr>
        <p:grpSpPr>
          <a:xfrm>
            <a:off x="9426575" y="1310478"/>
            <a:ext cx="7832725" cy="2515431"/>
            <a:chOff x="0" y="-47625"/>
            <a:chExt cx="2062940" cy="662500"/>
          </a:xfrm>
        </p:grpSpPr>
        <p:sp>
          <p:nvSpPr>
            <p:cNvPr id="320" name="Google Shape;320;p13"/>
            <p:cNvSpPr/>
            <p:nvPr/>
          </p:nvSpPr>
          <p:spPr>
            <a:xfrm>
              <a:off x="0" y="0"/>
              <a:ext cx="2062940" cy="614875"/>
            </a:xfrm>
            <a:custGeom>
              <a:rect b="b" l="l" r="r" t="t"/>
              <a:pathLst>
                <a:path extrusionOk="0" h="614875" w="2062940">
                  <a:moveTo>
                    <a:pt x="50409" y="0"/>
                  </a:moveTo>
                  <a:lnTo>
                    <a:pt x="2012531" y="0"/>
                  </a:lnTo>
                  <a:cubicBezTo>
                    <a:pt x="2025900" y="0"/>
                    <a:pt x="2038722" y="5311"/>
                    <a:pt x="2048176" y="14764"/>
                  </a:cubicBezTo>
                  <a:cubicBezTo>
                    <a:pt x="2057629" y="24218"/>
                    <a:pt x="2062940" y="37040"/>
                    <a:pt x="2062940" y="50409"/>
                  </a:cubicBezTo>
                  <a:lnTo>
                    <a:pt x="2062940" y="564467"/>
                  </a:lnTo>
                  <a:cubicBezTo>
                    <a:pt x="2062940" y="577836"/>
                    <a:pt x="2057629" y="590657"/>
                    <a:pt x="2048176" y="600111"/>
                  </a:cubicBezTo>
                  <a:cubicBezTo>
                    <a:pt x="2038722" y="609564"/>
                    <a:pt x="2025900" y="614875"/>
                    <a:pt x="2012531" y="614875"/>
                  </a:cubicBezTo>
                  <a:lnTo>
                    <a:pt x="50409" y="614875"/>
                  </a:lnTo>
                  <a:cubicBezTo>
                    <a:pt x="37040" y="614875"/>
                    <a:pt x="24218" y="609564"/>
                    <a:pt x="14764" y="600111"/>
                  </a:cubicBezTo>
                  <a:cubicBezTo>
                    <a:pt x="5311" y="590657"/>
                    <a:pt x="0" y="577836"/>
                    <a:pt x="0" y="564467"/>
                  </a:cubicBezTo>
                  <a:lnTo>
                    <a:pt x="0" y="50409"/>
                  </a:lnTo>
                  <a:cubicBezTo>
                    <a:pt x="0" y="37040"/>
                    <a:pt x="5311" y="24218"/>
                    <a:pt x="14764" y="14764"/>
                  </a:cubicBezTo>
                  <a:cubicBezTo>
                    <a:pt x="24218" y="5311"/>
                    <a:pt x="37040" y="0"/>
                    <a:pt x="50409" y="0"/>
                  </a:cubicBezTo>
                  <a:close/>
                </a:path>
              </a:pathLst>
            </a:custGeom>
            <a:solidFill>
              <a:srgbClr val="293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txBox="1"/>
            <p:nvPr/>
          </p:nvSpPr>
          <p:spPr>
            <a:xfrm>
              <a:off x="0" y="-47625"/>
              <a:ext cx="2062940"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ESCALABILIDAD</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Facilita la ampliación de servicios y aplicaciones al poder replicar contenedores de manera rápida.</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22" name="Google Shape;322;p13"/>
          <p:cNvGrpSpPr/>
          <p:nvPr/>
        </p:nvGrpSpPr>
        <p:grpSpPr>
          <a:xfrm>
            <a:off x="911515" y="3987983"/>
            <a:ext cx="7949910" cy="2769431"/>
            <a:chOff x="0" y="-47625"/>
            <a:chExt cx="2093803" cy="729397"/>
          </a:xfrm>
        </p:grpSpPr>
        <p:sp>
          <p:nvSpPr>
            <p:cNvPr id="323" name="Google Shape;323;p13"/>
            <p:cNvSpPr/>
            <p:nvPr/>
          </p:nvSpPr>
          <p:spPr>
            <a:xfrm>
              <a:off x="0" y="0"/>
              <a:ext cx="2093803" cy="681772"/>
            </a:xfrm>
            <a:custGeom>
              <a:rect b="b" l="l" r="r" t="t"/>
              <a:pathLst>
                <a:path extrusionOk="0" h="681772" w="2093803">
                  <a:moveTo>
                    <a:pt x="49666" y="0"/>
                  </a:moveTo>
                  <a:lnTo>
                    <a:pt x="2044138" y="0"/>
                  </a:lnTo>
                  <a:cubicBezTo>
                    <a:pt x="2057310" y="0"/>
                    <a:pt x="2069942" y="5233"/>
                    <a:pt x="2079257" y="14547"/>
                  </a:cubicBezTo>
                  <a:cubicBezTo>
                    <a:pt x="2088571" y="23861"/>
                    <a:pt x="2093803" y="36494"/>
                    <a:pt x="2093803" y="49666"/>
                  </a:cubicBezTo>
                  <a:lnTo>
                    <a:pt x="2093803" y="632107"/>
                  </a:lnTo>
                  <a:cubicBezTo>
                    <a:pt x="2093803" y="645279"/>
                    <a:pt x="2088571" y="657912"/>
                    <a:pt x="2079257" y="667226"/>
                  </a:cubicBezTo>
                  <a:cubicBezTo>
                    <a:pt x="2069942" y="676540"/>
                    <a:pt x="2057310" y="681772"/>
                    <a:pt x="2044138" y="681772"/>
                  </a:cubicBezTo>
                  <a:lnTo>
                    <a:pt x="49666" y="681772"/>
                  </a:lnTo>
                  <a:cubicBezTo>
                    <a:pt x="22236" y="681772"/>
                    <a:pt x="0" y="659536"/>
                    <a:pt x="0" y="632107"/>
                  </a:cubicBezTo>
                  <a:lnTo>
                    <a:pt x="0" y="49666"/>
                  </a:lnTo>
                  <a:cubicBezTo>
                    <a:pt x="0" y="36494"/>
                    <a:pt x="5233" y="23861"/>
                    <a:pt x="14547" y="14547"/>
                  </a:cubicBezTo>
                  <a:cubicBezTo>
                    <a:pt x="23861" y="5233"/>
                    <a:pt x="36494" y="0"/>
                    <a:pt x="49666" y="0"/>
                  </a:cubicBezTo>
                  <a:close/>
                </a:path>
              </a:pathLst>
            </a:custGeom>
            <a:solidFill>
              <a:srgbClr val="293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txBox="1"/>
            <p:nvPr/>
          </p:nvSpPr>
          <p:spPr>
            <a:xfrm>
              <a:off x="0" y="-47625"/>
              <a:ext cx="2093803" cy="72939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EFICIENCIA DE RECURSOS</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Los contenedores comparten el sistema operativo, lo que reduce el consumo de recursos y permite mayor densidad de aplicaciones en un mismo servidor.</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25" name="Google Shape;325;p13"/>
          <p:cNvGrpSpPr/>
          <p:nvPr/>
        </p:nvGrpSpPr>
        <p:grpSpPr>
          <a:xfrm>
            <a:off x="9426575" y="3987983"/>
            <a:ext cx="7949910" cy="2769431"/>
            <a:chOff x="0" y="-47625"/>
            <a:chExt cx="2093803" cy="729397"/>
          </a:xfrm>
        </p:grpSpPr>
        <p:sp>
          <p:nvSpPr>
            <p:cNvPr id="326" name="Google Shape;326;p13"/>
            <p:cNvSpPr/>
            <p:nvPr/>
          </p:nvSpPr>
          <p:spPr>
            <a:xfrm>
              <a:off x="0" y="0"/>
              <a:ext cx="2093803" cy="681772"/>
            </a:xfrm>
            <a:custGeom>
              <a:rect b="b" l="l" r="r" t="t"/>
              <a:pathLst>
                <a:path extrusionOk="0" h="681772" w="2093803">
                  <a:moveTo>
                    <a:pt x="49666" y="0"/>
                  </a:moveTo>
                  <a:lnTo>
                    <a:pt x="2044138" y="0"/>
                  </a:lnTo>
                  <a:cubicBezTo>
                    <a:pt x="2057310" y="0"/>
                    <a:pt x="2069942" y="5233"/>
                    <a:pt x="2079257" y="14547"/>
                  </a:cubicBezTo>
                  <a:cubicBezTo>
                    <a:pt x="2088571" y="23861"/>
                    <a:pt x="2093803" y="36494"/>
                    <a:pt x="2093803" y="49666"/>
                  </a:cubicBezTo>
                  <a:lnTo>
                    <a:pt x="2093803" y="632107"/>
                  </a:lnTo>
                  <a:cubicBezTo>
                    <a:pt x="2093803" y="645279"/>
                    <a:pt x="2088571" y="657912"/>
                    <a:pt x="2079257" y="667226"/>
                  </a:cubicBezTo>
                  <a:cubicBezTo>
                    <a:pt x="2069942" y="676540"/>
                    <a:pt x="2057310" y="681772"/>
                    <a:pt x="2044138" y="681772"/>
                  </a:cubicBezTo>
                  <a:lnTo>
                    <a:pt x="49666" y="681772"/>
                  </a:lnTo>
                  <a:cubicBezTo>
                    <a:pt x="22236" y="681772"/>
                    <a:pt x="0" y="659536"/>
                    <a:pt x="0" y="632107"/>
                  </a:cubicBezTo>
                  <a:lnTo>
                    <a:pt x="0" y="49666"/>
                  </a:lnTo>
                  <a:cubicBezTo>
                    <a:pt x="0" y="36494"/>
                    <a:pt x="5233" y="23861"/>
                    <a:pt x="14547" y="14547"/>
                  </a:cubicBezTo>
                  <a:cubicBezTo>
                    <a:pt x="23861" y="5233"/>
                    <a:pt x="36494" y="0"/>
                    <a:pt x="49666" y="0"/>
                  </a:cubicBezTo>
                  <a:close/>
                </a:path>
              </a:pathLst>
            </a:cu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txBox="1"/>
            <p:nvPr/>
          </p:nvSpPr>
          <p:spPr>
            <a:xfrm>
              <a:off x="0" y="-47625"/>
              <a:ext cx="2093803" cy="72939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VELOCIDAD DE DESPLIEGUE</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Los contenedores se inician rápidamente en comparación con las máquinas virtuales.</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28" name="Google Shape;328;p13"/>
          <p:cNvGrpSpPr/>
          <p:nvPr/>
        </p:nvGrpSpPr>
        <p:grpSpPr>
          <a:xfrm>
            <a:off x="4362450" y="7138562"/>
            <a:ext cx="9563100" cy="2515431"/>
            <a:chOff x="0" y="-47625"/>
            <a:chExt cx="2518677" cy="662500"/>
          </a:xfrm>
        </p:grpSpPr>
        <p:sp>
          <p:nvSpPr>
            <p:cNvPr id="329" name="Google Shape;329;p13"/>
            <p:cNvSpPr/>
            <p:nvPr/>
          </p:nvSpPr>
          <p:spPr>
            <a:xfrm>
              <a:off x="0" y="0"/>
              <a:ext cx="2518676" cy="614875"/>
            </a:xfrm>
            <a:custGeom>
              <a:rect b="b" l="l" r="r" t="t"/>
              <a:pathLst>
                <a:path extrusionOk="0" h="614875" w="2518676">
                  <a:moveTo>
                    <a:pt x="41288" y="0"/>
                  </a:moveTo>
                  <a:lnTo>
                    <a:pt x="2477389" y="0"/>
                  </a:lnTo>
                  <a:cubicBezTo>
                    <a:pt x="2500191" y="0"/>
                    <a:pt x="2518676" y="18485"/>
                    <a:pt x="2518676" y="41288"/>
                  </a:cubicBezTo>
                  <a:lnTo>
                    <a:pt x="2518676" y="573588"/>
                  </a:lnTo>
                  <a:cubicBezTo>
                    <a:pt x="2518676" y="596390"/>
                    <a:pt x="2500191" y="614875"/>
                    <a:pt x="2477389" y="614875"/>
                  </a:cubicBezTo>
                  <a:lnTo>
                    <a:pt x="41288" y="614875"/>
                  </a:lnTo>
                  <a:cubicBezTo>
                    <a:pt x="18485" y="614875"/>
                    <a:pt x="0" y="596390"/>
                    <a:pt x="0" y="573588"/>
                  </a:cubicBezTo>
                  <a:lnTo>
                    <a:pt x="0" y="41288"/>
                  </a:lnTo>
                  <a:cubicBezTo>
                    <a:pt x="0" y="18485"/>
                    <a:pt x="18485" y="0"/>
                    <a:pt x="41288" y="0"/>
                  </a:cubicBezTo>
                  <a:close/>
                </a:path>
              </a:pathLst>
            </a:custGeom>
            <a:solidFill>
              <a:srgbClr val="293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txBox="1"/>
            <p:nvPr/>
          </p:nvSpPr>
          <p:spPr>
            <a:xfrm>
              <a:off x="0" y="-47625"/>
              <a:ext cx="2518677" cy="662500"/>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DESARROLLO ÁGIL</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Docker permite a los equipos de desarrollo trabajar en entornos consistentes y paralelos, lo cual acelera el ciclo de vida de desarrollo y despliegue de aplicaciones.</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31" name="Google Shape;331;p13"/>
          <p:cNvGrpSpPr/>
          <p:nvPr/>
        </p:nvGrpSpPr>
        <p:grpSpPr>
          <a:xfrm>
            <a:off x="0" y="-1100171"/>
            <a:ext cx="566738" cy="2834568"/>
            <a:chOff x="0" y="-38100"/>
            <a:chExt cx="149264" cy="746553"/>
          </a:xfrm>
        </p:grpSpPr>
        <p:sp>
          <p:nvSpPr>
            <p:cNvPr id="332" name="Google Shape;332;p13"/>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333" name="Google Shape;333;p13"/>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13"/>
          <p:cNvGrpSpPr/>
          <p:nvPr/>
        </p:nvGrpSpPr>
        <p:grpSpPr>
          <a:xfrm>
            <a:off x="0" y="-144661"/>
            <a:ext cx="1133475" cy="1463129"/>
            <a:chOff x="0" y="-38100"/>
            <a:chExt cx="298528" cy="385351"/>
          </a:xfrm>
        </p:grpSpPr>
        <p:sp>
          <p:nvSpPr>
            <p:cNvPr id="335" name="Google Shape;335;p13"/>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36" name="Google Shape;336;p13"/>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7" name="Google Shape;337;p13"/>
          <p:cNvGrpSpPr/>
          <p:nvPr/>
        </p:nvGrpSpPr>
        <p:grpSpPr>
          <a:xfrm>
            <a:off x="16776087" y="8921922"/>
            <a:ext cx="2344551" cy="2157882"/>
            <a:chOff x="0" y="-38100"/>
            <a:chExt cx="617495" cy="568331"/>
          </a:xfrm>
        </p:grpSpPr>
        <p:sp>
          <p:nvSpPr>
            <p:cNvPr id="338" name="Google Shape;338;p13"/>
            <p:cNvSpPr/>
            <p:nvPr/>
          </p:nvSpPr>
          <p:spPr>
            <a:xfrm>
              <a:off x="0" y="0"/>
              <a:ext cx="617495" cy="530231"/>
            </a:xfrm>
            <a:custGeom>
              <a:rect b="b" l="l" r="r" t="t"/>
              <a:pathLst>
                <a:path extrusionOk="0" h="530231" w="617495">
                  <a:moveTo>
                    <a:pt x="0" y="0"/>
                  </a:moveTo>
                  <a:lnTo>
                    <a:pt x="617495" y="0"/>
                  </a:lnTo>
                  <a:lnTo>
                    <a:pt x="617495" y="530231"/>
                  </a:lnTo>
                  <a:lnTo>
                    <a:pt x="0" y="530231"/>
                  </a:lnTo>
                  <a:close/>
                </a:path>
              </a:pathLst>
            </a:custGeom>
            <a:solidFill>
              <a:srgbClr val="29303C"/>
            </a:solidFill>
            <a:ln>
              <a:noFill/>
            </a:ln>
          </p:spPr>
        </p:sp>
        <p:sp>
          <p:nvSpPr>
            <p:cNvPr id="339" name="Google Shape;339;p13"/>
            <p:cNvSpPr txBox="1"/>
            <p:nvPr/>
          </p:nvSpPr>
          <p:spPr>
            <a:xfrm>
              <a:off x="0" y="-38100"/>
              <a:ext cx="617495" cy="56833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0" name="Google Shape;340;p13"/>
          <p:cNvGrpSpPr/>
          <p:nvPr/>
        </p:nvGrpSpPr>
        <p:grpSpPr>
          <a:xfrm>
            <a:off x="17577588" y="6952876"/>
            <a:ext cx="3086100" cy="3120318"/>
            <a:chOff x="0" y="-38100"/>
            <a:chExt cx="812800" cy="821812"/>
          </a:xfrm>
        </p:grpSpPr>
        <p:sp>
          <p:nvSpPr>
            <p:cNvPr id="341" name="Google Shape;341;p13"/>
            <p:cNvSpPr/>
            <p:nvPr/>
          </p:nvSpPr>
          <p:spPr>
            <a:xfrm>
              <a:off x="0" y="0"/>
              <a:ext cx="812800" cy="783712"/>
            </a:xfrm>
            <a:custGeom>
              <a:rect b="b" l="l" r="r" t="t"/>
              <a:pathLst>
                <a:path extrusionOk="0" h="783712" w="812800">
                  <a:moveTo>
                    <a:pt x="0" y="0"/>
                  </a:moveTo>
                  <a:lnTo>
                    <a:pt x="812800" y="0"/>
                  </a:lnTo>
                  <a:lnTo>
                    <a:pt x="812800" y="783712"/>
                  </a:lnTo>
                  <a:lnTo>
                    <a:pt x="0" y="783712"/>
                  </a:lnTo>
                  <a:close/>
                </a:path>
              </a:pathLst>
            </a:custGeom>
            <a:solidFill>
              <a:srgbClr val="1E63ED"/>
            </a:solidFill>
            <a:ln>
              <a:noFill/>
            </a:ln>
          </p:spPr>
        </p:sp>
        <p:sp>
          <p:nvSpPr>
            <p:cNvPr id="342" name="Google Shape;342;p13"/>
            <p:cNvSpPr txBox="1"/>
            <p:nvPr/>
          </p:nvSpPr>
          <p:spPr>
            <a:xfrm>
              <a:off x="0" y="-38100"/>
              <a:ext cx="812800" cy="8218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4"/>
          <p:cNvSpPr/>
          <p:nvPr/>
        </p:nvSpPr>
        <p:spPr>
          <a:xfrm flipH="1" rot="5679621">
            <a:off x="7710161" y="1015520"/>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48" name="Google Shape;348;p14"/>
          <p:cNvSpPr/>
          <p:nvPr/>
        </p:nvSpPr>
        <p:spPr>
          <a:xfrm flipH="1" rot="5679621">
            <a:off x="7894116" y="1193759"/>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349" name="Google Shape;349;p14"/>
          <p:cNvSpPr/>
          <p:nvPr/>
        </p:nvSpPr>
        <p:spPr>
          <a:xfrm>
            <a:off x="6927386" y="4732188"/>
            <a:ext cx="4433229" cy="4427687"/>
          </a:xfrm>
          <a:custGeom>
            <a:rect b="b" l="l" r="r" t="t"/>
            <a:pathLst>
              <a:path extrusionOk="0" h="4427687" w="4433229">
                <a:moveTo>
                  <a:pt x="0" y="0"/>
                </a:moveTo>
                <a:lnTo>
                  <a:pt x="4433228" y="0"/>
                </a:lnTo>
                <a:lnTo>
                  <a:pt x="4433228" y="4427687"/>
                </a:lnTo>
                <a:lnTo>
                  <a:pt x="0" y="4427687"/>
                </a:lnTo>
                <a:lnTo>
                  <a:pt x="0" y="0"/>
                </a:lnTo>
                <a:close/>
              </a:path>
            </a:pathLst>
          </a:custGeom>
          <a:blipFill rotWithShape="1">
            <a:blip r:embed="rId5">
              <a:alphaModFix/>
            </a:blip>
            <a:stretch>
              <a:fillRect b="0" l="0" r="0" t="0"/>
            </a:stretch>
          </a:blipFill>
          <a:ln>
            <a:noFill/>
          </a:ln>
        </p:spPr>
      </p:sp>
      <p:sp>
        <p:nvSpPr>
          <p:cNvPr id="350" name="Google Shape;350;p14"/>
          <p:cNvSpPr txBox="1"/>
          <p:nvPr/>
        </p:nvSpPr>
        <p:spPr>
          <a:xfrm>
            <a:off x="2419533" y="439737"/>
            <a:ext cx="13719953"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DOCKER COMPOSE</a:t>
            </a:r>
            <a:endParaRPr/>
          </a:p>
        </p:txBody>
      </p:sp>
      <p:sp>
        <p:nvSpPr>
          <p:cNvPr id="351" name="Google Shape;351;p14"/>
          <p:cNvSpPr txBox="1"/>
          <p:nvPr/>
        </p:nvSpPr>
        <p:spPr>
          <a:xfrm>
            <a:off x="1164210" y="1531938"/>
            <a:ext cx="16230600" cy="29622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Docker compose </a:t>
            </a:r>
            <a:r>
              <a:rPr b="1" i="0" lang="en-US" sz="3000" u="none" cap="none" strike="noStrike">
                <a:solidFill>
                  <a:srgbClr val="29303C"/>
                </a:solidFill>
                <a:latin typeface="Arial"/>
                <a:ea typeface="Arial"/>
                <a:cs typeface="Arial"/>
                <a:sym typeface="Arial"/>
              </a:rPr>
              <a:t>es una herramienta de Docker que permite definir y gestionar múltiples contenedores como una aplicación única. </a:t>
            </a:r>
            <a:endParaRPr/>
          </a:p>
          <a:p>
            <a:pPr indent="0" lvl="0" marL="0" marR="0" rtl="0" algn="l">
              <a:lnSpc>
                <a:spcPct val="130000"/>
              </a:lnSpc>
              <a:spcBef>
                <a:spcPts val="0"/>
              </a:spcBef>
              <a:spcAft>
                <a:spcPts val="0"/>
              </a:spcAft>
              <a:buNone/>
            </a:pPr>
            <a:r>
              <a:t/>
            </a:r>
            <a:endParaRPr b="1" i="0" sz="30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None/>
            </a:pPr>
            <a:r>
              <a:rPr b="0" i="0" lang="en-US" sz="3000" u="none" cap="none" strike="noStrike">
                <a:solidFill>
                  <a:srgbClr val="29303C"/>
                </a:solidFill>
                <a:latin typeface="Arial"/>
                <a:ea typeface="Arial"/>
                <a:cs typeface="Arial"/>
                <a:sym typeface="Arial"/>
              </a:rPr>
              <a:t>Utilizando un archivo YAML, </a:t>
            </a:r>
            <a:r>
              <a:rPr b="1" i="0" lang="en-US" sz="3000" u="none" cap="none" strike="noStrike">
                <a:solidFill>
                  <a:srgbClr val="29303C"/>
                </a:solidFill>
                <a:latin typeface="Arial"/>
                <a:ea typeface="Arial"/>
                <a:cs typeface="Arial"/>
                <a:sym typeface="Arial"/>
              </a:rPr>
              <a:t>Docker Compose facilita la configuración y conexión entre diferentes servicios de una aplicación</a:t>
            </a:r>
            <a:r>
              <a:rPr b="0" i="0" lang="en-US" sz="3000" u="none" cap="none" strike="noStrike">
                <a:solidFill>
                  <a:srgbClr val="29303C"/>
                </a:solidFill>
                <a:latin typeface="Arial"/>
                <a:ea typeface="Arial"/>
                <a:cs typeface="Arial"/>
                <a:sym typeface="Arial"/>
              </a:rPr>
              <a:t> </a:t>
            </a:r>
            <a:r>
              <a:rPr b="1" i="0" lang="en-US" sz="3000" u="none" cap="none" strike="noStrike">
                <a:solidFill>
                  <a:srgbClr val="29303C"/>
                </a:solidFill>
                <a:latin typeface="Arial"/>
                <a:ea typeface="Arial"/>
                <a:cs typeface="Arial"/>
                <a:sym typeface="Arial"/>
              </a:rPr>
              <a:t>que requieren varios contenedores</a:t>
            </a:r>
            <a:r>
              <a:rPr b="0" i="0" lang="en-US" sz="3000" u="none" cap="none" strike="noStrike">
                <a:solidFill>
                  <a:srgbClr val="29303C"/>
                </a:solidFill>
                <a:latin typeface="Arial"/>
                <a:ea typeface="Arial"/>
                <a:cs typeface="Arial"/>
                <a:sym typeface="Arial"/>
              </a:rPr>
              <a:t> como bases de datos, APIs y front-ends, que deben ejecutarse en conjunto.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15"/>
          <p:cNvGrpSpPr/>
          <p:nvPr/>
        </p:nvGrpSpPr>
        <p:grpSpPr>
          <a:xfrm>
            <a:off x="16487775" y="8897057"/>
            <a:ext cx="1800225" cy="1389943"/>
            <a:chOff x="0" y="-38100"/>
            <a:chExt cx="474133" cy="366075"/>
          </a:xfrm>
        </p:grpSpPr>
        <p:sp>
          <p:nvSpPr>
            <p:cNvPr id="357" name="Google Shape;357;p15"/>
            <p:cNvSpPr/>
            <p:nvPr/>
          </p:nvSpPr>
          <p:spPr>
            <a:xfrm>
              <a:off x="0" y="0"/>
              <a:ext cx="474133" cy="327975"/>
            </a:xfrm>
            <a:custGeom>
              <a:rect b="b" l="l" r="r" t="t"/>
              <a:pathLst>
                <a:path extrusionOk="0" h="327975" w="474133">
                  <a:moveTo>
                    <a:pt x="0" y="0"/>
                  </a:moveTo>
                  <a:lnTo>
                    <a:pt x="474133" y="0"/>
                  </a:lnTo>
                  <a:lnTo>
                    <a:pt x="474133" y="327975"/>
                  </a:lnTo>
                  <a:lnTo>
                    <a:pt x="0" y="327975"/>
                  </a:lnTo>
                  <a:close/>
                </a:path>
              </a:pathLst>
            </a:custGeom>
            <a:solidFill>
              <a:srgbClr val="1E63ED"/>
            </a:solidFill>
            <a:ln>
              <a:noFill/>
            </a:ln>
          </p:spPr>
        </p:sp>
        <p:sp>
          <p:nvSpPr>
            <p:cNvPr id="358" name="Google Shape;358;p15"/>
            <p:cNvSpPr txBox="1"/>
            <p:nvPr/>
          </p:nvSpPr>
          <p:spPr>
            <a:xfrm>
              <a:off x="0" y="-38100"/>
              <a:ext cx="474133" cy="366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9" name="Google Shape;359;p15"/>
          <p:cNvGrpSpPr/>
          <p:nvPr/>
        </p:nvGrpSpPr>
        <p:grpSpPr>
          <a:xfrm>
            <a:off x="0" y="9113639"/>
            <a:ext cx="18288000" cy="1173361"/>
            <a:chOff x="0" y="-38100"/>
            <a:chExt cx="4816593" cy="309033"/>
          </a:xfrm>
        </p:grpSpPr>
        <p:sp>
          <p:nvSpPr>
            <p:cNvPr id="360" name="Google Shape;360;p15"/>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361" name="Google Shape;361;p15"/>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15"/>
          <p:cNvSpPr/>
          <p:nvPr/>
        </p:nvSpPr>
        <p:spPr>
          <a:xfrm>
            <a:off x="1080252" y="2902951"/>
            <a:ext cx="16127497" cy="5281755"/>
          </a:xfrm>
          <a:custGeom>
            <a:rect b="b" l="l" r="r" t="t"/>
            <a:pathLst>
              <a:path extrusionOk="0" h="5281755" w="16127497">
                <a:moveTo>
                  <a:pt x="0" y="0"/>
                </a:moveTo>
                <a:lnTo>
                  <a:pt x="16127496" y="0"/>
                </a:lnTo>
                <a:lnTo>
                  <a:pt x="16127496" y="5281755"/>
                </a:lnTo>
                <a:lnTo>
                  <a:pt x="0" y="5281755"/>
                </a:lnTo>
                <a:lnTo>
                  <a:pt x="0" y="0"/>
                </a:lnTo>
                <a:close/>
              </a:path>
            </a:pathLst>
          </a:custGeom>
          <a:blipFill rotWithShape="1">
            <a:blip r:embed="rId3">
              <a:alphaModFix/>
            </a:blip>
            <a:stretch>
              <a:fillRect b="0" l="0" r="0" t="0"/>
            </a:stretch>
          </a:blipFill>
          <a:ln>
            <a:noFill/>
          </a:ln>
        </p:spPr>
      </p:sp>
      <p:sp>
        <p:nvSpPr>
          <p:cNvPr id="363" name="Google Shape;363;p15"/>
          <p:cNvSpPr txBox="1"/>
          <p:nvPr/>
        </p:nvSpPr>
        <p:spPr>
          <a:xfrm>
            <a:off x="2334521" y="599507"/>
            <a:ext cx="13395714" cy="197167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6000" u="none" cap="none" strike="noStrike">
                <a:solidFill>
                  <a:srgbClr val="29303C"/>
                </a:solidFill>
                <a:latin typeface="Arial"/>
                <a:ea typeface="Arial"/>
                <a:cs typeface="Arial"/>
                <a:sym typeface="Arial"/>
              </a:rPr>
              <a:t>FUNCIONAMIENTO DE DOCKER COMPOSE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grpSp>
        <p:nvGrpSpPr>
          <p:cNvPr id="368" name="Google Shape;368;p16"/>
          <p:cNvGrpSpPr/>
          <p:nvPr/>
        </p:nvGrpSpPr>
        <p:grpSpPr>
          <a:xfrm>
            <a:off x="0" y="8897057"/>
            <a:ext cx="1800225" cy="1389943"/>
            <a:chOff x="0" y="-38100"/>
            <a:chExt cx="474133" cy="366075"/>
          </a:xfrm>
        </p:grpSpPr>
        <p:sp>
          <p:nvSpPr>
            <p:cNvPr id="369" name="Google Shape;369;p16"/>
            <p:cNvSpPr/>
            <p:nvPr/>
          </p:nvSpPr>
          <p:spPr>
            <a:xfrm>
              <a:off x="0" y="0"/>
              <a:ext cx="474133" cy="327975"/>
            </a:xfrm>
            <a:custGeom>
              <a:rect b="b" l="l" r="r" t="t"/>
              <a:pathLst>
                <a:path extrusionOk="0" h="327975" w="474133">
                  <a:moveTo>
                    <a:pt x="0" y="0"/>
                  </a:moveTo>
                  <a:lnTo>
                    <a:pt x="474133" y="0"/>
                  </a:lnTo>
                  <a:lnTo>
                    <a:pt x="474133" y="327975"/>
                  </a:lnTo>
                  <a:lnTo>
                    <a:pt x="0" y="327975"/>
                  </a:lnTo>
                  <a:close/>
                </a:path>
              </a:pathLst>
            </a:custGeom>
            <a:solidFill>
              <a:srgbClr val="1E63ED"/>
            </a:solidFill>
            <a:ln>
              <a:noFill/>
            </a:ln>
          </p:spPr>
        </p:sp>
        <p:sp>
          <p:nvSpPr>
            <p:cNvPr id="370" name="Google Shape;370;p16"/>
            <p:cNvSpPr txBox="1"/>
            <p:nvPr/>
          </p:nvSpPr>
          <p:spPr>
            <a:xfrm>
              <a:off x="0" y="-38100"/>
              <a:ext cx="474133" cy="3660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6"/>
          <p:cNvGrpSpPr/>
          <p:nvPr/>
        </p:nvGrpSpPr>
        <p:grpSpPr>
          <a:xfrm>
            <a:off x="0" y="9113639"/>
            <a:ext cx="18288000" cy="1173361"/>
            <a:chOff x="0" y="-38100"/>
            <a:chExt cx="4816593" cy="309033"/>
          </a:xfrm>
        </p:grpSpPr>
        <p:sp>
          <p:nvSpPr>
            <p:cNvPr id="372" name="Google Shape;372;p16"/>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29303C"/>
            </a:solidFill>
            <a:ln>
              <a:noFill/>
            </a:ln>
          </p:spPr>
        </p:sp>
        <p:sp>
          <p:nvSpPr>
            <p:cNvPr id="373" name="Google Shape;373;p16"/>
            <p:cNvSpPr txBox="1"/>
            <p:nvPr/>
          </p:nvSpPr>
          <p:spPr>
            <a:xfrm>
              <a:off x="0" y="-38100"/>
              <a:ext cx="4816593" cy="3090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16"/>
          <p:cNvSpPr/>
          <p:nvPr/>
        </p:nvSpPr>
        <p:spPr>
          <a:xfrm>
            <a:off x="10886649" y="1552271"/>
            <a:ext cx="6102680" cy="6356958"/>
          </a:xfrm>
          <a:custGeom>
            <a:rect b="b" l="l" r="r" t="t"/>
            <a:pathLst>
              <a:path extrusionOk="0" h="6356958" w="6102680">
                <a:moveTo>
                  <a:pt x="0" y="0"/>
                </a:moveTo>
                <a:lnTo>
                  <a:pt x="6102680" y="0"/>
                </a:lnTo>
                <a:lnTo>
                  <a:pt x="6102680" y="6356958"/>
                </a:lnTo>
                <a:lnTo>
                  <a:pt x="0" y="6356958"/>
                </a:lnTo>
                <a:lnTo>
                  <a:pt x="0" y="0"/>
                </a:lnTo>
                <a:close/>
              </a:path>
            </a:pathLst>
          </a:custGeom>
          <a:blipFill rotWithShape="1">
            <a:blip r:embed="rId3">
              <a:alphaModFix/>
            </a:blip>
            <a:stretch>
              <a:fillRect b="0" l="0" r="0" t="0"/>
            </a:stretch>
          </a:blipFill>
          <a:ln>
            <a:noFill/>
          </a:ln>
        </p:spPr>
      </p:sp>
      <p:sp>
        <p:nvSpPr>
          <p:cNvPr id="375" name="Google Shape;375;p16"/>
          <p:cNvSpPr txBox="1"/>
          <p:nvPr/>
        </p:nvSpPr>
        <p:spPr>
          <a:xfrm>
            <a:off x="523600" y="298450"/>
            <a:ext cx="17355600" cy="877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5700" u="none" cap="none" strike="noStrike">
                <a:solidFill>
                  <a:srgbClr val="29303C"/>
                </a:solidFill>
                <a:latin typeface="Arial"/>
                <a:ea typeface="Arial"/>
                <a:cs typeface="Arial"/>
                <a:sym typeface="Arial"/>
              </a:rPr>
              <a:t>¿CÓMO SE RELACIONA DOCKER CON CLOUD?</a:t>
            </a:r>
            <a:endParaRPr sz="1100"/>
          </a:p>
        </p:txBody>
      </p:sp>
      <p:sp>
        <p:nvSpPr>
          <p:cNvPr id="376" name="Google Shape;376;p16"/>
          <p:cNvSpPr txBox="1"/>
          <p:nvPr/>
        </p:nvSpPr>
        <p:spPr>
          <a:xfrm>
            <a:off x="900113" y="1643063"/>
            <a:ext cx="9197975" cy="6429375"/>
          </a:xfrm>
          <a:prstGeom prst="rect">
            <a:avLst/>
          </a:prstGeom>
          <a:noFill/>
          <a:ln>
            <a:noFill/>
          </a:ln>
        </p:spPr>
        <p:txBody>
          <a:bodyPr anchorCtr="0" anchor="t" bIns="0" lIns="0" spcFirstLastPara="1" rIns="0" wrap="square" tIns="0">
            <a:spAutoFit/>
          </a:bodyPr>
          <a:lstStyle/>
          <a:p>
            <a:pPr indent="-323850" lvl="1" marL="647700" marR="0" rtl="0" algn="l">
              <a:lnSpc>
                <a:spcPct val="130000"/>
              </a:lnSpc>
              <a:spcBef>
                <a:spcPts val="0"/>
              </a:spcBef>
              <a:spcAft>
                <a:spcPts val="0"/>
              </a:spcAft>
              <a:buClr>
                <a:srgbClr val="29303C"/>
              </a:buClr>
              <a:buSzPts val="3000"/>
              <a:buFont typeface="Arial"/>
              <a:buChar char="•"/>
            </a:pPr>
            <a:r>
              <a:rPr b="0" i="0" lang="en-US" sz="3000" u="none" cap="none" strike="noStrike">
                <a:solidFill>
                  <a:srgbClr val="29303C"/>
                </a:solidFill>
                <a:latin typeface="Arial"/>
                <a:ea typeface="Arial"/>
                <a:cs typeface="Arial"/>
                <a:sym typeface="Arial"/>
              </a:rPr>
              <a:t>Docker y la nube están estrechamente relacionados,</a:t>
            </a:r>
            <a:r>
              <a:rPr b="1" i="0" lang="en-US" sz="3000" u="none" cap="none" strike="noStrike">
                <a:solidFill>
                  <a:srgbClr val="29303C"/>
                </a:solidFill>
                <a:latin typeface="Arial"/>
                <a:ea typeface="Arial"/>
                <a:cs typeface="Arial"/>
                <a:sym typeface="Arial"/>
              </a:rPr>
              <a:t> siendo Docker una herramienta fundamental para la implementación de aplicaciones</a:t>
            </a:r>
            <a:r>
              <a:rPr b="0" i="0" lang="en-US" sz="3000" u="none" cap="none" strike="noStrike">
                <a:solidFill>
                  <a:srgbClr val="29303C"/>
                </a:solidFill>
                <a:latin typeface="Arial"/>
                <a:ea typeface="Arial"/>
                <a:cs typeface="Arial"/>
                <a:sym typeface="Arial"/>
              </a:rPr>
              <a:t> en la nube. </a:t>
            </a:r>
            <a:endParaRPr/>
          </a:p>
          <a:p>
            <a:pPr indent="0" lvl="0" marL="0" marR="0" rtl="0" algn="l">
              <a:lnSpc>
                <a:spcPct val="130000"/>
              </a:lnSpc>
              <a:spcBef>
                <a:spcPts val="0"/>
              </a:spcBef>
              <a:spcAft>
                <a:spcPts val="0"/>
              </a:spcAft>
              <a:buNone/>
            </a:pPr>
            <a:r>
              <a:t/>
            </a:r>
            <a:endParaRPr b="0" i="0" sz="3000" u="none" cap="none" strike="noStrike">
              <a:solidFill>
                <a:srgbClr val="29303C"/>
              </a:solidFill>
              <a:latin typeface="Arial"/>
              <a:ea typeface="Arial"/>
              <a:cs typeface="Arial"/>
              <a:sym typeface="Arial"/>
            </a:endParaRPr>
          </a:p>
          <a:p>
            <a:pPr indent="-323850" lvl="1" marL="647700" marR="0" rtl="0" algn="l">
              <a:lnSpc>
                <a:spcPct val="130000"/>
              </a:lnSpc>
              <a:spcBef>
                <a:spcPts val="0"/>
              </a:spcBef>
              <a:spcAft>
                <a:spcPts val="0"/>
              </a:spcAft>
              <a:buClr>
                <a:srgbClr val="29303C"/>
              </a:buClr>
              <a:buSzPts val="3000"/>
              <a:buFont typeface="Arial"/>
              <a:buChar char="•"/>
            </a:pPr>
            <a:r>
              <a:rPr b="1" i="0" lang="en-US" sz="3000" u="none" cap="none" strike="noStrike">
                <a:solidFill>
                  <a:srgbClr val="29303C"/>
                </a:solidFill>
                <a:latin typeface="Arial"/>
                <a:ea typeface="Arial"/>
                <a:cs typeface="Arial"/>
                <a:sym typeface="Arial"/>
              </a:rPr>
              <a:t>Docker </a:t>
            </a:r>
            <a:r>
              <a:rPr b="0" i="0" lang="en-US" sz="3000" u="none" cap="none" strike="noStrike">
                <a:solidFill>
                  <a:srgbClr val="29303C"/>
                </a:solidFill>
                <a:latin typeface="Arial"/>
                <a:ea typeface="Arial"/>
                <a:cs typeface="Arial"/>
                <a:sym typeface="Arial"/>
              </a:rPr>
              <a:t>permite empacar aplicaciones en contenedores, lo que f</a:t>
            </a:r>
            <a:r>
              <a:rPr b="1" i="0" lang="en-US" sz="3000" u="none" cap="none" strike="noStrike">
                <a:solidFill>
                  <a:srgbClr val="29303C"/>
                </a:solidFill>
                <a:latin typeface="Arial"/>
                <a:ea typeface="Arial"/>
                <a:cs typeface="Arial"/>
                <a:sym typeface="Arial"/>
              </a:rPr>
              <a:t>acilita su despliegue y ejecución en entornos de nube. </a:t>
            </a:r>
            <a:endParaRPr/>
          </a:p>
          <a:p>
            <a:pPr indent="0" lvl="0" marL="0" marR="0" rtl="0" algn="l">
              <a:lnSpc>
                <a:spcPct val="130000"/>
              </a:lnSpc>
              <a:spcBef>
                <a:spcPts val="0"/>
              </a:spcBef>
              <a:spcAft>
                <a:spcPts val="0"/>
              </a:spcAft>
              <a:buNone/>
            </a:pPr>
            <a:r>
              <a:t/>
            </a:r>
            <a:endParaRPr b="1" i="0" sz="3000" u="none" cap="none" strike="noStrike">
              <a:solidFill>
                <a:srgbClr val="29303C"/>
              </a:solidFill>
              <a:latin typeface="Arial"/>
              <a:ea typeface="Arial"/>
              <a:cs typeface="Arial"/>
              <a:sym typeface="Arial"/>
            </a:endParaRPr>
          </a:p>
          <a:p>
            <a:pPr indent="-323850" lvl="1" marL="647700" marR="0" rtl="0" algn="l">
              <a:lnSpc>
                <a:spcPct val="130000"/>
              </a:lnSpc>
              <a:spcBef>
                <a:spcPts val="0"/>
              </a:spcBef>
              <a:spcAft>
                <a:spcPts val="0"/>
              </a:spcAft>
              <a:buClr>
                <a:srgbClr val="29303C"/>
              </a:buClr>
              <a:buSzPts val="3000"/>
              <a:buFont typeface="Arial"/>
              <a:buChar char="•"/>
            </a:pPr>
            <a:r>
              <a:rPr b="1" i="0" lang="en-US" sz="3000" u="none" cap="none" strike="noStrike">
                <a:solidFill>
                  <a:srgbClr val="29303C"/>
                </a:solidFill>
                <a:latin typeface="Arial"/>
                <a:ea typeface="Arial"/>
                <a:cs typeface="Arial"/>
                <a:sym typeface="Arial"/>
              </a:rPr>
              <a:t>Los contenedores Docker son ligeros y portátiles</a:t>
            </a:r>
            <a:r>
              <a:rPr b="0" i="0" lang="en-US" sz="3000" u="none" cap="none" strike="noStrike">
                <a:solidFill>
                  <a:srgbClr val="29303C"/>
                </a:solidFill>
                <a:latin typeface="Arial"/>
                <a:ea typeface="Arial"/>
                <a:cs typeface="Arial"/>
                <a:sym typeface="Arial"/>
              </a:rPr>
              <a:t>, lo que los convierte en una opción ideal para la nube, donde la flexibilidad y la escalabilidad son clave.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grpSp>
        <p:nvGrpSpPr>
          <p:cNvPr id="381" name="Google Shape;381;p17"/>
          <p:cNvGrpSpPr/>
          <p:nvPr/>
        </p:nvGrpSpPr>
        <p:grpSpPr>
          <a:xfrm>
            <a:off x="0" y="-171146"/>
            <a:ext cx="566738" cy="2834568"/>
            <a:chOff x="0" y="-38100"/>
            <a:chExt cx="149264" cy="746553"/>
          </a:xfrm>
        </p:grpSpPr>
        <p:sp>
          <p:nvSpPr>
            <p:cNvPr id="382" name="Google Shape;382;p17"/>
            <p:cNvSpPr/>
            <p:nvPr/>
          </p:nvSpPr>
          <p:spPr>
            <a:xfrm>
              <a:off x="0" y="0"/>
              <a:ext cx="149264" cy="708453"/>
            </a:xfrm>
            <a:custGeom>
              <a:rect b="b" l="l" r="r" t="t"/>
              <a:pathLst>
                <a:path extrusionOk="0" h="708453" w="149264">
                  <a:moveTo>
                    <a:pt x="0" y="0"/>
                  </a:moveTo>
                  <a:lnTo>
                    <a:pt x="149264" y="0"/>
                  </a:lnTo>
                  <a:lnTo>
                    <a:pt x="149264" y="708453"/>
                  </a:lnTo>
                  <a:lnTo>
                    <a:pt x="0" y="708453"/>
                  </a:lnTo>
                  <a:close/>
                </a:path>
              </a:pathLst>
            </a:custGeom>
            <a:solidFill>
              <a:srgbClr val="1E63ED"/>
            </a:solidFill>
            <a:ln>
              <a:noFill/>
            </a:ln>
          </p:spPr>
        </p:sp>
        <p:sp>
          <p:nvSpPr>
            <p:cNvPr id="383" name="Google Shape;383;p17"/>
            <p:cNvSpPr txBox="1"/>
            <p:nvPr/>
          </p:nvSpPr>
          <p:spPr>
            <a:xfrm>
              <a:off x="0" y="-38100"/>
              <a:ext cx="149264" cy="7465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4" name="Google Shape;384;p17"/>
          <p:cNvGrpSpPr/>
          <p:nvPr/>
        </p:nvGrpSpPr>
        <p:grpSpPr>
          <a:xfrm>
            <a:off x="0" y="-144661"/>
            <a:ext cx="1133475" cy="1463129"/>
            <a:chOff x="0" y="-38100"/>
            <a:chExt cx="298528" cy="385351"/>
          </a:xfrm>
        </p:grpSpPr>
        <p:sp>
          <p:nvSpPr>
            <p:cNvPr id="385" name="Google Shape;385;p17"/>
            <p:cNvSpPr/>
            <p:nvPr/>
          </p:nvSpPr>
          <p:spPr>
            <a:xfrm>
              <a:off x="0" y="0"/>
              <a:ext cx="298528" cy="347251"/>
            </a:xfrm>
            <a:custGeom>
              <a:rect b="b" l="l" r="r" t="t"/>
              <a:pathLst>
                <a:path extrusionOk="0" h="347251" w="298528">
                  <a:moveTo>
                    <a:pt x="0" y="0"/>
                  </a:moveTo>
                  <a:lnTo>
                    <a:pt x="298528" y="0"/>
                  </a:lnTo>
                  <a:lnTo>
                    <a:pt x="298528" y="347251"/>
                  </a:lnTo>
                  <a:lnTo>
                    <a:pt x="0" y="347251"/>
                  </a:lnTo>
                  <a:close/>
                </a:path>
              </a:pathLst>
            </a:custGeom>
            <a:solidFill>
              <a:srgbClr val="29303C"/>
            </a:solidFill>
            <a:ln>
              <a:noFill/>
            </a:ln>
          </p:spPr>
        </p:sp>
        <p:sp>
          <p:nvSpPr>
            <p:cNvPr id="386" name="Google Shape;386;p17"/>
            <p:cNvSpPr txBox="1"/>
            <p:nvPr/>
          </p:nvSpPr>
          <p:spPr>
            <a:xfrm>
              <a:off x="0" y="-38100"/>
              <a:ext cx="298528" cy="3853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7" name="Google Shape;387;p17"/>
          <p:cNvSpPr txBox="1"/>
          <p:nvPr/>
        </p:nvSpPr>
        <p:spPr>
          <a:xfrm>
            <a:off x="1416982" y="845518"/>
            <a:ext cx="16073400" cy="24780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1" i="0" lang="en-US" sz="6999" u="none" cap="none" strike="noStrike">
                <a:solidFill>
                  <a:srgbClr val="29303C"/>
                </a:solidFill>
                <a:latin typeface="Arial"/>
                <a:ea typeface="Arial"/>
                <a:cs typeface="Arial"/>
                <a:sym typeface="Arial"/>
              </a:rPr>
              <a:t>OPCIONES EN LA NUBE PARA EL USO DE DOCKER</a:t>
            </a:r>
            <a:endParaRPr/>
          </a:p>
        </p:txBody>
      </p:sp>
      <p:grpSp>
        <p:nvGrpSpPr>
          <p:cNvPr id="388" name="Google Shape;388;p17"/>
          <p:cNvGrpSpPr/>
          <p:nvPr/>
        </p:nvGrpSpPr>
        <p:grpSpPr>
          <a:xfrm>
            <a:off x="797719" y="3802853"/>
            <a:ext cx="5149850" cy="5785681"/>
            <a:chOff x="0" y="-47625"/>
            <a:chExt cx="1356339" cy="1523801"/>
          </a:xfrm>
        </p:grpSpPr>
        <p:sp>
          <p:nvSpPr>
            <p:cNvPr id="389" name="Google Shape;389;p17"/>
            <p:cNvSpPr/>
            <p:nvPr/>
          </p:nvSpPr>
          <p:spPr>
            <a:xfrm>
              <a:off x="0" y="0"/>
              <a:ext cx="1356339" cy="1476176"/>
            </a:xfrm>
            <a:custGeom>
              <a:rect b="b" l="l" r="r" t="t"/>
              <a:pathLst>
                <a:path extrusionOk="0" h="1476176" w="1356339">
                  <a:moveTo>
                    <a:pt x="76670" y="0"/>
                  </a:moveTo>
                  <a:lnTo>
                    <a:pt x="1279669" y="0"/>
                  </a:lnTo>
                  <a:cubicBezTo>
                    <a:pt x="1322013" y="0"/>
                    <a:pt x="1356339" y="34326"/>
                    <a:pt x="1356339" y="76670"/>
                  </a:cubicBezTo>
                  <a:lnTo>
                    <a:pt x="1356339" y="1399506"/>
                  </a:lnTo>
                  <a:cubicBezTo>
                    <a:pt x="1356339" y="1419840"/>
                    <a:pt x="1348261" y="1439341"/>
                    <a:pt x="1333883" y="1453720"/>
                  </a:cubicBezTo>
                  <a:cubicBezTo>
                    <a:pt x="1319505" y="1468098"/>
                    <a:pt x="1300003" y="1476176"/>
                    <a:pt x="1279669" y="1476176"/>
                  </a:cubicBezTo>
                  <a:lnTo>
                    <a:pt x="76670" y="1476176"/>
                  </a:lnTo>
                  <a:cubicBezTo>
                    <a:pt x="34326" y="1476176"/>
                    <a:pt x="0" y="1441849"/>
                    <a:pt x="0" y="1399506"/>
                  </a:cubicBezTo>
                  <a:lnTo>
                    <a:pt x="0" y="76670"/>
                  </a:lnTo>
                  <a:cubicBezTo>
                    <a:pt x="0" y="34326"/>
                    <a:pt x="34326" y="0"/>
                    <a:pt x="76670" y="0"/>
                  </a:cubicBezTo>
                  <a:close/>
                </a:path>
              </a:pathLst>
            </a:custGeom>
            <a:solidFill>
              <a:srgbClr val="293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7"/>
            <p:cNvSpPr txBox="1"/>
            <p:nvPr/>
          </p:nvSpPr>
          <p:spPr>
            <a:xfrm>
              <a:off x="0" y="-47625"/>
              <a:ext cx="1356339" cy="1523801"/>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AMAZON WEB SERVICES</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Ofrece Amazon ECS (Elastic Container Service) y Amazon EKS (Elastic Kubernetes Service), ambos servicios especializados en la gestión de contenedores Docker.</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91" name="Google Shape;391;p17"/>
          <p:cNvGrpSpPr/>
          <p:nvPr/>
        </p:nvGrpSpPr>
        <p:grpSpPr>
          <a:xfrm>
            <a:off x="6265069" y="3707603"/>
            <a:ext cx="5292725" cy="5880931"/>
            <a:chOff x="0" y="-47625"/>
            <a:chExt cx="1393969" cy="1548887"/>
          </a:xfrm>
        </p:grpSpPr>
        <p:sp>
          <p:nvSpPr>
            <p:cNvPr id="392" name="Google Shape;392;p17"/>
            <p:cNvSpPr/>
            <p:nvPr/>
          </p:nvSpPr>
          <p:spPr>
            <a:xfrm>
              <a:off x="0" y="0"/>
              <a:ext cx="1393969" cy="1501262"/>
            </a:xfrm>
            <a:custGeom>
              <a:rect b="b" l="l" r="r" t="t"/>
              <a:pathLst>
                <a:path extrusionOk="0" h="1501262" w="1393969">
                  <a:moveTo>
                    <a:pt x="74600" y="0"/>
                  </a:moveTo>
                  <a:lnTo>
                    <a:pt x="1319369" y="0"/>
                  </a:lnTo>
                  <a:cubicBezTo>
                    <a:pt x="1339154" y="0"/>
                    <a:pt x="1358129" y="7860"/>
                    <a:pt x="1372119" y="21850"/>
                  </a:cubicBezTo>
                  <a:cubicBezTo>
                    <a:pt x="1386109" y="35840"/>
                    <a:pt x="1393969" y="54815"/>
                    <a:pt x="1393969" y="74600"/>
                  </a:cubicBezTo>
                  <a:lnTo>
                    <a:pt x="1393969" y="1426662"/>
                  </a:lnTo>
                  <a:cubicBezTo>
                    <a:pt x="1393969" y="1446447"/>
                    <a:pt x="1386109" y="1465422"/>
                    <a:pt x="1372119" y="1479412"/>
                  </a:cubicBezTo>
                  <a:cubicBezTo>
                    <a:pt x="1358129" y="1493403"/>
                    <a:pt x="1339154" y="1501262"/>
                    <a:pt x="1319369" y="1501262"/>
                  </a:cubicBezTo>
                  <a:lnTo>
                    <a:pt x="74600" y="1501262"/>
                  </a:lnTo>
                  <a:cubicBezTo>
                    <a:pt x="54815" y="1501262"/>
                    <a:pt x="35840" y="1493403"/>
                    <a:pt x="21850" y="1479412"/>
                  </a:cubicBezTo>
                  <a:cubicBezTo>
                    <a:pt x="7860" y="1465422"/>
                    <a:pt x="0" y="1446447"/>
                    <a:pt x="0" y="1426662"/>
                  </a:cubicBezTo>
                  <a:lnTo>
                    <a:pt x="0" y="74600"/>
                  </a:lnTo>
                  <a:cubicBezTo>
                    <a:pt x="0" y="54815"/>
                    <a:pt x="7860" y="35840"/>
                    <a:pt x="21850" y="21850"/>
                  </a:cubicBezTo>
                  <a:cubicBezTo>
                    <a:pt x="35840" y="7860"/>
                    <a:pt x="54815" y="0"/>
                    <a:pt x="74600" y="0"/>
                  </a:cubicBezTo>
                  <a:close/>
                </a:path>
              </a:pathLst>
            </a:cu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txBox="1"/>
            <p:nvPr/>
          </p:nvSpPr>
          <p:spPr>
            <a:xfrm>
              <a:off x="0" y="-47625"/>
              <a:ext cx="1393969" cy="1548887"/>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GOOGLE CLOUD PLATFORM</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Proporciona Google Kubernetes Engine (GKE) para la gestión de contenedores con Kubernetes, facilitando la orquestación de aplicaciones a gran escala.</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grpSp>
        <p:nvGrpSpPr>
          <p:cNvPr id="394" name="Google Shape;394;p17"/>
          <p:cNvGrpSpPr/>
          <p:nvPr/>
        </p:nvGrpSpPr>
        <p:grpSpPr>
          <a:xfrm>
            <a:off x="11872119" y="3707603"/>
            <a:ext cx="5618162" cy="5785681"/>
            <a:chOff x="0" y="-47625"/>
            <a:chExt cx="1479681" cy="1523801"/>
          </a:xfrm>
        </p:grpSpPr>
        <p:sp>
          <p:nvSpPr>
            <p:cNvPr id="395" name="Google Shape;395;p17"/>
            <p:cNvSpPr/>
            <p:nvPr/>
          </p:nvSpPr>
          <p:spPr>
            <a:xfrm>
              <a:off x="0" y="0"/>
              <a:ext cx="1479681" cy="1476176"/>
            </a:xfrm>
            <a:custGeom>
              <a:rect b="b" l="l" r="r" t="t"/>
              <a:pathLst>
                <a:path extrusionOk="0" h="1476176" w="1479681">
                  <a:moveTo>
                    <a:pt x="70279" y="0"/>
                  </a:moveTo>
                  <a:lnTo>
                    <a:pt x="1409402" y="0"/>
                  </a:lnTo>
                  <a:cubicBezTo>
                    <a:pt x="1448216" y="0"/>
                    <a:pt x="1479681" y="31465"/>
                    <a:pt x="1479681" y="70279"/>
                  </a:cubicBezTo>
                  <a:lnTo>
                    <a:pt x="1479681" y="1405897"/>
                  </a:lnTo>
                  <a:cubicBezTo>
                    <a:pt x="1479681" y="1424536"/>
                    <a:pt x="1472276" y="1442412"/>
                    <a:pt x="1459097" y="1455591"/>
                  </a:cubicBezTo>
                  <a:cubicBezTo>
                    <a:pt x="1445917" y="1468771"/>
                    <a:pt x="1428041" y="1476176"/>
                    <a:pt x="1409402" y="1476176"/>
                  </a:cubicBezTo>
                  <a:lnTo>
                    <a:pt x="70279" y="1476176"/>
                  </a:lnTo>
                  <a:cubicBezTo>
                    <a:pt x="51640" y="1476176"/>
                    <a:pt x="33764" y="1468771"/>
                    <a:pt x="20584" y="1455591"/>
                  </a:cubicBezTo>
                  <a:cubicBezTo>
                    <a:pt x="7404" y="1442412"/>
                    <a:pt x="0" y="1424536"/>
                    <a:pt x="0" y="1405897"/>
                  </a:cubicBezTo>
                  <a:lnTo>
                    <a:pt x="0" y="70279"/>
                  </a:lnTo>
                  <a:cubicBezTo>
                    <a:pt x="0" y="51640"/>
                    <a:pt x="7404" y="33764"/>
                    <a:pt x="20584" y="20584"/>
                  </a:cubicBezTo>
                  <a:cubicBezTo>
                    <a:pt x="33764" y="7404"/>
                    <a:pt x="51640" y="0"/>
                    <a:pt x="70279" y="0"/>
                  </a:cubicBezTo>
                  <a:close/>
                </a:path>
              </a:pathLst>
            </a:custGeom>
            <a:solidFill>
              <a:srgbClr val="293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7"/>
            <p:cNvSpPr txBox="1"/>
            <p:nvPr/>
          </p:nvSpPr>
          <p:spPr>
            <a:xfrm>
              <a:off x="0" y="-47625"/>
              <a:ext cx="1479681" cy="1523801"/>
            </a:xfrm>
            <a:prstGeom prst="rect">
              <a:avLst/>
            </a:prstGeom>
            <a:noFill/>
            <a:ln>
              <a:noFill/>
            </a:ln>
          </p:spPr>
          <p:txBody>
            <a:bodyPr anchorCtr="0" anchor="ctr" bIns="50800" lIns="50800" spcFirstLastPara="1" rIns="50800" wrap="square" tIns="50800">
              <a:no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Arial"/>
                  <a:ea typeface="Arial"/>
                  <a:cs typeface="Arial"/>
                  <a:sym typeface="Arial"/>
                </a:rPr>
                <a:t>MICROSOFT AZURE</a:t>
              </a:r>
              <a:endParaRPr/>
            </a:p>
            <a:p>
              <a:pPr indent="0" lvl="0" marL="0" marR="0" rtl="0" algn="ctr">
                <a:lnSpc>
                  <a:spcPct val="140016"/>
                </a:lnSpc>
                <a:spcBef>
                  <a:spcPts val="0"/>
                </a:spcBef>
                <a:spcAft>
                  <a:spcPts val="0"/>
                </a:spcAft>
                <a:buNone/>
              </a:pPr>
              <a:r>
                <a:rPr b="0" i="0" lang="en-US" sz="2499" u="none" cap="none" strike="noStrike">
                  <a:solidFill>
                    <a:srgbClr val="FFFFFF"/>
                  </a:solidFill>
                  <a:latin typeface="Arial"/>
                  <a:ea typeface="Arial"/>
                  <a:cs typeface="Arial"/>
                  <a:sym typeface="Arial"/>
                </a:rPr>
                <a:t>Cuenta con Azure Kubernetes Service (AKS) para desplegar y gestionar contenedores Docker y aplicaciones en la nube de manera eficiente.</a:t>
              </a:r>
              <a:endParaRPr/>
            </a:p>
            <a:p>
              <a:pPr indent="0" lvl="0" marL="0" marR="0" rtl="0" algn="ctr">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8"/>
          <p:cNvSpPr txBox="1"/>
          <p:nvPr/>
        </p:nvSpPr>
        <p:spPr>
          <a:xfrm>
            <a:off x="6420085" y="2861681"/>
            <a:ext cx="6860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PARTE PRÁTICA</a:t>
            </a:r>
            <a:endParaRPr/>
          </a:p>
        </p:txBody>
      </p:sp>
      <p:sp>
        <p:nvSpPr>
          <p:cNvPr id="402" name="Google Shape;402;p18"/>
          <p:cNvSpPr txBox="1"/>
          <p:nvPr/>
        </p:nvSpPr>
        <p:spPr>
          <a:xfrm>
            <a:off x="2162609" y="3925306"/>
            <a:ext cx="14581906"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USO DE YAML Y DOCKER COMPOSE</a:t>
            </a:r>
            <a:endParaRPr/>
          </a:p>
        </p:txBody>
      </p:sp>
      <p:sp>
        <p:nvSpPr>
          <p:cNvPr id="403" name="Google Shape;403;p18"/>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404" name="Google Shape;404;p18"/>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9"/>
          <p:cNvSpPr txBox="1"/>
          <p:nvPr/>
        </p:nvSpPr>
        <p:spPr>
          <a:xfrm>
            <a:off x="5542868" y="644847"/>
            <a:ext cx="7454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VALOR O ACTITUD</a:t>
            </a:r>
            <a:endParaRPr/>
          </a:p>
        </p:txBody>
      </p:sp>
      <p:sp>
        <p:nvSpPr>
          <p:cNvPr id="410" name="Google Shape;410;p19"/>
          <p:cNvSpPr txBox="1"/>
          <p:nvPr/>
        </p:nvSpPr>
        <p:spPr>
          <a:xfrm>
            <a:off x="1129863" y="2251397"/>
            <a:ext cx="15593010" cy="5169682"/>
          </a:xfrm>
          <a:prstGeom prst="rect">
            <a:avLst/>
          </a:prstGeom>
          <a:noFill/>
          <a:ln>
            <a:noFill/>
          </a:ln>
        </p:spPr>
        <p:txBody>
          <a:bodyPr anchorCtr="0" anchor="t" bIns="0" lIns="0" spcFirstLastPara="1" rIns="0" wrap="square" tIns="0">
            <a:spAutoFit/>
          </a:bodyPr>
          <a:lstStyle/>
          <a:p>
            <a:pPr indent="0" lvl="0" marL="0" marR="0" rtl="0" algn="ctr">
              <a:lnSpc>
                <a:spcPct val="129989"/>
              </a:lnSpc>
              <a:spcBef>
                <a:spcPts val="0"/>
              </a:spcBef>
              <a:spcAft>
                <a:spcPts val="0"/>
              </a:spcAft>
              <a:buNone/>
            </a:pPr>
            <a:r>
              <a:rPr b="1" i="0" lang="en-US" sz="3938" u="none" cap="none" strike="noStrike">
                <a:solidFill>
                  <a:srgbClr val="1E63ED"/>
                </a:solidFill>
                <a:latin typeface="Arial"/>
                <a:ea typeface="Arial"/>
                <a:cs typeface="Arial"/>
                <a:sym typeface="Arial"/>
              </a:rPr>
              <a:t>Liderazgo</a:t>
            </a:r>
            <a:endParaRPr/>
          </a:p>
          <a:p>
            <a:pPr indent="-425154" lvl="1" marL="850307" marR="0" rtl="0" algn="l">
              <a:lnSpc>
                <a:spcPct val="129989"/>
              </a:lnSpc>
              <a:spcBef>
                <a:spcPts val="0"/>
              </a:spcBef>
              <a:spcAft>
                <a:spcPts val="0"/>
              </a:spcAft>
              <a:buClr>
                <a:srgbClr val="29303C"/>
              </a:buClr>
              <a:buSzPts val="3938"/>
              <a:buFont typeface="Arial"/>
              <a:buChar char="•"/>
            </a:pPr>
            <a:r>
              <a:rPr b="0" i="0" lang="en-US" sz="3938" u="none" cap="none" strike="noStrike">
                <a:solidFill>
                  <a:srgbClr val="29303C"/>
                </a:solidFill>
                <a:latin typeface="Arial"/>
                <a:ea typeface="Arial"/>
                <a:cs typeface="Arial"/>
                <a:sym typeface="Arial"/>
              </a:rPr>
              <a:t>Como líder cloud, en un proyecto esto puede traducirse en asignar roles para la gestión de recursos, arquitectura de soluciones o revisión de código, permitiendo que cada integrante aporte sus ideas y tome responsabilidad sobre áreas específicas.</a:t>
            </a:r>
            <a:endParaRPr/>
          </a:p>
          <a:p>
            <a:pPr indent="-425154" lvl="1" marL="850307" marR="0" rtl="0" algn="l">
              <a:lnSpc>
                <a:spcPct val="129989"/>
              </a:lnSpc>
              <a:spcBef>
                <a:spcPts val="0"/>
              </a:spcBef>
              <a:spcAft>
                <a:spcPts val="0"/>
              </a:spcAft>
              <a:buClr>
                <a:srgbClr val="29303C"/>
              </a:buClr>
              <a:buSzPts val="3938"/>
              <a:buFont typeface="Arial"/>
              <a:buChar char="•"/>
            </a:pPr>
            <a:r>
              <a:rPr b="0" i="0" lang="en-US" sz="3938" u="none" cap="none" strike="noStrike">
                <a:solidFill>
                  <a:srgbClr val="29303C"/>
                </a:solidFill>
                <a:latin typeface="Arial"/>
                <a:ea typeface="Arial"/>
                <a:cs typeface="Arial"/>
                <a:sym typeface="Arial"/>
              </a:rPr>
              <a:t>El liderazgo también se demuestra al inspirar a otros a proponer nuevas ideas o soluciones, en la universidad esto puede significar incentivar proyectos extracurriculares o competencias tecnológicas. </a:t>
            </a:r>
            <a:endParaRPr/>
          </a:p>
        </p:txBody>
      </p:sp>
      <p:sp>
        <p:nvSpPr>
          <p:cNvPr id="411" name="Google Shape;411;p19"/>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412" name="Google Shape;412;p19"/>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0"/>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418" name="Google Shape;418;p20"/>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419" name="Google Shape;419;p20"/>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420" name="Google Shape;420;p20"/>
          <p:cNvSpPr txBox="1"/>
          <p:nvPr/>
        </p:nvSpPr>
        <p:spPr>
          <a:xfrm>
            <a:off x="3865129" y="1230119"/>
            <a:ext cx="10557741" cy="755869"/>
          </a:xfrm>
          <a:prstGeom prst="rect">
            <a:avLst/>
          </a:prstGeom>
          <a:noFill/>
          <a:ln>
            <a:noFill/>
          </a:ln>
        </p:spPr>
        <p:txBody>
          <a:bodyPr anchorCtr="0" anchor="t" bIns="0" lIns="0" spcFirstLastPara="1" rIns="0" wrap="square" tIns="0">
            <a:spAutoFit/>
          </a:bodyPr>
          <a:lstStyle/>
          <a:p>
            <a:pPr indent="0" lvl="0" marL="0" marR="0" rtl="0" algn="l">
              <a:lnSpc>
                <a:spcPct val="109998"/>
              </a:lnSpc>
              <a:spcBef>
                <a:spcPts val="0"/>
              </a:spcBef>
              <a:spcAft>
                <a:spcPts val="0"/>
              </a:spcAft>
              <a:buNone/>
            </a:pPr>
            <a:r>
              <a:rPr b="0" i="0" lang="en-US" sz="5361" u="none" cap="none" strike="noStrike">
                <a:solidFill>
                  <a:srgbClr val="29303C"/>
                </a:solidFill>
                <a:latin typeface="Hammersmith One"/>
                <a:ea typeface="Hammersmith One"/>
                <a:cs typeface="Hammersmith One"/>
                <a:sym typeface="Hammersmith One"/>
              </a:rPr>
              <a:t>CONCEPTOS CLAVES APRENDIDOS</a:t>
            </a:r>
            <a:endParaRPr/>
          </a:p>
        </p:txBody>
      </p:sp>
      <p:sp>
        <p:nvSpPr>
          <p:cNvPr id="421" name="Google Shape;421;p20"/>
          <p:cNvSpPr txBox="1"/>
          <p:nvPr/>
        </p:nvSpPr>
        <p:spPr>
          <a:xfrm>
            <a:off x="3865124" y="2307400"/>
            <a:ext cx="18174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Docker</a:t>
            </a:r>
            <a:endParaRPr/>
          </a:p>
        </p:txBody>
      </p:sp>
      <p:grpSp>
        <p:nvGrpSpPr>
          <p:cNvPr id="422" name="Google Shape;422;p20"/>
          <p:cNvGrpSpPr/>
          <p:nvPr/>
        </p:nvGrpSpPr>
        <p:grpSpPr>
          <a:xfrm>
            <a:off x="2905062" y="2228850"/>
            <a:ext cx="731003" cy="760368"/>
            <a:chOff x="0" y="0"/>
            <a:chExt cx="974670" cy="1013824"/>
          </a:xfrm>
        </p:grpSpPr>
        <p:sp>
          <p:nvSpPr>
            <p:cNvPr id="423" name="Google Shape;423;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1</a:t>
              </a:r>
              <a:endParaRPr/>
            </a:p>
          </p:txBody>
        </p:sp>
      </p:grpSp>
      <p:grpSp>
        <p:nvGrpSpPr>
          <p:cNvPr id="425" name="Google Shape;425;p20"/>
          <p:cNvGrpSpPr/>
          <p:nvPr/>
        </p:nvGrpSpPr>
        <p:grpSpPr>
          <a:xfrm>
            <a:off x="2905062" y="3296353"/>
            <a:ext cx="731003" cy="760368"/>
            <a:chOff x="0" y="0"/>
            <a:chExt cx="974670" cy="1013824"/>
          </a:xfrm>
        </p:grpSpPr>
        <p:sp>
          <p:nvSpPr>
            <p:cNvPr id="426" name="Google Shape;426;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2</a:t>
              </a:r>
              <a:endParaRPr/>
            </a:p>
          </p:txBody>
        </p:sp>
      </p:grpSp>
      <p:grpSp>
        <p:nvGrpSpPr>
          <p:cNvPr id="428" name="Google Shape;428;p20"/>
          <p:cNvGrpSpPr/>
          <p:nvPr/>
        </p:nvGrpSpPr>
        <p:grpSpPr>
          <a:xfrm>
            <a:off x="2905062" y="4459911"/>
            <a:ext cx="731003" cy="760368"/>
            <a:chOff x="0" y="0"/>
            <a:chExt cx="974670" cy="1013824"/>
          </a:xfrm>
        </p:grpSpPr>
        <p:sp>
          <p:nvSpPr>
            <p:cNvPr id="429" name="Google Shape;429;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3</a:t>
              </a:r>
              <a:endParaRPr/>
            </a:p>
          </p:txBody>
        </p:sp>
      </p:grpSp>
      <p:grpSp>
        <p:nvGrpSpPr>
          <p:cNvPr id="431" name="Google Shape;431;p20"/>
          <p:cNvGrpSpPr/>
          <p:nvPr/>
        </p:nvGrpSpPr>
        <p:grpSpPr>
          <a:xfrm>
            <a:off x="2905062" y="5623470"/>
            <a:ext cx="731003" cy="760368"/>
            <a:chOff x="0" y="0"/>
            <a:chExt cx="974670" cy="1013824"/>
          </a:xfrm>
        </p:grpSpPr>
        <p:sp>
          <p:nvSpPr>
            <p:cNvPr id="432" name="Google Shape;432;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4</a:t>
              </a:r>
              <a:endParaRPr/>
            </a:p>
          </p:txBody>
        </p:sp>
      </p:grpSp>
      <p:sp>
        <p:nvSpPr>
          <p:cNvPr id="434" name="Google Shape;434;p20"/>
          <p:cNvSpPr txBox="1"/>
          <p:nvPr/>
        </p:nvSpPr>
        <p:spPr>
          <a:xfrm>
            <a:off x="3865124" y="4476750"/>
            <a:ext cx="29877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Volúmenes</a:t>
            </a:r>
            <a:endParaRPr/>
          </a:p>
        </p:txBody>
      </p:sp>
      <p:sp>
        <p:nvSpPr>
          <p:cNvPr id="435" name="Google Shape;435;p20"/>
          <p:cNvSpPr txBox="1"/>
          <p:nvPr/>
        </p:nvSpPr>
        <p:spPr>
          <a:xfrm>
            <a:off x="3865129" y="5702029"/>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Docker Networks</a:t>
            </a:r>
            <a:endParaRPr/>
          </a:p>
        </p:txBody>
      </p:sp>
      <p:sp>
        <p:nvSpPr>
          <p:cNvPr id="436" name="Google Shape;436;p20"/>
          <p:cNvSpPr txBox="1"/>
          <p:nvPr/>
        </p:nvSpPr>
        <p:spPr>
          <a:xfrm>
            <a:off x="3865124" y="3374900"/>
            <a:ext cx="6822300" cy="53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Imágenes y Contenedores</a:t>
            </a:r>
            <a:endParaRPr/>
          </a:p>
        </p:txBody>
      </p:sp>
      <p:grpSp>
        <p:nvGrpSpPr>
          <p:cNvPr id="437" name="Google Shape;437;p20"/>
          <p:cNvGrpSpPr/>
          <p:nvPr/>
        </p:nvGrpSpPr>
        <p:grpSpPr>
          <a:xfrm>
            <a:off x="2905062" y="6802938"/>
            <a:ext cx="731003" cy="760368"/>
            <a:chOff x="0" y="0"/>
            <a:chExt cx="974670" cy="1013824"/>
          </a:xfrm>
        </p:grpSpPr>
        <p:sp>
          <p:nvSpPr>
            <p:cNvPr id="438" name="Google Shape;438;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5</a:t>
              </a:r>
              <a:endParaRPr/>
            </a:p>
          </p:txBody>
        </p:sp>
      </p:grpSp>
      <p:sp>
        <p:nvSpPr>
          <p:cNvPr id="440" name="Google Shape;440;p20"/>
          <p:cNvSpPr txBox="1"/>
          <p:nvPr/>
        </p:nvSpPr>
        <p:spPr>
          <a:xfrm>
            <a:off x="3865129" y="6881497"/>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Docker Compose</a:t>
            </a:r>
            <a:endParaRPr/>
          </a:p>
        </p:txBody>
      </p:sp>
      <p:grpSp>
        <p:nvGrpSpPr>
          <p:cNvPr id="441" name="Google Shape;441;p20"/>
          <p:cNvGrpSpPr/>
          <p:nvPr/>
        </p:nvGrpSpPr>
        <p:grpSpPr>
          <a:xfrm>
            <a:off x="2905062" y="7833997"/>
            <a:ext cx="731003" cy="760368"/>
            <a:chOff x="0" y="0"/>
            <a:chExt cx="974670" cy="1013824"/>
          </a:xfrm>
        </p:grpSpPr>
        <p:sp>
          <p:nvSpPr>
            <p:cNvPr id="442" name="Google Shape;442;p20"/>
            <p:cNvSpPr/>
            <p:nvPr/>
          </p:nvSpPr>
          <p:spPr>
            <a:xfrm>
              <a:off x="0" y="0"/>
              <a:ext cx="974670" cy="1013824"/>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0"/>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None/>
              </a:pPr>
              <a:r>
                <a:rPr b="1" i="0" lang="en-US" sz="3924" u="none" cap="none" strike="noStrike">
                  <a:solidFill>
                    <a:srgbClr val="FFFFFF"/>
                  </a:solidFill>
                  <a:latin typeface="Arial"/>
                  <a:ea typeface="Arial"/>
                  <a:cs typeface="Arial"/>
                  <a:sym typeface="Arial"/>
                </a:rPr>
                <a:t>6</a:t>
              </a:r>
              <a:endParaRPr/>
            </a:p>
          </p:txBody>
        </p:sp>
      </p:grpSp>
      <p:sp>
        <p:nvSpPr>
          <p:cNvPr id="444" name="Google Shape;444;p20"/>
          <p:cNvSpPr txBox="1"/>
          <p:nvPr/>
        </p:nvSpPr>
        <p:spPr>
          <a:xfrm>
            <a:off x="3865129" y="7912556"/>
            <a:ext cx="4153793" cy="5651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500" u="none" cap="none" strike="noStrike">
                <a:solidFill>
                  <a:srgbClr val="29303C"/>
                </a:solidFill>
                <a:latin typeface="Arial"/>
                <a:ea typeface="Arial"/>
                <a:cs typeface="Arial"/>
                <a:sym typeface="Arial"/>
              </a:rPr>
              <a:t>Cloud + Docker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1"/>
          <p:cNvSpPr/>
          <p:nvPr/>
        </p:nvSpPr>
        <p:spPr>
          <a:xfrm>
            <a:off x="-242146" y="-201788"/>
            <a:ext cx="7408840" cy="10690576"/>
          </a:xfrm>
          <a:prstGeom prst="rect">
            <a:avLst/>
          </a:prstGeom>
          <a:solidFill>
            <a:srgbClr val="1E63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rot="5400000">
            <a:off x="1035086" y="8288411"/>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451" name="Google Shape;451;p21"/>
          <p:cNvSpPr txBox="1"/>
          <p:nvPr/>
        </p:nvSpPr>
        <p:spPr>
          <a:xfrm>
            <a:off x="935917" y="1369165"/>
            <a:ext cx="5294859" cy="941387"/>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None/>
            </a:pPr>
            <a:r>
              <a:rPr b="0" i="0" lang="en-US" sz="6624" u="none" cap="none" strike="noStrike">
                <a:solidFill>
                  <a:srgbClr val="FFFFFF"/>
                </a:solidFill>
                <a:latin typeface="Hammersmith One"/>
                <a:ea typeface="Hammersmith One"/>
                <a:cs typeface="Hammersmith One"/>
                <a:sym typeface="Hammersmith One"/>
              </a:rPr>
              <a:t>REFERENCIAS</a:t>
            </a:r>
            <a:endParaRPr/>
          </a:p>
        </p:txBody>
      </p:sp>
      <p:sp>
        <p:nvSpPr>
          <p:cNvPr id="452" name="Google Shape;452;p21"/>
          <p:cNvSpPr/>
          <p:nvPr/>
        </p:nvSpPr>
        <p:spPr>
          <a:xfrm>
            <a:off x="935917" y="2310552"/>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4">
              <a:alphaModFix/>
            </a:blip>
            <a:stretch>
              <a:fillRect b="-1042591" l="-170" r="-7086" t="-308576"/>
            </a:stretch>
          </a:blipFill>
          <a:ln>
            <a:noFill/>
          </a:ln>
        </p:spPr>
      </p:sp>
      <p:sp>
        <p:nvSpPr>
          <p:cNvPr id="453" name="Google Shape;453;p21"/>
          <p:cNvSpPr txBox="1"/>
          <p:nvPr/>
        </p:nvSpPr>
        <p:spPr>
          <a:xfrm>
            <a:off x="7744891" y="417359"/>
            <a:ext cx="9514409" cy="3650295"/>
          </a:xfrm>
          <a:prstGeom prst="rect">
            <a:avLst/>
          </a:prstGeom>
          <a:noFill/>
          <a:ln>
            <a:noFill/>
          </a:ln>
        </p:spPr>
        <p:txBody>
          <a:bodyPr anchorCtr="0" anchor="t" bIns="0" lIns="0" spcFirstLastPara="1" rIns="0" wrap="square" tIns="0">
            <a:spAutoFit/>
          </a:bodyPr>
          <a:lstStyle/>
          <a:p>
            <a:pPr indent="-304982" lvl="1" marL="609967" marR="0" rtl="0" algn="l">
              <a:lnSpc>
                <a:spcPct val="129982"/>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What is Docker?. Docker Docs.  </a:t>
            </a:r>
            <a:r>
              <a:rPr b="0" i="0" lang="en-US" sz="2825" u="none" cap="none" strike="noStrike">
                <a:solidFill>
                  <a:srgbClr val="29303C"/>
                </a:solidFill>
                <a:latin typeface="Arial"/>
                <a:ea typeface="Arial"/>
                <a:cs typeface="Arial"/>
                <a:sym typeface="Arial"/>
              </a:rPr>
              <a:t>https://learn.microsoft.com/en-us/power-platform/</a:t>
            </a:r>
            <a:endParaRPr/>
          </a:p>
          <a:p>
            <a:pPr indent="-304982" lvl="1" marL="609967" marR="0" rtl="0" algn="l">
              <a:lnSpc>
                <a:spcPct val="129982"/>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Use volumes. Docker Docs. </a:t>
            </a:r>
            <a:r>
              <a:rPr b="0" i="0" lang="en-US" sz="2825" u="none" cap="none" strike="noStrike">
                <a:solidFill>
                  <a:srgbClr val="29303C"/>
                </a:solidFill>
                <a:latin typeface="Arial"/>
                <a:ea typeface="Arial"/>
                <a:cs typeface="Arial"/>
                <a:sym typeface="Arial"/>
              </a:rPr>
              <a:t>https://docs.docker.com/storage/volumes/</a:t>
            </a:r>
            <a:endParaRPr/>
          </a:p>
          <a:p>
            <a:pPr indent="-304982" lvl="1" marL="609967" marR="0" rtl="0" algn="l">
              <a:lnSpc>
                <a:spcPct val="129982"/>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Docker, Inc. (n.d.). Networking overview. Docker Docs.</a:t>
            </a:r>
            <a:r>
              <a:rPr b="0" i="0" lang="en-US" sz="2825" u="none" cap="none" strike="noStrike">
                <a:solidFill>
                  <a:srgbClr val="29303C"/>
                </a:solidFill>
                <a:latin typeface="Arial"/>
                <a:ea typeface="Arial"/>
                <a:cs typeface="Arial"/>
                <a:sym typeface="Arial"/>
              </a:rPr>
              <a:t> https://learn.microsoft.com/en-us/power-apps/</a:t>
            </a:r>
            <a:endParaRPr/>
          </a:p>
          <a:p>
            <a:pPr indent="-304982" lvl="1" marL="609967" marR="0" rtl="0" algn="l">
              <a:lnSpc>
                <a:spcPct val="129982"/>
              </a:lnSpc>
              <a:spcBef>
                <a:spcPts val="0"/>
              </a:spcBef>
              <a:spcAft>
                <a:spcPts val="0"/>
              </a:spcAft>
              <a:buClr>
                <a:srgbClr val="29303C"/>
              </a:buClr>
              <a:buSzPts val="2825"/>
              <a:buFont typeface="Arial"/>
              <a:buChar char="•"/>
            </a:pPr>
            <a:r>
              <a:rPr b="1" i="0" lang="en-US" sz="2825" u="none" cap="none" strike="noStrike">
                <a:solidFill>
                  <a:srgbClr val="29303C"/>
                </a:solidFill>
                <a:latin typeface="Arial"/>
                <a:ea typeface="Arial"/>
                <a:cs typeface="Arial"/>
                <a:sym typeface="Arial"/>
              </a:rPr>
              <a:t> Docker, Inc. (n.d.). Overview of Docker Compose. Docker Docs </a:t>
            </a:r>
            <a:r>
              <a:rPr b="0" i="0" lang="en-US" sz="2825" u="none" cap="none" strike="noStrike">
                <a:solidFill>
                  <a:srgbClr val="29303C"/>
                </a:solidFill>
                <a:latin typeface="Arial"/>
                <a:ea typeface="Arial"/>
                <a:cs typeface="Arial"/>
                <a:sym typeface="Arial"/>
              </a:rPr>
              <a:t>https://docs.docker.com/compose/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2"/>
          <p:cNvSpPr txBox="1"/>
          <p:nvPr/>
        </p:nvSpPr>
        <p:spPr>
          <a:xfrm>
            <a:off x="3207779" y="4022725"/>
            <a:ext cx="11872442"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6999" u="none" cap="none" strike="noStrike">
                <a:solidFill>
                  <a:srgbClr val="29303C"/>
                </a:solidFill>
                <a:latin typeface="Hammersmith One"/>
                <a:ea typeface="Hammersmith One"/>
                <a:cs typeface="Hammersmith One"/>
                <a:sym typeface="Hammersmith One"/>
              </a:rPr>
              <a:t>¡GRACIAS POR SU ATENCIÓN!</a:t>
            </a:r>
            <a:endParaRPr/>
          </a:p>
        </p:txBody>
      </p:sp>
      <p:sp>
        <p:nvSpPr>
          <p:cNvPr id="459" name="Google Shape;459;p22"/>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460" name="Google Shape;460;p22"/>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461" name="Google Shape;461;p22"/>
          <p:cNvSpPr txBox="1"/>
          <p:nvPr/>
        </p:nvSpPr>
        <p:spPr>
          <a:xfrm>
            <a:off x="6949660" y="5086350"/>
            <a:ext cx="4341055" cy="1120775"/>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None/>
            </a:pPr>
            <a:r>
              <a:rPr b="0" i="0" lang="en-US" sz="6999" u="none" cap="none" strike="noStrike">
                <a:solidFill>
                  <a:srgbClr val="29303C"/>
                </a:solidFill>
                <a:latin typeface="Arial"/>
                <a:ea typeface="Arial"/>
                <a:cs typeface="Arial"/>
                <a:sym typeface="Arial"/>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