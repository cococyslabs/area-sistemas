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Poppins Bold" charset="1" panose="00000800000000000000"/>
      <p:regular r:id="rId37"/>
    </p:embeddedFont>
    <p:embeddedFont>
      <p:font typeface="Poppins" charset="1" panose="00000500000000000000"/>
      <p:regular r:id="rId38"/>
    </p:embeddedFont>
    <p:embeddedFont>
      <p:font typeface="Open Sans" charset="1" panose="020B0606030504020204"/>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jpeg" Type="http://schemas.openxmlformats.org/officeDocument/2006/relationships/image"/><Relationship Id="rId5" Target="https://youtu.be/eMzCI7S1P9M" TargetMode="External" Type="http://schemas.openxmlformats.org/officeDocument/2006/relationships/video"/></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2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9.jpeg" Type="http://schemas.openxmlformats.org/officeDocument/2006/relationships/image"/><Relationship Id="rId7" Target="https://youtu.be/FzxqIdIZ9wc" TargetMode="External" Type="http://schemas.openxmlformats.org/officeDocument/2006/relationships/video"/></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9.jpeg" Type="http://schemas.openxmlformats.org/officeDocument/2006/relationships/image"/><Relationship Id="rId7" Target="https://youtu.be/sI-zciHAh-4" TargetMode="External" Type="http://schemas.openxmlformats.org/officeDocument/2006/relationships/video"/></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3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3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3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3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png" Type="http://schemas.openxmlformats.org/officeDocument/2006/relationships/image"/><Relationship Id="rId11" Target="../media/image47.sv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44.png" Type="http://schemas.openxmlformats.org/officeDocument/2006/relationships/image"/><Relationship Id="rId9" Target="../media/image45.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8.png" Type="http://schemas.openxmlformats.org/officeDocument/2006/relationships/image"/><Relationship Id="rId5" Target="https://aws.amazon.com/es/rds/" TargetMode="External" Type="http://schemas.openxmlformats.org/officeDocument/2006/relationships/hyperlink"/></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9.png" Type="http://schemas.openxmlformats.org/officeDocument/2006/relationships/image"/><Relationship Id="rId5" Target="https://aws.amazon.com/es/rds/aurora/" TargetMode="External" Type="http://schemas.openxmlformats.org/officeDocument/2006/relationships/hyperlink"/></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0.png" Type="http://schemas.openxmlformats.org/officeDocument/2006/relationships/image"/><Relationship Id="rId5" Target="https://aws.amazon.com/es/dynamodb/" TargetMode="External" Type="http://schemas.openxmlformats.org/officeDocument/2006/relationships/hyperlink"/></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1.png" Type="http://schemas.openxmlformats.org/officeDocument/2006/relationships/image"/><Relationship Id="rId5" Target="https://azure.microsoft.com/en-us/products/azure-sql/database" TargetMode="External" Type="http://schemas.openxmlformats.org/officeDocument/2006/relationships/hyperlink"/></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Freeform 2" id="2"/>
          <p:cNvSpPr/>
          <p:nvPr/>
        </p:nvSpPr>
        <p:spPr>
          <a:xfrm flipH="false" flipV="false" rot="0">
            <a:off x="13550987" y="3184451"/>
            <a:ext cx="10946941" cy="8896877"/>
          </a:xfrm>
          <a:custGeom>
            <a:avLst/>
            <a:gdLst/>
            <a:ahLst/>
            <a:cxnLst/>
            <a:rect r="r" b="b" t="t" l="l"/>
            <a:pathLst>
              <a:path h="8896877" w="10946941">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243554" y="-1718684"/>
            <a:ext cx="5643741" cy="4114800"/>
          </a:xfrm>
          <a:custGeom>
            <a:avLst/>
            <a:gdLst/>
            <a:ahLst/>
            <a:cxnLst/>
            <a:rect r="r" b="b" t="t" l="l"/>
            <a:pathLst>
              <a:path h="4114800" w="5643741">
                <a:moveTo>
                  <a:pt x="0" y="0"/>
                </a:moveTo>
                <a:lnTo>
                  <a:pt x="5643740" y="0"/>
                </a:lnTo>
                <a:lnTo>
                  <a:pt x="564374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0" y="9998267"/>
            <a:ext cx="9144000" cy="288733"/>
            <a:chOff x="0" y="0"/>
            <a:chExt cx="2408296" cy="76045"/>
          </a:xfrm>
        </p:grpSpPr>
        <p:sp>
          <p:nvSpPr>
            <p:cNvPr name="Freeform 5" id="5"/>
            <p:cNvSpPr/>
            <p:nvPr/>
          </p:nvSpPr>
          <p:spPr>
            <a:xfrm flipH="false" flipV="false" rot="0">
              <a:off x="0" y="0"/>
              <a:ext cx="2408296" cy="76045"/>
            </a:xfrm>
            <a:custGeom>
              <a:avLst/>
              <a:gdLst/>
              <a:ahLst/>
              <a:cxnLst/>
              <a:rect r="r" b="b" t="t" l="l"/>
              <a:pathLst>
                <a:path h="76045" w="2408296">
                  <a:moveTo>
                    <a:pt x="0" y="0"/>
                  </a:moveTo>
                  <a:lnTo>
                    <a:pt x="2408296" y="0"/>
                  </a:lnTo>
                  <a:lnTo>
                    <a:pt x="2408296" y="76045"/>
                  </a:lnTo>
                  <a:lnTo>
                    <a:pt x="0" y="76045"/>
                  </a:lnTo>
                  <a:close/>
                </a:path>
              </a:pathLst>
            </a:custGeom>
            <a:solidFill>
              <a:srgbClr val="3DCAB1"/>
            </a:solidFill>
          </p:spPr>
        </p:sp>
        <p:sp>
          <p:nvSpPr>
            <p:cNvPr name="TextBox 6" id="6"/>
            <p:cNvSpPr txBox="true"/>
            <p:nvPr/>
          </p:nvSpPr>
          <p:spPr>
            <a:xfrm>
              <a:off x="0" y="-38100"/>
              <a:ext cx="2408296" cy="114145"/>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3317051" y="3877164"/>
            <a:ext cx="9970610" cy="2307072"/>
          </a:xfrm>
          <a:prstGeom prst="rect">
            <a:avLst/>
          </a:prstGeom>
        </p:spPr>
        <p:txBody>
          <a:bodyPr anchor="t" rtlCol="false" tIns="0" lIns="0" bIns="0" rIns="0">
            <a:spAutoFit/>
          </a:bodyPr>
          <a:lstStyle/>
          <a:p>
            <a:pPr algn="l">
              <a:lnSpc>
                <a:spcPts val="9008"/>
              </a:lnSpc>
            </a:pPr>
            <a:r>
              <a:rPr lang="en-US" sz="6434" spc="-109" b="true">
                <a:solidFill>
                  <a:srgbClr val="FFFFFF"/>
                </a:solidFill>
                <a:latin typeface="Poppins Bold"/>
                <a:ea typeface="Poppins Bold"/>
                <a:cs typeface="Poppins Bold"/>
                <a:sym typeface="Poppins Bold"/>
              </a:rPr>
              <a:t>Laboratorio</a:t>
            </a:r>
          </a:p>
          <a:p>
            <a:pPr algn="l">
              <a:lnSpc>
                <a:spcPts val="9008"/>
              </a:lnSpc>
            </a:pPr>
            <a:r>
              <a:rPr lang="en-US" sz="6434" spc="-109" b="true">
                <a:solidFill>
                  <a:srgbClr val="FFFFFF"/>
                </a:solidFill>
                <a:latin typeface="Poppins Bold"/>
                <a:ea typeface="Poppins Bold"/>
                <a:cs typeface="Poppins Bold"/>
                <a:sym typeface="Poppins Bold"/>
              </a:rPr>
              <a:t>Seminario de Sistemas 1</a:t>
            </a:r>
          </a:p>
        </p:txBody>
      </p:sp>
      <p:sp>
        <p:nvSpPr>
          <p:cNvPr name="TextBox 8" id="8"/>
          <p:cNvSpPr txBox="true"/>
          <p:nvPr/>
        </p:nvSpPr>
        <p:spPr>
          <a:xfrm rot="0">
            <a:off x="5358841" y="6553541"/>
            <a:ext cx="7928819" cy="501650"/>
          </a:xfrm>
          <a:prstGeom prst="rect">
            <a:avLst/>
          </a:prstGeom>
        </p:spPr>
        <p:txBody>
          <a:bodyPr anchor="t" rtlCol="false" tIns="0" lIns="0" bIns="0" rIns="0">
            <a:spAutoFit/>
          </a:bodyPr>
          <a:lstStyle/>
          <a:p>
            <a:pPr algn="r">
              <a:lnSpc>
                <a:spcPts val="4000"/>
              </a:lnSpc>
            </a:pPr>
            <a:r>
              <a:rPr lang="en-US" sz="2500">
                <a:solidFill>
                  <a:srgbClr val="D9D9D9"/>
                </a:solidFill>
                <a:latin typeface="Poppins"/>
                <a:ea typeface="Poppins"/>
                <a:cs typeface="Poppins"/>
                <a:sym typeface="Poppins"/>
              </a:rPr>
              <a:t>Clase 3</a:t>
            </a:r>
          </a:p>
        </p:txBody>
      </p:sp>
      <p:sp>
        <p:nvSpPr>
          <p:cNvPr name="TextBox 9" id="9"/>
          <p:cNvSpPr txBox="true"/>
          <p:nvPr/>
        </p:nvSpPr>
        <p:spPr>
          <a:xfrm rot="0">
            <a:off x="3317051" y="3242164"/>
            <a:ext cx="7928819" cy="492125"/>
          </a:xfrm>
          <a:prstGeom prst="rect">
            <a:avLst/>
          </a:prstGeom>
        </p:spPr>
        <p:txBody>
          <a:bodyPr anchor="t" rtlCol="false" tIns="0" lIns="0" bIns="0" rIns="0">
            <a:spAutoFit/>
          </a:bodyPr>
          <a:lstStyle/>
          <a:p>
            <a:pPr algn="l">
              <a:lnSpc>
                <a:spcPts val="3999"/>
              </a:lnSpc>
            </a:pPr>
            <a:r>
              <a:rPr lang="en-US" sz="2499">
                <a:solidFill>
                  <a:srgbClr val="D9D9D9"/>
                </a:solidFill>
                <a:latin typeface="Poppins"/>
                <a:ea typeface="Poppins"/>
                <a:cs typeface="Poppins"/>
                <a:sym typeface="Poppins"/>
              </a:rPr>
              <a:t>Segundo Semestre 2024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Freeform 2" id="2"/>
          <p:cNvSpPr/>
          <p:nvPr/>
        </p:nvSpPr>
        <p:spPr>
          <a:xfrm flipH="false" flipV="false" rot="0">
            <a:off x="-6475716" y="-4047360"/>
            <a:ext cx="10946941" cy="8896877"/>
          </a:xfrm>
          <a:custGeom>
            <a:avLst/>
            <a:gdLst/>
            <a:ahLst/>
            <a:cxnLst/>
            <a:rect r="r" b="b" t="t" l="l"/>
            <a:pathLst>
              <a:path h="8896877" w="10946941">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998267"/>
            <a:ext cx="9144000" cy="288733"/>
            <a:chOff x="0" y="0"/>
            <a:chExt cx="2408296" cy="76045"/>
          </a:xfrm>
        </p:grpSpPr>
        <p:sp>
          <p:nvSpPr>
            <p:cNvPr name="Freeform 4" id="4"/>
            <p:cNvSpPr/>
            <p:nvPr/>
          </p:nvSpPr>
          <p:spPr>
            <a:xfrm flipH="false" flipV="false" rot="0">
              <a:off x="0" y="0"/>
              <a:ext cx="2408296" cy="76045"/>
            </a:xfrm>
            <a:custGeom>
              <a:avLst/>
              <a:gdLst/>
              <a:ahLst/>
              <a:cxnLst/>
              <a:rect r="r" b="b" t="t" l="l"/>
              <a:pathLst>
                <a:path h="76045" w="2408296">
                  <a:moveTo>
                    <a:pt x="0" y="0"/>
                  </a:moveTo>
                  <a:lnTo>
                    <a:pt x="2408296" y="0"/>
                  </a:lnTo>
                  <a:lnTo>
                    <a:pt x="2408296" y="76045"/>
                  </a:lnTo>
                  <a:lnTo>
                    <a:pt x="0" y="76045"/>
                  </a:lnTo>
                  <a:close/>
                </a:path>
              </a:pathLst>
            </a:custGeom>
            <a:solidFill>
              <a:srgbClr val="3DCAB1"/>
            </a:solidFill>
          </p:spPr>
        </p:sp>
        <p:sp>
          <p:nvSpPr>
            <p:cNvPr name="TextBox 5" id="5"/>
            <p:cNvSpPr txBox="true"/>
            <p:nvPr/>
          </p:nvSpPr>
          <p:spPr>
            <a:xfrm>
              <a:off x="0" y="-38100"/>
              <a:ext cx="2408296"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4141389" y="6745580"/>
            <a:ext cx="5414211" cy="4114800"/>
          </a:xfrm>
          <a:custGeom>
            <a:avLst/>
            <a:gdLst/>
            <a:ahLst/>
            <a:cxnLst/>
            <a:rect r="r" b="b" t="t" l="l"/>
            <a:pathLst>
              <a:path h="4114800" w="5414211">
                <a:moveTo>
                  <a:pt x="0" y="0"/>
                </a:moveTo>
                <a:lnTo>
                  <a:pt x="5414211" y="0"/>
                </a:lnTo>
                <a:lnTo>
                  <a:pt x="541421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317051" y="2205616"/>
            <a:ext cx="9970610" cy="1167065"/>
          </a:xfrm>
          <a:prstGeom prst="rect">
            <a:avLst/>
          </a:prstGeom>
        </p:spPr>
        <p:txBody>
          <a:bodyPr anchor="t" rtlCol="false" tIns="0" lIns="0" bIns="0" rIns="0">
            <a:spAutoFit/>
          </a:bodyPr>
          <a:lstStyle/>
          <a:p>
            <a:pPr algn="l">
              <a:lnSpc>
                <a:spcPts val="9008"/>
              </a:lnSpc>
            </a:pPr>
            <a:r>
              <a:rPr lang="en-US" sz="6434" spc="-109" b="true">
                <a:solidFill>
                  <a:srgbClr val="FFFFFF"/>
                </a:solidFill>
                <a:latin typeface="Poppins Bold"/>
                <a:ea typeface="Poppins Bold"/>
                <a:cs typeface="Poppins Bold"/>
                <a:sym typeface="Poppins Bold"/>
              </a:rPr>
              <a:t>Agenda del día</a:t>
            </a:r>
          </a:p>
        </p:txBody>
      </p:sp>
      <p:sp>
        <p:nvSpPr>
          <p:cNvPr name="TextBox 8" id="8"/>
          <p:cNvSpPr txBox="true"/>
          <p:nvPr/>
        </p:nvSpPr>
        <p:spPr>
          <a:xfrm rot="0">
            <a:off x="3317051" y="3725822"/>
            <a:ext cx="7928819" cy="4035425"/>
          </a:xfrm>
          <a:prstGeom prst="rect">
            <a:avLst/>
          </a:prstGeom>
        </p:spPr>
        <p:txBody>
          <a:bodyPr anchor="t" rtlCol="false" tIns="0" lIns="0" bIns="0" rIns="0">
            <a:spAutoFit/>
          </a:bodyPr>
          <a:lstStyle/>
          <a:p>
            <a:pPr algn="just" marL="539751" indent="-269876" lvl="1">
              <a:lnSpc>
                <a:spcPts val="4000"/>
              </a:lnSpc>
              <a:buFont typeface="Arial"/>
              <a:buChar char="•"/>
            </a:pPr>
            <a:r>
              <a:rPr lang="en-US" sz="2500">
                <a:solidFill>
                  <a:srgbClr val="D9D9D9"/>
                </a:solidFill>
                <a:latin typeface="Poppins"/>
                <a:ea typeface="Poppins"/>
                <a:cs typeface="Poppins"/>
                <a:sym typeface="Poppins"/>
              </a:rPr>
              <a:t>Dudas clase anterior</a:t>
            </a:r>
          </a:p>
          <a:p>
            <a:pPr algn="just" marL="539751" indent="-269876" lvl="1">
              <a:lnSpc>
                <a:spcPts val="4000"/>
              </a:lnSpc>
              <a:buFont typeface="Arial"/>
              <a:buChar char="•"/>
            </a:pPr>
            <a:r>
              <a:rPr lang="en-US" sz="2500">
                <a:solidFill>
                  <a:srgbClr val="D9D9D9"/>
                </a:solidFill>
                <a:latin typeface="Poppins"/>
                <a:ea typeface="Poppins"/>
                <a:cs typeface="Poppins"/>
                <a:sym typeface="Poppins"/>
              </a:rPr>
              <a:t>Aviso foro #3</a:t>
            </a:r>
          </a:p>
          <a:p>
            <a:pPr algn="just" marL="539751" indent="-269876" lvl="1">
              <a:lnSpc>
                <a:spcPts val="4000"/>
              </a:lnSpc>
              <a:buFont typeface="Arial"/>
              <a:buChar char="•"/>
            </a:pPr>
            <a:r>
              <a:rPr lang="en-US" sz="2500">
                <a:solidFill>
                  <a:srgbClr val="D9D9D9"/>
                </a:solidFill>
                <a:latin typeface="Poppins"/>
                <a:ea typeface="Poppins"/>
                <a:cs typeface="Poppins"/>
                <a:sym typeface="Poppins"/>
              </a:rPr>
              <a:t>Aviso corto #1</a:t>
            </a:r>
          </a:p>
          <a:p>
            <a:pPr algn="just" marL="539751" indent="-269876" lvl="1">
              <a:lnSpc>
                <a:spcPts val="4000"/>
              </a:lnSpc>
              <a:buFont typeface="Arial"/>
              <a:buChar char="•"/>
            </a:pPr>
            <a:r>
              <a:rPr lang="en-US" sz="2500">
                <a:solidFill>
                  <a:srgbClr val="D9D9D9"/>
                </a:solidFill>
                <a:latin typeface="Poppins"/>
                <a:ea typeface="Poppins"/>
                <a:cs typeface="Poppins"/>
                <a:sym typeface="Poppins"/>
              </a:rPr>
              <a:t>Aviso lectura de práctica #1</a:t>
            </a:r>
          </a:p>
          <a:p>
            <a:pPr algn="just" marL="539751" indent="-269876" lvl="1">
              <a:lnSpc>
                <a:spcPts val="4000"/>
              </a:lnSpc>
              <a:buFont typeface="Arial"/>
              <a:buChar char="•"/>
            </a:pPr>
            <a:r>
              <a:rPr lang="en-US" sz="2500">
                <a:solidFill>
                  <a:srgbClr val="D9D9D9"/>
                </a:solidFill>
                <a:latin typeface="Poppins"/>
                <a:ea typeface="Poppins"/>
                <a:cs typeface="Poppins"/>
                <a:sym typeface="Poppins"/>
              </a:rPr>
              <a:t>Temas de exposiciones</a:t>
            </a:r>
          </a:p>
          <a:p>
            <a:pPr algn="just" marL="539751" indent="-269876" lvl="1">
              <a:lnSpc>
                <a:spcPts val="4000"/>
              </a:lnSpc>
              <a:buFont typeface="Arial"/>
              <a:buChar char="•"/>
            </a:pPr>
            <a:r>
              <a:rPr lang="en-US" sz="2500">
                <a:solidFill>
                  <a:srgbClr val="D9D9D9"/>
                </a:solidFill>
                <a:latin typeface="Poppins"/>
                <a:ea typeface="Poppins"/>
                <a:cs typeface="Poppins"/>
                <a:sym typeface="Poppins"/>
              </a:rPr>
              <a:t>Bases de datos en la nube</a:t>
            </a:r>
          </a:p>
          <a:p>
            <a:pPr algn="just" marL="1079502" indent="-359834" lvl="2">
              <a:lnSpc>
                <a:spcPts val="4000"/>
              </a:lnSpc>
              <a:buFont typeface="Arial"/>
              <a:buChar char="⚬"/>
            </a:pPr>
            <a:r>
              <a:rPr lang="en-US" sz="2500">
                <a:solidFill>
                  <a:srgbClr val="D9D9D9"/>
                </a:solidFill>
                <a:latin typeface="Poppins"/>
                <a:ea typeface="Poppins"/>
                <a:cs typeface="Poppins"/>
                <a:sym typeface="Poppins"/>
              </a:rPr>
              <a:t>AWS RDS</a:t>
            </a:r>
          </a:p>
          <a:p>
            <a:pPr algn="just" marL="539751" indent="-269876" lvl="1">
              <a:lnSpc>
                <a:spcPts val="4000"/>
              </a:lnSpc>
              <a:buFont typeface="Arial"/>
              <a:buChar char="•"/>
            </a:pPr>
            <a:r>
              <a:rPr lang="en-US" sz="2500">
                <a:solidFill>
                  <a:srgbClr val="D9D9D9"/>
                </a:solidFill>
                <a:latin typeface="Poppins"/>
                <a:ea typeface="Poppins"/>
                <a:cs typeface="Poppins"/>
                <a:sym typeface="Poppins"/>
              </a:rPr>
              <a:t>Ejemplo práctico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Freeform 2" id="2"/>
          <p:cNvSpPr/>
          <p:nvPr/>
        </p:nvSpPr>
        <p:spPr>
          <a:xfrm flipH="false" flipV="false" rot="0">
            <a:off x="-6475716" y="-4047360"/>
            <a:ext cx="10946941" cy="8896877"/>
          </a:xfrm>
          <a:custGeom>
            <a:avLst/>
            <a:gdLst/>
            <a:ahLst/>
            <a:cxnLst/>
            <a:rect r="r" b="b" t="t" l="l"/>
            <a:pathLst>
              <a:path h="8896877" w="10946941">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998267"/>
            <a:ext cx="9144000" cy="288733"/>
            <a:chOff x="0" y="0"/>
            <a:chExt cx="2408296" cy="76045"/>
          </a:xfrm>
        </p:grpSpPr>
        <p:sp>
          <p:nvSpPr>
            <p:cNvPr name="Freeform 4" id="4"/>
            <p:cNvSpPr/>
            <p:nvPr/>
          </p:nvSpPr>
          <p:spPr>
            <a:xfrm flipH="false" flipV="false" rot="0">
              <a:off x="0" y="0"/>
              <a:ext cx="2408296" cy="76045"/>
            </a:xfrm>
            <a:custGeom>
              <a:avLst/>
              <a:gdLst/>
              <a:ahLst/>
              <a:cxnLst/>
              <a:rect r="r" b="b" t="t" l="l"/>
              <a:pathLst>
                <a:path h="76045" w="2408296">
                  <a:moveTo>
                    <a:pt x="0" y="0"/>
                  </a:moveTo>
                  <a:lnTo>
                    <a:pt x="2408296" y="0"/>
                  </a:lnTo>
                  <a:lnTo>
                    <a:pt x="2408296" y="76045"/>
                  </a:lnTo>
                  <a:lnTo>
                    <a:pt x="0" y="76045"/>
                  </a:lnTo>
                  <a:close/>
                </a:path>
              </a:pathLst>
            </a:custGeom>
            <a:solidFill>
              <a:srgbClr val="3DCAB1"/>
            </a:solidFill>
          </p:spPr>
        </p:sp>
        <p:sp>
          <p:nvSpPr>
            <p:cNvPr name="TextBox 5" id="5"/>
            <p:cNvSpPr txBox="true"/>
            <p:nvPr/>
          </p:nvSpPr>
          <p:spPr>
            <a:xfrm>
              <a:off x="0" y="-38100"/>
              <a:ext cx="2408296"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4141389" y="6745580"/>
            <a:ext cx="5414211" cy="4114800"/>
          </a:xfrm>
          <a:custGeom>
            <a:avLst/>
            <a:gdLst/>
            <a:ahLst/>
            <a:cxnLst/>
            <a:rect r="r" b="b" t="t" l="l"/>
            <a:pathLst>
              <a:path h="4114800" w="5414211">
                <a:moveTo>
                  <a:pt x="0" y="0"/>
                </a:moveTo>
                <a:lnTo>
                  <a:pt x="5414211" y="0"/>
                </a:lnTo>
                <a:lnTo>
                  <a:pt x="541421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283437" y="3010240"/>
            <a:ext cx="13721125" cy="4266519"/>
          </a:xfrm>
          <a:custGeom>
            <a:avLst/>
            <a:gdLst/>
            <a:ahLst/>
            <a:cxnLst/>
            <a:rect r="r" b="b" t="t" l="l"/>
            <a:pathLst>
              <a:path h="4266519" w="13721125">
                <a:moveTo>
                  <a:pt x="0" y="0"/>
                </a:moveTo>
                <a:lnTo>
                  <a:pt x="13721126" y="0"/>
                </a:lnTo>
                <a:lnTo>
                  <a:pt x="13721126" y="4266520"/>
                </a:lnTo>
                <a:lnTo>
                  <a:pt x="0" y="4266520"/>
                </a:lnTo>
                <a:lnTo>
                  <a:pt x="0" y="0"/>
                </a:lnTo>
                <a:close/>
              </a:path>
            </a:pathLst>
          </a:custGeom>
          <a:blipFill>
            <a:blip r:embed="rId6"/>
            <a:stretch>
              <a:fillRect l="0" t="0" r="0" b="0"/>
            </a:stretch>
          </a:blipFill>
        </p:spPr>
      </p:sp>
      <p:sp>
        <p:nvSpPr>
          <p:cNvPr name="TextBox 8" id="8"/>
          <p:cNvSpPr txBox="true"/>
          <p:nvPr/>
        </p:nvSpPr>
        <p:spPr>
          <a:xfrm rot="0">
            <a:off x="3731831" y="970520"/>
            <a:ext cx="10824339" cy="1167065"/>
          </a:xfrm>
          <a:prstGeom prst="rect">
            <a:avLst/>
          </a:prstGeom>
        </p:spPr>
        <p:txBody>
          <a:bodyPr anchor="t" rtlCol="false" tIns="0" lIns="0" bIns="0" rIns="0">
            <a:spAutoFit/>
          </a:bodyPr>
          <a:lstStyle/>
          <a:p>
            <a:pPr algn="l">
              <a:lnSpc>
                <a:spcPts val="9008"/>
              </a:lnSpc>
            </a:pPr>
            <a:r>
              <a:rPr lang="en-US" sz="6434" spc="-109" b="true">
                <a:solidFill>
                  <a:srgbClr val="FFFFFF"/>
                </a:solidFill>
                <a:latin typeface="Poppins Bold"/>
                <a:ea typeface="Poppins Bold"/>
                <a:cs typeface="Poppins Bold"/>
                <a:sym typeface="Poppins Bold"/>
              </a:rPr>
              <a:t>Bases de datos en la nube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71C42"/>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3786888" y="629992"/>
            <a:ext cx="6267753" cy="5093974"/>
          </a:xfrm>
          <a:custGeom>
            <a:avLst/>
            <a:gdLst/>
            <a:ahLst/>
            <a:cxnLst/>
            <a:rect r="r" b="b" t="t" l="l"/>
            <a:pathLst>
              <a:path h="5093974" w="6267753">
                <a:moveTo>
                  <a:pt x="0" y="0"/>
                </a:moveTo>
                <a:lnTo>
                  <a:pt x="6267752" y="0"/>
                </a:lnTo>
                <a:lnTo>
                  <a:pt x="6267752" y="5093973"/>
                </a:lnTo>
                <a:lnTo>
                  <a:pt x="0" y="5093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3155501" y="2603083"/>
            <a:ext cx="11976999" cy="6241765"/>
          </a:xfrm>
          <a:custGeom>
            <a:avLst/>
            <a:gdLst/>
            <a:ahLst/>
            <a:cxnLst/>
            <a:rect r="r" b="b" t="t" l="l"/>
            <a:pathLst>
              <a:path h="6241765" w="11976999">
                <a:moveTo>
                  <a:pt x="0" y="0"/>
                </a:moveTo>
                <a:lnTo>
                  <a:pt x="11976998" y="0"/>
                </a:lnTo>
                <a:lnTo>
                  <a:pt x="11976998" y="6241765"/>
                </a:lnTo>
                <a:lnTo>
                  <a:pt x="0" y="6241765"/>
                </a:lnTo>
                <a:lnTo>
                  <a:pt x="0" y="0"/>
                </a:lnTo>
                <a:close/>
              </a:path>
            </a:pathLst>
          </a:custGeom>
          <a:blipFill>
            <a:blip r:embed="rId4"/>
            <a:stretch>
              <a:fillRect l="0" t="0" r="0" b="0"/>
            </a:stretch>
          </a:blipFill>
        </p:spPr>
      </p:sp>
      <p:sp>
        <p:nvSpPr>
          <p:cNvPr name="TextBox 8" id="8"/>
          <p:cNvSpPr txBox="true"/>
          <p:nvPr/>
        </p:nvSpPr>
        <p:spPr>
          <a:xfrm rot="0">
            <a:off x="3478436" y="950102"/>
            <a:ext cx="11331128"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Bases de datos en la nube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71C42"/>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3786888" y="629992"/>
            <a:ext cx="6267753" cy="5093974"/>
          </a:xfrm>
          <a:custGeom>
            <a:avLst/>
            <a:gdLst/>
            <a:ahLst/>
            <a:cxnLst/>
            <a:rect r="r" b="b" t="t" l="l"/>
            <a:pathLst>
              <a:path h="5093974" w="6267753">
                <a:moveTo>
                  <a:pt x="0" y="0"/>
                </a:moveTo>
                <a:lnTo>
                  <a:pt x="6267752" y="0"/>
                </a:lnTo>
                <a:lnTo>
                  <a:pt x="6267752" y="5093973"/>
                </a:lnTo>
                <a:lnTo>
                  <a:pt x="0" y="5093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TextBox 7" id="7"/>
          <p:cNvSpPr txBox="true"/>
          <p:nvPr/>
        </p:nvSpPr>
        <p:spPr>
          <a:xfrm rot="0">
            <a:off x="3478436" y="950102"/>
            <a:ext cx="11331128"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Amazon RDS</a:t>
            </a:r>
          </a:p>
        </p:txBody>
      </p:sp>
      <p:pic>
        <p:nvPicPr>
          <p:cNvPr name="Picture 8" id="8"/>
          <p:cNvPicPr>
            <a:picLocks noChangeAspect="true"/>
          </p:cNvPicPr>
          <p:nvPr>
            <a:videoFile r:link="rId5"/>
          </p:nvPr>
        </p:nvPicPr>
        <p:blipFill>
          <a:blip r:embed="rId4"/>
          <a:stretch>
            <a:fillRect/>
          </a:stretch>
        </p:blipFill>
        <p:spPr>
          <a:xfrm rot="0">
            <a:off x="3293932" y="2433303"/>
            <a:ext cx="11700136" cy="6581326"/>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71C42"/>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3786888" y="629992"/>
            <a:ext cx="6267753" cy="5093974"/>
          </a:xfrm>
          <a:custGeom>
            <a:avLst/>
            <a:gdLst/>
            <a:ahLst/>
            <a:cxnLst/>
            <a:rect r="r" b="b" t="t" l="l"/>
            <a:pathLst>
              <a:path h="5093974" w="6267753">
                <a:moveTo>
                  <a:pt x="0" y="0"/>
                </a:moveTo>
                <a:lnTo>
                  <a:pt x="6267752" y="0"/>
                </a:lnTo>
                <a:lnTo>
                  <a:pt x="6267752" y="5093973"/>
                </a:lnTo>
                <a:lnTo>
                  <a:pt x="0" y="5093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TextBox 7" id="7"/>
          <p:cNvSpPr txBox="true"/>
          <p:nvPr/>
        </p:nvSpPr>
        <p:spPr>
          <a:xfrm rot="0">
            <a:off x="5046682" y="1990183"/>
            <a:ext cx="8194635"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¿Que es Amazon RDS?</a:t>
            </a:r>
          </a:p>
        </p:txBody>
      </p:sp>
      <p:sp>
        <p:nvSpPr>
          <p:cNvPr name="TextBox 8" id="8"/>
          <p:cNvSpPr txBox="true"/>
          <p:nvPr/>
        </p:nvSpPr>
        <p:spPr>
          <a:xfrm rot="0">
            <a:off x="2589392" y="3514297"/>
            <a:ext cx="13109217" cy="4266937"/>
          </a:xfrm>
          <a:prstGeom prst="rect">
            <a:avLst/>
          </a:prstGeom>
        </p:spPr>
        <p:txBody>
          <a:bodyPr anchor="t" rtlCol="false" tIns="0" lIns="0" bIns="0" rIns="0">
            <a:spAutoFit/>
          </a:bodyPr>
          <a:lstStyle/>
          <a:p>
            <a:pPr algn="just">
              <a:lnSpc>
                <a:spcPts val="4808"/>
              </a:lnSpc>
            </a:pPr>
            <a:r>
              <a:rPr lang="en-US" sz="3005">
                <a:solidFill>
                  <a:srgbClr val="FFFFFF"/>
                </a:solidFill>
                <a:latin typeface="Poppins"/>
                <a:ea typeface="Poppins"/>
                <a:cs typeface="Poppins"/>
                <a:sym typeface="Poppins"/>
              </a:rPr>
              <a:t>Amazon Relational Database Service (Amazon RDS) es un servicio web que facilita la configuración, la operación y la escala de una base de datos relacional en Nube de AWS.</a:t>
            </a:r>
          </a:p>
          <a:p>
            <a:pPr algn="just">
              <a:lnSpc>
                <a:spcPts val="4808"/>
              </a:lnSpc>
            </a:pPr>
          </a:p>
          <a:p>
            <a:pPr algn="just">
              <a:lnSpc>
                <a:spcPts val="4808"/>
              </a:lnSpc>
            </a:pPr>
            <a:r>
              <a:rPr lang="en-US" sz="3005">
                <a:solidFill>
                  <a:srgbClr val="FFFFFF"/>
                </a:solidFill>
                <a:latin typeface="Poppins"/>
                <a:ea typeface="Poppins"/>
                <a:cs typeface="Poppins"/>
                <a:sym typeface="Poppins"/>
              </a:rPr>
              <a:t>Proporciona una capacidad rentable y de tamaño ajustable para una base de datos relacional estándar y se ocupa de las tareas de administración de bases de datos comunes.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143500"/>
            <a:ext cx="6121614" cy="5143500"/>
            <a:chOff x="0" y="0"/>
            <a:chExt cx="1451049" cy="1219200"/>
          </a:xfrm>
        </p:grpSpPr>
        <p:sp>
          <p:nvSpPr>
            <p:cNvPr name="Freeform 3" id="3"/>
            <p:cNvSpPr/>
            <p:nvPr/>
          </p:nvSpPr>
          <p:spPr>
            <a:xfrm flipH="false" flipV="false" rot="0">
              <a:off x="0" y="0"/>
              <a:ext cx="1451049" cy="1219200"/>
            </a:xfrm>
            <a:custGeom>
              <a:avLst/>
              <a:gdLst/>
              <a:ahLst/>
              <a:cxnLst/>
              <a:rect r="r" b="b" t="t" l="l"/>
              <a:pathLst>
                <a:path h="1219200" w="1451049">
                  <a:moveTo>
                    <a:pt x="0" y="0"/>
                  </a:moveTo>
                  <a:lnTo>
                    <a:pt x="1451049" y="0"/>
                  </a:lnTo>
                  <a:lnTo>
                    <a:pt x="1451049" y="1219200"/>
                  </a:lnTo>
                  <a:lnTo>
                    <a:pt x="0" y="1219200"/>
                  </a:lnTo>
                  <a:close/>
                </a:path>
              </a:pathLst>
            </a:custGeom>
            <a:solidFill>
              <a:srgbClr val="071C42"/>
            </a:solidFill>
          </p:spPr>
        </p:sp>
        <p:sp>
          <p:nvSpPr>
            <p:cNvPr name="TextBox 4" id="4"/>
            <p:cNvSpPr txBox="true"/>
            <p:nvPr/>
          </p:nvSpPr>
          <p:spPr>
            <a:xfrm>
              <a:off x="0" y="-38100"/>
              <a:ext cx="1451049" cy="12573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187217" y="-1676277"/>
            <a:ext cx="12260528" cy="8939040"/>
          </a:xfrm>
          <a:custGeom>
            <a:avLst/>
            <a:gdLst/>
            <a:ahLst/>
            <a:cxnLst/>
            <a:rect r="r" b="b" t="t" l="l"/>
            <a:pathLst>
              <a:path h="8939040" w="12260528">
                <a:moveTo>
                  <a:pt x="0" y="0"/>
                </a:moveTo>
                <a:lnTo>
                  <a:pt x="12260529" y="0"/>
                </a:lnTo>
                <a:lnTo>
                  <a:pt x="12260529" y="8939040"/>
                </a:lnTo>
                <a:lnTo>
                  <a:pt x="0" y="89390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6121614" y="5143500"/>
            <a:ext cx="6044772" cy="5143500"/>
            <a:chOff x="0" y="0"/>
            <a:chExt cx="1432835" cy="1219200"/>
          </a:xfrm>
        </p:grpSpPr>
        <p:sp>
          <p:nvSpPr>
            <p:cNvPr name="Freeform 7" id="7"/>
            <p:cNvSpPr/>
            <p:nvPr/>
          </p:nvSpPr>
          <p:spPr>
            <a:xfrm flipH="false" flipV="false" rot="0">
              <a:off x="0" y="0"/>
              <a:ext cx="1432835" cy="1219200"/>
            </a:xfrm>
            <a:custGeom>
              <a:avLst/>
              <a:gdLst/>
              <a:ahLst/>
              <a:cxnLst/>
              <a:rect r="r" b="b" t="t" l="l"/>
              <a:pathLst>
                <a:path h="1219200" w="1432835">
                  <a:moveTo>
                    <a:pt x="0" y="0"/>
                  </a:moveTo>
                  <a:lnTo>
                    <a:pt x="1432835" y="0"/>
                  </a:lnTo>
                  <a:lnTo>
                    <a:pt x="1432835" y="1219200"/>
                  </a:lnTo>
                  <a:lnTo>
                    <a:pt x="0" y="1219200"/>
                  </a:lnTo>
                  <a:close/>
                </a:path>
              </a:pathLst>
            </a:custGeom>
            <a:solidFill>
              <a:srgbClr val="3DCAB1"/>
            </a:solidFill>
          </p:spPr>
        </p:sp>
        <p:sp>
          <p:nvSpPr>
            <p:cNvPr name="TextBox 8" id="8"/>
            <p:cNvSpPr txBox="true"/>
            <p:nvPr/>
          </p:nvSpPr>
          <p:spPr>
            <a:xfrm>
              <a:off x="0" y="-38100"/>
              <a:ext cx="1432835"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2166386" y="5143500"/>
            <a:ext cx="6121614" cy="5143500"/>
            <a:chOff x="0" y="0"/>
            <a:chExt cx="1451049" cy="1219200"/>
          </a:xfrm>
        </p:grpSpPr>
        <p:sp>
          <p:nvSpPr>
            <p:cNvPr name="Freeform 10" id="10"/>
            <p:cNvSpPr/>
            <p:nvPr/>
          </p:nvSpPr>
          <p:spPr>
            <a:xfrm flipH="false" flipV="false" rot="0">
              <a:off x="0" y="0"/>
              <a:ext cx="1451049" cy="1219200"/>
            </a:xfrm>
            <a:custGeom>
              <a:avLst/>
              <a:gdLst/>
              <a:ahLst/>
              <a:cxnLst/>
              <a:rect r="r" b="b" t="t" l="l"/>
              <a:pathLst>
                <a:path h="1219200" w="1451049">
                  <a:moveTo>
                    <a:pt x="0" y="0"/>
                  </a:moveTo>
                  <a:lnTo>
                    <a:pt x="1451049" y="0"/>
                  </a:lnTo>
                  <a:lnTo>
                    <a:pt x="1451049" y="1219200"/>
                  </a:lnTo>
                  <a:lnTo>
                    <a:pt x="0" y="1219200"/>
                  </a:lnTo>
                  <a:close/>
                </a:path>
              </a:pathLst>
            </a:custGeom>
            <a:solidFill>
              <a:srgbClr val="071C42"/>
            </a:solidFill>
          </p:spPr>
        </p:sp>
        <p:sp>
          <p:nvSpPr>
            <p:cNvPr name="TextBox 11" id="11"/>
            <p:cNvSpPr txBox="true"/>
            <p:nvPr/>
          </p:nvSpPr>
          <p:spPr>
            <a:xfrm>
              <a:off x="0" y="-38100"/>
              <a:ext cx="1451049" cy="1257300"/>
            </a:xfrm>
            <a:prstGeom prst="rect">
              <a:avLst/>
            </a:prstGeom>
          </p:spPr>
          <p:txBody>
            <a:bodyPr anchor="ctr" rtlCol="false" tIns="50800" lIns="50800" bIns="50800" rIns="50800"/>
            <a:lstStyle/>
            <a:p>
              <a:pPr algn="ctr">
                <a:lnSpc>
                  <a:spcPts val="2659"/>
                </a:lnSpc>
                <a:spcBef>
                  <a:spcPct val="0"/>
                </a:spcBef>
              </a:pPr>
            </a:p>
          </p:txBody>
        </p:sp>
      </p:grpSp>
      <p:sp>
        <p:nvSpPr>
          <p:cNvPr name="AutoShape 12" id="12"/>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13" id="13"/>
          <p:cNvSpPr/>
          <p:nvPr/>
        </p:nvSpPr>
        <p:spPr>
          <a:xfrm flipH="false" flipV="false" rot="0">
            <a:off x="11493246" y="1027357"/>
            <a:ext cx="5788465" cy="2515570"/>
          </a:xfrm>
          <a:custGeom>
            <a:avLst/>
            <a:gdLst/>
            <a:ahLst/>
            <a:cxnLst/>
            <a:rect r="r" b="b" t="t" l="l"/>
            <a:pathLst>
              <a:path h="2515570" w="5788465">
                <a:moveTo>
                  <a:pt x="0" y="0"/>
                </a:moveTo>
                <a:lnTo>
                  <a:pt x="5788465" y="0"/>
                </a:lnTo>
                <a:lnTo>
                  <a:pt x="5788465" y="2515571"/>
                </a:lnTo>
                <a:lnTo>
                  <a:pt x="0" y="2515571"/>
                </a:lnTo>
                <a:lnTo>
                  <a:pt x="0" y="0"/>
                </a:lnTo>
                <a:close/>
              </a:path>
            </a:pathLst>
          </a:custGeom>
          <a:blipFill>
            <a:blip r:embed="rId4"/>
            <a:stretch>
              <a:fillRect l="0" t="0" r="0" b="0"/>
            </a:stretch>
          </a:blipFill>
        </p:spPr>
      </p:sp>
      <p:sp>
        <p:nvSpPr>
          <p:cNvPr name="TextBox 14" id="14"/>
          <p:cNvSpPr txBox="true"/>
          <p:nvPr/>
        </p:nvSpPr>
        <p:spPr>
          <a:xfrm rot="0">
            <a:off x="1006289" y="1118330"/>
            <a:ext cx="7628928" cy="2295525"/>
          </a:xfrm>
          <a:prstGeom prst="rect">
            <a:avLst/>
          </a:prstGeom>
        </p:spPr>
        <p:txBody>
          <a:bodyPr anchor="t" rtlCol="false" tIns="0" lIns="0" bIns="0" rIns="0">
            <a:spAutoFit/>
          </a:bodyPr>
          <a:lstStyle/>
          <a:p>
            <a:pPr algn="l">
              <a:lnSpc>
                <a:spcPts val="5999"/>
              </a:lnSpc>
            </a:pPr>
            <a:r>
              <a:rPr lang="en-US" sz="4999" b="true">
                <a:solidFill>
                  <a:srgbClr val="101010"/>
                </a:solidFill>
                <a:latin typeface="Poppins Bold"/>
                <a:ea typeface="Poppins Bold"/>
                <a:cs typeface="Poppins Bold"/>
                <a:sym typeface="Poppins Bold"/>
              </a:rPr>
              <a:t>Amazon</a:t>
            </a:r>
          </a:p>
          <a:p>
            <a:pPr algn="l">
              <a:lnSpc>
                <a:spcPts val="5999"/>
              </a:lnSpc>
            </a:pPr>
            <a:r>
              <a:rPr lang="en-US" sz="4999" b="true">
                <a:solidFill>
                  <a:srgbClr val="101010"/>
                </a:solidFill>
                <a:latin typeface="Poppins Bold"/>
                <a:ea typeface="Poppins Bold"/>
                <a:cs typeface="Poppins Bold"/>
                <a:sym typeface="Poppins Bold"/>
              </a:rPr>
              <a:t>Relational Database Service (RDS)</a:t>
            </a:r>
          </a:p>
        </p:txBody>
      </p:sp>
      <p:sp>
        <p:nvSpPr>
          <p:cNvPr name="TextBox 15" id="15"/>
          <p:cNvSpPr txBox="true"/>
          <p:nvPr/>
        </p:nvSpPr>
        <p:spPr>
          <a:xfrm rot="0">
            <a:off x="1002929" y="6270625"/>
            <a:ext cx="4109035" cy="1593850"/>
          </a:xfrm>
          <a:prstGeom prst="rect">
            <a:avLst/>
          </a:prstGeom>
        </p:spPr>
        <p:txBody>
          <a:bodyPr anchor="t" rtlCol="false" tIns="0" lIns="0" bIns="0" rIns="0">
            <a:spAutoFit/>
          </a:bodyPr>
          <a:lstStyle/>
          <a:p>
            <a:pPr algn="l">
              <a:lnSpc>
                <a:spcPts val="3199"/>
              </a:lnSpc>
            </a:pPr>
            <a:r>
              <a:rPr lang="en-US" sz="1999">
                <a:solidFill>
                  <a:srgbClr val="FFFFFF"/>
                </a:solidFill>
                <a:latin typeface="Poppins"/>
                <a:ea typeface="Poppins"/>
                <a:cs typeface="Poppins"/>
                <a:sym typeface="Poppins"/>
              </a:rPr>
              <a:t>Amazon RDS proporciona una capacidad rentable y escalable para las bases de datos relacionales.</a:t>
            </a:r>
          </a:p>
        </p:txBody>
      </p:sp>
      <p:sp>
        <p:nvSpPr>
          <p:cNvPr name="TextBox 16" id="16"/>
          <p:cNvSpPr txBox="true"/>
          <p:nvPr/>
        </p:nvSpPr>
        <p:spPr>
          <a:xfrm rot="0">
            <a:off x="7089482" y="6270625"/>
            <a:ext cx="4109035" cy="2794000"/>
          </a:xfrm>
          <a:prstGeom prst="rect">
            <a:avLst/>
          </a:prstGeom>
        </p:spPr>
        <p:txBody>
          <a:bodyPr anchor="t" rtlCol="false" tIns="0" lIns="0" bIns="0" rIns="0">
            <a:spAutoFit/>
          </a:bodyPr>
          <a:lstStyle/>
          <a:p>
            <a:pPr algn="l">
              <a:lnSpc>
                <a:spcPts val="3199"/>
              </a:lnSpc>
            </a:pPr>
            <a:r>
              <a:rPr lang="en-US" sz="1999">
                <a:solidFill>
                  <a:srgbClr val="FFFFFF"/>
                </a:solidFill>
                <a:latin typeface="Poppins"/>
                <a:ea typeface="Poppins"/>
                <a:cs typeface="Poppins"/>
                <a:sym typeface="Poppins"/>
              </a:rPr>
              <a:t>Automatiza laboriosas tareas de administración, como el aprovisionamiento de hardware, la configuración de la base  de datos, la aplicación de parches y copias de seguridad.</a:t>
            </a:r>
          </a:p>
        </p:txBody>
      </p:sp>
      <p:sp>
        <p:nvSpPr>
          <p:cNvPr name="TextBox 17" id="17"/>
          <p:cNvSpPr txBox="true"/>
          <p:nvPr/>
        </p:nvSpPr>
        <p:spPr>
          <a:xfrm rot="0">
            <a:off x="13176036" y="6270625"/>
            <a:ext cx="4109035" cy="2393950"/>
          </a:xfrm>
          <a:prstGeom prst="rect">
            <a:avLst/>
          </a:prstGeom>
        </p:spPr>
        <p:txBody>
          <a:bodyPr anchor="t" rtlCol="false" tIns="0" lIns="0" bIns="0" rIns="0">
            <a:spAutoFit/>
          </a:bodyPr>
          <a:lstStyle/>
          <a:p>
            <a:pPr algn="l">
              <a:lnSpc>
                <a:spcPts val="3199"/>
              </a:lnSpc>
            </a:pPr>
            <a:r>
              <a:rPr lang="en-US" sz="1999">
                <a:solidFill>
                  <a:srgbClr val="FFFFFF"/>
                </a:solidFill>
                <a:latin typeface="Poppins"/>
                <a:ea typeface="Poppins"/>
                <a:cs typeface="Poppins"/>
                <a:sym typeface="Poppins"/>
              </a:rPr>
              <a:t>Permite centrarnos en las aplicaciones y proporcionar el rápido rendimiento, alta disponibilidad, seguridad y compatibilidad que necesitemos.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561679" y="-3455076"/>
            <a:ext cx="11153665" cy="8132036"/>
          </a:xfrm>
          <a:custGeom>
            <a:avLst/>
            <a:gdLst/>
            <a:ahLst/>
            <a:cxnLst/>
            <a:rect r="r" b="b" t="t" l="l"/>
            <a:pathLst>
              <a:path h="8132036" w="11153665">
                <a:moveTo>
                  <a:pt x="0" y="0"/>
                </a:moveTo>
                <a:lnTo>
                  <a:pt x="11153665" y="0"/>
                </a:lnTo>
                <a:lnTo>
                  <a:pt x="11153665" y="8132036"/>
                </a:lnTo>
                <a:lnTo>
                  <a:pt x="0" y="8132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grpSp>
        <p:nvGrpSpPr>
          <p:cNvPr name="Group 4" id="4"/>
          <p:cNvGrpSpPr/>
          <p:nvPr/>
        </p:nvGrpSpPr>
        <p:grpSpPr>
          <a:xfrm rot="0">
            <a:off x="0" y="9429758"/>
            <a:ext cx="18288000" cy="1714484"/>
            <a:chOff x="0" y="0"/>
            <a:chExt cx="4334933" cy="406396"/>
          </a:xfrm>
        </p:grpSpPr>
        <p:sp>
          <p:nvSpPr>
            <p:cNvPr name="Freeform 5" id="5"/>
            <p:cNvSpPr/>
            <p:nvPr/>
          </p:nvSpPr>
          <p:spPr>
            <a:xfrm flipH="false" flipV="false" rot="0">
              <a:off x="0" y="0"/>
              <a:ext cx="4334933" cy="406396"/>
            </a:xfrm>
            <a:custGeom>
              <a:avLst/>
              <a:gdLst/>
              <a:ahLst/>
              <a:cxnLst/>
              <a:rect r="r" b="b" t="t" l="l"/>
              <a:pathLst>
                <a:path h="406396" w="4334933">
                  <a:moveTo>
                    <a:pt x="0" y="0"/>
                  </a:moveTo>
                  <a:lnTo>
                    <a:pt x="4334933" y="0"/>
                  </a:lnTo>
                  <a:lnTo>
                    <a:pt x="4334933" y="406396"/>
                  </a:lnTo>
                  <a:lnTo>
                    <a:pt x="0" y="406396"/>
                  </a:lnTo>
                  <a:close/>
                </a:path>
              </a:pathLst>
            </a:custGeom>
            <a:solidFill>
              <a:srgbClr val="071C42"/>
            </a:solidFill>
          </p:spPr>
        </p:sp>
        <p:sp>
          <p:nvSpPr>
            <p:cNvPr name="TextBox 6" id="6"/>
            <p:cNvSpPr txBox="true"/>
            <p:nvPr/>
          </p:nvSpPr>
          <p:spPr>
            <a:xfrm>
              <a:off x="0" y="-38100"/>
              <a:ext cx="4334933" cy="444496"/>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0" y="8982029"/>
            <a:ext cx="8737081" cy="447729"/>
            <a:chOff x="0" y="0"/>
            <a:chExt cx="2071012" cy="106128"/>
          </a:xfrm>
        </p:grpSpPr>
        <p:sp>
          <p:nvSpPr>
            <p:cNvPr name="Freeform 8" id="8"/>
            <p:cNvSpPr/>
            <p:nvPr/>
          </p:nvSpPr>
          <p:spPr>
            <a:xfrm flipH="false" flipV="false" rot="0">
              <a:off x="0" y="0"/>
              <a:ext cx="2071012" cy="106128"/>
            </a:xfrm>
            <a:custGeom>
              <a:avLst/>
              <a:gdLst/>
              <a:ahLst/>
              <a:cxnLst/>
              <a:rect r="r" b="b" t="t" l="l"/>
              <a:pathLst>
                <a:path h="106128" w="2071012">
                  <a:moveTo>
                    <a:pt x="0" y="0"/>
                  </a:moveTo>
                  <a:lnTo>
                    <a:pt x="2071012" y="0"/>
                  </a:lnTo>
                  <a:lnTo>
                    <a:pt x="2071012" y="106128"/>
                  </a:lnTo>
                  <a:lnTo>
                    <a:pt x="0" y="106128"/>
                  </a:lnTo>
                  <a:close/>
                </a:path>
              </a:pathLst>
            </a:custGeom>
            <a:solidFill>
              <a:srgbClr val="3DCAB1"/>
            </a:solidFill>
          </p:spPr>
        </p:sp>
        <p:sp>
          <p:nvSpPr>
            <p:cNvPr name="TextBox 9" id="9"/>
            <p:cNvSpPr txBox="true"/>
            <p:nvPr/>
          </p:nvSpPr>
          <p:spPr>
            <a:xfrm>
              <a:off x="0" y="-38100"/>
              <a:ext cx="2071012" cy="14422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028700" y="3388550"/>
            <a:ext cx="5824430" cy="4081353"/>
          </a:xfrm>
          <a:custGeom>
            <a:avLst/>
            <a:gdLst/>
            <a:ahLst/>
            <a:cxnLst/>
            <a:rect r="r" b="b" t="t" l="l"/>
            <a:pathLst>
              <a:path h="4081353" w="5824430">
                <a:moveTo>
                  <a:pt x="0" y="0"/>
                </a:moveTo>
                <a:lnTo>
                  <a:pt x="5824430" y="0"/>
                </a:lnTo>
                <a:lnTo>
                  <a:pt x="5824430" y="4081353"/>
                </a:lnTo>
                <a:lnTo>
                  <a:pt x="0" y="4081353"/>
                </a:lnTo>
                <a:lnTo>
                  <a:pt x="0" y="0"/>
                </a:lnTo>
                <a:close/>
              </a:path>
            </a:pathLst>
          </a:custGeom>
          <a:blipFill>
            <a:blip r:embed="rId4"/>
            <a:stretch>
              <a:fillRect l="0" t="0" r="0" b="0"/>
            </a:stretch>
          </a:blipFill>
        </p:spPr>
      </p:sp>
      <p:sp>
        <p:nvSpPr>
          <p:cNvPr name="Freeform 11" id="11"/>
          <p:cNvSpPr/>
          <p:nvPr/>
        </p:nvSpPr>
        <p:spPr>
          <a:xfrm flipH="false" flipV="false" rot="0">
            <a:off x="7979570" y="2286000"/>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028700" y="971550"/>
            <a:ext cx="12546211" cy="904875"/>
          </a:xfrm>
          <a:prstGeom prst="rect">
            <a:avLst/>
          </a:prstGeom>
        </p:spPr>
        <p:txBody>
          <a:bodyPr anchor="t" rtlCol="false" tIns="0" lIns="0" bIns="0" rIns="0">
            <a:spAutoFit/>
          </a:bodyPr>
          <a:lstStyle/>
          <a:p>
            <a:pPr algn="l">
              <a:lnSpc>
                <a:spcPts val="6719"/>
              </a:lnSpc>
            </a:pPr>
            <a:r>
              <a:rPr lang="en-US" sz="5599">
                <a:solidFill>
                  <a:srgbClr val="071C42"/>
                </a:solidFill>
                <a:latin typeface="Poppins"/>
                <a:ea typeface="Poppins"/>
                <a:cs typeface="Poppins"/>
                <a:sym typeface="Poppins"/>
              </a:rPr>
              <a:t>Beneficios y características de RDS</a:t>
            </a:r>
          </a:p>
        </p:txBody>
      </p:sp>
      <p:sp>
        <p:nvSpPr>
          <p:cNvPr name="TextBox 13" id="13"/>
          <p:cNvSpPr txBox="true"/>
          <p:nvPr/>
        </p:nvSpPr>
        <p:spPr>
          <a:xfrm rot="0">
            <a:off x="9144000" y="2219325"/>
            <a:ext cx="4430911"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Adminitración sencilla</a:t>
            </a:r>
          </a:p>
        </p:txBody>
      </p:sp>
      <p:sp>
        <p:nvSpPr>
          <p:cNvPr name="TextBox 14" id="14"/>
          <p:cNvSpPr txBox="true"/>
          <p:nvPr/>
        </p:nvSpPr>
        <p:spPr>
          <a:xfrm rot="0">
            <a:off x="9144000" y="3270867"/>
            <a:ext cx="2843957"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Muy escalable</a:t>
            </a:r>
          </a:p>
        </p:txBody>
      </p:sp>
      <p:sp>
        <p:nvSpPr>
          <p:cNvPr name="TextBox 15" id="15"/>
          <p:cNvSpPr txBox="true"/>
          <p:nvPr/>
        </p:nvSpPr>
        <p:spPr>
          <a:xfrm rot="0">
            <a:off x="9144000" y="4351277"/>
            <a:ext cx="5640437"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Disponibilidad y durabilidad</a:t>
            </a:r>
          </a:p>
        </p:txBody>
      </p:sp>
      <p:sp>
        <p:nvSpPr>
          <p:cNvPr name="TextBox 16" id="16"/>
          <p:cNvSpPr txBox="true"/>
          <p:nvPr/>
        </p:nvSpPr>
        <p:spPr>
          <a:xfrm rot="0">
            <a:off x="9144000" y="5426967"/>
            <a:ext cx="1406277"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Rápido</a:t>
            </a:r>
          </a:p>
        </p:txBody>
      </p:sp>
      <p:sp>
        <p:nvSpPr>
          <p:cNvPr name="Freeform 17" id="17"/>
          <p:cNvSpPr/>
          <p:nvPr/>
        </p:nvSpPr>
        <p:spPr>
          <a:xfrm flipH="false" flipV="false" rot="0">
            <a:off x="7979570" y="3352165"/>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7979570" y="4417952"/>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0">
            <a:off x="7979570" y="5484117"/>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0" id="20"/>
          <p:cNvSpPr txBox="true"/>
          <p:nvPr/>
        </p:nvSpPr>
        <p:spPr>
          <a:xfrm rot="0">
            <a:off x="9144000" y="6502657"/>
            <a:ext cx="2035522"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Seguridad</a:t>
            </a:r>
          </a:p>
        </p:txBody>
      </p:sp>
      <p:sp>
        <p:nvSpPr>
          <p:cNvPr name="Freeform 21" id="21"/>
          <p:cNvSpPr/>
          <p:nvPr/>
        </p:nvSpPr>
        <p:spPr>
          <a:xfrm flipH="false" flipV="false" rot="0">
            <a:off x="7979570" y="6550282"/>
            <a:ext cx="540042" cy="513715"/>
          </a:xfrm>
          <a:custGeom>
            <a:avLst/>
            <a:gdLst/>
            <a:ahLst/>
            <a:cxnLst/>
            <a:rect r="r" b="b" t="t" l="l"/>
            <a:pathLst>
              <a:path h="513715" w="540042">
                <a:moveTo>
                  <a:pt x="0" y="0"/>
                </a:moveTo>
                <a:lnTo>
                  <a:pt x="540042" y="0"/>
                </a:lnTo>
                <a:lnTo>
                  <a:pt x="540042" y="513716"/>
                </a:lnTo>
                <a:lnTo>
                  <a:pt x="0" y="5137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2" id="22"/>
          <p:cNvSpPr txBox="true"/>
          <p:nvPr/>
        </p:nvSpPr>
        <p:spPr>
          <a:xfrm rot="0">
            <a:off x="9144000" y="7549773"/>
            <a:ext cx="2721769"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Asequibilidad</a:t>
            </a:r>
          </a:p>
        </p:txBody>
      </p:sp>
      <p:sp>
        <p:nvSpPr>
          <p:cNvPr name="Freeform 23" id="23"/>
          <p:cNvSpPr/>
          <p:nvPr/>
        </p:nvSpPr>
        <p:spPr>
          <a:xfrm flipH="false" flipV="false" rot="0">
            <a:off x="7979570" y="7616448"/>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561679" y="-3455076"/>
            <a:ext cx="11153665" cy="8132036"/>
          </a:xfrm>
          <a:custGeom>
            <a:avLst/>
            <a:gdLst/>
            <a:ahLst/>
            <a:cxnLst/>
            <a:rect r="r" b="b" t="t" l="l"/>
            <a:pathLst>
              <a:path h="8132036" w="11153665">
                <a:moveTo>
                  <a:pt x="0" y="0"/>
                </a:moveTo>
                <a:lnTo>
                  <a:pt x="11153665" y="0"/>
                </a:lnTo>
                <a:lnTo>
                  <a:pt x="11153665" y="8132036"/>
                </a:lnTo>
                <a:lnTo>
                  <a:pt x="0" y="8132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grpSp>
        <p:nvGrpSpPr>
          <p:cNvPr name="Group 4" id="4"/>
          <p:cNvGrpSpPr/>
          <p:nvPr/>
        </p:nvGrpSpPr>
        <p:grpSpPr>
          <a:xfrm rot="0">
            <a:off x="0" y="9429758"/>
            <a:ext cx="18288000" cy="1714484"/>
            <a:chOff x="0" y="0"/>
            <a:chExt cx="4334933" cy="406396"/>
          </a:xfrm>
        </p:grpSpPr>
        <p:sp>
          <p:nvSpPr>
            <p:cNvPr name="Freeform 5" id="5"/>
            <p:cNvSpPr/>
            <p:nvPr/>
          </p:nvSpPr>
          <p:spPr>
            <a:xfrm flipH="false" flipV="false" rot="0">
              <a:off x="0" y="0"/>
              <a:ext cx="4334933" cy="406396"/>
            </a:xfrm>
            <a:custGeom>
              <a:avLst/>
              <a:gdLst/>
              <a:ahLst/>
              <a:cxnLst/>
              <a:rect r="r" b="b" t="t" l="l"/>
              <a:pathLst>
                <a:path h="406396" w="4334933">
                  <a:moveTo>
                    <a:pt x="0" y="0"/>
                  </a:moveTo>
                  <a:lnTo>
                    <a:pt x="4334933" y="0"/>
                  </a:lnTo>
                  <a:lnTo>
                    <a:pt x="4334933" y="406396"/>
                  </a:lnTo>
                  <a:lnTo>
                    <a:pt x="0" y="406396"/>
                  </a:lnTo>
                  <a:close/>
                </a:path>
              </a:pathLst>
            </a:custGeom>
            <a:solidFill>
              <a:srgbClr val="071C42"/>
            </a:solidFill>
          </p:spPr>
        </p:sp>
        <p:sp>
          <p:nvSpPr>
            <p:cNvPr name="TextBox 6" id="6"/>
            <p:cNvSpPr txBox="true"/>
            <p:nvPr/>
          </p:nvSpPr>
          <p:spPr>
            <a:xfrm>
              <a:off x="0" y="-38100"/>
              <a:ext cx="4334933" cy="444496"/>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0" y="8982029"/>
            <a:ext cx="8737081" cy="447729"/>
            <a:chOff x="0" y="0"/>
            <a:chExt cx="2071012" cy="106128"/>
          </a:xfrm>
        </p:grpSpPr>
        <p:sp>
          <p:nvSpPr>
            <p:cNvPr name="Freeform 8" id="8"/>
            <p:cNvSpPr/>
            <p:nvPr/>
          </p:nvSpPr>
          <p:spPr>
            <a:xfrm flipH="false" flipV="false" rot="0">
              <a:off x="0" y="0"/>
              <a:ext cx="2071012" cy="106128"/>
            </a:xfrm>
            <a:custGeom>
              <a:avLst/>
              <a:gdLst/>
              <a:ahLst/>
              <a:cxnLst/>
              <a:rect r="r" b="b" t="t" l="l"/>
              <a:pathLst>
                <a:path h="106128" w="2071012">
                  <a:moveTo>
                    <a:pt x="0" y="0"/>
                  </a:moveTo>
                  <a:lnTo>
                    <a:pt x="2071012" y="0"/>
                  </a:lnTo>
                  <a:lnTo>
                    <a:pt x="2071012" y="106128"/>
                  </a:lnTo>
                  <a:lnTo>
                    <a:pt x="0" y="106128"/>
                  </a:lnTo>
                  <a:close/>
                </a:path>
              </a:pathLst>
            </a:custGeom>
            <a:solidFill>
              <a:srgbClr val="3DCAB1"/>
            </a:solidFill>
          </p:spPr>
        </p:sp>
        <p:sp>
          <p:nvSpPr>
            <p:cNvPr name="TextBox 9" id="9"/>
            <p:cNvSpPr txBox="true"/>
            <p:nvPr/>
          </p:nvSpPr>
          <p:spPr>
            <a:xfrm>
              <a:off x="0" y="-38100"/>
              <a:ext cx="2071012" cy="14422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028700" y="3388550"/>
            <a:ext cx="5824430" cy="4081353"/>
          </a:xfrm>
          <a:custGeom>
            <a:avLst/>
            <a:gdLst/>
            <a:ahLst/>
            <a:cxnLst/>
            <a:rect r="r" b="b" t="t" l="l"/>
            <a:pathLst>
              <a:path h="4081353" w="5824430">
                <a:moveTo>
                  <a:pt x="0" y="0"/>
                </a:moveTo>
                <a:lnTo>
                  <a:pt x="5824430" y="0"/>
                </a:lnTo>
                <a:lnTo>
                  <a:pt x="5824430" y="4081353"/>
                </a:lnTo>
                <a:lnTo>
                  <a:pt x="0" y="4081353"/>
                </a:lnTo>
                <a:lnTo>
                  <a:pt x="0" y="0"/>
                </a:lnTo>
                <a:close/>
              </a:path>
            </a:pathLst>
          </a:custGeom>
          <a:blipFill>
            <a:blip r:embed="rId4"/>
            <a:stretch>
              <a:fillRect l="0" t="0" r="0" b="0"/>
            </a:stretch>
          </a:blipFill>
        </p:spPr>
      </p:sp>
      <p:sp>
        <p:nvSpPr>
          <p:cNvPr name="Freeform 11" id="11"/>
          <p:cNvSpPr/>
          <p:nvPr/>
        </p:nvSpPr>
        <p:spPr>
          <a:xfrm flipH="false" flipV="false" rot="0">
            <a:off x="7914565" y="3832741"/>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028700" y="971550"/>
            <a:ext cx="12546211" cy="904875"/>
          </a:xfrm>
          <a:prstGeom prst="rect">
            <a:avLst/>
          </a:prstGeom>
        </p:spPr>
        <p:txBody>
          <a:bodyPr anchor="t" rtlCol="false" tIns="0" lIns="0" bIns="0" rIns="0">
            <a:spAutoFit/>
          </a:bodyPr>
          <a:lstStyle/>
          <a:p>
            <a:pPr algn="l">
              <a:lnSpc>
                <a:spcPts val="6719"/>
              </a:lnSpc>
            </a:pPr>
            <a:r>
              <a:rPr lang="en-US" sz="5599">
                <a:solidFill>
                  <a:srgbClr val="071C42"/>
                </a:solidFill>
                <a:latin typeface="Poppins"/>
                <a:ea typeface="Poppins"/>
                <a:cs typeface="Poppins"/>
                <a:sym typeface="Poppins"/>
              </a:rPr>
              <a:t>Casos de uso de AWS RDS</a:t>
            </a:r>
          </a:p>
        </p:txBody>
      </p:sp>
      <p:sp>
        <p:nvSpPr>
          <p:cNvPr name="TextBox 13" id="13"/>
          <p:cNvSpPr txBox="true"/>
          <p:nvPr/>
        </p:nvSpPr>
        <p:spPr>
          <a:xfrm rot="0">
            <a:off x="9078995" y="3741917"/>
            <a:ext cx="5432822"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Aplicaciones móviles y web</a:t>
            </a:r>
          </a:p>
        </p:txBody>
      </p:sp>
      <p:sp>
        <p:nvSpPr>
          <p:cNvPr name="TextBox 14" id="14"/>
          <p:cNvSpPr txBox="true"/>
          <p:nvPr/>
        </p:nvSpPr>
        <p:spPr>
          <a:xfrm rot="0">
            <a:off x="9078995" y="4819967"/>
            <a:ext cx="5710089"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Juegos online y para móviles</a:t>
            </a:r>
          </a:p>
        </p:txBody>
      </p:sp>
      <p:sp>
        <p:nvSpPr>
          <p:cNvPr name="TextBox 15" id="15"/>
          <p:cNvSpPr txBox="true"/>
          <p:nvPr/>
        </p:nvSpPr>
        <p:spPr>
          <a:xfrm rot="0">
            <a:off x="9065824" y="5898018"/>
            <a:ext cx="5666780"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Aplicaciones de eCommerce</a:t>
            </a:r>
          </a:p>
        </p:txBody>
      </p:sp>
      <p:sp>
        <p:nvSpPr>
          <p:cNvPr name="Freeform 16" id="16"/>
          <p:cNvSpPr/>
          <p:nvPr/>
        </p:nvSpPr>
        <p:spPr>
          <a:xfrm flipH="false" flipV="false" rot="0">
            <a:off x="7914565" y="4898906"/>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7914565" y="5964693"/>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grpSp>
        <p:nvGrpSpPr>
          <p:cNvPr name="Group 3" id="3"/>
          <p:cNvGrpSpPr/>
          <p:nvPr/>
        </p:nvGrpSpPr>
        <p:grpSpPr>
          <a:xfrm rot="0">
            <a:off x="7401128" y="0"/>
            <a:ext cx="5443436" cy="5143500"/>
            <a:chOff x="0" y="0"/>
            <a:chExt cx="1290296" cy="1219200"/>
          </a:xfrm>
        </p:grpSpPr>
        <p:sp>
          <p:nvSpPr>
            <p:cNvPr name="Freeform 4" id="4"/>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071C42"/>
            </a:solidFill>
          </p:spPr>
        </p:sp>
        <p:sp>
          <p:nvSpPr>
            <p:cNvPr name="TextBox 5" id="5"/>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2844564" y="0"/>
            <a:ext cx="5443436" cy="5143500"/>
            <a:chOff x="0" y="0"/>
            <a:chExt cx="1290296" cy="1219200"/>
          </a:xfrm>
        </p:grpSpPr>
        <p:sp>
          <p:nvSpPr>
            <p:cNvPr name="Freeform 7" id="7"/>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3DCAB1"/>
            </a:solidFill>
          </p:spPr>
        </p:sp>
        <p:sp>
          <p:nvSpPr>
            <p:cNvPr name="TextBox 8" id="8"/>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7401128" y="5143500"/>
            <a:ext cx="5443436" cy="5143500"/>
            <a:chOff x="0" y="0"/>
            <a:chExt cx="1290296" cy="1219200"/>
          </a:xfrm>
        </p:grpSpPr>
        <p:sp>
          <p:nvSpPr>
            <p:cNvPr name="Freeform 10" id="10"/>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3DCAB1"/>
            </a:solidFill>
          </p:spPr>
        </p:sp>
        <p:sp>
          <p:nvSpPr>
            <p:cNvPr name="TextBox 11" id="11"/>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2844564" y="5143500"/>
            <a:ext cx="5443436" cy="5143500"/>
            <a:chOff x="0" y="0"/>
            <a:chExt cx="1290296" cy="1219200"/>
          </a:xfrm>
        </p:grpSpPr>
        <p:sp>
          <p:nvSpPr>
            <p:cNvPr name="Freeform 13" id="13"/>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071C42"/>
            </a:solidFill>
          </p:spPr>
        </p:sp>
        <p:sp>
          <p:nvSpPr>
            <p:cNvPr name="TextBox 14" id="14"/>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201801" y="5219620"/>
            <a:ext cx="8127642" cy="6605556"/>
          </a:xfrm>
          <a:custGeom>
            <a:avLst/>
            <a:gdLst/>
            <a:ahLst/>
            <a:cxnLst/>
            <a:rect r="r" b="b" t="t" l="l"/>
            <a:pathLst>
              <a:path h="6605556" w="8127642">
                <a:moveTo>
                  <a:pt x="0" y="0"/>
                </a:moveTo>
                <a:lnTo>
                  <a:pt x="8127642" y="0"/>
                </a:lnTo>
                <a:lnTo>
                  <a:pt x="8127642" y="6605556"/>
                </a:lnTo>
                <a:lnTo>
                  <a:pt x="0" y="66055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028700" y="3497121"/>
            <a:ext cx="4323575" cy="4323575"/>
          </a:xfrm>
          <a:custGeom>
            <a:avLst/>
            <a:gdLst/>
            <a:ahLst/>
            <a:cxnLst/>
            <a:rect r="r" b="b" t="t" l="l"/>
            <a:pathLst>
              <a:path h="4323575" w="4323575">
                <a:moveTo>
                  <a:pt x="0" y="0"/>
                </a:moveTo>
                <a:lnTo>
                  <a:pt x="4323575" y="0"/>
                </a:lnTo>
                <a:lnTo>
                  <a:pt x="4323575" y="4323574"/>
                </a:lnTo>
                <a:lnTo>
                  <a:pt x="0" y="4323574"/>
                </a:lnTo>
                <a:lnTo>
                  <a:pt x="0" y="0"/>
                </a:lnTo>
                <a:close/>
              </a:path>
            </a:pathLst>
          </a:custGeom>
          <a:blipFill>
            <a:blip r:embed="rId4"/>
            <a:stretch>
              <a:fillRect l="0" t="0" r="0" b="0"/>
            </a:stretch>
          </a:blipFill>
        </p:spPr>
      </p:sp>
      <p:sp>
        <p:nvSpPr>
          <p:cNvPr name="Freeform 17" id="17"/>
          <p:cNvSpPr/>
          <p:nvPr/>
        </p:nvSpPr>
        <p:spPr>
          <a:xfrm flipH="false" flipV="false" rot="0">
            <a:off x="8343359" y="1242002"/>
            <a:ext cx="3558974" cy="2659496"/>
          </a:xfrm>
          <a:custGeom>
            <a:avLst/>
            <a:gdLst/>
            <a:ahLst/>
            <a:cxnLst/>
            <a:rect r="r" b="b" t="t" l="l"/>
            <a:pathLst>
              <a:path h="2659496" w="3558974">
                <a:moveTo>
                  <a:pt x="0" y="0"/>
                </a:moveTo>
                <a:lnTo>
                  <a:pt x="3558974" y="0"/>
                </a:lnTo>
                <a:lnTo>
                  <a:pt x="3558974" y="2659496"/>
                </a:lnTo>
                <a:lnTo>
                  <a:pt x="0" y="2659496"/>
                </a:lnTo>
                <a:lnTo>
                  <a:pt x="0" y="0"/>
                </a:lnTo>
                <a:close/>
              </a:path>
            </a:pathLst>
          </a:custGeom>
          <a:blipFill>
            <a:blip r:embed="rId5"/>
            <a:stretch>
              <a:fillRect l="0" t="0" r="0" b="0"/>
            </a:stretch>
          </a:blipFill>
        </p:spPr>
      </p:sp>
      <p:sp>
        <p:nvSpPr>
          <p:cNvPr name="Freeform 18" id="18"/>
          <p:cNvSpPr/>
          <p:nvPr/>
        </p:nvSpPr>
        <p:spPr>
          <a:xfrm flipH="false" flipV="false" rot="0">
            <a:off x="13596768" y="1390042"/>
            <a:ext cx="3939028" cy="2363417"/>
          </a:xfrm>
          <a:custGeom>
            <a:avLst/>
            <a:gdLst/>
            <a:ahLst/>
            <a:cxnLst/>
            <a:rect r="r" b="b" t="t" l="l"/>
            <a:pathLst>
              <a:path h="2363417" w="3939028">
                <a:moveTo>
                  <a:pt x="0" y="0"/>
                </a:moveTo>
                <a:lnTo>
                  <a:pt x="3939028" y="0"/>
                </a:lnTo>
                <a:lnTo>
                  <a:pt x="3939028" y="2363416"/>
                </a:lnTo>
                <a:lnTo>
                  <a:pt x="0" y="2363416"/>
                </a:lnTo>
                <a:lnTo>
                  <a:pt x="0" y="0"/>
                </a:lnTo>
                <a:close/>
              </a:path>
            </a:pathLst>
          </a:custGeom>
          <a:blipFill>
            <a:blip r:embed="rId6"/>
            <a:stretch>
              <a:fillRect l="0" t="0" r="0" b="0"/>
            </a:stretch>
          </a:blipFill>
        </p:spPr>
      </p:sp>
      <p:sp>
        <p:nvSpPr>
          <p:cNvPr name="Freeform 19" id="19"/>
          <p:cNvSpPr/>
          <p:nvPr/>
        </p:nvSpPr>
        <p:spPr>
          <a:xfrm flipH="false" flipV="false" rot="0">
            <a:off x="8219757" y="6763706"/>
            <a:ext cx="3806178" cy="1903089"/>
          </a:xfrm>
          <a:custGeom>
            <a:avLst/>
            <a:gdLst/>
            <a:ahLst/>
            <a:cxnLst/>
            <a:rect r="r" b="b" t="t" l="l"/>
            <a:pathLst>
              <a:path h="1903089" w="3806178">
                <a:moveTo>
                  <a:pt x="0" y="0"/>
                </a:moveTo>
                <a:lnTo>
                  <a:pt x="3806178" y="0"/>
                </a:lnTo>
                <a:lnTo>
                  <a:pt x="3806178" y="1903088"/>
                </a:lnTo>
                <a:lnTo>
                  <a:pt x="0" y="1903088"/>
                </a:lnTo>
                <a:lnTo>
                  <a:pt x="0" y="0"/>
                </a:lnTo>
                <a:close/>
              </a:path>
            </a:pathLst>
          </a:custGeom>
          <a:blipFill>
            <a:blip r:embed="rId7"/>
            <a:stretch>
              <a:fillRect l="0" t="0" r="0" b="0"/>
            </a:stretch>
          </a:blipFill>
        </p:spPr>
      </p:sp>
      <p:sp>
        <p:nvSpPr>
          <p:cNvPr name="Freeform 20" id="20"/>
          <p:cNvSpPr/>
          <p:nvPr/>
        </p:nvSpPr>
        <p:spPr>
          <a:xfrm flipH="false" flipV="false" rot="0">
            <a:off x="13989603" y="6244016"/>
            <a:ext cx="3153358" cy="3153358"/>
          </a:xfrm>
          <a:custGeom>
            <a:avLst/>
            <a:gdLst/>
            <a:ahLst/>
            <a:cxnLst/>
            <a:rect r="r" b="b" t="t" l="l"/>
            <a:pathLst>
              <a:path h="3153358" w="3153358">
                <a:moveTo>
                  <a:pt x="0" y="0"/>
                </a:moveTo>
                <a:lnTo>
                  <a:pt x="3153358" y="0"/>
                </a:lnTo>
                <a:lnTo>
                  <a:pt x="3153358" y="3153358"/>
                </a:lnTo>
                <a:lnTo>
                  <a:pt x="0" y="3153358"/>
                </a:lnTo>
                <a:lnTo>
                  <a:pt x="0" y="0"/>
                </a:lnTo>
                <a:close/>
              </a:path>
            </a:pathLst>
          </a:custGeom>
          <a:blipFill>
            <a:blip r:embed="rId8"/>
            <a:stretch>
              <a:fillRect l="0" t="0" r="0" b="0"/>
            </a:stretch>
          </a:blipFill>
        </p:spPr>
      </p:sp>
      <p:sp>
        <p:nvSpPr>
          <p:cNvPr name="TextBox 21" id="21"/>
          <p:cNvSpPr txBox="true"/>
          <p:nvPr/>
        </p:nvSpPr>
        <p:spPr>
          <a:xfrm rot="0">
            <a:off x="611097" y="1247775"/>
            <a:ext cx="6123281" cy="1323975"/>
          </a:xfrm>
          <a:prstGeom prst="rect">
            <a:avLst/>
          </a:prstGeom>
        </p:spPr>
        <p:txBody>
          <a:bodyPr anchor="t" rtlCol="false" tIns="0" lIns="0" bIns="0" rIns="0">
            <a:spAutoFit/>
          </a:bodyPr>
          <a:lstStyle/>
          <a:p>
            <a:pPr algn="ctr">
              <a:lnSpc>
                <a:spcPts val="5160"/>
              </a:lnSpc>
            </a:pPr>
            <a:r>
              <a:rPr lang="en-US" sz="4300" b="true">
                <a:solidFill>
                  <a:srgbClr val="101010"/>
                </a:solidFill>
                <a:latin typeface="Poppins Bold"/>
                <a:ea typeface="Poppins Bold"/>
                <a:cs typeface="Poppins Bold"/>
                <a:sym typeface="Poppins Bold"/>
              </a:rPr>
              <a:t>Motores de bases de datos en AWS RDS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grpSp>
        <p:nvGrpSpPr>
          <p:cNvPr name="Group 3" id="3"/>
          <p:cNvGrpSpPr/>
          <p:nvPr/>
        </p:nvGrpSpPr>
        <p:grpSpPr>
          <a:xfrm rot="0">
            <a:off x="7401128" y="0"/>
            <a:ext cx="5443436" cy="5143500"/>
            <a:chOff x="0" y="0"/>
            <a:chExt cx="1290296" cy="1219200"/>
          </a:xfrm>
        </p:grpSpPr>
        <p:sp>
          <p:nvSpPr>
            <p:cNvPr name="Freeform 4" id="4"/>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071C42"/>
            </a:solidFill>
          </p:spPr>
        </p:sp>
        <p:sp>
          <p:nvSpPr>
            <p:cNvPr name="TextBox 5" id="5"/>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2844564" y="0"/>
            <a:ext cx="5443436" cy="5143500"/>
            <a:chOff x="0" y="0"/>
            <a:chExt cx="1290296" cy="1219200"/>
          </a:xfrm>
        </p:grpSpPr>
        <p:sp>
          <p:nvSpPr>
            <p:cNvPr name="Freeform 7" id="7"/>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3DCAB1"/>
            </a:solidFill>
          </p:spPr>
        </p:sp>
        <p:sp>
          <p:nvSpPr>
            <p:cNvPr name="TextBox 8" id="8"/>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7401128" y="5143500"/>
            <a:ext cx="5443436" cy="5143500"/>
            <a:chOff x="0" y="0"/>
            <a:chExt cx="1290296" cy="1219200"/>
          </a:xfrm>
        </p:grpSpPr>
        <p:sp>
          <p:nvSpPr>
            <p:cNvPr name="Freeform 10" id="10"/>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3DCAB1"/>
            </a:solidFill>
          </p:spPr>
        </p:sp>
        <p:sp>
          <p:nvSpPr>
            <p:cNvPr name="TextBox 11" id="11"/>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2844564" y="5143500"/>
            <a:ext cx="5443436" cy="5143500"/>
            <a:chOff x="0" y="0"/>
            <a:chExt cx="1290296" cy="1219200"/>
          </a:xfrm>
        </p:grpSpPr>
        <p:sp>
          <p:nvSpPr>
            <p:cNvPr name="Freeform 13" id="13"/>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071C42"/>
            </a:solidFill>
          </p:spPr>
        </p:sp>
        <p:sp>
          <p:nvSpPr>
            <p:cNvPr name="TextBox 14" id="14"/>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201801" y="5219620"/>
            <a:ext cx="8127642" cy="6605556"/>
          </a:xfrm>
          <a:custGeom>
            <a:avLst/>
            <a:gdLst/>
            <a:ahLst/>
            <a:cxnLst/>
            <a:rect r="r" b="b" t="t" l="l"/>
            <a:pathLst>
              <a:path h="6605556" w="8127642">
                <a:moveTo>
                  <a:pt x="0" y="0"/>
                </a:moveTo>
                <a:lnTo>
                  <a:pt x="8127642" y="0"/>
                </a:lnTo>
                <a:lnTo>
                  <a:pt x="8127642" y="6605556"/>
                </a:lnTo>
                <a:lnTo>
                  <a:pt x="0" y="66055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028700" y="3497121"/>
            <a:ext cx="4323575" cy="4323575"/>
          </a:xfrm>
          <a:custGeom>
            <a:avLst/>
            <a:gdLst/>
            <a:ahLst/>
            <a:cxnLst/>
            <a:rect r="r" b="b" t="t" l="l"/>
            <a:pathLst>
              <a:path h="4323575" w="4323575">
                <a:moveTo>
                  <a:pt x="0" y="0"/>
                </a:moveTo>
                <a:lnTo>
                  <a:pt x="4323575" y="0"/>
                </a:lnTo>
                <a:lnTo>
                  <a:pt x="4323575" y="4323574"/>
                </a:lnTo>
                <a:lnTo>
                  <a:pt x="0" y="4323574"/>
                </a:lnTo>
                <a:lnTo>
                  <a:pt x="0" y="0"/>
                </a:lnTo>
                <a:close/>
              </a:path>
            </a:pathLst>
          </a:custGeom>
          <a:blipFill>
            <a:blip r:embed="rId4"/>
            <a:stretch>
              <a:fillRect l="0" t="0" r="0" b="0"/>
            </a:stretch>
          </a:blipFill>
        </p:spPr>
      </p:sp>
      <p:sp>
        <p:nvSpPr>
          <p:cNvPr name="Freeform 17" id="17"/>
          <p:cNvSpPr/>
          <p:nvPr/>
        </p:nvSpPr>
        <p:spPr>
          <a:xfrm flipH="false" flipV="false" rot="0">
            <a:off x="9035440" y="610942"/>
            <a:ext cx="7618249" cy="3809124"/>
          </a:xfrm>
          <a:custGeom>
            <a:avLst/>
            <a:gdLst/>
            <a:ahLst/>
            <a:cxnLst/>
            <a:rect r="r" b="b" t="t" l="l"/>
            <a:pathLst>
              <a:path h="3809124" w="7618249">
                <a:moveTo>
                  <a:pt x="0" y="0"/>
                </a:moveTo>
                <a:lnTo>
                  <a:pt x="7618249" y="0"/>
                </a:lnTo>
                <a:lnTo>
                  <a:pt x="7618249" y="3809124"/>
                </a:lnTo>
                <a:lnTo>
                  <a:pt x="0" y="3809124"/>
                </a:lnTo>
                <a:lnTo>
                  <a:pt x="0" y="0"/>
                </a:lnTo>
                <a:close/>
              </a:path>
            </a:pathLst>
          </a:custGeom>
          <a:blipFill>
            <a:blip r:embed="rId5"/>
            <a:stretch>
              <a:fillRect l="0" t="0" r="0" b="0"/>
            </a:stretch>
          </a:blipFill>
        </p:spPr>
      </p:sp>
      <p:sp>
        <p:nvSpPr>
          <p:cNvPr name="Freeform 18" id="18"/>
          <p:cNvSpPr/>
          <p:nvPr/>
        </p:nvSpPr>
        <p:spPr>
          <a:xfrm flipH="false" flipV="false" rot="0">
            <a:off x="9035440" y="6211089"/>
            <a:ext cx="7618249" cy="3008323"/>
          </a:xfrm>
          <a:custGeom>
            <a:avLst/>
            <a:gdLst/>
            <a:ahLst/>
            <a:cxnLst/>
            <a:rect r="r" b="b" t="t" l="l"/>
            <a:pathLst>
              <a:path h="3008323" w="7618249">
                <a:moveTo>
                  <a:pt x="0" y="0"/>
                </a:moveTo>
                <a:lnTo>
                  <a:pt x="7618249" y="0"/>
                </a:lnTo>
                <a:lnTo>
                  <a:pt x="7618249" y="3008322"/>
                </a:lnTo>
                <a:lnTo>
                  <a:pt x="0" y="3008322"/>
                </a:lnTo>
                <a:lnTo>
                  <a:pt x="0" y="0"/>
                </a:lnTo>
                <a:close/>
              </a:path>
            </a:pathLst>
          </a:custGeom>
          <a:blipFill>
            <a:blip r:embed="rId6"/>
            <a:stretch>
              <a:fillRect l="-2963" t="0" r="-4009" b="-1125"/>
            </a:stretch>
          </a:blipFill>
        </p:spPr>
      </p:sp>
      <p:sp>
        <p:nvSpPr>
          <p:cNvPr name="TextBox 19" id="19"/>
          <p:cNvSpPr txBox="true"/>
          <p:nvPr/>
        </p:nvSpPr>
        <p:spPr>
          <a:xfrm rot="0">
            <a:off x="611097" y="1247775"/>
            <a:ext cx="6123281" cy="1323975"/>
          </a:xfrm>
          <a:prstGeom prst="rect">
            <a:avLst/>
          </a:prstGeom>
        </p:spPr>
        <p:txBody>
          <a:bodyPr anchor="t" rtlCol="false" tIns="0" lIns="0" bIns="0" rIns="0">
            <a:spAutoFit/>
          </a:bodyPr>
          <a:lstStyle/>
          <a:p>
            <a:pPr algn="ctr">
              <a:lnSpc>
                <a:spcPts val="5160"/>
              </a:lnSpc>
            </a:pPr>
            <a:r>
              <a:rPr lang="en-US" sz="4300" b="true">
                <a:solidFill>
                  <a:srgbClr val="101010"/>
                </a:solidFill>
                <a:latin typeface="Poppins Bold"/>
                <a:ea typeface="Poppins Bold"/>
                <a:cs typeface="Poppins Bold"/>
                <a:sym typeface="Poppins Bold"/>
              </a:rPr>
              <a:t>Motores de bases de datos en AWS RDS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grpSp>
        <p:nvGrpSpPr>
          <p:cNvPr name="Group 3" id="3"/>
          <p:cNvGrpSpPr/>
          <p:nvPr/>
        </p:nvGrpSpPr>
        <p:grpSpPr>
          <a:xfrm rot="0">
            <a:off x="9317214" y="0"/>
            <a:ext cx="8970786" cy="10287000"/>
            <a:chOff x="0" y="0"/>
            <a:chExt cx="2126409" cy="2438400"/>
          </a:xfrm>
        </p:grpSpPr>
        <p:sp>
          <p:nvSpPr>
            <p:cNvPr name="Freeform 4" id="4"/>
            <p:cNvSpPr/>
            <p:nvPr/>
          </p:nvSpPr>
          <p:spPr>
            <a:xfrm flipH="false" flipV="false" rot="0">
              <a:off x="0" y="0"/>
              <a:ext cx="2126409" cy="2438400"/>
            </a:xfrm>
            <a:custGeom>
              <a:avLst/>
              <a:gdLst/>
              <a:ahLst/>
              <a:cxnLst/>
              <a:rect r="r" b="b" t="t" l="l"/>
              <a:pathLst>
                <a:path h="2438400" w="2126409">
                  <a:moveTo>
                    <a:pt x="0" y="0"/>
                  </a:moveTo>
                  <a:lnTo>
                    <a:pt x="2126409" y="0"/>
                  </a:lnTo>
                  <a:lnTo>
                    <a:pt x="2126409" y="2438400"/>
                  </a:lnTo>
                  <a:lnTo>
                    <a:pt x="0" y="2438400"/>
                  </a:lnTo>
                  <a:close/>
                </a:path>
              </a:pathLst>
            </a:custGeom>
            <a:solidFill>
              <a:srgbClr val="3DCAB1"/>
            </a:solidFill>
          </p:spPr>
        </p:sp>
        <p:sp>
          <p:nvSpPr>
            <p:cNvPr name="TextBox 5" id="5"/>
            <p:cNvSpPr txBox="true"/>
            <p:nvPr/>
          </p:nvSpPr>
          <p:spPr>
            <a:xfrm>
              <a:off x="0" y="-38100"/>
              <a:ext cx="2126409" cy="2476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201801" y="5219620"/>
            <a:ext cx="8127642" cy="6605556"/>
          </a:xfrm>
          <a:custGeom>
            <a:avLst/>
            <a:gdLst/>
            <a:ahLst/>
            <a:cxnLst/>
            <a:rect r="r" b="b" t="t" l="l"/>
            <a:pathLst>
              <a:path h="6605556" w="8127642">
                <a:moveTo>
                  <a:pt x="0" y="0"/>
                </a:moveTo>
                <a:lnTo>
                  <a:pt x="8127642" y="0"/>
                </a:lnTo>
                <a:lnTo>
                  <a:pt x="8127642" y="6605556"/>
                </a:lnTo>
                <a:lnTo>
                  <a:pt x="0" y="66055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1971575" y="485141"/>
            <a:ext cx="3662063" cy="9316718"/>
          </a:xfrm>
          <a:custGeom>
            <a:avLst/>
            <a:gdLst/>
            <a:ahLst/>
            <a:cxnLst/>
            <a:rect r="r" b="b" t="t" l="l"/>
            <a:pathLst>
              <a:path h="9316718" w="3662063">
                <a:moveTo>
                  <a:pt x="0" y="0"/>
                </a:moveTo>
                <a:lnTo>
                  <a:pt x="3662063" y="0"/>
                </a:lnTo>
                <a:lnTo>
                  <a:pt x="3662063" y="9316718"/>
                </a:lnTo>
                <a:lnTo>
                  <a:pt x="0" y="9316718"/>
                </a:lnTo>
                <a:lnTo>
                  <a:pt x="0" y="0"/>
                </a:lnTo>
                <a:close/>
              </a:path>
            </a:pathLst>
          </a:custGeom>
          <a:blipFill>
            <a:blip r:embed="rId4"/>
            <a:stretch>
              <a:fillRect l="0" t="0" r="0" b="0"/>
            </a:stretch>
          </a:blipFill>
        </p:spPr>
      </p:sp>
      <p:sp>
        <p:nvSpPr>
          <p:cNvPr name="TextBox 8" id="8"/>
          <p:cNvSpPr txBox="true"/>
          <p:nvPr/>
        </p:nvSpPr>
        <p:spPr>
          <a:xfrm rot="0">
            <a:off x="2052529" y="4238625"/>
            <a:ext cx="5544669" cy="904875"/>
          </a:xfrm>
          <a:prstGeom prst="rect">
            <a:avLst/>
          </a:prstGeom>
        </p:spPr>
        <p:txBody>
          <a:bodyPr anchor="t" rtlCol="false" tIns="0" lIns="0" bIns="0" rIns="0">
            <a:spAutoFit/>
          </a:bodyPr>
          <a:lstStyle/>
          <a:p>
            <a:pPr algn="ctr">
              <a:lnSpc>
                <a:spcPts val="6719"/>
              </a:lnSpc>
            </a:pPr>
            <a:r>
              <a:rPr lang="en-US" sz="5599" b="true">
                <a:solidFill>
                  <a:srgbClr val="101010"/>
                </a:solidFill>
                <a:latin typeface="Poppins Bold"/>
                <a:ea typeface="Poppins Bold"/>
                <a:cs typeface="Poppins Bold"/>
                <a:sym typeface="Poppins Bold"/>
              </a:rPr>
              <a:t>Capa gratuita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3" id="3"/>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5400000">
            <a:off x="-1974906" y="1974906"/>
            <a:ext cx="4238545" cy="288733"/>
            <a:chOff x="0" y="0"/>
            <a:chExt cx="1116325" cy="76045"/>
          </a:xfrm>
        </p:grpSpPr>
        <p:sp>
          <p:nvSpPr>
            <p:cNvPr name="Freeform 5" id="5"/>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6" id="6"/>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3498271" y="-1014404"/>
            <a:ext cx="7315200" cy="3250692"/>
          </a:xfrm>
          <a:custGeom>
            <a:avLst/>
            <a:gdLst/>
            <a:ahLst/>
            <a:cxnLst/>
            <a:rect r="r" b="b" t="t" l="l"/>
            <a:pathLst>
              <a:path h="3250692" w="7315200">
                <a:moveTo>
                  <a:pt x="0" y="0"/>
                </a:moveTo>
                <a:lnTo>
                  <a:pt x="7315200" y="0"/>
                </a:lnTo>
                <a:lnTo>
                  <a:pt x="7315200" y="3250692"/>
                </a:lnTo>
                <a:lnTo>
                  <a:pt x="0" y="3250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6079143" y="1331413"/>
            <a:ext cx="6129714"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Amazon Aurora</a:t>
            </a:r>
          </a:p>
        </p:txBody>
      </p:sp>
      <p:pic>
        <p:nvPicPr>
          <p:cNvPr name="Picture 9" id="9"/>
          <p:cNvPicPr>
            <a:picLocks noChangeAspect="true"/>
          </p:cNvPicPr>
          <p:nvPr>
            <a:videoFile r:link="rId7"/>
          </p:nvPr>
        </p:nvPicPr>
        <p:blipFill>
          <a:blip r:embed="rId6"/>
          <a:stretch>
            <a:fillRect/>
          </a:stretch>
        </p:blipFill>
        <p:spPr>
          <a:xfrm rot="0">
            <a:off x="3657600" y="2589241"/>
            <a:ext cx="10972800" cy="6172199"/>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3" id="3"/>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5400000">
            <a:off x="-1974906" y="1974906"/>
            <a:ext cx="4238545" cy="288733"/>
            <a:chOff x="0" y="0"/>
            <a:chExt cx="1116325" cy="76045"/>
          </a:xfrm>
        </p:grpSpPr>
        <p:sp>
          <p:nvSpPr>
            <p:cNvPr name="Freeform 5" id="5"/>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6" id="6"/>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3498271" y="-1014404"/>
            <a:ext cx="7315200" cy="3250692"/>
          </a:xfrm>
          <a:custGeom>
            <a:avLst/>
            <a:gdLst/>
            <a:ahLst/>
            <a:cxnLst/>
            <a:rect r="r" b="b" t="t" l="l"/>
            <a:pathLst>
              <a:path h="3250692" w="7315200">
                <a:moveTo>
                  <a:pt x="0" y="0"/>
                </a:moveTo>
                <a:lnTo>
                  <a:pt x="7315200" y="0"/>
                </a:lnTo>
                <a:lnTo>
                  <a:pt x="7315200" y="3250692"/>
                </a:lnTo>
                <a:lnTo>
                  <a:pt x="0" y="3250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1118432" y="3933752"/>
            <a:ext cx="5378292" cy="4759678"/>
          </a:xfrm>
          <a:custGeom>
            <a:avLst/>
            <a:gdLst/>
            <a:ahLst/>
            <a:cxnLst/>
            <a:rect r="r" b="b" t="t" l="l"/>
            <a:pathLst>
              <a:path h="4759678" w="5378292">
                <a:moveTo>
                  <a:pt x="0" y="0"/>
                </a:moveTo>
                <a:lnTo>
                  <a:pt x="5378292" y="0"/>
                </a:lnTo>
                <a:lnTo>
                  <a:pt x="5378292" y="4759678"/>
                </a:lnTo>
                <a:lnTo>
                  <a:pt x="0" y="4759678"/>
                </a:lnTo>
                <a:lnTo>
                  <a:pt x="0" y="0"/>
                </a:lnTo>
                <a:close/>
              </a:path>
            </a:pathLst>
          </a:custGeom>
          <a:blipFill>
            <a:blip r:embed="rId6"/>
            <a:stretch>
              <a:fillRect l="0" t="-7522" r="0" b="-5474"/>
            </a:stretch>
          </a:blipFill>
        </p:spPr>
      </p:sp>
      <p:grpSp>
        <p:nvGrpSpPr>
          <p:cNvPr name="Group 9" id="9"/>
          <p:cNvGrpSpPr/>
          <p:nvPr/>
        </p:nvGrpSpPr>
        <p:grpSpPr>
          <a:xfrm rot="0">
            <a:off x="11086996" y="1602899"/>
            <a:ext cx="5409728" cy="1980712"/>
            <a:chOff x="0" y="0"/>
            <a:chExt cx="812800" cy="297598"/>
          </a:xfrm>
        </p:grpSpPr>
        <p:sp>
          <p:nvSpPr>
            <p:cNvPr name="Freeform 10" id="10"/>
            <p:cNvSpPr/>
            <p:nvPr/>
          </p:nvSpPr>
          <p:spPr>
            <a:xfrm flipH="false" flipV="false" rot="0">
              <a:off x="0" y="0"/>
              <a:ext cx="812800" cy="297598"/>
            </a:xfrm>
            <a:custGeom>
              <a:avLst/>
              <a:gdLst/>
              <a:ahLst/>
              <a:cxnLst/>
              <a:rect r="r" b="b" t="t" l="l"/>
              <a:pathLst>
                <a:path h="297598" w="812800">
                  <a:moveTo>
                    <a:pt x="127000" y="0"/>
                  </a:moveTo>
                  <a:lnTo>
                    <a:pt x="685800" y="0"/>
                  </a:lnTo>
                  <a:cubicBezTo>
                    <a:pt x="755940" y="0"/>
                    <a:pt x="812800" y="56860"/>
                    <a:pt x="812800" y="127000"/>
                  </a:cubicBezTo>
                  <a:lnTo>
                    <a:pt x="812800" y="170598"/>
                  </a:lnTo>
                  <a:cubicBezTo>
                    <a:pt x="812800" y="240738"/>
                    <a:pt x="755940" y="297598"/>
                    <a:pt x="685800" y="297598"/>
                  </a:cubicBezTo>
                  <a:lnTo>
                    <a:pt x="127000" y="297598"/>
                  </a:lnTo>
                  <a:cubicBezTo>
                    <a:pt x="93318" y="297598"/>
                    <a:pt x="61015" y="284217"/>
                    <a:pt x="37197" y="260400"/>
                  </a:cubicBezTo>
                  <a:cubicBezTo>
                    <a:pt x="13380" y="236583"/>
                    <a:pt x="0" y="204280"/>
                    <a:pt x="0" y="170598"/>
                  </a:cubicBezTo>
                  <a:lnTo>
                    <a:pt x="0" y="127000"/>
                  </a:lnTo>
                  <a:cubicBezTo>
                    <a:pt x="0" y="56860"/>
                    <a:pt x="56860" y="0"/>
                    <a:pt x="127000" y="0"/>
                  </a:cubicBezTo>
                  <a:close/>
                </a:path>
              </a:pathLst>
            </a:custGeom>
            <a:solidFill>
              <a:srgbClr val="FFFFFF"/>
            </a:solidFill>
          </p:spPr>
        </p:sp>
        <p:sp>
          <p:nvSpPr>
            <p:cNvPr name="TextBox 11" id="11"/>
            <p:cNvSpPr txBox="true"/>
            <p:nvPr/>
          </p:nvSpPr>
          <p:spPr>
            <a:xfrm>
              <a:off x="0" y="-38100"/>
              <a:ext cx="812800" cy="335698"/>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1523537" y="1818920"/>
            <a:ext cx="4536648" cy="1562289"/>
          </a:xfrm>
          <a:custGeom>
            <a:avLst/>
            <a:gdLst/>
            <a:ahLst/>
            <a:cxnLst/>
            <a:rect r="r" b="b" t="t" l="l"/>
            <a:pathLst>
              <a:path h="1562289" w="4536648">
                <a:moveTo>
                  <a:pt x="0" y="0"/>
                </a:moveTo>
                <a:lnTo>
                  <a:pt x="4536647" y="0"/>
                </a:lnTo>
                <a:lnTo>
                  <a:pt x="4536647" y="1562289"/>
                </a:lnTo>
                <a:lnTo>
                  <a:pt x="0" y="1562289"/>
                </a:lnTo>
                <a:lnTo>
                  <a:pt x="0" y="0"/>
                </a:lnTo>
                <a:close/>
              </a:path>
            </a:pathLst>
          </a:custGeom>
          <a:blipFill>
            <a:blip r:embed="rId7"/>
            <a:stretch>
              <a:fillRect l="0" t="0" r="0" b="0"/>
            </a:stretch>
          </a:blipFill>
        </p:spPr>
      </p:sp>
      <p:sp>
        <p:nvSpPr>
          <p:cNvPr name="TextBox 13" id="13"/>
          <p:cNvSpPr txBox="true"/>
          <p:nvPr/>
        </p:nvSpPr>
        <p:spPr>
          <a:xfrm rot="0">
            <a:off x="1028700" y="3838502"/>
            <a:ext cx="9421856" cy="3712211"/>
          </a:xfrm>
          <a:prstGeom prst="rect">
            <a:avLst/>
          </a:prstGeom>
        </p:spPr>
        <p:txBody>
          <a:bodyPr anchor="t" rtlCol="false" tIns="0" lIns="0" bIns="0" rIns="0">
            <a:spAutoFit/>
          </a:bodyPr>
          <a:lstStyle/>
          <a:p>
            <a:pPr algn="just">
              <a:lnSpc>
                <a:spcPts val="3679"/>
              </a:lnSpc>
            </a:pPr>
            <a:r>
              <a:rPr lang="en-US" sz="2299">
                <a:solidFill>
                  <a:srgbClr val="EEF2F5"/>
                </a:solidFill>
                <a:latin typeface="Poppins"/>
                <a:ea typeface="Poppins"/>
                <a:cs typeface="Poppins"/>
                <a:sym typeface="Poppins"/>
              </a:rPr>
              <a:t>Amazon Aurora es una base de datos relacional compatible con MySQL y PostgreSQL creada para la nube, que combina el rendimiento y la disponibilidad de las bases de datos empresariales tradicionales con la simplicidad y la rentabilidad de las bases de datos de código abierto Amazon Aurora es hasta cinco veces más rápido que las bases de datos MySQL estándar y tres veces más rápido que las bases de datos PostgreSQL estándar</a:t>
            </a:r>
          </a:p>
        </p:txBody>
      </p:sp>
      <p:sp>
        <p:nvSpPr>
          <p:cNvPr name="TextBox 14" id="14"/>
          <p:cNvSpPr txBox="true"/>
          <p:nvPr/>
        </p:nvSpPr>
        <p:spPr>
          <a:xfrm rot="0">
            <a:off x="1712082" y="2179138"/>
            <a:ext cx="6129714"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Amazon Aurora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3" id="3"/>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5400000">
            <a:off x="-1974906" y="1974906"/>
            <a:ext cx="4238545" cy="288733"/>
            <a:chOff x="0" y="0"/>
            <a:chExt cx="1116325" cy="76045"/>
          </a:xfrm>
        </p:grpSpPr>
        <p:sp>
          <p:nvSpPr>
            <p:cNvPr name="Freeform 5" id="5"/>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6" id="6"/>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3498271" y="-1014404"/>
            <a:ext cx="7315200" cy="3250692"/>
          </a:xfrm>
          <a:custGeom>
            <a:avLst/>
            <a:gdLst/>
            <a:ahLst/>
            <a:cxnLst/>
            <a:rect r="r" b="b" t="t" l="l"/>
            <a:pathLst>
              <a:path h="3250692" w="7315200">
                <a:moveTo>
                  <a:pt x="0" y="0"/>
                </a:moveTo>
                <a:lnTo>
                  <a:pt x="7315200" y="0"/>
                </a:lnTo>
                <a:lnTo>
                  <a:pt x="7315200" y="3250692"/>
                </a:lnTo>
                <a:lnTo>
                  <a:pt x="0" y="3250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33240" y="3497652"/>
            <a:ext cx="15221519" cy="3833402"/>
          </a:xfrm>
          <a:custGeom>
            <a:avLst/>
            <a:gdLst/>
            <a:ahLst/>
            <a:cxnLst/>
            <a:rect r="r" b="b" t="t" l="l"/>
            <a:pathLst>
              <a:path h="3833402" w="15221519">
                <a:moveTo>
                  <a:pt x="0" y="0"/>
                </a:moveTo>
                <a:lnTo>
                  <a:pt x="15221520" y="0"/>
                </a:lnTo>
                <a:lnTo>
                  <a:pt x="15221520" y="3833402"/>
                </a:lnTo>
                <a:lnTo>
                  <a:pt x="0" y="3833402"/>
                </a:lnTo>
                <a:lnTo>
                  <a:pt x="0" y="0"/>
                </a:lnTo>
                <a:close/>
              </a:path>
            </a:pathLst>
          </a:custGeom>
          <a:blipFill>
            <a:blip r:embed="rId6"/>
            <a:stretch>
              <a:fillRect l="0" t="0" r="0" b="0"/>
            </a:stretch>
          </a:blipFill>
        </p:spPr>
      </p:sp>
      <p:sp>
        <p:nvSpPr>
          <p:cNvPr name="TextBox 9" id="9"/>
          <p:cNvSpPr txBox="true"/>
          <p:nvPr/>
        </p:nvSpPr>
        <p:spPr>
          <a:xfrm rot="0">
            <a:off x="2747635" y="1496995"/>
            <a:ext cx="12792731"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¿Quienes utilizan Amazon Aurora?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3" id="3"/>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5400000">
            <a:off x="-1974906" y="1974906"/>
            <a:ext cx="4238545" cy="288733"/>
            <a:chOff x="0" y="0"/>
            <a:chExt cx="1116325" cy="76045"/>
          </a:xfrm>
        </p:grpSpPr>
        <p:sp>
          <p:nvSpPr>
            <p:cNvPr name="Freeform 5" id="5"/>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6" id="6"/>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3498271" y="-1014404"/>
            <a:ext cx="7315200" cy="3250692"/>
          </a:xfrm>
          <a:custGeom>
            <a:avLst/>
            <a:gdLst/>
            <a:ahLst/>
            <a:cxnLst/>
            <a:rect r="r" b="b" t="t" l="l"/>
            <a:pathLst>
              <a:path h="3250692" w="7315200">
                <a:moveTo>
                  <a:pt x="0" y="0"/>
                </a:moveTo>
                <a:lnTo>
                  <a:pt x="7315200" y="0"/>
                </a:lnTo>
                <a:lnTo>
                  <a:pt x="7315200" y="3250692"/>
                </a:lnTo>
                <a:lnTo>
                  <a:pt x="0" y="3250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5323459" y="1123841"/>
            <a:ext cx="7641081"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Amazon DynamoDB</a:t>
            </a:r>
          </a:p>
        </p:txBody>
      </p:sp>
      <p:pic>
        <p:nvPicPr>
          <p:cNvPr name="Picture 9" id="9"/>
          <p:cNvPicPr>
            <a:picLocks noChangeAspect="true"/>
          </p:cNvPicPr>
          <p:nvPr>
            <a:videoFile r:link="rId7"/>
          </p:nvPr>
        </p:nvPicPr>
        <p:blipFill>
          <a:blip r:embed="rId6"/>
          <a:stretch>
            <a:fillRect/>
          </a:stretch>
        </p:blipFill>
        <p:spPr>
          <a:xfrm rot="0">
            <a:off x="3657600" y="2589241"/>
            <a:ext cx="10972800" cy="6172199"/>
          </a:xfrm>
          <a:prstGeom prst="rect">
            <a:avLst/>
          </a:prstGeom>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3" id="3"/>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5400000">
            <a:off x="-1974906" y="1974906"/>
            <a:ext cx="4238545" cy="288733"/>
            <a:chOff x="0" y="0"/>
            <a:chExt cx="1116325" cy="76045"/>
          </a:xfrm>
        </p:grpSpPr>
        <p:sp>
          <p:nvSpPr>
            <p:cNvPr name="Freeform 5" id="5"/>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6" id="6"/>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3498271" y="-1014404"/>
            <a:ext cx="7315200" cy="3250692"/>
          </a:xfrm>
          <a:custGeom>
            <a:avLst/>
            <a:gdLst/>
            <a:ahLst/>
            <a:cxnLst/>
            <a:rect r="r" b="b" t="t" l="l"/>
            <a:pathLst>
              <a:path h="3250692" w="7315200">
                <a:moveTo>
                  <a:pt x="0" y="0"/>
                </a:moveTo>
                <a:lnTo>
                  <a:pt x="7315200" y="0"/>
                </a:lnTo>
                <a:lnTo>
                  <a:pt x="7315200" y="3250692"/>
                </a:lnTo>
                <a:lnTo>
                  <a:pt x="0" y="3250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640964" y="3455132"/>
            <a:ext cx="6813761" cy="3945370"/>
          </a:xfrm>
          <a:custGeom>
            <a:avLst/>
            <a:gdLst/>
            <a:ahLst/>
            <a:cxnLst/>
            <a:rect r="r" b="b" t="t" l="l"/>
            <a:pathLst>
              <a:path h="3945370" w="6813761">
                <a:moveTo>
                  <a:pt x="0" y="0"/>
                </a:moveTo>
                <a:lnTo>
                  <a:pt x="6813761" y="0"/>
                </a:lnTo>
                <a:lnTo>
                  <a:pt x="6813761" y="3945371"/>
                </a:lnTo>
                <a:lnTo>
                  <a:pt x="0" y="3945371"/>
                </a:lnTo>
                <a:lnTo>
                  <a:pt x="0" y="0"/>
                </a:lnTo>
                <a:close/>
              </a:path>
            </a:pathLst>
          </a:custGeom>
          <a:blipFill>
            <a:blip r:embed="rId6"/>
            <a:stretch>
              <a:fillRect l="0" t="0" r="0" b="0"/>
            </a:stretch>
          </a:blipFill>
        </p:spPr>
      </p:sp>
      <p:sp>
        <p:nvSpPr>
          <p:cNvPr name="TextBox 9" id="9"/>
          <p:cNvSpPr txBox="true"/>
          <p:nvPr/>
        </p:nvSpPr>
        <p:spPr>
          <a:xfrm rot="0">
            <a:off x="1028700" y="2973905"/>
            <a:ext cx="8869314" cy="5112386"/>
          </a:xfrm>
          <a:prstGeom prst="rect">
            <a:avLst/>
          </a:prstGeom>
        </p:spPr>
        <p:txBody>
          <a:bodyPr anchor="t" rtlCol="false" tIns="0" lIns="0" bIns="0" rIns="0">
            <a:spAutoFit/>
          </a:bodyPr>
          <a:lstStyle/>
          <a:p>
            <a:pPr algn="just">
              <a:lnSpc>
                <a:spcPts val="3679"/>
              </a:lnSpc>
            </a:pPr>
            <a:r>
              <a:rPr lang="en-US" sz="2299">
                <a:solidFill>
                  <a:srgbClr val="EEF2F5"/>
                </a:solidFill>
                <a:latin typeface="Poppins"/>
                <a:ea typeface="Poppins"/>
                <a:cs typeface="Poppins"/>
                <a:sym typeface="Poppins"/>
              </a:rPr>
              <a:t>Amazon DynamoDB es una base de datos NoSQL que ofrece un rendimiento de milisegundos en cualquier escala.</a:t>
            </a:r>
          </a:p>
          <a:p>
            <a:pPr algn="just">
              <a:lnSpc>
                <a:spcPts val="3679"/>
              </a:lnSpc>
            </a:pPr>
          </a:p>
          <a:p>
            <a:pPr algn="just">
              <a:lnSpc>
                <a:spcPts val="3679"/>
              </a:lnSpc>
            </a:pPr>
            <a:r>
              <a:rPr lang="en-US" sz="2299">
                <a:solidFill>
                  <a:srgbClr val="EEF2F5"/>
                </a:solidFill>
                <a:latin typeface="Poppins"/>
                <a:ea typeface="Poppins"/>
                <a:cs typeface="Poppins"/>
                <a:sym typeface="Poppins"/>
              </a:rPr>
              <a:t>Es una base de datos duradera, multiregional, multiactiva y totalmente administrada con seguridad integrada, respaldo y restauración y almacenamiento en cache en memoria para aplicaciones.</a:t>
            </a:r>
          </a:p>
          <a:p>
            <a:pPr algn="just">
              <a:lnSpc>
                <a:spcPts val="3679"/>
              </a:lnSpc>
            </a:pPr>
          </a:p>
          <a:p>
            <a:pPr algn="just">
              <a:lnSpc>
                <a:spcPts val="3679"/>
              </a:lnSpc>
            </a:pPr>
            <a:r>
              <a:rPr lang="en-US" sz="2299">
                <a:solidFill>
                  <a:srgbClr val="EEF2F5"/>
                </a:solidFill>
                <a:latin typeface="Poppins"/>
                <a:ea typeface="Poppins"/>
                <a:cs typeface="Poppins"/>
                <a:sym typeface="Poppins"/>
              </a:rPr>
              <a:t>DynamoDB puede manejar mas de 10 billones de solicitudes por día y puede soportar picos de mas de 20 millones de solicitudes por segundo.</a:t>
            </a:r>
          </a:p>
        </p:txBody>
      </p:sp>
      <p:sp>
        <p:nvSpPr>
          <p:cNvPr name="TextBox 10" id="10"/>
          <p:cNvSpPr txBox="true"/>
          <p:nvPr/>
        </p:nvSpPr>
        <p:spPr>
          <a:xfrm rot="0">
            <a:off x="1712082" y="1545749"/>
            <a:ext cx="8291132"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Amazon DynamoDB</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561679" y="-3455076"/>
            <a:ext cx="11153665" cy="8132036"/>
          </a:xfrm>
          <a:custGeom>
            <a:avLst/>
            <a:gdLst/>
            <a:ahLst/>
            <a:cxnLst/>
            <a:rect r="r" b="b" t="t" l="l"/>
            <a:pathLst>
              <a:path h="8132036" w="11153665">
                <a:moveTo>
                  <a:pt x="0" y="0"/>
                </a:moveTo>
                <a:lnTo>
                  <a:pt x="11153665" y="0"/>
                </a:lnTo>
                <a:lnTo>
                  <a:pt x="11153665" y="8132036"/>
                </a:lnTo>
                <a:lnTo>
                  <a:pt x="0" y="8132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grpSp>
        <p:nvGrpSpPr>
          <p:cNvPr name="Group 4" id="4"/>
          <p:cNvGrpSpPr/>
          <p:nvPr/>
        </p:nvGrpSpPr>
        <p:grpSpPr>
          <a:xfrm rot="0">
            <a:off x="0" y="9429758"/>
            <a:ext cx="18288000" cy="1714484"/>
            <a:chOff x="0" y="0"/>
            <a:chExt cx="4334933" cy="406396"/>
          </a:xfrm>
        </p:grpSpPr>
        <p:sp>
          <p:nvSpPr>
            <p:cNvPr name="Freeform 5" id="5"/>
            <p:cNvSpPr/>
            <p:nvPr/>
          </p:nvSpPr>
          <p:spPr>
            <a:xfrm flipH="false" flipV="false" rot="0">
              <a:off x="0" y="0"/>
              <a:ext cx="4334933" cy="406396"/>
            </a:xfrm>
            <a:custGeom>
              <a:avLst/>
              <a:gdLst/>
              <a:ahLst/>
              <a:cxnLst/>
              <a:rect r="r" b="b" t="t" l="l"/>
              <a:pathLst>
                <a:path h="406396" w="4334933">
                  <a:moveTo>
                    <a:pt x="0" y="0"/>
                  </a:moveTo>
                  <a:lnTo>
                    <a:pt x="4334933" y="0"/>
                  </a:lnTo>
                  <a:lnTo>
                    <a:pt x="4334933" y="406396"/>
                  </a:lnTo>
                  <a:lnTo>
                    <a:pt x="0" y="406396"/>
                  </a:lnTo>
                  <a:close/>
                </a:path>
              </a:pathLst>
            </a:custGeom>
            <a:solidFill>
              <a:srgbClr val="071C42"/>
            </a:solidFill>
          </p:spPr>
        </p:sp>
        <p:sp>
          <p:nvSpPr>
            <p:cNvPr name="TextBox 6" id="6"/>
            <p:cNvSpPr txBox="true"/>
            <p:nvPr/>
          </p:nvSpPr>
          <p:spPr>
            <a:xfrm>
              <a:off x="0" y="-38100"/>
              <a:ext cx="4334933" cy="444496"/>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0" y="8982029"/>
            <a:ext cx="8737081" cy="447729"/>
            <a:chOff x="0" y="0"/>
            <a:chExt cx="2071012" cy="106128"/>
          </a:xfrm>
        </p:grpSpPr>
        <p:sp>
          <p:nvSpPr>
            <p:cNvPr name="Freeform 8" id="8"/>
            <p:cNvSpPr/>
            <p:nvPr/>
          </p:nvSpPr>
          <p:spPr>
            <a:xfrm flipH="false" flipV="false" rot="0">
              <a:off x="0" y="0"/>
              <a:ext cx="2071012" cy="106128"/>
            </a:xfrm>
            <a:custGeom>
              <a:avLst/>
              <a:gdLst/>
              <a:ahLst/>
              <a:cxnLst/>
              <a:rect r="r" b="b" t="t" l="l"/>
              <a:pathLst>
                <a:path h="106128" w="2071012">
                  <a:moveTo>
                    <a:pt x="0" y="0"/>
                  </a:moveTo>
                  <a:lnTo>
                    <a:pt x="2071012" y="0"/>
                  </a:lnTo>
                  <a:lnTo>
                    <a:pt x="2071012" y="106128"/>
                  </a:lnTo>
                  <a:lnTo>
                    <a:pt x="0" y="106128"/>
                  </a:lnTo>
                  <a:close/>
                </a:path>
              </a:pathLst>
            </a:custGeom>
            <a:solidFill>
              <a:srgbClr val="3DCAB1"/>
            </a:solidFill>
          </p:spPr>
        </p:sp>
        <p:sp>
          <p:nvSpPr>
            <p:cNvPr name="TextBox 9" id="9"/>
            <p:cNvSpPr txBox="true"/>
            <p:nvPr/>
          </p:nvSpPr>
          <p:spPr>
            <a:xfrm>
              <a:off x="0" y="-38100"/>
              <a:ext cx="2071012" cy="14422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8418354" y="3702279"/>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028700" y="971550"/>
            <a:ext cx="15422684" cy="904875"/>
          </a:xfrm>
          <a:prstGeom prst="rect">
            <a:avLst/>
          </a:prstGeom>
        </p:spPr>
        <p:txBody>
          <a:bodyPr anchor="t" rtlCol="false" tIns="0" lIns="0" bIns="0" rIns="0">
            <a:spAutoFit/>
          </a:bodyPr>
          <a:lstStyle/>
          <a:p>
            <a:pPr algn="l">
              <a:lnSpc>
                <a:spcPts val="6719"/>
              </a:lnSpc>
            </a:pPr>
            <a:r>
              <a:rPr lang="en-US" sz="5599">
                <a:solidFill>
                  <a:srgbClr val="071C42"/>
                </a:solidFill>
                <a:latin typeface="Poppins"/>
                <a:ea typeface="Poppins"/>
                <a:cs typeface="Poppins"/>
                <a:sym typeface="Poppins"/>
              </a:rPr>
              <a:t>Beneficios y características de DynamoDB</a:t>
            </a:r>
          </a:p>
        </p:txBody>
      </p:sp>
      <p:sp>
        <p:nvSpPr>
          <p:cNvPr name="TextBox 12" id="12"/>
          <p:cNvSpPr txBox="true"/>
          <p:nvPr/>
        </p:nvSpPr>
        <p:spPr>
          <a:xfrm rot="0">
            <a:off x="9724617" y="3635604"/>
            <a:ext cx="4147245"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Desempeño a escala</a:t>
            </a:r>
          </a:p>
        </p:txBody>
      </p:sp>
      <p:sp>
        <p:nvSpPr>
          <p:cNvPr name="TextBox 13" id="13"/>
          <p:cNvSpPr txBox="true"/>
          <p:nvPr/>
        </p:nvSpPr>
        <p:spPr>
          <a:xfrm rot="0">
            <a:off x="9724617" y="4701769"/>
            <a:ext cx="6970068"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No hay servidores que administrar</a:t>
            </a:r>
          </a:p>
        </p:txBody>
      </p:sp>
      <p:sp>
        <p:nvSpPr>
          <p:cNvPr name="TextBox 14" id="14"/>
          <p:cNvSpPr txBox="true"/>
          <p:nvPr/>
        </p:nvSpPr>
        <p:spPr>
          <a:xfrm rot="0">
            <a:off x="9724617" y="5767556"/>
            <a:ext cx="4076998"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Listo para empresas</a:t>
            </a:r>
          </a:p>
        </p:txBody>
      </p:sp>
      <p:sp>
        <p:nvSpPr>
          <p:cNvPr name="Freeform 15" id="15"/>
          <p:cNvSpPr/>
          <p:nvPr/>
        </p:nvSpPr>
        <p:spPr>
          <a:xfrm flipH="false" flipV="false" rot="0">
            <a:off x="8418354" y="4768444"/>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8418354" y="5834231"/>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048303" y="2567006"/>
            <a:ext cx="5984953" cy="5473543"/>
          </a:xfrm>
          <a:custGeom>
            <a:avLst/>
            <a:gdLst/>
            <a:ahLst/>
            <a:cxnLst/>
            <a:rect r="r" b="b" t="t" l="l"/>
            <a:pathLst>
              <a:path h="5473543" w="5984953">
                <a:moveTo>
                  <a:pt x="0" y="0"/>
                </a:moveTo>
                <a:lnTo>
                  <a:pt x="5984952" y="0"/>
                </a:lnTo>
                <a:lnTo>
                  <a:pt x="5984952" y="5473543"/>
                </a:lnTo>
                <a:lnTo>
                  <a:pt x="0" y="5473543"/>
                </a:lnTo>
                <a:lnTo>
                  <a:pt x="0" y="0"/>
                </a:lnTo>
                <a:close/>
              </a:path>
            </a:pathLst>
          </a:custGeom>
          <a:blipFill>
            <a:blip r:embed="rId6"/>
            <a:stretch>
              <a:fillRect l="-65332" t="0" r="-61117"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561679" y="-3455076"/>
            <a:ext cx="11153665" cy="8132036"/>
          </a:xfrm>
          <a:custGeom>
            <a:avLst/>
            <a:gdLst/>
            <a:ahLst/>
            <a:cxnLst/>
            <a:rect r="r" b="b" t="t" l="l"/>
            <a:pathLst>
              <a:path h="8132036" w="11153665">
                <a:moveTo>
                  <a:pt x="0" y="0"/>
                </a:moveTo>
                <a:lnTo>
                  <a:pt x="11153665" y="0"/>
                </a:lnTo>
                <a:lnTo>
                  <a:pt x="11153665" y="8132036"/>
                </a:lnTo>
                <a:lnTo>
                  <a:pt x="0" y="8132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grpSp>
        <p:nvGrpSpPr>
          <p:cNvPr name="Group 4" id="4"/>
          <p:cNvGrpSpPr/>
          <p:nvPr/>
        </p:nvGrpSpPr>
        <p:grpSpPr>
          <a:xfrm rot="0">
            <a:off x="0" y="9429758"/>
            <a:ext cx="18288000" cy="1714484"/>
            <a:chOff x="0" y="0"/>
            <a:chExt cx="4334933" cy="406396"/>
          </a:xfrm>
        </p:grpSpPr>
        <p:sp>
          <p:nvSpPr>
            <p:cNvPr name="Freeform 5" id="5"/>
            <p:cNvSpPr/>
            <p:nvPr/>
          </p:nvSpPr>
          <p:spPr>
            <a:xfrm flipH="false" flipV="false" rot="0">
              <a:off x="0" y="0"/>
              <a:ext cx="4334933" cy="406396"/>
            </a:xfrm>
            <a:custGeom>
              <a:avLst/>
              <a:gdLst/>
              <a:ahLst/>
              <a:cxnLst/>
              <a:rect r="r" b="b" t="t" l="l"/>
              <a:pathLst>
                <a:path h="406396" w="4334933">
                  <a:moveTo>
                    <a:pt x="0" y="0"/>
                  </a:moveTo>
                  <a:lnTo>
                    <a:pt x="4334933" y="0"/>
                  </a:lnTo>
                  <a:lnTo>
                    <a:pt x="4334933" y="406396"/>
                  </a:lnTo>
                  <a:lnTo>
                    <a:pt x="0" y="406396"/>
                  </a:lnTo>
                  <a:close/>
                </a:path>
              </a:pathLst>
            </a:custGeom>
            <a:solidFill>
              <a:srgbClr val="071C42"/>
            </a:solidFill>
          </p:spPr>
        </p:sp>
        <p:sp>
          <p:nvSpPr>
            <p:cNvPr name="TextBox 6" id="6"/>
            <p:cNvSpPr txBox="true"/>
            <p:nvPr/>
          </p:nvSpPr>
          <p:spPr>
            <a:xfrm>
              <a:off x="0" y="-38100"/>
              <a:ext cx="4334933" cy="444496"/>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0" y="8982029"/>
            <a:ext cx="8737081" cy="447729"/>
            <a:chOff x="0" y="0"/>
            <a:chExt cx="2071012" cy="106128"/>
          </a:xfrm>
        </p:grpSpPr>
        <p:sp>
          <p:nvSpPr>
            <p:cNvPr name="Freeform 8" id="8"/>
            <p:cNvSpPr/>
            <p:nvPr/>
          </p:nvSpPr>
          <p:spPr>
            <a:xfrm flipH="false" flipV="false" rot="0">
              <a:off x="0" y="0"/>
              <a:ext cx="2071012" cy="106128"/>
            </a:xfrm>
            <a:custGeom>
              <a:avLst/>
              <a:gdLst/>
              <a:ahLst/>
              <a:cxnLst/>
              <a:rect r="r" b="b" t="t" l="l"/>
              <a:pathLst>
                <a:path h="106128" w="2071012">
                  <a:moveTo>
                    <a:pt x="0" y="0"/>
                  </a:moveTo>
                  <a:lnTo>
                    <a:pt x="2071012" y="0"/>
                  </a:lnTo>
                  <a:lnTo>
                    <a:pt x="2071012" y="106128"/>
                  </a:lnTo>
                  <a:lnTo>
                    <a:pt x="0" y="106128"/>
                  </a:lnTo>
                  <a:close/>
                </a:path>
              </a:pathLst>
            </a:custGeom>
            <a:solidFill>
              <a:srgbClr val="3DCAB1"/>
            </a:solidFill>
          </p:spPr>
        </p:sp>
        <p:sp>
          <p:nvSpPr>
            <p:cNvPr name="TextBox 9" id="9"/>
            <p:cNvSpPr txBox="true"/>
            <p:nvPr/>
          </p:nvSpPr>
          <p:spPr>
            <a:xfrm>
              <a:off x="0" y="-38100"/>
              <a:ext cx="2071012" cy="14422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8109580" y="2310149"/>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8109580" y="3376314"/>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8109580" y="4442101"/>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048303" y="2567006"/>
            <a:ext cx="5984953" cy="5473543"/>
          </a:xfrm>
          <a:custGeom>
            <a:avLst/>
            <a:gdLst/>
            <a:ahLst/>
            <a:cxnLst/>
            <a:rect r="r" b="b" t="t" l="l"/>
            <a:pathLst>
              <a:path h="5473543" w="5984953">
                <a:moveTo>
                  <a:pt x="0" y="0"/>
                </a:moveTo>
                <a:lnTo>
                  <a:pt x="5984952" y="0"/>
                </a:lnTo>
                <a:lnTo>
                  <a:pt x="5984952" y="5473543"/>
                </a:lnTo>
                <a:lnTo>
                  <a:pt x="0" y="5473543"/>
                </a:lnTo>
                <a:lnTo>
                  <a:pt x="0" y="0"/>
                </a:lnTo>
                <a:close/>
              </a:path>
            </a:pathLst>
          </a:custGeom>
          <a:blipFill>
            <a:blip r:embed="rId6"/>
            <a:stretch>
              <a:fillRect l="-65332" t="0" r="-61117" b="0"/>
            </a:stretch>
          </a:blipFill>
        </p:spPr>
      </p:sp>
      <p:sp>
        <p:nvSpPr>
          <p:cNvPr name="TextBox 14" id="14"/>
          <p:cNvSpPr txBox="true"/>
          <p:nvPr/>
        </p:nvSpPr>
        <p:spPr>
          <a:xfrm rot="0">
            <a:off x="1028700" y="971550"/>
            <a:ext cx="12546211" cy="904875"/>
          </a:xfrm>
          <a:prstGeom prst="rect">
            <a:avLst/>
          </a:prstGeom>
        </p:spPr>
        <p:txBody>
          <a:bodyPr anchor="t" rtlCol="false" tIns="0" lIns="0" bIns="0" rIns="0">
            <a:spAutoFit/>
          </a:bodyPr>
          <a:lstStyle/>
          <a:p>
            <a:pPr algn="l">
              <a:lnSpc>
                <a:spcPts val="6719"/>
              </a:lnSpc>
            </a:pPr>
            <a:r>
              <a:rPr lang="en-US" sz="5599">
                <a:solidFill>
                  <a:srgbClr val="071C42"/>
                </a:solidFill>
                <a:latin typeface="Poppins"/>
                <a:ea typeface="Poppins"/>
                <a:cs typeface="Poppins"/>
                <a:sym typeface="Poppins"/>
              </a:rPr>
              <a:t>Casos de uso de AWS DynamoDB</a:t>
            </a:r>
          </a:p>
        </p:txBody>
      </p:sp>
      <p:sp>
        <p:nvSpPr>
          <p:cNvPr name="TextBox 15" id="15"/>
          <p:cNvSpPr txBox="true"/>
          <p:nvPr/>
        </p:nvSpPr>
        <p:spPr>
          <a:xfrm rot="0">
            <a:off x="9727415" y="2219325"/>
            <a:ext cx="4526012"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Tecnología publicitaria</a:t>
            </a:r>
          </a:p>
        </p:txBody>
      </p:sp>
      <p:sp>
        <p:nvSpPr>
          <p:cNvPr name="TextBox 16" id="16"/>
          <p:cNvSpPr txBox="true"/>
          <p:nvPr/>
        </p:nvSpPr>
        <p:spPr>
          <a:xfrm rot="0">
            <a:off x="9727415" y="3309639"/>
            <a:ext cx="2571899"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Video Juegos</a:t>
            </a:r>
          </a:p>
        </p:txBody>
      </p:sp>
      <p:sp>
        <p:nvSpPr>
          <p:cNvPr name="TextBox 17" id="17"/>
          <p:cNvSpPr txBox="true"/>
          <p:nvPr/>
        </p:nvSpPr>
        <p:spPr>
          <a:xfrm rot="0">
            <a:off x="9727415" y="4375426"/>
            <a:ext cx="3890218"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Venta al por menor</a:t>
            </a:r>
          </a:p>
        </p:txBody>
      </p:sp>
      <p:sp>
        <p:nvSpPr>
          <p:cNvPr name="Freeform 18" id="18"/>
          <p:cNvSpPr/>
          <p:nvPr/>
        </p:nvSpPr>
        <p:spPr>
          <a:xfrm flipH="false" flipV="false" rot="0">
            <a:off x="8109580" y="5532414"/>
            <a:ext cx="540042" cy="513715"/>
          </a:xfrm>
          <a:custGeom>
            <a:avLst/>
            <a:gdLst/>
            <a:ahLst/>
            <a:cxnLst/>
            <a:rect r="r" b="b" t="t" l="l"/>
            <a:pathLst>
              <a:path h="513715" w="540042">
                <a:moveTo>
                  <a:pt x="0" y="0"/>
                </a:moveTo>
                <a:lnTo>
                  <a:pt x="540042" y="0"/>
                </a:lnTo>
                <a:lnTo>
                  <a:pt x="540042" y="513716"/>
                </a:lnTo>
                <a:lnTo>
                  <a:pt x="0" y="5137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8109580" y="6598580"/>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8109580" y="7664367"/>
            <a:ext cx="540042" cy="513715"/>
          </a:xfrm>
          <a:custGeom>
            <a:avLst/>
            <a:gdLst/>
            <a:ahLst/>
            <a:cxnLst/>
            <a:rect r="r" b="b" t="t" l="l"/>
            <a:pathLst>
              <a:path h="513715" w="540042">
                <a:moveTo>
                  <a:pt x="0" y="0"/>
                </a:moveTo>
                <a:lnTo>
                  <a:pt x="540042" y="0"/>
                </a:lnTo>
                <a:lnTo>
                  <a:pt x="540042" y="513715"/>
                </a:lnTo>
                <a:lnTo>
                  <a:pt x="0" y="5137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9727415" y="5441591"/>
            <a:ext cx="5192911"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Medios y entretenimiento</a:t>
            </a:r>
          </a:p>
        </p:txBody>
      </p:sp>
      <p:sp>
        <p:nvSpPr>
          <p:cNvPr name="TextBox 22" id="22"/>
          <p:cNvSpPr txBox="true"/>
          <p:nvPr/>
        </p:nvSpPr>
        <p:spPr>
          <a:xfrm rot="0">
            <a:off x="9727415" y="6507756"/>
            <a:ext cx="3862388"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Software e internet</a:t>
            </a:r>
          </a:p>
        </p:txBody>
      </p:sp>
      <p:sp>
        <p:nvSpPr>
          <p:cNvPr name="TextBox 23" id="23"/>
          <p:cNvSpPr txBox="true"/>
          <p:nvPr/>
        </p:nvSpPr>
        <p:spPr>
          <a:xfrm rot="0">
            <a:off x="9727415" y="7597692"/>
            <a:ext cx="3346252" cy="580390"/>
          </a:xfrm>
          <a:prstGeom prst="rect">
            <a:avLst/>
          </a:prstGeom>
        </p:spPr>
        <p:txBody>
          <a:bodyPr anchor="t" rtlCol="false" tIns="0" lIns="0" bIns="0" rIns="0">
            <a:spAutoFit/>
          </a:bodyPr>
          <a:lstStyle/>
          <a:p>
            <a:pPr algn="ctr">
              <a:lnSpc>
                <a:spcPts val="4759"/>
              </a:lnSpc>
            </a:pPr>
            <a:r>
              <a:rPr lang="en-US" sz="3399">
                <a:solidFill>
                  <a:srgbClr val="071C42"/>
                </a:solidFill>
                <a:latin typeface="Open Sans"/>
                <a:ea typeface="Open Sans"/>
                <a:cs typeface="Open Sans"/>
                <a:sym typeface="Open Sans"/>
              </a:rPr>
              <a:t>Banca y finanzas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3" id="3"/>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5400000">
            <a:off x="-1974906" y="1974906"/>
            <a:ext cx="4238545" cy="288733"/>
            <a:chOff x="0" y="0"/>
            <a:chExt cx="1116325" cy="76045"/>
          </a:xfrm>
        </p:grpSpPr>
        <p:sp>
          <p:nvSpPr>
            <p:cNvPr name="Freeform 5" id="5"/>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6" id="6"/>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712082" y="1545749"/>
            <a:ext cx="14515364"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¿Quienes utilizan Amazon DynamoDB?</a:t>
            </a:r>
          </a:p>
        </p:txBody>
      </p:sp>
      <p:sp>
        <p:nvSpPr>
          <p:cNvPr name="Freeform 8" id="8"/>
          <p:cNvSpPr/>
          <p:nvPr/>
        </p:nvSpPr>
        <p:spPr>
          <a:xfrm flipH="false" flipV="false" rot="1876101">
            <a:off x="11905621" y="-388706"/>
            <a:ext cx="8274745" cy="2993953"/>
          </a:xfrm>
          <a:custGeom>
            <a:avLst/>
            <a:gdLst/>
            <a:ahLst/>
            <a:cxnLst/>
            <a:rect r="r" b="b" t="t" l="l"/>
            <a:pathLst>
              <a:path h="2993953" w="8274745">
                <a:moveTo>
                  <a:pt x="0" y="0"/>
                </a:moveTo>
                <a:lnTo>
                  <a:pt x="8274745" y="0"/>
                </a:lnTo>
                <a:lnTo>
                  <a:pt x="8274745" y="2993953"/>
                </a:lnTo>
                <a:lnTo>
                  <a:pt x="0" y="29939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38747" y="3907797"/>
            <a:ext cx="15010507" cy="3846030"/>
          </a:xfrm>
          <a:custGeom>
            <a:avLst/>
            <a:gdLst/>
            <a:ahLst/>
            <a:cxnLst/>
            <a:rect r="r" b="b" t="t" l="l"/>
            <a:pathLst>
              <a:path h="3846030" w="15010507">
                <a:moveTo>
                  <a:pt x="0" y="0"/>
                </a:moveTo>
                <a:lnTo>
                  <a:pt x="15010506" y="0"/>
                </a:lnTo>
                <a:lnTo>
                  <a:pt x="15010506" y="3846030"/>
                </a:lnTo>
                <a:lnTo>
                  <a:pt x="0" y="3846030"/>
                </a:lnTo>
                <a:lnTo>
                  <a:pt x="0" y="0"/>
                </a:lnTo>
                <a:close/>
              </a:path>
            </a:pathLst>
          </a:custGeom>
          <a:blipFill>
            <a:blip r:embed="rId6"/>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3" id="3"/>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5400000">
            <a:off x="-1974906" y="1974906"/>
            <a:ext cx="4238545" cy="288733"/>
            <a:chOff x="0" y="0"/>
            <a:chExt cx="1116325" cy="76045"/>
          </a:xfrm>
        </p:grpSpPr>
        <p:sp>
          <p:nvSpPr>
            <p:cNvPr name="Freeform 5" id="5"/>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6" id="6"/>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712082" y="1545749"/>
            <a:ext cx="14515364"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¿Quienes utilizan Amazon DynamoDB?</a:t>
            </a:r>
          </a:p>
        </p:txBody>
      </p:sp>
      <p:sp>
        <p:nvSpPr>
          <p:cNvPr name="Freeform 8" id="8"/>
          <p:cNvSpPr/>
          <p:nvPr/>
        </p:nvSpPr>
        <p:spPr>
          <a:xfrm flipH="false" flipV="false" rot="1876101">
            <a:off x="11905621" y="-388706"/>
            <a:ext cx="8274745" cy="2993953"/>
          </a:xfrm>
          <a:custGeom>
            <a:avLst/>
            <a:gdLst/>
            <a:ahLst/>
            <a:cxnLst/>
            <a:rect r="r" b="b" t="t" l="l"/>
            <a:pathLst>
              <a:path h="2993953" w="8274745">
                <a:moveTo>
                  <a:pt x="0" y="0"/>
                </a:moveTo>
                <a:lnTo>
                  <a:pt x="8274745" y="0"/>
                </a:lnTo>
                <a:lnTo>
                  <a:pt x="8274745" y="2993953"/>
                </a:lnTo>
                <a:lnTo>
                  <a:pt x="0" y="29939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159921" y="3431699"/>
            <a:ext cx="11619686" cy="5232706"/>
          </a:xfrm>
          <a:custGeom>
            <a:avLst/>
            <a:gdLst/>
            <a:ahLst/>
            <a:cxnLst/>
            <a:rect r="r" b="b" t="t" l="l"/>
            <a:pathLst>
              <a:path h="5232706" w="11619686">
                <a:moveTo>
                  <a:pt x="0" y="0"/>
                </a:moveTo>
                <a:lnTo>
                  <a:pt x="11619686" y="0"/>
                </a:lnTo>
                <a:lnTo>
                  <a:pt x="11619686" y="5232706"/>
                </a:lnTo>
                <a:lnTo>
                  <a:pt x="0" y="5232706"/>
                </a:lnTo>
                <a:lnTo>
                  <a:pt x="0" y="0"/>
                </a:lnTo>
                <a:close/>
              </a:path>
            </a:pathLst>
          </a:custGeom>
          <a:blipFill>
            <a:blip r:embed="rId6"/>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grpSp>
        <p:nvGrpSpPr>
          <p:cNvPr name="Group 3" id="3"/>
          <p:cNvGrpSpPr/>
          <p:nvPr/>
        </p:nvGrpSpPr>
        <p:grpSpPr>
          <a:xfrm rot="0">
            <a:off x="7401128" y="0"/>
            <a:ext cx="10886872" cy="10287000"/>
            <a:chOff x="0" y="0"/>
            <a:chExt cx="2580592" cy="2438400"/>
          </a:xfrm>
        </p:grpSpPr>
        <p:sp>
          <p:nvSpPr>
            <p:cNvPr name="Freeform 4" id="4"/>
            <p:cNvSpPr/>
            <p:nvPr/>
          </p:nvSpPr>
          <p:spPr>
            <a:xfrm flipH="false" flipV="false" rot="0">
              <a:off x="0" y="0"/>
              <a:ext cx="2580592" cy="2438400"/>
            </a:xfrm>
            <a:custGeom>
              <a:avLst/>
              <a:gdLst/>
              <a:ahLst/>
              <a:cxnLst/>
              <a:rect r="r" b="b" t="t" l="l"/>
              <a:pathLst>
                <a:path h="2438400" w="2580592">
                  <a:moveTo>
                    <a:pt x="0" y="0"/>
                  </a:moveTo>
                  <a:lnTo>
                    <a:pt x="2580592" y="0"/>
                  </a:lnTo>
                  <a:lnTo>
                    <a:pt x="2580592" y="2438400"/>
                  </a:lnTo>
                  <a:lnTo>
                    <a:pt x="0" y="2438400"/>
                  </a:lnTo>
                  <a:close/>
                </a:path>
              </a:pathLst>
            </a:custGeom>
            <a:solidFill>
              <a:srgbClr val="071C42"/>
            </a:solidFill>
          </p:spPr>
        </p:sp>
        <p:sp>
          <p:nvSpPr>
            <p:cNvPr name="TextBox 5" id="5"/>
            <p:cNvSpPr txBox="true"/>
            <p:nvPr/>
          </p:nvSpPr>
          <p:spPr>
            <a:xfrm>
              <a:off x="0" y="-38100"/>
              <a:ext cx="2580592" cy="2476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201801" y="5219620"/>
            <a:ext cx="8127642" cy="6605556"/>
          </a:xfrm>
          <a:custGeom>
            <a:avLst/>
            <a:gdLst/>
            <a:ahLst/>
            <a:cxnLst/>
            <a:rect r="r" b="b" t="t" l="l"/>
            <a:pathLst>
              <a:path h="6605556" w="8127642">
                <a:moveTo>
                  <a:pt x="0" y="0"/>
                </a:moveTo>
                <a:lnTo>
                  <a:pt x="8127642" y="0"/>
                </a:lnTo>
                <a:lnTo>
                  <a:pt x="8127642" y="6605556"/>
                </a:lnTo>
                <a:lnTo>
                  <a:pt x="0" y="66055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733156" y="400977"/>
            <a:ext cx="4222816" cy="9278013"/>
          </a:xfrm>
          <a:custGeom>
            <a:avLst/>
            <a:gdLst/>
            <a:ahLst/>
            <a:cxnLst/>
            <a:rect r="r" b="b" t="t" l="l"/>
            <a:pathLst>
              <a:path h="9278013" w="4222816">
                <a:moveTo>
                  <a:pt x="0" y="0"/>
                </a:moveTo>
                <a:lnTo>
                  <a:pt x="4222816" y="0"/>
                </a:lnTo>
                <a:lnTo>
                  <a:pt x="4222816" y="9278013"/>
                </a:lnTo>
                <a:lnTo>
                  <a:pt x="0" y="9278013"/>
                </a:lnTo>
                <a:lnTo>
                  <a:pt x="0" y="0"/>
                </a:lnTo>
                <a:close/>
              </a:path>
            </a:pathLst>
          </a:custGeom>
          <a:blipFill>
            <a:blip r:embed="rId4"/>
            <a:stretch>
              <a:fillRect l="0" t="0" r="0" b="0"/>
            </a:stretch>
          </a:blipFill>
        </p:spPr>
      </p:sp>
      <p:sp>
        <p:nvSpPr>
          <p:cNvPr name="TextBox 8" id="8"/>
          <p:cNvSpPr txBox="true"/>
          <p:nvPr/>
        </p:nvSpPr>
        <p:spPr>
          <a:xfrm rot="0">
            <a:off x="1028700" y="4238625"/>
            <a:ext cx="5544669" cy="904875"/>
          </a:xfrm>
          <a:prstGeom prst="rect">
            <a:avLst/>
          </a:prstGeom>
        </p:spPr>
        <p:txBody>
          <a:bodyPr anchor="t" rtlCol="false" tIns="0" lIns="0" bIns="0" rIns="0">
            <a:spAutoFit/>
          </a:bodyPr>
          <a:lstStyle/>
          <a:p>
            <a:pPr algn="ctr">
              <a:lnSpc>
                <a:spcPts val="6719"/>
              </a:lnSpc>
            </a:pPr>
            <a:r>
              <a:rPr lang="en-US" sz="5599" b="true">
                <a:solidFill>
                  <a:srgbClr val="101010"/>
                </a:solidFill>
                <a:latin typeface="Poppins Bold"/>
                <a:ea typeface="Poppins Bold"/>
                <a:cs typeface="Poppins Bold"/>
                <a:sym typeface="Poppins Bold"/>
              </a:rPr>
              <a:t>Capa gratuita</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37354" y="0"/>
            <a:ext cx="9850646" cy="3429000"/>
            <a:chOff x="0" y="0"/>
            <a:chExt cx="2334968" cy="812800"/>
          </a:xfrm>
        </p:grpSpPr>
        <p:sp>
          <p:nvSpPr>
            <p:cNvPr name="Freeform 3" id="3"/>
            <p:cNvSpPr/>
            <p:nvPr/>
          </p:nvSpPr>
          <p:spPr>
            <a:xfrm flipH="false" flipV="false" rot="0">
              <a:off x="0" y="0"/>
              <a:ext cx="2334968" cy="812800"/>
            </a:xfrm>
            <a:custGeom>
              <a:avLst/>
              <a:gdLst/>
              <a:ahLst/>
              <a:cxnLst/>
              <a:rect r="r" b="b" t="t" l="l"/>
              <a:pathLst>
                <a:path h="812800" w="2334968">
                  <a:moveTo>
                    <a:pt x="0" y="0"/>
                  </a:moveTo>
                  <a:lnTo>
                    <a:pt x="2334968" y="0"/>
                  </a:lnTo>
                  <a:lnTo>
                    <a:pt x="2334968" y="812800"/>
                  </a:lnTo>
                  <a:lnTo>
                    <a:pt x="0" y="812800"/>
                  </a:lnTo>
                  <a:close/>
                </a:path>
              </a:pathLst>
            </a:custGeom>
            <a:solidFill>
              <a:srgbClr val="071C42"/>
            </a:solidFill>
          </p:spPr>
        </p:sp>
        <p:sp>
          <p:nvSpPr>
            <p:cNvPr name="TextBox 4" id="4"/>
            <p:cNvSpPr txBox="true"/>
            <p:nvPr/>
          </p:nvSpPr>
          <p:spPr>
            <a:xfrm>
              <a:off x="0" y="-38100"/>
              <a:ext cx="2334968"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8437354" y="3429000"/>
            <a:ext cx="9850646" cy="6858000"/>
            <a:chOff x="0" y="0"/>
            <a:chExt cx="2334968" cy="1625600"/>
          </a:xfrm>
        </p:grpSpPr>
        <p:sp>
          <p:nvSpPr>
            <p:cNvPr name="Freeform 6" id="6"/>
            <p:cNvSpPr/>
            <p:nvPr/>
          </p:nvSpPr>
          <p:spPr>
            <a:xfrm flipH="false" flipV="false" rot="0">
              <a:off x="0" y="0"/>
              <a:ext cx="2334968" cy="1625600"/>
            </a:xfrm>
            <a:custGeom>
              <a:avLst/>
              <a:gdLst/>
              <a:ahLst/>
              <a:cxnLst/>
              <a:rect r="r" b="b" t="t" l="l"/>
              <a:pathLst>
                <a:path h="1625600" w="2334968">
                  <a:moveTo>
                    <a:pt x="0" y="0"/>
                  </a:moveTo>
                  <a:lnTo>
                    <a:pt x="2334968" y="0"/>
                  </a:lnTo>
                  <a:lnTo>
                    <a:pt x="2334968" y="1625600"/>
                  </a:lnTo>
                  <a:lnTo>
                    <a:pt x="0" y="1625600"/>
                  </a:lnTo>
                  <a:close/>
                </a:path>
              </a:pathLst>
            </a:custGeom>
            <a:solidFill>
              <a:srgbClr val="3DCAB1"/>
            </a:solidFill>
          </p:spPr>
        </p:sp>
        <p:sp>
          <p:nvSpPr>
            <p:cNvPr name="TextBox 7" id="7"/>
            <p:cNvSpPr txBox="true"/>
            <p:nvPr/>
          </p:nvSpPr>
          <p:spPr>
            <a:xfrm>
              <a:off x="0" y="-38100"/>
              <a:ext cx="2334968" cy="16637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2861667" y="-805804"/>
            <a:ext cx="8166327" cy="6636996"/>
          </a:xfrm>
          <a:custGeom>
            <a:avLst/>
            <a:gdLst/>
            <a:ahLst/>
            <a:cxnLst/>
            <a:rect r="r" b="b" t="t" l="l"/>
            <a:pathLst>
              <a:path h="6636996" w="8166327">
                <a:moveTo>
                  <a:pt x="8166327" y="0"/>
                </a:moveTo>
                <a:lnTo>
                  <a:pt x="0" y="0"/>
                </a:lnTo>
                <a:lnTo>
                  <a:pt x="0" y="6636996"/>
                </a:lnTo>
                <a:lnTo>
                  <a:pt x="8166327" y="6636996"/>
                </a:lnTo>
                <a:lnTo>
                  <a:pt x="816632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062323" y="2346795"/>
            <a:ext cx="7005080" cy="5583820"/>
          </a:xfrm>
          <a:custGeom>
            <a:avLst/>
            <a:gdLst/>
            <a:ahLst/>
            <a:cxnLst/>
            <a:rect r="r" b="b" t="t" l="l"/>
            <a:pathLst>
              <a:path h="5583820" w="7005080">
                <a:moveTo>
                  <a:pt x="0" y="0"/>
                </a:moveTo>
                <a:lnTo>
                  <a:pt x="7005080" y="0"/>
                </a:lnTo>
                <a:lnTo>
                  <a:pt x="7005080" y="5583820"/>
                </a:lnTo>
                <a:lnTo>
                  <a:pt x="0" y="5583820"/>
                </a:lnTo>
                <a:lnTo>
                  <a:pt x="0" y="0"/>
                </a:lnTo>
                <a:close/>
              </a:path>
            </a:pathLst>
          </a:custGeom>
          <a:blipFill>
            <a:blip r:embed="rId4"/>
            <a:stretch>
              <a:fillRect l="-21707" t="0" r="-20244" b="-171"/>
            </a:stretch>
          </a:blipFill>
        </p:spPr>
      </p:sp>
      <p:sp>
        <p:nvSpPr>
          <p:cNvPr name="TextBox 10" id="10"/>
          <p:cNvSpPr txBox="true"/>
          <p:nvPr/>
        </p:nvSpPr>
        <p:spPr>
          <a:xfrm rot="0">
            <a:off x="1416511" y="5086350"/>
            <a:ext cx="5895333" cy="1752600"/>
          </a:xfrm>
          <a:prstGeom prst="rect">
            <a:avLst/>
          </a:prstGeom>
        </p:spPr>
        <p:txBody>
          <a:bodyPr anchor="t" rtlCol="false" tIns="0" lIns="0" bIns="0" rIns="0">
            <a:spAutoFit/>
          </a:bodyPr>
          <a:lstStyle/>
          <a:p>
            <a:pPr algn="ctr">
              <a:lnSpc>
                <a:spcPts val="6719"/>
              </a:lnSpc>
            </a:pPr>
            <a:r>
              <a:rPr lang="en-US" sz="5599" b="true">
                <a:solidFill>
                  <a:srgbClr val="101010"/>
                </a:solidFill>
                <a:latin typeface="Poppins Bold"/>
                <a:ea typeface="Poppins Bold"/>
                <a:cs typeface="Poppins Bold"/>
                <a:sym typeface="Poppins Bold"/>
              </a:rPr>
              <a:t>Azure SQL Database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8249"/>
            <a:chOff x="0" y="0"/>
            <a:chExt cx="4816593" cy="2709662"/>
          </a:xfrm>
        </p:grpSpPr>
        <p:sp>
          <p:nvSpPr>
            <p:cNvPr name="Freeform 3" id="3"/>
            <p:cNvSpPr/>
            <p:nvPr/>
          </p:nvSpPr>
          <p:spPr>
            <a:xfrm flipH="false" flipV="false" rot="0">
              <a:off x="0" y="0"/>
              <a:ext cx="4816592" cy="2709662"/>
            </a:xfrm>
            <a:custGeom>
              <a:avLst/>
              <a:gdLst/>
              <a:ahLst/>
              <a:cxnLst/>
              <a:rect r="r" b="b" t="t" l="l"/>
              <a:pathLst>
                <a:path h="2709662" w="4816592">
                  <a:moveTo>
                    <a:pt x="0" y="0"/>
                  </a:moveTo>
                  <a:lnTo>
                    <a:pt x="4816592" y="0"/>
                  </a:lnTo>
                  <a:lnTo>
                    <a:pt x="4816592" y="2709662"/>
                  </a:lnTo>
                  <a:lnTo>
                    <a:pt x="0" y="2709662"/>
                  </a:lnTo>
                  <a:close/>
                </a:path>
              </a:pathLst>
            </a:custGeom>
            <a:solidFill>
              <a:srgbClr val="071C42"/>
            </a:solidFill>
          </p:spPr>
        </p:sp>
        <p:sp>
          <p:nvSpPr>
            <p:cNvPr name="TextBox 4" id="4"/>
            <p:cNvSpPr txBox="true"/>
            <p:nvPr/>
          </p:nvSpPr>
          <p:spPr>
            <a:xfrm>
              <a:off x="0" y="-38100"/>
              <a:ext cx="4816593" cy="274776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9999516"/>
            <a:ext cx="6212838" cy="288733"/>
            <a:chOff x="0" y="0"/>
            <a:chExt cx="1636303" cy="76045"/>
          </a:xfrm>
        </p:grpSpPr>
        <p:sp>
          <p:nvSpPr>
            <p:cNvPr name="Freeform 6" id="6"/>
            <p:cNvSpPr/>
            <p:nvPr/>
          </p:nvSpPr>
          <p:spPr>
            <a:xfrm flipH="false" flipV="false" rot="0">
              <a:off x="0" y="0"/>
              <a:ext cx="1636303" cy="76045"/>
            </a:xfrm>
            <a:custGeom>
              <a:avLst/>
              <a:gdLst/>
              <a:ahLst/>
              <a:cxnLst/>
              <a:rect r="r" b="b" t="t" l="l"/>
              <a:pathLst>
                <a:path h="76045" w="1636303">
                  <a:moveTo>
                    <a:pt x="0" y="0"/>
                  </a:moveTo>
                  <a:lnTo>
                    <a:pt x="1636303" y="0"/>
                  </a:lnTo>
                  <a:lnTo>
                    <a:pt x="1636303" y="76045"/>
                  </a:lnTo>
                  <a:lnTo>
                    <a:pt x="0" y="76045"/>
                  </a:lnTo>
                  <a:close/>
                </a:path>
              </a:pathLst>
            </a:custGeom>
            <a:solidFill>
              <a:srgbClr val="3DCAB1"/>
            </a:solidFill>
          </p:spPr>
        </p:sp>
        <p:sp>
          <p:nvSpPr>
            <p:cNvPr name="TextBox 7" id="7"/>
            <p:cNvSpPr txBox="true"/>
            <p:nvPr/>
          </p:nvSpPr>
          <p:spPr>
            <a:xfrm>
              <a:off x="0" y="-38100"/>
              <a:ext cx="1636303" cy="114145"/>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2249182" y="6716672"/>
            <a:ext cx="9005307" cy="6565688"/>
          </a:xfrm>
          <a:custGeom>
            <a:avLst/>
            <a:gdLst/>
            <a:ahLst/>
            <a:cxnLst/>
            <a:rect r="r" b="b" t="t" l="l"/>
            <a:pathLst>
              <a:path h="6565688" w="9005307">
                <a:moveTo>
                  <a:pt x="0" y="0"/>
                </a:moveTo>
                <a:lnTo>
                  <a:pt x="9005307" y="0"/>
                </a:lnTo>
                <a:lnTo>
                  <a:pt x="9005307"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249182" y="2395460"/>
            <a:ext cx="5498300" cy="6056000"/>
          </a:xfrm>
          <a:custGeom>
            <a:avLst/>
            <a:gdLst/>
            <a:ahLst/>
            <a:cxnLst/>
            <a:rect r="r" b="b" t="t" l="l"/>
            <a:pathLst>
              <a:path h="6056000" w="5498300">
                <a:moveTo>
                  <a:pt x="0" y="0"/>
                </a:moveTo>
                <a:lnTo>
                  <a:pt x="5498300" y="0"/>
                </a:lnTo>
                <a:lnTo>
                  <a:pt x="5498300" y="6056000"/>
                </a:lnTo>
                <a:lnTo>
                  <a:pt x="0" y="6056000"/>
                </a:lnTo>
                <a:lnTo>
                  <a:pt x="0" y="0"/>
                </a:lnTo>
                <a:close/>
              </a:path>
            </a:pathLst>
          </a:custGeom>
          <a:blipFill>
            <a:blip r:embed="rId4"/>
            <a:stretch>
              <a:fillRect l="-48177" t="0" r="-48177" b="0"/>
            </a:stretch>
          </a:blipFill>
        </p:spPr>
      </p:sp>
      <p:sp>
        <p:nvSpPr>
          <p:cNvPr name="TextBox 11" id="11"/>
          <p:cNvSpPr txBox="true"/>
          <p:nvPr/>
        </p:nvSpPr>
        <p:spPr>
          <a:xfrm rot="0">
            <a:off x="1172924" y="2668387"/>
            <a:ext cx="10079829" cy="5395847"/>
          </a:xfrm>
          <a:prstGeom prst="rect">
            <a:avLst/>
          </a:prstGeom>
        </p:spPr>
        <p:txBody>
          <a:bodyPr anchor="t" rtlCol="false" tIns="0" lIns="0" bIns="0" rIns="0">
            <a:spAutoFit/>
          </a:bodyPr>
          <a:lstStyle/>
          <a:p>
            <a:pPr algn="just">
              <a:lnSpc>
                <a:spcPts val="4271"/>
              </a:lnSpc>
            </a:pPr>
            <a:r>
              <a:rPr lang="en-US" sz="2669">
                <a:solidFill>
                  <a:srgbClr val="EEF2F5"/>
                </a:solidFill>
                <a:latin typeface="Poppins"/>
                <a:ea typeface="Poppins"/>
                <a:cs typeface="Poppins"/>
                <a:sym typeface="Poppins"/>
              </a:rPr>
              <a:t>Azure SQL Database es un motor de base de datos de plataforma como servicio (PaaS) totalmente administrado que se encarga de la mayoría de las funciones de administración de bases de datos, como actualizar, aplicar revisiones, crear copias de seguridad y supervisar sin intervención del usuario. </a:t>
            </a:r>
          </a:p>
          <a:p>
            <a:pPr algn="just">
              <a:lnSpc>
                <a:spcPts val="4271"/>
              </a:lnSpc>
            </a:pPr>
          </a:p>
          <a:p>
            <a:pPr algn="just">
              <a:lnSpc>
                <a:spcPts val="4271"/>
              </a:lnSpc>
            </a:pPr>
            <a:r>
              <a:rPr lang="en-US" sz="2669">
                <a:solidFill>
                  <a:srgbClr val="EEF2F5"/>
                </a:solidFill>
                <a:latin typeface="Poppins"/>
                <a:ea typeface="Poppins"/>
                <a:cs typeface="Poppins"/>
                <a:sym typeface="Poppins"/>
              </a:rPr>
              <a:t>Azure SQL Server admite todas las ediciones de SQL Server, incluidas Enterprise, Standard y Express, y proporciona muchas funciones y beneficios</a:t>
            </a:r>
          </a:p>
        </p:txBody>
      </p:sp>
      <p:sp>
        <p:nvSpPr>
          <p:cNvPr name="TextBox 12" id="12"/>
          <p:cNvSpPr txBox="true"/>
          <p:nvPr/>
        </p:nvSpPr>
        <p:spPr>
          <a:xfrm rot="0">
            <a:off x="1028700" y="971550"/>
            <a:ext cx="11753661"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¿Qué es Azure SQL Database?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8249"/>
            <a:chOff x="0" y="0"/>
            <a:chExt cx="4816593" cy="2709662"/>
          </a:xfrm>
        </p:grpSpPr>
        <p:sp>
          <p:nvSpPr>
            <p:cNvPr name="Freeform 3" id="3"/>
            <p:cNvSpPr/>
            <p:nvPr/>
          </p:nvSpPr>
          <p:spPr>
            <a:xfrm flipH="false" flipV="false" rot="0">
              <a:off x="0" y="0"/>
              <a:ext cx="4816592" cy="2709662"/>
            </a:xfrm>
            <a:custGeom>
              <a:avLst/>
              <a:gdLst/>
              <a:ahLst/>
              <a:cxnLst/>
              <a:rect r="r" b="b" t="t" l="l"/>
              <a:pathLst>
                <a:path h="2709662" w="4816592">
                  <a:moveTo>
                    <a:pt x="0" y="0"/>
                  </a:moveTo>
                  <a:lnTo>
                    <a:pt x="4816592" y="0"/>
                  </a:lnTo>
                  <a:lnTo>
                    <a:pt x="4816592" y="2709662"/>
                  </a:lnTo>
                  <a:lnTo>
                    <a:pt x="0" y="2709662"/>
                  </a:lnTo>
                  <a:close/>
                </a:path>
              </a:pathLst>
            </a:custGeom>
            <a:solidFill>
              <a:srgbClr val="071C42"/>
            </a:solidFill>
          </p:spPr>
        </p:sp>
        <p:sp>
          <p:nvSpPr>
            <p:cNvPr name="TextBox 4" id="4"/>
            <p:cNvSpPr txBox="true"/>
            <p:nvPr/>
          </p:nvSpPr>
          <p:spPr>
            <a:xfrm>
              <a:off x="0" y="-38100"/>
              <a:ext cx="4816593" cy="274776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9999516"/>
            <a:ext cx="6212838" cy="288733"/>
            <a:chOff x="0" y="0"/>
            <a:chExt cx="1636303" cy="76045"/>
          </a:xfrm>
        </p:grpSpPr>
        <p:sp>
          <p:nvSpPr>
            <p:cNvPr name="Freeform 6" id="6"/>
            <p:cNvSpPr/>
            <p:nvPr/>
          </p:nvSpPr>
          <p:spPr>
            <a:xfrm flipH="false" flipV="false" rot="0">
              <a:off x="0" y="0"/>
              <a:ext cx="1636303" cy="76045"/>
            </a:xfrm>
            <a:custGeom>
              <a:avLst/>
              <a:gdLst/>
              <a:ahLst/>
              <a:cxnLst/>
              <a:rect r="r" b="b" t="t" l="l"/>
              <a:pathLst>
                <a:path h="76045" w="1636303">
                  <a:moveTo>
                    <a:pt x="0" y="0"/>
                  </a:moveTo>
                  <a:lnTo>
                    <a:pt x="1636303" y="0"/>
                  </a:lnTo>
                  <a:lnTo>
                    <a:pt x="1636303" y="76045"/>
                  </a:lnTo>
                  <a:lnTo>
                    <a:pt x="0" y="76045"/>
                  </a:lnTo>
                  <a:close/>
                </a:path>
              </a:pathLst>
            </a:custGeom>
            <a:solidFill>
              <a:srgbClr val="3DCAB1"/>
            </a:solidFill>
          </p:spPr>
        </p:sp>
        <p:sp>
          <p:nvSpPr>
            <p:cNvPr name="TextBox 7" id="7"/>
            <p:cNvSpPr txBox="true"/>
            <p:nvPr/>
          </p:nvSpPr>
          <p:spPr>
            <a:xfrm>
              <a:off x="0" y="-38100"/>
              <a:ext cx="1636303" cy="114145"/>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2249182" y="6716672"/>
            <a:ext cx="9005307" cy="6565688"/>
          </a:xfrm>
          <a:custGeom>
            <a:avLst/>
            <a:gdLst/>
            <a:ahLst/>
            <a:cxnLst/>
            <a:rect r="r" b="b" t="t" l="l"/>
            <a:pathLst>
              <a:path h="6565688" w="9005307">
                <a:moveTo>
                  <a:pt x="0" y="0"/>
                </a:moveTo>
                <a:lnTo>
                  <a:pt x="9005307" y="0"/>
                </a:lnTo>
                <a:lnTo>
                  <a:pt x="9005307"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249182" y="2395460"/>
            <a:ext cx="5498300" cy="6056000"/>
          </a:xfrm>
          <a:custGeom>
            <a:avLst/>
            <a:gdLst/>
            <a:ahLst/>
            <a:cxnLst/>
            <a:rect r="r" b="b" t="t" l="l"/>
            <a:pathLst>
              <a:path h="6056000" w="5498300">
                <a:moveTo>
                  <a:pt x="0" y="0"/>
                </a:moveTo>
                <a:lnTo>
                  <a:pt x="5498300" y="0"/>
                </a:lnTo>
                <a:lnTo>
                  <a:pt x="5498300" y="6056000"/>
                </a:lnTo>
                <a:lnTo>
                  <a:pt x="0" y="6056000"/>
                </a:lnTo>
                <a:lnTo>
                  <a:pt x="0" y="0"/>
                </a:lnTo>
                <a:close/>
              </a:path>
            </a:pathLst>
          </a:custGeom>
          <a:blipFill>
            <a:blip r:embed="rId4"/>
            <a:stretch>
              <a:fillRect l="-48177" t="0" r="-48177" b="0"/>
            </a:stretch>
          </a:blipFill>
        </p:spPr>
      </p:sp>
      <p:sp>
        <p:nvSpPr>
          <p:cNvPr name="TextBox 11" id="11"/>
          <p:cNvSpPr txBox="true"/>
          <p:nvPr/>
        </p:nvSpPr>
        <p:spPr>
          <a:xfrm rot="0">
            <a:off x="1172924" y="2668387"/>
            <a:ext cx="10079829" cy="4312415"/>
          </a:xfrm>
          <a:prstGeom prst="rect">
            <a:avLst/>
          </a:prstGeom>
        </p:spPr>
        <p:txBody>
          <a:bodyPr anchor="t" rtlCol="false" tIns="0" lIns="0" bIns="0" rIns="0">
            <a:spAutoFit/>
          </a:bodyPr>
          <a:lstStyle/>
          <a:p>
            <a:pPr algn="just">
              <a:lnSpc>
                <a:spcPts val="4271"/>
              </a:lnSpc>
            </a:pPr>
            <a:r>
              <a:rPr lang="en-US" sz="2669">
                <a:solidFill>
                  <a:srgbClr val="EEF2F5"/>
                </a:solidFill>
                <a:latin typeface="Poppins"/>
                <a:ea typeface="Poppins"/>
                <a:cs typeface="Poppins"/>
                <a:sym typeface="Poppins"/>
              </a:rPr>
              <a:t>Azure SQL Database se basa en la versión estable más reciente del motor de base de datos de Microsoft SQL Server. Puede usar características avanzadas de procesamiento de consultas, como las tecnologías en memoria de alto rendimiento y el procesamiento de consultas inteligente. De hecho, las funcionalidades más recientes de SQL Server se publican primero en Azure SQL Database y, después, en el propio SQL Server.</a:t>
            </a:r>
          </a:p>
        </p:txBody>
      </p:sp>
      <p:sp>
        <p:nvSpPr>
          <p:cNvPr name="TextBox 12" id="12"/>
          <p:cNvSpPr txBox="true"/>
          <p:nvPr/>
        </p:nvSpPr>
        <p:spPr>
          <a:xfrm rot="0">
            <a:off x="1028700" y="971550"/>
            <a:ext cx="11753661"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¿Qué es Azure SQL Database?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54584" y="1657350"/>
            <a:ext cx="11133416" cy="1714500"/>
            <a:chOff x="0" y="0"/>
            <a:chExt cx="2639032" cy="406400"/>
          </a:xfrm>
        </p:grpSpPr>
        <p:sp>
          <p:nvSpPr>
            <p:cNvPr name="Freeform 3" id="3"/>
            <p:cNvSpPr/>
            <p:nvPr/>
          </p:nvSpPr>
          <p:spPr>
            <a:xfrm flipH="false" flipV="false" rot="0">
              <a:off x="0" y="0"/>
              <a:ext cx="2639032" cy="406400"/>
            </a:xfrm>
            <a:custGeom>
              <a:avLst/>
              <a:gdLst/>
              <a:ahLst/>
              <a:cxnLst/>
              <a:rect r="r" b="b" t="t" l="l"/>
              <a:pathLst>
                <a:path h="406400" w="2639032">
                  <a:moveTo>
                    <a:pt x="0" y="0"/>
                  </a:moveTo>
                  <a:lnTo>
                    <a:pt x="2639032" y="0"/>
                  </a:lnTo>
                  <a:lnTo>
                    <a:pt x="2639032" y="406400"/>
                  </a:lnTo>
                  <a:lnTo>
                    <a:pt x="0" y="406400"/>
                  </a:lnTo>
                  <a:close/>
                </a:path>
              </a:pathLst>
            </a:custGeom>
            <a:solidFill>
              <a:srgbClr val="071C42"/>
            </a:solidFill>
          </p:spPr>
        </p:sp>
        <p:sp>
          <p:nvSpPr>
            <p:cNvPr name="TextBox 4" id="4"/>
            <p:cNvSpPr txBox="true"/>
            <p:nvPr/>
          </p:nvSpPr>
          <p:spPr>
            <a:xfrm>
              <a:off x="0" y="-66675"/>
              <a:ext cx="2639032" cy="473075"/>
            </a:xfrm>
            <a:prstGeom prst="rect">
              <a:avLst/>
            </a:prstGeom>
          </p:spPr>
          <p:txBody>
            <a:bodyPr anchor="ctr" rtlCol="false" tIns="50800" lIns="50800" bIns="50800" rIns="50800"/>
            <a:lstStyle/>
            <a:p>
              <a:pPr algn="ctr">
                <a:lnSpc>
                  <a:spcPts val="3359"/>
                </a:lnSpc>
                <a:spcBef>
                  <a:spcPct val="0"/>
                </a:spcBef>
              </a:pPr>
            </a:p>
          </p:txBody>
        </p:sp>
      </p:grpSp>
      <p:grpSp>
        <p:nvGrpSpPr>
          <p:cNvPr name="Group 5" id="5"/>
          <p:cNvGrpSpPr/>
          <p:nvPr/>
        </p:nvGrpSpPr>
        <p:grpSpPr>
          <a:xfrm rot="0">
            <a:off x="7154584" y="3312794"/>
            <a:ext cx="11133416" cy="1714500"/>
            <a:chOff x="0" y="0"/>
            <a:chExt cx="2639032" cy="406400"/>
          </a:xfrm>
        </p:grpSpPr>
        <p:sp>
          <p:nvSpPr>
            <p:cNvPr name="Freeform 6" id="6"/>
            <p:cNvSpPr/>
            <p:nvPr/>
          </p:nvSpPr>
          <p:spPr>
            <a:xfrm flipH="false" flipV="false" rot="0">
              <a:off x="0" y="0"/>
              <a:ext cx="2639032" cy="406400"/>
            </a:xfrm>
            <a:custGeom>
              <a:avLst/>
              <a:gdLst/>
              <a:ahLst/>
              <a:cxnLst/>
              <a:rect r="r" b="b" t="t" l="l"/>
              <a:pathLst>
                <a:path h="406400" w="2639032">
                  <a:moveTo>
                    <a:pt x="0" y="0"/>
                  </a:moveTo>
                  <a:lnTo>
                    <a:pt x="2639032" y="0"/>
                  </a:lnTo>
                  <a:lnTo>
                    <a:pt x="2639032" y="406400"/>
                  </a:lnTo>
                  <a:lnTo>
                    <a:pt x="0" y="406400"/>
                  </a:lnTo>
                  <a:close/>
                </a:path>
              </a:pathLst>
            </a:custGeom>
            <a:solidFill>
              <a:srgbClr val="3DCAB1"/>
            </a:solidFill>
          </p:spPr>
        </p:sp>
        <p:sp>
          <p:nvSpPr>
            <p:cNvPr name="TextBox 7" id="7"/>
            <p:cNvSpPr txBox="true"/>
            <p:nvPr/>
          </p:nvSpPr>
          <p:spPr>
            <a:xfrm>
              <a:off x="0" y="-66675"/>
              <a:ext cx="2639032" cy="473075"/>
            </a:xfrm>
            <a:prstGeom prst="rect">
              <a:avLst/>
            </a:prstGeom>
          </p:spPr>
          <p:txBody>
            <a:bodyPr anchor="ctr" rtlCol="false" tIns="50800" lIns="50800" bIns="50800" rIns="50800"/>
            <a:lstStyle/>
            <a:p>
              <a:pPr algn="ctr">
                <a:lnSpc>
                  <a:spcPts val="3359"/>
                </a:lnSpc>
                <a:spcBef>
                  <a:spcPct val="0"/>
                </a:spcBef>
              </a:pPr>
            </a:p>
          </p:txBody>
        </p:sp>
      </p:grpSp>
      <p:sp>
        <p:nvSpPr>
          <p:cNvPr name="Freeform 8" id="8"/>
          <p:cNvSpPr/>
          <p:nvPr/>
        </p:nvSpPr>
        <p:spPr>
          <a:xfrm flipH="true" flipV="false" rot="0">
            <a:off x="-2861667" y="-805804"/>
            <a:ext cx="8166327" cy="6636996"/>
          </a:xfrm>
          <a:custGeom>
            <a:avLst/>
            <a:gdLst/>
            <a:ahLst/>
            <a:cxnLst/>
            <a:rect r="r" b="b" t="t" l="l"/>
            <a:pathLst>
              <a:path h="6636996" w="8166327">
                <a:moveTo>
                  <a:pt x="8166327" y="0"/>
                </a:moveTo>
                <a:lnTo>
                  <a:pt x="0" y="0"/>
                </a:lnTo>
                <a:lnTo>
                  <a:pt x="0" y="6636996"/>
                </a:lnTo>
                <a:lnTo>
                  <a:pt x="8166327" y="6636996"/>
                </a:lnTo>
                <a:lnTo>
                  <a:pt x="816632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7154584" y="5027294"/>
            <a:ext cx="11133416" cy="1714500"/>
            <a:chOff x="0" y="0"/>
            <a:chExt cx="2639032" cy="406400"/>
          </a:xfrm>
        </p:grpSpPr>
        <p:sp>
          <p:nvSpPr>
            <p:cNvPr name="Freeform 10" id="10"/>
            <p:cNvSpPr/>
            <p:nvPr/>
          </p:nvSpPr>
          <p:spPr>
            <a:xfrm flipH="false" flipV="false" rot="0">
              <a:off x="0" y="0"/>
              <a:ext cx="2639032" cy="406400"/>
            </a:xfrm>
            <a:custGeom>
              <a:avLst/>
              <a:gdLst/>
              <a:ahLst/>
              <a:cxnLst/>
              <a:rect r="r" b="b" t="t" l="l"/>
              <a:pathLst>
                <a:path h="406400" w="2639032">
                  <a:moveTo>
                    <a:pt x="0" y="0"/>
                  </a:moveTo>
                  <a:lnTo>
                    <a:pt x="2639032" y="0"/>
                  </a:lnTo>
                  <a:lnTo>
                    <a:pt x="2639032" y="406400"/>
                  </a:lnTo>
                  <a:lnTo>
                    <a:pt x="0" y="406400"/>
                  </a:lnTo>
                  <a:close/>
                </a:path>
              </a:pathLst>
            </a:custGeom>
            <a:solidFill>
              <a:srgbClr val="071C42"/>
            </a:solidFill>
          </p:spPr>
        </p:sp>
        <p:sp>
          <p:nvSpPr>
            <p:cNvPr name="TextBox 11" id="11"/>
            <p:cNvSpPr txBox="true"/>
            <p:nvPr/>
          </p:nvSpPr>
          <p:spPr>
            <a:xfrm>
              <a:off x="0" y="-66675"/>
              <a:ext cx="2639032" cy="473075"/>
            </a:xfrm>
            <a:prstGeom prst="rect">
              <a:avLst/>
            </a:prstGeom>
          </p:spPr>
          <p:txBody>
            <a:bodyPr anchor="ctr" rtlCol="false" tIns="50800" lIns="50800" bIns="50800" rIns="50800"/>
            <a:lstStyle/>
            <a:p>
              <a:pPr algn="ctr">
                <a:lnSpc>
                  <a:spcPts val="3359"/>
                </a:lnSpc>
                <a:spcBef>
                  <a:spcPct val="0"/>
                </a:spcBef>
              </a:pPr>
            </a:p>
          </p:txBody>
        </p:sp>
      </p:grpSp>
      <p:grpSp>
        <p:nvGrpSpPr>
          <p:cNvPr name="Group 12" id="12"/>
          <p:cNvGrpSpPr/>
          <p:nvPr/>
        </p:nvGrpSpPr>
        <p:grpSpPr>
          <a:xfrm rot="0">
            <a:off x="7154584" y="6741794"/>
            <a:ext cx="11133416" cy="1773556"/>
            <a:chOff x="0" y="0"/>
            <a:chExt cx="2639032" cy="420398"/>
          </a:xfrm>
        </p:grpSpPr>
        <p:sp>
          <p:nvSpPr>
            <p:cNvPr name="Freeform 13" id="13"/>
            <p:cNvSpPr/>
            <p:nvPr/>
          </p:nvSpPr>
          <p:spPr>
            <a:xfrm flipH="false" flipV="false" rot="0">
              <a:off x="0" y="0"/>
              <a:ext cx="2639032" cy="420398"/>
            </a:xfrm>
            <a:custGeom>
              <a:avLst/>
              <a:gdLst/>
              <a:ahLst/>
              <a:cxnLst/>
              <a:rect r="r" b="b" t="t" l="l"/>
              <a:pathLst>
                <a:path h="420398" w="2639032">
                  <a:moveTo>
                    <a:pt x="0" y="0"/>
                  </a:moveTo>
                  <a:lnTo>
                    <a:pt x="2639032" y="0"/>
                  </a:lnTo>
                  <a:lnTo>
                    <a:pt x="2639032" y="420398"/>
                  </a:lnTo>
                  <a:lnTo>
                    <a:pt x="0" y="420398"/>
                  </a:lnTo>
                  <a:close/>
                </a:path>
              </a:pathLst>
            </a:custGeom>
            <a:solidFill>
              <a:srgbClr val="3DCAB1"/>
            </a:solidFill>
          </p:spPr>
        </p:sp>
        <p:sp>
          <p:nvSpPr>
            <p:cNvPr name="TextBox 14" id="14"/>
            <p:cNvSpPr txBox="true"/>
            <p:nvPr/>
          </p:nvSpPr>
          <p:spPr>
            <a:xfrm>
              <a:off x="0" y="-66675"/>
              <a:ext cx="2639032" cy="487073"/>
            </a:xfrm>
            <a:prstGeom prst="rect">
              <a:avLst/>
            </a:prstGeom>
          </p:spPr>
          <p:txBody>
            <a:bodyPr anchor="ctr" rtlCol="false" tIns="50800" lIns="50800" bIns="50800" rIns="50800"/>
            <a:lstStyle/>
            <a:p>
              <a:pPr algn="ctr">
                <a:lnSpc>
                  <a:spcPts val="3359"/>
                </a:lnSpc>
                <a:spcBef>
                  <a:spcPct val="0"/>
                </a:spcBef>
              </a:pPr>
            </a:p>
          </p:txBody>
        </p:sp>
      </p:grpSp>
      <p:sp>
        <p:nvSpPr>
          <p:cNvPr name="Freeform 15" id="15"/>
          <p:cNvSpPr/>
          <p:nvPr/>
        </p:nvSpPr>
        <p:spPr>
          <a:xfrm flipH="false" flipV="false" rot="0">
            <a:off x="7543616" y="1961842"/>
            <a:ext cx="1141179" cy="1105517"/>
          </a:xfrm>
          <a:custGeom>
            <a:avLst/>
            <a:gdLst/>
            <a:ahLst/>
            <a:cxnLst/>
            <a:rect r="r" b="b" t="t" l="l"/>
            <a:pathLst>
              <a:path h="1105517" w="1141179">
                <a:moveTo>
                  <a:pt x="0" y="0"/>
                </a:moveTo>
                <a:lnTo>
                  <a:pt x="1141179" y="0"/>
                </a:lnTo>
                <a:lnTo>
                  <a:pt x="1141179" y="1105516"/>
                </a:lnTo>
                <a:lnTo>
                  <a:pt x="0" y="1105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7505855" y="5227319"/>
            <a:ext cx="1146078" cy="1354302"/>
          </a:xfrm>
          <a:custGeom>
            <a:avLst/>
            <a:gdLst/>
            <a:ahLst/>
            <a:cxnLst/>
            <a:rect r="r" b="b" t="t" l="l"/>
            <a:pathLst>
              <a:path h="1354302" w="1146078">
                <a:moveTo>
                  <a:pt x="0" y="0"/>
                </a:moveTo>
                <a:lnTo>
                  <a:pt x="1146078" y="0"/>
                </a:lnTo>
                <a:lnTo>
                  <a:pt x="1146078" y="1354302"/>
                </a:lnTo>
                <a:lnTo>
                  <a:pt x="0" y="13543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7543616" y="7074414"/>
            <a:ext cx="1108317" cy="1108317"/>
          </a:xfrm>
          <a:custGeom>
            <a:avLst/>
            <a:gdLst/>
            <a:ahLst/>
            <a:cxnLst/>
            <a:rect r="r" b="b" t="t" l="l"/>
            <a:pathLst>
              <a:path h="1108317" w="1108317">
                <a:moveTo>
                  <a:pt x="0" y="0"/>
                </a:moveTo>
                <a:lnTo>
                  <a:pt x="1108317" y="0"/>
                </a:lnTo>
                <a:lnTo>
                  <a:pt x="1108317" y="1108316"/>
                </a:lnTo>
                <a:lnTo>
                  <a:pt x="0" y="11083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1028700" y="4546282"/>
            <a:ext cx="4643986" cy="904875"/>
          </a:xfrm>
          <a:prstGeom prst="rect">
            <a:avLst/>
          </a:prstGeom>
        </p:spPr>
        <p:txBody>
          <a:bodyPr anchor="t" rtlCol="false" tIns="0" lIns="0" bIns="0" rIns="0">
            <a:spAutoFit/>
          </a:bodyPr>
          <a:lstStyle/>
          <a:p>
            <a:pPr algn="ctr">
              <a:lnSpc>
                <a:spcPts val="6719"/>
              </a:lnSpc>
            </a:pPr>
            <a:r>
              <a:rPr lang="en-US" sz="5599" b="true">
                <a:solidFill>
                  <a:srgbClr val="101010"/>
                </a:solidFill>
                <a:latin typeface="Poppins Bold"/>
                <a:ea typeface="Poppins Bold"/>
                <a:cs typeface="Poppins Bold"/>
                <a:sym typeface="Poppins Bold"/>
              </a:rPr>
              <a:t>Beneficios</a:t>
            </a:r>
          </a:p>
        </p:txBody>
      </p:sp>
      <p:sp>
        <p:nvSpPr>
          <p:cNvPr name="Freeform 19" id="19"/>
          <p:cNvSpPr/>
          <p:nvPr/>
        </p:nvSpPr>
        <p:spPr>
          <a:xfrm flipH="false" flipV="false" rot="0">
            <a:off x="7505855" y="3571662"/>
            <a:ext cx="1120470" cy="1196764"/>
          </a:xfrm>
          <a:custGeom>
            <a:avLst/>
            <a:gdLst/>
            <a:ahLst/>
            <a:cxnLst/>
            <a:rect r="r" b="b" t="t" l="l"/>
            <a:pathLst>
              <a:path h="1196764" w="1120470">
                <a:moveTo>
                  <a:pt x="0" y="0"/>
                </a:moveTo>
                <a:lnTo>
                  <a:pt x="1120469" y="0"/>
                </a:lnTo>
                <a:lnTo>
                  <a:pt x="1120469" y="1196764"/>
                </a:lnTo>
                <a:lnTo>
                  <a:pt x="0" y="11967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9706503" y="7137717"/>
            <a:ext cx="6029578" cy="915035"/>
          </a:xfrm>
          <a:prstGeom prst="rect">
            <a:avLst/>
          </a:prstGeom>
        </p:spPr>
        <p:txBody>
          <a:bodyPr anchor="t" rtlCol="false" tIns="0" lIns="0" bIns="0" rIns="0">
            <a:spAutoFit/>
          </a:bodyPr>
          <a:lstStyle/>
          <a:p>
            <a:pPr algn="ctr" marL="0" indent="0" lvl="0">
              <a:lnSpc>
                <a:spcPts val="3639"/>
              </a:lnSpc>
              <a:spcBef>
                <a:spcPct val="0"/>
              </a:spcBef>
            </a:pPr>
            <a:r>
              <a:rPr lang="en-US" sz="2599">
                <a:solidFill>
                  <a:srgbClr val="EEF2F5"/>
                </a:solidFill>
                <a:latin typeface="Poppins"/>
                <a:ea typeface="Poppins"/>
                <a:cs typeface="Poppins"/>
                <a:sym typeface="Poppins"/>
              </a:rPr>
              <a:t>Facil integración con otras herramientas de Azure</a:t>
            </a:r>
          </a:p>
        </p:txBody>
      </p:sp>
      <p:sp>
        <p:nvSpPr>
          <p:cNvPr name="TextBox 21" id="21"/>
          <p:cNvSpPr txBox="true"/>
          <p:nvPr/>
        </p:nvSpPr>
        <p:spPr>
          <a:xfrm rot="0">
            <a:off x="11867837" y="5598794"/>
            <a:ext cx="1706910" cy="457835"/>
          </a:xfrm>
          <a:prstGeom prst="rect">
            <a:avLst/>
          </a:prstGeom>
        </p:spPr>
        <p:txBody>
          <a:bodyPr anchor="t" rtlCol="false" tIns="0" lIns="0" bIns="0" rIns="0">
            <a:spAutoFit/>
          </a:bodyPr>
          <a:lstStyle/>
          <a:p>
            <a:pPr algn="ctr" marL="0" indent="0" lvl="0">
              <a:lnSpc>
                <a:spcPts val="3639"/>
              </a:lnSpc>
              <a:spcBef>
                <a:spcPct val="0"/>
              </a:spcBef>
            </a:pPr>
            <a:r>
              <a:rPr lang="en-US" sz="2599">
                <a:solidFill>
                  <a:srgbClr val="EEF2F5"/>
                </a:solidFill>
                <a:latin typeface="Poppins"/>
                <a:ea typeface="Poppins"/>
                <a:cs typeface="Poppins"/>
                <a:sym typeface="Poppins"/>
              </a:rPr>
              <a:t>Seguridad</a:t>
            </a:r>
          </a:p>
        </p:txBody>
      </p:sp>
      <p:sp>
        <p:nvSpPr>
          <p:cNvPr name="TextBox 22" id="22"/>
          <p:cNvSpPr txBox="true"/>
          <p:nvPr/>
        </p:nvSpPr>
        <p:spPr>
          <a:xfrm rot="0">
            <a:off x="11618252" y="3937317"/>
            <a:ext cx="2206079" cy="457835"/>
          </a:xfrm>
          <a:prstGeom prst="rect">
            <a:avLst/>
          </a:prstGeom>
        </p:spPr>
        <p:txBody>
          <a:bodyPr anchor="t" rtlCol="false" tIns="0" lIns="0" bIns="0" rIns="0">
            <a:spAutoFit/>
          </a:bodyPr>
          <a:lstStyle/>
          <a:p>
            <a:pPr algn="ctr" marL="0" indent="0" lvl="0">
              <a:lnSpc>
                <a:spcPts val="3639"/>
              </a:lnSpc>
              <a:spcBef>
                <a:spcPct val="0"/>
              </a:spcBef>
            </a:pPr>
            <a:r>
              <a:rPr lang="en-US" sz="2599">
                <a:solidFill>
                  <a:srgbClr val="EEF2F5"/>
                </a:solidFill>
                <a:latin typeface="Poppins"/>
                <a:ea typeface="Poppins"/>
                <a:cs typeface="Poppins"/>
                <a:sym typeface="Poppins"/>
              </a:rPr>
              <a:t>Escalabilidad</a:t>
            </a:r>
          </a:p>
        </p:txBody>
      </p:sp>
      <p:sp>
        <p:nvSpPr>
          <p:cNvPr name="TextBox 23" id="23"/>
          <p:cNvSpPr txBox="true"/>
          <p:nvPr/>
        </p:nvSpPr>
        <p:spPr>
          <a:xfrm rot="0">
            <a:off x="11183674" y="2388234"/>
            <a:ext cx="3075236" cy="457835"/>
          </a:xfrm>
          <a:prstGeom prst="rect">
            <a:avLst/>
          </a:prstGeom>
        </p:spPr>
        <p:txBody>
          <a:bodyPr anchor="t" rtlCol="false" tIns="0" lIns="0" bIns="0" rIns="0">
            <a:spAutoFit/>
          </a:bodyPr>
          <a:lstStyle/>
          <a:p>
            <a:pPr algn="ctr" marL="0" indent="0" lvl="0">
              <a:lnSpc>
                <a:spcPts val="3639"/>
              </a:lnSpc>
              <a:spcBef>
                <a:spcPct val="0"/>
              </a:spcBef>
            </a:pPr>
            <a:r>
              <a:rPr lang="en-US" sz="2599">
                <a:solidFill>
                  <a:srgbClr val="EEF2F5"/>
                </a:solidFill>
                <a:latin typeface="Poppins"/>
                <a:ea typeface="Poppins"/>
                <a:cs typeface="Poppins"/>
                <a:sym typeface="Poppins"/>
              </a:rPr>
              <a:t>Alta disponibilidad</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TextBox 2" id="2"/>
          <p:cNvSpPr txBox="true"/>
          <p:nvPr/>
        </p:nvSpPr>
        <p:spPr>
          <a:xfrm rot="0">
            <a:off x="3803461" y="1370812"/>
            <a:ext cx="10681078"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Documentación Amazon RDS</a:t>
            </a:r>
          </a:p>
        </p:txBody>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4" id="4"/>
          <p:cNvSpPr/>
          <p:nvPr/>
        </p:nvSpPr>
        <p:spPr>
          <a:xfrm flipH="true" flipV="false" rot="0">
            <a:off x="-1811192" y="1427962"/>
            <a:ext cx="9143383" cy="7431077"/>
          </a:xfrm>
          <a:custGeom>
            <a:avLst/>
            <a:gdLst/>
            <a:ahLst/>
            <a:cxnLst/>
            <a:rect r="r" b="b" t="t" l="l"/>
            <a:pathLst>
              <a:path h="7431077" w="9143383">
                <a:moveTo>
                  <a:pt x="9143383" y="0"/>
                </a:moveTo>
                <a:lnTo>
                  <a:pt x="0" y="0"/>
                </a:lnTo>
                <a:lnTo>
                  <a:pt x="0" y="7431076"/>
                </a:lnTo>
                <a:lnTo>
                  <a:pt x="9143383" y="7431076"/>
                </a:lnTo>
                <a:lnTo>
                  <a:pt x="9143383"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981917" y="9998267"/>
            <a:ext cx="9995383" cy="288733"/>
            <a:chOff x="0" y="0"/>
            <a:chExt cx="2632529" cy="76045"/>
          </a:xfrm>
        </p:grpSpPr>
        <p:sp>
          <p:nvSpPr>
            <p:cNvPr name="Freeform 6" id="6"/>
            <p:cNvSpPr/>
            <p:nvPr/>
          </p:nvSpPr>
          <p:spPr>
            <a:xfrm flipH="false" flipV="false" rot="0">
              <a:off x="0" y="0"/>
              <a:ext cx="2632529" cy="76045"/>
            </a:xfrm>
            <a:custGeom>
              <a:avLst/>
              <a:gdLst/>
              <a:ahLst/>
              <a:cxnLst/>
              <a:rect r="r" b="b" t="t" l="l"/>
              <a:pathLst>
                <a:path h="76045" w="2632529">
                  <a:moveTo>
                    <a:pt x="0" y="0"/>
                  </a:moveTo>
                  <a:lnTo>
                    <a:pt x="2632529" y="0"/>
                  </a:lnTo>
                  <a:lnTo>
                    <a:pt x="2632529" y="76045"/>
                  </a:lnTo>
                  <a:lnTo>
                    <a:pt x="0" y="76045"/>
                  </a:lnTo>
                  <a:close/>
                </a:path>
              </a:pathLst>
            </a:custGeom>
            <a:solidFill>
              <a:srgbClr val="3DCAB1"/>
            </a:solidFill>
          </p:spPr>
        </p:sp>
        <p:sp>
          <p:nvSpPr>
            <p:cNvPr name="TextBox 7" id="7"/>
            <p:cNvSpPr txBox="true"/>
            <p:nvPr/>
          </p:nvSpPr>
          <p:spPr>
            <a:xfrm>
              <a:off x="0" y="-38100"/>
              <a:ext cx="2632529"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7010861" y="3002324"/>
            <a:ext cx="4282352" cy="4282352"/>
          </a:xfrm>
          <a:custGeom>
            <a:avLst/>
            <a:gdLst/>
            <a:ahLst/>
            <a:cxnLst/>
            <a:rect r="r" b="b" t="t" l="l"/>
            <a:pathLst>
              <a:path h="4282352" w="4282352">
                <a:moveTo>
                  <a:pt x="0" y="0"/>
                </a:moveTo>
                <a:lnTo>
                  <a:pt x="4282352" y="0"/>
                </a:lnTo>
                <a:lnTo>
                  <a:pt x="4282352" y="4282352"/>
                </a:lnTo>
                <a:lnTo>
                  <a:pt x="0" y="4282352"/>
                </a:lnTo>
                <a:lnTo>
                  <a:pt x="0" y="0"/>
                </a:lnTo>
                <a:close/>
              </a:path>
            </a:pathLst>
          </a:custGeom>
          <a:blipFill>
            <a:blip r:embed="rId4"/>
            <a:stretch>
              <a:fillRect l="0" t="0" r="0" b="0"/>
            </a:stretch>
          </a:blipFill>
        </p:spPr>
      </p:sp>
      <p:sp>
        <p:nvSpPr>
          <p:cNvPr name="TextBox 9" id="9"/>
          <p:cNvSpPr txBox="true"/>
          <p:nvPr/>
        </p:nvSpPr>
        <p:spPr>
          <a:xfrm rot="0">
            <a:off x="7204397" y="8392313"/>
            <a:ext cx="3895279" cy="466725"/>
          </a:xfrm>
          <a:prstGeom prst="rect">
            <a:avLst/>
          </a:prstGeom>
        </p:spPr>
        <p:txBody>
          <a:bodyPr anchor="t" rtlCol="false" tIns="0" lIns="0" bIns="0" rIns="0">
            <a:spAutoFit/>
          </a:bodyPr>
          <a:lstStyle/>
          <a:p>
            <a:pPr algn="l">
              <a:lnSpc>
                <a:spcPts val="3599"/>
              </a:lnSpc>
            </a:pPr>
            <a:r>
              <a:rPr lang="en-US" sz="2999" u="sng">
                <a:solidFill>
                  <a:srgbClr val="FFFFFF"/>
                </a:solidFill>
                <a:latin typeface="Poppins"/>
                <a:ea typeface="Poppins"/>
                <a:cs typeface="Poppins"/>
                <a:sym typeface="Poppins"/>
                <a:hlinkClick r:id="rId5" tooltip="https://aws.amazon.com/es/rds/"/>
              </a:rPr>
              <a:t>Documentación RDS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TextBox 2" id="2"/>
          <p:cNvSpPr txBox="true"/>
          <p:nvPr/>
        </p:nvSpPr>
        <p:spPr>
          <a:xfrm rot="0">
            <a:off x="3096531" y="1370812"/>
            <a:ext cx="12094937"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Documentación Amazon Aurora</a:t>
            </a:r>
          </a:p>
        </p:txBody>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4" id="4"/>
          <p:cNvSpPr/>
          <p:nvPr/>
        </p:nvSpPr>
        <p:spPr>
          <a:xfrm flipH="true" flipV="false" rot="0">
            <a:off x="-1811192" y="1427962"/>
            <a:ext cx="9143383" cy="7431077"/>
          </a:xfrm>
          <a:custGeom>
            <a:avLst/>
            <a:gdLst/>
            <a:ahLst/>
            <a:cxnLst/>
            <a:rect r="r" b="b" t="t" l="l"/>
            <a:pathLst>
              <a:path h="7431077" w="9143383">
                <a:moveTo>
                  <a:pt x="9143383" y="0"/>
                </a:moveTo>
                <a:lnTo>
                  <a:pt x="0" y="0"/>
                </a:lnTo>
                <a:lnTo>
                  <a:pt x="0" y="7431076"/>
                </a:lnTo>
                <a:lnTo>
                  <a:pt x="9143383" y="7431076"/>
                </a:lnTo>
                <a:lnTo>
                  <a:pt x="9143383"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981917" y="9998267"/>
            <a:ext cx="9995383" cy="288733"/>
            <a:chOff x="0" y="0"/>
            <a:chExt cx="2632529" cy="76045"/>
          </a:xfrm>
        </p:grpSpPr>
        <p:sp>
          <p:nvSpPr>
            <p:cNvPr name="Freeform 6" id="6"/>
            <p:cNvSpPr/>
            <p:nvPr/>
          </p:nvSpPr>
          <p:spPr>
            <a:xfrm flipH="false" flipV="false" rot="0">
              <a:off x="0" y="0"/>
              <a:ext cx="2632529" cy="76045"/>
            </a:xfrm>
            <a:custGeom>
              <a:avLst/>
              <a:gdLst/>
              <a:ahLst/>
              <a:cxnLst/>
              <a:rect r="r" b="b" t="t" l="l"/>
              <a:pathLst>
                <a:path h="76045" w="2632529">
                  <a:moveTo>
                    <a:pt x="0" y="0"/>
                  </a:moveTo>
                  <a:lnTo>
                    <a:pt x="2632529" y="0"/>
                  </a:lnTo>
                  <a:lnTo>
                    <a:pt x="2632529" y="76045"/>
                  </a:lnTo>
                  <a:lnTo>
                    <a:pt x="0" y="76045"/>
                  </a:lnTo>
                  <a:close/>
                </a:path>
              </a:pathLst>
            </a:custGeom>
            <a:solidFill>
              <a:srgbClr val="3DCAB1"/>
            </a:solidFill>
          </p:spPr>
        </p:sp>
        <p:sp>
          <p:nvSpPr>
            <p:cNvPr name="TextBox 7" id="7"/>
            <p:cNvSpPr txBox="true"/>
            <p:nvPr/>
          </p:nvSpPr>
          <p:spPr>
            <a:xfrm>
              <a:off x="0" y="-38100"/>
              <a:ext cx="2632529"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860626" y="3060151"/>
            <a:ext cx="4452990" cy="4452990"/>
          </a:xfrm>
          <a:custGeom>
            <a:avLst/>
            <a:gdLst/>
            <a:ahLst/>
            <a:cxnLst/>
            <a:rect r="r" b="b" t="t" l="l"/>
            <a:pathLst>
              <a:path h="4452990" w="4452990">
                <a:moveTo>
                  <a:pt x="0" y="0"/>
                </a:moveTo>
                <a:lnTo>
                  <a:pt x="4452990" y="0"/>
                </a:lnTo>
                <a:lnTo>
                  <a:pt x="4452990" y="4452990"/>
                </a:lnTo>
                <a:lnTo>
                  <a:pt x="0" y="4452990"/>
                </a:lnTo>
                <a:lnTo>
                  <a:pt x="0" y="0"/>
                </a:lnTo>
                <a:close/>
              </a:path>
            </a:pathLst>
          </a:custGeom>
          <a:blipFill>
            <a:blip r:embed="rId4"/>
            <a:stretch>
              <a:fillRect l="0" t="0" r="0" b="0"/>
            </a:stretch>
          </a:blipFill>
        </p:spPr>
      </p:sp>
      <p:sp>
        <p:nvSpPr>
          <p:cNvPr name="TextBox 9" id="9"/>
          <p:cNvSpPr txBox="true"/>
          <p:nvPr/>
        </p:nvSpPr>
        <p:spPr>
          <a:xfrm rot="0">
            <a:off x="6915671" y="8392313"/>
            <a:ext cx="4456658" cy="466725"/>
          </a:xfrm>
          <a:prstGeom prst="rect">
            <a:avLst/>
          </a:prstGeom>
        </p:spPr>
        <p:txBody>
          <a:bodyPr anchor="t" rtlCol="false" tIns="0" lIns="0" bIns="0" rIns="0">
            <a:spAutoFit/>
          </a:bodyPr>
          <a:lstStyle/>
          <a:p>
            <a:pPr algn="l">
              <a:lnSpc>
                <a:spcPts val="3599"/>
              </a:lnSpc>
            </a:pPr>
            <a:r>
              <a:rPr lang="en-US" sz="2999" u="sng">
                <a:solidFill>
                  <a:srgbClr val="FFFFFF"/>
                </a:solidFill>
                <a:latin typeface="Poppins"/>
                <a:ea typeface="Poppins"/>
                <a:cs typeface="Poppins"/>
                <a:sym typeface="Poppins"/>
                <a:hlinkClick r:id="rId5" tooltip="https://aws.amazon.com/es/rds/aurora/"/>
              </a:rPr>
              <a:t>Documentación Aurora</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TextBox 2" id="2"/>
          <p:cNvSpPr txBox="true"/>
          <p:nvPr/>
        </p:nvSpPr>
        <p:spPr>
          <a:xfrm rot="0">
            <a:off x="2154388" y="1370812"/>
            <a:ext cx="13655058"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Documentación Amazon DynamoDB</a:t>
            </a:r>
          </a:p>
        </p:txBody>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4" id="4"/>
          <p:cNvSpPr/>
          <p:nvPr/>
        </p:nvSpPr>
        <p:spPr>
          <a:xfrm flipH="true" flipV="false" rot="0">
            <a:off x="-1811192" y="1427962"/>
            <a:ext cx="9143383" cy="7431077"/>
          </a:xfrm>
          <a:custGeom>
            <a:avLst/>
            <a:gdLst/>
            <a:ahLst/>
            <a:cxnLst/>
            <a:rect r="r" b="b" t="t" l="l"/>
            <a:pathLst>
              <a:path h="7431077" w="9143383">
                <a:moveTo>
                  <a:pt x="9143383" y="0"/>
                </a:moveTo>
                <a:lnTo>
                  <a:pt x="0" y="0"/>
                </a:lnTo>
                <a:lnTo>
                  <a:pt x="0" y="7431076"/>
                </a:lnTo>
                <a:lnTo>
                  <a:pt x="9143383" y="7431076"/>
                </a:lnTo>
                <a:lnTo>
                  <a:pt x="9143383"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981917" y="9998267"/>
            <a:ext cx="9995383" cy="288733"/>
            <a:chOff x="0" y="0"/>
            <a:chExt cx="2632529" cy="76045"/>
          </a:xfrm>
        </p:grpSpPr>
        <p:sp>
          <p:nvSpPr>
            <p:cNvPr name="Freeform 6" id="6"/>
            <p:cNvSpPr/>
            <p:nvPr/>
          </p:nvSpPr>
          <p:spPr>
            <a:xfrm flipH="false" flipV="false" rot="0">
              <a:off x="0" y="0"/>
              <a:ext cx="2632529" cy="76045"/>
            </a:xfrm>
            <a:custGeom>
              <a:avLst/>
              <a:gdLst/>
              <a:ahLst/>
              <a:cxnLst/>
              <a:rect r="r" b="b" t="t" l="l"/>
              <a:pathLst>
                <a:path h="76045" w="2632529">
                  <a:moveTo>
                    <a:pt x="0" y="0"/>
                  </a:moveTo>
                  <a:lnTo>
                    <a:pt x="2632529" y="0"/>
                  </a:lnTo>
                  <a:lnTo>
                    <a:pt x="2632529" y="76045"/>
                  </a:lnTo>
                  <a:lnTo>
                    <a:pt x="0" y="76045"/>
                  </a:lnTo>
                  <a:close/>
                </a:path>
              </a:pathLst>
            </a:custGeom>
            <a:solidFill>
              <a:srgbClr val="3DCAB1"/>
            </a:solidFill>
          </p:spPr>
        </p:sp>
        <p:sp>
          <p:nvSpPr>
            <p:cNvPr name="TextBox 7" id="7"/>
            <p:cNvSpPr txBox="true"/>
            <p:nvPr/>
          </p:nvSpPr>
          <p:spPr>
            <a:xfrm>
              <a:off x="0" y="-38100"/>
              <a:ext cx="2632529"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7059098" y="3085312"/>
            <a:ext cx="4169804" cy="4169804"/>
          </a:xfrm>
          <a:custGeom>
            <a:avLst/>
            <a:gdLst/>
            <a:ahLst/>
            <a:cxnLst/>
            <a:rect r="r" b="b" t="t" l="l"/>
            <a:pathLst>
              <a:path h="4169804" w="4169804">
                <a:moveTo>
                  <a:pt x="0" y="0"/>
                </a:moveTo>
                <a:lnTo>
                  <a:pt x="4169804" y="0"/>
                </a:lnTo>
                <a:lnTo>
                  <a:pt x="4169804" y="4169804"/>
                </a:lnTo>
                <a:lnTo>
                  <a:pt x="0" y="4169804"/>
                </a:lnTo>
                <a:lnTo>
                  <a:pt x="0" y="0"/>
                </a:lnTo>
                <a:close/>
              </a:path>
            </a:pathLst>
          </a:custGeom>
          <a:blipFill>
            <a:blip r:embed="rId4"/>
            <a:stretch>
              <a:fillRect l="0" t="0" r="0" b="0"/>
            </a:stretch>
          </a:blipFill>
        </p:spPr>
      </p:sp>
      <p:sp>
        <p:nvSpPr>
          <p:cNvPr name="TextBox 9" id="9"/>
          <p:cNvSpPr txBox="true"/>
          <p:nvPr/>
        </p:nvSpPr>
        <p:spPr>
          <a:xfrm rot="0">
            <a:off x="6496645" y="8392313"/>
            <a:ext cx="5294709" cy="466725"/>
          </a:xfrm>
          <a:prstGeom prst="rect">
            <a:avLst/>
          </a:prstGeom>
        </p:spPr>
        <p:txBody>
          <a:bodyPr anchor="t" rtlCol="false" tIns="0" lIns="0" bIns="0" rIns="0">
            <a:spAutoFit/>
          </a:bodyPr>
          <a:lstStyle/>
          <a:p>
            <a:pPr algn="l">
              <a:lnSpc>
                <a:spcPts val="3599"/>
              </a:lnSpc>
            </a:pPr>
            <a:r>
              <a:rPr lang="en-US" sz="2999" u="sng">
                <a:solidFill>
                  <a:srgbClr val="FFFFFF"/>
                </a:solidFill>
                <a:latin typeface="Poppins"/>
                <a:ea typeface="Poppins"/>
                <a:cs typeface="Poppins"/>
                <a:sym typeface="Poppins"/>
                <a:hlinkClick r:id="rId5" tooltip="https://aws.amazon.com/es/dynamodb/"/>
              </a:rPr>
              <a:t>Documentación DynamoDB</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TextBox 2" id="2"/>
          <p:cNvSpPr txBox="true"/>
          <p:nvPr/>
        </p:nvSpPr>
        <p:spPr>
          <a:xfrm rot="0">
            <a:off x="2154388" y="1370812"/>
            <a:ext cx="13655058"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Documentación Azure SQL Database</a:t>
            </a:r>
          </a:p>
        </p:txBody>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4" id="4"/>
          <p:cNvSpPr/>
          <p:nvPr/>
        </p:nvSpPr>
        <p:spPr>
          <a:xfrm flipH="true" flipV="false" rot="0">
            <a:off x="-1811192" y="1427962"/>
            <a:ext cx="9143383" cy="7431077"/>
          </a:xfrm>
          <a:custGeom>
            <a:avLst/>
            <a:gdLst/>
            <a:ahLst/>
            <a:cxnLst/>
            <a:rect r="r" b="b" t="t" l="l"/>
            <a:pathLst>
              <a:path h="7431077" w="9143383">
                <a:moveTo>
                  <a:pt x="9143383" y="0"/>
                </a:moveTo>
                <a:lnTo>
                  <a:pt x="0" y="0"/>
                </a:lnTo>
                <a:lnTo>
                  <a:pt x="0" y="7431076"/>
                </a:lnTo>
                <a:lnTo>
                  <a:pt x="9143383" y="7431076"/>
                </a:lnTo>
                <a:lnTo>
                  <a:pt x="9143383"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981917" y="9998267"/>
            <a:ext cx="9995383" cy="288733"/>
            <a:chOff x="0" y="0"/>
            <a:chExt cx="2632529" cy="76045"/>
          </a:xfrm>
        </p:grpSpPr>
        <p:sp>
          <p:nvSpPr>
            <p:cNvPr name="Freeform 6" id="6"/>
            <p:cNvSpPr/>
            <p:nvPr/>
          </p:nvSpPr>
          <p:spPr>
            <a:xfrm flipH="false" flipV="false" rot="0">
              <a:off x="0" y="0"/>
              <a:ext cx="2632529" cy="76045"/>
            </a:xfrm>
            <a:custGeom>
              <a:avLst/>
              <a:gdLst/>
              <a:ahLst/>
              <a:cxnLst/>
              <a:rect r="r" b="b" t="t" l="l"/>
              <a:pathLst>
                <a:path h="76045" w="2632529">
                  <a:moveTo>
                    <a:pt x="0" y="0"/>
                  </a:moveTo>
                  <a:lnTo>
                    <a:pt x="2632529" y="0"/>
                  </a:lnTo>
                  <a:lnTo>
                    <a:pt x="2632529" y="76045"/>
                  </a:lnTo>
                  <a:lnTo>
                    <a:pt x="0" y="76045"/>
                  </a:lnTo>
                  <a:close/>
                </a:path>
              </a:pathLst>
            </a:custGeom>
            <a:solidFill>
              <a:srgbClr val="3DCAB1"/>
            </a:solidFill>
          </p:spPr>
        </p:sp>
        <p:sp>
          <p:nvSpPr>
            <p:cNvPr name="TextBox 7" id="7"/>
            <p:cNvSpPr txBox="true"/>
            <p:nvPr/>
          </p:nvSpPr>
          <p:spPr>
            <a:xfrm>
              <a:off x="0" y="-38100"/>
              <a:ext cx="2632529"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864688" y="3638191"/>
            <a:ext cx="4036454" cy="4036454"/>
          </a:xfrm>
          <a:custGeom>
            <a:avLst/>
            <a:gdLst/>
            <a:ahLst/>
            <a:cxnLst/>
            <a:rect r="r" b="b" t="t" l="l"/>
            <a:pathLst>
              <a:path h="4036454" w="4036454">
                <a:moveTo>
                  <a:pt x="0" y="0"/>
                </a:moveTo>
                <a:lnTo>
                  <a:pt x="4036454" y="0"/>
                </a:lnTo>
                <a:lnTo>
                  <a:pt x="4036454" y="4036454"/>
                </a:lnTo>
                <a:lnTo>
                  <a:pt x="0" y="4036454"/>
                </a:lnTo>
                <a:lnTo>
                  <a:pt x="0" y="0"/>
                </a:lnTo>
                <a:close/>
              </a:path>
            </a:pathLst>
          </a:custGeom>
          <a:blipFill>
            <a:blip r:embed="rId4"/>
            <a:stretch>
              <a:fillRect l="0" t="0" r="0" b="0"/>
            </a:stretch>
          </a:blipFill>
        </p:spPr>
      </p:sp>
      <p:sp>
        <p:nvSpPr>
          <p:cNvPr name="TextBox 9" id="9"/>
          <p:cNvSpPr txBox="true"/>
          <p:nvPr/>
        </p:nvSpPr>
        <p:spPr>
          <a:xfrm rot="0">
            <a:off x="6227118" y="8392313"/>
            <a:ext cx="5833765" cy="466725"/>
          </a:xfrm>
          <a:prstGeom prst="rect">
            <a:avLst/>
          </a:prstGeom>
        </p:spPr>
        <p:txBody>
          <a:bodyPr anchor="t" rtlCol="false" tIns="0" lIns="0" bIns="0" rIns="0">
            <a:spAutoFit/>
          </a:bodyPr>
          <a:lstStyle/>
          <a:p>
            <a:pPr algn="l">
              <a:lnSpc>
                <a:spcPts val="3599"/>
              </a:lnSpc>
            </a:pPr>
            <a:r>
              <a:rPr lang="en-US" sz="2999" u="sng">
                <a:solidFill>
                  <a:srgbClr val="FFFFFF"/>
                </a:solidFill>
                <a:latin typeface="Poppins"/>
                <a:ea typeface="Poppins"/>
                <a:cs typeface="Poppins"/>
                <a:sym typeface="Poppins"/>
                <a:hlinkClick r:id="rId5" tooltip="https://azure.microsoft.com/en-us/products/azure-sql/database"/>
              </a:rPr>
              <a:t>Documentación S</a:t>
            </a:r>
            <a:r>
              <a:rPr lang="en-US" sz="2999" u="sng">
                <a:solidFill>
                  <a:srgbClr val="FFFFFF"/>
                </a:solidFill>
                <a:latin typeface="Poppins"/>
                <a:ea typeface="Poppins"/>
                <a:cs typeface="Poppins"/>
                <a:sym typeface="Poppins"/>
              </a:rPr>
              <a:t>QL Database</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TextBox 2" id="2"/>
          <p:cNvSpPr txBox="true"/>
          <p:nvPr/>
        </p:nvSpPr>
        <p:spPr>
          <a:xfrm rot="0">
            <a:off x="9144000" y="3171825"/>
            <a:ext cx="6996541" cy="3819525"/>
          </a:xfrm>
          <a:prstGeom prst="rect">
            <a:avLst/>
          </a:prstGeom>
        </p:spPr>
        <p:txBody>
          <a:bodyPr anchor="t" rtlCol="false" tIns="0" lIns="0" bIns="0" rIns="0">
            <a:spAutoFit/>
          </a:bodyPr>
          <a:lstStyle/>
          <a:p>
            <a:pPr algn="ctr">
              <a:lnSpc>
                <a:spcPts val="14605"/>
              </a:lnSpc>
            </a:pPr>
            <a:r>
              <a:rPr lang="en-US" b="true" sz="12171">
                <a:solidFill>
                  <a:srgbClr val="FFFFFF"/>
                </a:solidFill>
                <a:latin typeface="Poppins Bold"/>
                <a:ea typeface="Poppins Bold"/>
                <a:cs typeface="Poppins Bold"/>
                <a:sym typeface="Poppins Bold"/>
              </a:rPr>
              <a:t>Ejemplo práctico</a:t>
            </a:r>
          </a:p>
        </p:txBody>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4" id="4"/>
          <p:cNvSpPr/>
          <p:nvPr/>
        </p:nvSpPr>
        <p:spPr>
          <a:xfrm flipH="true" flipV="false" rot="0">
            <a:off x="-1811192" y="1427962"/>
            <a:ext cx="9143383" cy="7431077"/>
          </a:xfrm>
          <a:custGeom>
            <a:avLst/>
            <a:gdLst/>
            <a:ahLst/>
            <a:cxnLst/>
            <a:rect r="r" b="b" t="t" l="l"/>
            <a:pathLst>
              <a:path h="7431077" w="9143383">
                <a:moveTo>
                  <a:pt x="9143383" y="0"/>
                </a:moveTo>
                <a:lnTo>
                  <a:pt x="0" y="0"/>
                </a:lnTo>
                <a:lnTo>
                  <a:pt x="0" y="7431076"/>
                </a:lnTo>
                <a:lnTo>
                  <a:pt x="9143383" y="7431076"/>
                </a:lnTo>
                <a:lnTo>
                  <a:pt x="9143383"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981917" y="9998267"/>
            <a:ext cx="9995383" cy="288733"/>
            <a:chOff x="0" y="0"/>
            <a:chExt cx="2632529" cy="76045"/>
          </a:xfrm>
        </p:grpSpPr>
        <p:sp>
          <p:nvSpPr>
            <p:cNvPr name="Freeform 6" id="6"/>
            <p:cNvSpPr/>
            <p:nvPr/>
          </p:nvSpPr>
          <p:spPr>
            <a:xfrm flipH="false" flipV="false" rot="0">
              <a:off x="0" y="0"/>
              <a:ext cx="2632529" cy="76045"/>
            </a:xfrm>
            <a:custGeom>
              <a:avLst/>
              <a:gdLst/>
              <a:ahLst/>
              <a:cxnLst/>
              <a:rect r="r" b="b" t="t" l="l"/>
              <a:pathLst>
                <a:path h="76045" w="2632529">
                  <a:moveTo>
                    <a:pt x="0" y="0"/>
                  </a:moveTo>
                  <a:lnTo>
                    <a:pt x="2632529" y="0"/>
                  </a:lnTo>
                  <a:lnTo>
                    <a:pt x="2632529" y="76045"/>
                  </a:lnTo>
                  <a:lnTo>
                    <a:pt x="0" y="76045"/>
                  </a:lnTo>
                  <a:close/>
                </a:path>
              </a:pathLst>
            </a:custGeom>
            <a:solidFill>
              <a:srgbClr val="3DCAB1"/>
            </a:solidFill>
          </p:spPr>
        </p:sp>
        <p:sp>
          <p:nvSpPr>
            <p:cNvPr name="TextBox 7" id="7"/>
            <p:cNvSpPr txBox="true"/>
            <p:nvPr/>
          </p:nvSpPr>
          <p:spPr>
            <a:xfrm>
              <a:off x="0" y="-38100"/>
              <a:ext cx="2632529" cy="11414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DAF7_q9K4dw</dc:identifier>
  <dcterms:modified xsi:type="dcterms:W3CDTF">2011-08-01T06:04:30Z</dcterms:modified>
  <cp:revision>1</cp:revision>
  <dc:title>Clase 3</dc:title>
</cp:coreProperties>
</file>