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lacial Indifference" charset="1" panose="00000000000000000000"/>
      <p:regular r:id="rId17"/>
    </p:embeddedFont>
    <p:embeddedFont>
      <p:font typeface="Tenor Sans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8A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670" y="4575517"/>
            <a:ext cx="17836661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LABORATORIO SEMINARIO</a:t>
            </a:r>
          </a:p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SISTEMAS 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101429" y="1884757"/>
            <a:ext cx="8085142" cy="938466"/>
            <a:chOff x="0" y="0"/>
            <a:chExt cx="2129420" cy="2471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9420" cy="247168"/>
            </a:xfrm>
            <a:custGeom>
              <a:avLst/>
              <a:gdLst/>
              <a:ahLst/>
              <a:cxnLst/>
              <a:rect r="r" b="b" t="t" l="l"/>
              <a:pathLst>
                <a:path h="247168" w="2129420">
                  <a:moveTo>
                    <a:pt x="24896" y="0"/>
                  </a:moveTo>
                  <a:lnTo>
                    <a:pt x="2104524" y="0"/>
                  </a:lnTo>
                  <a:cubicBezTo>
                    <a:pt x="2111127" y="0"/>
                    <a:pt x="2117459" y="2623"/>
                    <a:pt x="2122128" y="7292"/>
                  </a:cubicBezTo>
                  <a:cubicBezTo>
                    <a:pt x="2126797" y="11961"/>
                    <a:pt x="2129420" y="18293"/>
                    <a:pt x="2129420" y="24896"/>
                  </a:cubicBezTo>
                  <a:lnTo>
                    <a:pt x="2129420" y="222272"/>
                  </a:lnTo>
                  <a:cubicBezTo>
                    <a:pt x="2129420" y="228875"/>
                    <a:pt x="2126797" y="235207"/>
                    <a:pt x="2122128" y="239876"/>
                  </a:cubicBezTo>
                  <a:cubicBezTo>
                    <a:pt x="2117459" y="244545"/>
                    <a:pt x="2111127" y="247168"/>
                    <a:pt x="2104524" y="247168"/>
                  </a:cubicBezTo>
                  <a:lnTo>
                    <a:pt x="24896" y="247168"/>
                  </a:lnTo>
                  <a:cubicBezTo>
                    <a:pt x="11146" y="247168"/>
                    <a:pt x="0" y="236022"/>
                    <a:pt x="0" y="222272"/>
                  </a:cubicBezTo>
                  <a:lnTo>
                    <a:pt x="0" y="24896"/>
                  </a:lnTo>
                  <a:cubicBezTo>
                    <a:pt x="0" y="18293"/>
                    <a:pt x="2623" y="11961"/>
                    <a:pt x="7292" y="7292"/>
                  </a:cubicBezTo>
                  <a:cubicBezTo>
                    <a:pt x="11961" y="2623"/>
                    <a:pt x="18293" y="0"/>
                    <a:pt x="248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29420" cy="29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09474" y="6630732"/>
            <a:ext cx="4378481" cy="43784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362774" y="-30820"/>
            <a:ext cx="3688357" cy="4114800"/>
          </a:xfrm>
          <a:custGeom>
            <a:avLst/>
            <a:gdLst/>
            <a:ahLst/>
            <a:cxnLst/>
            <a:rect r="r" b="b" t="t" l="l"/>
            <a:pathLst>
              <a:path h="4114800" w="3688357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31874" y="7031606"/>
            <a:ext cx="1237134" cy="1200949"/>
            <a:chOff x="0" y="0"/>
            <a:chExt cx="325830" cy="316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5830" cy="316299"/>
            </a:xfrm>
            <a:custGeom>
              <a:avLst/>
              <a:gdLst/>
              <a:ahLst/>
              <a:cxnLst/>
              <a:rect r="r" b="b" t="t" l="l"/>
              <a:pathLst>
                <a:path h="316299" w="325830">
                  <a:moveTo>
                    <a:pt x="158150" y="0"/>
                  </a:moveTo>
                  <a:lnTo>
                    <a:pt x="167680" y="0"/>
                  </a:lnTo>
                  <a:cubicBezTo>
                    <a:pt x="255024" y="0"/>
                    <a:pt x="325830" y="70806"/>
                    <a:pt x="325830" y="158150"/>
                  </a:cubicBezTo>
                  <a:lnTo>
                    <a:pt x="325830" y="158150"/>
                  </a:lnTo>
                  <a:cubicBezTo>
                    <a:pt x="325830" y="245493"/>
                    <a:pt x="255024" y="316299"/>
                    <a:pt x="167680" y="316299"/>
                  </a:cubicBezTo>
                  <a:lnTo>
                    <a:pt x="158150" y="316299"/>
                  </a:lnTo>
                  <a:cubicBezTo>
                    <a:pt x="70806" y="316299"/>
                    <a:pt x="0" y="245493"/>
                    <a:pt x="0" y="158150"/>
                  </a:cubicBezTo>
                  <a:lnTo>
                    <a:pt x="0" y="158150"/>
                  </a:lnTo>
                  <a:cubicBezTo>
                    <a:pt x="0" y="70806"/>
                    <a:pt x="70806" y="0"/>
                    <a:pt x="158150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25830" cy="36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28559" y="1153041"/>
            <a:ext cx="1237134" cy="1200949"/>
            <a:chOff x="0" y="0"/>
            <a:chExt cx="325830" cy="3162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5830" cy="316299"/>
            </a:xfrm>
            <a:custGeom>
              <a:avLst/>
              <a:gdLst/>
              <a:ahLst/>
              <a:cxnLst/>
              <a:rect r="r" b="b" t="t" l="l"/>
              <a:pathLst>
                <a:path h="316299" w="325830">
                  <a:moveTo>
                    <a:pt x="158150" y="0"/>
                  </a:moveTo>
                  <a:lnTo>
                    <a:pt x="167680" y="0"/>
                  </a:lnTo>
                  <a:cubicBezTo>
                    <a:pt x="255024" y="0"/>
                    <a:pt x="325830" y="70806"/>
                    <a:pt x="325830" y="158150"/>
                  </a:cubicBezTo>
                  <a:lnTo>
                    <a:pt x="325830" y="158150"/>
                  </a:lnTo>
                  <a:cubicBezTo>
                    <a:pt x="325830" y="245493"/>
                    <a:pt x="255024" y="316299"/>
                    <a:pt x="167680" y="316299"/>
                  </a:cubicBezTo>
                  <a:lnTo>
                    <a:pt x="158150" y="316299"/>
                  </a:lnTo>
                  <a:cubicBezTo>
                    <a:pt x="70806" y="316299"/>
                    <a:pt x="0" y="245493"/>
                    <a:pt x="0" y="158150"/>
                  </a:cubicBezTo>
                  <a:lnTo>
                    <a:pt x="0" y="158150"/>
                  </a:lnTo>
                  <a:cubicBezTo>
                    <a:pt x="0" y="70806"/>
                    <a:pt x="70806" y="0"/>
                    <a:pt x="15815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25830" cy="36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289726" y="639307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075191" y="7527306"/>
            <a:ext cx="2137618" cy="7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8"/>
              </a:lnSpc>
            </a:pPr>
            <a:r>
              <a:rPr lang="en-US" sz="4245" spc="237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Clase 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49925" y="1928781"/>
            <a:ext cx="6788150" cy="7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8"/>
              </a:lnSpc>
            </a:pPr>
            <a:r>
              <a:rPr lang="en-US" sz="4245" spc="237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Segundo </a:t>
            </a:r>
            <a:r>
              <a:rPr lang="en-US" sz="4245" spc="237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semestre 2024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804199" y="8450476"/>
            <a:ext cx="971055" cy="934870"/>
            <a:chOff x="0" y="0"/>
            <a:chExt cx="255751" cy="2462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5751" cy="246221"/>
            </a:xfrm>
            <a:custGeom>
              <a:avLst/>
              <a:gdLst/>
              <a:ahLst/>
              <a:cxnLst/>
              <a:rect r="r" b="b" t="t" l="l"/>
              <a:pathLst>
                <a:path h="246221" w="255751">
                  <a:moveTo>
                    <a:pt x="123111" y="0"/>
                  </a:moveTo>
                  <a:lnTo>
                    <a:pt x="132641" y="0"/>
                  </a:lnTo>
                  <a:cubicBezTo>
                    <a:pt x="200633" y="0"/>
                    <a:pt x="255751" y="55118"/>
                    <a:pt x="255751" y="123111"/>
                  </a:cubicBezTo>
                  <a:lnTo>
                    <a:pt x="255751" y="123111"/>
                  </a:lnTo>
                  <a:cubicBezTo>
                    <a:pt x="255751" y="155761"/>
                    <a:pt x="242781" y="187075"/>
                    <a:pt x="219693" y="210163"/>
                  </a:cubicBezTo>
                  <a:cubicBezTo>
                    <a:pt x="196605" y="233251"/>
                    <a:pt x="165292" y="246221"/>
                    <a:pt x="132641" y="246221"/>
                  </a:cubicBezTo>
                  <a:lnTo>
                    <a:pt x="123111" y="246221"/>
                  </a:lnTo>
                  <a:cubicBezTo>
                    <a:pt x="55118" y="246221"/>
                    <a:pt x="0" y="191103"/>
                    <a:pt x="0" y="123111"/>
                  </a:cubicBezTo>
                  <a:lnTo>
                    <a:pt x="0" y="123111"/>
                  </a:lnTo>
                  <a:cubicBezTo>
                    <a:pt x="0" y="55118"/>
                    <a:pt x="55118" y="0"/>
                    <a:pt x="1231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55751" cy="2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3247530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3"/>
                </a:lnTo>
                <a:lnTo>
                  <a:pt x="0" y="824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4459579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2"/>
                </a:lnTo>
                <a:lnTo>
                  <a:pt x="0" y="82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6400" y="5674726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3"/>
                </a:lnTo>
                <a:lnTo>
                  <a:pt x="0" y="824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8105021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3"/>
                </a:lnTo>
                <a:lnTo>
                  <a:pt x="0" y="82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4706" y="5284201"/>
            <a:ext cx="4372659" cy="4878220"/>
          </a:xfrm>
          <a:custGeom>
            <a:avLst/>
            <a:gdLst/>
            <a:ahLst/>
            <a:cxnLst/>
            <a:rect r="r" b="b" t="t" l="l"/>
            <a:pathLst>
              <a:path h="4878220" w="4372659">
                <a:moveTo>
                  <a:pt x="0" y="0"/>
                </a:moveTo>
                <a:lnTo>
                  <a:pt x="4372659" y="0"/>
                </a:lnTo>
                <a:lnTo>
                  <a:pt x="4372659" y="4878220"/>
                </a:lnTo>
                <a:lnTo>
                  <a:pt x="0" y="4878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1560" y="1285875"/>
            <a:ext cx="14864881" cy="122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1"/>
              </a:lnSpc>
            </a:pPr>
            <a:r>
              <a:rPr lang="en-US" sz="9708">
                <a:solidFill>
                  <a:srgbClr val="0220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AGENDA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00484" y="3505233"/>
            <a:ext cx="4487032" cy="35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152">
                <a:solidFill>
                  <a:srgbClr val="022033"/>
                </a:solidFill>
                <a:latin typeface="Tenor Sans"/>
                <a:ea typeface="Tenor Sans"/>
                <a:cs typeface="Tenor Sans"/>
                <a:sym typeface="Tenor Sans"/>
              </a:rPr>
              <a:t>DUDAS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04997" y="4722100"/>
            <a:ext cx="3478005" cy="35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152">
                <a:solidFill>
                  <a:srgbClr val="022033"/>
                </a:solidFill>
                <a:latin typeface="Tenor Sans"/>
                <a:ea typeface="Tenor Sans"/>
                <a:cs typeface="Tenor Sans"/>
                <a:sym typeface="Tenor Sans"/>
              </a:rPr>
              <a:t>AVISOS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42075" y="5941426"/>
            <a:ext cx="5003851" cy="35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152">
                <a:solidFill>
                  <a:srgbClr val="022033"/>
                </a:solidFill>
                <a:latin typeface="Tenor Sans"/>
                <a:ea typeface="Tenor Sans"/>
                <a:cs typeface="Tenor Sans"/>
                <a:sym typeface="Tenor Sans"/>
              </a:rPr>
              <a:t>EXPOSICIONES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23536" y="8371721"/>
            <a:ext cx="4240928" cy="35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152">
                <a:solidFill>
                  <a:srgbClr val="022033"/>
                </a:solidFill>
                <a:latin typeface="Tenor Sans"/>
                <a:ea typeface="Tenor Sans"/>
                <a:cs typeface="Tenor Sans"/>
                <a:sym typeface="Tenor Sans"/>
              </a:rPr>
              <a:t>EJEMPLO PRACTICO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486400" y="6898689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2"/>
                </a:lnTo>
                <a:lnTo>
                  <a:pt x="0" y="82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42075" y="7156574"/>
            <a:ext cx="5582305" cy="35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152">
                <a:solidFill>
                  <a:srgbClr val="022033"/>
                </a:solidFill>
                <a:latin typeface="Tenor Sans"/>
                <a:ea typeface="Tenor Sans"/>
                <a:cs typeface="Tenor Sans"/>
                <a:sym typeface="Tenor Sans"/>
              </a:rPr>
              <a:t>ESTRATEGIAS DE PROMPTS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119352" y="-1500496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81929" y="2189561"/>
            <a:ext cx="14124142" cy="938466"/>
            <a:chOff x="0" y="0"/>
            <a:chExt cx="3719939" cy="2471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9938" cy="247168"/>
            </a:xfrm>
            <a:custGeom>
              <a:avLst/>
              <a:gdLst/>
              <a:ahLst/>
              <a:cxnLst/>
              <a:rect r="r" b="b" t="t" l="l"/>
              <a:pathLst>
                <a:path h="247168" w="3719938">
                  <a:moveTo>
                    <a:pt x="14251" y="0"/>
                  </a:moveTo>
                  <a:lnTo>
                    <a:pt x="3705687" y="0"/>
                  </a:lnTo>
                  <a:cubicBezTo>
                    <a:pt x="3713558" y="0"/>
                    <a:pt x="3719938" y="6381"/>
                    <a:pt x="3719938" y="14251"/>
                  </a:cubicBezTo>
                  <a:lnTo>
                    <a:pt x="3719938" y="232917"/>
                  </a:lnTo>
                  <a:cubicBezTo>
                    <a:pt x="3719938" y="240787"/>
                    <a:pt x="3713558" y="247168"/>
                    <a:pt x="3705687" y="247168"/>
                  </a:cubicBezTo>
                  <a:lnTo>
                    <a:pt x="14251" y="247168"/>
                  </a:lnTo>
                  <a:cubicBezTo>
                    <a:pt x="6381" y="247168"/>
                    <a:pt x="0" y="240787"/>
                    <a:pt x="0" y="232917"/>
                  </a:cubicBezTo>
                  <a:lnTo>
                    <a:pt x="0" y="14251"/>
                  </a:lnTo>
                  <a:cubicBezTo>
                    <a:pt x="0" y="6381"/>
                    <a:pt x="6381" y="0"/>
                    <a:pt x="142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19939" cy="29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73311" y="2482690"/>
            <a:ext cx="12345885" cy="43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7"/>
              </a:lnSpc>
            </a:pPr>
            <a:r>
              <a:rPr lang="en-US" sz="3475" spc="35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¿QUÉ SON LOS PROMPTS?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3136" y="3609967"/>
            <a:ext cx="15346235" cy="4538546"/>
            <a:chOff x="0" y="0"/>
            <a:chExt cx="4041807" cy="1195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1807" cy="1195337"/>
            </a:xfrm>
            <a:custGeom>
              <a:avLst/>
              <a:gdLst/>
              <a:ahLst/>
              <a:cxnLst/>
              <a:rect r="r" b="b" t="t" l="l"/>
              <a:pathLst>
                <a:path h="1195337" w="4041807">
                  <a:moveTo>
                    <a:pt x="17657" y="0"/>
                  </a:moveTo>
                  <a:lnTo>
                    <a:pt x="4024150" y="0"/>
                  </a:lnTo>
                  <a:cubicBezTo>
                    <a:pt x="4028833" y="0"/>
                    <a:pt x="4033324" y="1860"/>
                    <a:pt x="4036635" y="5172"/>
                  </a:cubicBezTo>
                  <a:cubicBezTo>
                    <a:pt x="4039946" y="8483"/>
                    <a:pt x="4041807" y="12974"/>
                    <a:pt x="4041807" y="17657"/>
                  </a:cubicBezTo>
                  <a:lnTo>
                    <a:pt x="4041807" y="1177680"/>
                  </a:lnTo>
                  <a:cubicBezTo>
                    <a:pt x="4041807" y="1187432"/>
                    <a:pt x="4033901" y="1195337"/>
                    <a:pt x="4024150" y="1195337"/>
                  </a:cubicBezTo>
                  <a:lnTo>
                    <a:pt x="17657" y="1195337"/>
                  </a:lnTo>
                  <a:cubicBezTo>
                    <a:pt x="12974" y="1195337"/>
                    <a:pt x="8483" y="1193477"/>
                    <a:pt x="5172" y="1190166"/>
                  </a:cubicBezTo>
                  <a:cubicBezTo>
                    <a:pt x="1860" y="1186854"/>
                    <a:pt x="0" y="1182363"/>
                    <a:pt x="0" y="1177680"/>
                  </a:cubicBezTo>
                  <a:lnTo>
                    <a:pt x="0" y="17657"/>
                  </a:lnTo>
                  <a:cubicBezTo>
                    <a:pt x="0" y="12974"/>
                    <a:pt x="1860" y="8483"/>
                    <a:pt x="5172" y="5172"/>
                  </a:cubicBezTo>
                  <a:cubicBezTo>
                    <a:pt x="8483" y="1860"/>
                    <a:pt x="12974" y="0"/>
                    <a:pt x="176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041807" cy="1242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63742" y="4095543"/>
            <a:ext cx="14165023" cy="294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0"/>
              </a:lnSpc>
            </a:pPr>
            <a:r>
              <a:rPr lang="en-US" sz="3357" spc="18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 prompt en inteligencia artificial (IA) es una solicitud dada al modelo de IA para que genere una respuesta que desencadena la generación de contenidos a través de un software de inteligencia artificial. Son la forma en que los humanos pueden hablar con las IA.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83862" y="8148512"/>
            <a:ext cx="4378481" cy="43784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20594" y="4119594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3136" y="3609967"/>
            <a:ext cx="6200403" cy="4538546"/>
            <a:chOff x="0" y="0"/>
            <a:chExt cx="1633028" cy="1195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3028" cy="1195337"/>
            </a:xfrm>
            <a:custGeom>
              <a:avLst/>
              <a:gdLst/>
              <a:ahLst/>
              <a:cxnLst/>
              <a:rect r="r" b="b" t="t" l="l"/>
              <a:pathLst>
                <a:path h="1195337" w="1633028">
                  <a:moveTo>
                    <a:pt x="43702" y="0"/>
                  </a:moveTo>
                  <a:lnTo>
                    <a:pt x="1589327" y="0"/>
                  </a:lnTo>
                  <a:cubicBezTo>
                    <a:pt x="1613462" y="0"/>
                    <a:pt x="1633028" y="19566"/>
                    <a:pt x="1633028" y="43702"/>
                  </a:cubicBezTo>
                  <a:lnTo>
                    <a:pt x="1633028" y="1151636"/>
                  </a:lnTo>
                  <a:cubicBezTo>
                    <a:pt x="1633028" y="1175771"/>
                    <a:pt x="1613462" y="1195337"/>
                    <a:pt x="1589327" y="1195337"/>
                  </a:cubicBezTo>
                  <a:lnTo>
                    <a:pt x="43702" y="1195337"/>
                  </a:lnTo>
                  <a:cubicBezTo>
                    <a:pt x="19566" y="1195337"/>
                    <a:pt x="0" y="1175771"/>
                    <a:pt x="0" y="1151636"/>
                  </a:cubicBezTo>
                  <a:lnTo>
                    <a:pt x="0" y="43702"/>
                  </a:lnTo>
                  <a:cubicBezTo>
                    <a:pt x="0" y="19566"/>
                    <a:pt x="19566" y="0"/>
                    <a:pt x="43702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33028" cy="1242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63327" y="4314542"/>
            <a:ext cx="5220020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13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solicita al usuario que ingrese un valor o información en un campo o cuadro de diálogo (por ejemplo, ingresar un nombre de archivo o un número de teléfono).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0" y="3609967"/>
            <a:ext cx="6060297" cy="4538546"/>
            <a:chOff x="0" y="0"/>
            <a:chExt cx="1596128" cy="1195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6128" cy="1195337"/>
            </a:xfrm>
            <a:custGeom>
              <a:avLst/>
              <a:gdLst/>
              <a:ahLst/>
              <a:cxnLst/>
              <a:rect r="r" b="b" t="t" l="l"/>
              <a:pathLst>
                <a:path h="1195337" w="1596128">
                  <a:moveTo>
                    <a:pt x="44712" y="0"/>
                  </a:moveTo>
                  <a:lnTo>
                    <a:pt x="1551416" y="0"/>
                  </a:lnTo>
                  <a:cubicBezTo>
                    <a:pt x="1576109" y="0"/>
                    <a:pt x="1596128" y="20018"/>
                    <a:pt x="1596128" y="44712"/>
                  </a:cubicBezTo>
                  <a:lnTo>
                    <a:pt x="1596128" y="1150625"/>
                  </a:lnTo>
                  <a:cubicBezTo>
                    <a:pt x="1596128" y="1175319"/>
                    <a:pt x="1576109" y="1195337"/>
                    <a:pt x="1551416" y="1195337"/>
                  </a:cubicBezTo>
                  <a:lnTo>
                    <a:pt x="44712" y="1195337"/>
                  </a:lnTo>
                  <a:cubicBezTo>
                    <a:pt x="20018" y="1195337"/>
                    <a:pt x="0" y="1175319"/>
                    <a:pt x="0" y="1150625"/>
                  </a:cubicBezTo>
                  <a:lnTo>
                    <a:pt x="0" y="44712"/>
                  </a:lnTo>
                  <a:cubicBezTo>
                    <a:pt x="0" y="20018"/>
                    <a:pt x="20018" y="0"/>
                    <a:pt x="44712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96128" cy="1242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25060" y="4787341"/>
            <a:ext cx="5391067" cy="258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  <a:spcBef>
                <a:spcPct val="0"/>
              </a:spcBef>
            </a:pPr>
            <a:r>
              <a:rPr lang="en-US" sz="2959" spc="165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• Prompt condicional: se utiliza para guiar al modelo de lenguaje a generar una  respuesta en función de una condición.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26559" y="698305"/>
            <a:ext cx="9367706" cy="249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6999">
                <a:solidFill>
                  <a:srgbClr val="0220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¿QUÉ TIPOS DE PROMPTS SE PUEDE UTILIZAR?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9798" y="3892821"/>
            <a:ext cx="5047078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3000" spc="168">
                <a:solidFill>
                  <a:srgbClr val="022033"/>
                </a:solidFill>
                <a:latin typeface="Tenor Sans"/>
                <a:ea typeface="Tenor Sans"/>
                <a:cs typeface="Tenor Sans"/>
                <a:sym typeface="Tenor Sans"/>
              </a:rPr>
              <a:t>PROMPT DE ENTRADA DE DATOS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0610" y="3892821"/>
            <a:ext cx="5047078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3000" spc="168">
                <a:solidFill>
                  <a:srgbClr val="022033"/>
                </a:solidFill>
                <a:latin typeface="Tenor Sans"/>
                <a:ea typeface="Tenor Sans"/>
                <a:cs typeface="Tenor Sans"/>
                <a:sym typeface="Tenor Sans"/>
              </a:rPr>
              <a:t>PROMPT CONDICIONAL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B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84842"/>
            <a:ext cx="7432615" cy="5288481"/>
            <a:chOff x="0" y="0"/>
            <a:chExt cx="1957561" cy="13928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7561" cy="1392851"/>
            </a:xfrm>
            <a:custGeom>
              <a:avLst/>
              <a:gdLst/>
              <a:ahLst/>
              <a:cxnLst/>
              <a:rect r="r" b="b" t="t" l="l"/>
              <a:pathLst>
                <a:path h="1392851" w="1957561">
                  <a:moveTo>
                    <a:pt x="53122" y="0"/>
                  </a:moveTo>
                  <a:lnTo>
                    <a:pt x="1904439" y="0"/>
                  </a:lnTo>
                  <a:cubicBezTo>
                    <a:pt x="1918528" y="0"/>
                    <a:pt x="1932040" y="5597"/>
                    <a:pt x="1942002" y="15559"/>
                  </a:cubicBezTo>
                  <a:cubicBezTo>
                    <a:pt x="1951964" y="25522"/>
                    <a:pt x="1957561" y="39033"/>
                    <a:pt x="1957561" y="53122"/>
                  </a:cubicBezTo>
                  <a:lnTo>
                    <a:pt x="1957561" y="1339729"/>
                  </a:lnTo>
                  <a:cubicBezTo>
                    <a:pt x="1957561" y="1369067"/>
                    <a:pt x="1933778" y="1392851"/>
                    <a:pt x="1904439" y="1392851"/>
                  </a:cubicBezTo>
                  <a:lnTo>
                    <a:pt x="53122" y="1392851"/>
                  </a:lnTo>
                  <a:cubicBezTo>
                    <a:pt x="23784" y="1392851"/>
                    <a:pt x="0" y="1369067"/>
                    <a:pt x="0" y="1339729"/>
                  </a:cubicBezTo>
                  <a:lnTo>
                    <a:pt x="0" y="53122"/>
                  </a:lnTo>
                  <a:cubicBezTo>
                    <a:pt x="0" y="23784"/>
                    <a:pt x="23784" y="0"/>
                    <a:pt x="53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57561" cy="144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26559" y="698305"/>
            <a:ext cx="9367706" cy="249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6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¿QUÉ TIPOS DE PROMPTS SE PUEDE UTILIZAR?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7027" y="3973595"/>
            <a:ext cx="743906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500" spc="3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PROMPT ESCUENCIAL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4788" y="4741630"/>
            <a:ext cx="651547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 utilizan para guiar al modelo de lenguaje a generar una respuesta en función de una secuencia de palabras o frases.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26685" y="3584842"/>
            <a:ext cx="7432615" cy="5288481"/>
            <a:chOff x="0" y="0"/>
            <a:chExt cx="1957561" cy="13928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7561" cy="1392851"/>
            </a:xfrm>
            <a:custGeom>
              <a:avLst/>
              <a:gdLst/>
              <a:ahLst/>
              <a:cxnLst/>
              <a:rect r="r" b="b" t="t" l="l"/>
              <a:pathLst>
                <a:path h="1392851" w="1957561">
                  <a:moveTo>
                    <a:pt x="53122" y="0"/>
                  </a:moveTo>
                  <a:lnTo>
                    <a:pt x="1904439" y="0"/>
                  </a:lnTo>
                  <a:cubicBezTo>
                    <a:pt x="1918528" y="0"/>
                    <a:pt x="1932040" y="5597"/>
                    <a:pt x="1942002" y="15559"/>
                  </a:cubicBezTo>
                  <a:cubicBezTo>
                    <a:pt x="1951964" y="25522"/>
                    <a:pt x="1957561" y="39033"/>
                    <a:pt x="1957561" y="53122"/>
                  </a:cubicBezTo>
                  <a:lnTo>
                    <a:pt x="1957561" y="1339729"/>
                  </a:lnTo>
                  <a:cubicBezTo>
                    <a:pt x="1957561" y="1369067"/>
                    <a:pt x="1933778" y="1392851"/>
                    <a:pt x="1904439" y="1392851"/>
                  </a:cubicBezTo>
                  <a:lnTo>
                    <a:pt x="53122" y="1392851"/>
                  </a:lnTo>
                  <a:cubicBezTo>
                    <a:pt x="23784" y="1392851"/>
                    <a:pt x="0" y="1369067"/>
                    <a:pt x="0" y="1339729"/>
                  </a:cubicBezTo>
                  <a:lnTo>
                    <a:pt x="0" y="53122"/>
                  </a:lnTo>
                  <a:cubicBezTo>
                    <a:pt x="0" y="23784"/>
                    <a:pt x="23784" y="0"/>
                    <a:pt x="53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57561" cy="144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826685" y="3973595"/>
            <a:ext cx="743906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500" spc="3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PROMPT ESTRUCTURAL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8512" y="4741630"/>
            <a:ext cx="652884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 utilizan para guiar al modelo de lenguaje a generar una respuesta en función de una estructura específica, como una lista o un párrafo.</a:t>
            </a: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-202604" y="-2269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490259" y="8405889"/>
            <a:ext cx="971055" cy="934870"/>
            <a:chOff x="0" y="0"/>
            <a:chExt cx="255751" cy="2462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5751" cy="246221"/>
            </a:xfrm>
            <a:custGeom>
              <a:avLst/>
              <a:gdLst/>
              <a:ahLst/>
              <a:cxnLst/>
              <a:rect r="r" b="b" t="t" l="l"/>
              <a:pathLst>
                <a:path h="246221" w="255751">
                  <a:moveTo>
                    <a:pt x="123111" y="0"/>
                  </a:moveTo>
                  <a:lnTo>
                    <a:pt x="132641" y="0"/>
                  </a:lnTo>
                  <a:cubicBezTo>
                    <a:pt x="200633" y="0"/>
                    <a:pt x="255751" y="55118"/>
                    <a:pt x="255751" y="123111"/>
                  </a:cubicBezTo>
                  <a:lnTo>
                    <a:pt x="255751" y="123111"/>
                  </a:lnTo>
                  <a:cubicBezTo>
                    <a:pt x="255751" y="155761"/>
                    <a:pt x="242781" y="187075"/>
                    <a:pt x="219693" y="210163"/>
                  </a:cubicBezTo>
                  <a:cubicBezTo>
                    <a:pt x="196605" y="233251"/>
                    <a:pt x="165292" y="246221"/>
                    <a:pt x="132641" y="246221"/>
                  </a:cubicBezTo>
                  <a:lnTo>
                    <a:pt x="123111" y="246221"/>
                  </a:lnTo>
                  <a:cubicBezTo>
                    <a:pt x="55118" y="246221"/>
                    <a:pt x="0" y="191103"/>
                    <a:pt x="0" y="123111"/>
                  </a:cubicBezTo>
                  <a:lnTo>
                    <a:pt x="0" y="123111"/>
                  </a:lnTo>
                  <a:cubicBezTo>
                    <a:pt x="0" y="55118"/>
                    <a:pt x="55118" y="0"/>
                    <a:pt x="123111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5751" cy="2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070059" y="-1671910"/>
            <a:ext cx="4378481" cy="437848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8A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4941" y="3709914"/>
            <a:ext cx="7432615" cy="5288481"/>
            <a:chOff x="0" y="0"/>
            <a:chExt cx="1957561" cy="13928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7561" cy="1392851"/>
            </a:xfrm>
            <a:custGeom>
              <a:avLst/>
              <a:gdLst/>
              <a:ahLst/>
              <a:cxnLst/>
              <a:rect r="r" b="b" t="t" l="l"/>
              <a:pathLst>
                <a:path h="1392851" w="1957561">
                  <a:moveTo>
                    <a:pt x="53122" y="0"/>
                  </a:moveTo>
                  <a:lnTo>
                    <a:pt x="1904439" y="0"/>
                  </a:lnTo>
                  <a:cubicBezTo>
                    <a:pt x="1918528" y="0"/>
                    <a:pt x="1932040" y="5597"/>
                    <a:pt x="1942002" y="15559"/>
                  </a:cubicBezTo>
                  <a:cubicBezTo>
                    <a:pt x="1951964" y="25522"/>
                    <a:pt x="1957561" y="39033"/>
                    <a:pt x="1957561" y="53122"/>
                  </a:cubicBezTo>
                  <a:lnTo>
                    <a:pt x="1957561" y="1339729"/>
                  </a:lnTo>
                  <a:cubicBezTo>
                    <a:pt x="1957561" y="1369067"/>
                    <a:pt x="1933778" y="1392851"/>
                    <a:pt x="1904439" y="1392851"/>
                  </a:cubicBezTo>
                  <a:lnTo>
                    <a:pt x="53122" y="1392851"/>
                  </a:lnTo>
                  <a:cubicBezTo>
                    <a:pt x="23784" y="1392851"/>
                    <a:pt x="0" y="1369067"/>
                    <a:pt x="0" y="1339729"/>
                  </a:cubicBezTo>
                  <a:lnTo>
                    <a:pt x="0" y="53122"/>
                  </a:lnTo>
                  <a:cubicBezTo>
                    <a:pt x="0" y="23784"/>
                    <a:pt x="23784" y="0"/>
                    <a:pt x="53122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57561" cy="144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26559" y="698305"/>
            <a:ext cx="9367706" cy="249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6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¿QUÉ TIPOS DE PROMPTS SE PUEDE UTILIZAR?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83269" y="4098666"/>
            <a:ext cx="7439064" cy="83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500" spc="3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PROMPTS DE AUTOCONSISTENCIA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28494" y="5362630"/>
            <a:ext cx="6515479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 emplean para guiar al modelo de lenguaje a generar una respuesta coherente y consistente con la información proporcionada en el prompt.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-202604" y="-2269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070059" y="-1671910"/>
            <a:ext cx="4378481" cy="437848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43973" y="8323430"/>
            <a:ext cx="971055" cy="934870"/>
            <a:chOff x="0" y="0"/>
            <a:chExt cx="255751" cy="2462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751" cy="246221"/>
            </a:xfrm>
            <a:custGeom>
              <a:avLst/>
              <a:gdLst/>
              <a:ahLst/>
              <a:cxnLst/>
              <a:rect r="r" b="b" t="t" l="l"/>
              <a:pathLst>
                <a:path h="246221" w="255751">
                  <a:moveTo>
                    <a:pt x="123111" y="0"/>
                  </a:moveTo>
                  <a:lnTo>
                    <a:pt x="132641" y="0"/>
                  </a:lnTo>
                  <a:cubicBezTo>
                    <a:pt x="200633" y="0"/>
                    <a:pt x="255751" y="55118"/>
                    <a:pt x="255751" y="123111"/>
                  </a:cubicBezTo>
                  <a:lnTo>
                    <a:pt x="255751" y="123111"/>
                  </a:lnTo>
                  <a:cubicBezTo>
                    <a:pt x="255751" y="155761"/>
                    <a:pt x="242781" y="187075"/>
                    <a:pt x="219693" y="210163"/>
                  </a:cubicBezTo>
                  <a:cubicBezTo>
                    <a:pt x="196605" y="233251"/>
                    <a:pt x="165292" y="246221"/>
                    <a:pt x="132641" y="246221"/>
                  </a:cubicBezTo>
                  <a:lnTo>
                    <a:pt x="123111" y="246221"/>
                  </a:lnTo>
                  <a:cubicBezTo>
                    <a:pt x="55118" y="246221"/>
                    <a:pt x="0" y="191103"/>
                    <a:pt x="0" y="123111"/>
                  </a:cubicBezTo>
                  <a:lnTo>
                    <a:pt x="0" y="123111"/>
                  </a:lnTo>
                  <a:cubicBezTo>
                    <a:pt x="0" y="55118"/>
                    <a:pt x="55118" y="0"/>
                    <a:pt x="1231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55751" cy="2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02604" y="-2269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60102"/>
            <a:ext cx="15759319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6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¿CÓMO SE UTILIZA UN PROMPT EN IA?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584842"/>
            <a:ext cx="7432615" cy="5288481"/>
            <a:chOff x="0" y="0"/>
            <a:chExt cx="1957561" cy="13928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7561" cy="1392851"/>
            </a:xfrm>
            <a:custGeom>
              <a:avLst/>
              <a:gdLst/>
              <a:ahLst/>
              <a:cxnLst/>
              <a:rect r="r" b="b" t="t" l="l"/>
              <a:pathLst>
                <a:path h="1392851" w="1957561">
                  <a:moveTo>
                    <a:pt x="53122" y="0"/>
                  </a:moveTo>
                  <a:lnTo>
                    <a:pt x="1904439" y="0"/>
                  </a:lnTo>
                  <a:cubicBezTo>
                    <a:pt x="1918528" y="0"/>
                    <a:pt x="1932040" y="5597"/>
                    <a:pt x="1942002" y="15559"/>
                  </a:cubicBezTo>
                  <a:cubicBezTo>
                    <a:pt x="1951964" y="25522"/>
                    <a:pt x="1957561" y="39033"/>
                    <a:pt x="1957561" y="53122"/>
                  </a:cubicBezTo>
                  <a:lnTo>
                    <a:pt x="1957561" y="1339729"/>
                  </a:lnTo>
                  <a:cubicBezTo>
                    <a:pt x="1957561" y="1369067"/>
                    <a:pt x="1933778" y="1392851"/>
                    <a:pt x="1904439" y="1392851"/>
                  </a:cubicBezTo>
                  <a:lnTo>
                    <a:pt x="53122" y="1392851"/>
                  </a:lnTo>
                  <a:cubicBezTo>
                    <a:pt x="23784" y="1392851"/>
                    <a:pt x="0" y="1369067"/>
                    <a:pt x="0" y="1339729"/>
                  </a:cubicBezTo>
                  <a:lnTo>
                    <a:pt x="0" y="53122"/>
                  </a:lnTo>
                  <a:cubicBezTo>
                    <a:pt x="0" y="23784"/>
                    <a:pt x="23784" y="0"/>
                    <a:pt x="53122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57561" cy="144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7027" y="3973595"/>
            <a:ext cx="743906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500" spc="3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DEFINIR EL 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4788" y="4741630"/>
            <a:ext cx="6515479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 debe tener claro qué se quiere lograr con el prompt, ya sea generar un texto, una imagen, una respuesta a una pregunta, entre otros.</a:t>
            </a: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90259" y="8405889"/>
            <a:ext cx="971055" cy="934870"/>
            <a:chOff x="0" y="0"/>
            <a:chExt cx="255751" cy="2462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5751" cy="246221"/>
            </a:xfrm>
            <a:custGeom>
              <a:avLst/>
              <a:gdLst/>
              <a:ahLst/>
              <a:cxnLst/>
              <a:rect r="r" b="b" t="t" l="l"/>
              <a:pathLst>
                <a:path h="246221" w="255751">
                  <a:moveTo>
                    <a:pt x="123111" y="0"/>
                  </a:moveTo>
                  <a:lnTo>
                    <a:pt x="132641" y="0"/>
                  </a:lnTo>
                  <a:cubicBezTo>
                    <a:pt x="200633" y="0"/>
                    <a:pt x="255751" y="55118"/>
                    <a:pt x="255751" y="123111"/>
                  </a:cubicBezTo>
                  <a:lnTo>
                    <a:pt x="255751" y="123111"/>
                  </a:lnTo>
                  <a:cubicBezTo>
                    <a:pt x="255751" y="155761"/>
                    <a:pt x="242781" y="187075"/>
                    <a:pt x="219693" y="210163"/>
                  </a:cubicBezTo>
                  <a:cubicBezTo>
                    <a:pt x="196605" y="233251"/>
                    <a:pt x="165292" y="246221"/>
                    <a:pt x="132641" y="246221"/>
                  </a:cubicBezTo>
                  <a:lnTo>
                    <a:pt x="123111" y="246221"/>
                  </a:lnTo>
                  <a:cubicBezTo>
                    <a:pt x="55118" y="246221"/>
                    <a:pt x="0" y="191103"/>
                    <a:pt x="0" y="123111"/>
                  </a:cubicBezTo>
                  <a:lnTo>
                    <a:pt x="0" y="123111"/>
                  </a:lnTo>
                  <a:cubicBezTo>
                    <a:pt x="0" y="55118"/>
                    <a:pt x="55118" y="0"/>
                    <a:pt x="123111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5751" cy="2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74437" y="7284805"/>
            <a:ext cx="4378481" cy="43784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55405" y="3584842"/>
            <a:ext cx="7432615" cy="5288481"/>
            <a:chOff x="0" y="0"/>
            <a:chExt cx="1957561" cy="1392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7561" cy="1392851"/>
            </a:xfrm>
            <a:custGeom>
              <a:avLst/>
              <a:gdLst/>
              <a:ahLst/>
              <a:cxnLst/>
              <a:rect r="r" b="b" t="t" l="l"/>
              <a:pathLst>
                <a:path h="1392851" w="1957561">
                  <a:moveTo>
                    <a:pt x="53122" y="0"/>
                  </a:moveTo>
                  <a:lnTo>
                    <a:pt x="1904439" y="0"/>
                  </a:lnTo>
                  <a:cubicBezTo>
                    <a:pt x="1918528" y="0"/>
                    <a:pt x="1932040" y="5597"/>
                    <a:pt x="1942002" y="15559"/>
                  </a:cubicBezTo>
                  <a:cubicBezTo>
                    <a:pt x="1951964" y="25522"/>
                    <a:pt x="1957561" y="39033"/>
                    <a:pt x="1957561" y="53122"/>
                  </a:cubicBezTo>
                  <a:lnTo>
                    <a:pt x="1957561" y="1339729"/>
                  </a:lnTo>
                  <a:cubicBezTo>
                    <a:pt x="1957561" y="1369067"/>
                    <a:pt x="1933778" y="1392851"/>
                    <a:pt x="1904439" y="1392851"/>
                  </a:cubicBezTo>
                  <a:lnTo>
                    <a:pt x="53122" y="1392851"/>
                  </a:lnTo>
                  <a:cubicBezTo>
                    <a:pt x="23784" y="1392851"/>
                    <a:pt x="0" y="1369067"/>
                    <a:pt x="0" y="1339729"/>
                  </a:cubicBezTo>
                  <a:lnTo>
                    <a:pt x="0" y="53122"/>
                  </a:lnTo>
                  <a:cubicBezTo>
                    <a:pt x="0" y="23784"/>
                    <a:pt x="23784" y="0"/>
                    <a:pt x="53122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57561" cy="144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33732" y="3973595"/>
            <a:ext cx="743906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500" spc="3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CREAR EL PROMPT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3391" y="4741630"/>
            <a:ext cx="6596641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hay que escribir el conjunto de palabras o frases que se utilizarán para indicarle a la IA lo que se quiere lograr.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60102"/>
            <a:ext cx="15759319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6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¿CÓMO SE UTILIZA UN PROMPT EN IA?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584842"/>
            <a:ext cx="7432615" cy="5288481"/>
            <a:chOff x="0" y="0"/>
            <a:chExt cx="1957561" cy="1392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7561" cy="1392851"/>
            </a:xfrm>
            <a:custGeom>
              <a:avLst/>
              <a:gdLst/>
              <a:ahLst/>
              <a:cxnLst/>
              <a:rect r="r" b="b" t="t" l="l"/>
              <a:pathLst>
                <a:path h="1392851" w="1957561">
                  <a:moveTo>
                    <a:pt x="53122" y="0"/>
                  </a:moveTo>
                  <a:lnTo>
                    <a:pt x="1904439" y="0"/>
                  </a:lnTo>
                  <a:cubicBezTo>
                    <a:pt x="1918528" y="0"/>
                    <a:pt x="1932040" y="5597"/>
                    <a:pt x="1942002" y="15559"/>
                  </a:cubicBezTo>
                  <a:cubicBezTo>
                    <a:pt x="1951964" y="25522"/>
                    <a:pt x="1957561" y="39033"/>
                    <a:pt x="1957561" y="53122"/>
                  </a:cubicBezTo>
                  <a:lnTo>
                    <a:pt x="1957561" y="1339729"/>
                  </a:lnTo>
                  <a:cubicBezTo>
                    <a:pt x="1957561" y="1369067"/>
                    <a:pt x="1933778" y="1392851"/>
                    <a:pt x="1904439" y="1392851"/>
                  </a:cubicBezTo>
                  <a:lnTo>
                    <a:pt x="53122" y="1392851"/>
                  </a:lnTo>
                  <a:cubicBezTo>
                    <a:pt x="23784" y="1392851"/>
                    <a:pt x="0" y="1369067"/>
                    <a:pt x="0" y="1339729"/>
                  </a:cubicBezTo>
                  <a:lnTo>
                    <a:pt x="0" y="53122"/>
                  </a:lnTo>
                  <a:cubicBezTo>
                    <a:pt x="0" y="23784"/>
                    <a:pt x="23784" y="0"/>
                    <a:pt x="53122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57561" cy="144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7027" y="3973595"/>
            <a:ext cx="743906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500" spc="3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ENTRENAR EL MODELO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0308" y="5334000"/>
            <a:ext cx="651547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 debe entrenar el modelo de IA con el prompt creado para que pueda generar la respuesta deseada.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90259" y="8405889"/>
            <a:ext cx="971055" cy="934870"/>
            <a:chOff x="0" y="0"/>
            <a:chExt cx="255751" cy="2462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751" cy="246221"/>
            </a:xfrm>
            <a:custGeom>
              <a:avLst/>
              <a:gdLst/>
              <a:ahLst/>
              <a:cxnLst/>
              <a:rect r="r" b="b" t="t" l="l"/>
              <a:pathLst>
                <a:path h="246221" w="255751">
                  <a:moveTo>
                    <a:pt x="123111" y="0"/>
                  </a:moveTo>
                  <a:lnTo>
                    <a:pt x="132641" y="0"/>
                  </a:lnTo>
                  <a:cubicBezTo>
                    <a:pt x="200633" y="0"/>
                    <a:pt x="255751" y="55118"/>
                    <a:pt x="255751" y="123111"/>
                  </a:cubicBezTo>
                  <a:lnTo>
                    <a:pt x="255751" y="123111"/>
                  </a:lnTo>
                  <a:cubicBezTo>
                    <a:pt x="255751" y="155761"/>
                    <a:pt x="242781" y="187075"/>
                    <a:pt x="219693" y="210163"/>
                  </a:cubicBezTo>
                  <a:cubicBezTo>
                    <a:pt x="196605" y="233251"/>
                    <a:pt x="165292" y="246221"/>
                    <a:pt x="132641" y="246221"/>
                  </a:cubicBezTo>
                  <a:lnTo>
                    <a:pt x="123111" y="246221"/>
                  </a:lnTo>
                  <a:cubicBezTo>
                    <a:pt x="55118" y="246221"/>
                    <a:pt x="0" y="191103"/>
                    <a:pt x="0" y="123111"/>
                  </a:cubicBezTo>
                  <a:lnTo>
                    <a:pt x="0" y="123111"/>
                  </a:lnTo>
                  <a:cubicBezTo>
                    <a:pt x="0" y="55118"/>
                    <a:pt x="55118" y="0"/>
                    <a:pt x="123111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5751" cy="2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526430" y="481783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355405" y="3584842"/>
            <a:ext cx="7432615" cy="5288481"/>
            <a:chOff x="0" y="0"/>
            <a:chExt cx="1957561" cy="13928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7561" cy="1392851"/>
            </a:xfrm>
            <a:custGeom>
              <a:avLst/>
              <a:gdLst/>
              <a:ahLst/>
              <a:cxnLst/>
              <a:rect r="r" b="b" t="t" l="l"/>
              <a:pathLst>
                <a:path h="1392851" w="1957561">
                  <a:moveTo>
                    <a:pt x="53122" y="0"/>
                  </a:moveTo>
                  <a:lnTo>
                    <a:pt x="1904439" y="0"/>
                  </a:lnTo>
                  <a:cubicBezTo>
                    <a:pt x="1918528" y="0"/>
                    <a:pt x="1932040" y="5597"/>
                    <a:pt x="1942002" y="15559"/>
                  </a:cubicBezTo>
                  <a:cubicBezTo>
                    <a:pt x="1951964" y="25522"/>
                    <a:pt x="1957561" y="39033"/>
                    <a:pt x="1957561" y="53122"/>
                  </a:cubicBezTo>
                  <a:lnTo>
                    <a:pt x="1957561" y="1339729"/>
                  </a:lnTo>
                  <a:cubicBezTo>
                    <a:pt x="1957561" y="1369067"/>
                    <a:pt x="1933778" y="1392851"/>
                    <a:pt x="1904439" y="1392851"/>
                  </a:cubicBezTo>
                  <a:lnTo>
                    <a:pt x="53122" y="1392851"/>
                  </a:lnTo>
                  <a:cubicBezTo>
                    <a:pt x="23784" y="1392851"/>
                    <a:pt x="0" y="1369067"/>
                    <a:pt x="0" y="1339729"/>
                  </a:cubicBezTo>
                  <a:lnTo>
                    <a:pt x="0" y="53122"/>
                  </a:lnTo>
                  <a:cubicBezTo>
                    <a:pt x="0" y="23784"/>
                    <a:pt x="23784" y="0"/>
                    <a:pt x="53122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57561" cy="144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33732" y="3973595"/>
            <a:ext cx="7439064" cy="83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500" spc="3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EVALUAR LOS RESULTADOS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73391" y="5067300"/>
            <a:ext cx="6596641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 debe evaluar la respuesta generada por el modelo de IA y ajustar el prompt si es necesario para mejorar los resultados.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2189241" y="-2189241"/>
            <a:ext cx="4378481" cy="437848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7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8759" y="-1916464"/>
            <a:ext cx="4378481" cy="43784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60146"/>
            <a:ext cx="15835936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6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ESTRATEGIAS QUE SE PUEDEN UTILIZAR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92367" y="2462017"/>
            <a:ext cx="15270329" cy="1762778"/>
            <a:chOff x="0" y="0"/>
            <a:chExt cx="4021815" cy="464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1815" cy="464271"/>
            </a:xfrm>
            <a:custGeom>
              <a:avLst/>
              <a:gdLst/>
              <a:ahLst/>
              <a:cxnLst/>
              <a:rect r="r" b="b" t="t" l="l"/>
              <a:pathLst>
                <a:path h="464271" w="4021815">
                  <a:moveTo>
                    <a:pt x="25857" y="0"/>
                  </a:moveTo>
                  <a:lnTo>
                    <a:pt x="3995958" y="0"/>
                  </a:lnTo>
                  <a:cubicBezTo>
                    <a:pt x="4002816" y="0"/>
                    <a:pt x="4009393" y="2724"/>
                    <a:pt x="4014242" y="7573"/>
                  </a:cubicBezTo>
                  <a:cubicBezTo>
                    <a:pt x="4019091" y="12422"/>
                    <a:pt x="4021815" y="18999"/>
                    <a:pt x="4021815" y="25857"/>
                  </a:cubicBezTo>
                  <a:lnTo>
                    <a:pt x="4021815" y="438414"/>
                  </a:lnTo>
                  <a:cubicBezTo>
                    <a:pt x="4021815" y="452694"/>
                    <a:pt x="4010239" y="464271"/>
                    <a:pt x="3995958" y="464271"/>
                  </a:cubicBezTo>
                  <a:lnTo>
                    <a:pt x="25857" y="464271"/>
                  </a:lnTo>
                  <a:cubicBezTo>
                    <a:pt x="18999" y="464271"/>
                    <a:pt x="12422" y="461547"/>
                    <a:pt x="7573" y="456698"/>
                  </a:cubicBezTo>
                  <a:cubicBezTo>
                    <a:pt x="2724" y="451849"/>
                    <a:pt x="0" y="445272"/>
                    <a:pt x="0" y="438414"/>
                  </a:cubicBezTo>
                  <a:lnTo>
                    <a:pt x="0" y="25857"/>
                  </a:lnTo>
                  <a:cubicBezTo>
                    <a:pt x="0" y="18999"/>
                    <a:pt x="2724" y="12422"/>
                    <a:pt x="7573" y="7573"/>
                  </a:cubicBezTo>
                  <a:cubicBezTo>
                    <a:pt x="12422" y="2724"/>
                    <a:pt x="18999" y="0"/>
                    <a:pt x="258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21815" cy="51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18663" y="2619718"/>
            <a:ext cx="1504130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Ser específico: el prompt debe ser lo suficientemente específico para que la  IA pueda entender exactamente lo que se le está pidiendo.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967170" y="4891546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66072" y="4891546"/>
            <a:ext cx="15270329" cy="1914967"/>
            <a:chOff x="0" y="0"/>
            <a:chExt cx="4021815" cy="5043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21815" cy="504353"/>
            </a:xfrm>
            <a:custGeom>
              <a:avLst/>
              <a:gdLst/>
              <a:ahLst/>
              <a:cxnLst/>
              <a:rect r="r" b="b" t="t" l="l"/>
              <a:pathLst>
                <a:path h="504353" w="4021815">
                  <a:moveTo>
                    <a:pt x="25857" y="0"/>
                  </a:moveTo>
                  <a:lnTo>
                    <a:pt x="3995958" y="0"/>
                  </a:lnTo>
                  <a:cubicBezTo>
                    <a:pt x="4002816" y="0"/>
                    <a:pt x="4009393" y="2724"/>
                    <a:pt x="4014242" y="7573"/>
                  </a:cubicBezTo>
                  <a:cubicBezTo>
                    <a:pt x="4019091" y="12422"/>
                    <a:pt x="4021815" y="18999"/>
                    <a:pt x="4021815" y="25857"/>
                  </a:cubicBezTo>
                  <a:lnTo>
                    <a:pt x="4021815" y="478497"/>
                  </a:lnTo>
                  <a:cubicBezTo>
                    <a:pt x="4021815" y="485354"/>
                    <a:pt x="4019091" y="491931"/>
                    <a:pt x="4014242" y="496780"/>
                  </a:cubicBezTo>
                  <a:cubicBezTo>
                    <a:pt x="4009393" y="501629"/>
                    <a:pt x="4002816" y="504353"/>
                    <a:pt x="3995958" y="504353"/>
                  </a:cubicBezTo>
                  <a:lnTo>
                    <a:pt x="25857" y="504353"/>
                  </a:lnTo>
                  <a:cubicBezTo>
                    <a:pt x="11576" y="504353"/>
                    <a:pt x="0" y="492777"/>
                    <a:pt x="0" y="478497"/>
                  </a:cubicBezTo>
                  <a:lnTo>
                    <a:pt x="0" y="25857"/>
                  </a:lnTo>
                  <a:cubicBezTo>
                    <a:pt x="0" y="18999"/>
                    <a:pt x="2724" y="12422"/>
                    <a:pt x="7573" y="7573"/>
                  </a:cubicBezTo>
                  <a:cubicBezTo>
                    <a:pt x="12422" y="2724"/>
                    <a:pt x="18999" y="0"/>
                    <a:pt x="25857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21815" cy="551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68796" y="5049246"/>
            <a:ext cx="1504130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2. Ser claro y conciso: el prompt debe ser fácil de entender y evitar ambigüedades o dobles sentidos que puedan llevar a malas interpretaciones.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50873" y="6182011"/>
            <a:ext cx="971055" cy="934870"/>
            <a:chOff x="0" y="0"/>
            <a:chExt cx="255751" cy="2462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5751" cy="246221"/>
            </a:xfrm>
            <a:custGeom>
              <a:avLst/>
              <a:gdLst/>
              <a:ahLst/>
              <a:cxnLst/>
              <a:rect r="r" b="b" t="t" l="l"/>
              <a:pathLst>
                <a:path h="246221" w="255751">
                  <a:moveTo>
                    <a:pt x="123111" y="0"/>
                  </a:moveTo>
                  <a:lnTo>
                    <a:pt x="132641" y="0"/>
                  </a:lnTo>
                  <a:cubicBezTo>
                    <a:pt x="200633" y="0"/>
                    <a:pt x="255751" y="55118"/>
                    <a:pt x="255751" y="123111"/>
                  </a:cubicBezTo>
                  <a:lnTo>
                    <a:pt x="255751" y="123111"/>
                  </a:lnTo>
                  <a:cubicBezTo>
                    <a:pt x="255751" y="155761"/>
                    <a:pt x="242781" y="187075"/>
                    <a:pt x="219693" y="210163"/>
                  </a:cubicBezTo>
                  <a:cubicBezTo>
                    <a:pt x="196605" y="233251"/>
                    <a:pt x="165292" y="246221"/>
                    <a:pt x="132641" y="246221"/>
                  </a:cubicBezTo>
                  <a:lnTo>
                    <a:pt x="123111" y="246221"/>
                  </a:lnTo>
                  <a:cubicBezTo>
                    <a:pt x="55118" y="246221"/>
                    <a:pt x="0" y="191103"/>
                    <a:pt x="0" y="123111"/>
                  </a:cubicBezTo>
                  <a:lnTo>
                    <a:pt x="0" y="123111"/>
                  </a:lnTo>
                  <a:cubicBezTo>
                    <a:pt x="0" y="55118"/>
                    <a:pt x="55118" y="0"/>
                    <a:pt x="123111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55751" cy="2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2367" y="7470157"/>
            <a:ext cx="15270329" cy="1788143"/>
            <a:chOff x="0" y="0"/>
            <a:chExt cx="4021815" cy="4709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1815" cy="470951"/>
            </a:xfrm>
            <a:custGeom>
              <a:avLst/>
              <a:gdLst/>
              <a:ahLst/>
              <a:cxnLst/>
              <a:rect r="r" b="b" t="t" l="l"/>
              <a:pathLst>
                <a:path h="470951" w="4021815">
                  <a:moveTo>
                    <a:pt x="25857" y="0"/>
                  </a:moveTo>
                  <a:lnTo>
                    <a:pt x="3995958" y="0"/>
                  </a:lnTo>
                  <a:cubicBezTo>
                    <a:pt x="4002816" y="0"/>
                    <a:pt x="4009393" y="2724"/>
                    <a:pt x="4014242" y="7573"/>
                  </a:cubicBezTo>
                  <a:cubicBezTo>
                    <a:pt x="4019091" y="12422"/>
                    <a:pt x="4021815" y="18999"/>
                    <a:pt x="4021815" y="25857"/>
                  </a:cubicBezTo>
                  <a:lnTo>
                    <a:pt x="4021815" y="445095"/>
                  </a:lnTo>
                  <a:cubicBezTo>
                    <a:pt x="4021815" y="451952"/>
                    <a:pt x="4019091" y="458529"/>
                    <a:pt x="4014242" y="463378"/>
                  </a:cubicBezTo>
                  <a:cubicBezTo>
                    <a:pt x="4009393" y="468227"/>
                    <a:pt x="4002816" y="470951"/>
                    <a:pt x="3995958" y="470951"/>
                  </a:cubicBezTo>
                  <a:lnTo>
                    <a:pt x="25857" y="470951"/>
                  </a:lnTo>
                  <a:cubicBezTo>
                    <a:pt x="18999" y="470951"/>
                    <a:pt x="12422" y="468227"/>
                    <a:pt x="7573" y="463378"/>
                  </a:cubicBezTo>
                  <a:cubicBezTo>
                    <a:pt x="2724" y="458529"/>
                    <a:pt x="0" y="451952"/>
                    <a:pt x="0" y="445095"/>
                  </a:cubicBezTo>
                  <a:lnTo>
                    <a:pt x="0" y="25857"/>
                  </a:lnTo>
                  <a:cubicBezTo>
                    <a:pt x="0" y="18999"/>
                    <a:pt x="2724" y="12422"/>
                    <a:pt x="7573" y="7573"/>
                  </a:cubicBezTo>
                  <a:cubicBezTo>
                    <a:pt x="12422" y="2724"/>
                    <a:pt x="18999" y="0"/>
                    <a:pt x="258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021815" cy="518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68777" y="7526028"/>
            <a:ext cx="1504130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3. Proporcionar información detallada: se debe proporcionar a la IA información detallada sobre el tema, el tono, el estilo y cualquier otro aspecto relevante del contenido que se desea generar.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B1D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8245" y="-1160541"/>
            <a:ext cx="4378481" cy="43784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60146"/>
            <a:ext cx="15835936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6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ESTRATEGIAS QUE SE PUEDEN UTILIZAR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6935" y="2904466"/>
            <a:ext cx="15270329" cy="1762778"/>
            <a:chOff x="0" y="0"/>
            <a:chExt cx="4021815" cy="464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1815" cy="464271"/>
            </a:xfrm>
            <a:custGeom>
              <a:avLst/>
              <a:gdLst/>
              <a:ahLst/>
              <a:cxnLst/>
              <a:rect r="r" b="b" t="t" l="l"/>
              <a:pathLst>
                <a:path h="464271" w="4021815">
                  <a:moveTo>
                    <a:pt x="25857" y="0"/>
                  </a:moveTo>
                  <a:lnTo>
                    <a:pt x="3995958" y="0"/>
                  </a:lnTo>
                  <a:cubicBezTo>
                    <a:pt x="4002816" y="0"/>
                    <a:pt x="4009393" y="2724"/>
                    <a:pt x="4014242" y="7573"/>
                  </a:cubicBezTo>
                  <a:cubicBezTo>
                    <a:pt x="4019091" y="12422"/>
                    <a:pt x="4021815" y="18999"/>
                    <a:pt x="4021815" y="25857"/>
                  </a:cubicBezTo>
                  <a:lnTo>
                    <a:pt x="4021815" y="438414"/>
                  </a:lnTo>
                  <a:cubicBezTo>
                    <a:pt x="4021815" y="452694"/>
                    <a:pt x="4010239" y="464271"/>
                    <a:pt x="3995958" y="464271"/>
                  </a:cubicBezTo>
                  <a:lnTo>
                    <a:pt x="25857" y="464271"/>
                  </a:lnTo>
                  <a:cubicBezTo>
                    <a:pt x="18999" y="464271"/>
                    <a:pt x="12422" y="461547"/>
                    <a:pt x="7573" y="456698"/>
                  </a:cubicBezTo>
                  <a:cubicBezTo>
                    <a:pt x="2724" y="451849"/>
                    <a:pt x="0" y="445272"/>
                    <a:pt x="0" y="438414"/>
                  </a:cubicBezTo>
                  <a:lnTo>
                    <a:pt x="0" y="25857"/>
                  </a:lnTo>
                  <a:cubicBezTo>
                    <a:pt x="0" y="18999"/>
                    <a:pt x="2724" y="12422"/>
                    <a:pt x="7573" y="7573"/>
                  </a:cubicBezTo>
                  <a:cubicBezTo>
                    <a:pt x="12422" y="2724"/>
                    <a:pt x="18999" y="0"/>
                    <a:pt x="25857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21815" cy="51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87338" y="3214355"/>
            <a:ext cx="1473693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4.Utilizar ejemplos prácticos: se pueden utilizar ejemplos prácticos para que la IA pueda entender mejor lo que se le está pidiendo.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0640" y="5333995"/>
            <a:ext cx="15270329" cy="1914967"/>
            <a:chOff x="0" y="0"/>
            <a:chExt cx="4021815" cy="5043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1815" cy="504353"/>
            </a:xfrm>
            <a:custGeom>
              <a:avLst/>
              <a:gdLst/>
              <a:ahLst/>
              <a:cxnLst/>
              <a:rect r="r" b="b" t="t" l="l"/>
              <a:pathLst>
                <a:path h="504353" w="4021815">
                  <a:moveTo>
                    <a:pt x="25857" y="0"/>
                  </a:moveTo>
                  <a:lnTo>
                    <a:pt x="3995958" y="0"/>
                  </a:lnTo>
                  <a:cubicBezTo>
                    <a:pt x="4002816" y="0"/>
                    <a:pt x="4009393" y="2724"/>
                    <a:pt x="4014242" y="7573"/>
                  </a:cubicBezTo>
                  <a:cubicBezTo>
                    <a:pt x="4019091" y="12422"/>
                    <a:pt x="4021815" y="18999"/>
                    <a:pt x="4021815" y="25857"/>
                  </a:cubicBezTo>
                  <a:lnTo>
                    <a:pt x="4021815" y="478497"/>
                  </a:lnTo>
                  <a:cubicBezTo>
                    <a:pt x="4021815" y="485354"/>
                    <a:pt x="4019091" y="491931"/>
                    <a:pt x="4014242" y="496780"/>
                  </a:cubicBezTo>
                  <a:cubicBezTo>
                    <a:pt x="4009393" y="501629"/>
                    <a:pt x="4002816" y="504353"/>
                    <a:pt x="3995958" y="504353"/>
                  </a:cubicBezTo>
                  <a:lnTo>
                    <a:pt x="25857" y="504353"/>
                  </a:lnTo>
                  <a:cubicBezTo>
                    <a:pt x="11576" y="504353"/>
                    <a:pt x="0" y="492777"/>
                    <a:pt x="0" y="478497"/>
                  </a:cubicBezTo>
                  <a:lnTo>
                    <a:pt x="0" y="25857"/>
                  </a:lnTo>
                  <a:cubicBezTo>
                    <a:pt x="0" y="18999"/>
                    <a:pt x="2724" y="12422"/>
                    <a:pt x="7573" y="7573"/>
                  </a:cubicBezTo>
                  <a:cubicBezTo>
                    <a:pt x="12422" y="2724"/>
                    <a:pt x="18999" y="0"/>
                    <a:pt x="25857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021815" cy="551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40155" y="5719978"/>
            <a:ext cx="1481302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5.Evaluar los resultados: hay que evaluar la respuesta generada por la IA y ajustar el prompt si es necesario para mejorar los resultados.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005441" y="6624460"/>
            <a:ext cx="971055" cy="934870"/>
            <a:chOff x="0" y="0"/>
            <a:chExt cx="255751" cy="2462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5751" cy="246221"/>
            </a:xfrm>
            <a:custGeom>
              <a:avLst/>
              <a:gdLst/>
              <a:ahLst/>
              <a:cxnLst/>
              <a:rect r="r" b="b" t="t" l="l"/>
              <a:pathLst>
                <a:path h="246221" w="255751">
                  <a:moveTo>
                    <a:pt x="123111" y="0"/>
                  </a:moveTo>
                  <a:lnTo>
                    <a:pt x="132641" y="0"/>
                  </a:lnTo>
                  <a:cubicBezTo>
                    <a:pt x="200633" y="0"/>
                    <a:pt x="255751" y="55118"/>
                    <a:pt x="255751" y="123111"/>
                  </a:cubicBezTo>
                  <a:lnTo>
                    <a:pt x="255751" y="123111"/>
                  </a:lnTo>
                  <a:cubicBezTo>
                    <a:pt x="255751" y="155761"/>
                    <a:pt x="242781" y="187075"/>
                    <a:pt x="219693" y="210163"/>
                  </a:cubicBezTo>
                  <a:cubicBezTo>
                    <a:pt x="196605" y="233251"/>
                    <a:pt x="165292" y="246221"/>
                    <a:pt x="132641" y="246221"/>
                  </a:cubicBezTo>
                  <a:lnTo>
                    <a:pt x="123111" y="246221"/>
                  </a:lnTo>
                  <a:cubicBezTo>
                    <a:pt x="55118" y="246221"/>
                    <a:pt x="0" y="191103"/>
                    <a:pt x="0" y="123111"/>
                  </a:cubicBezTo>
                  <a:lnTo>
                    <a:pt x="0" y="123111"/>
                  </a:lnTo>
                  <a:cubicBezTo>
                    <a:pt x="0" y="55118"/>
                    <a:pt x="55118" y="0"/>
                    <a:pt x="1231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5751" cy="293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44930">
            <a:off x="2872072" y="5064253"/>
            <a:ext cx="6826419" cy="1664211"/>
            <a:chOff x="0" y="0"/>
            <a:chExt cx="1146356" cy="279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6356" cy="279470"/>
            </a:xfrm>
            <a:custGeom>
              <a:avLst/>
              <a:gdLst/>
              <a:ahLst/>
              <a:cxnLst/>
              <a:rect r="r" b="b" t="t" l="l"/>
              <a:pathLst>
                <a:path h="279470" w="1146356">
                  <a:moveTo>
                    <a:pt x="87327" y="0"/>
                  </a:moveTo>
                  <a:lnTo>
                    <a:pt x="1059029" y="0"/>
                  </a:lnTo>
                  <a:cubicBezTo>
                    <a:pt x="1107259" y="0"/>
                    <a:pt x="1146356" y="39097"/>
                    <a:pt x="1146356" y="87327"/>
                  </a:cubicBezTo>
                  <a:lnTo>
                    <a:pt x="1146356" y="192143"/>
                  </a:lnTo>
                  <a:cubicBezTo>
                    <a:pt x="1146356" y="240372"/>
                    <a:pt x="1107259" y="279470"/>
                    <a:pt x="1059029" y="279470"/>
                  </a:cubicBezTo>
                  <a:lnTo>
                    <a:pt x="87327" y="279470"/>
                  </a:lnTo>
                  <a:cubicBezTo>
                    <a:pt x="39097" y="279470"/>
                    <a:pt x="0" y="240372"/>
                    <a:pt x="0" y="192143"/>
                  </a:cubicBezTo>
                  <a:lnTo>
                    <a:pt x="0" y="87327"/>
                  </a:lnTo>
                  <a:cubicBezTo>
                    <a:pt x="0" y="39097"/>
                    <a:pt x="39097" y="0"/>
                    <a:pt x="87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46356" cy="384245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>
                <a:lnSpc>
                  <a:spcPts val="7349"/>
                </a:lnSpc>
                <a:spcBef>
                  <a:spcPct val="0"/>
                </a:spcBef>
              </a:pPr>
              <a:r>
                <a:rPr lang="en-US" sz="5249" spc="540">
                  <a:solidFill>
                    <a:srgbClr val="00000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DUDA?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-434561">
            <a:off x="1153511" y="3715941"/>
            <a:ext cx="6826419" cy="1664211"/>
            <a:chOff x="0" y="0"/>
            <a:chExt cx="1146356" cy="2794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6356" cy="279470"/>
            </a:xfrm>
            <a:custGeom>
              <a:avLst/>
              <a:gdLst/>
              <a:ahLst/>
              <a:cxnLst/>
              <a:rect r="r" b="b" t="t" l="l"/>
              <a:pathLst>
                <a:path h="279470" w="1146356">
                  <a:moveTo>
                    <a:pt x="87327" y="0"/>
                  </a:moveTo>
                  <a:lnTo>
                    <a:pt x="1059029" y="0"/>
                  </a:lnTo>
                  <a:cubicBezTo>
                    <a:pt x="1107259" y="0"/>
                    <a:pt x="1146356" y="39097"/>
                    <a:pt x="1146356" y="87327"/>
                  </a:cubicBezTo>
                  <a:lnTo>
                    <a:pt x="1146356" y="192143"/>
                  </a:lnTo>
                  <a:cubicBezTo>
                    <a:pt x="1146356" y="240372"/>
                    <a:pt x="1107259" y="279470"/>
                    <a:pt x="1059029" y="279470"/>
                  </a:cubicBezTo>
                  <a:lnTo>
                    <a:pt x="87327" y="279470"/>
                  </a:lnTo>
                  <a:cubicBezTo>
                    <a:pt x="39097" y="279470"/>
                    <a:pt x="0" y="240372"/>
                    <a:pt x="0" y="192143"/>
                  </a:cubicBezTo>
                  <a:lnTo>
                    <a:pt x="0" y="87327"/>
                  </a:lnTo>
                  <a:cubicBezTo>
                    <a:pt x="0" y="39097"/>
                    <a:pt x="39097" y="0"/>
                    <a:pt x="87327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146356" cy="403295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5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¿ALGUNA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93858" y="1266093"/>
            <a:ext cx="5524119" cy="8229600"/>
          </a:xfrm>
          <a:custGeom>
            <a:avLst/>
            <a:gdLst/>
            <a:ahLst/>
            <a:cxnLst/>
            <a:rect r="r" b="b" t="t" l="l"/>
            <a:pathLst>
              <a:path h="8229600" w="5524119">
                <a:moveTo>
                  <a:pt x="0" y="0"/>
                </a:moveTo>
                <a:lnTo>
                  <a:pt x="5524119" y="0"/>
                </a:lnTo>
                <a:lnTo>
                  <a:pt x="5524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DAF_97K5wzM</dc:identifier>
  <dcterms:modified xsi:type="dcterms:W3CDTF">2011-08-01T06:04:30Z</dcterms:modified>
  <cp:revision>1</cp:revision>
  <dc:title>Clase 9</dc:title>
</cp:coreProperties>
</file>