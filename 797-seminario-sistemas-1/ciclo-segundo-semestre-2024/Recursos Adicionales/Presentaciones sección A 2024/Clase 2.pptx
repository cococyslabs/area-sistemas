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Poppins Bold" charset="1" panose="00000800000000000000"/>
      <p:regular r:id="rId24"/>
    </p:embeddedFont>
    <p:embeddedFont>
      <p:font typeface="Poppins" charset="1" panose="00000500000000000000"/>
      <p:regular r:id="rId25"/>
    </p:embeddedFont>
    <p:embeddedFont>
      <p:font typeface="Poppins Light" charset="1" panose="000004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34.png" Type="http://schemas.openxmlformats.org/officeDocument/2006/relationships/image"/><Relationship Id="rId13" Target="../media/image35.svg" Type="http://schemas.openxmlformats.org/officeDocument/2006/relationships/image"/><Relationship Id="rId14" Target="../media/image36.png" Type="http://schemas.openxmlformats.org/officeDocument/2006/relationships/image"/><Relationship Id="rId15" Target="../media/image37.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https://docs.aws.amazon.com/es_es/AWSEC2/latest/UserGuide/get-set-up-for-amazon-ec2.html"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Freeform 2" id="2"/>
          <p:cNvSpPr/>
          <p:nvPr/>
        </p:nvSpPr>
        <p:spPr>
          <a:xfrm flipH="false" flipV="false" rot="0">
            <a:off x="13550987" y="3184451"/>
            <a:ext cx="10946941" cy="8896877"/>
          </a:xfrm>
          <a:custGeom>
            <a:avLst/>
            <a:gdLst/>
            <a:ahLst/>
            <a:cxnLst/>
            <a:rect r="r" b="b" t="t" l="l"/>
            <a:pathLst>
              <a:path h="8896877" w="10946941">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43554" y="-1718684"/>
            <a:ext cx="5643741" cy="4114800"/>
          </a:xfrm>
          <a:custGeom>
            <a:avLst/>
            <a:gdLst/>
            <a:ahLst/>
            <a:cxnLst/>
            <a:rect r="r" b="b" t="t" l="l"/>
            <a:pathLst>
              <a:path h="4114800" w="5643741">
                <a:moveTo>
                  <a:pt x="0" y="0"/>
                </a:moveTo>
                <a:lnTo>
                  <a:pt x="5643740" y="0"/>
                </a:lnTo>
                <a:lnTo>
                  <a:pt x="56437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9998267"/>
            <a:ext cx="9144000" cy="288733"/>
            <a:chOff x="0" y="0"/>
            <a:chExt cx="2408296" cy="76045"/>
          </a:xfrm>
        </p:grpSpPr>
        <p:sp>
          <p:nvSpPr>
            <p:cNvPr name="Freeform 5" id="5"/>
            <p:cNvSpPr/>
            <p:nvPr/>
          </p:nvSpPr>
          <p:spPr>
            <a:xfrm flipH="false" flipV="false" rot="0">
              <a:off x="0" y="0"/>
              <a:ext cx="2408296" cy="76045"/>
            </a:xfrm>
            <a:custGeom>
              <a:avLst/>
              <a:gdLst/>
              <a:ahLst/>
              <a:cxnLst/>
              <a:rect r="r" b="b" t="t" l="l"/>
              <a:pathLst>
                <a:path h="76045" w="2408296">
                  <a:moveTo>
                    <a:pt x="0" y="0"/>
                  </a:moveTo>
                  <a:lnTo>
                    <a:pt x="2408296" y="0"/>
                  </a:lnTo>
                  <a:lnTo>
                    <a:pt x="2408296" y="76045"/>
                  </a:lnTo>
                  <a:lnTo>
                    <a:pt x="0" y="76045"/>
                  </a:lnTo>
                  <a:close/>
                </a:path>
              </a:pathLst>
            </a:custGeom>
            <a:solidFill>
              <a:srgbClr val="3DCAB1"/>
            </a:solidFill>
          </p:spPr>
        </p:sp>
        <p:sp>
          <p:nvSpPr>
            <p:cNvPr name="TextBox 6" id="6"/>
            <p:cNvSpPr txBox="true"/>
            <p:nvPr/>
          </p:nvSpPr>
          <p:spPr>
            <a:xfrm>
              <a:off x="0" y="-38100"/>
              <a:ext cx="2408296" cy="11414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3317051" y="3877164"/>
            <a:ext cx="9970610" cy="2307072"/>
          </a:xfrm>
          <a:prstGeom prst="rect">
            <a:avLst/>
          </a:prstGeom>
        </p:spPr>
        <p:txBody>
          <a:bodyPr anchor="t" rtlCol="false" tIns="0" lIns="0" bIns="0" rIns="0">
            <a:spAutoFit/>
          </a:bodyPr>
          <a:lstStyle/>
          <a:p>
            <a:pPr algn="l">
              <a:lnSpc>
                <a:spcPts val="9008"/>
              </a:lnSpc>
            </a:pPr>
            <a:r>
              <a:rPr lang="en-US" sz="6434" spc="-109" b="true">
                <a:solidFill>
                  <a:srgbClr val="FFFFFF"/>
                </a:solidFill>
                <a:latin typeface="Poppins Bold"/>
                <a:ea typeface="Poppins Bold"/>
                <a:cs typeface="Poppins Bold"/>
                <a:sym typeface="Poppins Bold"/>
              </a:rPr>
              <a:t>Laboratorio</a:t>
            </a:r>
          </a:p>
          <a:p>
            <a:pPr algn="l">
              <a:lnSpc>
                <a:spcPts val="9008"/>
              </a:lnSpc>
            </a:pPr>
            <a:r>
              <a:rPr lang="en-US" sz="6434" spc="-109" b="true">
                <a:solidFill>
                  <a:srgbClr val="FFFFFF"/>
                </a:solidFill>
                <a:latin typeface="Poppins Bold"/>
                <a:ea typeface="Poppins Bold"/>
                <a:cs typeface="Poppins Bold"/>
                <a:sym typeface="Poppins Bold"/>
              </a:rPr>
              <a:t>Seminario de Sistemas 1</a:t>
            </a:r>
          </a:p>
        </p:txBody>
      </p:sp>
      <p:sp>
        <p:nvSpPr>
          <p:cNvPr name="TextBox 8" id="8"/>
          <p:cNvSpPr txBox="true"/>
          <p:nvPr/>
        </p:nvSpPr>
        <p:spPr>
          <a:xfrm rot="0">
            <a:off x="5358841" y="6553541"/>
            <a:ext cx="7928819" cy="501650"/>
          </a:xfrm>
          <a:prstGeom prst="rect">
            <a:avLst/>
          </a:prstGeom>
        </p:spPr>
        <p:txBody>
          <a:bodyPr anchor="t" rtlCol="false" tIns="0" lIns="0" bIns="0" rIns="0">
            <a:spAutoFit/>
          </a:bodyPr>
          <a:lstStyle/>
          <a:p>
            <a:pPr algn="r">
              <a:lnSpc>
                <a:spcPts val="4000"/>
              </a:lnSpc>
            </a:pPr>
            <a:r>
              <a:rPr lang="en-US" sz="2500">
                <a:solidFill>
                  <a:srgbClr val="D9D9D9"/>
                </a:solidFill>
                <a:latin typeface="Poppins"/>
                <a:ea typeface="Poppins"/>
                <a:cs typeface="Poppins"/>
                <a:sym typeface="Poppins"/>
              </a:rPr>
              <a:t>Clase 2</a:t>
            </a:r>
          </a:p>
        </p:txBody>
      </p:sp>
      <p:sp>
        <p:nvSpPr>
          <p:cNvPr name="TextBox 9" id="9"/>
          <p:cNvSpPr txBox="true"/>
          <p:nvPr/>
        </p:nvSpPr>
        <p:spPr>
          <a:xfrm rot="0">
            <a:off x="3317051" y="3242164"/>
            <a:ext cx="7928819" cy="492125"/>
          </a:xfrm>
          <a:prstGeom prst="rect">
            <a:avLst/>
          </a:prstGeom>
        </p:spPr>
        <p:txBody>
          <a:bodyPr anchor="t" rtlCol="false" tIns="0" lIns="0" bIns="0" rIns="0">
            <a:spAutoFit/>
          </a:bodyPr>
          <a:lstStyle/>
          <a:p>
            <a:pPr algn="l">
              <a:lnSpc>
                <a:spcPts val="3999"/>
              </a:lnSpc>
            </a:pPr>
            <a:r>
              <a:rPr lang="en-US" sz="2499">
                <a:solidFill>
                  <a:srgbClr val="D9D9D9"/>
                </a:solidFill>
                <a:latin typeface="Poppins"/>
                <a:ea typeface="Poppins"/>
                <a:cs typeface="Poppins"/>
                <a:sym typeface="Poppins"/>
              </a:rPr>
              <a:t>Segundo Semestre 2024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Freeform 2" id="2"/>
          <p:cNvSpPr/>
          <p:nvPr/>
        </p:nvSpPr>
        <p:spPr>
          <a:xfrm flipH="false" flipV="false" rot="0">
            <a:off x="-6475716" y="-4047360"/>
            <a:ext cx="10946941" cy="8896877"/>
          </a:xfrm>
          <a:custGeom>
            <a:avLst/>
            <a:gdLst/>
            <a:ahLst/>
            <a:cxnLst/>
            <a:rect r="r" b="b" t="t" l="l"/>
            <a:pathLst>
              <a:path h="8896877" w="10946941">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998267"/>
            <a:ext cx="9144000" cy="288733"/>
            <a:chOff x="0" y="0"/>
            <a:chExt cx="2408296" cy="76045"/>
          </a:xfrm>
        </p:grpSpPr>
        <p:sp>
          <p:nvSpPr>
            <p:cNvPr name="Freeform 4" id="4"/>
            <p:cNvSpPr/>
            <p:nvPr/>
          </p:nvSpPr>
          <p:spPr>
            <a:xfrm flipH="false" flipV="false" rot="0">
              <a:off x="0" y="0"/>
              <a:ext cx="2408296" cy="76045"/>
            </a:xfrm>
            <a:custGeom>
              <a:avLst/>
              <a:gdLst/>
              <a:ahLst/>
              <a:cxnLst/>
              <a:rect r="r" b="b" t="t" l="l"/>
              <a:pathLst>
                <a:path h="76045" w="2408296">
                  <a:moveTo>
                    <a:pt x="0" y="0"/>
                  </a:moveTo>
                  <a:lnTo>
                    <a:pt x="2408296" y="0"/>
                  </a:lnTo>
                  <a:lnTo>
                    <a:pt x="2408296" y="76045"/>
                  </a:lnTo>
                  <a:lnTo>
                    <a:pt x="0" y="76045"/>
                  </a:lnTo>
                  <a:close/>
                </a:path>
              </a:pathLst>
            </a:custGeom>
            <a:solidFill>
              <a:srgbClr val="3DCAB1"/>
            </a:solidFill>
          </p:spPr>
        </p:sp>
        <p:sp>
          <p:nvSpPr>
            <p:cNvPr name="TextBox 5" id="5"/>
            <p:cNvSpPr txBox="true"/>
            <p:nvPr/>
          </p:nvSpPr>
          <p:spPr>
            <a:xfrm>
              <a:off x="0" y="-38100"/>
              <a:ext cx="2408296"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4141389" y="6745580"/>
            <a:ext cx="5414211" cy="4114800"/>
          </a:xfrm>
          <a:custGeom>
            <a:avLst/>
            <a:gdLst/>
            <a:ahLst/>
            <a:cxnLst/>
            <a:rect r="r" b="b" t="t" l="l"/>
            <a:pathLst>
              <a:path h="4114800" w="5414211">
                <a:moveTo>
                  <a:pt x="0" y="0"/>
                </a:moveTo>
                <a:lnTo>
                  <a:pt x="5414211" y="0"/>
                </a:lnTo>
                <a:lnTo>
                  <a:pt x="541421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317051" y="2205616"/>
            <a:ext cx="9970610" cy="1167065"/>
          </a:xfrm>
          <a:prstGeom prst="rect">
            <a:avLst/>
          </a:prstGeom>
        </p:spPr>
        <p:txBody>
          <a:bodyPr anchor="t" rtlCol="false" tIns="0" lIns="0" bIns="0" rIns="0">
            <a:spAutoFit/>
          </a:bodyPr>
          <a:lstStyle/>
          <a:p>
            <a:pPr algn="l">
              <a:lnSpc>
                <a:spcPts val="9008"/>
              </a:lnSpc>
            </a:pPr>
            <a:r>
              <a:rPr lang="en-US" sz="6434" spc="-109" b="true">
                <a:solidFill>
                  <a:srgbClr val="FFFFFF"/>
                </a:solidFill>
                <a:latin typeface="Poppins Bold"/>
                <a:ea typeface="Poppins Bold"/>
                <a:cs typeface="Poppins Bold"/>
                <a:sym typeface="Poppins Bold"/>
              </a:rPr>
              <a:t>Agenda del día</a:t>
            </a:r>
          </a:p>
        </p:txBody>
      </p:sp>
      <p:sp>
        <p:nvSpPr>
          <p:cNvPr name="TextBox 8" id="8"/>
          <p:cNvSpPr txBox="true"/>
          <p:nvPr/>
        </p:nvSpPr>
        <p:spPr>
          <a:xfrm rot="0">
            <a:off x="3317051" y="4099601"/>
            <a:ext cx="7928819" cy="3530600"/>
          </a:xfrm>
          <a:prstGeom prst="rect">
            <a:avLst/>
          </a:prstGeom>
        </p:spPr>
        <p:txBody>
          <a:bodyPr anchor="t" rtlCol="false" tIns="0" lIns="0" bIns="0" rIns="0">
            <a:spAutoFit/>
          </a:bodyPr>
          <a:lstStyle/>
          <a:p>
            <a:pPr algn="just" marL="539751" indent="-269876" lvl="1">
              <a:lnSpc>
                <a:spcPts val="4000"/>
              </a:lnSpc>
              <a:buFont typeface="Arial"/>
              <a:buChar char="•"/>
            </a:pPr>
            <a:r>
              <a:rPr lang="en-US" sz="2500">
                <a:solidFill>
                  <a:srgbClr val="D9D9D9"/>
                </a:solidFill>
                <a:latin typeface="Poppins"/>
                <a:ea typeface="Poppins"/>
                <a:cs typeface="Poppins"/>
                <a:sym typeface="Poppins"/>
              </a:rPr>
              <a:t>Foro #2</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Aviso de asignación DTT</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Revisión de grupos</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Máquinas Virtuales</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AWS EC2</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Ejemplo práctico</a:t>
            </a:r>
          </a:p>
          <a:p>
            <a:pPr algn="just" marL="539751" indent="-269876" lvl="1">
              <a:lnSpc>
                <a:spcPts val="4000"/>
              </a:lnSpc>
              <a:buFont typeface="Arial"/>
              <a:buChar char="•"/>
            </a:pPr>
            <a:r>
              <a:rPr lang="en-US" sz="2500">
                <a:solidFill>
                  <a:srgbClr val="D9D9D9"/>
                </a:solidFill>
                <a:latin typeface="Poppins"/>
                <a:ea typeface="Poppins"/>
                <a:cs typeface="Poppins"/>
                <a:sym typeface="Poppins"/>
              </a:rPr>
              <a:t>Tarea 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71C42"/>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786888" y="629992"/>
            <a:ext cx="6267753" cy="5093974"/>
          </a:xfrm>
          <a:custGeom>
            <a:avLst/>
            <a:gdLst/>
            <a:ahLst/>
            <a:cxnLst/>
            <a:rect r="r" b="b" t="t" l="l"/>
            <a:pathLst>
              <a:path h="5093974" w="6267753">
                <a:moveTo>
                  <a:pt x="0" y="0"/>
                </a:moveTo>
                <a:lnTo>
                  <a:pt x="6267752" y="0"/>
                </a:lnTo>
                <a:lnTo>
                  <a:pt x="6267752" y="5093973"/>
                </a:lnTo>
                <a:lnTo>
                  <a:pt x="0" y="5093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7" id="7"/>
          <p:cNvSpPr/>
          <p:nvPr/>
        </p:nvSpPr>
        <p:spPr>
          <a:xfrm flipH="false" flipV="false" rot="0">
            <a:off x="2422700" y="2241762"/>
            <a:ext cx="13442601" cy="5803476"/>
          </a:xfrm>
          <a:custGeom>
            <a:avLst/>
            <a:gdLst/>
            <a:ahLst/>
            <a:cxnLst/>
            <a:rect r="r" b="b" t="t" l="l"/>
            <a:pathLst>
              <a:path h="5803476" w="13442601">
                <a:moveTo>
                  <a:pt x="0" y="0"/>
                </a:moveTo>
                <a:lnTo>
                  <a:pt x="13442600" y="0"/>
                </a:lnTo>
                <a:lnTo>
                  <a:pt x="13442600" y="5803476"/>
                </a:lnTo>
                <a:lnTo>
                  <a:pt x="0" y="5803476"/>
                </a:lnTo>
                <a:lnTo>
                  <a:pt x="0" y="0"/>
                </a:lnTo>
                <a:close/>
              </a:path>
            </a:pathLst>
          </a:custGeom>
          <a:blipFill>
            <a:blip r:embed="rId4"/>
            <a:stretch>
              <a:fillRect l="0" t="0" r="0" b="0"/>
            </a:stretch>
          </a:blipFill>
        </p:spPr>
      </p:sp>
      <p:sp>
        <p:nvSpPr>
          <p:cNvPr name="TextBox 8" id="8"/>
          <p:cNvSpPr txBox="true"/>
          <p:nvPr/>
        </p:nvSpPr>
        <p:spPr>
          <a:xfrm rot="0">
            <a:off x="3478436" y="950102"/>
            <a:ext cx="11331128"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VMs en los proveedores Cloud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6121614" cy="5143500"/>
            <a:chOff x="0" y="0"/>
            <a:chExt cx="1451049" cy="1219200"/>
          </a:xfrm>
        </p:grpSpPr>
        <p:sp>
          <p:nvSpPr>
            <p:cNvPr name="Freeform 3" id="3"/>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4" id="4"/>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187217" y="-1676277"/>
            <a:ext cx="12260528" cy="8939040"/>
          </a:xfrm>
          <a:custGeom>
            <a:avLst/>
            <a:gdLst/>
            <a:ahLst/>
            <a:cxnLst/>
            <a:rect r="r" b="b" t="t" l="l"/>
            <a:pathLst>
              <a:path h="8939040" w="12260528">
                <a:moveTo>
                  <a:pt x="0" y="0"/>
                </a:moveTo>
                <a:lnTo>
                  <a:pt x="12260529" y="0"/>
                </a:lnTo>
                <a:lnTo>
                  <a:pt x="12260529" y="8939040"/>
                </a:lnTo>
                <a:lnTo>
                  <a:pt x="0" y="89390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06289" y="1118330"/>
            <a:ext cx="7628928" cy="2295525"/>
          </a:xfrm>
          <a:prstGeom prst="rect">
            <a:avLst/>
          </a:prstGeom>
        </p:spPr>
        <p:txBody>
          <a:bodyPr anchor="t" rtlCol="false" tIns="0" lIns="0" bIns="0" rIns="0">
            <a:spAutoFit/>
          </a:bodyPr>
          <a:lstStyle/>
          <a:p>
            <a:pPr algn="l">
              <a:lnSpc>
                <a:spcPts val="5999"/>
              </a:lnSpc>
            </a:pPr>
            <a:r>
              <a:rPr lang="en-US" sz="4999" b="true">
                <a:solidFill>
                  <a:srgbClr val="101010"/>
                </a:solidFill>
                <a:latin typeface="Poppins Bold"/>
                <a:ea typeface="Poppins Bold"/>
                <a:cs typeface="Poppins Bold"/>
                <a:sym typeface="Poppins Bold"/>
              </a:rPr>
              <a:t>Amazon</a:t>
            </a:r>
          </a:p>
          <a:p>
            <a:pPr algn="l">
              <a:lnSpc>
                <a:spcPts val="5999"/>
              </a:lnSpc>
            </a:pPr>
            <a:r>
              <a:rPr lang="en-US" sz="4999" b="true">
                <a:solidFill>
                  <a:srgbClr val="101010"/>
                </a:solidFill>
                <a:latin typeface="Poppins Bold"/>
                <a:ea typeface="Poppins Bold"/>
                <a:cs typeface="Poppins Bold"/>
                <a:sym typeface="Poppins Bold"/>
              </a:rPr>
              <a:t>Elastic Compute Cloud (EC2)</a:t>
            </a:r>
          </a:p>
        </p:txBody>
      </p:sp>
      <p:grpSp>
        <p:nvGrpSpPr>
          <p:cNvPr name="Group 7" id="7"/>
          <p:cNvGrpSpPr/>
          <p:nvPr/>
        </p:nvGrpSpPr>
        <p:grpSpPr>
          <a:xfrm rot="0">
            <a:off x="6121614" y="5143500"/>
            <a:ext cx="6044772" cy="5143500"/>
            <a:chOff x="0" y="0"/>
            <a:chExt cx="1432835" cy="1219200"/>
          </a:xfrm>
        </p:grpSpPr>
        <p:sp>
          <p:nvSpPr>
            <p:cNvPr name="Freeform 8" id="8"/>
            <p:cNvSpPr/>
            <p:nvPr/>
          </p:nvSpPr>
          <p:spPr>
            <a:xfrm flipH="false" flipV="false" rot="0">
              <a:off x="0" y="0"/>
              <a:ext cx="1432835" cy="1219200"/>
            </a:xfrm>
            <a:custGeom>
              <a:avLst/>
              <a:gdLst/>
              <a:ahLst/>
              <a:cxnLst/>
              <a:rect r="r" b="b" t="t" l="l"/>
              <a:pathLst>
                <a:path h="1219200" w="1432835">
                  <a:moveTo>
                    <a:pt x="0" y="0"/>
                  </a:moveTo>
                  <a:lnTo>
                    <a:pt x="1432835" y="0"/>
                  </a:lnTo>
                  <a:lnTo>
                    <a:pt x="1432835" y="1219200"/>
                  </a:lnTo>
                  <a:lnTo>
                    <a:pt x="0" y="1219200"/>
                  </a:lnTo>
                  <a:close/>
                </a:path>
              </a:pathLst>
            </a:custGeom>
            <a:solidFill>
              <a:srgbClr val="3DCAB1"/>
            </a:solidFill>
          </p:spPr>
        </p:sp>
        <p:sp>
          <p:nvSpPr>
            <p:cNvPr name="TextBox 9" id="9"/>
            <p:cNvSpPr txBox="true"/>
            <p:nvPr/>
          </p:nvSpPr>
          <p:spPr>
            <a:xfrm>
              <a:off x="0" y="-38100"/>
              <a:ext cx="1432835"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2166386" y="5143500"/>
            <a:ext cx="6121614" cy="5143500"/>
            <a:chOff x="0" y="0"/>
            <a:chExt cx="1451049" cy="1219200"/>
          </a:xfrm>
        </p:grpSpPr>
        <p:sp>
          <p:nvSpPr>
            <p:cNvPr name="Freeform 11" id="11"/>
            <p:cNvSpPr/>
            <p:nvPr/>
          </p:nvSpPr>
          <p:spPr>
            <a:xfrm flipH="false" flipV="false" rot="0">
              <a:off x="0" y="0"/>
              <a:ext cx="1451049" cy="1219200"/>
            </a:xfrm>
            <a:custGeom>
              <a:avLst/>
              <a:gdLst/>
              <a:ahLst/>
              <a:cxnLst/>
              <a:rect r="r" b="b" t="t" l="l"/>
              <a:pathLst>
                <a:path h="1219200" w="1451049">
                  <a:moveTo>
                    <a:pt x="0" y="0"/>
                  </a:moveTo>
                  <a:lnTo>
                    <a:pt x="1451049" y="0"/>
                  </a:lnTo>
                  <a:lnTo>
                    <a:pt x="1451049" y="1219200"/>
                  </a:lnTo>
                  <a:lnTo>
                    <a:pt x="0" y="1219200"/>
                  </a:lnTo>
                  <a:close/>
                </a:path>
              </a:pathLst>
            </a:custGeom>
            <a:solidFill>
              <a:srgbClr val="071C42"/>
            </a:solidFill>
          </p:spPr>
        </p:sp>
        <p:sp>
          <p:nvSpPr>
            <p:cNvPr name="TextBox 12" id="12"/>
            <p:cNvSpPr txBox="true"/>
            <p:nvPr/>
          </p:nvSpPr>
          <p:spPr>
            <a:xfrm>
              <a:off x="0" y="-38100"/>
              <a:ext cx="1451049" cy="1257300"/>
            </a:xfrm>
            <a:prstGeom prst="rect">
              <a:avLst/>
            </a:prstGeom>
          </p:spPr>
          <p:txBody>
            <a:bodyPr anchor="ctr" rtlCol="false" tIns="50800" lIns="50800" bIns="50800" rIns="50800"/>
            <a:lstStyle/>
            <a:p>
              <a:pPr algn="ctr">
                <a:lnSpc>
                  <a:spcPts val="2659"/>
                </a:lnSpc>
                <a:spcBef>
                  <a:spcPct val="0"/>
                </a:spcBef>
              </a:pPr>
            </a:p>
          </p:txBody>
        </p:sp>
      </p:grpSp>
      <p:sp>
        <p:nvSpPr>
          <p:cNvPr name="AutoShape 13" id="1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14" id="14"/>
          <p:cNvSpPr/>
          <p:nvPr/>
        </p:nvSpPr>
        <p:spPr>
          <a:xfrm flipH="false" flipV="false" rot="0">
            <a:off x="10198611" y="1028700"/>
            <a:ext cx="7060689" cy="2118207"/>
          </a:xfrm>
          <a:custGeom>
            <a:avLst/>
            <a:gdLst/>
            <a:ahLst/>
            <a:cxnLst/>
            <a:rect r="r" b="b" t="t" l="l"/>
            <a:pathLst>
              <a:path h="2118207" w="7060689">
                <a:moveTo>
                  <a:pt x="0" y="0"/>
                </a:moveTo>
                <a:lnTo>
                  <a:pt x="7060689" y="0"/>
                </a:lnTo>
                <a:lnTo>
                  <a:pt x="7060689" y="2118207"/>
                </a:lnTo>
                <a:lnTo>
                  <a:pt x="0" y="2118207"/>
                </a:lnTo>
                <a:lnTo>
                  <a:pt x="0" y="0"/>
                </a:lnTo>
                <a:close/>
              </a:path>
            </a:pathLst>
          </a:custGeom>
          <a:blipFill>
            <a:blip r:embed="rId4"/>
            <a:stretch>
              <a:fillRect l="0" t="0" r="0" b="0"/>
            </a:stretch>
          </a:blipFill>
        </p:spPr>
      </p:sp>
      <p:sp>
        <p:nvSpPr>
          <p:cNvPr name="TextBox 15" id="15"/>
          <p:cNvSpPr txBox="true"/>
          <p:nvPr/>
        </p:nvSpPr>
        <p:spPr>
          <a:xfrm rot="0">
            <a:off x="1006289" y="6760845"/>
            <a:ext cx="4109035" cy="1993900"/>
          </a:xfrm>
          <a:prstGeom prst="rect">
            <a:avLst/>
          </a:prstGeom>
        </p:spPr>
        <p:txBody>
          <a:bodyPr anchor="t" rtlCol="false" tIns="0" lIns="0" bIns="0" rIns="0">
            <a:spAutoFit/>
          </a:bodyPr>
          <a:lstStyle/>
          <a:p>
            <a:pPr algn="l">
              <a:lnSpc>
                <a:spcPts val="3199"/>
              </a:lnSpc>
            </a:pPr>
            <a:r>
              <a:rPr lang="en-US" sz="1999">
                <a:solidFill>
                  <a:srgbClr val="FFFFFF"/>
                </a:solidFill>
                <a:latin typeface="Poppins"/>
                <a:ea typeface="Poppins"/>
                <a:cs typeface="Poppins"/>
                <a:sym typeface="Poppins"/>
              </a:rPr>
              <a:t>Amazon Elastic Compute Cloud (EC2) es un servicio web que proporciona capacidad de computación escalable bajo demanda en la nube.</a:t>
            </a:r>
          </a:p>
        </p:txBody>
      </p:sp>
      <p:sp>
        <p:nvSpPr>
          <p:cNvPr name="TextBox 16" id="16"/>
          <p:cNvSpPr txBox="true"/>
          <p:nvPr/>
        </p:nvSpPr>
        <p:spPr>
          <a:xfrm rot="0">
            <a:off x="7089482" y="6760845"/>
            <a:ext cx="4109035" cy="1593850"/>
          </a:xfrm>
          <a:prstGeom prst="rect">
            <a:avLst/>
          </a:prstGeom>
        </p:spPr>
        <p:txBody>
          <a:bodyPr anchor="t" rtlCol="false" tIns="0" lIns="0" bIns="0" rIns="0">
            <a:spAutoFit/>
          </a:bodyPr>
          <a:lstStyle/>
          <a:p>
            <a:pPr algn="l">
              <a:lnSpc>
                <a:spcPts val="3199"/>
              </a:lnSpc>
            </a:pPr>
            <a:r>
              <a:rPr lang="en-US" sz="1999">
                <a:solidFill>
                  <a:srgbClr val="FFFFFF"/>
                </a:solidFill>
                <a:latin typeface="Poppins"/>
                <a:ea typeface="Poppins"/>
                <a:cs typeface="Poppins"/>
                <a:sym typeface="Poppins"/>
              </a:rPr>
              <a:t>Reduce los costos de harware para que podamos desarrollar e implementar aplicaciones con mayor rapidez.</a:t>
            </a:r>
          </a:p>
        </p:txBody>
      </p:sp>
      <p:sp>
        <p:nvSpPr>
          <p:cNvPr name="TextBox 17" id="17"/>
          <p:cNvSpPr txBox="true"/>
          <p:nvPr/>
        </p:nvSpPr>
        <p:spPr>
          <a:xfrm rot="0">
            <a:off x="13172675" y="6760845"/>
            <a:ext cx="4109035" cy="1593850"/>
          </a:xfrm>
          <a:prstGeom prst="rect">
            <a:avLst/>
          </a:prstGeom>
        </p:spPr>
        <p:txBody>
          <a:bodyPr anchor="t" rtlCol="false" tIns="0" lIns="0" bIns="0" rIns="0">
            <a:spAutoFit/>
          </a:bodyPr>
          <a:lstStyle/>
          <a:p>
            <a:pPr algn="l">
              <a:lnSpc>
                <a:spcPts val="3199"/>
              </a:lnSpc>
            </a:pPr>
            <a:r>
              <a:rPr lang="en-US" sz="1999">
                <a:solidFill>
                  <a:srgbClr val="FFFFFF"/>
                </a:solidFill>
                <a:latin typeface="Poppins"/>
                <a:ea typeface="Poppins"/>
                <a:cs typeface="Poppins"/>
                <a:sym typeface="Poppins"/>
              </a:rPr>
              <a:t>La interfaz de servicios web de Amazon EC2 es simplificada, por lo que podemos crear y configurar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61679" y="-3455076"/>
            <a:ext cx="11153665" cy="8132036"/>
          </a:xfrm>
          <a:custGeom>
            <a:avLst/>
            <a:gdLst/>
            <a:ahLst/>
            <a:cxnLst/>
            <a:rect r="r" b="b" t="t" l="l"/>
            <a:pathLst>
              <a:path h="8132036" w="11153665">
                <a:moveTo>
                  <a:pt x="0" y="0"/>
                </a:moveTo>
                <a:lnTo>
                  <a:pt x="11153665" y="0"/>
                </a:lnTo>
                <a:lnTo>
                  <a:pt x="11153665" y="8132036"/>
                </a:lnTo>
                <a:lnTo>
                  <a:pt x="0" y="8132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false" flipV="false" rot="0">
            <a:off x="8737081" y="1288770"/>
            <a:ext cx="8522219" cy="7472685"/>
          </a:xfrm>
          <a:custGeom>
            <a:avLst/>
            <a:gdLst/>
            <a:ahLst/>
            <a:cxnLst/>
            <a:rect r="r" b="b" t="t" l="l"/>
            <a:pathLst>
              <a:path h="7472685" w="8522219">
                <a:moveTo>
                  <a:pt x="0" y="0"/>
                </a:moveTo>
                <a:lnTo>
                  <a:pt x="8522219" y="0"/>
                </a:lnTo>
                <a:lnTo>
                  <a:pt x="8522219" y="7472685"/>
                </a:lnTo>
                <a:lnTo>
                  <a:pt x="0" y="7472685"/>
                </a:lnTo>
                <a:lnTo>
                  <a:pt x="0" y="0"/>
                </a:lnTo>
                <a:close/>
              </a:path>
            </a:pathLst>
          </a:custGeom>
          <a:blipFill>
            <a:blip r:embed="rId4"/>
            <a:stretch>
              <a:fillRect l="0" t="0" r="0" b="0"/>
            </a:stretch>
          </a:blipFill>
        </p:spPr>
      </p:sp>
      <p:sp>
        <p:nvSpPr>
          <p:cNvPr name="TextBox 5" id="5"/>
          <p:cNvSpPr txBox="true"/>
          <p:nvPr/>
        </p:nvSpPr>
        <p:spPr>
          <a:xfrm rot="0">
            <a:off x="554077" y="3858300"/>
            <a:ext cx="7628928" cy="2295525"/>
          </a:xfrm>
          <a:prstGeom prst="rect">
            <a:avLst/>
          </a:prstGeom>
        </p:spPr>
        <p:txBody>
          <a:bodyPr anchor="t" rtlCol="false" tIns="0" lIns="0" bIns="0" rIns="0">
            <a:spAutoFit/>
          </a:bodyPr>
          <a:lstStyle/>
          <a:p>
            <a:pPr algn="ctr">
              <a:lnSpc>
                <a:spcPts val="5999"/>
              </a:lnSpc>
            </a:pPr>
            <a:r>
              <a:rPr lang="en-US" sz="4999" b="true">
                <a:solidFill>
                  <a:srgbClr val="101010"/>
                </a:solidFill>
                <a:latin typeface="Poppins Bold"/>
                <a:ea typeface="Poppins Bold"/>
                <a:cs typeface="Poppins Bold"/>
                <a:sym typeface="Poppins Bold"/>
              </a:rPr>
              <a:t>Estructura de las maquinas virtuales en Cloud</a:t>
            </a:r>
          </a:p>
        </p:txBody>
      </p:sp>
      <p:grpSp>
        <p:nvGrpSpPr>
          <p:cNvPr name="Group 6" id="6"/>
          <p:cNvGrpSpPr/>
          <p:nvPr/>
        </p:nvGrpSpPr>
        <p:grpSpPr>
          <a:xfrm rot="0">
            <a:off x="0" y="9429758"/>
            <a:ext cx="18288000" cy="1714484"/>
            <a:chOff x="0" y="0"/>
            <a:chExt cx="4334933" cy="406396"/>
          </a:xfrm>
        </p:grpSpPr>
        <p:sp>
          <p:nvSpPr>
            <p:cNvPr name="Freeform 7" id="7"/>
            <p:cNvSpPr/>
            <p:nvPr/>
          </p:nvSpPr>
          <p:spPr>
            <a:xfrm flipH="false" flipV="false" rot="0">
              <a:off x="0" y="0"/>
              <a:ext cx="4334933" cy="406396"/>
            </a:xfrm>
            <a:custGeom>
              <a:avLst/>
              <a:gdLst/>
              <a:ahLst/>
              <a:cxnLst/>
              <a:rect r="r" b="b" t="t" l="l"/>
              <a:pathLst>
                <a:path h="406396" w="4334933">
                  <a:moveTo>
                    <a:pt x="0" y="0"/>
                  </a:moveTo>
                  <a:lnTo>
                    <a:pt x="4334933" y="0"/>
                  </a:lnTo>
                  <a:lnTo>
                    <a:pt x="4334933" y="406396"/>
                  </a:lnTo>
                  <a:lnTo>
                    <a:pt x="0" y="406396"/>
                  </a:lnTo>
                  <a:close/>
                </a:path>
              </a:pathLst>
            </a:custGeom>
            <a:solidFill>
              <a:srgbClr val="071C42"/>
            </a:solidFill>
          </p:spPr>
        </p:sp>
        <p:sp>
          <p:nvSpPr>
            <p:cNvPr name="TextBox 8" id="8"/>
            <p:cNvSpPr txBox="true"/>
            <p:nvPr/>
          </p:nvSpPr>
          <p:spPr>
            <a:xfrm>
              <a:off x="0" y="-38100"/>
              <a:ext cx="4334933" cy="44449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8982029"/>
            <a:ext cx="8737081" cy="447729"/>
            <a:chOff x="0" y="0"/>
            <a:chExt cx="2071012" cy="106128"/>
          </a:xfrm>
        </p:grpSpPr>
        <p:sp>
          <p:nvSpPr>
            <p:cNvPr name="Freeform 10" id="10"/>
            <p:cNvSpPr/>
            <p:nvPr/>
          </p:nvSpPr>
          <p:spPr>
            <a:xfrm flipH="false" flipV="false" rot="0">
              <a:off x="0" y="0"/>
              <a:ext cx="2071012" cy="106128"/>
            </a:xfrm>
            <a:custGeom>
              <a:avLst/>
              <a:gdLst/>
              <a:ahLst/>
              <a:cxnLst/>
              <a:rect r="r" b="b" t="t" l="l"/>
              <a:pathLst>
                <a:path h="106128" w="2071012">
                  <a:moveTo>
                    <a:pt x="0" y="0"/>
                  </a:moveTo>
                  <a:lnTo>
                    <a:pt x="2071012" y="0"/>
                  </a:lnTo>
                  <a:lnTo>
                    <a:pt x="2071012" y="106128"/>
                  </a:lnTo>
                  <a:lnTo>
                    <a:pt x="0" y="106128"/>
                  </a:lnTo>
                  <a:close/>
                </a:path>
              </a:pathLst>
            </a:custGeom>
            <a:solidFill>
              <a:srgbClr val="3DCAB1"/>
            </a:solidFill>
          </p:spPr>
        </p:sp>
        <p:sp>
          <p:nvSpPr>
            <p:cNvPr name="TextBox 11" id="11"/>
            <p:cNvSpPr txBox="true"/>
            <p:nvPr/>
          </p:nvSpPr>
          <p:spPr>
            <a:xfrm>
              <a:off x="0" y="-38100"/>
              <a:ext cx="2071012" cy="14422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7401128" y="0"/>
            <a:ext cx="5443436" cy="5143500"/>
            <a:chOff x="0" y="0"/>
            <a:chExt cx="1290296" cy="1219200"/>
          </a:xfrm>
        </p:grpSpPr>
        <p:sp>
          <p:nvSpPr>
            <p:cNvPr name="Freeform 4" id="4"/>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5" id="5"/>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2844564" y="0"/>
            <a:ext cx="5443436" cy="5143500"/>
            <a:chOff x="0" y="0"/>
            <a:chExt cx="1290296" cy="1219200"/>
          </a:xfrm>
        </p:grpSpPr>
        <p:sp>
          <p:nvSpPr>
            <p:cNvPr name="Freeform 7" id="7"/>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8" id="8"/>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7401128" y="5143500"/>
            <a:ext cx="5443436" cy="5143500"/>
            <a:chOff x="0" y="0"/>
            <a:chExt cx="1290296" cy="1219200"/>
          </a:xfrm>
        </p:grpSpPr>
        <p:sp>
          <p:nvSpPr>
            <p:cNvPr name="Freeform 10" id="10"/>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11" id="11"/>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844564" y="5143500"/>
            <a:ext cx="5443436" cy="5143500"/>
            <a:chOff x="0" y="0"/>
            <a:chExt cx="1290296" cy="1219200"/>
          </a:xfrm>
        </p:grpSpPr>
        <p:sp>
          <p:nvSpPr>
            <p:cNvPr name="Freeform 13" id="13"/>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14" id="14"/>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201801" y="5219620"/>
            <a:ext cx="8127642" cy="6605556"/>
          </a:xfrm>
          <a:custGeom>
            <a:avLst/>
            <a:gdLst/>
            <a:ahLst/>
            <a:cxnLst/>
            <a:rect r="r" b="b" t="t" l="l"/>
            <a:pathLst>
              <a:path h="6605556" w="8127642">
                <a:moveTo>
                  <a:pt x="0" y="0"/>
                </a:moveTo>
                <a:lnTo>
                  <a:pt x="8127642" y="0"/>
                </a:lnTo>
                <a:lnTo>
                  <a:pt x="8127642" y="6605556"/>
                </a:lnTo>
                <a:lnTo>
                  <a:pt x="0" y="6605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11097" y="2932776"/>
            <a:ext cx="6123281" cy="5686997"/>
          </a:xfrm>
          <a:custGeom>
            <a:avLst/>
            <a:gdLst/>
            <a:ahLst/>
            <a:cxnLst/>
            <a:rect r="r" b="b" t="t" l="l"/>
            <a:pathLst>
              <a:path h="5686997" w="6123281">
                <a:moveTo>
                  <a:pt x="0" y="0"/>
                </a:moveTo>
                <a:lnTo>
                  <a:pt x="6123281" y="0"/>
                </a:lnTo>
                <a:lnTo>
                  <a:pt x="6123281" y="5686997"/>
                </a:lnTo>
                <a:lnTo>
                  <a:pt x="0" y="56869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8068329" y="1554190"/>
            <a:ext cx="4109035" cy="1845311"/>
          </a:xfrm>
          <a:prstGeom prst="rect">
            <a:avLst/>
          </a:prstGeom>
        </p:spPr>
        <p:txBody>
          <a:bodyPr anchor="t" rtlCol="false" tIns="0" lIns="0" bIns="0" rIns="0">
            <a:spAutoFit/>
          </a:bodyPr>
          <a:lstStyle/>
          <a:p>
            <a:pPr algn="l">
              <a:lnSpc>
                <a:spcPts val="3679"/>
              </a:lnSpc>
            </a:pPr>
            <a:r>
              <a:rPr lang="en-US" sz="2299">
                <a:solidFill>
                  <a:srgbClr val="D9D9D9"/>
                </a:solidFill>
                <a:latin typeface="Poppins"/>
                <a:ea typeface="Poppins"/>
                <a:cs typeface="Poppins"/>
                <a:sym typeface="Poppins"/>
              </a:rPr>
              <a:t>7 veces menos horas de inactividad que el siguiente proveedor de nube más grande.</a:t>
            </a:r>
          </a:p>
        </p:txBody>
      </p:sp>
      <p:sp>
        <p:nvSpPr>
          <p:cNvPr name="TextBox 18" id="18"/>
          <p:cNvSpPr txBox="true"/>
          <p:nvPr/>
        </p:nvSpPr>
        <p:spPr>
          <a:xfrm rot="0">
            <a:off x="13511765" y="1554190"/>
            <a:ext cx="4109035" cy="1378586"/>
          </a:xfrm>
          <a:prstGeom prst="rect">
            <a:avLst/>
          </a:prstGeom>
        </p:spPr>
        <p:txBody>
          <a:bodyPr anchor="t" rtlCol="false" tIns="0" lIns="0" bIns="0" rIns="0">
            <a:spAutoFit/>
          </a:bodyPr>
          <a:lstStyle/>
          <a:p>
            <a:pPr algn="l">
              <a:lnSpc>
                <a:spcPts val="3679"/>
              </a:lnSpc>
            </a:pPr>
            <a:r>
              <a:rPr lang="en-US" sz="2299">
                <a:solidFill>
                  <a:srgbClr val="FFFFFF"/>
                </a:solidFill>
                <a:latin typeface="Poppins"/>
                <a:ea typeface="Poppins"/>
                <a:cs typeface="Poppins"/>
                <a:sym typeface="Poppins"/>
              </a:rPr>
              <a:t>33 regiones y 105 zonas de disponibilidad a nivel mundial</a:t>
            </a:r>
          </a:p>
        </p:txBody>
      </p:sp>
      <p:sp>
        <p:nvSpPr>
          <p:cNvPr name="TextBox 19" id="19"/>
          <p:cNvSpPr txBox="true"/>
          <p:nvPr/>
        </p:nvSpPr>
        <p:spPr>
          <a:xfrm rot="0">
            <a:off x="8068329" y="6697690"/>
            <a:ext cx="4109035" cy="1845311"/>
          </a:xfrm>
          <a:prstGeom prst="rect">
            <a:avLst/>
          </a:prstGeom>
        </p:spPr>
        <p:txBody>
          <a:bodyPr anchor="t" rtlCol="false" tIns="0" lIns="0" bIns="0" rIns="0">
            <a:spAutoFit/>
          </a:bodyPr>
          <a:lstStyle/>
          <a:p>
            <a:pPr algn="l">
              <a:lnSpc>
                <a:spcPts val="3679"/>
              </a:lnSpc>
            </a:pPr>
            <a:r>
              <a:rPr lang="en-US" sz="2299">
                <a:solidFill>
                  <a:srgbClr val="FFFFFF"/>
                </a:solidFill>
                <a:latin typeface="Poppins"/>
                <a:ea typeface="Poppins"/>
                <a:cs typeface="Poppins"/>
                <a:sym typeface="Poppins"/>
              </a:rPr>
              <a:t>Millones de clientes, desde pequeñas compañías hasta empresas emergentes</a:t>
            </a:r>
          </a:p>
        </p:txBody>
      </p:sp>
      <p:sp>
        <p:nvSpPr>
          <p:cNvPr name="TextBox 20" id="20"/>
          <p:cNvSpPr txBox="true"/>
          <p:nvPr/>
        </p:nvSpPr>
        <p:spPr>
          <a:xfrm rot="0">
            <a:off x="13511765" y="6697690"/>
            <a:ext cx="4109035" cy="1378586"/>
          </a:xfrm>
          <a:prstGeom prst="rect">
            <a:avLst/>
          </a:prstGeom>
        </p:spPr>
        <p:txBody>
          <a:bodyPr anchor="t" rtlCol="false" tIns="0" lIns="0" bIns="0" rIns="0">
            <a:spAutoFit/>
          </a:bodyPr>
          <a:lstStyle/>
          <a:p>
            <a:pPr algn="l">
              <a:lnSpc>
                <a:spcPts val="3679"/>
              </a:lnSpc>
            </a:pPr>
            <a:r>
              <a:rPr lang="en-US" sz="2299">
                <a:solidFill>
                  <a:srgbClr val="D9D9D9"/>
                </a:solidFill>
                <a:latin typeface="Poppins"/>
                <a:ea typeface="Poppins"/>
                <a:cs typeface="Poppins"/>
                <a:sym typeface="Poppins"/>
              </a:rPr>
              <a:t>275 instancias para prácticamente cualquier necesidad empresarial.</a:t>
            </a:r>
          </a:p>
        </p:txBody>
      </p:sp>
      <p:sp>
        <p:nvSpPr>
          <p:cNvPr name="TextBox 21" id="21"/>
          <p:cNvSpPr txBox="true"/>
          <p:nvPr/>
        </p:nvSpPr>
        <p:spPr>
          <a:xfrm rot="0">
            <a:off x="611097" y="1247775"/>
            <a:ext cx="6123281" cy="1323975"/>
          </a:xfrm>
          <a:prstGeom prst="rect">
            <a:avLst/>
          </a:prstGeom>
        </p:spPr>
        <p:txBody>
          <a:bodyPr anchor="t" rtlCol="false" tIns="0" lIns="0" bIns="0" rIns="0">
            <a:spAutoFit/>
          </a:bodyPr>
          <a:lstStyle/>
          <a:p>
            <a:pPr algn="ctr">
              <a:lnSpc>
                <a:spcPts val="5160"/>
              </a:lnSpc>
            </a:pPr>
            <a:r>
              <a:rPr lang="en-US" sz="4300" b="true">
                <a:solidFill>
                  <a:srgbClr val="101010"/>
                </a:solidFill>
                <a:latin typeface="Poppins Bold"/>
                <a:ea typeface="Poppins Bold"/>
                <a:cs typeface="Poppins Bold"/>
                <a:sym typeface="Poppins Bold"/>
              </a:rPr>
              <a:t>Servidores Virtuales en la nube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7401128" y="0"/>
            <a:ext cx="5443436" cy="5143500"/>
            <a:chOff x="0" y="0"/>
            <a:chExt cx="1290296" cy="1219200"/>
          </a:xfrm>
        </p:grpSpPr>
        <p:sp>
          <p:nvSpPr>
            <p:cNvPr name="Freeform 4" id="4"/>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5" id="5"/>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2844564" y="0"/>
            <a:ext cx="5443436" cy="5143500"/>
            <a:chOff x="0" y="0"/>
            <a:chExt cx="1290296" cy="1219200"/>
          </a:xfrm>
        </p:grpSpPr>
        <p:sp>
          <p:nvSpPr>
            <p:cNvPr name="Freeform 7" id="7"/>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8" id="8"/>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7401128" y="5143500"/>
            <a:ext cx="5443436" cy="5143500"/>
            <a:chOff x="0" y="0"/>
            <a:chExt cx="1290296" cy="1219200"/>
          </a:xfrm>
        </p:grpSpPr>
        <p:sp>
          <p:nvSpPr>
            <p:cNvPr name="Freeform 10" id="10"/>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3DCAB1"/>
            </a:solidFill>
          </p:spPr>
        </p:sp>
        <p:sp>
          <p:nvSpPr>
            <p:cNvPr name="TextBox 11" id="11"/>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2844564" y="5143500"/>
            <a:ext cx="5443436" cy="5143500"/>
            <a:chOff x="0" y="0"/>
            <a:chExt cx="1290296" cy="1219200"/>
          </a:xfrm>
        </p:grpSpPr>
        <p:sp>
          <p:nvSpPr>
            <p:cNvPr name="Freeform 13" id="13"/>
            <p:cNvSpPr/>
            <p:nvPr/>
          </p:nvSpPr>
          <p:spPr>
            <a:xfrm flipH="false" flipV="false" rot="0">
              <a:off x="0" y="0"/>
              <a:ext cx="1290296" cy="1219200"/>
            </a:xfrm>
            <a:custGeom>
              <a:avLst/>
              <a:gdLst/>
              <a:ahLst/>
              <a:cxnLst/>
              <a:rect r="r" b="b" t="t" l="l"/>
              <a:pathLst>
                <a:path h="1219200" w="1290296">
                  <a:moveTo>
                    <a:pt x="0" y="0"/>
                  </a:moveTo>
                  <a:lnTo>
                    <a:pt x="1290296" y="0"/>
                  </a:lnTo>
                  <a:lnTo>
                    <a:pt x="1290296" y="1219200"/>
                  </a:lnTo>
                  <a:lnTo>
                    <a:pt x="0" y="1219200"/>
                  </a:lnTo>
                  <a:close/>
                </a:path>
              </a:pathLst>
            </a:custGeom>
            <a:solidFill>
              <a:srgbClr val="071C42"/>
            </a:solidFill>
          </p:spPr>
        </p:sp>
        <p:sp>
          <p:nvSpPr>
            <p:cNvPr name="TextBox 14" id="14"/>
            <p:cNvSpPr txBox="true"/>
            <p:nvPr/>
          </p:nvSpPr>
          <p:spPr>
            <a:xfrm>
              <a:off x="0" y="-38100"/>
              <a:ext cx="1290296"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201801" y="5219620"/>
            <a:ext cx="8127642" cy="6605556"/>
          </a:xfrm>
          <a:custGeom>
            <a:avLst/>
            <a:gdLst/>
            <a:ahLst/>
            <a:cxnLst/>
            <a:rect r="r" b="b" t="t" l="l"/>
            <a:pathLst>
              <a:path h="6605556" w="8127642">
                <a:moveTo>
                  <a:pt x="0" y="0"/>
                </a:moveTo>
                <a:lnTo>
                  <a:pt x="8127642" y="0"/>
                </a:lnTo>
                <a:lnTo>
                  <a:pt x="8127642" y="6605556"/>
                </a:lnTo>
                <a:lnTo>
                  <a:pt x="0" y="6605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028700" y="3859125"/>
            <a:ext cx="5323557" cy="5399175"/>
          </a:xfrm>
          <a:custGeom>
            <a:avLst/>
            <a:gdLst/>
            <a:ahLst/>
            <a:cxnLst/>
            <a:rect r="r" b="b" t="t" l="l"/>
            <a:pathLst>
              <a:path h="5399175" w="5323557">
                <a:moveTo>
                  <a:pt x="0" y="0"/>
                </a:moveTo>
                <a:lnTo>
                  <a:pt x="5323557" y="0"/>
                </a:lnTo>
                <a:lnTo>
                  <a:pt x="5323557" y="5399175"/>
                </a:lnTo>
                <a:lnTo>
                  <a:pt x="0" y="5399175"/>
                </a:lnTo>
                <a:lnTo>
                  <a:pt x="0" y="0"/>
                </a:lnTo>
                <a:close/>
              </a:path>
            </a:pathLst>
          </a:custGeom>
          <a:blipFill>
            <a:blip r:embed="rId4"/>
            <a:stretch>
              <a:fillRect l="0" t="0" r="0" b="0"/>
            </a:stretch>
          </a:blipFill>
        </p:spPr>
      </p:sp>
      <p:sp>
        <p:nvSpPr>
          <p:cNvPr name="TextBox 17" id="17"/>
          <p:cNvSpPr txBox="true"/>
          <p:nvPr/>
        </p:nvSpPr>
        <p:spPr>
          <a:xfrm rot="0">
            <a:off x="8068329" y="985175"/>
            <a:ext cx="2687208"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Uso General</a:t>
            </a:r>
          </a:p>
        </p:txBody>
      </p:sp>
      <p:sp>
        <p:nvSpPr>
          <p:cNvPr name="TextBox 18" id="18"/>
          <p:cNvSpPr txBox="true"/>
          <p:nvPr/>
        </p:nvSpPr>
        <p:spPr>
          <a:xfrm rot="0">
            <a:off x="8068329" y="1554190"/>
            <a:ext cx="4109035" cy="2312035"/>
          </a:xfrm>
          <a:prstGeom prst="rect">
            <a:avLst/>
          </a:prstGeom>
        </p:spPr>
        <p:txBody>
          <a:bodyPr anchor="t" rtlCol="false" tIns="0" lIns="0" bIns="0" rIns="0">
            <a:spAutoFit/>
          </a:bodyPr>
          <a:lstStyle/>
          <a:p>
            <a:pPr algn="l">
              <a:lnSpc>
                <a:spcPts val="3680"/>
              </a:lnSpc>
            </a:pPr>
            <a:r>
              <a:rPr lang="en-US" sz="2300">
                <a:solidFill>
                  <a:srgbClr val="D9D9D9"/>
                </a:solidFill>
                <a:latin typeface="Poppins"/>
                <a:ea typeface="Poppins"/>
                <a:cs typeface="Poppins"/>
                <a:sym typeface="Poppins"/>
              </a:rPr>
              <a:t>Ideales para aplicaciones críticas para las empresas, bases de datos pequeñas o medianas, aplicaciones de nivel web y más.</a:t>
            </a:r>
          </a:p>
        </p:txBody>
      </p:sp>
      <p:sp>
        <p:nvSpPr>
          <p:cNvPr name="TextBox 19" id="19"/>
          <p:cNvSpPr txBox="true"/>
          <p:nvPr/>
        </p:nvSpPr>
        <p:spPr>
          <a:xfrm rot="0">
            <a:off x="13511765" y="596555"/>
            <a:ext cx="2947228" cy="8439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Optimizadas para informática</a:t>
            </a:r>
          </a:p>
        </p:txBody>
      </p:sp>
      <p:sp>
        <p:nvSpPr>
          <p:cNvPr name="TextBox 20" id="20"/>
          <p:cNvSpPr txBox="true"/>
          <p:nvPr/>
        </p:nvSpPr>
        <p:spPr>
          <a:xfrm rot="0">
            <a:off x="13511765" y="1554190"/>
            <a:ext cx="4109035" cy="2312035"/>
          </a:xfrm>
          <a:prstGeom prst="rect">
            <a:avLst/>
          </a:prstGeom>
        </p:spPr>
        <p:txBody>
          <a:bodyPr anchor="t" rtlCol="false" tIns="0" lIns="0" bIns="0" rIns="0">
            <a:spAutoFit/>
          </a:bodyPr>
          <a:lstStyle/>
          <a:p>
            <a:pPr algn="l">
              <a:lnSpc>
                <a:spcPts val="3680"/>
              </a:lnSpc>
            </a:pPr>
            <a:r>
              <a:rPr lang="en-US" sz="2300">
                <a:solidFill>
                  <a:srgbClr val="FFFFFF"/>
                </a:solidFill>
                <a:latin typeface="Poppins"/>
                <a:ea typeface="Poppins"/>
                <a:cs typeface="Poppins"/>
                <a:sym typeface="Poppins"/>
              </a:rPr>
              <a:t>Ideales para informática de alto rendimiento, procesamiento por lotes, codificación de videos y más.</a:t>
            </a:r>
          </a:p>
        </p:txBody>
      </p:sp>
      <p:sp>
        <p:nvSpPr>
          <p:cNvPr name="TextBox 21" id="21"/>
          <p:cNvSpPr txBox="true"/>
          <p:nvPr/>
        </p:nvSpPr>
        <p:spPr>
          <a:xfrm rot="0">
            <a:off x="8068329" y="5740055"/>
            <a:ext cx="2687208" cy="8439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Optimizadas para memoria</a:t>
            </a:r>
          </a:p>
        </p:txBody>
      </p:sp>
      <p:sp>
        <p:nvSpPr>
          <p:cNvPr name="TextBox 22" id="22"/>
          <p:cNvSpPr txBox="true"/>
          <p:nvPr/>
        </p:nvSpPr>
        <p:spPr>
          <a:xfrm rot="0">
            <a:off x="8068329" y="6697690"/>
            <a:ext cx="4109035" cy="2778760"/>
          </a:xfrm>
          <a:prstGeom prst="rect">
            <a:avLst/>
          </a:prstGeom>
        </p:spPr>
        <p:txBody>
          <a:bodyPr anchor="t" rtlCol="false" tIns="0" lIns="0" bIns="0" rIns="0">
            <a:spAutoFit/>
          </a:bodyPr>
          <a:lstStyle/>
          <a:p>
            <a:pPr algn="l">
              <a:lnSpc>
                <a:spcPts val="3680"/>
              </a:lnSpc>
            </a:pPr>
            <a:r>
              <a:rPr lang="en-US" sz="2300">
                <a:solidFill>
                  <a:srgbClr val="FFFFFF"/>
                </a:solidFill>
                <a:latin typeface="Poppins"/>
                <a:ea typeface="Poppins"/>
                <a:cs typeface="Poppins"/>
                <a:sym typeface="Poppins"/>
              </a:rPr>
              <a:t>ideales para bases de datos de alto rendimiento, cachés en memoria distribuidas con escala web, análisis de big data en tiempo real y más.</a:t>
            </a:r>
          </a:p>
        </p:txBody>
      </p:sp>
      <p:sp>
        <p:nvSpPr>
          <p:cNvPr name="TextBox 23" id="23"/>
          <p:cNvSpPr txBox="true"/>
          <p:nvPr/>
        </p:nvSpPr>
        <p:spPr>
          <a:xfrm rot="0">
            <a:off x="13511765" y="5740055"/>
            <a:ext cx="2687208" cy="8439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Informática acelerada</a:t>
            </a:r>
          </a:p>
        </p:txBody>
      </p:sp>
      <p:sp>
        <p:nvSpPr>
          <p:cNvPr name="TextBox 24" id="24"/>
          <p:cNvSpPr txBox="true"/>
          <p:nvPr/>
        </p:nvSpPr>
        <p:spPr>
          <a:xfrm rot="0">
            <a:off x="13511765" y="6697690"/>
            <a:ext cx="4109035" cy="2312035"/>
          </a:xfrm>
          <a:prstGeom prst="rect">
            <a:avLst/>
          </a:prstGeom>
        </p:spPr>
        <p:txBody>
          <a:bodyPr anchor="t" rtlCol="false" tIns="0" lIns="0" bIns="0" rIns="0">
            <a:spAutoFit/>
          </a:bodyPr>
          <a:lstStyle/>
          <a:p>
            <a:pPr algn="l">
              <a:lnSpc>
                <a:spcPts val="3680"/>
              </a:lnSpc>
            </a:pPr>
            <a:r>
              <a:rPr lang="en-US" sz="2300">
                <a:solidFill>
                  <a:srgbClr val="D9D9D9"/>
                </a:solidFill>
                <a:latin typeface="Poppins"/>
                <a:ea typeface="Poppins"/>
                <a:cs typeface="Poppins"/>
                <a:sym typeface="Poppins"/>
              </a:rPr>
              <a:t>Ideales para aprendizaje automático, aplicaciones con uso intensivo de gráficos, videojuegos y más.</a:t>
            </a:r>
          </a:p>
        </p:txBody>
      </p:sp>
      <p:sp>
        <p:nvSpPr>
          <p:cNvPr name="TextBox 25" id="25"/>
          <p:cNvSpPr txBox="true"/>
          <p:nvPr/>
        </p:nvSpPr>
        <p:spPr>
          <a:xfrm rot="0">
            <a:off x="1028700" y="1601815"/>
            <a:ext cx="5323557" cy="1571625"/>
          </a:xfrm>
          <a:prstGeom prst="rect">
            <a:avLst/>
          </a:prstGeom>
        </p:spPr>
        <p:txBody>
          <a:bodyPr anchor="t" rtlCol="false" tIns="0" lIns="0" bIns="0" rIns="0">
            <a:spAutoFit/>
          </a:bodyPr>
          <a:lstStyle/>
          <a:p>
            <a:pPr algn="ctr">
              <a:lnSpc>
                <a:spcPts val="6000"/>
              </a:lnSpc>
            </a:pPr>
            <a:r>
              <a:rPr lang="en-US" sz="5000" b="true">
                <a:solidFill>
                  <a:srgbClr val="101010"/>
                </a:solidFill>
                <a:latin typeface="Poppins Bold"/>
                <a:ea typeface="Poppins Bold"/>
                <a:cs typeface="Poppins Bold"/>
                <a:sym typeface="Poppins Bold"/>
              </a:rPr>
              <a:t>Categorías de las intancias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3" id="3"/>
          <p:cNvGrpSpPr/>
          <p:nvPr/>
        </p:nvGrpSpPr>
        <p:grpSpPr>
          <a:xfrm rot="0">
            <a:off x="7401128" y="0"/>
            <a:ext cx="10886872" cy="5143500"/>
            <a:chOff x="0" y="0"/>
            <a:chExt cx="2580592" cy="1219200"/>
          </a:xfrm>
        </p:grpSpPr>
        <p:sp>
          <p:nvSpPr>
            <p:cNvPr name="Freeform 4" id="4"/>
            <p:cNvSpPr/>
            <p:nvPr/>
          </p:nvSpPr>
          <p:spPr>
            <a:xfrm flipH="false" flipV="false" rot="0">
              <a:off x="0" y="0"/>
              <a:ext cx="2580592" cy="1219200"/>
            </a:xfrm>
            <a:custGeom>
              <a:avLst/>
              <a:gdLst/>
              <a:ahLst/>
              <a:cxnLst/>
              <a:rect r="r" b="b" t="t" l="l"/>
              <a:pathLst>
                <a:path h="1219200" w="2580592">
                  <a:moveTo>
                    <a:pt x="0" y="0"/>
                  </a:moveTo>
                  <a:lnTo>
                    <a:pt x="2580592" y="0"/>
                  </a:lnTo>
                  <a:lnTo>
                    <a:pt x="2580592" y="1219200"/>
                  </a:lnTo>
                  <a:lnTo>
                    <a:pt x="0" y="1219200"/>
                  </a:lnTo>
                  <a:close/>
                </a:path>
              </a:pathLst>
            </a:custGeom>
            <a:solidFill>
              <a:srgbClr val="071C42"/>
            </a:solidFill>
          </p:spPr>
        </p:sp>
        <p:sp>
          <p:nvSpPr>
            <p:cNvPr name="TextBox 5" id="5"/>
            <p:cNvSpPr txBox="true"/>
            <p:nvPr/>
          </p:nvSpPr>
          <p:spPr>
            <a:xfrm>
              <a:off x="0" y="-38100"/>
              <a:ext cx="2580592" cy="12573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401128" y="5143500"/>
            <a:ext cx="10886872" cy="5143500"/>
            <a:chOff x="0" y="0"/>
            <a:chExt cx="2580592" cy="1219200"/>
          </a:xfrm>
        </p:grpSpPr>
        <p:sp>
          <p:nvSpPr>
            <p:cNvPr name="Freeform 7" id="7"/>
            <p:cNvSpPr/>
            <p:nvPr/>
          </p:nvSpPr>
          <p:spPr>
            <a:xfrm flipH="false" flipV="false" rot="0">
              <a:off x="0" y="0"/>
              <a:ext cx="2580592" cy="1219200"/>
            </a:xfrm>
            <a:custGeom>
              <a:avLst/>
              <a:gdLst/>
              <a:ahLst/>
              <a:cxnLst/>
              <a:rect r="r" b="b" t="t" l="l"/>
              <a:pathLst>
                <a:path h="1219200" w="2580592">
                  <a:moveTo>
                    <a:pt x="0" y="0"/>
                  </a:moveTo>
                  <a:lnTo>
                    <a:pt x="2580592" y="0"/>
                  </a:lnTo>
                  <a:lnTo>
                    <a:pt x="2580592" y="1219200"/>
                  </a:lnTo>
                  <a:lnTo>
                    <a:pt x="0" y="1219200"/>
                  </a:lnTo>
                  <a:close/>
                </a:path>
              </a:pathLst>
            </a:custGeom>
            <a:solidFill>
              <a:srgbClr val="3DCAB1"/>
            </a:solidFill>
          </p:spPr>
        </p:sp>
        <p:sp>
          <p:nvSpPr>
            <p:cNvPr name="TextBox 8" id="8"/>
            <p:cNvSpPr txBox="true"/>
            <p:nvPr/>
          </p:nvSpPr>
          <p:spPr>
            <a:xfrm>
              <a:off x="0" y="-38100"/>
              <a:ext cx="2580592" cy="12573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201801" y="5219620"/>
            <a:ext cx="8127642" cy="6605556"/>
          </a:xfrm>
          <a:custGeom>
            <a:avLst/>
            <a:gdLst/>
            <a:ahLst/>
            <a:cxnLst/>
            <a:rect r="r" b="b" t="t" l="l"/>
            <a:pathLst>
              <a:path h="6605556" w="8127642">
                <a:moveTo>
                  <a:pt x="0" y="0"/>
                </a:moveTo>
                <a:lnTo>
                  <a:pt x="8127642" y="0"/>
                </a:lnTo>
                <a:lnTo>
                  <a:pt x="8127642" y="6605556"/>
                </a:lnTo>
                <a:lnTo>
                  <a:pt x="0" y="6605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8249079" y="962025"/>
            <a:ext cx="9190971"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Optimizadas para almacenamiento</a:t>
            </a:r>
          </a:p>
        </p:txBody>
      </p:sp>
      <p:sp>
        <p:nvSpPr>
          <p:cNvPr name="TextBox 11" id="11"/>
          <p:cNvSpPr txBox="true"/>
          <p:nvPr/>
        </p:nvSpPr>
        <p:spPr>
          <a:xfrm rot="0">
            <a:off x="1028700" y="4238625"/>
            <a:ext cx="5544669" cy="1752600"/>
          </a:xfrm>
          <a:prstGeom prst="rect">
            <a:avLst/>
          </a:prstGeom>
        </p:spPr>
        <p:txBody>
          <a:bodyPr anchor="t" rtlCol="false" tIns="0" lIns="0" bIns="0" rIns="0">
            <a:spAutoFit/>
          </a:bodyPr>
          <a:lstStyle/>
          <a:p>
            <a:pPr algn="ctr">
              <a:lnSpc>
                <a:spcPts val="6719"/>
              </a:lnSpc>
            </a:pPr>
            <a:r>
              <a:rPr lang="en-US" sz="5599" b="true">
                <a:solidFill>
                  <a:srgbClr val="101010"/>
                </a:solidFill>
                <a:latin typeface="Poppins Bold"/>
                <a:ea typeface="Poppins Bold"/>
                <a:cs typeface="Poppins Bold"/>
                <a:sym typeface="Poppins Bold"/>
              </a:rPr>
              <a:t>Categorías de las intancias</a:t>
            </a:r>
          </a:p>
        </p:txBody>
      </p:sp>
      <p:sp>
        <p:nvSpPr>
          <p:cNvPr name="TextBox 12" id="12"/>
          <p:cNvSpPr txBox="true"/>
          <p:nvPr/>
        </p:nvSpPr>
        <p:spPr>
          <a:xfrm rot="0">
            <a:off x="8249079" y="6071059"/>
            <a:ext cx="9190971"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Optimizadas para HPC</a:t>
            </a:r>
          </a:p>
        </p:txBody>
      </p:sp>
      <p:sp>
        <p:nvSpPr>
          <p:cNvPr name="TextBox 13" id="13"/>
          <p:cNvSpPr txBox="true"/>
          <p:nvPr/>
        </p:nvSpPr>
        <p:spPr>
          <a:xfrm rot="0">
            <a:off x="8249079" y="6810199"/>
            <a:ext cx="9010221" cy="1845310"/>
          </a:xfrm>
          <a:prstGeom prst="rect">
            <a:avLst/>
          </a:prstGeom>
        </p:spPr>
        <p:txBody>
          <a:bodyPr anchor="t" rtlCol="false" tIns="0" lIns="0" bIns="0" rIns="0">
            <a:spAutoFit/>
          </a:bodyPr>
          <a:lstStyle/>
          <a:p>
            <a:pPr algn="l">
              <a:lnSpc>
                <a:spcPts val="3680"/>
              </a:lnSpc>
            </a:pPr>
            <a:r>
              <a:rPr lang="en-US" sz="2300">
                <a:solidFill>
                  <a:srgbClr val="FFFFFF"/>
                </a:solidFill>
                <a:latin typeface="Poppins"/>
                <a:ea typeface="Poppins"/>
                <a:cs typeface="Poppins"/>
                <a:sym typeface="Poppins"/>
              </a:rPr>
              <a:t>Ideales para aplicaciones que se benefician de procesadores de alto rendimiento, como simulaciones grandes y complejas y cargas de trabajo de aprendizaje profundo.</a:t>
            </a:r>
          </a:p>
        </p:txBody>
      </p:sp>
      <p:sp>
        <p:nvSpPr>
          <p:cNvPr name="TextBox 14" id="14"/>
          <p:cNvSpPr txBox="true"/>
          <p:nvPr/>
        </p:nvSpPr>
        <p:spPr>
          <a:xfrm rot="0">
            <a:off x="8249079" y="1701165"/>
            <a:ext cx="9010221" cy="911860"/>
          </a:xfrm>
          <a:prstGeom prst="rect">
            <a:avLst/>
          </a:prstGeom>
        </p:spPr>
        <p:txBody>
          <a:bodyPr anchor="t" rtlCol="false" tIns="0" lIns="0" bIns="0" rIns="0">
            <a:spAutoFit/>
          </a:bodyPr>
          <a:lstStyle/>
          <a:p>
            <a:pPr algn="l">
              <a:lnSpc>
                <a:spcPts val="3680"/>
              </a:lnSpc>
            </a:pPr>
            <a:r>
              <a:rPr lang="en-US" sz="2300">
                <a:solidFill>
                  <a:srgbClr val="FFFFFF"/>
                </a:solidFill>
                <a:latin typeface="Poppins"/>
                <a:ea typeface="Poppins"/>
                <a:cs typeface="Poppins"/>
                <a:sym typeface="Poppins"/>
              </a:rPr>
              <a:t>Ideales para bases de datos NoSQL, almacenamiento de datos, sistemas de archivos distribuidos y más.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9745726" y="2450624"/>
            <a:ext cx="5879392" cy="5628136"/>
          </a:xfrm>
          <a:custGeom>
            <a:avLst/>
            <a:gdLst/>
            <a:ahLst/>
            <a:cxnLst/>
            <a:rect r="r" b="b" t="t" l="l"/>
            <a:pathLst>
              <a:path h="5628136" w="5879392">
                <a:moveTo>
                  <a:pt x="0" y="0"/>
                </a:moveTo>
                <a:lnTo>
                  <a:pt x="5879392" y="0"/>
                </a:lnTo>
                <a:lnTo>
                  <a:pt x="5879392" y="5628136"/>
                </a:lnTo>
                <a:lnTo>
                  <a:pt x="0" y="5628136"/>
                </a:lnTo>
                <a:lnTo>
                  <a:pt x="0" y="0"/>
                </a:lnTo>
                <a:close/>
              </a:path>
            </a:pathLst>
          </a:custGeom>
          <a:blipFill>
            <a:blip r:embed="rId4"/>
            <a:stretch>
              <a:fillRect l="0" t="0" r="0" b="0"/>
            </a:stretch>
          </a:blipFill>
        </p:spPr>
      </p:sp>
      <p:sp>
        <p:nvSpPr>
          <p:cNvPr name="Freeform 8" id="8"/>
          <p:cNvSpPr/>
          <p:nvPr/>
        </p:nvSpPr>
        <p:spPr>
          <a:xfrm flipH="false" flipV="false" rot="0">
            <a:off x="13498271" y="-1014404"/>
            <a:ext cx="7315200" cy="3250692"/>
          </a:xfrm>
          <a:custGeom>
            <a:avLst/>
            <a:gdLst/>
            <a:ahLst/>
            <a:cxnLst/>
            <a:rect r="r" b="b" t="t" l="l"/>
            <a:pathLst>
              <a:path h="3250692" w="7315200">
                <a:moveTo>
                  <a:pt x="0" y="0"/>
                </a:moveTo>
                <a:lnTo>
                  <a:pt x="7315200" y="0"/>
                </a:lnTo>
                <a:lnTo>
                  <a:pt x="7315200" y="3250692"/>
                </a:lnTo>
                <a:lnTo>
                  <a:pt x="0" y="32506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712082" y="2786935"/>
            <a:ext cx="4643986" cy="5112386"/>
          </a:xfrm>
          <a:prstGeom prst="rect">
            <a:avLst/>
          </a:prstGeom>
        </p:spPr>
        <p:txBody>
          <a:bodyPr anchor="t" rtlCol="false" tIns="0" lIns="0" bIns="0" rIns="0">
            <a:spAutoFit/>
          </a:bodyPr>
          <a:lstStyle/>
          <a:p>
            <a:pPr algn="l">
              <a:lnSpc>
                <a:spcPts val="3679"/>
              </a:lnSpc>
            </a:pPr>
            <a:r>
              <a:rPr lang="en-US" sz="2299">
                <a:solidFill>
                  <a:srgbClr val="EEF2F5"/>
                </a:solidFill>
                <a:latin typeface="Poppins"/>
                <a:ea typeface="Poppins"/>
                <a:cs typeface="Poppins"/>
                <a:sym typeface="Poppins"/>
              </a:rPr>
              <a:t>un grupo de seguridad funciona como un firewall virtual para las intancias EC2 para controlar el tráfico entrante y saliente. </a:t>
            </a:r>
          </a:p>
          <a:p>
            <a:pPr algn="l">
              <a:lnSpc>
                <a:spcPts val="3679"/>
              </a:lnSpc>
            </a:pPr>
          </a:p>
          <a:p>
            <a:pPr algn="l">
              <a:lnSpc>
                <a:spcPts val="3679"/>
              </a:lnSpc>
            </a:pPr>
            <a:r>
              <a:rPr lang="en-US" sz="2299">
                <a:solidFill>
                  <a:srgbClr val="EEF2F5"/>
                </a:solidFill>
                <a:latin typeface="Poppins"/>
                <a:ea typeface="Poppins"/>
                <a:cs typeface="Poppins"/>
                <a:sym typeface="Poppins"/>
              </a:rPr>
              <a:t>Las reglas de entrada controlan el tráfico entrante a la instancia y las reglas de salida controlan el tráfico saliente de la instancia.</a:t>
            </a:r>
          </a:p>
        </p:txBody>
      </p:sp>
      <p:sp>
        <p:nvSpPr>
          <p:cNvPr name="TextBox 10" id="10"/>
          <p:cNvSpPr txBox="true"/>
          <p:nvPr/>
        </p:nvSpPr>
        <p:spPr>
          <a:xfrm rot="0">
            <a:off x="1712082" y="1545749"/>
            <a:ext cx="6129714"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Security Groups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AutoShape 2" id="2"/>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3" id="3"/>
          <p:cNvSpPr/>
          <p:nvPr/>
        </p:nvSpPr>
        <p:spPr>
          <a:xfrm flipH="false" flipV="false" rot="0">
            <a:off x="-2312988" y="5675340"/>
            <a:ext cx="9005307" cy="6565688"/>
          </a:xfrm>
          <a:custGeom>
            <a:avLst/>
            <a:gdLst/>
            <a:ahLst/>
            <a:cxnLst/>
            <a:rect r="r" b="b" t="t" l="l"/>
            <a:pathLst>
              <a:path h="6565688" w="9005307">
                <a:moveTo>
                  <a:pt x="0" y="0"/>
                </a:moveTo>
                <a:lnTo>
                  <a:pt x="9005308" y="0"/>
                </a:lnTo>
                <a:lnTo>
                  <a:pt x="9005308"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1974906" y="1974906"/>
            <a:ext cx="4238545" cy="288733"/>
            <a:chOff x="0" y="0"/>
            <a:chExt cx="1116325" cy="76045"/>
          </a:xfrm>
        </p:grpSpPr>
        <p:sp>
          <p:nvSpPr>
            <p:cNvPr name="Freeform 5" id="5"/>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6" id="6"/>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7841796" y="2752175"/>
            <a:ext cx="9122065" cy="5147146"/>
          </a:xfrm>
          <a:custGeom>
            <a:avLst/>
            <a:gdLst/>
            <a:ahLst/>
            <a:cxnLst/>
            <a:rect r="r" b="b" t="t" l="l"/>
            <a:pathLst>
              <a:path h="5147146" w="9122065">
                <a:moveTo>
                  <a:pt x="0" y="0"/>
                </a:moveTo>
                <a:lnTo>
                  <a:pt x="9122065" y="0"/>
                </a:lnTo>
                <a:lnTo>
                  <a:pt x="9122065" y="5147145"/>
                </a:lnTo>
                <a:lnTo>
                  <a:pt x="0" y="5147145"/>
                </a:lnTo>
                <a:lnTo>
                  <a:pt x="0" y="0"/>
                </a:lnTo>
                <a:close/>
              </a:path>
            </a:pathLst>
          </a:custGeom>
          <a:blipFill>
            <a:blip r:embed="rId4"/>
            <a:stretch>
              <a:fillRect l="-1295" t="0" r="-1295" b="0"/>
            </a:stretch>
          </a:blipFill>
        </p:spPr>
      </p:sp>
      <p:sp>
        <p:nvSpPr>
          <p:cNvPr name="TextBox 8" id="8"/>
          <p:cNvSpPr txBox="true"/>
          <p:nvPr/>
        </p:nvSpPr>
        <p:spPr>
          <a:xfrm rot="0">
            <a:off x="1712082" y="2786935"/>
            <a:ext cx="4643986" cy="5112386"/>
          </a:xfrm>
          <a:prstGeom prst="rect">
            <a:avLst/>
          </a:prstGeom>
        </p:spPr>
        <p:txBody>
          <a:bodyPr anchor="t" rtlCol="false" tIns="0" lIns="0" bIns="0" rIns="0">
            <a:spAutoFit/>
          </a:bodyPr>
          <a:lstStyle/>
          <a:p>
            <a:pPr algn="l">
              <a:lnSpc>
                <a:spcPts val="3679"/>
              </a:lnSpc>
            </a:pPr>
            <a:r>
              <a:rPr lang="en-US" sz="2299">
                <a:solidFill>
                  <a:srgbClr val="EEF2F5"/>
                </a:solidFill>
                <a:latin typeface="Poppins"/>
                <a:ea typeface="Poppins"/>
                <a:cs typeface="Poppins"/>
                <a:sym typeface="Poppins"/>
              </a:rPr>
              <a:t>De forma predeterminada los grupos de seguridad permiten el tráfico de salida, mas no el de entrada por lo que debe ser configurado.</a:t>
            </a:r>
          </a:p>
          <a:p>
            <a:pPr algn="l">
              <a:lnSpc>
                <a:spcPts val="3679"/>
              </a:lnSpc>
            </a:pPr>
          </a:p>
          <a:p>
            <a:pPr algn="l">
              <a:lnSpc>
                <a:spcPts val="3679"/>
              </a:lnSpc>
            </a:pPr>
            <a:r>
              <a:rPr lang="en-US" sz="2299">
                <a:solidFill>
                  <a:srgbClr val="EEF2F5"/>
                </a:solidFill>
                <a:latin typeface="Poppins"/>
                <a:ea typeface="Poppins"/>
                <a:cs typeface="Poppins"/>
                <a:sym typeface="Poppins"/>
              </a:rPr>
              <a:t>Las reglas del grupo de seguridad son siempre permisivas; no es posible crear reglas que denieguen el acceso.</a:t>
            </a:r>
          </a:p>
        </p:txBody>
      </p:sp>
      <p:sp>
        <p:nvSpPr>
          <p:cNvPr name="TextBox 9" id="9"/>
          <p:cNvSpPr txBox="true"/>
          <p:nvPr/>
        </p:nvSpPr>
        <p:spPr>
          <a:xfrm rot="0">
            <a:off x="1712082" y="1545749"/>
            <a:ext cx="6129714"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Security Groups</a:t>
            </a:r>
          </a:p>
        </p:txBody>
      </p:sp>
      <p:sp>
        <p:nvSpPr>
          <p:cNvPr name="Freeform 10" id="10"/>
          <p:cNvSpPr/>
          <p:nvPr/>
        </p:nvSpPr>
        <p:spPr>
          <a:xfrm flipH="false" flipV="false" rot="1876101">
            <a:off x="11905621" y="-388706"/>
            <a:ext cx="8274745" cy="2993953"/>
          </a:xfrm>
          <a:custGeom>
            <a:avLst/>
            <a:gdLst/>
            <a:ahLst/>
            <a:cxnLst/>
            <a:rect r="r" b="b" t="t" l="l"/>
            <a:pathLst>
              <a:path h="2993953" w="8274745">
                <a:moveTo>
                  <a:pt x="0" y="0"/>
                </a:moveTo>
                <a:lnTo>
                  <a:pt x="8274745" y="0"/>
                </a:lnTo>
                <a:lnTo>
                  <a:pt x="8274745" y="2993953"/>
                </a:lnTo>
                <a:lnTo>
                  <a:pt x="0" y="29939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37354" y="0"/>
            <a:ext cx="9850646" cy="3429000"/>
            <a:chOff x="0" y="0"/>
            <a:chExt cx="2334968" cy="812800"/>
          </a:xfrm>
        </p:grpSpPr>
        <p:sp>
          <p:nvSpPr>
            <p:cNvPr name="Freeform 3" id="3"/>
            <p:cNvSpPr/>
            <p:nvPr/>
          </p:nvSpPr>
          <p:spPr>
            <a:xfrm flipH="false" flipV="false" rot="0">
              <a:off x="0" y="0"/>
              <a:ext cx="2334968" cy="812800"/>
            </a:xfrm>
            <a:custGeom>
              <a:avLst/>
              <a:gdLst/>
              <a:ahLst/>
              <a:cxnLst/>
              <a:rect r="r" b="b" t="t" l="l"/>
              <a:pathLst>
                <a:path h="812800" w="2334968">
                  <a:moveTo>
                    <a:pt x="0" y="0"/>
                  </a:moveTo>
                  <a:lnTo>
                    <a:pt x="2334968" y="0"/>
                  </a:lnTo>
                  <a:lnTo>
                    <a:pt x="2334968" y="812800"/>
                  </a:lnTo>
                  <a:lnTo>
                    <a:pt x="0" y="812800"/>
                  </a:lnTo>
                  <a:close/>
                </a:path>
              </a:pathLst>
            </a:custGeom>
            <a:solidFill>
              <a:srgbClr val="071C42"/>
            </a:solidFill>
          </p:spPr>
        </p:sp>
        <p:sp>
          <p:nvSpPr>
            <p:cNvPr name="TextBox 4" id="4"/>
            <p:cNvSpPr txBox="true"/>
            <p:nvPr/>
          </p:nvSpPr>
          <p:spPr>
            <a:xfrm>
              <a:off x="0" y="-38100"/>
              <a:ext cx="2334968"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437354" y="3429000"/>
            <a:ext cx="9850646" cy="6858000"/>
            <a:chOff x="0" y="0"/>
            <a:chExt cx="2334968" cy="1625600"/>
          </a:xfrm>
        </p:grpSpPr>
        <p:sp>
          <p:nvSpPr>
            <p:cNvPr name="Freeform 6" id="6"/>
            <p:cNvSpPr/>
            <p:nvPr/>
          </p:nvSpPr>
          <p:spPr>
            <a:xfrm flipH="false" flipV="false" rot="0">
              <a:off x="0" y="0"/>
              <a:ext cx="2334968" cy="1625600"/>
            </a:xfrm>
            <a:custGeom>
              <a:avLst/>
              <a:gdLst/>
              <a:ahLst/>
              <a:cxnLst/>
              <a:rect r="r" b="b" t="t" l="l"/>
              <a:pathLst>
                <a:path h="1625600" w="2334968">
                  <a:moveTo>
                    <a:pt x="0" y="0"/>
                  </a:moveTo>
                  <a:lnTo>
                    <a:pt x="2334968" y="0"/>
                  </a:lnTo>
                  <a:lnTo>
                    <a:pt x="2334968" y="1625600"/>
                  </a:lnTo>
                  <a:lnTo>
                    <a:pt x="0" y="1625600"/>
                  </a:lnTo>
                  <a:close/>
                </a:path>
              </a:pathLst>
            </a:custGeom>
            <a:solidFill>
              <a:srgbClr val="3DCAB1"/>
            </a:solidFill>
          </p:spPr>
        </p:sp>
        <p:sp>
          <p:nvSpPr>
            <p:cNvPr name="TextBox 7" id="7"/>
            <p:cNvSpPr txBox="true"/>
            <p:nvPr/>
          </p:nvSpPr>
          <p:spPr>
            <a:xfrm>
              <a:off x="0" y="-38100"/>
              <a:ext cx="2334968" cy="16637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2861667" y="-805804"/>
            <a:ext cx="8166327" cy="6636996"/>
          </a:xfrm>
          <a:custGeom>
            <a:avLst/>
            <a:gdLst/>
            <a:ahLst/>
            <a:cxnLst/>
            <a:rect r="r" b="b" t="t" l="l"/>
            <a:pathLst>
              <a:path h="6636996" w="8166327">
                <a:moveTo>
                  <a:pt x="8166327" y="0"/>
                </a:moveTo>
                <a:lnTo>
                  <a:pt x="0" y="0"/>
                </a:lnTo>
                <a:lnTo>
                  <a:pt x="0" y="6636996"/>
                </a:lnTo>
                <a:lnTo>
                  <a:pt x="8166327" y="6636996"/>
                </a:lnTo>
                <a:lnTo>
                  <a:pt x="816632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9924636" y="481025"/>
            <a:ext cx="5969920"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Tipos de par de Claves</a:t>
            </a:r>
          </a:p>
        </p:txBody>
      </p:sp>
      <p:sp>
        <p:nvSpPr>
          <p:cNvPr name="TextBox 10" id="10"/>
          <p:cNvSpPr txBox="true"/>
          <p:nvPr/>
        </p:nvSpPr>
        <p:spPr>
          <a:xfrm rot="0">
            <a:off x="9924636" y="1403515"/>
            <a:ext cx="6409167" cy="1442085"/>
          </a:xfrm>
          <a:prstGeom prst="rect">
            <a:avLst/>
          </a:prstGeom>
        </p:spPr>
        <p:txBody>
          <a:bodyPr anchor="t" rtlCol="false" tIns="0" lIns="0" bIns="0" rIns="0">
            <a:spAutoFit/>
          </a:bodyPr>
          <a:lstStyle/>
          <a:p>
            <a:pPr algn="l">
              <a:lnSpc>
                <a:spcPts val="2880"/>
              </a:lnSpc>
            </a:pPr>
            <a:r>
              <a:rPr lang="en-US" sz="1800">
                <a:solidFill>
                  <a:srgbClr val="EEF2F5"/>
                </a:solidFill>
                <a:latin typeface="Poppins"/>
                <a:ea typeface="Poppins"/>
                <a:cs typeface="Poppins"/>
                <a:sym typeface="Poppins"/>
              </a:rPr>
              <a:t>Amazon EC2 admite los tipos de claves ED25519 y RSA.</a:t>
            </a:r>
          </a:p>
          <a:p>
            <a:pPr algn="l">
              <a:lnSpc>
                <a:spcPts val="2880"/>
              </a:lnSpc>
            </a:pPr>
          </a:p>
          <a:p>
            <a:pPr algn="l">
              <a:lnSpc>
                <a:spcPts val="2880"/>
              </a:lnSpc>
            </a:pPr>
            <a:r>
              <a:rPr lang="en-US" sz="1800" b="true">
                <a:solidFill>
                  <a:srgbClr val="EEF2F5"/>
                </a:solidFill>
                <a:latin typeface="Poppins Bold"/>
                <a:ea typeface="Poppins Bold"/>
                <a:cs typeface="Poppins Bold"/>
                <a:sym typeface="Poppins Bold"/>
              </a:rPr>
              <a:t>**Nota:</a:t>
            </a:r>
            <a:r>
              <a:rPr lang="en-US" sz="1800">
                <a:solidFill>
                  <a:srgbClr val="EEF2F5"/>
                </a:solidFill>
                <a:latin typeface="Poppins"/>
                <a:ea typeface="Poppins"/>
                <a:cs typeface="Poppins"/>
                <a:sym typeface="Poppins"/>
              </a:rPr>
              <a:t> Las claves ED25519 no son compatibles con las instancias de windows.</a:t>
            </a:r>
          </a:p>
        </p:txBody>
      </p:sp>
      <p:sp>
        <p:nvSpPr>
          <p:cNvPr name="TextBox 11" id="11"/>
          <p:cNvSpPr txBox="true"/>
          <p:nvPr/>
        </p:nvSpPr>
        <p:spPr>
          <a:xfrm rot="0">
            <a:off x="9924636" y="3924776"/>
            <a:ext cx="5969920" cy="424815"/>
          </a:xfrm>
          <a:prstGeom prst="rect">
            <a:avLst/>
          </a:prstGeom>
        </p:spPr>
        <p:txBody>
          <a:bodyPr anchor="t" rtlCol="false" tIns="0" lIns="0" bIns="0" rIns="0">
            <a:spAutoFit/>
          </a:bodyPr>
          <a:lstStyle/>
          <a:p>
            <a:pPr algn="l">
              <a:lnSpc>
                <a:spcPts val="3360"/>
              </a:lnSpc>
            </a:pPr>
            <a:r>
              <a:rPr lang="en-US" sz="2400" b="true">
                <a:solidFill>
                  <a:srgbClr val="FFFFFF"/>
                </a:solidFill>
                <a:latin typeface="Poppins Bold"/>
                <a:ea typeface="Poppins Bold"/>
                <a:cs typeface="Poppins Bold"/>
                <a:sym typeface="Poppins Bold"/>
              </a:rPr>
              <a:t>Formato de archivos de clave privada</a:t>
            </a:r>
          </a:p>
        </p:txBody>
      </p:sp>
      <p:sp>
        <p:nvSpPr>
          <p:cNvPr name="TextBox 12" id="12"/>
          <p:cNvSpPr txBox="true"/>
          <p:nvPr/>
        </p:nvSpPr>
        <p:spPr>
          <a:xfrm rot="0">
            <a:off x="9924636" y="4816792"/>
            <a:ext cx="6409167" cy="4189730"/>
          </a:xfrm>
          <a:prstGeom prst="rect">
            <a:avLst/>
          </a:prstGeom>
        </p:spPr>
        <p:txBody>
          <a:bodyPr anchor="t" rtlCol="false" tIns="0" lIns="0" bIns="0" rIns="0">
            <a:spAutoFit/>
          </a:bodyPr>
          <a:lstStyle/>
          <a:p>
            <a:pPr algn="l">
              <a:lnSpc>
                <a:spcPts val="3039"/>
              </a:lnSpc>
            </a:pPr>
            <a:r>
              <a:rPr lang="en-US" sz="1899">
                <a:solidFill>
                  <a:srgbClr val="FFFFFF"/>
                </a:solidFill>
                <a:latin typeface="Poppins"/>
                <a:ea typeface="Poppins"/>
                <a:cs typeface="Poppins"/>
                <a:sym typeface="Poppins"/>
              </a:rPr>
              <a:t>El formato de archivo define el formato de la clave privada que se pedirá que descarguemos al crear el par de claves.</a:t>
            </a:r>
          </a:p>
          <a:p>
            <a:pPr algn="l">
              <a:lnSpc>
                <a:spcPts val="3039"/>
              </a:lnSpc>
            </a:pPr>
          </a:p>
          <a:p>
            <a:pPr algn="l" marL="410209" indent="-205105" lvl="1">
              <a:lnSpc>
                <a:spcPts val="3039"/>
              </a:lnSpc>
              <a:buFont typeface="Arial"/>
              <a:buChar char="•"/>
            </a:pPr>
            <a:r>
              <a:rPr lang="en-US" sz="1899">
                <a:solidFill>
                  <a:srgbClr val="FFFFFF"/>
                </a:solidFill>
                <a:latin typeface="Poppins"/>
                <a:ea typeface="Poppins"/>
                <a:cs typeface="Poppins"/>
                <a:sym typeface="Poppins"/>
              </a:rPr>
              <a:t>Si utilizaremos OpenSHH para conectarnos a la instancia, debemos guardar la clave en formato </a:t>
            </a:r>
            <a:r>
              <a:rPr lang="en-US" b="true" sz="1899">
                <a:solidFill>
                  <a:srgbClr val="FFFFFF"/>
                </a:solidFill>
                <a:latin typeface="Poppins Bold"/>
                <a:ea typeface="Poppins Bold"/>
                <a:cs typeface="Poppins Bold"/>
                <a:sym typeface="Poppins Bold"/>
              </a:rPr>
              <a:t>.pem</a:t>
            </a:r>
            <a:r>
              <a:rPr lang="en-US" sz="1899">
                <a:solidFill>
                  <a:srgbClr val="FFFFFF"/>
                </a:solidFill>
                <a:latin typeface="Poppins"/>
                <a:ea typeface="Poppins"/>
                <a:cs typeface="Poppins"/>
                <a:sym typeface="Poppins"/>
              </a:rPr>
              <a:t>.</a:t>
            </a:r>
          </a:p>
          <a:p>
            <a:pPr algn="l">
              <a:lnSpc>
                <a:spcPts val="3039"/>
              </a:lnSpc>
            </a:pPr>
          </a:p>
          <a:p>
            <a:pPr algn="l" marL="410209" indent="-205105" lvl="1">
              <a:lnSpc>
                <a:spcPts val="3039"/>
              </a:lnSpc>
              <a:buFont typeface="Arial"/>
              <a:buChar char="•"/>
            </a:pPr>
            <a:r>
              <a:rPr lang="en-US" sz="1899">
                <a:solidFill>
                  <a:srgbClr val="FFFFFF"/>
                </a:solidFill>
                <a:latin typeface="Poppins"/>
                <a:ea typeface="Poppins"/>
                <a:cs typeface="Poppins"/>
                <a:sym typeface="Poppins"/>
              </a:rPr>
              <a:t>Si utilizaremos PuTTY para conectarnos a la instancia, deberemos guardar la clave en formato </a:t>
            </a:r>
            <a:r>
              <a:rPr lang="en-US" b="true" sz="1899">
                <a:solidFill>
                  <a:srgbClr val="FFFFFF"/>
                </a:solidFill>
                <a:latin typeface="Poppins Bold"/>
                <a:ea typeface="Poppins Bold"/>
                <a:cs typeface="Poppins Bold"/>
                <a:sym typeface="Poppins Bold"/>
              </a:rPr>
              <a:t>.ppk</a:t>
            </a:r>
            <a:r>
              <a:rPr lang="en-US" sz="1899">
                <a:solidFill>
                  <a:srgbClr val="FFFFFF"/>
                </a:solidFill>
                <a:latin typeface="Poppins"/>
                <a:ea typeface="Poppins"/>
                <a:cs typeface="Poppins"/>
                <a:sym typeface="Poppins"/>
              </a:rPr>
              <a:t>.</a:t>
            </a:r>
          </a:p>
        </p:txBody>
      </p:sp>
      <p:sp>
        <p:nvSpPr>
          <p:cNvPr name="TextBox 13" id="13"/>
          <p:cNvSpPr txBox="true"/>
          <p:nvPr/>
        </p:nvSpPr>
        <p:spPr>
          <a:xfrm rot="0">
            <a:off x="1221496" y="5774042"/>
            <a:ext cx="5895333" cy="904875"/>
          </a:xfrm>
          <a:prstGeom prst="rect">
            <a:avLst/>
          </a:prstGeom>
        </p:spPr>
        <p:txBody>
          <a:bodyPr anchor="t" rtlCol="false" tIns="0" lIns="0" bIns="0" rIns="0">
            <a:spAutoFit/>
          </a:bodyPr>
          <a:lstStyle/>
          <a:p>
            <a:pPr algn="l">
              <a:lnSpc>
                <a:spcPts val="6719"/>
              </a:lnSpc>
            </a:pPr>
            <a:r>
              <a:rPr lang="en-US" sz="5599" b="true">
                <a:solidFill>
                  <a:srgbClr val="101010"/>
                </a:solidFill>
                <a:latin typeface="Poppins Bold"/>
                <a:ea typeface="Poppins Bold"/>
                <a:cs typeface="Poppins Bold"/>
                <a:sym typeface="Poppins Bold"/>
              </a:rPr>
              <a:t>Pares de claves</a:t>
            </a:r>
          </a:p>
        </p:txBody>
      </p:sp>
      <p:sp>
        <p:nvSpPr>
          <p:cNvPr name="TextBox 14" id="14"/>
          <p:cNvSpPr txBox="true"/>
          <p:nvPr/>
        </p:nvSpPr>
        <p:spPr>
          <a:xfrm rot="0">
            <a:off x="1221496" y="6987401"/>
            <a:ext cx="6740398" cy="1804035"/>
          </a:xfrm>
          <a:prstGeom prst="rect">
            <a:avLst/>
          </a:prstGeom>
        </p:spPr>
        <p:txBody>
          <a:bodyPr anchor="t" rtlCol="false" tIns="0" lIns="0" bIns="0" rIns="0">
            <a:spAutoFit/>
          </a:bodyPr>
          <a:lstStyle/>
          <a:p>
            <a:pPr algn="l">
              <a:lnSpc>
                <a:spcPts val="2880"/>
              </a:lnSpc>
            </a:pPr>
            <a:r>
              <a:rPr lang="en-US" sz="1800">
                <a:solidFill>
                  <a:srgbClr val="545454"/>
                </a:solidFill>
                <a:latin typeface="Poppins"/>
                <a:ea typeface="Poppins"/>
                <a:cs typeface="Poppins"/>
                <a:sym typeface="Poppins"/>
              </a:rPr>
              <a:t>AWS EC2 utiliza una clave pública y una clave privada (encriptación asimétrica) que en su conjunto funcionan como unas credenciales de seguridad que se utilizan para demostrar nuestra identidad cuando nos conectamos a una instancia.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8249"/>
            <a:chOff x="0" y="0"/>
            <a:chExt cx="4816593" cy="2709662"/>
          </a:xfrm>
        </p:grpSpPr>
        <p:sp>
          <p:nvSpPr>
            <p:cNvPr name="Freeform 3" id="3"/>
            <p:cNvSpPr/>
            <p:nvPr/>
          </p:nvSpPr>
          <p:spPr>
            <a:xfrm flipH="false" flipV="false" rot="0">
              <a:off x="0" y="0"/>
              <a:ext cx="4816592" cy="2709662"/>
            </a:xfrm>
            <a:custGeom>
              <a:avLst/>
              <a:gdLst/>
              <a:ahLst/>
              <a:cxnLst/>
              <a:rect r="r" b="b" t="t" l="l"/>
              <a:pathLst>
                <a:path h="2709662" w="4816592">
                  <a:moveTo>
                    <a:pt x="0" y="0"/>
                  </a:moveTo>
                  <a:lnTo>
                    <a:pt x="4816592" y="0"/>
                  </a:lnTo>
                  <a:lnTo>
                    <a:pt x="4816592" y="2709662"/>
                  </a:lnTo>
                  <a:lnTo>
                    <a:pt x="0" y="2709662"/>
                  </a:lnTo>
                  <a:close/>
                </a:path>
              </a:pathLst>
            </a:custGeom>
            <a:solidFill>
              <a:srgbClr val="071C42"/>
            </a:solidFill>
          </p:spPr>
        </p:sp>
        <p:sp>
          <p:nvSpPr>
            <p:cNvPr name="TextBox 4" id="4"/>
            <p:cNvSpPr txBox="true"/>
            <p:nvPr/>
          </p:nvSpPr>
          <p:spPr>
            <a:xfrm>
              <a:off x="0" y="-38100"/>
              <a:ext cx="4816593" cy="274776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9999516"/>
            <a:ext cx="6212838" cy="288733"/>
            <a:chOff x="0" y="0"/>
            <a:chExt cx="1636303" cy="76045"/>
          </a:xfrm>
        </p:grpSpPr>
        <p:sp>
          <p:nvSpPr>
            <p:cNvPr name="Freeform 6" id="6"/>
            <p:cNvSpPr/>
            <p:nvPr/>
          </p:nvSpPr>
          <p:spPr>
            <a:xfrm flipH="false" flipV="false" rot="0">
              <a:off x="0" y="0"/>
              <a:ext cx="1636303" cy="76045"/>
            </a:xfrm>
            <a:custGeom>
              <a:avLst/>
              <a:gdLst/>
              <a:ahLst/>
              <a:cxnLst/>
              <a:rect r="r" b="b" t="t" l="l"/>
              <a:pathLst>
                <a:path h="76045" w="1636303">
                  <a:moveTo>
                    <a:pt x="0" y="0"/>
                  </a:moveTo>
                  <a:lnTo>
                    <a:pt x="1636303" y="0"/>
                  </a:lnTo>
                  <a:lnTo>
                    <a:pt x="1636303" y="76045"/>
                  </a:lnTo>
                  <a:lnTo>
                    <a:pt x="0" y="76045"/>
                  </a:lnTo>
                  <a:close/>
                </a:path>
              </a:pathLst>
            </a:custGeom>
            <a:solidFill>
              <a:srgbClr val="3DCAB1"/>
            </a:solidFill>
          </p:spPr>
        </p:sp>
        <p:sp>
          <p:nvSpPr>
            <p:cNvPr name="TextBox 7" id="7"/>
            <p:cNvSpPr txBox="true"/>
            <p:nvPr/>
          </p:nvSpPr>
          <p:spPr>
            <a:xfrm>
              <a:off x="0" y="-38100"/>
              <a:ext cx="1636303" cy="114145"/>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9" id="9"/>
          <p:cNvSpPr/>
          <p:nvPr/>
        </p:nvSpPr>
        <p:spPr>
          <a:xfrm flipH="false" flipV="false" rot="0">
            <a:off x="12249182" y="6716672"/>
            <a:ext cx="9005307" cy="6565688"/>
          </a:xfrm>
          <a:custGeom>
            <a:avLst/>
            <a:gdLst/>
            <a:ahLst/>
            <a:cxnLst/>
            <a:rect r="r" b="b" t="t" l="l"/>
            <a:pathLst>
              <a:path h="6565688" w="9005307">
                <a:moveTo>
                  <a:pt x="0" y="0"/>
                </a:moveTo>
                <a:lnTo>
                  <a:pt x="9005307" y="0"/>
                </a:lnTo>
                <a:lnTo>
                  <a:pt x="9005307" y="6565688"/>
                </a:lnTo>
                <a:lnTo>
                  <a:pt x="0" y="6565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1699141" y="2254469"/>
            <a:ext cx="5778062" cy="5778062"/>
          </a:xfrm>
          <a:custGeom>
            <a:avLst/>
            <a:gdLst/>
            <a:ahLst/>
            <a:cxnLst/>
            <a:rect r="r" b="b" t="t" l="l"/>
            <a:pathLst>
              <a:path h="5778062" w="5778062">
                <a:moveTo>
                  <a:pt x="0" y="0"/>
                </a:moveTo>
                <a:lnTo>
                  <a:pt x="5778062" y="0"/>
                </a:lnTo>
                <a:lnTo>
                  <a:pt x="5778062" y="5778062"/>
                </a:lnTo>
                <a:lnTo>
                  <a:pt x="0" y="5778062"/>
                </a:lnTo>
                <a:lnTo>
                  <a:pt x="0" y="0"/>
                </a:lnTo>
                <a:close/>
              </a:path>
            </a:pathLst>
          </a:custGeom>
          <a:blipFill>
            <a:blip r:embed="rId4"/>
            <a:stretch>
              <a:fillRect l="0" t="0" r="0" b="0"/>
            </a:stretch>
          </a:blipFill>
        </p:spPr>
      </p:sp>
      <p:sp>
        <p:nvSpPr>
          <p:cNvPr name="TextBox 11" id="11"/>
          <p:cNvSpPr txBox="true"/>
          <p:nvPr/>
        </p:nvSpPr>
        <p:spPr>
          <a:xfrm rot="0">
            <a:off x="1028700" y="971550"/>
            <a:ext cx="11753661"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Amazon Machine Images (AMI)</a:t>
            </a:r>
          </a:p>
        </p:txBody>
      </p:sp>
      <p:sp>
        <p:nvSpPr>
          <p:cNvPr name="TextBox 12" id="12"/>
          <p:cNvSpPr txBox="true"/>
          <p:nvPr/>
        </p:nvSpPr>
        <p:spPr>
          <a:xfrm rot="0">
            <a:off x="1028700" y="2770683"/>
            <a:ext cx="10537100" cy="4178936"/>
          </a:xfrm>
          <a:prstGeom prst="rect">
            <a:avLst/>
          </a:prstGeom>
        </p:spPr>
        <p:txBody>
          <a:bodyPr anchor="t" rtlCol="false" tIns="0" lIns="0" bIns="0" rIns="0">
            <a:spAutoFit/>
          </a:bodyPr>
          <a:lstStyle/>
          <a:p>
            <a:pPr algn="l">
              <a:lnSpc>
                <a:spcPts val="3679"/>
              </a:lnSpc>
            </a:pPr>
            <a:r>
              <a:rPr lang="en-US" sz="2299">
                <a:solidFill>
                  <a:srgbClr val="EEF2F5"/>
                </a:solidFill>
                <a:latin typeface="Poppins"/>
                <a:ea typeface="Poppins"/>
                <a:cs typeface="Poppins"/>
                <a:sym typeface="Poppins"/>
              </a:rPr>
              <a:t>Una imagen de máquina de Amazon (AMI) es una imagen compatible y mantenida que ofrece AWS. Nos brinda la información necesaria para lanzar una instancia. </a:t>
            </a:r>
          </a:p>
          <a:p>
            <a:pPr algn="l">
              <a:lnSpc>
                <a:spcPts val="3679"/>
              </a:lnSpc>
            </a:pPr>
          </a:p>
          <a:p>
            <a:pPr algn="l">
              <a:lnSpc>
                <a:spcPts val="3679"/>
              </a:lnSpc>
            </a:pPr>
            <a:r>
              <a:rPr lang="en-US" sz="2299">
                <a:solidFill>
                  <a:srgbClr val="EEF2F5"/>
                </a:solidFill>
                <a:latin typeface="Poppins"/>
                <a:ea typeface="Poppins"/>
                <a:cs typeface="Poppins"/>
                <a:sym typeface="Poppins"/>
              </a:rPr>
              <a:t>Debemos especificar una AMI al lanzar una instancia. Cuando necesitemos varias instancias con la misma configuración, podemos lanzarlas desde una misma AMI, así mismo si necesitamos instancias con diferentes configuraciones, podemos utilizar distintas AMI para lanzarlas.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54584" y="0"/>
            <a:ext cx="11133416" cy="3429000"/>
            <a:chOff x="0" y="0"/>
            <a:chExt cx="2639032" cy="812800"/>
          </a:xfrm>
        </p:grpSpPr>
        <p:sp>
          <p:nvSpPr>
            <p:cNvPr name="Freeform 3" id="3"/>
            <p:cNvSpPr/>
            <p:nvPr/>
          </p:nvSpPr>
          <p:spPr>
            <a:xfrm flipH="false" flipV="false" rot="0">
              <a:off x="0" y="0"/>
              <a:ext cx="2639032" cy="812800"/>
            </a:xfrm>
            <a:custGeom>
              <a:avLst/>
              <a:gdLst/>
              <a:ahLst/>
              <a:cxnLst/>
              <a:rect r="r" b="b" t="t" l="l"/>
              <a:pathLst>
                <a:path h="812800" w="2639032">
                  <a:moveTo>
                    <a:pt x="0" y="0"/>
                  </a:moveTo>
                  <a:lnTo>
                    <a:pt x="2639032" y="0"/>
                  </a:lnTo>
                  <a:lnTo>
                    <a:pt x="2639032" y="812800"/>
                  </a:lnTo>
                  <a:lnTo>
                    <a:pt x="0" y="812800"/>
                  </a:lnTo>
                  <a:close/>
                </a:path>
              </a:pathLst>
            </a:custGeom>
            <a:solidFill>
              <a:srgbClr val="071C42"/>
            </a:solidFill>
          </p:spPr>
        </p:sp>
        <p:sp>
          <p:nvSpPr>
            <p:cNvPr name="TextBox 4" id="4"/>
            <p:cNvSpPr txBox="true"/>
            <p:nvPr/>
          </p:nvSpPr>
          <p:spPr>
            <a:xfrm>
              <a:off x="0" y="-38100"/>
              <a:ext cx="2639032"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8437354" y="3429000"/>
            <a:ext cx="9850646" cy="3429000"/>
            <a:chOff x="0" y="0"/>
            <a:chExt cx="2334968" cy="812800"/>
          </a:xfrm>
        </p:grpSpPr>
        <p:sp>
          <p:nvSpPr>
            <p:cNvPr name="Freeform 6" id="6"/>
            <p:cNvSpPr/>
            <p:nvPr/>
          </p:nvSpPr>
          <p:spPr>
            <a:xfrm flipH="false" flipV="false" rot="0">
              <a:off x="0" y="0"/>
              <a:ext cx="2334968" cy="812800"/>
            </a:xfrm>
            <a:custGeom>
              <a:avLst/>
              <a:gdLst/>
              <a:ahLst/>
              <a:cxnLst/>
              <a:rect r="r" b="b" t="t" l="l"/>
              <a:pathLst>
                <a:path h="812800" w="2334968">
                  <a:moveTo>
                    <a:pt x="0" y="0"/>
                  </a:moveTo>
                  <a:lnTo>
                    <a:pt x="2334968" y="0"/>
                  </a:lnTo>
                  <a:lnTo>
                    <a:pt x="2334968" y="812800"/>
                  </a:lnTo>
                  <a:lnTo>
                    <a:pt x="0" y="812800"/>
                  </a:lnTo>
                  <a:close/>
                </a:path>
              </a:pathLst>
            </a:custGeom>
            <a:solidFill>
              <a:srgbClr val="3DCAB1"/>
            </a:solidFill>
          </p:spPr>
        </p:sp>
        <p:sp>
          <p:nvSpPr>
            <p:cNvPr name="TextBox 7" id="7"/>
            <p:cNvSpPr txBox="true"/>
            <p:nvPr/>
          </p:nvSpPr>
          <p:spPr>
            <a:xfrm>
              <a:off x="0" y="-38100"/>
              <a:ext cx="2334968"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924636" y="6858000"/>
            <a:ext cx="8363364" cy="3429000"/>
            <a:chOff x="0" y="0"/>
            <a:chExt cx="1982427" cy="812800"/>
          </a:xfrm>
        </p:grpSpPr>
        <p:sp>
          <p:nvSpPr>
            <p:cNvPr name="Freeform 9" id="9"/>
            <p:cNvSpPr/>
            <p:nvPr/>
          </p:nvSpPr>
          <p:spPr>
            <a:xfrm flipH="false" flipV="false" rot="0">
              <a:off x="0" y="0"/>
              <a:ext cx="1982427" cy="812800"/>
            </a:xfrm>
            <a:custGeom>
              <a:avLst/>
              <a:gdLst/>
              <a:ahLst/>
              <a:cxnLst/>
              <a:rect r="r" b="b" t="t" l="l"/>
              <a:pathLst>
                <a:path h="812800" w="1982427">
                  <a:moveTo>
                    <a:pt x="0" y="0"/>
                  </a:moveTo>
                  <a:lnTo>
                    <a:pt x="1982427" y="0"/>
                  </a:lnTo>
                  <a:lnTo>
                    <a:pt x="1982427" y="812800"/>
                  </a:lnTo>
                  <a:lnTo>
                    <a:pt x="0" y="812800"/>
                  </a:lnTo>
                  <a:close/>
                </a:path>
              </a:pathLst>
            </a:custGeom>
            <a:solidFill>
              <a:srgbClr val="071C42"/>
            </a:solidFill>
          </p:spPr>
        </p:sp>
        <p:sp>
          <p:nvSpPr>
            <p:cNvPr name="TextBox 10" id="10"/>
            <p:cNvSpPr txBox="true"/>
            <p:nvPr/>
          </p:nvSpPr>
          <p:spPr>
            <a:xfrm>
              <a:off x="0" y="-38100"/>
              <a:ext cx="1982427" cy="8509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8437354" y="1069975"/>
            <a:ext cx="6409167" cy="1193800"/>
          </a:xfrm>
          <a:prstGeom prst="rect">
            <a:avLst/>
          </a:prstGeom>
        </p:spPr>
        <p:txBody>
          <a:bodyPr anchor="t" rtlCol="false" tIns="0" lIns="0" bIns="0" rIns="0">
            <a:spAutoFit/>
          </a:bodyPr>
          <a:lstStyle/>
          <a:p>
            <a:pPr algn="l">
              <a:lnSpc>
                <a:spcPts val="3199"/>
              </a:lnSpc>
            </a:pPr>
            <a:r>
              <a:rPr lang="en-US" sz="1999">
                <a:solidFill>
                  <a:srgbClr val="EEF2F5"/>
                </a:solidFill>
                <a:latin typeface="Poppins"/>
                <a:ea typeface="Poppins"/>
                <a:cs typeface="Poppins"/>
                <a:sym typeface="Poppins"/>
              </a:rPr>
              <a:t>Se asigna una dirección IP elástica a nuestra cuenta de AWS, que es nuestra hasta que la liberemos.</a:t>
            </a:r>
          </a:p>
        </p:txBody>
      </p:sp>
      <p:sp>
        <p:nvSpPr>
          <p:cNvPr name="TextBox 12" id="12"/>
          <p:cNvSpPr txBox="true"/>
          <p:nvPr/>
        </p:nvSpPr>
        <p:spPr>
          <a:xfrm rot="0">
            <a:off x="9516708" y="4298950"/>
            <a:ext cx="6409167" cy="1593850"/>
          </a:xfrm>
          <a:prstGeom prst="rect">
            <a:avLst/>
          </a:prstGeom>
        </p:spPr>
        <p:txBody>
          <a:bodyPr anchor="t" rtlCol="false" tIns="0" lIns="0" bIns="0" rIns="0">
            <a:spAutoFit/>
          </a:bodyPr>
          <a:lstStyle/>
          <a:p>
            <a:pPr algn="l">
              <a:lnSpc>
                <a:spcPts val="3199"/>
              </a:lnSpc>
            </a:pPr>
            <a:r>
              <a:rPr lang="en-US" sz="1999">
                <a:solidFill>
                  <a:srgbClr val="FFFFFF"/>
                </a:solidFill>
                <a:latin typeface="Poppins"/>
                <a:ea typeface="Poppins"/>
                <a:cs typeface="Poppins"/>
                <a:sym typeface="Poppins"/>
              </a:rPr>
              <a:t>Con una dirección IP elástica, podemos enmascarar los errores de una instancia o software volviendo a mapear rápidamente la dirección a otra instancia de nuestra cuenta.</a:t>
            </a:r>
          </a:p>
        </p:txBody>
      </p:sp>
      <p:sp>
        <p:nvSpPr>
          <p:cNvPr name="TextBox 13" id="13"/>
          <p:cNvSpPr txBox="true"/>
          <p:nvPr/>
        </p:nvSpPr>
        <p:spPr>
          <a:xfrm rot="0">
            <a:off x="10850133" y="7727950"/>
            <a:ext cx="6409167" cy="1593850"/>
          </a:xfrm>
          <a:prstGeom prst="rect">
            <a:avLst/>
          </a:prstGeom>
        </p:spPr>
        <p:txBody>
          <a:bodyPr anchor="t" rtlCol="false" tIns="0" lIns="0" bIns="0" rIns="0">
            <a:spAutoFit/>
          </a:bodyPr>
          <a:lstStyle/>
          <a:p>
            <a:pPr algn="l">
              <a:lnSpc>
                <a:spcPts val="3199"/>
              </a:lnSpc>
            </a:pPr>
            <a:r>
              <a:rPr lang="en-US" sz="1999">
                <a:solidFill>
                  <a:srgbClr val="EEF2F5"/>
                </a:solidFill>
                <a:latin typeface="Poppins"/>
                <a:ea typeface="Poppins"/>
                <a:cs typeface="Poppins"/>
                <a:sym typeface="Poppins"/>
              </a:rPr>
              <a:t>Si así lo preferimos, podemos especificar la dirección IP elástica en un registro DNS para el dominio, de modo que el dominio apunte a la instancia.</a:t>
            </a:r>
          </a:p>
        </p:txBody>
      </p:sp>
      <p:sp>
        <p:nvSpPr>
          <p:cNvPr name="TextBox 14" id="14"/>
          <p:cNvSpPr txBox="true"/>
          <p:nvPr/>
        </p:nvSpPr>
        <p:spPr>
          <a:xfrm rot="0">
            <a:off x="1221496" y="5774042"/>
            <a:ext cx="4643986" cy="904875"/>
          </a:xfrm>
          <a:prstGeom prst="rect">
            <a:avLst/>
          </a:prstGeom>
        </p:spPr>
        <p:txBody>
          <a:bodyPr anchor="t" rtlCol="false" tIns="0" lIns="0" bIns="0" rIns="0">
            <a:spAutoFit/>
          </a:bodyPr>
          <a:lstStyle/>
          <a:p>
            <a:pPr algn="l">
              <a:lnSpc>
                <a:spcPts val="6719"/>
              </a:lnSpc>
            </a:pPr>
            <a:r>
              <a:rPr lang="en-US" sz="5599" b="true">
                <a:solidFill>
                  <a:srgbClr val="101010"/>
                </a:solidFill>
                <a:latin typeface="Poppins Bold"/>
                <a:ea typeface="Poppins Bold"/>
                <a:cs typeface="Poppins Bold"/>
                <a:sym typeface="Poppins Bold"/>
              </a:rPr>
              <a:t>Elastic IP</a:t>
            </a:r>
          </a:p>
        </p:txBody>
      </p:sp>
      <p:sp>
        <p:nvSpPr>
          <p:cNvPr name="TextBox 15" id="15"/>
          <p:cNvSpPr txBox="true"/>
          <p:nvPr/>
        </p:nvSpPr>
        <p:spPr>
          <a:xfrm rot="0">
            <a:off x="1221496" y="6978650"/>
            <a:ext cx="5933087" cy="1193800"/>
          </a:xfrm>
          <a:prstGeom prst="rect">
            <a:avLst/>
          </a:prstGeom>
        </p:spPr>
        <p:txBody>
          <a:bodyPr anchor="t" rtlCol="false" tIns="0" lIns="0" bIns="0" rIns="0">
            <a:spAutoFit/>
          </a:bodyPr>
          <a:lstStyle/>
          <a:p>
            <a:pPr algn="l">
              <a:lnSpc>
                <a:spcPts val="3199"/>
              </a:lnSpc>
            </a:pPr>
            <a:r>
              <a:rPr lang="en-US" sz="1999">
                <a:solidFill>
                  <a:srgbClr val="545454"/>
                </a:solidFill>
                <a:latin typeface="Poppins"/>
                <a:ea typeface="Poppins"/>
                <a:cs typeface="Poppins"/>
                <a:sym typeface="Poppins"/>
              </a:rPr>
              <a:t>Las direcciones IP elásticas son direcciones IPv4 estáticas diseñadas para la informática en la nube dinámica.</a:t>
            </a:r>
          </a:p>
        </p:txBody>
      </p:sp>
      <p:sp>
        <p:nvSpPr>
          <p:cNvPr name="Freeform 16" id="16"/>
          <p:cNvSpPr/>
          <p:nvPr/>
        </p:nvSpPr>
        <p:spPr>
          <a:xfrm flipH="true" flipV="false" rot="0">
            <a:off x="-2861667" y="-805804"/>
            <a:ext cx="8166327" cy="6636996"/>
          </a:xfrm>
          <a:custGeom>
            <a:avLst/>
            <a:gdLst/>
            <a:ahLst/>
            <a:cxnLst/>
            <a:rect r="r" b="b" t="t" l="l"/>
            <a:pathLst>
              <a:path h="6636996" w="8166327">
                <a:moveTo>
                  <a:pt x="8166327" y="0"/>
                </a:moveTo>
                <a:lnTo>
                  <a:pt x="0" y="0"/>
                </a:lnTo>
                <a:lnTo>
                  <a:pt x="0" y="6636996"/>
                </a:lnTo>
                <a:lnTo>
                  <a:pt x="8166327" y="6636996"/>
                </a:lnTo>
                <a:lnTo>
                  <a:pt x="816632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37354" y="0"/>
            <a:ext cx="9850646" cy="10287000"/>
            <a:chOff x="0" y="0"/>
            <a:chExt cx="2334968" cy="2438400"/>
          </a:xfrm>
        </p:grpSpPr>
        <p:sp>
          <p:nvSpPr>
            <p:cNvPr name="Freeform 3" id="3"/>
            <p:cNvSpPr/>
            <p:nvPr/>
          </p:nvSpPr>
          <p:spPr>
            <a:xfrm flipH="false" flipV="false" rot="0">
              <a:off x="0" y="0"/>
              <a:ext cx="2334968" cy="2438400"/>
            </a:xfrm>
            <a:custGeom>
              <a:avLst/>
              <a:gdLst/>
              <a:ahLst/>
              <a:cxnLst/>
              <a:rect r="r" b="b" t="t" l="l"/>
              <a:pathLst>
                <a:path h="2438400" w="2334968">
                  <a:moveTo>
                    <a:pt x="0" y="0"/>
                  </a:moveTo>
                  <a:lnTo>
                    <a:pt x="2334968" y="0"/>
                  </a:lnTo>
                  <a:lnTo>
                    <a:pt x="2334968" y="2438400"/>
                  </a:lnTo>
                  <a:lnTo>
                    <a:pt x="0" y="2438400"/>
                  </a:lnTo>
                  <a:close/>
                </a:path>
              </a:pathLst>
            </a:custGeom>
            <a:solidFill>
              <a:srgbClr val="3DCAB1"/>
            </a:solidFill>
          </p:spPr>
        </p:sp>
        <p:sp>
          <p:nvSpPr>
            <p:cNvPr name="TextBox 4" id="4"/>
            <p:cNvSpPr txBox="true"/>
            <p:nvPr/>
          </p:nvSpPr>
          <p:spPr>
            <a:xfrm>
              <a:off x="0" y="-38100"/>
              <a:ext cx="2334968" cy="2476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2861667" y="-805804"/>
            <a:ext cx="8166327" cy="6636996"/>
          </a:xfrm>
          <a:custGeom>
            <a:avLst/>
            <a:gdLst/>
            <a:ahLst/>
            <a:cxnLst/>
            <a:rect r="r" b="b" t="t" l="l"/>
            <a:pathLst>
              <a:path h="6636996" w="8166327">
                <a:moveTo>
                  <a:pt x="8166327" y="0"/>
                </a:moveTo>
                <a:lnTo>
                  <a:pt x="0" y="0"/>
                </a:lnTo>
                <a:lnTo>
                  <a:pt x="0" y="6636996"/>
                </a:lnTo>
                <a:lnTo>
                  <a:pt x="8166327" y="6636996"/>
                </a:lnTo>
                <a:lnTo>
                  <a:pt x="816632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078574" y="1202593"/>
            <a:ext cx="7180726" cy="8055707"/>
            <a:chOff x="0" y="0"/>
            <a:chExt cx="1891220" cy="2121668"/>
          </a:xfrm>
        </p:grpSpPr>
        <p:sp>
          <p:nvSpPr>
            <p:cNvPr name="Freeform 7" id="7"/>
            <p:cNvSpPr/>
            <p:nvPr/>
          </p:nvSpPr>
          <p:spPr>
            <a:xfrm flipH="false" flipV="false" rot="0">
              <a:off x="0" y="0"/>
              <a:ext cx="1891220" cy="2121668"/>
            </a:xfrm>
            <a:custGeom>
              <a:avLst/>
              <a:gdLst/>
              <a:ahLst/>
              <a:cxnLst/>
              <a:rect r="r" b="b" t="t" l="l"/>
              <a:pathLst>
                <a:path h="2121668" w="1891220">
                  <a:moveTo>
                    <a:pt x="0" y="0"/>
                  </a:moveTo>
                  <a:lnTo>
                    <a:pt x="1891220" y="0"/>
                  </a:lnTo>
                  <a:lnTo>
                    <a:pt x="1891220" y="2121668"/>
                  </a:lnTo>
                  <a:lnTo>
                    <a:pt x="0" y="2121668"/>
                  </a:lnTo>
                  <a:close/>
                </a:path>
              </a:pathLst>
            </a:custGeom>
            <a:solidFill>
              <a:srgbClr val="FFFFFF"/>
            </a:solidFill>
          </p:spPr>
        </p:sp>
        <p:sp>
          <p:nvSpPr>
            <p:cNvPr name="TextBox 8" id="8"/>
            <p:cNvSpPr txBox="true"/>
            <p:nvPr/>
          </p:nvSpPr>
          <p:spPr>
            <a:xfrm>
              <a:off x="0" y="-38100"/>
              <a:ext cx="1891220" cy="2159768"/>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488579" y="1711253"/>
            <a:ext cx="7405783" cy="6594475"/>
          </a:xfrm>
          <a:custGeom>
            <a:avLst/>
            <a:gdLst/>
            <a:ahLst/>
            <a:cxnLst/>
            <a:rect r="r" b="b" t="t" l="l"/>
            <a:pathLst>
              <a:path h="6594475" w="7405783">
                <a:moveTo>
                  <a:pt x="0" y="0"/>
                </a:moveTo>
                <a:lnTo>
                  <a:pt x="7405783" y="0"/>
                </a:lnTo>
                <a:lnTo>
                  <a:pt x="7405783" y="6594475"/>
                </a:lnTo>
                <a:lnTo>
                  <a:pt x="0" y="6594475"/>
                </a:lnTo>
                <a:lnTo>
                  <a:pt x="0" y="0"/>
                </a:lnTo>
                <a:close/>
              </a:path>
            </a:pathLst>
          </a:custGeom>
          <a:blipFill>
            <a:blip r:embed="rId4"/>
            <a:stretch>
              <a:fillRect l="0" t="0" r="0" b="0"/>
            </a:stretch>
          </a:blipFill>
        </p:spPr>
      </p:sp>
      <p:sp>
        <p:nvSpPr>
          <p:cNvPr name="TextBox 10" id="10"/>
          <p:cNvSpPr txBox="true"/>
          <p:nvPr/>
        </p:nvSpPr>
        <p:spPr>
          <a:xfrm rot="0">
            <a:off x="2196572" y="5774042"/>
            <a:ext cx="4643986" cy="904875"/>
          </a:xfrm>
          <a:prstGeom prst="rect">
            <a:avLst/>
          </a:prstGeom>
        </p:spPr>
        <p:txBody>
          <a:bodyPr anchor="t" rtlCol="false" tIns="0" lIns="0" bIns="0" rIns="0">
            <a:spAutoFit/>
          </a:bodyPr>
          <a:lstStyle/>
          <a:p>
            <a:pPr algn="l">
              <a:lnSpc>
                <a:spcPts val="6719"/>
              </a:lnSpc>
            </a:pPr>
            <a:r>
              <a:rPr lang="en-US" sz="5599" b="true">
                <a:solidFill>
                  <a:srgbClr val="101010"/>
                </a:solidFill>
                <a:latin typeface="Poppins Bold"/>
                <a:ea typeface="Poppins Bold"/>
                <a:cs typeface="Poppins Bold"/>
                <a:sym typeface="Poppins Bold"/>
              </a:rPr>
              <a:t>Elastic IP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334933" cy="2438400"/>
          </a:xfrm>
        </p:grpSpPr>
        <p:sp>
          <p:nvSpPr>
            <p:cNvPr name="Freeform 3" id="3"/>
            <p:cNvSpPr/>
            <p:nvPr/>
          </p:nvSpPr>
          <p:spPr>
            <a:xfrm flipH="false" flipV="false" rot="0">
              <a:off x="0" y="0"/>
              <a:ext cx="4334933" cy="2438400"/>
            </a:xfrm>
            <a:custGeom>
              <a:avLst/>
              <a:gdLst/>
              <a:ahLst/>
              <a:cxnLst/>
              <a:rect r="r" b="b" t="t" l="l"/>
              <a:pathLst>
                <a:path h="2438400" w="4334933">
                  <a:moveTo>
                    <a:pt x="0" y="0"/>
                  </a:moveTo>
                  <a:lnTo>
                    <a:pt x="4334933" y="0"/>
                  </a:lnTo>
                  <a:lnTo>
                    <a:pt x="4334933" y="2438400"/>
                  </a:lnTo>
                  <a:lnTo>
                    <a:pt x="0" y="2438400"/>
                  </a:lnTo>
                  <a:close/>
                </a:path>
              </a:pathLst>
            </a:custGeom>
            <a:solidFill>
              <a:srgbClr val="071C42"/>
            </a:solidFill>
          </p:spPr>
        </p:sp>
        <p:sp>
          <p:nvSpPr>
            <p:cNvPr name="TextBox 4" id="4"/>
            <p:cNvSpPr txBox="true"/>
            <p:nvPr/>
          </p:nvSpPr>
          <p:spPr>
            <a:xfrm>
              <a:off x="0" y="-38100"/>
              <a:ext cx="4334933" cy="2476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rot="0">
            <a:off x="1028700" y="601417"/>
            <a:ext cx="16230600" cy="0"/>
          </a:xfrm>
          <a:prstGeom prst="line">
            <a:avLst/>
          </a:prstGeom>
          <a:ln cap="flat" w="19050">
            <a:solidFill>
              <a:srgbClr val="D9D9D9"/>
            </a:solidFill>
            <a:prstDash val="solid"/>
            <a:headEnd type="none" len="sm" w="sm"/>
            <a:tailEnd type="none" len="sm" w="sm"/>
          </a:ln>
        </p:spPr>
      </p:sp>
      <p:grpSp>
        <p:nvGrpSpPr>
          <p:cNvPr name="Group 6" id="6"/>
          <p:cNvGrpSpPr/>
          <p:nvPr/>
        </p:nvGrpSpPr>
        <p:grpSpPr>
          <a:xfrm rot="-5400000">
            <a:off x="16024361" y="1974906"/>
            <a:ext cx="4238545" cy="288733"/>
            <a:chOff x="0" y="0"/>
            <a:chExt cx="1116325" cy="76045"/>
          </a:xfrm>
        </p:grpSpPr>
        <p:sp>
          <p:nvSpPr>
            <p:cNvPr name="Freeform 7" id="7"/>
            <p:cNvSpPr/>
            <p:nvPr/>
          </p:nvSpPr>
          <p:spPr>
            <a:xfrm flipH="false" flipV="false" rot="0">
              <a:off x="0" y="0"/>
              <a:ext cx="1116324" cy="76045"/>
            </a:xfrm>
            <a:custGeom>
              <a:avLst/>
              <a:gdLst/>
              <a:ahLst/>
              <a:cxnLst/>
              <a:rect r="r" b="b" t="t" l="l"/>
              <a:pathLst>
                <a:path h="76045" w="1116324">
                  <a:moveTo>
                    <a:pt x="0" y="0"/>
                  </a:moveTo>
                  <a:lnTo>
                    <a:pt x="1116324" y="0"/>
                  </a:lnTo>
                  <a:lnTo>
                    <a:pt x="1116324" y="76045"/>
                  </a:lnTo>
                  <a:lnTo>
                    <a:pt x="0" y="76045"/>
                  </a:lnTo>
                  <a:close/>
                </a:path>
              </a:pathLst>
            </a:custGeom>
            <a:solidFill>
              <a:srgbClr val="3DCAB1"/>
            </a:solidFill>
          </p:spPr>
        </p:sp>
        <p:sp>
          <p:nvSpPr>
            <p:cNvPr name="TextBox 8" id="8"/>
            <p:cNvSpPr txBox="true"/>
            <p:nvPr/>
          </p:nvSpPr>
          <p:spPr>
            <a:xfrm>
              <a:off x="0" y="-38100"/>
              <a:ext cx="1116325"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true" rot="0">
            <a:off x="11305676" y="5268621"/>
            <a:ext cx="9005307" cy="6565688"/>
          </a:xfrm>
          <a:custGeom>
            <a:avLst/>
            <a:gdLst/>
            <a:ahLst/>
            <a:cxnLst/>
            <a:rect r="r" b="b" t="t" l="l"/>
            <a:pathLst>
              <a:path h="6565688" w="9005307">
                <a:moveTo>
                  <a:pt x="0" y="6565688"/>
                </a:moveTo>
                <a:lnTo>
                  <a:pt x="9005307" y="6565688"/>
                </a:lnTo>
                <a:lnTo>
                  <a:pt x="9005307" y="0"/>
                </a:lnTo>
                <a:lnTo>
                  <a:pt x="0" y="0"/>
                </a:lnTo>
                <a:lnTo>
                  <a:pt x="0" y="65656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28700" y="3202012"/>
            <a:ext cx="7894492" cy="5148582"/>
          </a:xfrm>
          <a:custGeom>
            <a:avLst/>
            <a:gdLst/>
            <a:ahLst/>
            <a:cxnLst/>
            <a:rect r="r" b="b" t="t" l="l"/>
            <a:pathLst>
              <a:path h="5148582" w="7894492">
                <a:moveTo>
                  <a:pt x="0" y="0"/>
                </a:moveTo>
                <a:lnTo>
                  <a:pt x="7894492" y="0"/>
                </a:lnTo>
                <a:lnTo>
                  <a:pt x="7894492" y="5148582"/>
                </a:lnTo>
                <a:lnTo>
                  <a:pt x="0" y="5148582"/>
                </a:lnTo>
                <a:lnTo>
                  <a:pt x="0" y="0"/>
                </a:lnTo>
                <a:close/>
              </a:path>
            </a:pathLst>
          </a:custGeom>
          <a:blipFill>
            <a:blip r:embed="rId4"/>
            <a:stretch>
              <a:fillRect l="0" t="0" r="0" b="0"/>
            </a:stretch>
          </a:blipFill>
        </p:spPr>
      </p:sp>
      <p:sp>
        <p:nvSpPr>
          <p:cNvPr name="TextBox 11" id="11"/>
          <p:cNvSpPr txBox="true"/>
          <p:nvPr/>
        </p:nvSpPr>
        <p:spPr>
          <a:xfrm rot="0">
            <a:off x="9902786" y="1018748"/>
            <a:ext cx="7356514" cy="1752600"/>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Elastic Load Balancing</a:t>
            </a:r>
          </a:p>
        </p:txBody>
      </p:sp>
      <p:sp>
        <p:nvSpPr>
          <p:cNvPr name="TextBox 12" id="12"/>
          <p:cNvSpPr txBox="true"/>
          <p:nvPr/>
        </p:nvSpPr>
        <p:spPr>
          <a:xfrm rot="0">
            <a:off x="9902786" y="3122003"/>
            <a:ext cx="7356514" cy="5203825"/>
          </a:xfrm>
          <a:prstGeom prst="rect">
            <a:avLst/>
          </a:prstGeom>
        </p:spPr>
        <p:txBody>
          <a:bodyPr anchor="t" rtlCol="false" tIns="0" lIns="0" bIns="0" rIns="0">
            <a:spAutoFit/>
          </a:bodyPr>
          <a:lstStyle/>
          <a:p>
            <a:pPr algn="just">
              <a:lnSpc>
                <a:spcPts val="3200"/>
              </a:lnSpc>
            </a:pPr>
            <a:r>
              <a:rPr lang="en-US" sz="2000">
                <a:solidFill>
                  <a:srgbClr val="EEF2F5"/>
                </a:solidFill>
                <a:latin typeface="Poppins"/>
                <a:ea typeface="Poppins"/>
                <a:cs typeface="Poppins"/>
                <a:sym typeface="Poppins"/>
              </a:rPr>
              <a:t>Elastic Load Balancing (ELB) distribuye automáticamente el tráfico entrante de aplicaciones a través de varios destinos, tales como instancias de Amazon EC2, contenedores, direcciones IP y funciones lambda.</a:t>
            </a:r>
          </a:p>
          <a:p>
            <a:pPr algn="just">
              <a:lnSpc>
                <a:spcPts val="3200"/>
              </a:lnSpc>
            </a:pPr>
          </a:p>
          <a:p>
            <a:pPr algn="just">
              <a:lnSpc>
                <a:spcPts val="3200"/>
              </a:lnSpc>
            </a:pPr>
            <a:r>
              <a:rPr lang="en-US" sz="2000">
                <a:solidFill>
                  <a:srgbClr val="EEF2F5"/>
                </a:solidFill>
                <a:latin typeface="Poppins"/>
                <a:ea typeface="Poppins"/>
                <a:cs typeface="Poppins"/>
                <a:sym typeface="Poppins"/>
              </a:rPr>
              <a:t>Puede controlar la carga variable del tráfico de su aplicación en una única zona o en varias zonas de disponibilidad.</a:t>
            </a:r>
          </a:p>
          <a:p>
            <a:pPr algn="just">
              <a:lnSpc>
                <a:spcPts val="3200"/>
              </a:lnSpc>
            </a:pPr>
          </a:p>
          <a:p>
            <a:pPr algn="just">
              <a:lnSpc>
                <a:spcPts val="3200"/>
              </a:lnSpc>
            </a:pPr>
            <a:r>
              <a:rPr lang="en-US" sz="2000">
                <a:solidFill>
                  <a:srgbClr val="EEF2F5"/>
                </a:solidFill>
                <a:latin typeface="Poppins"/>
                <a:ea typeface="Poppins"/>
                <a:cs typeface="Poppins"/>
                <a:sym typeface="Poppins"/>
              </a:rPr>
              <a:t>Elastic Load Balancing ofrece tres tipos de balanceadores de carga que cuentan con el nivel necesario de alta disponibilidad, escalabilidad automática y seguridad para que nuestras aplicaciones sean toleantes a errores.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54584" y="0"/>
            <a:ext cx="11133416" cy="1714500"/>
            <a:chOff x="0" y="0"/>
            <a:chExt cx="2639032" cy="406400"/>
          </a:xfrm>
        </p:grpSpPr>
        <p:sp>
          <p:nvSpPr>
            <p:cNvPr name="Freeform 3" id="3"/>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071C42"/>
            </a:solidFill>
          </p:spPr>
        </p:sp>
        <p:sp>
          <p:nvSpPr>
            <p:cNvPr name="TextBox 4" id="4"/>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r>
                <a:rPr lang="en-US" sz="2399">
                  <a:solidFill>
                    <a:srgbClr val="FFFFFF"/>
                  </a:solidFill>
                  <a:latin typeface="Poppins Light"/>
                  <a:ea typeface="Poppins Light"/>
                  <a:cs typeface="Poppins Light"/>
                  <a:sym typeface="Poppins Light"/>
                </a:rPr>
                <a:t>Alta disponibilidad</a:t>
              </a:r>
            </a:p>
          </p:txBody>
        </p:sp>
      </p:grpSp>
      <p:grpSp>
        <p:nvGrpSpPr>
          <p:cNvPr name="Group 5" id="5"/>
          <p:cNvGrpSpPr/>
          <p:nvPr/>
        </p:nvGrpSpPr>
        <p:grpSpPr>
          <a:xfrm rot="0">
            <a:off x="7154584" y="1655444"/>
            <a:ext cx="11133416" cy="1714500"/>
            <a:chOff x="0" y="0"/>
            <a:chExt cx="2639032" cy="406400"/>
          </a:xfrm>
        </p:grpSpPr>
        <p:sp>
          <p:nvSpPr>
            <p:cNvPr name="Freeform 6" id="6"/>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3DCAB1"/>
            </a:solidFill>
          </p:spPr>
        </p:sp>
        <p:sp>
          <p:nvSpPr>
            <p:cNvPr name="TextBox 7" id="7"/>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r>
                <a:rPr lang="en-US" sz="2399">
                  <a:solidFill>
                    <a:srgbClr val="FFFFFF"/>
                  </a:solidFill>
                  <a:latin typeface="Poppins Light"/>
                  <a:ea typeface="Poppins Light"/>
                  <a:cs typeface="Poppins Light"/>
                  <a:sym typeface="Poppins Light"/>
                </a:rPr>
                <a:t>Elasticidad</a:t>
              </a:r>
            </a:p>
          </p:txBody>
        </p:sp>
      </p:grpSp>
      <p:sp>
        <p:nvSpPr>
          <p:cNvPr name="Freeform 8" id="8"/>
          <p:cNvSpPr/>
          <p:nvPr/>
        </p:nvSpPr>
        <p:spPr>
          <a:xfrm flipH="true" flipV="false" rot="0">
            <a:off x="-2861667" y="-805804"/>
            <a:ext cx="8166327" cy="6636996"/>
          </a:xfrm>
          <a:custGeom>
            <a:avLst/>
            <a:gdLst/>
            <a:ahLst/>
            <a:cxnLst/>
            <a:rect r="r" b="b" t="t" l="l"/>
            <a:pathLst>
              <a:path h="6636996" w="8166327">
                <a:moveTo>
                  <a:pt x="8166327" y="0"/>
                </a:moveTo>
                <a:lnTo>
                  <a:pt x="0" y="0"/>
                </a:lnTo>
                <a:lnTo>
                  <a:pt x="0" y="6636996"/>
                </a:lnTo>
                <a:lnTo>
                  <a:pt x="8166327" y="6636996"/>
                </a:lnTo>
                <a:lnTo>
                  <a:pt x="816632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154584" y="3369944"/>
            <a:ext cx="11133416" cy="1714500"/>
            <a:chOff x="0" y="0"/>
            <a:chExt cx="2639032" cy="406400"/>
          </a:xfrm>
        </p:grpSpPr>
        <p:sp>
          <p:nvSpPr>
            <p:cNvPr name="Freeform 10" id="10"/>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071C42"/>
            </a:solidFill>
          </p:spPr>
        </p:sp>
        <p:sp>
          <p:nvSpPr>
            <p:cNvPr name="TextBox 11" id="11"/>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r>
                <a:rPr lang="en-US" sz="2399">
                  <a:solidFill>
                    <a:srgbClr val="FFFFFF"/>
                  </a:solidFill>
                  <a:latin typeface="Poppins Light"/>
                  <a:ea typeface="Poppins Light"/>
                  <a:cs typeface="Poppins Light"/>
                  <a:sym typeface="Poppins Light"/>
                </a:rPr>
                <a:t>Monitorización y auditorias sólidas</a:t>
              </a:r>
            </a:p>
          </p:txBody>
        </p:sp>
      </p:grpSp>
      <p:grpSp>
        <p:nvGrpSpPr>
          <p:cNvPr name="Group 12" id="12"/>
          <p:cNvGrpSpPr/>
          <p:nvPr/>
        </p:nvGrpSpPr>
        <p:grpSpPr>
          <a:xfrm rot="0">
            <a:off x="7154584" y="5084444"/>
            <a:ext cx="11133416" cy="1714500"/>
            <a:chOff x="0" y="0"/>
            <a:chExt cx="2639032" cy="406400"/>
          </a:xfrm>
        </p:grpSpPr>
        <p:sp>
          <p:nvSpPr>
            <p:cNvPr name="Freeform 13" id="13"/>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3DCAB1"/>
            </a:solidFill>
          </p:spPr>
        </p:sp>
        <p:sp>
          <p:nvSpPr>
            <p:cNvPr name="TextBox 14" id="14"/>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r>
                <a:rPr lang="en-US" sz="2399">
                  <a:solidFill>
                    <a:srgbClr val="FFFFFF"/>
                  </a:solidFill>
                  <a:latin typeface="Poppins Light"/>
                  <a:ea typeface="Poppins Light"/>
                  <a:cs typeface="Poppins Light"/>
                  <a:sym typeface="Poppins Light"/>
                </a:rPr>
                <a:t>Flexibilidad</a:t>
              </a:r>
            </a:p>
          </p:txBody>
        </p:sp>
      </p:grpSp>
      <p:grpSp>
        <p:nvGrpSpPr>
          <p:cNvPr name="Group 15" id="15"/>
          <p:cNvGrpSpPr/>
          <p:nvPr/>
        </p:nvGrpSpPr>
        <p:grpSpPr>
          <a:xfrm rot="0">
            <a:off x="7154584" y="6798944"/>
            <a:ext cx="11133416" cy="1714500"/>
            <a:chOff x="0" y="0"/>
            <a:chExt cx="2639032" cy="406400"/>
          </a:xfrm>
        </p:grpSpPr>
        <p:sp>
          <p:nvSpPr>
            <p:cNvPr name="Freeform 16" id="16"/>
            <p:cNvSpPr/>
            <p:nvPr/>
          </p:nvSpPr>
          <p:spPr>
            <a:xfrm flipH="false" flipV="false" rot="0">
              <a:off x="0" y="0"/>
              <a:ext cx="2639032" cy="406400"/>
            </a:xfrm>
            <a:custGeom>
              <a:avLst/>
              <a:gdLst/>
              <a:ahLst/>
              <a:cxnLst/>
              <a:rect r="r" b="b" t="t" l="l"/>
              <a:pathLst>
                <a:path h="406400" w="2639032">
                  <a:moveTo>
                    <a:pt x="0" y="0"/>
                  </a:moveTo>
                  <a:lnTo>
                    <a:pt x="2639032" y="0"/>
                  </a:lnTo>
                  <a:lnTo>
                    <a:pt x="2639032" y="406400"/>
                  </a:lnTo>
                  <a:lnTo>
                    <a:pt x="0" y="406400"/>
                  </a:lnTo>
                  <a:close/>
                </a:path>
              </a:pathLst>
            </a:custGeom>
            <a:solidFill>
              <a:srgbClr val="071C42"/>
            </a:solidFill>
          </p:spPr>
        </p:sp>
        <p:sp>
          <p:nvSpPr>
            <p:cNvPr name="TextBox 17" id="17"/>
            <p:cNvSpPr txBox="true"/>
            <p:nvPr/>
          </p:nvSpPr>
          <p:spPr>
            <a:xfrm>
              <a:off x="0" y="-66675"/>
              <a:ext cx="2639032" cy="473075"/>
            </a:xfrm>
            <a:prstGeom prst="rect">
              <a:avLst/>
            </a:prstGeom>
          </p:spPr>
          <p:txBody>
            <a:bodyPr anchor="ctr" rtlCol="false" tIns="50800" lIns="50800" bIns="50800" rIns="50800"/>
            <a:lstStyle/>
            <a:p>
              <a:pPr algn="ctr">
                <a:lnSpc>
                  <a:spcPts val="3359"/>
                </a:lnSpc>
                <a:spcBef>
                  <a:spcPct val="0"/>
                </a:spcBef>
              </a:pPr>
              <a:r>
                <a:rPr lang="en-US" sz="2399">
                  <a:solidFill>
                    <a:srgbClr val="FFFFFF"/>
                  </a:solidFill>
                  <a:latin typeface="Poppins Light"/>
                  <a:ea typeface="Poppins Light"/>
                  <a:cs typeface="Poppins Light"/>
                  <a:sym typeface="Poppins Light"/>
                </a:rPr>
                <a:t>Seguridad</a:t>
              </a:r>
            </a:p>
          </p:txBody>
        </p:sp>
      </p:grpSp>
      <p:grpSp>
        <p:nvGrpSpPr>
          <p:cNvPr name="Group 18" id="18"/>
          <p:cNvGrpSpPr/>
          <p:nvPr/>
        </p:nvGrpSpPr>
        <p:grpSpPr>
          <a:xfrm rot="0">
            <a:off x="7154584" y="8513444"/>
            <a:ext cx="11133416" cy="1773556"/>
            <a:chOff x="0" y="0"/>
            <a:chExt cx="2639032" cy="420398"/>
          </a:xfrm>
        </p:grpSpPr>
        <p:sp>
          <p:nvSpPr>
            <p:cNvPr name="Freeform 19" id="19"/>
            <p:cNvSpPr/>
            <p:nvPr/>
          </p:nvSpPr>
          <p:spPr>
            <a:xfrm flipH="false" flipV="false" rot="0">
              <a:off x="0" y="0"/>
              <a:ext cx="2639032" cy="420398"/>
            </a:xfrm>
            <a:custGeom>
              <a:avLst/>
              <a:gdLst/>
              <a:ahLst/>
              <a:cxnLst/>
              <a:rect r="r" b="b" t="t" l="l"/>
              <a:pathLst>
                <a:path h="420398" w="2639032">
                  <a:moveTo>
                    <a:pt x="0" y="0"/>
                  </a:moveTo>
                  <a:lnTo>
                    <a:pt x="2639032" y="0"/>
                  </a:lnTo>
                  <a:lnTo>
                    <a:pt x="2639032" y="420398"/>
                  </a:lnTo>
                  <a:lnTo>
                    <a:pt x="0" y="420398"/>
                  </a:lnTo>
                  <a:close/>
                </a:path>
              </a:pathLst>
            </a:custGeom>
            <a:solidFill>
              <a:srgbClr val="3DCAB1"/>
            </a:solidFill>
          </p:spPr>
        </p:sp>
        <p:sp>
          <p:nvSpPr>
            <p:cNvPr name="TextBox 20" id="20"/>
            <p:cNvSpPr txBox="true"/>
            <p:nvPr/>
          </p:nvSpPr>
          <p:spPr>
            <a:xfrm>
              <a:off x="0" y="-66675"/>
              <a:ext cx="2639032" cy="487073"/>
            </a:xfrm>
            <a:prstGeom prst="rect">
              <a:avLst/>
            </a:prstGeom>
          </p:spPr>
          <p:txBody>
            <a:bodyPr anchor="ctr" rtlCol="false" tIns="50800" lIns="50800" bIns="50800" rIns="50800"/>
            <a:lstStyle/>
            <a:p>
              <a:pPr algn="ctr">
                <a:lnSpc>
                  <a:spcPts val="3359"/>
                </a:lnSpc>
                <a:spcBef>
                  <a:spcPct val="0"/>
                </a:spcBef>
              </a:pPr>
              <a:r>
                <a:rPr lang="en-US" sz="2399">
                  <a:solidFill>
                    <a:srgbClr val="FFFFFF"/>
                  </a:solidFill>
                  <a:latin typeface="Poppins Light"/>
                  <a:ea typeface="Poppins Light"/>
                  <a:cs typeface="Poppins Light"/>
                  <a:sym typeface="Poppins Light"/>
                </a:rPr>
                <a:t>Equilibrio de cargas híbrido</a:t>
              </a:r>
            </a:p>
          </p:txBody>
        </p:sp>
      </p:grpSp>
      <p:sp>
        <p:nvSpPr>
          <p:cNvPr name="Freeform 21" id="21"/>
          <p:cNvSpPr/>
          <p:nvPr/>
        </p:nvSpPr>
        <p:spPr>
          <a:xfrm flipH="false" flipV="false" rot="0">
            <a:off x="8420946" y="304492"/>
            <a:ext cx="1141179" cy="1105517"/>
          </a:xfrm>
          <a:custGeom>
            <a:avLst/>
            <a:gdLst/>
            <a:ahLst/>
            <a:cxnLst/>
            <a:rect r="r" b="b" t="t" l="l"/>
            <a:pathLst>
              <a:path h="1105517" w="1141179">
                <a:moveTo>
                  <a:pt x="0" y="0"/>
                </a:moveTo>
                <a:lnTo>
                  <a:pt x="1141179" y="0"/>
                </a:lnTo>
                <a:lnTo>
                  <a:pt x="1141179" y="1105516"/>
                </a:lnTo>
                <a:lnTo>
                  <a:pt x="0" y="1105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8422527" y="2074275"/>
            <a:ext cx="1139597" cy="935894"/>
          </a:xfrm>
          <a:custGeom>
            <a:avLst/>
            <a:gdLst/>
            <a:ahLst/>
            <a:cxnLst/>
            <a:rect r="r" b="b" t="t" l="l"/>
            <a:pathLst>
              <a:path h="935894" w="1139597">
                <a:moveTo>
                  <a:pt x="0" y="0"/>
                </a:moveTo>
                <a:lnTo>
                  <a:pt x="1139598" y="0"/>
                </a:lnTo>
                <a:lnTo>
                  <a:pt x="1139598" y="935894"/>
                </a:lnTo>
                <a:lnTo>
                  <a:pt x="0" y="935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8344827" y="3772846"/>
            <a:ext cx="1217298" cy="967752"/>
          </a:xfrm>
          <a:custGeom>
            <a:avLst/>
            <a:gdLst/>
            <a:ahLst/>
            <a:cxnLst/>
            <a:rect r="r" b="b" t="t" l="l"/>
            <a:pathLst>
              <a:path h="967752" w="1217298">
                <a:moveTo>
                  <a:pt x="0" y="0"/>
                </a:moveTo>
                <a:lnTo>
                  <a:pt x="1217298" y="0"/>
                </a:lnTo>
                <a:lnTo>
                  <a:pt x="1217298" y="967752"/>
                </a:lnTo>
                <a:lnTo>
                  <a:pt x="0" y="9677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8344827" y="5343681"/>
            <a:ext cx="1196026" cy="1196026"/>
          </a:xfrm>
          <a:custGeom>
            <a:avLst/>
            <a:gdLst/>
            <a:ahLst/>
            <a:cxnLst/>
            <a:rect r="r" b="b" t="t" l="l"/>
            <a:pathLst>
              <a:path h="1196026" w="1196026">
                <a:moveTo>
                  <a:pt x="0" y="0"/>
                </a:moveTo>
                <a:lnTo>
                  <a:pt x="1196026" y="0"/>
                </a:lnTo>
                <a:lnTo>
                  <a:pt x="1196026" y="1196026"/>
                </a:lnTo>
                <a:lnTo>
                  <a:pt x="0" y="11960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8394775" y="6979043"/>
            <a:ext cx="1146078" cy="1354302"/>
          </a:xfrm>
          <a:custGeom>
            <a:avLst/>
            <a:gdLst/>
            <a:ahLst/>
            <a:cxnLst/>
            <a:rect r="r" b="b" t="t" l="l"/>
            <a:pathLst>
              <a:path h="1354302" w="1146078">
                <a:moveTo>
                  <a:pt x="0" y="0"/>
                </a:moveTo>
                <a:lnTo>
                  <a:pt x="1146078" y="0"/>
                </a:lnTo>
                <a:lnTo>
                  <a:pt x="1146078" y="1354302"/>
                </a:lnTo>
                <a:lnTo>
                  <a:pt x="0" y="13543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0">
            <a:off x="8388681" y="8913494"/>
            <a:ext cx="1108317" cy="1108317"/>
          </a:xfrm>
          <a:custGeom>
            <a:avLst/>
            <a:gdLst/>
            <a:ahLst/>
            <a:cxnLst/>
            <a:rect r="r" b="b" t="t" l="l"/>
            <a:pathLst>
              <a:path h="1108317" w="1108317">
                <a:moveTo>
                  <a:pt x="0" y="0"/>
                </a:moveTo>
                <a:lnTo>
                  <a:pt x="1108317" y="0"/>
                </a:lnTo>
                <a:lnTo>
                  <a:pt x="1108317" y="1108317"/>
                </a:lnTo>
                <a:lnTo>
                  <a:pt x="0" y="11083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7" id="27"/>
          <p:cNvSpPr txBox="true"/>
          <p:nvPr/>
        </p:nvSpPr>
        <p:spPr>
          <a:xfrm rot="0">
            <a:off x="1221496" y="5884544"/>
            <a:ext cx="4643986" cy="904875"/>
          </a:xfrm>
          <a:prstGeom prst="rect">
            <a:avLst/>
          </a:prstGeom>
        </p:spPr>
        <p:txBody>
          <a:bodyPr anchor="t" rtlCol="false" tIns="0" lIns="0" bIns="0" rIns="0">
            <a:spAutoFit/>
          </a:bodyPr>
          <a:lstStyle/>
          <a:p>
            <a:pPr algn="ctr">
              <a:lnSpc>
                <a:spcPts val="6719"/>
              </a:lnSpc>
            </a:pPr>
            <a:r>
              <a:rPr lang="en-US" sz="5599" b="true">
                <a:solidFill>
                  <a:srgbClr val="101010"/>
                </a:solidFill>
                <a:latin typeface="Poppins Bold"/>
                <a:ea typeface="Poppins Bold"/>
                <a:cs typeface="Poppins Bold"/>
                <a:sym typeface="Poppins Bold"/>
              </a:rPr>
              <a:t>Beneficios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3803461" y="1370812"/>
            <a:ext cx="10681078" cy="904875"/>
          </a:xfrm>
          <a:prstGeom prst="rect">
            <a:avLst/>
          </a:prstGeom>
        </p:spPr>
        <p:txBody>
          <a:bodyPr anchor="t" rtlCol="false" tIns="0" lIns="0" bIns="0" rIns="0">
            <a:spAutoFit/>
          </a:bodyPr>
          <a:lstStyle/>
          <a:p>
            <a:pPr algn="l">
              <a:lnSpc>
                <a:spcPts val="6719"/>
              </a:lnSpc>
            </a:pPr>
            <a:r>
              <a:rPr lang="en-US" sz="5599" b="true">
                <a:solidFill>
                  <a:srgbClr val="FFFFFF"/>
                </a:solidFill>
                <a:latin typeface="Poppins Bold"/>
                <a:ea typeface="Poppins Bold"/>
                <a:cs typeface="Poppins Bold"/>
                <a:sym typeface="Poppins Bold"/>
              </a:rPr>
              <a:t>Documentación Amazon EC2</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true" flipV="false" rot="0">
            <a:off x="-1811192" y="1427962"/>
            <a:ext cx="9143383" cy="7431077"/>
          </a:xfrm>
          <a:custGeom>
            <a:avLst/>
            <a:gdLst/>
            <a:ahLst/>
            <a:cxnLst/>
            <a:rect r="r" b="b" t="t" l="l"/>
            <a:pathLst>
              <a:path h="7431077" w="9143383">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81917" y="9998267"/>
            <a:ext cx="9995383" cy="288733"/>
            <a:chOff x="0" y="0"/>
            <a:chExt cx="2632529" cy="76045"/>
          </a:xfrm>
        </p:grpSpPr>
        <p:sp>
          <p:nvSpPr>
            <p:cNvPr name="Freeform 6" id="6"/>
            <p:cNvSpPr/>
            <p:nvPr/>
          </p:nvSpPr>
          <p:spPr>
            <a:xfrm flipH="false" flipV="false" rot="0">
              <a:off x="0" y="0"/>
              <a:ext cx="2632529" cy="76045"/>
            </a:xfrm>
            <a:custGeom>
              <a:avLst/>
              <a:gdLst/>
              <a:ahLst/>
              <a:cxnLst/>
              <a:rect r="r" b="b" t="t" l="l"/>
              <a:pathLst>
                <a:path h="76045" w="2632529">
                  <a:moveTo>
                    <a:pt x="0" y="0"/>
                  </a:moveTo>
                  <a:lnTo>
                    <a:pt x="2632529" y="0"/>
                  </a:lnTo>
                  <a:lnTo>
                    <a:pt x="2632529" y="76045"/>
                  </a:lnTo>
                  <a:lnTo>
                    <a:pt x="0" y="76045"/>
                  </a:lnTo>
                  <a:close/>
                </a:path>
              </a:pathLst>
            </a:custGeom>
            <a:solidFill>
              <a:srgbClr val="3DCAB1"/>
            </a:solidFill>
          </p:spPr>
        </p:sp>
        <p:sp>
          <p:nvSpPr>
            <p:cNvPr name="TextBox 7" id="7"/>
            <p:cNvSpPr txBox="true"/>
            <p:nvPr/>
          </p:nvSpPr>
          <p:spPr>
            <a:xfrm>
              <a:off x="0" y="-38100"/>
              <a:ext cx="2632529" cy="11414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998761" y="3085312"/>
            <a:ext cx="4290477" cy="4290477"/>
          </a:xfrm>
          <a:custGeom>
            <a:avLst/>
            <a:gdLst/>
            <a:ahLst/>
            <a:cxnLst/>
            <a:rect r="r" b="b" t="t" l="l"/>
            <a:pathLst>
              <a:path h="4290477" w="4290477">
                <a:moveTo>
                  <a:pt x="0" y="0"/>
                </a:moveTo>
                <a:lnTo>
                  <a:pt x="4290478" y="0"/>
                </a:lnTo>
                <a:lnTo>
                  <a:pt x="4290478" y="4290477"/>
                </a:lnTo>
                <a:lnTo>
                  <a:pt x="0" y="4290477"/>
                </a:lnTo>
                <a:lnTo>
                  <a:pt x="0" y="0"/>
                </a:lnTo>
                <a:close/>
              </a:path>
            </a:pathLst>
          </a:custGeom>
          <a:blipFill>
            <a:blip r:embed="rId4"/>
            <a:stretch>
              <a:fillRect l="0" t="0" r="0" b="0"/>
            </a:stretch>
          </a:blipFill>
        </p:spPr>
      </p:sp>
      <p:sp>
        <p:nvSpPr>
          <p:cNvPr name="TextBox 9" id="9"/>
          <p:cNvSpPr txBox="true"/>
          <p:nvPr/>
        </p:nvSpPr>
        <p:spPr>
          <a:xfrm rot="0">
            <a:off x="7204397" y="8166364"/>
            <a:ext cx="3879205" cy="466725"/>
          </a:xfrm>
          <a:prstGeom prst="rect">
            <a:avLst/>
          </a:prstGeom>
        </p:spPr>
        <p:txBody>
          <a:bodyPr anchor="t" rtlCol="false" tIns="0" lIns="0" bIns="0" rIns="0">
            <a:spAutoFit/>
          </a:bodyPr>
          <a:lstStyle/>
          <a:p>
            <a:pPr algn="l">
              <a:lnSpc>
                <a:spcPts val="3599"/>
              </a:lnSpc>
            </a:pPr>
            <a:r>
              <a:rPr lang="en-US" sz="2999" u="sng">
                <a:solidFill>
                  <a:srgbClr val="FFFFFF"/>
                </a:solidFill>
                <a:latin typeface="Poppins"/>
                <a:ea typeface="Poppins"/>
                <a:cs typeface="Poppins"/>
                <a:sym typeface="Poppins"/>
                <a:hlinkClick r:id="rId5" tooltip="https://docs.aws.amazon.com/es_es/AWSEC2/latest/UserGuide/get-set-up-for-amazon-ec2.html"/>
              </a:rPr>
              <a:t>Documentación EC2</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71C42"/>
        </a:solidFill>
      </p:bgPr>
    </p:bg>
    <p:spTree>
      <p:nvGrpSpPr>
        <p:cNvPr id="1" name=""/>
        <p:cNvGrpSpPr/>
        <p:nvPr/>
      </p:nvGrpSpPr>
      <p:grpSpPr>
        <a:xfrm>
          <a:off x="0" y="0"/>
          <a:ext cx="0" cy="0"/>
          <a:chOff x="0" y="0"/>
          <a:chExt cx="0" cy="0"/>
        </a:xfrm>
      </p:grpSpPr>
      <p:sp>
        <p:nvSpPr>
          <p:cNvPr name="TextBox 2" id="2"/>
          <p:cNvSpPr txBox="true"/>
          <p:nvPr/>
        </p:nvSpPr>
        <p:spPr>
          <a:xfrm rot="0">
            <a:off x="9144000" y="3171825"/>
            <a:ext cx="6996541" cy="3819525"/>
          </a:xfrm>
          <a:prstGeom prst="rect">
            <a:avLst/>
          </a:prstGeom>
        </p:spPr>
        <p:txBody>
          <a:bodyPr anchor="t" rtlCol="false" tIns="0" lIns="0" bIns="0" rIns="0">
            <a:spAutoFit/>
          </a:bodyPr>
          <a:lstStyle/>
          <a:p>
            <a:pPr algn="ctr">
              <a:lnSpc>
                <a:spcPts val="14605"/>
              </a:lnSpc>
            </a:pPr>
            <a:r>
              <a:rPr lang="en-US" b="true" sz="12171">
                <a:solidFill>
                  <a:srgbClr val="FFFFFF"/>
                </a:solidFill>
                <a:latin typeface="Poppins Bold"/>
                <a:ea typeface="Poppins Bold"/>
                <a:cs typeface="Poppins Bold"/>
                <a:sym typeface="Poppins Bold"/>
              </a:rPr>
              <a:t>Ejemplo práctico</a:t>
            </a:r>
          </a:p>
        </p:txBody>
      </p:sp>
      <p:sp>
        <p:nvSpPr>
          <p:cNvPr name="AutoShape 3" id="3"/>
          <p:cNvSpPr/>
          <p:nvPr/>
        </p:nvSpPr>
        <p:spPr>
          <a:xfrm rot="0">
            <a:off x="1028700" y="601417"/>
            <a:ext cx="16230600" cy="0"/>
          </a:xfrm>
          <a:prstGeom prst="line">
            <a:avLst/>
          </a:prstGeom>
          <a:ln cap="flat" w="19050">
            <a:solidFill>
              <a:srgbClr val="D9D9D9"/>
            </a:solidFill>
            <a:prstDash val="solid"/>
            <a:headEnd type="none" len="sm" w="sm"/>
            <a:tailEnd type="none" len="sm" w="sm"/>
          </a:ln>
        </p:spPr>
      </p:sp>
      <p:sp>
        <p:nvSpPr>
          <p:cNvPr name="Freeform 4" id="4"/>
          <p:cNvSpPr/>
          <p:nvPr/>
        </p:nvSpPr>
        <p:spPr>
          <a:xfrm flipH="true" flipV="false" rot="0">
            <a:off x="-1811192" y="1427962"/>
            <a:ext cx="9143383" cy="7431077"/>
          </a:xfrm>
          <a:custGeom>
            <a:avLst/>
            <a:gdLst/>
            <a:ahLst/>
            <a:cxnLst/>
            <a:rect r="r" b="b" t="t" l="l"/>
            <a:pathLst>
              <a:path h="7431077" w="9143383">
                <a:moveTo>
                  <a:pt x="9143383" y="0"/>
                </a:moveTo>
                <a:lnTo>
                  <a:pt x="0" y="0"/>
                </a:lnTo>
                <a:lnTo>
                  <a:pt x="0" y="7431076"/>
                </a:lnTo>
                <a:lnTo>
                  <a:pt x="9143383" y="7431076"/>
                </a:lnTo>
                <a:lnTo>
                  <a:pt x="91433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981917" y="9998267"/>
            <a:ext cx="9995383" cy="288733"/>
            <a:chOff x="0" y="0"/>
            <a:chExt cx="2632529" cy="76045"/>
          </a:xfrm>
        </p:grpSpPr>
        <p:sp>
          <p:nvSpPr>
            <p:cNvPr name="Freeform 6" id="6"/>
            <p:cNvSpPr/>
            <p:nvPr/>
          </p:nvSpPr>
          <p:spPr>
            <a:xfrm flipH="false" flipV="false" rot="0">
              <a:off x="0" y="0"/>
              <a:ext cx="2632529" cy="76045"/>
            </a:xfrm>
            <a:custGeom>
              <a:avLst/>
              <a:gdLst/>
              <a:ahLst/>
              <a:cxnLst/>
              <a:rect r="r" b="b" t="t" l="l"/>
              <a:pathLst>
                <a:path h="76045" w="2632529">
                  <a:moveTo>
                    <a:pt x="0" y="0"/>
                  </a:moveTo>
                  <a:lnTo>
                    <a:pt x="2632529" y="0"/>
                  </a:lnTo>
                  <a:lnTo>
                    <a:pt x="2632529" y="76045"/>
                  </a:lnTo>
                  <a:lnTo>
                    <a:pt x="0" y="76045"/>
                  </a:lnTo>
                  <a:close/>
                </a:path>
              </a:pathLst>
            </a:custGeom>
            <a:solidFill>
              <a:srgbClr val="3DCAB1"/>
            </a:solidFill>
          </p:spPr>
        </p:sp>
        <p:sp>
          <p:nvSpPr>
            <p:cNvPr name="TextBox 7" id="7"/>
            <p:cNvSpPr txBox="true"/>
            <p:nvPr/>
          </p:nvSpPr>
          <p:spPr>
            <a:xfrm>
              <a:off x="0" y="-38100"/>
              <a:ext cx="2632529" cy="11414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DAF7H95jHok</dc:identifier>
  <dcterms:modified xsi:type="dcterms:W3CDTF">2011-08-01T06:04:30Z</dcterms:modified>
  <cp:revision>1</cp:revision>
  <dc:title>Clase 2</dc:title>
</cp:coreProperties>
</file>