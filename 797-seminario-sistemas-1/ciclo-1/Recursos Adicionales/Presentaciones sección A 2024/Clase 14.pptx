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Glacial Indifference" charset="1" panose="00000000000000000000"/>
      <p:regular r:id="rId35"/>
    </p:embeddedFont>
    <p:embeddedFont>
      <p:font typeface="Tenor Sans" charset="1" panose="02000000000000000000"/>
      <p:regular r:id="rId36"/>
    </p:embeddedFont>
    <p:embeddedFont>
      <p:font typeface="Open Sans" charset="1" panose="020B0606030504020204"/>
      <p:regular r:id="rId37"/>
    </p:embeddedFont>
    <p:embeddedFont>
      <p:font typeface="Open Sans Bold" charset="1" panose="020B0806030504020204"/>
      <p:regular r:id="rId38"/>
    </p:embeddedFont>
    <p:embeddedFont>
      <p:font typeface="Glacial Indifference Bold" charset="1" panose="00000800000000000000"/>
      <p:regular r:id="rId39"/>
    </p:embeddedFont>
    <p:embeddedFont>
      <p:font typeface="Open Sans Light" charset="1" panose="020B03060305040202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21.jpeg" Type="http://schemas.openxmlformats.org/officeDocument/2006/relationships/image"/><Relationship Id="rId5" Target="https://www.youtube.com/watch?v=_dfLOzuIg2o" TargetMode="External" Type="http://schemas.openxmlformats.org/officeDocument/2006/relationships/video"/></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4.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3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4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5670" y="3504240"/>
            <a:ext cx="17836661" cy="2422524"/>
          </a:xfrm>
          <a:prstGeom prst="rect">
            <a:avLst/>
          </a:prstGeom>
        </p:spPr>
        <p:txBody>
          <a:bodyPr anchor="t" rtlCol="false" tIns="0" lIns="0" bIns="0" rIns="0">
            <a:spAutoFit/>
          </a:bodyPr>
          <a:lstStyle/>
          <a:p>
            <a:pPr algn="ctr">
              <a:lnSpc>
                <a:spcPts val="9199"/>
              </a:lnSpc>
            </a:pPr>
            <a:r>
              <a:rPr lang="en-US" sz="9999">
                <a:solidFill>
                  <a:srgbClr val="000000"/>
                </a:solidFill>
                <a:latin typeface="Glacial Indifference"/>
                <a:ea typeface="Glacial Indifference"/>
                <a:cs typeface="Glacial Indifference"/>
                <a:sym typeface="Glacial Indifference"/>
              </a:rPr>
              <a:t>LABORATORIO SEMINARIO DE SISTEMAS 1</a:t>
            </a:r>
          </a:p>
        </p:txBody>
      </p:sp>
      <p:grpSp>
        <p:nvGrpSpPr>
          <p:cNvPr name="Group 3" id="3"/>
          <p:cNvGrpSpPr/>
          <p:nvPr/>
        </p:nvGrpSpPr>
        <p:grpSpPr>
          <a:xfrm rot="0">
            <a:off x="5101429" y="1884757"/>
            <a:ext cx="8085142" cy="938466"/>
            <a:chOff x="0" y="0"/>
            <a:chExt cx="2129420" cy="247168"/>
          </a:xfrm>
        </p:grpSpPr>
        <p:sp>
          <p:nvSpPr>
            <p:cNvPr name="Freeform 4" id="4"/>
            <p:cNvSpPr/>
            <p:nvPr/>
          </p:nvSpPr>
          <p:spPr>
            <a:xfrm flipH="false" flipV="false" rot="0">
              <a:off x="0" y="0"/>
              <a:ext cx="2129420" cy="247168"/>
            </a:xfrm>
            <a:custGeom>
              <a:avLst/>
              <a:gdLst/>
              <a:ahLst/>
              <a:cxnLst/>
              <a:rect r="r" b="b" t="t" l="l"/>
              <a:pathLst>
                <a:path h="247168" w="2129420">
                  <a:moveTo>
                    <a:pt x="24896" y="0"/>
                  </a:moveTo>
                  <a:lnTo>
                    <a:pt x="2104524" y="0"/>
                  </a:lnTo>
                  <a:cubicBezTo>
                    <a:pt x="2111127" y="0"/>
                    <a:pt x="2117459" y="2623"/>
                    <a:pt x="2122128" y="7292"/>
                  </a:cubicBezTo>
                  <a:cubicBezTo>
                    <a:pt x="2126797" y="11961"/>
                    <a:pt x="2129420" y="18293"/>
                    <a:pt x="2129420" y="24896"/>
                  </a:cubicBezTo>
                  <a:lnTo>
                    <a:pt x="2129420" y="222272"/>
                  </a:lnTo>
                  <a:cubicBezTo>
                    <a:pt x="2129420" y="228875"/>
                    <a:pt x="2126797" y="235207"/>
                    <a:pt x="2122128" y="239876"/>
                  </a:cubicBezTo>
                  <a:cubicBezTo>
                    <a:pt x="2117459" y="244545"/>
                    <a:pt x="2111127" y="247168"/>
                    <a:pt x="2104524" y="247168"/>
                  </a:cubicBezTo>
                  <a:lnTo>
                    <a:pt x="24896" y="247168"/>
                  </a:lnTo>
                  <a:cubicBezTo>
                    <a:pt x="11146" y="247168"/>
                    <a:pt x="0" y="236022"/>
                    <a:pt x="0" y="222272"/>
                  </a:cubicBezTo>
                  <a:lnTo>
                    <a:pt x="0" y="24896"/>
                  </a:lnTo>
                  <a:cubicBezTo>
                    <a:pt x="0" y="18293"/>
                    <a:pt x="2623" y="11961"/>
                    <a:pt x="7292" y="7292"/>
                  </a:cubicBezTo>
                  <a:cubicBezTo>
                    <a:pt x="11961" y="2623"/>
                    <a:pt x="18293" y="0"/>
                    <a:pt x="24896" y="0"/>
                  </a:cubicBezTo>
                  <a:close/>
                </a:path>
              </a:pathLst>
            </a:custGeom>
            <a:solidFill>
              <a:srgbClr val="F3E780"/>
            </a:solidFill>
          </p:spPr>
        </p:sp>
        <p:sp>
          <p:nvSpPr>
            <p:cNvPr name="TextBox 5" id="5"/>
            <p:cNvSpPr txBox="true"/>
            <p:nvPr/>
          </p:nvSpPr>
          <p:spPr>
            <a:xfrm>
              <a:off x="0" y="-47625"/>
              <a:ext cx="2129420" cy="294793"/>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09474" y="6630732"/>
            <a:ext cx="4378481" cy="43784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8AB9"/>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5400000">
            <a:off x="362774" y="-30820"/>
            <a:ext cx="3688357" cy="4114800"/>
          </a:xfrm>
          <a:custGeom>
            <a:avLst/>
            <a:gdLst/>
            <a:ahLst/>
            <a:cxnLst/>
            <a:rect r="r" b="b" t="t" l="l"/>
            <a:pathLst>
              <a:path h="4114800" w="3688357">
                <a:moveTo>
                  <a:pt x="0" y="0"/>
                </a:moveTo>
                <a:lnTo>
                  <a:pt x="3688357" y="0"/>
                </a:lnTo>
                <a:lnTo>
                  <a:pt x="36883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2531874" y="7031606"/>
            <a:ext cx="1237134" cy="1200949"/>
            <a:chOff x="0" y="0"/>
            <a:chExt cx="325830" cy="316299"/>
          </a:xfrm>
        </p:grpSpPr>
        <p:sp>
          <p:nvSpPr>
            <p:cNvPr name="Freeform 11" id="11"/>
            <p:cNvSpPr/>
            <p:nvPr/>
          </p:nvSpPr>
          <p:spPr>
            <a:xfrm flipH="false" flipV="false" rot="0">
              <a:off x="0" y="0"/>
              <a:ext cx="325830" cy="316299"/>
            </a:xfrm>
            <a:custGeom>
              <a:avLst/>
              <a:gdLst/>
              <a:ahLst/>
              <a:cxnLst/>
              <a:rect r="r" b="b" t="t" l="l"/>
              <a:pathLst>
                <a:path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96B5D3"/>
            </a:solidFill>
          </p:spPr>
        </p:sp>
        <p:sp>
          <p:nvSpPr>
            <p:cNvPr name="TextBox 12" id="12"/>
            <p:cNvSpPr txBox="true"/>
            <p:nvPr/>
          </p:nvSpPr>
          <p:spPr>
            <a:xfrm>
              <a:off x="0" y="-47625"/>
              <a:ext cx="325830" cy="363924"/>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5728559" y="1153041"/>
            <a:ext cx="1237134" cy="1200949"/>
            <a:chOff x="0" y="0"/>
            <a:chExt cx="325830" cy="316299"/>
          </a:xfrm>
        </p:grpSpPr>
        <p:sp>
          <p:nvSpPr>
            <p:cNvPr name="Freeform 14" id="14"/>
            <p:cNvSpPr/>
            <p:nvPr/>
          </p:nvSpPr>
          <p:spPr>
            <a:xfrm flipH="false" flipV="false" rot="0">
              <a:off x="0" y="0"/>
              <a:ext cx="325830" cy="316299"/>
            </a:xfrm>
            <a:custGeom>
              <a:avLst/>
              <a:gdLst/>
              <a:ahLst/>
              <a:cxnLst/>
              <a:rect r="r" b="b" t="t" l="l"/>
              <a:pathLst>
                <a:path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568AB9"/>
            </a:solidFill>
          </p:spPr>
        </p:sp>
        <p:sp>
          <p:nvSpPr>
            <p:cNvPr name="TextBox 15" id="15"/>
            <p:cNvSpPr txBox="true"/>
            <p:nvPr/>
          </p:nvSpPr>
          <p:spPr>
            <a:xfrm>
              <a:off x="0" y="-47625"/>
              <a:ext cx="325830" cy="363924"/>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4289726" y="639307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7984331" y="7527306"/>
            <a:ext cx="2319338" cy="745641"/>
          </a:xfrm>
          <a:prstGeom prst="rect">
            <a:avLst/>
          </a:prstGeom>
        </p:spPr>
        <p:txBody>
          <a:bodyPr anchor="t" rtlCol="false" tIns="0" lIns="0" bIns="0" rIns="0">
            <a:spAutoFit/>
          </a:bodyPr>
          <a:lstStyle/>
          <a:p>
            <a:pPr algn="ctr">
              <a:lnSpc>
                <a:spcPts val="6198"/>
              </a:lnSpc>
            </a:pPr>
            <a:r>
              <a:rPr lang="en-US" sz="4245" spc="237">
                <a:solidFill>
                  <a:srgbClr val="000000"/>
                </a:solidFill>
                <a:latin typeface="Tenor Sans"/>
                <a:ea typeface="Tenor Sans"/>
                <a:cs typeface="Tenor Sans"/>
                <a:sym typeface="Tenor Sans"/>
              </a:rPr>
              <a:t>Clase 14</a:t>
            </a:r>
          </a:p>
        </p:txBody>
      </p:sp>
      <p:sp>
        <p:nvSpPr>
          <p:cNvPr name="TextBox 18" id="18"/>
          <p:cNvSpPr txBox="true"/>
          <p:nvPr/>
        </p:nvSpPr>
        <p:spPr>
          <a:xfrm rot="0">
            <a:off x="5710833" y="1928781"/>
            <a:ext cx="6866334" cy="745641"/>
          </a:xfrm>
          <a:prstGeom prst="rect">
            <a:avLst/>
          </a:prstGeom>
        </p:spPr>
        <p:txBody>
          <a:bodyPr anchor="t" rtlCol="false" tIns="0" lIns="0" bIns="0" rIns="0">
            <a:spAutoFit/>
          </a:bodyPr>
          <a:lstStyle/>
          <a:p>
            <a:pPr algn="ctr">
              <a:lnSpc>
                <a:spcPts val="6198"/>
              </a:lnSpc>
            </a:pPr>
            <a:r>
              <a:rPr lang="en-US" sz="4245" spc="237">
                <a:solidFill>
                  <a:srgbClr val="000000"/>
                </a:solidFill>
                <a:latin typeface="Tenor Sans"/>
                <a:ea typeface="Tenor Sans"/>
                <a:cs typeface="Tenor Sans"/>
                <a:sym typeface="Tenor Sans"/>
              </a:rPr>
              <a:t>Segundo Semestre 2024</a:t>
            </a:r>
          </a:p>
        </p:txBody>
      </p:sp>
      <p:grpSp>
        <p:nvGrpSpPr>
          <p:cNvPr name="Group 19" id="19"/>
          <p:cNvGrpSpPr/>
          <p:nvPr/>
        </p:nvGrpSpPr>
        <p:grpSpPr>
          <a:xfrm rot="0">
            <a:off x="13804199" y="8450476"/>
            <a:ext cx="971055" cy="934870"/>
            <a:chOff x="0" y="0"/>
            <a:chExt cx="255751" cy="246221"/>
          </a:xfrm>
        </p:grpSpPr>
        <p:sp>
          <p:nvSpPr>
            <p:cNvPr name="Freeform 20" id="20"/>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21" id="21"/>
            <p:cNvSpPr txBox="true"/>
            <p:nvPr/>
          </p:nvSpPr>
          <p:spPr>
            <a:xfrm>
              <a:off x="0" y="-47625"/>
              <a:ext cx="255751" cy="293846"/>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86400" y="3247530"/>
            <a:ext cx="7315200" cy="824623"/>
          </a:xfrm>
          <a:custGeom>
            <a:avLst/>
            <a:gdLst/>
            <a:ahLst/>
            <a:cxnLst/>
            <a:rect r="r" b="b" t="t" l="l"/>
            <a:pathLst>
              <a:path h="824623" w="7315200">
                <a:moveTo>
                  <a:pt x="0" y="0"/>
                </a:moveTo>
                <a:lnTo>
                  <a:pt x="7315200" y="0"/>
                </a:lnTo>
                <a:lnTo>
                  <a:pt x="7315200" y="824623"/>
                </a:lnTo>
                <a:lnTo>
                  <a:pt x="0" y="8246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86400" y="4459579"/>
            <a:ext cx="7315200" cy="824623"/>
          </a:xfrm>
          <a:custGeom>
            <a:avLst/>
            <a:gdLst/>
            <a:ahLst/>
            <a:cxnLst/>
            <a:rect r="r" b="b" t="t" l="l"/>
            <a:pathLst>
              <a:path h="824623" w="7315200">
                <a:moveTo>
                  <a:pt x="0" y="0"/>
                </a:moveTo>
                <a:lnTo>
                  <a:pt x="7315200" y="0"/>
                </a:lnTo>
                <a:lnTo>
                  <a:pt x="7315200" y="824622"/>
                </a:lnTo>
                <a:lnTo>
                  <a:pt x="0" y="8246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486400" y="5674726"/>
            <a:ext cx="7315200" cy="824623"/>
          </a:xfrm>
          <a:custGeom>
            <a:avLst/>
            <a:gdLst/>
            <a:ahLst/>
            <a:cxnLst/>
            <a:rect r="r" b="b" t="t" l="l"/>
            <a:pathLst>
              <a:path h="824623" w="7315200">
                <a:moveTo>
                  <a:pt x="0" y="0"/>
                </a:moveTo>
                <a:lnTo>
                  <a:pt x="7315200" y="0"/>
                </a:lnTo>
                <a:lnTo>
                  <a:pt x="7315200" y="824623"/>
                </a:lnTo>
                <a:lnTo>
                  <a:pt x="0" y="8246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486400" y="6889874"/>
            <a:ext cx="7315200" cy="824623"/>
          </a:xfrm>
          <a:custGeom>
            <a:avLst/>
            <a:gdLst/>
            <a:ahLst/>
            <a:cxnLst/>
            <a:rect r="r" b="b" t="t" l="l"/>
            <a:pathLst>
              <a:path h="824623" w="7315200">
                <a:moveTo>
                  <a:pt x="0" y="0"/>
                </a:moveTo>
                <a:lnTo>
                  <a:pt x="7315200" y="0"/>
                </a:lnTo>
                <a:lnTo>
                  <a:pt x="7315200" y="824622"/>
                </a:lnTo>
                <a:lnTo>
                  <a:pt x="0" y="8246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486400" y="8105021"/>
            <a:ext cx="7315200" cy="824623"/>
          </a:xfrm>
          <a:custGeom>
            <a:avLst/>
            <a:gdLst/>
            <a:ahLst/>
            <a:cxnLst/>
            <a:rect r="r" b="b" t="t" l="l"/>
            <a:pathLst>
              <a:path h="824623" w="7315200">
                <a:moveTo>
                  <a:pt x="0" y="0"/>
                </a:moveTo>
                <a:lnTo>
                  <a:pt x="7315200" y="0"/>
                </a:lnTo>
                <a:lnTo>
                  <a:pt x="7315200" y="824623"/>
                </a:lnTo>
                <a:lnTo>
                  <a:pt x="0" y="8246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800000">
            <a:off x="134706" y="5284201"/>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1711560" y="1285875"/>
            <a:ext cx="14864881" cy="1221538"/>
          </a:xfrm>
          <a:prstGeom prst="rect">
            <a:avLst/>
          </a:prstGeom>
        </p:spPr>
        <p:txBody>
          <a:bodyPr anchor="t" rtlCol="false" tIns="0" lIns="0" bIns="0" rIns="0">
            <a:spAutoFit/>
          </a:bodyPr>
          <a:lstStyle/>
          <a:p>
            <a:pPr algn="ctr">
              <a:lnSpc>
                <a:spcPts val="8931"/>
              </a:lnSpc>
            </a:pPr>
            <a:r>
              <a:rPr lang="en-US" sz="9708">
                <a:solidFill>
                  <a:srgbClr val="022033"/>
                </a:solidFill>
                <a:latin typeface="Glacial Indifference"/>
                <a:ea typeface="Glacial Indifference"/>
                <a:cs typeface="Glacial Indifference"/>
                <a:sym typeface="Glacial Indifference"/>
              </a:rPr>
              <a:t>AGENDA</a:t>
            </a:r>
          </a:p>
        </p:txBody>
      </p:sp>
      <p:sp>
        <p:nvSpPr>
          <p:cNvPr name="TextBox 9" id="9"/>
          <p:cNvSpPr txBox="true"/>
          <p:nvPr/>
        </p:nvSpPr>
        <p:spPr>
          <a:xfrm rot="0">
            <a:off x="7404997" y="3510051"/>
            <a:ext cx="3478005" cy="354271"/>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DUDAS</a:t>
            </a:r>
          </a:p>
        </p:txBody>
      </p:sp>
      <p:sp>
        <p:nvSpPr>
          <p:cNvPr name="TextBox 10" id="10"/>
          <p:cNvSpPr txBox="true"/>
          <p:nvPr/>
        </p:nvSpPr>
        <p:spPr>
          <a:xfrm rot="0">
            <a:off x="7404997" y="4722100"/>
            <a:ext cx="3478005" cy="354271"/>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AVISOS</a:t>
            </a:r>
          </a:p>
        </p:txBody>
      </p:sp>
      <p:sp>
        <p:nvSpPr>
          <p:cNvPr name="TextBox 11" id="11"/>
          <p:cNvSpPr txBox="true"/>
          <p:nvPr/>
        </p:nvSpPr>
        <p:spPr>
          <a:xfrm rot="0">
            <a:off x="7404997" y="5931901"/>
            <a:ext cx="3478005" cy="354271"/>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EXPOSICIONES</a:t>
            </a:r>
          </a:p>
        </p:txBody>
      </p:sp>
      <p:sp>
        <p:nvSpPr>
          <p:cNvPr name="TextBox 12" id="12"/>
          <p:cNvSpPr txBox="true"/>
          <p:nvPr/>
        </p:nvSpPr>
        <p:spPr>
          <a:xfrm rot="0">
            <a:off x="7404997" y="7156574"/>
            <a:ext cx="3478005" cy="354271"/>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DOCKER</a:t>
            </a:r>
          </a:p>
        </p:txBody>
      </p:sp>
      <p:sp>
        <p:nvSpPr>
          <p:cNvPr name="TextBox 13" id="13"/>
          <p:cNvSpPr txBox="true"/>
          <p:nvPr/>
        </p:nvSpPr>
        <p:spPr>
          <a:xfrm rot="0">
            <a:off x="7404997" y="8367542"/>
            <a:ext cx="3478005" cy="354271"/>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EJEMPLO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35936" y="0"/>
            <a:ext cx="10656161" cy="9784294"/>
          </a:xfrm>
          <a:custGeom>
            <a:avLst/>
            <a:gdLst/>
            <a:ahLst/>
            <a:cxnLst/>
            <a:rect r="r" b="b" t="t" l="l"/>
            <a:pathLst>
              <a:path h="9784294" w="10656161">
                <a:moveTo>
                  <a:pt x="0" y="0"/>
                </a:moveTo>
                <a:lnTo>
                  <a:pt x="10656162" y="0"/>
                </a:lnTo>
                <a:lnTo>
                  <a:pt x="10656162" y="9784294"/>
                </a:lnTo>
                <a:lnTo>
                  <a:pt x="0" y="97842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5728559" y="1153041"/>
            <a:ext cx="1237134" cy="1200949"/>
            <a:chOff x="0" y="0"/>
            <a:chExt cx="325830" cy="316299"/>
          </a:xfrm>
        </p:grpSpPr>
        <p:sp>
          <p:nvSpPr>
            <p:cNvPr name="Freeform 5" id="5"/>
            <p:cNvSpPr/>
            <p:nvPr/>
          </p:nvSpPr>
          <p:spPr>
            <a:xfrm flipH="false" flipV="false" rot="0">
              <a:off x="0" y="0"/>
              <a:ext cx="325830" cy="316299"/>
            </a:xfrm>
            <a:custGeom>
              <a:avLst/>
              <a:gdLst/>
              <a:ahLst/>
              <a:cxnLst/>
              <a:rect r="r" b="b" t="t" l="l"/>
              <a:pathLst>
                <a:path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96B5D3"/>
            </a:solidFill>
          </p:spPr>
        </p:sp>
        <p:sp>
          <p:nvSpPr>
            <p:cNvPr name="TextBox 6" id="6"/>
            <p:cNvSpPr txBox="true"/>
            <p:nvPr/>
          </p:nvSpPr>
          <p:spPr>
            <a:xfrm>
              <a:off x="0" y="-47625"/>
              <a:ext cx="325830" cy="363924"/>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7453991" y="2105012"/>
            <a:ext cx="6831728" cy="5123796"/>
          </a:xfrm>
          <a:custGeom>
            <a:avLst/>
            <a:gdLst/>
            <a:ahLst/>
            <a:cxnLst/>
            <a:rect r="r" b="b" t="t" l="l"/>
            <a:pathLst>
              <a:path h="5123796" w="6831728">
                <a:moveTo>
                  <a:pt x="0" y="0"/>
                </a:moveTo>
                <a:lnTo>
                  <a:pt x="6831727" y="0"/>
                </a:lnTo>
                <a:lnTo>
                  <a:pt x="6831727" y="5123796"/>
                </a:lnTo>
                <a:lnTo>
                  <a:pt x="0" y="51237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750327" y="7108875"/>
            <a:ext cx="6377880" cy="1687431"/>
          </a:xfrm>
          <a:prstGeom prst="rect">
            <a:avLst/>
          </a:prstGeom>
        </p:spPr>
        <p:txBody>
          <a:bodyPr anchor="t" rtlCol="false" tIns="0" lIns="0" bIns="0" rIns="0">
            <a:spAutoFit/>
          </a:bodyPr>
          <a:lstStyle/>
          <a:p>
            <a:pPr algn="ctr">
              <a:lnSpc>
                <a:spcPts val="12360"/>
              </a:lnSpc>
            </a:pPr>
            <a:r>
              <a:rPr lang="en-US" sz="13435">
                <a:solidFill>
                  <a:srgbClr val="000000"/>
                </a:solidFill>
                <a:latin typeface="Glacial Indifference"/>
                <a:ea typeface="Glacial Indifference"/>
                <a:cs typeface="Glacial Indifference"/>
                <a:sym typeface="Glacial Indifference"/>
              </a:rPr>
              <a:t>DOCKER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728559" y="1153041"/>
            <a:ext cx="1237134" cy="1200949"/>
            <a:chOff x="0" y="0"/>
            <a:chExt cx="325830" cy="316299"/>
          </a:xfrm>
        </p:grpSpPr>
        <p:sp>
          <p:nvSpPr>
            <p:cNvPr name="Freeform 4" id="4"/>
            <p:cNvSpPr/>
            <p:nvPr/>
          </p:nvSpPr>
          <p:spPr>
            <a:xfrm flipH="false" flipV="false" rot="0">
              <a:off x="0" y="0"/>
              <a:ext cx="325830" cy="316299"/>
            </a:xfrm>
            <a:custGeom>
              <a:avLst/>
              <a:gdLst/>
              <a:ahLst/>
              <a:cxnLst/>
              <a:rect r="r" b="b" t="t" l="l"/>
              <a:pathLst>
                <a:path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96B5D3"/>
            </a:solidFill>
          </p:spPr>
        </p:sp>
        <p:sp>
          <p:nvSpPr>
            <p:cNvPr name="TextBox 5" id="5"/>
            <p:cNvSpPr txBox="true"/>
            <p:nvPr/>
          </p:nvSpPr>
          <p:spPr>
            <a:xfrm>
              <a:off x="0" y="-47625"/>
              <a:ext cx="325830" cy="363924"/>
            </a:xfrm>
            <a:prstGeom prst="rect">
              <a:avLst/>
            </a:prstGeom>
          </p:spPr>
          <p:txBody>
            <a:bodyPr anchor="ctr" rtlCol="false" tIns="50800" lIns="50800" bIns="50800" rIns="50800"/>
            <a:lstStyle/>
            <a:p>
              <a:pPr algn="ctr">
                <a:lnSpc>
                  <a:spcPts val="2659"/>
                </a:lnSpc>
              </a:pPr>
            </a:p>
          </p:txBody>
        </p:sp>
      </p:grpSp>
      <p:pic>
        <p:nvPicPr>
          <p:cNvPr name="Picture 6" id="6"/>
          <p:cNvPicPr>
            <a:picLocks noChangeAspect="true"/>
          </p:cNvPicPr>
          <p:nvPr>
            <a:videoFile r:link="rId5"/>
          </p:nvPr>
        </p:nvPicPr>
        <p:blipFill>
          <a:blip r:embed="rId4"/>
          <a:stretch>
            <a:fillRect/>
          </a:stretch>
        </p:blipFill>
        <p:spPr>
          <a:xfrm rot="0">
            <a:off x="3653314" y="2057400"/>
            <a:ext cx="10981372" cy="61722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11560" y="1228725"/>
            <a:ext cx="14864881" cy="1017906"/>
          </a:xfrm>
          <a:prstGeom prst="rect">
            <a:avLst/>
          </a:prstGeom>
        </p:spPr>
        <p:txBody>
          <a:bodyPr anchor="t" rtlCol="false" tIns="0" lIns="0" bIns="0" rIns="0">
            <a:spAutoFit/>
          </a:bodyPr>
          <a:lstStyle/>
          <a:p>
            <a:pPr algn="ctr">
              <a:lnSpc>
                <a:spcPts val="7360"/>
              </a:lnSpc>
            </a:pPr>
            <a:r>
              <a:rPr lang="en-US" sz="8000">
                <a:solidFill>
                  <a:srgbClr val="022033"/>
                </a:solidFill>
                <a:latin typeface="Glacial Indifference"/>
                <a:ea typeface="Glacial Indifference"/>
                <a:cs typeface="Glacial Indifference"/>
                <a:sym typeface="Glacial Indifference"/>
              </a:rPr>
              <a:t>¿QUÉ ES DOCKER?</a:t>
            </a:r>
          </a:p>
        </p:txBody>
      </p:sp>
      <p:grpSp>
        <p:nvGrpSpPr>
          <p:cNvPr name="Group 3" id="3"/>
          <p:cNvGrpSpPr/>
          <p:nvPr/>
        </p:nvGrpSpPr>
        <p:grpSpPr>
          <a:xfrm rot="0">
            <a:off x="16098759" y="604794"/>
            <a:ext cx="4378481" cy="437848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288245" y="5780212"/>
            <a:ext cx="971055" cy="934870"/>
            <a:chOff x="0" y="0"/>
            <a:chExt cx="255751" cy="246221"/>
          </a:xfrm>
        </p:grpSpPr>
        <p:sp>
          <p:nvSpPr>
            <p:cNvPr name="Freeform 7" id="7"/>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8" id="8"/>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0" y="6715082"/>
            <a:ext cx="3934778" cy="4114800"/>
          </a:xfrm>
          <a:custGeom>
            <a:avLst/>
            <a:gdLst/>
            <a:ahLst/>
            <a:cxnLst/>
            <a:rect r="r" b="b" t="t" l="l"/>
            <a:pathLst>
              <a:path h="4114800" w="3934778">
                <a:moveTo>
                  <a:pt x="0" y="0"/>
                </a:moveTo>
                <a:lnTo>
                  <a:pt x="3934778" y="0"/>
                </a:lnTo>
                <a:lnTo>
                  <a:pt x="39347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369843" y="2666882"/>
            <a:ext cx="14442276" cy="3580765"/>
          </a:xfrm>
          <a:prstGeom prst="rect">
            <a:avLst/>
          </a:prstGeom>
        </p:spPr>
        <p:txBody>
          <a:bodyPr anchor="t" rtlCol="false" tIns="0" lIns="0" bIns="0" rIns="0">
            <a:spAutoFit/>
          </a:bodyPr>
          <a:lstStyle/>
          <a:p>
            <a:pPr algn="just">
              <a:lnSpc>
                <a:spcPts val="4759"/>
              </a:lnSpc>
            </a:pPr>
            <a:r>
              <a:rPr lang="en-US" sz="3399">
                <a:solidFill>
                  <a:srgbClr val="022033"/>
                </a:solidFill>
                <a:latin typeface="Open Sans"/>
                <a:ea typeface="Open Sans"/>
                <a:cs typeface="Open Sans"/>
                <a:sym typeface="Open Sans"/>
              </a:rPr>
              <a:t>Docker es una plataforma de código abierto que nos permite automatizar el despliegue de aplicaciones dentro de contenedores.</a:t>
            </a:r>
          </a:p>
          <a:p>
            <a:pPr algn="just">
              <a:lnSpc>
                <a:spcPts val="4759"/>
              </a:lnSpc>
            </a:pPr>
            <a:r>
              <a:rPr lang="en-US" sz="3399">
                <a:solidFill>
                  <a:srgbClr val="022033"/>
                </a:solidFill>
                <a:latin typeface="Open Sans"/>
                <a:ea typeface="Open Sans"/>
                <a:cs typeface="Open Sans"/>
                <a:sym typeface="Open Sans"/>
              </a:rPr>
              <a:t> </a:t>
            </a:r>
          </a:p>
          <a:p>
            <a:pPr algn="just">
              <a:lnSpc>
                <a:spcPts val="4759"/>
              </a:lnSpc>
            </a:pPr>
            <a:r>
              <a:rPr lang="en-US" sz="3399">
                <a:solidFill>
                  <a:srgbClr val="022033"/>
                </a:solidFill>
                <a:latin typeface="Open Sans"/>
                <a:ea typeface="Open Sans"/>
                <a:cs typeface="Open Sans"/>
                <a:sym typeface="Open Sans"/>
              </a:rPr>
              <a:t>Un </a:t>
            </a:r>
            <a:r>
              <a:rPr lang="en-US" sz="3399" b="true">
                <a:solidFill>
                  <a:srgbClr val="022033"/>
                </a:solidFill>
                <a:latin typeface="Open Sans Bold"/>
                <a:ea typeface="Open Sans Bold"/>
                <a:cs typeface="Open Sans Bold"/>
                <a:sym typeface="Open Sans Bold"/>
              </a:rPr>
              <a:t>Contenedor </a:t>
            </a:r>
            <a:r>
              <a:rPr lang="en-US" sz="3399">
                <a:solidFill>
                  <a:srgbClr val="022033"/>
                </a:solidFill>
                <a:latin typeface="Open Sans"/>
                <a:ea typeface="Open Sans"/>
                <a:cs typeface="Open Sans"/>
                <a:sym typeface="Open Sans"/>
              </a:rPr>
              <a:t>es una unidad de software independiente y ligera, que incluye todo lo necesario para que la aplicación funcione de manera uniforme en cualquier entorno.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249484" y="3109133"/>
            <a:ext cx="13789032" cy="6039318"/>
            <a:chOff x="0" y="0"/>
            <a:chExt cx="3631679" cy="1590602"/>
          </a:xfrm>
        </p:grpSpPr>
        <p:sp>
          <p:nvSpPr>
            <p:cNvPr name="Freeform 4" id="4"/>
            <p:cNvSpPr/>
            <p:nvPr/>
          </p:nvSpPr>
          <p:spPr>
            <a:xfrm flipH="false" flipV="false" rot="0">
              <a:off x="0" y="0"/>
              <a:ext cx="3631679" cy="1590602"/>
            </a:xfrm>
            <a:custGeom>
              <a:avLst/>
              <a:gdLst/>
              <a:ahLst/>
              <a:cxnLst/>
              <a:rect r="r" b="b" t="t" l="l"/>
              <a:pathLst>
                <a:path h="1590602" w="3631679">
                  <a:moveTo>
                    <a:pt x="19651" y="0"/>
                  </a:moveTo>
                  <a:lnTo>
                    <a:pt x="3612028" y="0"/>
                  </a:lnTo>
                  <a:cubicBezTo>
                    <a:pt x="3617240" y="0"/>
                    <a:pt x="3622238" y="2070"/>
                    <a:pt x="3625924" y="5756"/>
                  </a:cubicBezTo>
                  <a:cubicBezTo>
                    <a:pt x="3629609" y="9441"/>
                    <a:pt x="3631679" y="14439"/>
                    <a:pt x="3631679" y="19651"/>
                  </a:cubicBezTo>
                  <a:lnTo>
                    <a:pt x="3631679" y="1570951"/>
                  </a:lnTo>
                  <a:cubicBezTo>
                    <a:pt x="3631679" y="1581804"/>
                    <a:pt x="3622881" y="1590602"/>
                    <a:pt x="3612028" y="1590602"/>
                  </a:cubicBezTo>
                  <a:lnTo>
                    <a:pt x="19651" y="1590602"/>
                  </a:lnTo>
                  <a:cubicBezTo>
                    <a:pt x="8798" y="1590602"/>
                    <a:pt x="0" y="1581804"/>
                    <a:pt x="0" y="1570951"/>
                  </a:cubicBezTo>
                  <a:lnTo>
                    <a:pt x="0" y="19651"/>
                  </a:lnTo>
                  <a:cubicBezTo>
                    <a:pt x="0" y="8798"/>
                    <a:pt x="8798" y="0"/>
                    <a:pt x="19651" y="0"/>
                  </a:cubicBezTo>
                  <a:close/>
                </a:path>
              </a:pathLst>
            </a:custGeom>
            <a:solidFill>
              <a:srgbClr val="BFD1E1"/>
            </a:solidFill>
          </p:spPr>
        </p:sp>
        <p:sp>
          <p:nvSpPr>
            <p:cNvPr name="TextBox 5" id="5"/>
            <p:cNvSpPr txBox="true"/>
            <p:nvPr/>
          </p:nvSpPr>
          <p:spPr>
            <a:xfrm>
              <a:off x="0" y="-47625"/>
              <a:ext cx="3631679" cy="1638227"/>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853176" y="1693470"/>
            <a:ext cx="10581647" cy="808164"/>
          </a:xfrm>
          <a:prstGeom prst="rect">
            <a:avLst/>
          </a:prstGeom>
        </p:spPr>
        <p:txBody>
          <a:bodyPr anchor="t" rtlCol="false" tIns="0" lIns="0" bIns="0" rIns="0">
            <a:spAutoFit/>
          </a:bodyPr>
          <a:lstStyle/>
          <a:p>
            <a:pPr algn="ctr">
              <a:lnSpc>
                <a:spcPts val="5876"/>
              </a:lnSpc>
            </a:pPr>
            <a:r>
              <a:rPr lang="en-US" sz="6387">
                <a:solidFill>
                  <a:srgbClr val="000000"/>
                </a:solidFill>
                <a:latin typeface="Glacial Indifference"/>
                <a:ea typeface="Glacial Indifference"/>
                <a:cs typeface="Glacial Indifference"/>
                <a:sym typeface="Glacial Indifference"/>
              </a:rPr>
              <a:t>¿CÓMO FUNCIONA DOCKER?</a:t>
            </a:r>
          </a:p>
        </p:txBody>
      </p:sp>
      <p:sp>
        <p:nvSpPr>
          <p:cNvPr name="Freeform 7" id="7"/>
          <p:cNvSpPr/>
          <p:nvPr/>
        </p:nvSpPr>
        <p:spPr>
          <a:xfrm flipH="false" flipV="false" rot="0">
            <a:off x="137645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3018363" y="3436925"/>
            <a:ext cx="12466871" cy="5641340"/>
          </a:xfrm>
          <a:prstGeom prst="rect">
            <a:avLst/>
          </a:prstGeom>
        </p:spPr>
        <p:txBody>
          <a:bodyPr anchor="t" rtlCol="false" tIns="0" lIns="0" bIns="0" rIns="0">
            <a:spAutoFit/>
          </a:bodyPr>
          <a:lstStyle/>
          <a:p>
            <a:pPr algn="just">
              <a:lnSpc>
                <a:spcPts val="4060"/>
              </a:lnSpc>
            </a:pPr>
            <a:r>
              <a:rPr lang="en-US" sz="2900" spc="162">
                <a:solidFill>
                  <a:srgbClr val="000000"/>
                </a:solidFill>
                <a:latin typeface="Open Sans"/>
                <a:ea typeface="Open Sans"/>
                <a:cs typeface="Open Sans"/>
                <a:sym typeface="Open Sans"/>
              </a:rPr>
              <a:t>Docker utiliza un sistema de imágenes y contenedores. Una imágen de Docker es una plantilla inmutable que define el entorno de ejecución (incluyendo el sistema operativo, librerías, dependencias y código de la aplicación). Al ejecutar una imágen, Docker crea un contenedor, que es una instancia activa de la imagen en ejecución. </a:t>
            </a:r>
          </a:p>
          <a:p>
            <a:pPr algn="just">
              <a:lnSpc>
                <a:spcPts val="4060"/>
              </a:lnSpc>
            </a:pPr>
          </a:p>
          <a:p>
            <a:pPr algn="just">
              <a:lnSpc>
                <a:spcPts val="4060"/>
              </a:lnSpc>
            </a:pPr>
            <a:r>
              <a:rPr lang="en-US" sz="2900" spc="162">
                <a:solidFill>
                  <a:srgbClr val="000000"/>
                </a:solidFill>
                <a:latin typeface="Open Sans"/>
                <a:ea typeface="Open Sans"/>
                <a:cs typeface="Open Sans"/>
                <a:sym typeface="Open Sans"/>
              </a:rPr>
              <a:t>Esto permite encapsular la aplicación y todas sus dependencias, para que pueda ejecutarse de forma consistente en diferentes entornos.</a:t>
            </a:r>
          </a:p>
          <a:p>
            <a:pPr algn="just">
              <a:lnSpc>
                <a:spcPts val="4060"/>
              </a:lnSpc>
            </a:pP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140697" y="2896870"/>
            <a:ext cx="14958062" cy="6039318"/>
            <a:chOff x="0" y="0"/>
            <a:chExt cx="3939572" cy="1590602"/>
          </a:xfrm>
        </p:grpSpPr>
        <p:sp>
          <p:nvSpPr>
            <p:cNvPr name="Freeform 3" id="3"/>
            <p:cNvSpPr/>
            <p:nvPr/>
          </p:nvSpPr>
          <p:spPr>
            <a:xfrm flipH="false" flipV="false" rot="0">
              <a:off x="0" y="0"/>
              <a:ext cx="3939572" cy="1590602"/>
            </a:xfrm>
            <a:custGeom>
              <a:avLst/>
              <a:gdLst/>
              <a:ahLst/>
              <a:cxnLst/>
              <a:rect r="r" b="b" t="t" l="l"/>
              <a:pathLst>
                <a:path h="1590602" w="3939572">
                  <a:moveTo>
                    <a:pt x="18115" y="0"/>
                  </a:moveTo>
                  <a:lnTo>
                    <a:pt x="3921457" y="0"/>
                  </a:lnTo>
                  <a:cubicBezTo>
                    <a:pt x="3931462" y="0"/>
                    <a:pt x="3939572" y="8110"/>
                    <a:pt x="3939572" y="18115"/>
                  </a:cubicBezTo>
                  <a:lnTo>
                    <a:pt x="3939572" y="1572487"/>
                  </a:lnTo>
                  <a:cubicBezTo>
                    <a:pt x="3939572" y="1582492"/>
                    <a:pt x="3931462" y="1590602"/>
                    <a:pt x="3921457" y="1590602"/>
                  </a:cubicBezTo>
                  <a:lnTo>
                    <a:pt x="18115" y="1590602"/>
                  </a:lnTo>
                  <a:cubicBezTo>
                    <a:pt x="8110" y="1590602"/>
                    <a:pt x="0" y="1582492"/>
                    <a:pt x="0" y="1572487"/>
                  </a:cubicBezTo>
                  <a:lnTo>
                    <a:pt x="0" y="18115"/>
                  </a:lnTo>
                  <a:cubicBezTo>
                    <a:pt x="0" y="8110"/>
                    <a:pt x="8110" y="0"/>
                    <a:pt x="18115" y="0"/>
                  </a:cubicBezTo>
                  <a:close/>
                </a:path>
              </a:pathLst>
            </a:custGeom>
            <a:solidFill>
              <a:srgbClr val="F3E780"/>
            </a:solidFill>
          </p:spPr>
        </p:sp>
        <p:sp>
          <p:nvSpPr>
            <p:cNvPr name="TextBox 4" id="4"/>
            <p:cNvSpPr txBox="true"/>
            <p:nvPr/>
          </p:nvSpPr>
          <p:spPr>
            <a:xfrm>
              <a:off x="0" y="-47625"/>
              <a:ext cx="3939572" cy="163822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711560" y="1209675"/>
            <a:ext cx="14864881" cy="1687195"/>
          </a:xfrm>
          <a:prstGeom prst="rect">
            <a:avLst/>
          </a:prstGeom>
        </p:spPr>
        <p:txBody>
          <a:bodyPr anchor="t" rtlCol="false" tIns="0" lIns="0" bIns="0" rIns="0">
            <a:spAutoFit/>
          </a:bodyPr>
          <a:lstStyle/>
          <a:p>
            <a:pPr algn="ctr">
              <a:lnSpc>
                <a:spcPts val="6439"/>
              </a:lnSpc>
            </a:pPr>
            <a:r>
              <a:rPr lang="en-US" sz="6999">
                <a:solidFill>
                  <a:srgbClr val="022033"/>
                </a:solidFill>
                <a:latin typeface="Glacial Indifference"/>
                <a:ea typeface="Glacial Indifference"/>
                <a:cs typeface="Glacial Indifference"/>
                <a:sym typeface="Glacial Indifference"/>
              </a:rPr>
              <a:t>¿QUÉ SON LOS OBJETOS DE DOCKER?</a:t>
            </a:r>
          </a:p>
        </p:txBody>
      </p:sp>
      <p:grpSp>
        <p:nvGrpSpPr>
          <p:cNvPr name="Group 6" id="6"/>
          <p:cNvGrpSpPr/>
          <p:nvPr/>
        </p:nvGrpSpPr>
        <p:grpSpPr>
          <a:xfrm rot="0">
            <a:off x="16098759" y="604794"/>
            <a:ext cx="4378481" cy="43784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288245" y="5780212"/>
            <a:ext cx="971055" cy="934870"/>
            <a:chOff x="0" y="0"/>
            <a:chExt cx="255751" cy="246221"/>
          </a:xfrm>
        </p:grpSpPr>
        <p:sp>
          <p:nvSpPr>
            <p:cNvPr name="Freeform 10" id="10"/>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11" id="11"/>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398590" y="3354512"/>
            <a:ext cx="14442276" cy="4803775"/>
          </a:xfrm>
          <a:prstGeom prst="rect">
            <a:avLst/>
          </a:prstGeom>
        </p:spPr>
        <p:txBody>
          <a:bodyPr anchor="t" rtlCol="false" tIns="0" lIns="0" bIns="0" rIns="0">
            <a:spAutoFit/>
          </a:bodyPr>
          <a:lstStyle/>
          <a:p>
            <a:pPr algn="just">
              <a:lnSpc>
                <a:spcPts val="3499"/>
              </a:lnSpc>
            </a:pPr>
            <a:r>
              <a:rPr lang="en-US" sz="2499">
                <a:solidFill>
                  <a:srgbClr val="022033"/>
                </a:solidFill>
                <a:latin typeface="Open Sans"/>
                <a:ea typeface="Open Sans"/>
                <a:cs typeface="Open Sans"/>
                <a:sym typeface="Open Sans"/>
              </a:rPr>
              <a:t>Los objetos de Docker son los componentes clave que se utilizan para construir, gestionar y ejecutar aplicaciones dentro de Docker. Cada uno de estos objetos cumple un rol específico en el ciclo de vida de una aplicación contenerizada.</a:t>
            </a:r>
          </a:p>
          <a:p>
            <a:pPr algn="just">
              <a:lnSpc>
                <a:spcPts val="3499"/>
              </a:lnSpc>
            </a:pPr>
          </a:p>
          <a:p>
            <a:pPr algn="just">
              <a:lnSpc>
                <a:spcPts val="3499"/>
              </a:lnSpc>
            </a:pPr>
            <a:r>
              <a:rPr lang="en-US" sz="2499">
                <a:solidFill>
                  <a:srgbClr val="022033"/>
                </a:solidFill>
                <a:latin typeface="Open Sans"/>
                <a:ea typeface="Open Sans"/>
                <a:cs typeface="Open Sans"/>
                <a:sym typeface="Open Sans"/>
              </a:rPr>
              <a:t>Entre los cuales tenemos:</a:t>
            </a:r>
          </a:p>
          <a:p>
            <a:pPr algn="just" marL="539749" indent="-269875" lvl="1">
              <a:lnSpc>
                <a:spcPts val="3499"/>
              </a:lnSpc>
              <a:buFont typeface="Arial"/>
              <a:buChar char="•"/>
            </a:pPr>
            <a:r>
              <a:rPr lang="en-US" sz="2499">
                <a:solidFill>
                  <a:srgbClr val="022033"/>
                </a:solidFill>
                <a:latin typeface="Open Sans"/>
                <a:ea typeface="Open Sans"/>
                <a:cs typeface="Open Sans"/>
                <a:sym typeface="Open Sans"/>
              </a:rPr>
              <a:t>Imagenes.</a:t>
            </a:r>
          </a:p>
          <a:p>
            <a:pPr algn="just" marL="539749" indent="-269875" lvl="1">
              <a:lnSpc>
                <a:spcPts val="3499"/>
              </a:lnSpc>
              <a:buFont typeface="Arial"/>
              <a:buChar char="•"/>
            </a:pPr>
            <a:r>
              <a:rPr lang="en-US" sz="2499">
                <a:solidFill>
                  <a:srgbClr val="022033"/>
                </a:solidFill>
                <a:latin typeface="Open Sans"/>
                <a:ea typeface="Open Sans"/>
                <a:cs typeface="Open Sans"/>
                <a:sym typeface="Open Sans"/>
              </a:rPr>
              <a:t>Contenedores</a:t>
            </a:r>
          </a:p>
          <a:p>
            <a:pPr algn="just" marL="539749" indent="-269875" lvl="1">
              <a:lnSpc>
                <a:spcPts val="3499"/>
              </a:lnSpc>
              <a:buFont typeface="Arial"/>
              <a:buChar char="•"/>
            </a:pPr>
            <a:r>
              <a:rPr lang="en-US" sz="2499">
                <a:solidFill>
                  <a:srgbClr val="022033"/>
                </a:solidFill>
                <a:latin typeface="Open Sans"/>
                <a:ea typeface="Open Sans"/>
                <a:cs typeface="Open Sans"/>
                <a:sym typeface="Open Sans"/>
              </a:rPr>
              <a:t>Volúmenes</a:t>
            </a:r>
          </a:p>
          <a:p>
            <a:pPr algn="just" marL="539749" indent="-269875" lvl="1">
              <a:lnSpc>
                <a:spcPts val="3499"/>
              </a:lnSpc>
              <a:buFont typeface="Arial"/>
              <a:buChar char="•"/>
            </a:pPr>
            <a:r>
              <a:rPr lang="en-US" sz="2499">
                <a:solidFill>
                  <a:srgbClr val="022033"/>
                </a:solidFill>
                <a:latin typeface="Open Sans"/>
                <a:ea typeface="Open Sans"/>
                <a:cs typeface="Open Sans"/>
                <a:sym typeface="Open Sans"/>
              </a:rPr>
              <a:t>Redes.</a:t>
            </a:r>
          </a:p>
          <a:p>
            <a:pPr algn="just" marL="539749" indent="-269875" lvl="1">
              <a:lnSpc>
                <a:spcPts val="3499"/>
              </a:lnSpc>
              <a:buFont typeface="Arial"/>
              <a:buChar char="•"/>
            </a:pPr>
            <a:r>
              <a:rPr lang="en-US" sz="2499">
                <a:solidFill>
                  <a:srgbClr val="022033"/>
                </a:solidFill>
                <a:latin typeface="Open Sans"/>
                <a:ea typeface="Open Sans"/>
                <a:cs typeface="Open Sans"/>
                <a:sym typeface="Open Sans"/>
              </a:rPr>
              <a:t>Docker Compose</a:t>
            </a:r>
          </a:p>
          <a:p>
            <a:pPr algn="just">
              <a:lnSpc>
                <a:spcPts val="349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11560" y="1209675"/>
            <a:ext cx="14864881" cy="877570"/>
          </a:xfrm>
          <a:prstGeom prst="rect">
            <a:avLst/>
          </a:prstGeom>
        </p:spPr>
        <p:txBody>
          <a:bodyPr anchor="t" rtlCol="false" tIns="0" lIns="0" bIns="0" rIns="0">
            <a:spAutoFit/>
          </a:bodyPr>
          <a:lstStyle/>
          <a:p>
            <a:pPr algn="ctr">
              <a:lnSpc>
                <a:spcPts val="6439"/>
              </a:lnSpc>
            </a:pPr>
            <a:r>
              <a:rPr lang="en-US" sz="6999">
                <a:solidFill>
                  <a:srgbClr val="022033"/>
                </a:solidFill>
                <a:latin typeface="Glacial Indifference"/>
                <a:ea typeface="Glacial Indifference"/>
                <a:cs typeface="Glacial Indifference"/>
                <a:sym typeface="Glacial Indifference"/>
              </a:rPr>
              <a:t>OBJETOS DE DOCKER</a:t>
            </a:r>
          </a:p>
        </p:txBody>
      </p:sp>
      <p:grpSp>
        <p:nvGrpSpPr>
          <p:cNvPr name="Group 3" id="3"/>
          <p:cNvGrpSpPr/>
          <p:nvPr/>
        </p:nvGrpSpPr>
        <p:grpSpPr>
          <a:xfrm rot="0">
            <a:off x="16098759" y="604794"/>
            <a:ext cx="4378481" cy="437848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288245" y="5780212"/>
            <a:ext cx="971055" cy="934870"/>
            <a:chOff x="0" y="0"/>
            <a:chExt cx="255751" cy="246221"/>
          </a:xfrm>
        </p:grpSpPr>
        <p:sp>
          <p:nvSpPr>
            <p:cNvPr name="Freeform 7" id="7"/>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8" id="8"/>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2935870" y="2479201"/>
            <a:ext cx="12416260" cy="6984146"/>
          </a:xfrm>
          <a:custGeom>
            <a:avLst/>
            <a:gdLst/>
            <a:ahLst/>
            <a:cxnLst/>
            <a:rect r="r" b="b" t="t" l="l"/>
            <a:pathLst>
              <a:path h="6984146" w="12416260">
                <a:moveTo>
                  <a:pt x="0" y="0"/>
                </a:moveTo>
                <a:lnTo>
                  <a:pt x="12416260" y="0"/>
                </a:lnTo>
                <a:lnTo>
                  <a:pt x="12416260" y="6984146"/>
                </a:lnTo>
                <a:lnTo>
                  <a:pt x="0" y="6984146"/>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249484" y="3109133"/>
            <a:ext cx="13789032" cy="5300127"/>
            <a:chOff x="0" y="0"/>
            <a:chExt cx="3631679" cy="1395918"/>
          </a:xfrm>
        </p:grpSpPr>
        <p:sp>
          <p:nvSpPr>
            <p:cNvPr name="Freeform 4" id="4"/>
            <p:cNvSpPr/>
            <p:nvPr/>
          </p:nvSpPr>
          <p:spPr>
            <a:xfrm flipH="false" flipV="false" rot="0">
              <a:off x="0" y="0"/>
              <a:ext cx="3631679" cy="1395918"/>
            </a:xfrm>
            <a:custGeom>
              <a:avLst/>
              <a:gdLst/>
              <a:ahLst/>
              <a:cxnLst/>
              <a:rect r="r" b="b" t="t" l="l"/>
              <a:pathLst>
                <a:path h="1395918" w="3631679">
                  <a:moveTo>
                    <a:pt x="19651" y="0"/>
                  </a:moveTo>
                  <a:lnTo>
                    <a:pt x="3612028" y="0"/>
                  </a:lnTo>
                  <a:cubicBezTo>
                    <a:pt x="3617240" y="0"/>
                    <a:pt x="3622238" y="2070"/>
                    <a:pt x="3625924" y="5756"/>
                  </a:cubicBezTo>
                  <a:cubicBezTo>
                    <a:pt x="3629609" y="9441"/>
                    <a:pt x="3631679" y="14439"/>
                    <a:pt x="3631679" y="19651"/>
                  </a:cubicBezTo>
                  <a:lnTo>
                    <a:pt x="3631679" y="1376267"/>
                  </a:lnTo>
                  <a:cubicBezTo>
                    <a:pt x="3631679" y="1387120"/>
                    <a:pt x="3622881" y="1395918"/>
                    <a:pt x="3612028" y="1395918"/>
                  </a:cubicBezTo>
                  <a:lnTo>
                    <a:pt x="19651" y="1395918"/>
                  </a:lnTo>
                  <a:cubicBezTo>
                    <a:pt x="8798" y="1395918"/>
                    <a:pt x="0" y="1387120"/>
                    <a:pt x="0" y="1376267"/>
                  </a:cubicBezTo>
                  <a:lnTo>
                    <a:pt x="0" y="19651"/>
                  </a:lnTo>
                  <a:cubicBezTo>
                    <a:pt x="0" y="8798"/>
                    <a:pt x="8798" y="0"/>
                    <a:pt x="19651" y="0"/>
                  </a:cubicBezTo>
                  <a:close/>
                </a:path>
              </a:pathLst>
            </a:custGeom>
            <a:solidFill>
              <a:srgbClr val="96B5D3"/>
            </a:solidFill>
          </p:spPr>
        </p:sp>
        <p:sp>
          <p:nvSpPr>
            <p:cNvPr name="TextBox 5" id="5"/>
            <p:cNvSpPr txBox="true"/>
            <p:nvPr/>
          </p:nvSpPr>
          <p:spPr>
            <a:xfrm>
              <a:off x="0" y="-47625"/>
              <a:ext cx="3631679" cy="144354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853176" y="1655370"/>
            <a:ext cx="10581647" cy="1216025"/>
          </a:xfrm>
          <a:prstGeom prst="rect">
            <a:avLst/>
          </a:prstGeom>
        </p:spPr>
        <p:txBody>
          <a:bodyPr anchor="t" rtlCol="false" tIns="0" lIns="0" bIns="0" rIns="0">
            <a:spAutoFit/>
          </a:bodyPr>
          <a:lstStyle/>
          <a:p>
            <a:pPr algn="ctr">
              <a:lnSpc>
                <a:spcPts val="4600"/>
              </a:lnSpc>
            </a:pPr>
            <a:r>
              <a:rPr lang="en-US" sz="5000">
                <a:solidFill>
                  <a:srgbClr val="000000"/>
                </a:solidFill>
                <a:latin typeface="Glacial Indifference"/>
                <a:ea typeface="Glacial Indifference"/>
                <a:cs typeface="Glacial Indifference"/>
                <a:sym typeface="Glacial Indifference"/>
              </a:rPr>
              <a:t>¿QUÉ SON LAS IMAGENES DE DOCKER?</a:t>
            </a:r>
          </a:p>
        </p:txBody>
      </p:sp>
      <p:sp>
        <p:nvSpPr>
          <p:cNvPr name="Freeform 7" id="7"/>
          <p:cNvSpPr/>
          <p:nvPr/>
        </p:nvSpPr>
        <p:spPr>
          <a:xfrm flipH="false" flipV="false" rot="0">
            <a:off x="137645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910565" y="3868120"/>
            <a:ext cx="12466871" cy="3583940"/>
          </a:xfrm>
          <a:prstGeom prst="rect">
            <a:avLst/>
          </a:prstGeom>
        </p:spPr>
        <p:txBody>
          <a:bodyPr anchor="t" rtlCol="false" tIns="0" lIns="0" bIns="0" rIns="0">
            <a:spAutoFit/>
          </a:bodyPr>
          <a:lstStyle/>
          <a:p>
            <a:pPr algn="just">
              <a:lnSpc>
                <a:spcPts val="4060"/>
              </a:lnSpc>
            </a:pPr>
            <a:r>
              <a:rPr lang="en-US" sz="2900" spc="162">
                <a:solidFill>
                  <a:srgbClr val="000000"/>
                </a:solidFill>
                <a:latin typeface="Open Sans"/>
                <a:ea typeface="Open Sans"/>
                <a:cs typeface="Open Sans"/>
                <a:sym typeface="Open Sans"/>
              </a:rPr>
              <a:t>Una imagen Docker es una plantilla de solo lectura que contiene todo lo necesario para ejecutar una aplicación, como el sistema operativo, dependencias, archivos y configuraciones.</a:t>
            </a:r>
          </a:p>
          <a:p>
            <a:pPr algn="just">
              <a:lnSpc>
                <a:spcPts val="4060"/>
              </a:lnSpc>
            </a:pPr>
          </a:p>
          <a:p>
            <a:pPr algn="just">
              <a:lnSpc>
                <a:spcPts val="4060"/>
              </a:lnSpc>
            </a:pPr>
            <a:r>
              <a:rPr lang="en-US" sz="2900" spc="162">
                <a:solidFill>
                  <a:srgbClr val="000000"/>
                </a:solidFill>
                <a:latin typeface="Open Sans"/>
                <a:ea typeface="Open Sans"/>
                <a:cs typeface="Open Sans"/>
                <a:sym typeface="Open Sans"/>
              </a:rPr>
              <a:t>Las imágenes son la base para crear contenedores y pueden definirse con un Dockerfile, un archivo de configuración donde se indican las instrucciones para construir la imagen.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93371" y="3674336"/>
            <a:ext cx="11301259" cy="2938327"/>
          </a:xfrm>
          <a:custGeom>
            <a:avLst/>
            <a:gdLst/>
            <a:ahLst/>
            <a:cxnLst/>
            <a:rect r="r" b="b" t="t" l="l"/>
            <a:pathLst>
              <a:path h="2938327" w="11301259">
                <a:moveTo>
                  <a:pt x="0" y="0"/>
                </a:moveTo>
                <a:lnTo>
                  <a:pt x="11301258" y="0"/>
                </a:lnTo>
                <a:lnTo>
                  <a:pt x="11301258" y="2938328"/>
                </a:lnTo>
                <a:lnTo>
                  <a:pt x="0" y="2938328"/>
                </a:lnTo>
                <a:lnTo>
                  <a:pt x="0" y="0"/>
                </a:lnTo>
                <a:close/>
              </a:path>
            </a:pathLst>
          </a:custGeom>
          <a:blipFill>
            <a:blip r:embed="rId2"/>
            <a:stretch>
              <a:fillRect l="0" t="0" r="0" b="0"/>
            </a:stretch>
          </a:blipFill>
        </p:spPr>
      </p:sp>
      <p:sp>
        <p:nvSpPr>
          <p:cNvPr name="TextBox 3" id="3"/>
          <p:cNvSpPr txBox="true"/>
          <p:nvPr/>
        </p:nvSpPr>
        <p:spPr>
          <a:xfrm rot="0">
            <a:off x="3374320" y="2397434"/>
            <a:ext cx="11539359" cy="877570"/>
          </a:xfrm>
          <a:prstGeom prst="rect">
            <a:avLst/>
          </a:prstGeom>
        </p:spPr>
        <p:txBody>
          <a:bodyPr anchor="t" rtlCol="false" tIns="0" lIns="0" bIns="0" rIns="0">
            <a:spAutoFit/>
          </a:bodyPr>
          <a:lstStyle/>
          <a:p>
            <a:pPr algn="ctr">
              <a:lnSpc>
                <a:spcPts val="6439"/>
              </a:lnSpc>
            </a:pPr>
            <a:r>
              <a:rPr lang="en-US" sz="6999">
                <a:solidFill>
                  <a:srgbClr val="022033"/>
                </a:solidFill>
                <a:latin typeface="Glacial Indifference"/>
                <a:ea typeface="Glacial Indifference"/>
                <a:cs typeface="Glacial Indifference"/>
                <a:sym typeface="Glacial Indifference"/>
              </a:rPr>
              <a:t>IMAGEN DE DOCKER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64470" y="2704330"/>
            <a:ext cx="10959060" cy="5479530"/>
          </a:xfrm>
          <a:custGeom>
            <a:avLst/>
            <a:gdLst/>
            <a:ahLst/>
            <a:cxnLst/>
            <a:rect r="r" b="b" t="t" l="l"/>
            <a:pathLst>
              <a:path h="5479530" w="10959060">
                <a:moveTo>
                  <a:pt x="0" y="0"/>
                </a:moveTo>
                <a:lnTo>
                  <a:pt x="10959060" y="0"/>
                </a:lnTo>
                <a:lnTo>
                  <a:pt x="10959060" y="5479530"/>
                </a:lnTo>
                <a:lnTo>
                  <a:pt x="0" y="5479530"/>
                </a:lnTo>
                <a:lnTo>
                  <a:pt x="0" y="0"/>
                </a:lnTo>
                <a:close/>
              </a:path>
            </a:pathLst>
          </a:custGeom>
          <a:blipFill>
            <a:blip r:embed="rId2"/>
            <a:stretch>
              <a:fillRect l="0" t="0" r="0" b="0"/>
            </a:stretch>
          </a:blipFill>
        </p:spPr>
      </p:sp>
      <p:sp>
        <p:nvSpPr>
          <p:cNvPr name="TextBox 3" id="3"/>
          <p:cNvSpPr txBox="true"/>
          <p:nvPr/>
        </p:nvSpPr>
        <p:spPr>
          <a:xfrm rot="0">
            <a:off x="3006927" y="777563"/>
            <a:ext cx="11539359" cy="1687195"/>
          </a:xfrm>
          <a:prstGeom prst="rect">
            <a:avLst/>
          </a:prstGeom>
        </p:spPr>
        <p:txBody>
          <a:bodyPr anchor="t" rtlCol="false" tIns="0" lIns="0" bIns="0" rIns="0">
            <a:spAutoFit/>
          </a:bodyPr>
          <a:lstStyle/>
          <a:p>
            <a:pPr algn="ctr">
              <a:lnSpc>
                <a:spcPts val="6439"/>
              </a:lnSpc>
            </a:pPr>
            <a:r>
              <a:rPr lang="en-US" sz="6999">
                <a:solidFill>
                  <a:srgbClr val="022033"/>
                </a:solidFill>
                <a:latin typeface="Glacial Indifference"/>
                <a:ea typeface="Glacial Indifference"/>
                <a:cs typeface="Glacial Indifference"/>
                <a:sym typeface="Glacial Indifference"/>
              </a:rPr>
              <a:t>IMAGEN DE DOCKER MULTILAYER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249484" y="3109133"/>
            <a:ext cx="13789032" cy="5300127"/>
            <a:chOff x="0" y="0"/>
            <a:chExt cx="3631679" cy="1395918"/>
          </a:xfrm>
        </p:grpSpPr>
        <p:sp>
          <p:nvSpPr>
            <p:cNvPr name="Freeform 4" id="4"/>
            <p:cNvSpPr/>
            <p:nvPr/>
          </p:nvSpPr>
          <p:spPr>
            <a:xfrm flipH="false" flipV="false" rot="0">
              <a:off x="0" y="0"/>
              <a:ext cx="3631679" cy="1395918"/>
            </a:xfrm>
            <a:custGeom>
              <a:avLst/>
              <a:gdLst/>
              <a:ahLst/>
              <a:cxnLst/>
              <a:rect r="r" b="b" t="t" l="l"/>
              <a:pathLst>
                <a:path h="1395918" w="3631679">
                  <a:moveTo>
                    <a:pt x="19651" y="0"/>
                  </a:moveTo>
                  <a:lnTo>
                    <a:pt x="3612028" y="0"/>
                  </a:lnTo>
                  <a:cubicBezTo>
                    <a:pt x="3617240" y="0"/>
                    <a:pt x="3622238" y="2070"/>
                    <a:pt x="3625924" y="5756"/>
                  </a:cubicBezTo>
                  <a:cubicBezTo>
                    <a:pt x="3629609" y="9441"/>
                    <a:pt x="3631679" y="14439"/>
                    <a:pt x="3631679" y="19651"/>
                  </a:cubicBezTo>
                  <a:lnTo>
                    <a:pt x="3631679" y="1376267"/>
                  </a:lnTo>
                  <a:cubicBezTo>
                    <a:pt x="3631679" y="1387120"/>
                    <a:pt x="3622881" y="1395918"/>
                    <a:pt x="3612028" y="1395918"/>
                  </a:cubicBezTo>
                  <a:lnTo>
                    <a:pt x="19651" y="1395918"/>
                  </a:lnTo>
                  <a:cubicBezTo>
                    <a:pt x="8798" y="1395918"/>
                    <a:pt x="0" y="1387120"/>
                    <a:pt x="0" y="1376267"/>
                  </a:cubicBezTo>
                  <a:lnTo>
                    <a:pt x="0" y="19651"/>
                  </a:lnTo>
                  <a:cubicBezTo>
                    <a:pt x="0" y="8798"/>
                    <a:pt x="8798" y="0"/>
                    <a:pt x="19651" y="0"/>
                  </a:cubicBezTo>
                  <a:close/>
                </a:path>
              </a:pathLst>
            </a:custGeom>
            <a:solidFill>
              <a:srgbClr val="96B5D3"/>
            </a:solidFill>
          </p:spPr>
        </p:sp>
        <p:sp>
          <p:nvSpPr>
            <p:cNvPr name="TextBox 5" id="5"/>
            <p:cNvSpPr txBox="true"/>
            <p:nvPr/>
          </p:nvSpPr>
          <p:spPr>
            <a:xfrm>
              <a:off x="0" y="-47625"/>
              <a:ext cx="3631679" cy="144354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853176" y="1655370"/>
            <a:ext cx="10581647" cy="1216025"/>
          </a:xfrm>
          <a:prstGeom prst="rect">
            <a:avLst/>
          </a:prstGeom>
        </p:spPr>
        <p:txBody>
          <a:bodyPr anchor="t" rtlCol="false" tIns="0" lIns="0" bIns="0" rIns="0">
            <a:spAutoFit/>
          </a:bodyPr>
          <a:lstStyle/>
          <a:p>
            <a:pPr algn="ctr">
              <a:lnSpc>
                <a:spcPts val="4600"/>
              </a:lnSpc>
            </a:pPr>
            <a:r>
              <a:rPr lang="en-US" sz="5000">
                <a:solidFill>
                  <a:srgbClr val="000000"/>
                </a:solidFill>
                <a:latin typeface="Glacial Indifference"/>
                <a:ea typeface="Glacial Indifference"/>
                <a:cs typeface="Glacial Indifference"/>
                <a:sym typeface="Glacial Indifference"/>
              </a:rPr>
              <a:t>¿QUÉ SON LOS CONTENEDORES DE DOCKER?</a:t>
            </a:r>
          </a:p>
        </p:txBody>
      </p:sp>
      <p:sp>
        <p:nvSpPr>
          <p:cNvPr name="Freeform 7" id="7"/>
          <p:cNvSpPr/>
          <p:nvPr/>
        </p:nvSpPr>
        <p:spPr>
          <a:xfrm flipH="false" flipV="false" rot="0">
            <a:off x="137645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910565" y="3868120"/>
            <a:ext cx="12466871" cy="3069590"/>
          </a:xfrm>
          <a:prstGeom prst="rect">
            <a:avLst/>
          </a:prstGeom>
        </p:spPr>
        <p:txBody>
          <a:bodyPr anchor="t" rtlCol="false" tIns="0" lIns="0" bIns="0" rIns="0">
            <a:spAutoFit/>
          </a:bodyPr>
          <a:lstStyle/>
          <a:p>
            <a:pPr algn="just">
              <a:lnSpc>
                <a:spcPts val="4060"/>
              </a:lnSpc>
            </a:pPr>
            <a:r>
              <a:rPr lang="en-US" sz="2900" spc="162">
                <a:solidFill>
                  <a:srgbClr val="000000"/>
                </a:solidFill>
                <a:latin typeface="Open Sans"/>
                <a:ea typeface="Open Sans"/>
                <a:cs typeface="Open Sans"/>
                <a:sym typeface="Open Sans"/>
              </a:rPr>
              <a:t>Un contenedor Docker es una instancia ejecutable de una imagen. Cuando se lanza una imagen, Docker crea un contenedor donde la aplicación puede ejecutarse en un entorno aislado. Los contenedores son ligeros y rápidos de iniciar, ya que comparten el núcleo del sistema operativo con otros contenedores.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249484" y="3109133"/>
            <a:ext cx="13789032" cy="5300127"/>
            <a:chOff x="0" y="0"/>
            <a:chExt cx="3631679" cy="1395918"/>
          </a:xfrm>
        </p:grpSpPr>
        <p:sp>
          <p:nvSpPr>
            <p:cNvPr name="Freeform 4" id="4"/>
            <p:cNvSpPr/>
            <p:nvPr/>
          </p:nvSpPr>
          <p:spPr>
            <a:xfrm flipH="false" flipV="false" rot="0">
              <a:off x="0" y="0"/>
              <a:ext cx="3631679" cy="1395918"/>
            </a:xfrm>
            <a:custGeom>
              <a:avLst/>
              <a:gdLst/>
              <a:ahLst/>
              <a:cxnLst/>
              <a:rect r="r" b="b" t="t" l="l"/>
              <a:pathLst>
                <a:path h="1395918" w="3631679">
                  <a:moveTo>
                    <a:pt x="19651" y="0"/>
                  </a:moveTo>
                  <a:lnTo>
                    <a:pt x="3612028" y="0"/>
                  </a:lnTo>
                  <a:cubicBezTo>
                    <a:pt x="3617240" y="0"/>
                    <a:pt x="3622238" y="2070"/>
                    <a:pt x="3625924" y="5756"/>
                  </a:cubicBezTo>
                  <a:cubicBezTo>
                    <a:pt x="3629609" y="9441"/>
                    <a:pt x="3631679" y="14439"/>
                    <a:pt x="3631679" y="19651"/>
                  </a:cubicBezTo>
                  <a:lnTo>
                    <a:pt x="3631679" y="1376267"/>
                  </a:lnTo>
                  <a:cubicBezTo>
                    <a:pt x="3631679" y="1387120"/>
                    <a:pt x="3622881" y="1395918"/>
                    <a:pt x="3612028" y="1395918"/>
                  </a:cubicBezTo>
                  <a:lnTo>
                    <a:pt x="19651" y="1395918"/>
                  </a:lnTo>
                  <a:cubicBezTo>
                    <a:pt x="8798" y="1395918"/>
                    <a:pt x="0" y="1387120"/>
                    <a:pt x="0" y="1376267"/>
                  </a:cubicBezTo>
                  <a:lnTo>
                    <a:pt x="0" y="19651"/>
                  </a:lnTo>
                  <a:cubicBezTo>
                    <a:pt x="0" y="8798"/>
                    <a:pt x="8798" y="0"/>
                    <a:pt x="19651" y="0"/>
                  </a:cubicBezTo>
                  <a:close/>
                </a:path>
              </a:pathLst>
            </a:custGeom>
            <a:solidFill>
              <a:srgbClr val="BFD1E1"/>
            </a:solidFill>
          </p:spPr>
        </p:sp>
        <p:sp>
          <p:nvSpPr>
            <p:cNvPr name="TextBox 5" id="5"/>
            <p:cNvSpPr txBox="true"/>
            <p:nvPr/>
          </p:nvSpPr>
          <p:spPr>
            <a:xfrm>
              <a:off x="0" y="-47625"/>
              <a:ext cx="3631679" cy="144354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853176" y="1655370"/>
            <a:ext cx="10581647" cy="1216025"/>
          </a:xfrm>
          <a:prstGeom prst="rect">
            <a:avLst/>
          </a:prstGeom>
        </p:spPr>
        <p:txBody>
          <a:bodyPr anchor="t" rtlCol="false" tIns="0" lIns="0" bIns="0" rIns="0">
            <a:spAutoFit/>
          </a:bodyPr>
          <a:lstStyle/>
          <a:p>
            <a:pPr algn="ctr">
              <a:lnSpc>
                <a:spcPts val="4600"/>
              </a:lnSpc>
            </a:pPr>
            <a:r>
              <a:rPr lang="en-US" sz="5000">
                <a:solidFill>
                  <a:srgbClr val="000000"/>
                </a:solidFill>
                <a:latin typeface="Glacial Indifference"/>
                <a:ea typeface="Glacial Indifference"/>
                <a:cs typeface="Glacial Indifference"/>
                <a:sym typeface="Glacial Indifference"/>
              </a:rPr>
              <a:t>¿QUÉ SON LOS VOLÚMENES DE DOCKER?</a:t>
            </a:r>
          </a:p>
        </p:txBody>
      </p:sp>
      <p:sp>
        <p:nvSpPr>
          <p:cNvPr name="Freeform 7" id="7"/>
          <p:cNvSpPr/>
          <p:nvPr/>
        </p:nvSpPr>
        <p:spPr>
          <a:xfrm flipH="false" flipV="false" rot="0">
            <a:off x="137645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910565" y="3868120"/>
            <a:ext cx="12466871" cy="4098290"/>
          </a:xfrm>
          <a:prstGeom prst="rect">
            <a:avLst/>
          </a:prstGeom>
        </p:spPr>
        <p:txBody>
          <a:bodyPr anchor="t" rtlCol="false" tIns="0" lIns="0" bIns="0" rIns="0">
            <a:spAutoFit/>
          </a:bodyPr>
          <a:lstStyle/>
          <a:p>
            <a:pPr algn="just">
              <a:lnSpc>
                <a:spcPts val="4060"/>
              </a:lnSpc>
            </a:pPr>
            <a:r>
              <a:rPr lang="en-US" sz="2900" spc="162">
                <a:solidFill>
                  <a:srgbClr val="000000"/>
                </a:solidFill>
                <a:latin typeface="Open Sans"/>
                <a:ea typeface="Open Sans"/>
                <a:cs typeface="Open Sans"/>
                <a:sym typeface="Open Sans"/>
              </a:rPr>
              <a:t>Los volúmenes de Docker son una solución de almacenamiento que permite que los contenedores almacenen datos de manera persistente.</a:t>
            </a:r>
          </a:p>
          <a:p>
            <a:pPr algn="just">
              <a:lnSpc>
                <a:spcPts val="4060"/>
              </a:lnSpc>
            </a:pPr>
          </a:p>
          <a:p>
            <a:pPr algn="just">
              <a:lnSpc>
                <a:spcPts val="4060"/>
              </a:lnSpc>
            </a:pPr>
            <a:r>
              <a:rPr lang="en-US" sz="2900" spc="162">
                <a:solidFill>
                  <a:srgbClr val="000000"/>
                </a:solidFill>
                <a:latin typeface="Open Sans"/>
                <a:ea typeface="Open Sans"/>
                <a:cs typeface="Open Sans"/>
                <a:sym typeface="Open Sans"/>
              </a:rPr>
              <a:t>Normalmente los datos generados dentro de un contenedor se eliminan al deterner el contenedor, pero los volúmenes permiten que los datos permanezcan, incluso si el contenedor es eliminado o recreado.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8750" y="2676153"/>
            <a:ext cx="7315200" cy="1928553"/>
          </a:xfrm>
          <a:custGeom>
            <a:avLst/>
            <a:gdLst/>
            <a:ahLst/>
            <a:cxnLst/>
            <a:rect r="r" b="b" t="t" l="l"/>
            <a:pathLst>
              <a:path h="1928553" w="7315200">
                <a:moveTo>
                  <a:pt x="0" y="0"/>
                </a:moveTo>
                <a:lnTo>
                  <a:pt x="7315200" y="0"/>
                </a:lnTo>
                <a:lnTo>
                  <a:pt x="7315200" y="1928553"/>
                </a:lnTo>
                <a:lnTo>
                  <a:pt x="0" y="19285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28750" y="5001145"/>
            <a:ext cx="7315200" cy="1928553"/>
          </a:xfrm>
          <a:custGeom>
            <a:avLst/>
            <a:gdLst/>
            <a:ahLst/>
            <a:cxnLst/>
            <a:rect r="r" b="b" t="t" l="l"/>
            <a:pathLst>
              <a:path h="1928553" w="7315200">
                <a:moveTo>
                  <a:pt x="0" y="0"/>
                </a:moveTo>
                <a:lnTo>
                  <a:pt x="7315200" y="0"/>
                </a:lnTo>
                <a:lnTo>
                  <a:pt x="7315200" y="1928552"/>
                </a:lnTo>
                <a:lnTo>
                  <a:pt x="0" y="19285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8750" y="7329747"/>
            <a:ext cx="7315200" cy="1928553"/>
          </a:xfrm>
          <a:custGeom>
            <a:avLst/>
            <a:gdLst/>
            <a:ahLst/>
            <a:cxnLst/>
            <a:rect r="r" b="b" t="t" l="l"/>
            <a:pathLst>
              <a:path h="1928553" w="7315200">
                <a:moveTo>
                  <a:pt x="0" y="0"/>
                </a:moveTo>
                <a:lnTo>
                  <a:pt x="7315200" y="0"/>
                </a:lnTo>
                <a:lnTo>
                  <a:pt x="7315200" y="1928553"/>
                </a:lnTo>
                <a:lnTo>
                  <a:pt x="0" y="19285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9344816" y="3317980"/>
            <a:ext cx="7655695" cy="4611865"/>
          </a:xfrm>
          <a:custGeom>
            <a:avLst/>
            <a:gdLst/>
            <a:ahLst/>
            <a:cxnLst/>
            <a:rect r="r" b="b" t="t" l="l"/>
            <a:pathLst>
              <a:path h="4611865" w="7655695">
                <a:moveTo>
                  <a:pt x="0" y="0"/>
                </a:moveTo>
                <a:lnTo>
                  <a:pt x="7655695" y="0"/>
                </a:lnTo>
                <a:lnTo>
                  <a:pt x="7655695" y="4611864"/>
                </a:lnTo>
                <a:lnTo>
                  <a:pt x="0" y="4611864"/>
                </a:lnTo>
                <a:lnTo>
                  <a:pt x="0" y="0"/>
                </a:lnTo>
                <a:close/>
              </a:path>
            </a:pathLst>
          </a:custGeom>
          <a:blipFill>
            <a:blip r:embed="rId8"/>
            <a:stretch>
              <a:fillRect l="0" t="0" r="0" b="0"/>
            </a:stretch>
          </a:blipFill>
        </p:spPr>
      </p:sp>
      <p:sp>
        <p:nvSpPr>
          <p:cNvPr name="TextBox 6" id="6"/>
          <p:cNvSpPr txBox="true"/>
          <p:nvPr/>
        </p:nvSpPr>
        <p:spPr>
          <a:xfrm rot="0">
            <a:off x="3374320" y="872853"/>
            <a:ext cx="11539359" cy="877570"/>
          </a:xfrm>
          <a:prstGeom prst="rect">
            <a:avLst/>
          </a:prstGeom>
        </p:spPr>
        <p:txBody>
          <a:bodyPr anchor="t" rtlCol="false" tIns="0" lIns="0" bIns="0" rIns="0">
            <a:spAutoFit/>
          </a:bodyPr>
          <a:lstStyle/>
          <a:p>
            <a:pPr algn="ctr">
              <a:lnSpc>
                <a:spcPts val="6439"/>
              </a:lnSpc>
            </a:pPr>
            <a:r>
              <a:rPr lang="en-US" sz="6999">
                <a:solidFill>
                  <a:srgbClr val="022033"/>
                </a:solidFill>
                <a:latin typeface="Glacial Indifference"/>
                <a:ea typeface="Glacial Indifference"/>
                <a:cs typeface="Glacial Indifference"/>
                <a:sym typeface="Glacial Indifference"/>
              </a:rPr>
              <a:t>TIPOS DE VOLÚMENES</a:t>
            </a:r>
          </a:p>
        </p:txBody>
      </p:sp>
      <p:sp>
        <p:nvSpPr>
          <p:cNvPr name="TextBox 7" id="7"/>
          <p:cNvSpPr txBox="true"/>
          <p:nvPr/>
        </p:nvSpPr>
        <p:spPr>
          <a:xfrm rot="0">
            <a:off x="3609444" y="2919655"/>
            <a:ext cx="2953812"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ANÓNIMOS</a:t>
            </a:r>
          </a:p>
        </p:txBody>
      </p:sp>
      <p:sp>
        <p:nvSpPr>
          <p:cNvPr name="TextBox 8" id="8"/>
          <p:cNvSpPr txBox="true"/>
          <p:nvPr/>
        </p:nvSpPr>
        <p:spPr>
          <a:xfrm rot="0">
            <a:off x="2423658" y="5241075"/>
            <a:ext cx="5325383"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CON NOMBRES</a:t>
            </a:r>
          </a:p>
        </p:txBody>
      </p:sp>
      <p:sp>
        <p:nvSpPr>
          <p:cNvPr name="TextBox 9" id="9"/>
          <p:cNvSpPr txBox="true"/>
          <p:nvPr/>
        </p:nvSpPr>
        <p:spPr>
          <a:xfrm rot="0">
            <a:off x="2105364" y="7612344"/>
            <a:ext cx="5961972"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BIND MOUNTS</a:t>
            </a:r>
          </a:p>
        </p:txBody>
      </p:sp>
      <p:sp>
        <p:nvSpPr>
          <p:cNvPr name="TextBox 10" id="10"/>
          <p:cNvSpPr txBox="true"/>
          <p:nvPr/>
        </p:nvSpPr>
        <p:spPr>
          <a:xfrm rot="0">
            <a:off x="2105364" y="3230863"/>
            <a:ext cx="5961972" cy="666115"/>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No tienen nombre y se crean automáticamente.</a:t>
            </a:r>
          </a:p>
        </p:txBody>
      </p:sp>
      <p:sp>
        <p:nvSpPr>
          <p:cNvPr name="TextBox 11" id="11"/>
          <p:cNvSpPr txBox="true"/>
          <p:nvPr/>
        </p:nvSpPr>
        <p:spPr>
          <a:xfrm rot="0">
            <a:off x="2105364" y="5481006"/>
            <a:ext cx="5961972" cy="999490"/>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 Son identificados por un nombre específico, lo cual permite asociarlos y reutilizarlos en diferentes contenedores.</a:t>
            </a:r>
          </a:p>
        </p:txBody>
      </p:sp>
      <p:sp>
        <p:nvSpPr>
          <p:cNvPr name="TextBox 12" id="12"/>
          <p:cNvSpPr txBox="true"/>
          <p:nvPr/>
        </p:nvSpPr>
        <p:spPr>
          <a:xfrm rot="0">
            <a:off x="2105364" y="7882219"/>
            <a:ext cx="5961972" cy="666115"/>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 Monta una carpeta del sistema de archivos del host en el contenedor.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249484" y="3109133"/>
            <a:ext cx="13789032" cy="4838133"/>
            <a:chOff x="0" y="0"/>
            <a:chExt cx="3631679" cy="1274241"/>
          </a:xfrm>
        </p:grpSpPr>
        <p:sp>
          <p:nvSpPr>
            <p:cNvPr name="Freeform 4" id="4"/>
            <p:cNvSpPr/>
            <p:nvPr/>
          </p:nvSpPr>
          <p:spPr>
            <a:xfrm flipH="false" flipV="false" rot="0">
              <a:off x="0" y="0"/>
              <a:ext cx="3631679" cy="1274241"/>
            </a:xfrm>
            <a:custGeom>
              <a:avLst/>
              <a:gdLst/>
              <a:ahLst/>
              <a:cxnLst/>
              <a:rect r="r" b="b" t="t" l="l"/>
              <a:pathLst>
                <a:path h="1274241" w="3631679">
                  <a:moveTo>
                    <a:pt x="19651" y="0"/>
                  </a:moveTo>
                  <a:lnTo>
                    <a:pt x="3612028" y="0"/>
                  </a:lnTo>
                  <a:cubicBezTo>
                    <a:pt x="3617240" y="0"/>
                    <a:pt x="3622238" y="2070"/>
                    <a:pt x="3625924" y="5756"/>
                  </a:cubicBezTo>
                  <a:cubicBezTo>
                    <a:pt x="3629609" y="9441"/>
                    <a:pt x="3631679" y="14439"/>
                    <a:pt x="3631679" y="19651"/>
                  </a:cubicBezTo>
                  <a:lnTo>
                    <a:pt x="3631679" y="1254590"/>
                  </a:lnTo>
                  <a:cubicBezTo>
                    <a:pt x="3631679" y="1265443"/>
                    <a:pt x="3622881" y="1274241"/>
                    <a:pt x="3612028" y="1274241"/>
                  </a:cubicBezTo>
                  <a:lnTo>
                    <a:pt x="19651" y="1274241"/>
                  </a:lnTo>
                  <a:cubicBezTo>
                    <a:pt x="8798" y="1274241"/>
                    <a:pt x="0" y="1265443"/>
                    <a:pt x="0" y="1254590"/>
                  </a:cubicBezTo>
                  <a:lnTo>
                    <a:pt x="0" y="19651"/>
                  </a:lnTo>
                  <a:cubicBezTo>
                    <a:pt x="0" y="8798"/>
                    <a:pt x="8798" y="0"/>
                    <a:pt x="19651" y="0"/>
                  </a:cubicBezTo>
                  <a:close/>
                </a:path>
              </a:pathLst>
            </a:custGeom>
            <a:solidFill>
              <a:srgbClr val="F3E780"/>
            </a:solidFill>
          </p:spPr>
        </p:sp>
        <p:sp>
          <p:nvSpPr>
            <p:cNvPr name="TextBox 5" id="5"/>
            <p:cNvSpPr txBox="true"/>
            <p:nvPr/>
          </p:nvSpPr>
          <p:spPr>
            <a:xfrm>
              <a:off x="0" y="-47625"/>
              <a:ext cx="3631679" cy="132186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3853176" y="1655370"/>
            <a:ext cx="10581647" cy="635000"/>
          </a:xfrm>
          <a:prstGeom prst="rect">
            <a:avLst/>
          </a:prstGeom>
        </p:spPr>
        <p:txBody>
          <a:bodyPr anchor="t" rtlCol="false" tIns="0" lIns="0" bIns="0" rIns="0">
            <a:spAutoFit/>
          </a:bodyPr>
          <a:lstStyle/>
          <a:p>
            <a:pPr algn="ctr">
              <a:lnSpc>
                <a:spcPts val="4600"/>
              </a:lnSpc>
            </a:pPr>
            <a:r>
              <a:rPr lang="en-US" sz="5000">
                <a:solidFill>
                  <a:srgbClr val="000000"/>
                </a:solidFill>
                <a:latin typeface="Glacial Indifference"/>
                <a:ea typeface="Glacial Indifference"/>
                <a:cs typeface="Glacial Indifference"/>
                <a:sym typeface="Glacial Indifference"/>
              </a:rPr>
              <a:t>¿QUÉ SON LAS REDES DE DOCKER?</a:t>
            </a:r>
          </a:p>
        </p:txBody>
      </p:sp>
      <p:sp>
        <p:nvSpPr>
          <p:cNvPr name="Freeform 7" id="7"/>
          <p:cNvSpPr/>
          <p:nvPr/>
        </p:nvSpPr>
        <p:spPr>
          <a:xfrm flipH="false" flipV="false" rot="0">
            <a:off x="137645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910565" y="3868120"/>
            <a:ext cx="12466871" cy="3583940"/>
          </a:xfrm>
          <a:prstGeom prst="rect">
            <a:avLst/>
          </a:prstGeom>
        </p:spPr>
        <p:txBody>
          <a:bodyPr anchor="t" rtlCol="false" tIns="0" lIns="0" bIns="0" rIns="0">
            <a:spAutoFit/>
          </a:bodyPr>
          <a:lstStyle/>
          <a:p>
            <a:pPr algn="just">
              <a:lnSpc>
                <a:spcPts val="4060"/>
              </a:lnSpc>
            </a:pPr>
            <a:r>
              <a:rPr lang="en-US" sz="2900" spc="162">
                <a:solidFill>
                  <a:srgbClr val="000000"/>
                </a:solidFill>
                <a:latin typeface="Open Sans"/>
                <a:ea typeface="Open Sans"/>
                <a:cs typeface="Open Sans"/>
                <a:sym typeface="Open Sans"/>
              </a:rPr>
              <a:t>Las redes en Docker permiten la comunicación entre contenedores. Docker usa networks para gestionar el tráfico y asegurar que los contenedores puedan descubrirse y comunicarse entre ellos. </a:t>
            </a:r>
          </a:p>
          <a:p>
            <a:pPr algn="just">
              <a:lnSpc>
                <a:spcPts val="4060"/>
              </a:lnSpc>
            </a:pPr>
          </a:p>
          <a:p>
            <a:pPr algn="just">
              <a:lnSpc>
                <a:spcPts val="4060"/>
              </a:lnSpc>
            </a:pPr>
            <a:r>
              <a:rPr lang="en-US" sz="2900" spc="162">
                <a:solidFill>
                  <a:srgbClr val="000000"/>
                </a:solidFill>
                <a:latin typeface="Open Sans"/>
                <a:ea typeface="Open Sans"/>
                <a:cs typeface="Open Sans"/>
                <a:sym typeface="Open Sans"/>
              </a:rPr>
              <a:t>Existen varios tipos de networks que ofrecen distintas capacidades para los entornos de contenedores.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9348" y="2961213"/>
            <a:ext cx="7315200" cy="1928553"/>
          </a:xfrm>
          <a:custGeom>
            <a:avLst/>
            <a:gdLst/>
            <a:ahLst/>
            <a:cxnLst/>
            <a:rect r="r" b="b" t="t" l="l"/>
            <a:pathLst>
              <a:path h="1928553" w="7315200">
                <a:moveTo>
                  <a:pt x="0" y="0"/>
                </a:moveTo>
                <a:lnTo>
                  <a:pt x="7315200" y="0"/>
                </a:lnTo>
                <a:lnTo>
                  <a:pt x="7315200" y="1928553"/>
                </a:lnTo>
                <a:lnTo>
                  <a:pt x="0" y="19285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29348" y="5286204"/>
            <a:ext cx="7315200" cy="1928553"/>
          </a:xfrm>
          <a:custGeom>
            <a:avLst/>
            <a:gdLst/>
            <a:ahLst/>
            <a:cxnLst/>
            <a:rect r="r" b="b" t="t" l="l"/>
            <a:pathLst>
              <a:path h="1928553" w="7315200">
                <a:moveTo>
                  <a:pt x="0" y="0"/>
                </a:moveTo>
                <a:lnTo>
                  <a:pt x="7315200" y="0"/>
                </a:lnTo>
                <a:lnTo>
                  <a:pt x="7315200" y="1928553"/>
                </a:lnTo>
                <a:lnTo>
                  <a:pt x="0" y="19285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543452" y="5288010"/>
            <a:ext cx="7315200" cy="1928553"/>
          </a:xfrm>
          <a:custGeom>
            <a:avLst/>
            <a:gdLst/>
            <a:ahLst/>
            <a:cxnLst/>
            <a:rect r="r" b="b" t="t" l="l"/>
            <a:pathLst>
              <a:path h="1928553" w="7315200">
                <a:moveTo>
                  <a:pt x="0" y="0"/>
                </a:moveTo>
                <a:lnTo>
                  <a:pt x="7315200" y="0"/>
                </a:lnTo>
                <a:lnTo>
                  <a:pt x="7315200" y="1928553"/>
                </a:lnTo>
                <a:lnTo>
                  <a:pt x="0" y="19285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374320" y="1209675"/>
            <a:ext cx="11539359" cy="877570"/>
          </a:xfrm>
          <a:prstGeom prst="rect">
            <a:avLst/>
          </a:prstGeom>
        </p:spPr>
        <p:txBody>
          <a:bodyPr anchor="t" rtlCol="false" tIns="0" lIns="0" bIns="0" rIns="0">
            <a:spAutoFit/>
          </a:bodyPr>
          <a:lstStyle/>
          <a:p>
            <a:pPr algn="ctr">
              <a:lnSpc>
                <a:spcPts val="6439"/>
              </a:lnSpc>
            </a:pPr>
            <a:r>
              <a:rPr lang="en-US" sz="6999">
                <a:solidFill>
                  <a:srgbClr val="022033"/>
                </a:solidFill>
                <a:latin typeface="Glacial Indifference"/>
                <a:ea typeface="Glacial Indifference"/>
                <a:cs typeface="Glacial Indifference"/>
                <a:sym typeface="Glacial Indifference"/>
              </a:rPr>
              <a:t>TIPOS DE REDES</a:t>
            </a:r>
          </a:p>
        </p:txBody>
      </p:sp>
      <p:sp>
        <p:nvSpPr>
          <p:cNvPr name="TextBox 6" id="6"/>
          <p:cNvSpPr txBox="true"/>
          <p:nvPr/>
        </p:nvSpPr>
        <p:spPr>
          <a:xfrm rot="0">
            <a:off x="3286646" y="3143116"/>
            <a:ext cx="3600604"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BRIDGE NETWORK</a:t>
            </a:r>
          </a:p>
        </p:txBody>
      </p:sp>
      <p:sp>
        <p:nvSpPr>
          <p:cNvPr name="TextBox 7" id="7"/>
          <p:cNvSpPr txBox="true"/>
          <p:nvPr/>
        </p:nvSpPr>
        <p:spPr>
          <a:xfrm rot="0">
            <a:off x="2424257" y="5526135"/>
            <a:ext cx="5325383"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HOST NETWORK</a:t>
            </a:r>
          </a:p>
        </p:txBody>
      </p:sp>
      <p:sp>
        <p:nvSpPr>
          <p:cNvPr name="TextBox 8" id="8"/>
          <p:cNvSpPr txBox="true"/>
          <p:nvPr/>
        </p:nvSpPr>
        <p:spPr>
          <a:xfrm rot="0">
            <a:off x="10220066" y="5570607"/>
            <a:ext cx="5961972"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NONE NETWORK</a:t>
            </a:r>
          </a:p>
        </p:txBody>
      </p:sp>
      <p:sp>
        <p:nvSpPr>
          <p:cNvPr name="TextBox 9" id="9"/>
          <p:cNvSpPr txBox="true"/>
          <p:nvPr/>
        </p:nvSpPr>
        <p:spPr>
          <a:xfrm rot="0">
            <a:off x="2105962" y="3515922"/>
            <a:ext cx="5961972" cy="999490"/>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Es el tipo de red por defecto para contenedores. Conecta contenedores en una misma red aislada dentro del host.</a:t>
            </a:r>
          </a:p>
        </p:txBody>
      </p:sp>
      <p:sp>
        <p:nvSpPr>
          <p:cNvPr name="TextBox 10" id="10"/>
          <p:cNvSpPr txBox="true"/>
          <p:nvPr/>
        </p:nvSpPr>
        <p:spPr>
          <a:xfrm rot="0">
            <a:off x="2105962" y="5766066"/>
            <a:ext cx="5961972" cy="1332865"/>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Usa la interfaz de red del host y permite que el contenedor comparta su IP con el host. Ideal para entornos en los que el rendimiento de la red es una prioridad.</a:t>
            </a:r>
          </a:p>
        </p:txBody>
      </p:sp>
      <p:sp>
        <p:nvSpPr>
          <p:cNvPr name="TextBox 11" id="11"/>
          <p:cNvSpPr txBox="true"/>
          <p:nvPr/>
        </p:nvSpPr>
        <p:spPr>
          <a:xfrm rot="0">
            <a:off x="10220066" y="5840482"/>
            <a:ext cx="5961972" cy="666115"/>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No asigna una red al contenedor, lo que aísla completamente al contenedor.</a:t>
            </a:r>
          </a:p>
        </p:txBody>
      </p:sp>
      <p:sp>
        <p:nvSpPr>
          <p:cNvPr name="Freeform 12" id="12"/>
          <p:cNvSpPr/>
          <p:nvPr/>
        </p:nvSpPr>
        <p:spPr>
          <a:xfrm flipH="false" flipV="false" rot="0">
            <a:off x="9543452" y="2961213"/>
            <a:ext cx="7315200" cy="1928553"/>
          </a:xfrm>
          <a:custGeom>
            <a:avLst/>
            <a:gdLst/>
            <a:ahLst/>
            <a:cxnLst/>
            <a:rect r="r" b="b" t="t" l="l"/>
            <a:pathLst>
              <a:path h="1928553" w="7315200">
                <a:moveTo>
                  <a:pt x="0" y="0"/>
                </a:moveTo>
                <a:lnTo>
                  <a:pt x="7315200" y="0"/>
                </a:lnTo>
                <a:lnTo>
                  <a:pt x="7315200" y="1928553"/>
                </a:lnTo>
                <a:lnTo>
                  <a:pt x="0" y="19285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0538360" y="3201144"/>
            <a:ext cx="5325383"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OVERLAY NETWORK</a:t>
            </a:r>
          </a:p>
        </p:txBody>
      </p:sp>
      <p:sp>
        <p:nvSpPr>
          <p:cNvPr name="TextBox 14" id="14"/>
          <p:cNvSpPr txBox="true"/>
          <p:nvPr/>
        </p:nvSpPr>
        <p:spPr>
          <a:xfrm rot="0">
            <a:off x="10220066" y="3441075"/>
            <a:ext cx="5961972" cy="1332865"/>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Permite la comunicación entre varios hosts Docker, ideal para configuraciones de orquestación con Docker Swarm o Kubernetes.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74320" y="870879"/>
            <a:ext cx="11539359" cy="877570"/>
          </a:xfrm>
          <a:prstGeom prst="rect">
            <a:avLst/>
          </a:prstGeom>
        </p:spPr>
        <p:txBody>
          <a:bodyPr anchor="t" rtlCol="false" tIns="0" lIns="0" bIns="0" rIns="0">
            <a:spAutoFit/>
          </a:bodyPr>
          <a:lstStyle/>
          <a:p>
            <a:pPr algn="ctr">
              <a:lnSpc>
                <a:spcPts val="6439"/>
              </a:lnSpc>
            </a:pPr>
            <a:r>
              <a:rPr lang="en-US" sz="6999">
                <a:solidFill>
                  <a:srgbClr val="022033"/>
                </a:solidFill>
                <a:latin typeface="Glacial Indifference"/>
                <a:ea typeface="Glacial Indifference"/>
                <a:cs typeface="Glacial Indifference"/>
                <a:sym typeface="Glacial Indifference"/>
              </a:rPr>
              <a:t>DOCKER NETWORKS</a:t>
            </a:r>
          </a:p>
        </p:txBody>
      </p:sp>
      <p:sp>
        <p:nvSpPr>
          <p:cNvPr name="Freeform 3" id="3"/>
          <p:cNvSpPr/>
          <p:nvPr/>
        </p:nvSpPr>
        <p:spPr>
          <a:xfrm flipH="false" flipV="false" rot="0">
            <a:off x="12120594" y="4119594"/>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285476" y="2053759"/>
            <a:ext cx="9717048" cy="7204541"/>
          </a:xfrm>
          <a:custGeom>
            <a:avLst/>
            <a:gdLst/>
            <a:ahLst/>
            <a:cxnLst/>
            <a:rect r="r" b="b" t="t" l="l"/>
            <a:pathLst>
              <a:path h="7204541" w="9717048">
                <a:moveTo>
                  <a:pt x="0" y="0"/>
                </a:moveTo>
                <a:lnTo>
                  <a:pt x="9717048" y="0"/>
                </a:lnTo>
                <a:lnTo>
                  <a:pt x="9717048" y="7204541"/>
                </a:lnTo>
                <a:lnTo>
                  <a:pt x="0" y="7204541"/>
                </a:lnTo>
                <a:lnTo>
                  <a:pt x="0" y="0"/>
                </a:lnTo>
                <a:close/>
              </a:path>
            </a:pathLst>
          </a:custGeom>
          <a:blipFill>
            <a:blip r:embed="rId4"/>
            <a:stretch>
              <a:fillRect l="0" t="0" r="0" b="0"/>
            </a:stretch>
          </a:blipFill>
        </p:spPr>
      </p:sp>
      <p:sp>
        <p:nvSpPr>
          <p:cNvPr name="Freeform 5" id="5"/>
          <p:cNvSpPr/>
          <p:nvPr/>
        </p:nvSpPr>
        <p:spPr>
          <a:xfrm flipH="false" flipV="false" rot="-5400000">
            <a:off x="412943" y="-88916"/>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58733" y="2640623"/>
            <a:ext cx="7166801" cy="6844354"/>
            <a:chOff x="0" y="0"/>
            <a:chExt cx="1887553" cy="1802628"/>
          </a:xfrm>
        </p:grpSpPr>
        <p:sp>
          <p:nvSpPr>
            <p:cNvPr name="Freeform 3" id="3"/>
            <p:cNvSpPr/>
            <p:nvPr/>
          </p:nvSpPr>
          <p:spPr>
            <a:xfrm flipH="false" flipV="false" rot="0">
              <a:off x="0" y="0"/>
              <a:ext cx="1887553" cy="1802628"/>
            </a:xfrm>
            <a:custGeom>
              <a:avLst/>
              <a:gdLst/>
              <a:ahLst/>
              <a:cxnLst/>
              <a:rect r="r" b="b" t="t" l="l"/>
              <a:pathLst>
                <a:path h="1802628" w="1887553">
                  <a:moveTo>
                    <a:pt x="37809" y="0"/>
                  </a:moveTo>
                  <a:lnTo>
                    <a:pt x="1849744" y="0"/>
                  </a:lnTo>
                  <a:cubicBezTo>
                    <a:pt x="1859771" y="0"/>
                    <a:pt x="1869388" y="3983"/>
                    <a:pt x="1876479" y="11074"/>
                  </a:cubicBezTo>
                  <a:cubicBezTo>
                    <a:pt x="1883569" y="18164"/>
                    <a:pt x="1887553" y="27781"/>
                    <a:pt x="1887553" y="37809"/>
                  </a:cubicBezTo>
                  <a:lnTo>
                    <a:pt x="1887553" y="1764819"/>
                  </a:lnTo>
                  <a:cubicBezTo>
                    <a:pt x="1887553" y="1774847"/>
                    <a:pt x="1883569" y="1784464"/>
                    <a:pt x="1876479" y="1791554"/>
                  </a:cubicBezTo>
                  <a:cubicBezTo>
                    <a:pt x="1869388" y="1798645"/>
                    <a:pt x="1859771" y="1802628"/>
                    <a:pt x="1849744" y="1802628"/>
                  </a:cubicBezTo>
                  <a:lnTo>
                    <a:pt x="37809" y="1802628"/>
                  </a:lnTo>
                  <a:cubicBezTo>
                    <a:pt x="27781" y="1802628"/>
                    <a:pt x="18164" y="1798645"/>
                    <a:pt x="11074" y="1791554"/>
                  </a:cubicBezTo>
                  <a:cubicBezTo>
                    <a:pt x="3983" y="1784464"/>
                    <a:pt x="0" y="1774847"/>
                    <a:pt x="0" y="1764819"/>
                  </a:cubicBezTo>
                  <a:lnTo>
                    <a:pt x="0" y="37809"/>
                  </a:lnTo>
                  <a:cubicBezTo>
                    <a:pt x="0" y="27781"/>
                    <a:pt x="3983" y="18164"/>
                    <a:pt x="11074" y="11074"/>
                  </a:cubicBezTo>
                  <a:cubicBezTo>
                    <a:pt x="18164" y="3983"/>
                    <a:pt x="27781" y="0"/>
                    <a:pt x="37809" y="0"/>
                  </a:cubicBezTo>
                  <a:close/>
                </a:path>
              </a:pathLst>
            </a:custGeom>
            <a:solidFill>
              <a:srgbClr val="96B5D3"/>
            </a:solidFill>
          </p:spPr>
        </p:sp>
        <p:sp>
          <p:nvSpPr>
            <p:cNvPr name="TextBox 4" id="4"/>
            <p:cNvSpPr txBox="true"/>
            <p:nvPr/>
          </p:nvSpPr>
          <p:spPr>
            <a:xfrm>
              <a:off x="0" y="-38100"/>
              <a:ext cx="1887553" cy="1840728"/>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440535" y="1330022"/>
            <a:ext cx="11406929" cy="425704"/>
          </a:xfrm>
          <a:prstGeom prst="rect">
            <a:avLst/>
          </a:prstGeom>
        </p:spPr>
        <p:txBody>
          <a:bodyPr anchor="t" rtlCol="false" tIns="0" lIns="0" bIns="0" rIns="0">
            <a:spAutoFit/>
          </a:bodyPr>
          <a:lstStyle/>
          <a:p>
            <a:pPr algn="ctr">
              <a:lnSpc>
                <a:spcPts val="3127"/>
              </a:lnSpc>
            </a:pPr>
            <a:r>
              <a:rPr lang="en-US" sz="3399">
                <a:solidFill>
                  <a:srgbClr val="022033"/>
                </a:solidFill>
                <a:latin typeface="Glacial Indifference"/>
                <a:ea typeface="Glacial Indifference"/>
                <a:cs typeface="Glacial Indifference"/>
                <a:sym typeface="Glacial Indifference"/>
              </a:rPr>
              <a:t>DIFERENCIA ENTRE CONTENERIZACION Y VIRTUALIZACIÓN</a:t>
            </a:r>
          </a:p>
        </p:txBody>
      </p:sp>
      <p:grpSp>
        <p:nvGrpSpPr>
          <p:cNvPr name="Group 6" id="6"/>
          <p:cNvGrpSpPr/>
          <p:nvPr/>
        </p:nvGrpSpPr>
        <p:grpSpPr>
          <a:xfrm rot="0">
            <a:off x="9562466" y="2640623"/>
            <a:ext cx="7166801" cy="6844354"/>
            <a:chOff x="0" y="0"/>
            <a:chExt cx="1887553" cy="1802628"/>
          </a:xfrm>
        </p:grpSpPr>
        <p:sp>
          <p:nvSpPr>
            <p:cNvPr name="Freeform 7" id="7"/>
            <p:cNvSpPr/>
            <p:nvPr/>
          </p:nvSpPr>
          <p:spPr>
            <a:xfrm flipH="false" flipV="false" rot="0">
              <a:off x="0" y="0"/>
              <a:ext cx="1887553" cy="1802628"/>
            </a:xfrm>
            <a:custGeom>
              <a:avLst/>
              <a:gdLst/>
              <a:ahLst/>
              <a:cxnLst/>
              <a:rect r="r" b="b" t="t" l="l"/>
              <a:pathLst>
                <a:path h="1802628" w="1887553">
                  <a:moveTo>
                    <a:pt x="37809" y="0"/>
                  </a:moveTo>
                  <a:lnTo>
                    <a:pt x="1849744" y="0"/>
                  </a:lnTo>
                  <a:cubicBezTo>
                    <a:pt x="1859771" y="0"/>
                    <a:pt x="1869388" y="3983"/>
                    <a:pt x="1876479" y="11074"/>
                  </a:cubicBezTo>
                  <a:cubicBezTo>
                    <a:pt x="1883569" y="18164"/>
                    <a:pt x="1887553" y="27781"/>
                    <a:pt x="1887553" y="37809"/>
                  </a:cubicBezTo>
                  <a:lnTo>
                    <a:pt x="1887553" y="1764819"/>
                  </a:lnTo>
                  <a:cubicBezTo>
                    <a:pt x="1887553" y="1774847"/>
                    <a:pt x="1883569" y="1784464"/>
                    <a:pt x="1876479" y="1791554"/>
                  </a:cubicBezTo>
                  <a:cubicBezTo>
                    <a:pt x="1869388" y="1798645"/>
                    <a:pt x="1859771" y="1802628"/>
                    <a:pt x="1849744" y="1802628"/>
                  </a:cubicBezTo>
                  <a:lnTo>
                    <a:pt x="37809" y="1802628"/>
                  </a:lnTo>
                  <a:cubicBezTo>
                    <a:pt x="27781" y="1802628"/>
                    <a:pt x="18164" y="1798645"/>
                    <a:pt x="11074" y="1791554"/>
                  </a:cubicBezTo>
                  <a:cubicBezTo>
                    <a:pt x="3983" y="1784464"/>
                    <a:pt x="0" y="1774847"/>
                    <a:pt x="0" y="1764819"/>
                  </a:cubicBezTo>
                  <a:lnTo>
                    <a:pt x="0" y="37809"/>
                  </a:lnTo>
                  <a:cubicBezTo>
                    <a:pt x="0" y="27781"/>
                    <a:pt x="3983" y="18164"/>
                    <a:pt x="11074" y="11074"/>
                  </a:cubicBezTo>
                  <a:cubicBezTo>
                    <a:pt x="18164" y="3983"/>
                    <a:pt x="27781" y="0"/>
                    <a:pt x="37809" y="0"/>
                  </a:cubicBezTo>
                  <a:close/>
                </a:path>
              </a:pathLst>
            </a:custGeom>
            <a:solidFill>
              <a:srgbClr val="F3E780"/>
            </a:solidFill>
          </p:spPr>
        </p:sp>
        <p:sp>
          <p:nvSpPr>
            <p:cNvPr name="TextBox 8" id="8"/>
            <p:cNvSpPr txBox="true"/>
            <p:nvPr/>
          </p:nvSpPr>
          <p:spPr>
            <a:xfrm>
              <a:off x="0" y="-38100"/>
              <a:ext cx="1887553" cy="1840728"/>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952829" y="3989427"/>
            <a:ext cx="6378608" cy="4365643"/>
          </a:xfrm>
          <a:prstGeom prst="rect">
            <a:avLst/>
          </a:prstGeom>
        </p:spPr>
        <p:txBody>
          <a:bodyPr anchor="t" rtlCol="false" tIns="0" lIns="0" bIns="0" rIns="0">
            <a:spAutoFit/>
          </a:bodyPr>
          <a:lstStyle/>
          <a:p>
            <a:pPr algn="l">
              <a:lnSpc>
                <a:spcPts val="3498"/>
              </a:lnSpc>
            </a:pPr>
            <a:r>
              <a:rPr lang="en-US" sz="2499" spc="139">
                <a:solidFill>
                  <a:srgbClr val="022033"/>
                </a:solidFill>
                <a:latin typeface="Open Sans"/>
                <a:ea typeface="Open Sans"/>
                <a:cs typeface="Open Sans"/>
                <a:sym typeface="Open Sans"/>
              </a:rPr>
              <a:t>Utiliza máquinas virtuales (VMs) que ejecutan sistemas operativos completos sobre un hipervisor, lo cual requiere gran cantidad de recursos (CPU, memoria, almacenamiento). </a:t>
            </a:r>
          </a:p>
          <a:p>
            <a:pPr algn="l">
              <a:lnSpc>
                <a:spcPts val="3498"/>
              </a:lnSpc>
            </a:pPr>
          </a:p>
          <a:p>
            <a:pPr algn="l">
              <a:lnSpc>
                <a:spcPts val="3498"/>
              </a:lnSpc>
            </a:pPr>
            <a:r>
              <a:rPr lang="en-US" sz="2499" spc="139">
                <a:solidFill>
                  <a:srgbClr val="022033"/>
                </a:solidFill>
                <a:latin typeface="Open Sans"/>
                <a:ea typeface="Open Sans"/>
                <a:cs typeface="Open Sans"/>
                <a:sym typeface="Open Sans"/>
              </a:rPr>
              <a:t>Las VMs son independientes, pero cada una necesita su propio sistema operativo, aumentando el uso de recursos.</a:t>
            </a:r>
          </a:p>
        </p:txBody>
      </p:sp>
      <p:sp>
        <p:nvSpPr>
          <p:cNvPr name="TextBox 10" id="10"/>
          <p:cNvSpPr txBox="true"/>
          <p:nvPr/>
        </p:nvSpPr>
        <p:spPr>
          <a:xfrm rot="0">
            <a:off x="10051459" y="3998952"/>
            <a:ext cx="6188815" cy="4243088"/>
          </a:xfrm>
          <a:prstGeom prst="rect">
            <a:avLst/>
          </a:prstGeom>
        </p:spPr>
        <p:txBody>
          <a:bodyPr anchor="t" rtlCol="false" tIns="0" lIns="0" bIns="0" rIns="0">
            <a:spAutoFit/>
          </a:bodyPr>
          <a:lstStyle/>
          <a:p>
            <a:pPr algn="l">
              <a:lnSpc>
                <a:spcPts val="3359"/>
              </a:lnSpc>
            </a:pPr>
            <a:r>
              <a:rPr lang="en-US" sz="2399" spc="134">
                <a:solidFill>
                  <a:srgbClr val="022033"/>
                </a:solidFill>
                <a:latin typeface="Open Sans"/>
                <a:ea typeface="Open Sans"/>
                <a:cs typeface="Open Sans"/>
                <a:sym typeface="Open Sans"/>
              </a:rPr>
              <a:t>Los contenedores comparten el núcleo del sistema operativo, lo que permite ejecutar múltiples aplicaciones en un mismo entorno sin necesidad de varios sistemas operativos completos. </a:t>
            </a:r>
          </a:p>
          <a:p>
            <a:pPr algn="l">
              <a:lnSpc>
                <a:spcPts val="3359"/>
              </a:lnSpc>
            </a:pPr>
          </a:p>
          <a:p>
            <a:pPr algn="l">
              <a:lnSpc>
                <a:spcPts val="3498"/>
              </a:lnSpc>
            </a:pPr>
            <a:r>
              <a:rPr lang="en-US" sz="2499" spc="139">
                <a:solidFill>
                  <a:srgbClr val="022033"/>
                </a:solidFill>
                <a:latin typeface="Open Sans"/>
                <a:ea typeface="Open Sans"/>
                <a:cs typeface="Open Sans"/>
                <a:sym typeface="Open Sans"/>
              </a:rPr>
              <a:t>Esto reduce el uso de recursos y mejora la eficiencia, ya que los contenedores son más ligeros y rápidos de iniciar que las VMs.</a:t>
            </a:r>
          </a:p>
        </p:txBody>
      </p:sp>
      <p:sp>
        <p:nvSpPr>
          <p:cNvPr name="TextBox 11" id="11"/>
          <p:cNvSpPr txBox="true"/>
          <p:nvPr/>
        </p:nvSpPr>
        <p:spPr>
          <a:xfrm rot="0">
            <a:off x="1766061" y="3098889"/>
            <a:ext cx="6752144" cy="373379"/>
          </a:xfrm>
          <a:prstGeom prst="rect">
            <a:avLst/>
          </a:prstGeom>
        </p:spPr>
        <p:txBody>
          <a:bodyPr anchor="t" rtlCol="false" tIns="0" lIns="0" bIns="0" rIns="0">
            <a:spAutoFit/>
          </a:bodyPr>
          <a:lstStyle/>
          <a:p>
            <a:pPr algn="ctr">
              <a:lnSpc>
                <a:spcPts val="2759"/>
              </a:lnSpc>
            </a:pPr>
            <a:r>
              <a:rPr lang="en-US" b="true" sz="2999">
                <a:solidFill>
                  <a:srgbClr val="022033"/>
                </a:solidFill>
                <a:latin typeface="Glacial Indifference Bold"/>
                <a:ea typeface="Glacial Indifference Bold"/>
                <a:cs typeface="Glacial Indifference Bold"/>
                <a:sym typeface="Glacial Indifference Bold"/>
              </a:rPr>
              <a:t>VIRTUALIZACION</a:t>
            </a:r>
          </a:p>
        </p:txBody>
      </p:sp>
      <p:sp>
        <p:nvSpPr>
          <p:cNvPr name="TextBox 12" id="12"/>
          <p:cNvSpPr txBox="true"/>
          <p:nvPr/>
        </p:nvSpPr>
        <p:spPr>
          <a:xfrm rot="0">
            <a:off x="9769795" y="3098889"/>
            <a:ext cx="6752144" cy="373379"/>
          </a:xfrm>
          <a:prstGeom prst="rect">
            <a:avLst/>
          </a:prstGeom>
        </p:spPr>
        <p:txBody>
          <a:bodyPr anchor="t" rtlCol="false" tIns="0" lIns="0" bIns="0" rIns="0">
            <a:spAutoFit/>
          </a:bodyPr>
          <a:lstStyle/>
          <a:p>
            <a:pPr algn="ctr">
              <a:lnSpc>
                <a:spcPts val="2759"/>
              </a:lnSpc>
            </a:pPr>
            <a:r>
              <a:rPr lang="en-US" b="true" sz="2999">
                <a:solidFill>
                  <a:srgbClr val="022033"/>
                </a:solidFill>
                <a:latin typeface="Glacial Indifference Bold"/>
                <a:ea typeface="Glacial Indifference Bold"/>
                <a:cs typeface="Glacial Indifference Bold"/>
                <a:sym typeface="Glacial Indifference Bold"/>
              </a:rPr>
              <a:t>CONTENERIZACIÓN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645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214780" y="1984271"/>
            <a:ext cx="7858440" cy="7858440"/>
          </a:xfrm>
          <a:custGeom>
            <a:avLst/>
            <a:gdLst/>
            <a:ahLst/>
            <a:cxnLst/>
            <a:rect r="r" b="b" t="t" l="l"/>
            <a:pathLst>
              <a:path h="7858440" w="7858440">
                <a:moveTo>
                  <a:pt x="0" y="0"/>
                </a:moveTo>
                <a:lnTo>
                  <a:pt x="7858440" y="0"/>
                </a:lnTo>
                <a:lnTo>
                  <a:pt x="7858440" y="7858440"/>
                </a:lnTo>
                <a:lnTo>
                  <a:pt x="0" y="7858440"/>
                </a:lnTo>
                <a:lnTo>
                  <a:pt x="0" y="0"/>
                </a:lnTo>
                <a:close/>
              </a:path>
            </a:pathLst>
          </a:custGeom>
          <a:blipFill>
            <a:blip r:embed="rId6"/>
            <a:stretch>
              <a:fillRect l="0" t="0" r="0" b="0"/>
            </a:stretch>
          </a:blipFill>
        </p:spPr>
      </p:sp>
      <p:sp>
        <p:nvSpPr>
          <p:cNvPr name="TextBox 5" id="5"/>
          <p:cNvSpPr txBox="true"/>
          <p:nvPr/>
        </p:nvSpPr>
        <p:spPr>
          <a:xfrm rot="0">
            <a:off x="3440535" y="1330022"/>
            <a:ext cx="11406929" cy="425704"/>
          </a:xfrm>
          <a:prstGeom prst="rect">
            <a:avLst/>
          </a:prstGeom>
        </p:spPr>
        <p:txBody>
          <a:bodyPr anchor="t" rtlCol="false" tIns="0" lIns="0" bIns="0" rIns="0">
            <a:spAutoFit/>
          </a:bodyPr>
          <a:lstStyle/>
          <a:p>
            <a:pPr algn="ctr">
              <a:lnSpc>
                <a:spcPts val="3127"/>
              </a:lnSpc>
            </a:pPr>
            <a:r>
              <a:rPr lang="en-US" sz="3399">
                <a:solidFill>
                  <a:srgbClr val="022033"/>
                </a:solidFill>
                <a:latin typeface="Glacial Indifference"/>
                <a:ea typeface="Glacial Indifference"/>
                <a:cs typeface="Glacial Indifference"/>
                <a:sym typeface="Glacial Indifference"/>
              </a:rPr>
              <a:t>DIFERENCIA ENTRE CONTENERIZACION Y VIRTUALIZACIÓN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645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773402" y="2475605"/>
            <a:ext cx="10741196" cy="7156322"/>
          </a:xfrm>
          <a:custGeom>
            <a:avLst/>
            <a:gdLst/>
            <a:ahLst/>
            <a:cxnLst/>
            <a:rect r="r" b="b" t="t" l="l"/>
            <a:pathLst>
              <a:path h="7156322" w="10741196">
                <a:moveTo>
                  <a:pt x="0" y="0"/>
                </a:moveTo>
                <a:lnTo>
                  <a:pt x="10741196" y="0"/>
                </a:lnTo>
                <a:lnTo>
                  <a:pt x="10741196" y="7156322"/>
                </a:lnTo>
                <a:lnTo>
                  <a:pt x="0" y="7156322"/>
                </a:lnTo>
                <a:lnTo>
                  <a:pt x="0" y="0"/>
                </a:lnTo>
                <a:close/>
              </a:path>
            </a:pathLst>
          </a:custGeom>
          <a:blipFill>
            <a:blip r:embed="rId6"/>
            <a:stretch>
              <a:fillRect l="0" t="0" r="0" b="0"/>
            </a:stretch>
          </a:blipFill>
        </p:spPr>
      </p:sp>
      <p:sp>
        <p:nvSpPr>
          <p:cNvPr name="TextBox 5" id="5"/>
          <p:cNvSpPr txBox="true"/>
          <p:nvPr/>
        </p:nvSpPr>
        <p:spPr>
          <a:xfrm rot="0">
            <a:off x="3440535" y="1413218"/>
            <a:ext cx="11406929" cy="425704"/>
          </a:xfrm>
          <a:prstGeom prst="rect">
            <a:avLst/>
          </a:prstGeom>
        </p:spPr>
        <p:txBody>
          <a:bodyPr anchor="t" rtlCol="false" tIns="0" lIns="0" bIns="0" rIns="0">
            <a:spAutoFit/>
          </a:bodyPr>
          <a:lstStyle/>
          <a:p>
            <a:pPr algn="ctr">
              <a:lnSpc>
                <a:spcPts val="3127"/>
              </a:lnSpc>
            </a:pPr>
            <a:r>
              <a:rPr lang="en-US" sz="3399">
                <a:solidFill>
                  <a:srgbClr val="022033"/>
                </a:solidFill>
                <a:latin typeface="Glacial Indifference"/>
                <a:ea typeface="Glacial Indifference"/>
                <a:cs typeface="Glacial Indifference"/>
                <a:sym typeface="Glacial Indifference"/>
              </a:rPr>
              <a:t>DIFERENCIA ENTRE CONTENERIZACION Y VIRTUALIZACIÓN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28750" y="2676153"/>
            <a:ext cx="7315200" cy="1928553"/>
          </a:xfrm>
          <a:custGeom>
            <a:avLst/>
            <a:gdLst/>
            <a:ahLst/>
            <a:cxnLst/>
            <a:rect r="r" b="b" t="t" l="l"/>
            <a:pathLst>
              <a:path h="1928553" w="7315200">
                <a:moveTo>
                  <a:pt x="0" y="0"/>
                </a:moveTo>
                <a:lnTo>
                  <a:pt x="7315200" y="0"/>
                </a:lnTo>
                <a:lnTo>
                  <a:pt x="7315200" y="1928553"/>
                </a:lnTo>
                <a:lnTo>
                  <a:pt x="0" y="19285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544050" y="2674348"/>
            <a:ext cx="7315200" cy="1928553"/>
          </a:xfrm>
          <a:custGeom>
            <a:avLst/>
            <a:gdLst/>
            <a:ahLst/>
            <a:cxnLst/>
            <a:rect r="r" b="b" t="t" l="l"/>
            <a:pathLst>
              <a:path h="1928553" w="7315200">
                <a:moveTo>
                  <a:pt x="0" y="0"/>
                </a:moveTo>
                <a:lnTo>
                  <a:pt x="7315200" y="0"/>
                </a:lnTo>
                <a:lnTo>
                  <a:pt x="7315200" y="1928552"/>
                </a:lnTo>
                <a:lnTo>
                  <a:pt x="0" y="19285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8750" y="5001145"/>
            <a:ext cx="7315200" cy="1928553"/>
          </a:xfrm>
          <a:custGeom>
            <a:avLst/>
            <a:gdLst/>
            <a:ahLst/>
            <a:cxnLst/>
            <a:rect r="r" b="b" t="t" l="l"/>
            <a:pathLst>
              <a:path h="1928553" w="7315200">
                <a:moveTo>
                  <a:pt x="0" y="0"/>
                </a:moveTo>
                <a:lnTo>
                  <a:pt x="7315200" y="0"/>
                </a:lnTo>
                <a:lnTo>
                  <a:pt x="7315200" y="1928552"/>
                </a:lnTo>
                <a:lnTo>
                  <a:pt x="0" y="1928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9544050" y="4999339"/>
            <a:ext cx="7315200" cy="1928553"/>
          </a:xfrm>
          <a:custGeom>
            <a:avLst/>
            <a:gdLst/>
            <a:ahLst/>
            <a:cxnLst/>
            <a:rect r="r" b="b" t="t" l="l"/>
            <a:pathLst>
              <a:path h="1928553" w="7315200">
                <a:moveTo>
                  <a:pt x="0" y="0"/>
                </a:moveTo>
                <a:lnTo>
                  <a:pt x="7315200" y="0"/>
                </a:lnTo>
                <a:lnTo>
                  <a:pt x="7315200" y="1928553"/>
                </a:lnTo>
                <a:lnTo>
                  <a:pt x="0" y="19285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428750" y="7329747"/>
            <a:ext cx="7315200" cy="1928553"/>
          </a:xfrm>
          <a:custGeom>
            <a:avLst/>
            <a:gdLst/>
            <a:ahLst/>
            <a:cxnLst/>
            <a:rect r="r" b="b" t="t" l="l"/>
            <a:pathLst>
              <a:path h="1928553" w="7315200">
                <a:moveTo>
                  <a:pt x="0" y="0"/>
                </a:moveTo>
                <a:lnTo>
                  <a:pt x="7315200" y="0"/>
                </a:lnTo>
                <a:lnTo>
                  <a:pt x="7315200" y="1928553"/>
                </a:lnTo>
                <a:lnTo>
                  <a:pt x="0" y="19285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544050" y="7327942"/>
            <a:ext cx="7315200" cy="1928553"/>
          </a:xfrm>
          <a:custGeom>
            <a:avLst/>
            <a:gdLst/>
            <a:ahLst/>
            <a:cxnLst/>
            <a:rect r="r" b="b" t="t" l="l"/>
            <a:pathLst>
              <a:path h="1928553" w="7315200">
                <a:moveTo>
                  <a:pt x="0" y="0"/>
                </a:moveTo>
                <a:lnTo>
                  <a:pt x="7315200" y="0"/>
                </a:lnTo>
                <a:lnTo>
                  <a:pt x="7315200" y="1928552"/>
                </a:lnTo>
                <a:lnTo>
                  <a:pt x="0" y="1928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374320" y="872853"/>
            <a:ext cx="11539359" cy="877570"/>
          </a:xfrm>
          <a:prstGeom prst="rect">
            <a:avLst/>
          </a:prstGeom>
        </p:spPr>
        <p:txBody>
          <a:bodyPr anchor="t" rtlCol="false" tIns="0" lIns="0" bIns="0" rIns="0">
            <a:spAutoFit/>
          </a:bodyPr>
          <a:lstStyle/>
          <a:p>
            <a:pPr algn="ctr">
              <a:lnSpc>
                <a:spcPts val="6439"/>
              </a:lnSpc>
            </a:pPr>
            <a:r>
              <a:rPr lang="en-US" sz="6999">
                <a:solidFill>
                  <a:srgbClr val="022033"/>
                </a:solidFill>
                <a:latin typeface="Glacial Indifference"/>
                <a:ea typeface="Glacial Indifference"/>
                <a:cs typeface="Glacial Indifference"/>
                <a:sym typeface="Glacial Indifference"/>
              </a:rPr>
              <a:t>¿PORQUÉ UTILIZAR DOCKER?</a:t>
            </a:r>
          </a:p>
        </p:txBody>
      </p:sp>
      <p:sp>
        <p:nvSpPr>
          <p:cNvPr name="TextBox 9" id="9"/>
          <p:cNvSpPr txBox="true"/>
          <p:nvPr/>
        </p:nvSpPr>
        <p:spPr>
          <a:xfrm rot="0">
            <a:off x="3609444" y="2919655"/>
            <a:ext cx="2953812"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PORTABILIDAD</a:t>
            </a:r>
          </a:p>
        </p:txBody>
      </p:sp>
      <p:sp>
        <p:nvSpPr>
          <p:cNvPr name="TextBox 10" id="10"/>
          <p:cNvSpPr txBox="true"/>
          <p:nvPr/>
        </p:nvSpPr>
        <p:spPr>
          <a:xfrm rot="0">
            <a:off x="11193450" y="7566067"/>
            <a:ext cx="4016399"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DESARROLLO ÁGIL</a:t>
            </a:r>
          </a:p>
        </p:txBody>
      </p:sp>
      <p:sp>
        <p:nvSpPr>
          <p:cNvPr name="TextBox 11" id="11"/>
          <p:cNvSpPr txBox="true"/>
          <p:nvPr/>
        </p:nvSpPr>
        <p:spPr>
          <a:xfrm rot="0">
            <a:off x="11547646" y="2924216"/>
            <a:ext cx="3308008"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ESCALABILIDAD</a:t>
            </a:r>
          </a:p>
        </p:txBody>
      </p:sp>
      <p:sp>
        <p:nvSpPr>
          <p:cNvPr name="TextBox 12" id="12"/>
          <p:cNvSpPr txBox="true"/>
          <p:nvPr/>
        </p:nvSpPr>
        <p:spPr>
          <a:xfrm rot="0">
            <a:off x="10515859" y="5241075"/>
            <a:ext cx="5666777"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VELOCIDAD DE DESPLIEGUE</a:t>
            </a:r>
          </a:p>
        </p:txBody>
      </p:sp>
      <p:sp>
        <p:nvSpPr>
          <p:cNvPr name="TextBox 13" id="13"/>
          <p:cNvSpPr txBox="true"/>
          <p:nvPr/>
        </p:nvSpPr>
        <p:spPr>
          <a:xfrm rot="0">
            <a:off x="2423658" y="5241075"/>
            <a:ext cx="5325383"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EFICIENCIA DE RECURSOS</a:t>
            </a:r>
          </a:p>
        </p:txBody>
      </p:sp>
      <p:sp>
        <p:nvSpPr>
          <p:cNvPr name="TextBox 14" id="14"/>
          <p:cNvSpPr txBox="true"/>
          <p:nvPr/>
        </p:nvSpPr>
        <p:spPr>
          <a:xfrm rot="0">
            <a:off x="2105364" y="7612344"/>
            <a:ext cx="5961972" cy="317500"/>
          </a:xfrm>
          <a:prstGeom prst="rect">
            <a:avLst/>
          </a:prstGeom>
        </p:spPr>
        <p:txBody>
          <a:bodyPr anchor="t" rtlCol="false" tIns="0" lIns="0" bIns="0" rIns="0">
            <a:spAutoFit/>
          </a:bodyPr>
          <a:lstStyle/>
          <a:p>
            <a:pPr algn="ctr">
              <a:lnSpc>
                <a:spcPts val="2299"/>
              </a:lnSpc>
            </a:pPr>
            <a:r>
              <a:rPr lang="en-US" sz="2499" spc="139">
                <a:solidFill>
                  <a:srgbClr val="022033"/>
                </a:solidFill>
                <a:latin typeface="Tenor Sans"/>
                <a:ea typeface="Tenor Sans"/>
                <a:cs typeface="Tenor Sans"/>
                <a:sym typeface="Tenor Sans"/>
              </a:rPr>
              <a:t>VELOCIDAD DE DESPLIEGUE</a:t>
            </a:r>
          </a:p>
        </p:txBody>
      </p:sp>
      <p:sp>
        <p:nvSpPr>
          <p:cNvPr name="TextBox 15" id="15"/>
          <p:cNvSpPr txBox="true"/>
          <p:nvPr/>
        </p:nvSpPr>
        <p:spPr>
          <a:xfrm rot="0">
            <a:off x="2105364" y="3230863"/>
            <a:ext cx="5961972" cy="1332865"/>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Los contenedores de Docker pueden ejecutarse de manera uniforme en cualquier entorno, ya sea de desarrollo, pruebas o producción.</a:t>
            </a:r>
          </a:p>
        </p:txBody>
      </p:sp>
      <p:sp>
        <p:nvSpPr>
          <p:cNvPr name="TextBox 16" id="16"/>
          <p:cNvSpPr txBox="true"/>
          <p:nvPr/>
        </p:nvSpPr>
        <p:spPr>
          <a:xfrm rot="0">
            <a:off x="10220664" y="7835941"/>
            <a:ext cx="5961972" cy="1332865"/>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Docker permite a los equipos de desarrollo trabajar en entornos consistentes y paralelos, lo cual acelera el ciclo de vida de desarrollo y despliegue de aplicaciones.</a:t>
            </a:r>
          </a:p>
        </p:txBody>
      </p:sp>
      <p:sp>
        <p:nvSpPr>
          <p:cNvPr name="TextBox 17" id="17"/>
          <p:cNvSpPr txBox="true"/>
          <p:nvPr/>
        </p:nvSpPr>
        <p:spPr>
          <a:xfrm rot="0">
            <a:off x="10220664" y="3230863"/>
            <a:ext cx="5961972" cy="999490"/>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Facilita la ampliación de servicios y aplicaciones al poder replicar contenedores de manera rápida.</a:t>
            </a:r>
          </a:p>
        </p:txBody>
      </p:sp>
      <p:sp>
        <p:nvSpPr>
          <p:cNvPr name="TextBox 18" id="18"/>
          <p:cNvSpPr txBox="true"/>
          <p:nvPr/>
        </p:nvSpPr>
        <p:spPr>
          <a:xfrm rot="0">
            <a:off x="10220664" y="5547703"/>
            <a:ext cx="5961972" cy="666115"/>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Los contenedores se inician rápidamente en comparación con las máquinas virtuales.</a:t>
            </a:r>
          </a:p>
        </p:txBody>
      </p:sp>
      <p:sp>
        <p:nvSpPr>
          <p:cNvPr name="TextBox 19" id="19"/>
          <p:cNvSpPr txBox="true"/>
          <p:nvPr/>
        </p:nvSpPr>
        <p:spPr>
          <a:xfrm rot="0">
            <a:off x="2105364" y="5481006"/>
            <a:ext cx="5961972" cy="1332865"/>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Los contenedores comparten el sistema operativo, lo que reduce el consumo de recursos y permite mayor densidad de aplicaciones en un mismo servidor.</a:t>
            </a:r>
          </a:p>
        </p:txBody>
      </p:sp>
      <p:sp>
        <p:nvSpPr>
          <p:cNvPr name="TextBox 20" id="20"/>
          <p:cNvSpPr txBox="true"/>
          <p:nvPr/>
        </p:nvSpPr>
        <p:spPr>
          <a:xfrm rot="0">
            <a:off x="2105364" y="7882219"/>
            <a:ext cx="5961972" cy="666115"/>
          </a:xfrm>
          <a:prstGeom prst="rect">
            <a:avLst/>
          </a:prstGeom>
        </p:spPr>
        <p:txBody>
          <a:bodyPr anchor="t" rtlCol="false" tIns="0" lIns="0" bIns="0" rIns="0">
            <a:spAutoFit/>
          </a:bodyPr>
          <a:lstStyle/>
          <a:p>
            <a:pPr algn="ctr">
              <a:lnSpc>
                <a:spcPts val="2659"/>
              </a:lnSpc>
              <a:spcBef>
                <a:spcPct val="0"/>
              </a:spcBef>
            </a:pPr>
            <a:r>
              <a:rPr lang="en-US" sz="1899" spc="106">
                <a:solidFill>
                  <a:srgbClr val="022033"/>
                </a:solidFill>
                <a:latin typeface="Tenor Sans"/>
                <a:ea typeface="Tenor Sans"/>
                <a:cs typeface="Tenor Sans"/>
                <a:sym typeface="Tenor Sans"/>
              </a:rPr>
              <a:t>Los ocntenedores se inician rápidamente en comparación con las máquinas virtuales.</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207441" y="4340790"/>
            <a:ext cx="3873118" cy="4766697"/>
            <a:chOff x="0" y="0"/>
            <a:chExt cx="1020080" cy="1255426"/>
          </a:xfrm>
        </p:grpSpPr>
        <p:sp>
          <p:nvSpPr>
            <p:cNvPr name="Freeform 3" id="3"/>
            <p:cNvSpPr/>
            <p:nvPr/>
          </p:nvSpPr>
          <p:spPr>
            <a:xfrm flipH="false" flipV="false" rot="0">
              <a:off x="0" y="0"/>
              <a:ext cx="1020080" cy="1255426"/>
            </a:xfrm>
            <a:custGeom>
              <a:avLst/>
              <a:gdLst/>
              <a:ahLst/>
              <a:cxnLst/>
              <a:rect r="r" b="b" t="t" l="l"/>
              <a:pathLst>
                <a:path h="1255426" w="1020080">
                  <a:moveTo>
                    <a:pt x="101943" y="0"/>
                  </a:moveTo>
                  <a:lnTo>
                    <a:pt x="918137" y="0"/>
                  </a:lnTo>
                  <a:cubicBezTo>
                    <a:pt x="974439" y="0"/>
                    <a:pt x="1020080" y="45642"/>
                    <a:pt x="1020080" y="101943"/>
                  </a:cubicBezTo>
                  <a:lnTo>
                    <a:pt x="1020080" y="1153483"/>
                  </a:lnTo>
                  <a:cubicBezTo>
                    <a:pt x="1020080" y="1180520"/>
                    <a:pt x="1009340" y="1206450"/>
                    <a:pt x="990222" y="1225568"/>
                  </a:cubicBezTo>
                  <a:cubicBezTo>
                    <a:pt x="971104" y="1244686"/>
                    <a:pt x="945174" y="1255426"/>
                    <a:pt x="918137" y="1255426"/>
                  </a:cubicBezTo>
                  <a:lnTo>
                    <a:pt x="101943" y="1255426"/>
                  </a:lnTo>
                  <a:cubicBezTo>
                    <a:pt x="74906" y="1255426"/>
                    <a:pt x="48977" y="1244686"/>
                    <a:pt x="29858" y="1225568"/>
                  </a:cubicBezTo>
                  <a:cubicBezTo>
                    <a:pt x="10740" y="1206450"/>
                    <a:pt x="0" y="1180520"/>
                    <a:pt x="0" y="1153483"/>
                  </a:cubicBezTo>
                  <a:lnTo>
                    <a:pt x="0" y="101943"/>
                  </a:lnTo>
                  <a:cubicBezTo>
                    <a:pt x="0" y="74906"/>
                    <a:pt x="10740" y="48977"/>
                    <a:pt x="29858" y="29858"/>
                  </a:cubicBezTo>
                  <a:cubicBezTo>
                    <a:pt x="48977" y="10740"/>
                    <a:pt x="74906" y="0"/>
                    <a:pt x="101943" y="0"/>
                  </a:cubicBezTo>
                  <a:close/>
                </a:path>
              </a:pathLst>
            </a:custGeom>
            <a:solidFill>
              <a:srgbClr val="BFD1E1"/>
            </a:solidFill>
          </p:spPr>
        </p:sp>
        <p:sp>
          <p:nvSpPr>
            <p:cNvPr name="TextBox 4" id="4"/>
            <p:cNvSpPr txBox="true"/>
            <p:nvPr/>
          </p:nvSpPr>
          <p:spPr>
            <a:xfrm>
              <a:off x="0" y="-38100"/>
              <a:ext cx="1020080" cy="1293526"/>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7458807" y="5972840"/>
            <a:ext cx="3370385" cy="2806700"/>
          </a:xfrm>
          <a:prstGeom prst="rect">
            <a:avLst/>
          </a:prstGeom>
        </p:spPr>
        <p:txBody>
          <a:bodyPr anchor="t" rtlCol="false" tIns="0" lIns="0" bIns="0" rIns="0">
            <a:spAutoFit/>
          </a:bodyPr>
          <a:lstStyle/>
          <a:p>
            <a:pPr algn="ctr">
              <a:lnSpc>
                <a:spcPts val="2799"/>
              </a:lnSpc>
              <a:spcBef>
                <a:spcPct val="0"/>
              </a:spcBef>
            </a:pPr>
            <a:r>
              <a:rPr lang="en-US" sz="1999" spc="111">
                <a:solidFill>
                  <a:srgbClr val="022033"/>
                </a:solidFill>
                <a:latin typeface="Open Sans"/>
                <a:ea typeface="Open Sans"/>
                <a:cs typeface="Open Sans"/>
                <a:sym typeface="Open Sans"/>
              </a:rPr>
              <a:t>Proporciona Google Kubernetes Engine (GKE) para la gestión de contenedores con Kubernetes, facilitando la orquestación de aplicaciones a gran escala.</a:t>
            </a:r>
          </a:p>
        </p:txBody>
      </p:sp>
      <p:grpSp>
        <p:nvGrpSpPr>
          <p:cNvPr name="Group 6" id="6"/>
          <p:cNvGrpSpPr/>
          <p:nvPr/>
        </p:nvGrpSpPr>
        <p:grpSpPr>
          <a:xfrm rot="0">
            <a:off x="1655831" y="3336531"/>
            <a:ext cx="3873118" cy="4761228"/>
            <a:chOff x="0" y="0"/>
            <a:chExt cx="1020080" cy="1253986"/>
          </a:xfrm>
        </p:grpSpPr>
        <p:sp>
          <p:nvSpPr>
            <p:cNvPr name="Freeform 7" id="7"/>
            <p:cNvSpPr/>
            <p:nvPr/>
          </p:nvSpPr>
          <p:spPr>
            <a:xfrm flipH="false" flipV="false" rot="0">
              <a:off x="0" y="0"/>
              <a:ext cx="1020080" cy="1253986"/>
            </a:xfrm>
            <a:custGeom>
              <a:avLst/>
              <a:gdLst/>
              <a:ahLst/>
              <a:cxnLst/>
              <a:rect r="r" b="b" t="t" l="l"/>
              <a:pathLst>
                <a:path h="1253986" w="1020080">
                  <a:moveTo>
                    <a:pt x="101943" y="0"/>
                  </a:moveTo>
                  <a:lnTo>
                    <a:pt x="918137" y="0"/>
                  </a:lnTo>
                  <a:cubicBezTo>
                    <a:pt x="974439" y="0"/>
                    <a:pt x="1020080" y="45642"/>
                    <a:pt x="1020080" y="101943"/>
                  </a:cubicBezTo>
                  <a:lnTo>
                    <a:pt x="1020080" y="1152043"/>
                  </a:lnTo>
                  <a:cubicBezTo>
                    <a:pt x="1020080" y="1179080"/>
                    <a:pt x="1009340" y="1205009"/>
                    <a:pt x="990222" y="1224128"/>
                  </a:cubicBezTo>
                  <a:cubicBezTo>
                    <a:pt x="971104" y="1243246"/>
                    <a:pt x="945174" y="1253986"/>
                    <a:pt x="918137" y="1253986"/>
                  </a:cubicBezTo>
                  <a:lnTo>
                    <a:pt x="101943" y="1253986"/>
                  </a:lnTo>
                  <a:cubicBezTo>
                    <a:pt x="74906" y="1253986"/>
                    <a:pt x="48977" y="1243246"/>
                    <a:pt x="29858" y="1224128"/>
                  </a:cubicBezTo>
                  <a:cubicBezTo>
                    <a:pt x="10740" y="1205009"/>
                    <a:pt x="0" y="1179080"/>
                    <a:pt x="0" y="1152043"/>
                  </a:cubicBezTo>
                  <a:lnTo>
                    <a:pt x="0" y="101943"/>
                  </a:lnTo>
                  <a:cubicBezTo>
                    <a:pt x="0" y="74906"/>
                    <a:pt x="10740" y="48977"/>
                    <a:pt x="29858" y="29858"/>
                  </a:cubicBezTo>
                  <a:cubicBezTo>
                    <a:pt x="48977" y="10740"/>
                    <a:pt x="74906" y="0"/>
                    <a:pt x="101943" y="0"/>
                  </a:cubicBezTo>
                  <a:close/>
                </a:path>
              </a:pathLst>
            </a:custGeom>
            <a:solidFill>
              <a:srgbClr val="96B5D3"/>
            </a:solidFill>
          </p:spPr>
        </p:sp>
        <p:sp>
          <p:nvSpPr>
            <p:cNvPr name="TextBox 8" id="8"/>
            <p:cNvSpPr txBox="true"/>
            <p:nvPr/>
          </p:nvSpPr>
          <p:spPr>
            <a:xfrm>
              <a:off x="0" y="-38100"/>
              <a:ext cx="1020080" cy="1292086"/>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2407706" y="1207485"/>
            <a:ext cx="10423425" cy="1687195"/>
          </a:xfrm>
          <a:prstGeom prst="rect">
            <a:avLst/>
          </a:prstGeom>
        </p:spPr>
        <p:txBody>
          <a:bodyPr anchor="t" rtlCol="false" tIns="0" lIns="0" bIns="0" rIns="0">
            <a:spAutoFit/>
          </a:bodyPr>
          <a:lstStyle/>
          <a:p>
            <a:pPr algn="ctr">
              <a:lnSpc>
                <a:spcPts val="6439"/>
              </a:lnSpc>
            </a:pPr>
            <a:r>
              <a:rPr lang="en-US" sz="6999">
                <a:solidFill>
                  <a:srgbClr val="022033"/>
                </a:solidFill>
                <a:latin typeface="Glacial Indifference"/>
                <a:ea typeface="Glacial Indifference"/>
                <a:cs typeface="Glacial Indifference"/>
                <a:sym typeface="Glacial Indifference"/>
              </a:rPr>
              <a:t>OPCIONES DE LA NUBE PARA EL USO DE DOCKER</a:t>
            </a:r>
          </a:p>
        </p:txBody>
      </p:sp>
      <p:sp>
        <p:nvSpPr>
          <p:cNvPr name="TextBox 10" id="10"/>
          <p:cNvSpPr txBox="true"/>
          <p:nvPr/>
        </p:nvSpPr>
        <p:spPr>
          <a:xfrm rot="0">
            <a:off x="2284640" y="3649686"/>
            <a:ext cx="2615500" cy="860425"/>
          </a:xfrm>
          <a:prstGeom prst="rect">
            <a:avLst/>
          </a:prstGeom>
        </p:spPr>
        <p:txBody>
          <a:bodyPr anchor="t" rtlCol="false" tIns="0" lIns="0" bIns="0" rIns="0">
            <a:spAutoFit/>
          </a:bodyPr>
          <a:lstStyle/>
          <a:p>
            <a:pPr algn="ctr">
              <a:lnSpc>
                <a:spcPts val="3499"/>
              </a:lnSpc>
              <a:spcBef>
                <a:spcPct val="0"/>
              </a:spcBef>
            </a:pPr>
            <a:r>
              <a:rPr lang="en-US" b="true" sz="2499" spc="139">
                <a:solidFill>
                  <a:srgbClr val="022033"/>
                </a:solidFill>
                <a:latin typeface="Open Sans Bold"/>
                <a:ea typeface="Open Sans Bold"/>
                <a:cs typeface="Open Sans Bold"/>
                <a:sym typeface="Open Sans Bold"/>
              </a:rPr>
              <a:t>AMAZON WEB SERVICES</a:t>
            </a:r>
          </a:p>
        </p:txBody>
      </p:sp>
      <p:sp>
        <p:nvSpPr>
          <p:cNvPr name="TextBox 11" id="11"/>
          <p:cNvSpPr txBox="true"/>
          <p:nvPr/>
        </p:nvSpPr>
        <p:spPr>
          <a:xfrm rot="0">
            <a:off x="7836250" y="4545678"/>
            <a:ext cx="2615500" cy="1298575"/>
          </a:xfrm>
          <a:prstGeom prst="rect">
            <a:avLst/>
          </a:prstGeom>
        </p:spPr>
        <p:txBody>
          <a:bodyPr anchor="t" rtlCol="false" tIns="0" lIns="0" bIns="0" rIns="0">
            <a:spAutoFit/>
          </a:bodyPr>
          <a:lstStyle/>
          <a:p>
            <a:pPr algn="ctr">
              <a:lnSpc>
                <a:spcPts val="3499"/>
              </a:lnSpc>
              <a:spcBef>
                <a:spcPct val="0"/>
              </a:spcBef>
            </a:pPr>
            <a:r>
              <a:rPr lang="en-US" b="true" sz="2499" spc="139">
                <a:solidFill>
                  <a:srgbClr val="022033"/>
                </a:solidFill>
                <a:latin typeface="Open Sans Bold"/>
                <a:ea typeface="Open Sans Bold"/>
                <a:cs typeface="Open Sans Bold"/>
                <a:sym typeface="Open Sans Bold"/>
              </a:rPr>
              <a:t>GOOGLE CLOUD PLATFORM</a:t>
            </a:r>
          </a:p>
        </p:txBody>
      </p:sp>
      <p:grpSp>
        <p:nvGrpSpPr>
          <p:cNvPr name="Group 12" id="12"/>
          <p:cNvGrpSpPr/>
          <p:nvPr/>
        </p:nvGrpSpPr>
        <p:grpSpPr>
          <a:xfrm rot="0">
            <a:off x="12647887" y="3336531"/>
            <a:ext cx="3873118" cy="4761228"/>
            <a:chOff x="0" y="0"/>
            <a:chExt cx="1020080" cy="1253986"/>
          </a:xfrm>
        </p:grpSpPr>
        <p:sp>
          <p:nvSpPr>
            <p:cNvPr name="Freeform 13" id="13"/>
            <p:cNvSpPr/>
            <p:nvPr/>
          </p:nvSpPr>
          <p:spPr>
            <a:xfrm flipH="false" flipV="false" rot="0">
              <a:off x="0" y="0"/>
              <a:ext cx="1020080" cy="1253986"/>
            </a:xfrm>
            <a:custGeom>
              <a:avLst/>
              <a:gdLst/>
              <a:ahLst/>
              <a:cxnLst/>
              <a:rect r="r" b="b" t="t" l="l"/>
              <a:pathLst>
                <a:path h="1253986" w="1020080">
                  <a:moveTo>
                    <a:pt x="101943" y="0"/>
                  </a:moveTo>
                  <a:lnTo>
                    <a:pt x="918137" y="0"/>
                  </a:lnTo>
                  <a:cubicBezTo>
                    <a:pt x="974439" y="0"/>
                    <a:pt x="1020080" y="45642"/>
                    <a:pt x="1020080" y="101943"/>
                  </a:cubicBezTo>
                  <a:lnTo>
                    <a:pt x="1020080" y="1152043"/>
                  </a:lnTo>
                  <a:cubicBezTo>
                    <a:pt x="1020080" y="1179080"/>
                    <a:pt x="1009340" y="1205009"/>
                    <a:pt x="990222" y="1224128"/>
                  </a:cubicBezTo>
                  <a:cubicBezTo>
                    <a:pt x="971104" y="1243246"/>
                    <a:pt x="945174" y="1253986"/>
                    <a:pt x="918137" y="1253986"/>
                  </a:cubicBezTo>
                  <a:lnTo>
                    <a:pt x="101943" y="1253986"/>
                  </a:lnTo>
                  <a:cubicBezTo>
                    <a:pt x="74906" y="1253986"/>
                    <a:pt x="48977" y="1243246"/>
                    <a:pt x="29858" y="1224128"/>
                  </a:cubicBezTo>
                  <a:cubicBezTo>
                    <a:pt x="10740" y="1205009"/>
                    <a:pt x="0" y="1179080"/>
                    <a:pt x="0" y="1152043"/>
                  </a:cubicBezTo>
                  <a:lnTo>
                    <a:pt x="0" y="101943"/>
                  </a:lnTo>
                  <a:cubicBezTo>
                    <a:pt x="0" y="74906"/>
                    <a:pt x="10740" y="48977"/>
                    <a:pt x="29858" y="29858"/>
                  </a:cubicBezTo>
                  <a:cubicBezTo>
                    <a:pt x="48977" y="10740"/>
                    <a:pt x="74906" y="0"/>
                    <a:pt x="101943" y="0"/>
                  </a:cubicBezTo>
                  <a:close/>
                </a:path>
              </a:pathLst>
            </a:custGeom>
            <a:solidFill>
              <a:srgbClr val="F3E780"/>
            </a:solidFill>
          </p:spPr>
        </p:sp>
        <p:sp>
          <p:nvSpPr>
            <p:cNvPr name="TextBox 14" id="14"/>
            <p:cNvSpPr txBox="true"/>
            <p:nvPr/>
          </p:nvSpPr>
          <p:spPr>
            <a:xfrm>
              <a:off x="0" y="-38100"/>
              <a:ext cx="1020080" cy="1292086"/>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2847635" y="3533481"/>
            <a:ext cx="3473621" cy="976630"/>
          </a:xfrm>
          <a:prstGeom prst="rect">
            <a:avLst/>
          </a:prstGeom>
        </p:spPr>
        <p:txBody>
          <a:bodyPr anchor="t" rtlCol="false" tIns="0" lIns="0" bIns="0" rIns="0">
            <a:spAutoFit/>
          </a:bodyPr>
          <a:lstStyle/>
          <a:p>
            <a:pPr algn="ctr">
              <a:lnSpc>
                <a:spcPts val="3920"/>
              </a:lnSpc>
              <a:spcBef>
                <a:spcPct val="0"/>
              </a:spcBef>
            </a:pPr>
            <a:r>
              <a:rPr lang="en-US" b="true" sz="2800" spc="156">
                <a:solidFill>
                  <a:srgbClr val="022033"/>
                </a:solidFill>
                <a:latin typeface="Open Sans Bold"/>
                <a:ea typeface="Open Sans Bold"/>
                <a:cs typeface="Open Sans Bold"/>
                <a:sym typeface="Open Sans Bold"/>
              </a:rPr>
              <a:t>MICROSOFT AZURE</a:t>
            </a:r>
          </a:p>
        </p:txBody>
      </p:sp>
      <p:sp>
        <p:nvSpPr>
          <p:cNvPr name="TextBox 16" id="16"/>
          <p:cNvSpPr txBox="true"/>
          <p:nvPr/>
        </p:nvSpPr>
        <p:spPr>
          <a:xfrm rot="0">
            <a:off x="1907197" y="4663470"/>
            <a:ext cx="3370385" cy="2806700"/>
          </a:xfrm>
          <a:prstGeom prst="rect">
            <a:avLst/>
          </a:prstGeom>
        </p:spPr>
        <p:txBody>
          <a:bodyPr anchor="t" rtlCol="false" tIns="0" lIns="0" bIns="0" rIns="0">
            <a:spAutoFit/>
          </a:bodyPr>
          <a:lstStyle/>
          <a:p>
            <a:pPr algn="ctr">
              <a:lnSpc>
                <a:spcPts val="2799"/>
              </a:lnSpc>
              <a:spcBef>
                <a:spcPct val="0"/>
              </a:spcBef>
            </a:pPr>
            <a:r>
              <a:rPr lang="en-US" sz="1999" spc="111">
                <a:solidFill>
                  <a:srgbClr val="022033"/>
                </a:solidFill>
                <a:latin typeface="Open Sans"/>
                <a:ea typeface="Open Sans"/>
                <a:cs typeface="Open Sans"/>
                <a:sym typeface="Open Sans"/>
              </a:rPr>
              <a:t>Ofrece Amazon ECS (Elastic Container Service) y Amazon EKS (Elastic Kubernetes Service), ambos servicios especializados en la gestión de contenedores Docker.</a:t>
            </a:r>
          </a:p>
        </p:txBody>
      </p:sp>
      <p:sp>
        <p:nvSpPr>
          <p:cNvPr name="TextBox 17" id="17"/>
          <p:cNvSpPr txBox="true"/>
          <p:nvPr/>
        </p:nvSpPr>
        <p:spPr>
          <a:xfrm rot="0">
            <a:off x="12899254" y="4663470"/>
            <a:ext cx="3370385" cy="2454275"/>
          </a:xfrm>
          <a:prstGeom prst="rect">
            <a:avLst/>
          </a:prstGeom>
        </p:spPr>
        <p:txBody>
          <a:bodyPr anchor="t" rtlCol="false" tIns="0" lIns="0" bIns="0" rIns="0">
            <a:spAutoFit/>
          </a:bodyPr>
          <a:lstStyle/>
          <a:p>
            <a:pPr algn="ctr">
              <a:lnSpc>
                <a:spcPts val="2799"/>
              </a:lnSpc>
              <a:spcBef>
                <a:spcPct val="0"/>
              </a:spcBef>
            </a:pPr>
            <a:r>
              <a:rPr lang="en-US" sz="1999" spc="111">
                <a:solidFill>
                  <a:srgbClr val="022033"/>
                </a:solidFill>
                <a:latin typeface="Open Sans"/>
                <a:ea typeface="Open Sans"/>
                <a:cs typeface="Open Sans"/>
                <a:sym typeface="Open Sans"/>
              </a:rPr>
              <a:t>Cuenta con Azure Kubernetes Service (AKS) para desplegar y gestionar contenedores Docker y aplicaciones en la nube de manera eficiente.</a:t>
            </a:r>
          </a:p>
        </p:txBody>
      </p:sp>
      <p:grpSp>
        <p:nvGrpSpPr>
          <p:cNvPr name="Group 18" id="18"/>
          <p:cNvGrpSpPr/>
          <p:nvPr/>
        </p:nvGrpSpPr>
        <p:grpSpPr>
          <a:xfrm rot="0">
            <a:off x="-533410" y="8535909"/>
            <a:ext cx="4378481" cy="437848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FD1E1"/>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3291039" y="-2189241"/>
            <a:ext cx="4378481" cy="437848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8AB9"/>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119352" y="-1500496"/>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35936" y="0"/>
            <a:ext cx="10656161" cy="9784294"/>
          </a:xfrm>
          <a:custGeom>
            <a:avLst/>
            <a:gdLst/>
            <a:ahLst/>
            <a:cxnLst/>
            <a:rect r="r" b="b" t="t" l="l"/>
            <a:pathLst>
              <a:path h="9784294" w="10656161">
                <a:moveTo>
                  <a:pt x="0" y="0"/>
                </a:moveTo>
                <a:lnTo>
                  <a:pt x="10656162" y="0"/>
                </a:lnTo>
                <a:lnTo>
                  <a:pt x="10656162" y="9784294"/>
                </a:lnTo>
                <a:lnTo>
                  <a:pt x="0" y="97842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5728559" y="1153041"/>
            <a:ext cx="1237134" cy="1200949"/>
            <a:chOff x="0" y="0"/>
            <a:chExt cx="325830" cy="316299"/>
          </a:xfrm>
        </p:grpSpPr>
        <p:sp>
          <p:nvSpPr>
            <p:cNvPr name="Freeform 5" id="5"/>
            <p:cNvSpPr/>
            <p:nvPr/>
          </p:nvSpPr>
          <p:spPr>
            <a:xfrm flipH="false" flipV="false" rot="0">
              <a:off x="0" y="0"/>
              <a:ext cx="325830" cy="316299"/>
            </a:xfrm>
            <a:custGeom>
              <a:avLst/>
              <a:gdLst/>
              <a:ahLst/>
              <a:cxnLst/>
              <a:rect r="r" b="b" t="t" l="l"/>
              <a:pathLst>
                <a:path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96B5D3"/>
            </a:solidFill>
          </p:spPr>
        </p:sp>
        <p:sp>
          <p:nvSpPr>
            <p:cNvPr name="TextBox 6" id="6"/>
            <p:cNvSpPr txBox="true"/>
            <p:nvPr/>
          </p:nvSpPr>
          <p:spPr>
            <a:xfrm>
              <a:off x="0" y="-47625"/>
              <a:ext cx="325830" cy="363924"/>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7243711" y="1479441"/>
            <a:ext cx="6825411" cy="6825411"/>
          </a:xfrm>
          <a:custGeom>
            <a:avLst/>
            <a:gdLst/>
            <a:ahLst/>
            <a:cxnLst/>
            <a:rect r="r" b="b" t="t" l="l"/>
            <a:pathLst>
              <a:path h="6825411" w="6825411">
                <a:moveTo>
                  <a:pt x="0" y="0"/>
                </a:moveTo>
                <a:lnTo>
                  <a:pt x="6825410" y="0"/>
                </a:lnTo>
                <a:lnTo>
                  <a:pt x="6825410" y="6825411"/>
                </a:lnTo>
                <a:lnTo>
                  <a:pt x="0" y="6825411"/>
                </a:lnTo>
                <a:lnTo>
                  <a:pt x="0" y="0"/>
                </a:lnTo>
                <a:close/>
              </a:path>
            </a:pathLst>
          </a:custGeom>
          <a:blipFill>
            <a:blip r:embed="rId6"/>
            <a:stretch>
              <a:fillRect l="0" t="0" r="0" b="0"/>
            </a:stretch>
          </a:blipFill>
        </p:spPr>
      </p:sp>
      <p:sp>
        <p:nvSpPr>
          <p:cNvPr name="TextBox 8" id="8"/>
          <p:cNvSpPr txBox="true"/>
          <p:nvPr/>
        </p:nvSpPr>
        <p:spPr>
          <a:xfrm rot="0">
            <a:off x="538993" y="7092050"/>
            <a:ext cx="10117423" cy="2922270"/>
          </a:xfrm>
          <a:prstGeom prst="rect">
            <a:avLst/>
          </a:prstGeom>
        </p:spPr>
        <p:txBody>
          <a:bodyPr anchor="t" rtlCol="false" tIns="0" lIns="0" bIns="0" rIns="0">
            <a:spAutoFit/>
          </a:bodyPr>
          <a:lstStyle/>
          <a:p>
            <a:pPr algn="l">
              <a:lnSpc>
                <a:spcPts val="11040"/>
              </a:lnSpc>
            </a:pPr>
            <a:r>
              <a:rPr lang="en-US" sz="12000">
                <a:solidFill>
                  <a:srgbClr val="000000"/>
                </a:solidFill>
                <a:latin typeface="Glacial Indifference"/>
                <a:ea typeface="Glacial Indifference"/>
                <a:cs typeface="Glacial Indifference"/>
                <a:sym typeface="Glacial Indifference"/>
              </a:rPr>
              <a:t>DOCKER</a:t>
            </a:r>
          </a:p>
          <a:p>
            <a:pPr algn="l">
              <a:lnSpc>
                <a:spcPts val="11040"/>
              </a:lnSpc>
            </a:pPr>
            <a:r>
              <a:rPr lang="en-US" sz="12000">
                <a:solidFill>
                  <a:srgbClr val="000000"/>
                </a:solidFill>
                <a:latin typeface="Glacial Indifference"/>
                <a:ea typeface="Glacial Indifference"/>
                <a:cs typeface="Glacial Indifference"/>
                <a:sym typeface="Glacial Indifference"/>
              </a:rPr>
              <a:t>COMPOSE</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11560" y="1228725"/>
            <a:ext cx="14864881" cy="1017906"/>
          </a:xfrm>
          <a:prstGeom prst="rect">
            <a:avLst/>
          </a:prstGeom>
        </p:spPr>
        <p:txBody>
          <a:bodyPr anchor="t" rtlCol="false" tIns="0" lIns="0" bIns="0" rIns="0">
            <a:spAutoFit/>
          </a:bodyPr>
          <a:lstStyle/>
          <a:p>
            <a:pPr algn="ctr">
              <a:lnSpc>
                <a:spcPts val="7360"/>
              </a:lnSpc>
            </a:pPr>
            <a:r>
              <a:rPr lang="en-US" sz="8000">
                <a:solidFill>
                  <a:srgbClr val="022033"/>
                </a:solidFill>
                <a:latin typeface="Glacial Indifference"/>
                <a:ea typeface="Glacial Indifference"/>
                <a:cs typeface="Glacial Indifference"/>
                <a:sym typeface="Glacial Indifference"/>
              </a:rPr>
              <a:t>¿QUÉ ES DOCKER COMPOSE?</a:t>
            </a:r>
          </a:p>
        </p:txBody>
      </p:sp>
      <p:grpSp>
        <p:nvGrpSpPr>
          <p:cNvPr name="Group 3" id="3"/>
          <p:cNvGrpSpPr/>
          <p:nvPr/>
        </p:nvGrpSpPr>
        <p:grpSpPr>
          <a:xfrm rot="0">
            <a:off x="16098759" y="604794"/>
            <a:ext cx="4378481" cy="437848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6365138" y="7200583"/>
            <a:ext cx="971055" cy="934870"/>
            <a:chOff x="0" y="0"/>
            <a:chExt cx="255751" cy="246221"/>
          </a:xfrm>
        </p:grpSpPr>
        <p:sp>
          <p:nvSpPr>
            <p:cNvPr name="Freeform 7" id="7"/>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8" id="8"/>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922862" y="3019742"/>
            <a:ext cx="14442276" cy="4180840"/>
          </a:xfrm>
          <a:prstGeom prst="rect">
            <a:avLst/>
          </a:prstGeom>
        </p:spPr>
        <p:txBody>
          <a:bodyPr anchor="t" rtlCol="false" tIns="0" lIns="0" bIns="0" rIns="0">
            <a:spAutoFit/>
          </a:bodyPr>
          <a:lstStyle/>
          <a:p>
            <a:pPr algn="just">
              <a:lnSpc>
                <a:spcPts val="4759"/>
              </a:lnSpc>
            </a:pPr>
            <a:r>
              <a:rPr lang="en-US" sz="3399">
                <a:solidFill>
                  <a:srgbClr val="022033"/>
                </a:solidFill>
                <a:latin typeface="Open Sans"/>
                <a:ea typeface="Open Sans"/>
                <a:cs typeface="Open Sans"/>
                <a:sym typeface="Open Sans"/>
              </a:rPr>
              <a:t>Docker compose es una herramienta de Docker que permite definir y gestionar múltiples contenedores como una aplicación única. </a:t>
            </a:r>
          </a:p>
          <a:p>
            <a:pPr algn="just">
              <a:lnSpc>
                <a:spcPts val="4759"/>
              </a:lnSpc>
            </a:pPr>
          </a:p>
          <a:p>
            <a:pPr algn="just">
              <a:lnSpc>
                <a:spcPts val="4759"/>
              </a:lnSpc>
            </a:pPr>
            <a:r>
              <a:rPr lang="en-US" sz="3399">
                <a:solidFill>
                  <a:srgbClr val="022033"/>
                </a:solidFill>
                <a:latin typeface="Open Sans"/>
                <a:ea typeface="Open Sans"/>
                <a:cs typeface="Open Sans"/>
                <a:sym typeface="Open Sans"/>
              </a:rPr>
              <a:t>Utilizando un archivo YAML, Docker Compose facilita la configuración y conexión entre diferentes servicios de una aplicación que requieren varios contenedores como bases de datos, APIs y front-ends, que deben ejecutarse en conjunto.</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953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0" y="4119594"/>
            <a:ext cx="6167406" cy="6167406"/>
          </a:xfrm>
          <a:custGeom>
            <a:avLst/>
            <a:gdLst/>
            <a:ahLst/>
            <a:cxnLst/>
            <a:rect r="r" b="b" t="t" l="l"/>
            <a:pathLst>
              <a:path h="6167406" w="6167406">
                <a:moveTo>
                  <a:pt x="0" y="0"/>
                </a:moveTo>
                <a:lnTo>
                  <a:pt x="6167406" y="0"/>
                </a:lnTo>
                <a:lnTo>
                  <a:pt x="6167406" y="6167406"/>
                </a:lnTo>
                <a:lnTo>
                  <a:pt x="0" y="61674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884930" y="785004"/>
            <a:ext cx="6193426" cy="8981186"/>
          </a:xfrm>
          <a:custGeom>
            <a:avLst/>
            <a:gdLst/>
            <a:ahLst/>
            <a:cxnLst/>
            <a:rect r="r" b="b" t="t" l="l"/>
            <a:pathLst>
              <a:path h="8981186" w="6193426">
                <a:moveTo>
                  <a:pt x="0" y="0"/>
                </a:moveTo>
                <a:lnTo>
                  <a:pt x="6193426" y="0"/>
                </a:lnTo>
                <a:lnTo>
                  <a:pt x="6193426" y="8981186"/>
                </a:lnTo>
                <a:lnTo>
                  <a:pt x="0" y="8981186"/>
                </a:lnTo>
                <a:lnTo>
                  <a:pt x="0" y="0"/>
                </a:lnTo>
                <a:close/>
              </a:path>
            </a:pathLst>
          </a:custGeom>
          <a:blipFill>
            <a:blip r:embed="rId6"/>
            <a:stretch>
              <a:fillRect l="0" t="0" r="0" b="0"/>
            </a:stretch>
          </a:blipFill>
        </p:spPr>
      </p:sp>
      <p:sp>
        <p:nvSpPr>
          <p:cNvPr name="TextBox 5" id="5"/>
          <p:cNvSpPr txBox="true"/>
          <p:nvPr/>
        </p:nvSpPr>
        <p:spPr>
          <a:xfrm rot="0">
            <a:off x="1028700" y="965979"/>
            <a:ext cx="5139205" cy="2496820"/>
          </a:xfrm>
          <a:prstGeom prst="rect">
            <a:avLst/>
          </a:prstGeom>
        </p:spPr>
        <p:txBody>
          <a:bodyPr anchor="t" rtlCol="false" tIns="0" lIns="0" bIns="0" rIns="0">
            <a:spAutoFit/>
          </a:bodyPr>
          <a:lstStyle/>
          <a:p>
            <a:pPr algn="ctr">
              <a:lnSpc>
                <a:spcPts val="6439"/>
              </a:lnSpc>
            </a:pPr>
            <a:r>
              <a:rPr lang="en-US" sz="6999">
                <a:solidFill>
                  <a:srgbClr val="000000"/>
                </a:solidFill>
                <a:latin typeface="Glacial Indifference"/>
                <a:ea typeface="Glacial Indifference"/>
                <a:cs typeface="Glacial Indifference"/>
                <a:sym typeface="Glacial Indifference"/>
              </a:rPr>
              <a:t>DOCKER COMPOSE FILE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11560" y="1209675"/>
            <a:ext cx="14864881" cy="1687195"/>
          </a:xfrm>
          <a:prstGeom prst="rect">
            <a:avLst/>
          </a:prstGeom>
        </p:spPr>
        <p:txBody>
          <a:bodyPr anchor="t" rtlCol="false" tIns="0" lIns="0" bIns="0" rIns="0">
            <a:spAutoFit/>
          </a:bodyPr>
          <a:lstStyle/>
          <a:p>
            <a:pPr algn="ctr">
              <a:lnSpc>
                <a:spcPts val="6439"/>
              </a:lnSpc>
            </a:pPr>
            <a:r>
              <a:rPr lang="en-US" sz="6999">
                <a:solidFill>
                  <a:srgbClr val="000000"/>
                </a:solidFill>
                <a:latin typeface="Glacial Indifference"/>
                <a:ea typeface="Glacial Indifference"/>
                <a:cs typeface="Glacial Indifference"/>
                <a:sym typeface="Glacial Indifference"/>
              </a:rPr>
              <a:t>FUNCIONAMIENTO DE DOCKER COMPOSE</a:t>
            </a:r>
          </a:p>
        </p:txBody>
      </p:sp>
      <p:grpSp>
        <p:nvGrpSpPr>
          <p:cNvPr name="Group 3" id="3"/>
          <p:cNvGrpSpPr/>
          <p:nvPr/>
        </p:nvGrpSpPr>
        <p:grpSpPr>
          <a:xfrm rot="0">
            <a:off x="16098759" y="604794"/>
            <a:ext cx="4378481" cy="437848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881386" y="9077361"/>
            <a:ext cx="2988431" cy="2028257"/>
            <a:chOff x="0" y="0"/>
            <a:chExt cx="787076" cy="534191"/>
          </a:xfrm>
        </p:grpSpPr>
        <p:sp>
          <p:nvSpPr>
            <p:cNvPr name="Freeform 7" id="7"/>
            <p:cNvSpPr/>
            <p:nvPr/>
          </p:nvSpPr>
          <p:spPr>
            <a:xfrm flipH="false" flipV="false" rot="0">
              <a:off x="0" y="0"/>
              <a:ext cx="787076" cy="534191"/>
            </a:xfrm>
            <a:custGeom>
              <a:avLst/>
              <a:gdLst/>
              <a:ahLst/>
              <a:cxnLst/>
              <a:rect r="r" b="b" t="t" l="l"/>
              <a:pathLst>
                <a:path h="534191" w="787076">
                  <a:moveTo>
                    <a:pt x="85491" y="0"/>
                  </a:moveTo>
                  <a:lnTo>
                    <a:pt x="701586" y="0"/>
                  </a:lnTo>
                  <a:cubicBezTo>
                    <a:pt x="748801" y="0"/>
                    <a:pt x="787076" y="38276"/>
                    <a:pt x="787076" y="85491"/>
                  </a:cubicBezTo>
                  <a:lnTo>
                    <a:pt x="787076" y="448700"/>
                  </a:lnTo>
                  <a:cubicBezTo>
                    <a:pt x="787076" y="495916"/>
                    <a:pt x="748801" y="534191"/>
                    <a:pt x="701586" y="534191"/>
                  </a:cubicBezTo>
                  <a:lnTo>
                    <a:pt x="85491" y="534191"/>
                  </a:lnTo>
                  <a:cubicBezTo>
                    <a:pt x="38276" y="534191"/>
                    <a:pt x="0" y="495916"/>
                    <a:pt x="0" y="448700"/>
                  </a:cubicBezTo>
                  <a:lnTo>
                    <a:pt x="0" y="85491"/>
                  </a:lnTo>
                  <a:cubicBezTo>
                    <a:pt x="0" y="38276"/>
                    <a:pt x="38276" y="0"/>
                    <a:pt x="85491" y="0"/>
                  </a:cubicBezTo>
                  <a:close/>
                </a:path>
              </a:pathLst>
            </a:custGeom>
            <a:solidFill>
              <a:srgbClr val="568AB9"/>
            </a:solidFill>
          </p:spPr>
        </p:sp>
        <p:sp>
          <p:nvSpPr>
            <p:cNvPr name="TextBox 8" id="8"/>
            <p:cNvSpPr txBox="true"/>
            <p:nvPr/>
          </p:nvSpPr>
          <p:spPr>
            <a:xfrm>
              <a:off x="0" y="-47625"/>
              <a:ext cx="787076" cy="581816"/>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184976" y="3055832"/>
            <a:ext cx="15918048" cy="5213161"/>
          </a:xfrm>
          <a:custGeom>
            <a:avLst/>
            <a:gdLst/>
            <a:ahLst/>
            <a:cxnLst/>
            <a:rect r="r" b="b" t="t" l="l"/>
            <a:pathLst>
              <a:path h="5213161" w="15918048">
                <a:moveTo>
                  <a:pt x="0" y="0"/>
                </a:moveTo>
                <a:lnTo>
                  <a:pt x="15918048" y="0"/>
                </a:lnTo>
                <a:lnTo>
                  <a:pt x="15918048" y="5213160"/>
                </a:lnTo>
                <a:lnTo>
                  <a:pt x="0" y="5213160"/>
                </a:lnTo>
                <a:lnTo>
                  <a:pt x="0" y="0"/>
                </a:lnTo>
                <a:close/>
              </a:path>
            </a:pathLst>
          </a:custGeom>
          <a:blipFill>
            <a:blip r:embed="rId2"/>
            <a:stretch>
              <a:fillRect l="0" t="0" r="0" b="0"/>
            </a:stretch>
          </a:blipFill>
        </p:spPr>
      </p:sp>
      <p:sp>
        <p:nvSpPr>
          <p:cNvPr name="Freeform 10" id="10"/>
          <p:cNvSpPr/>
          <p:nvPr/>
        </p:nvSpPr>
        <p:spPr>
          <a:xfrm flipH="false" flipV="false" rot="0">
            <a:off x="-1458831" y="7598245"/>
            <a:ext cx="4481465" cy="4114800"/>
          </a:xfrm>
          <a:custGeom>
            <a:avLst/>
            <a:gdLst/>
            <a:ahLst/>
            <a:cxnLst/>
            <a:rect r="r" b="b" t="t" l="l"/>
            <a:pathLst>
              <a:path h="4114800" w="4481465">
                <a:moveTo>
                  <a:pt x="0" y="0"/>
                </a:moveTo>
                <a:lnTo>
                  <a:pt x="4481465" y="0"/>
                </a:lnTo>
                <a:lnTo>
                  <a:pt x="44814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253347" y="7530605"/>
            <a:ext cx="7781305" cy="1407503"/>
            <a:chOff x="0" y="0"/>
            <a:chExt cx="2049397" cy="370700"/>
          </a:xfrm>
        </p:grpSpPr>
        <p:sp>
          <p:nvSpPr>
            <p:cNvPr name="Freeform 3" id="3"/>
            <p:cNvSpPr/>
            <p:nvPr/>
          </p:nvSpPr>
          <p:spPr>
            <a:xfrm flipH="false" flipV="false" rot="0">
              <a:off x="0" y="0"/>
              <a:ext cx="2049397" cy="370700"/>
            </a:xfrm>
            <a:custGeom>
              <a:avLst/>
              <a:gdLst/>
              <a:ahLst/>
              <a:cxnLst/>
              <a:rect r="r" b="b" t="t" l="l"/>
              <a:pathLst>
                <a:path h="370700" w="2049397">
                  <a:moveTo>
                    <a:pt x="50742" y="0"/>
                  </a:moveTo>
                  <a:lnTo>
                    <a:pt x="1998656" y="0"/>
                  </a:lnTo>
                  <a:cubicBezTo>
                    <a:pt x="2012113" y="0"/>
                    <a:pt x="2025019" y="5346"/>
                    <a:pt x="2034536" y="14862"/>
                  </a:cubicBezTo>
                  <a:cubicBezTo>
                    <a:pt x="2044051" y="24378"/>
                    <a:pt x="2049397" y="37284"/>
                    <a:pt x="2049397" y="50742"/>
                  </a:cubicBezTo>
                  <a:lnTo>
                    <a:pt x="2049397" y="319959"/>
                  </a:lnTo>
                  <a:cubicBezTo>
                    <a:pt x="2049397" y="347983"/>
                    <a:pt x="2026679" y="370700"/>
                    <a:pt x="1998656" y="370700"/>
                  </a:cubicBezTo>
                  <a:lnTo>
                    <a:pt x="50742" y="370700"/>
                  </a:lnTo>
                  <a:cubicBezTo>
                    <a:pt x="37284" y="370700"/>
                    <a:pt x="24378" y="365354"/>
                    <a:pt x="14862" y="355838"/>
                  </a:cubicBezTo>
                  <a:cubicBezTo>
                    <a:pt x="5346" y="346323"/>
                    <a:pt x="0" y="333416"/>
                    <a:pt x="0" y="319959"/>
                  </a:cubicBezTo>
                  <a:lnTo>
                    <a:pt x="0" y="50742"/>
                  </a:lnTo>
                  <a:cubicBezTo>
                    <a:pt x="0" y="37284"/>
                    <a:pt x="5346" y="24378"/>
                    <a:pt x="14862" y="14862"/>
                  </a:cubicBezTo>
                  <a:cubicBezTo>
                    <a:pt x="24378" y="5346"/>
                    <a:pt x="37284" y="0"/>
                    <a:pt x="50742" y="0"/>
                  </a:cubicBezTo>
                  <a:close/>
                </a:path>
              </a:pathLst>
            </a:custGeom>
            <a:solidFill>
              <a:srgbClr val="96B5D3"/>
            </a:solidFill>
          </p:spPr>
        </p:sp>
        <p:sp>
          <p:nvSpPr>
            <p:cNvPr name="TextBox 4" id="4"/>
            <p:cNvSpPr txBox="true"/>
            <p:nvPr/>
          </p:nvSpPr>
          <p:spPr>
            <a:xfrm>
              <a:off x="0" y="-57150"/>
              <a:ext cx="2049397" cy="427850"/>
            </a:xfrm>
            <a:prstGeom prst="rect">
              <a:avLst/>
            </a:prstGeom>
          </p:spPr>
          <p:txBody>
            <a:bodyPr anchor="ctr" rtlCol="false" tIns="50800" lIns="50800" bIns="50800" rIns="50800"/>
            <a:lstStyle/>
            <a:p>
              <a:pPr algn="ctr">
                <a:lnSpc>
                  <a:spcPts val="3639"/>
                </a:lnSpc>
              </a:pPr>
              <a:r>
                <a:rPr lang="en-US" sz="2599">
                  <a:solidFill>
                    <a:srgbClr val="000000"/>
                  </a:solidFill>
                  <a:latin typeface="Open Sans Light"/>
                  <a:ea typeface="Open Sans Light"/>
                  <a:cs typeface="Open Sans Light"/>
                  <a:sym typeface="Open Sans Light"/>
                </a:rPr>
                <a:t>https://devtalles.com/files/docker-cheat-sheet.pdf</a:t>
              </a:r>
            </a:p>
          </p:txBody>
        </p:sp>
      </p:grpSp>
      <p:grpSp>
        <p:nvGrpSpPr>
          <p:cNvPr name="Group 5" id="5"/>
          <p:cNvGrpSpPr/>
          <p:nvPr/>
        </p:nvGrpSpPr>
        <p:grpSpPr>
          <a:xfrm rot="0">
            <a:off x="5044958" y="675492"/>
            <a:ext cx="8198084" cy="4099042"/>
            <a:chOff x="0" y="0"/>
            <a:chExt cx="6350000" cy="3175000"/>
          </a:xfrm>
        </p:grpSpPr>
        <p:sp>
          <p:nvSpPr>
            <p:cNvPr name="Freeform 6" id="6"/>
            <p:cNvSpPr/>
            <p:nvPr/>
          </p:nvSpPr>
          <p:spPr>
            <a:xfrm flipH="false" flipV="false" rot="0">
              <a:off x="0" y="0"/>
              <a:ext cx="6350000" cy="3175000"/>
            </a:xfrm>
            <a:custGeom>
              <a:avLst/>
              <a:gdLst/>
              <a:ahLst/>
              <a:cxnLst/>
              <a:rect r="r" b="b" t="t" l="l"/>
              <a:pathLst>
                <a:path h="3175000" w="6350000">
                  <a:moveTo>
                    <a:pt x="6350000" y="3175000"/>
                  </a:moveTo>
                  <a:lnTo>
                    <a:pt x="0" y="3175000"/>
                  </a:lnTo>
                  <a:cubicBezTo>
                    <a:pt x="0" y="1421498"/>
                    <a:pt x="1421498" y="0"/>
                    <a:pt x="3175000" y="0"/>
                  </a:cubicBezTo>
                  <a:cubicBezTo>
                    <a:pt x="4928502" y="0"/>
                    <a:pt x="6350000" y="1421498"/>
                    <a:pt x="6350000" y="3175000"/>
                  </a:cubicBezTo>
                  <a:close/>
                </a:path>
              </a:pathLst>
            </a:custGeom>
            <a:blipFill>
              <a:blip r:embed="rId2"/>
              <a:stretch>
                <a:fillRect l="0" t="-100000" r="0" b="-100000"/>
              </a:stretch>
            </a:blipFill>
          </p:spPr>
        </p:sp>
      </p:grpSp>
      <p:sp>
        <p:nvSpPr>
          <p:cNvPr name="TextBox 7" id="7"/>
          <p:cNvSpPr txBox="true"/>
          <p:nvPr/>
        </p:nvSpPr>
        <p:spPr>
          <a:xfrm rot="0">
            <a:off x="4929336" y="5448300"/>
            <a:ext cx="8429327" cy="1522095"/>
          </a:xfrm>
          <a:prstGeom prst="rect">
            <a:avLst/>
          </a:prstGeom>
        </p:spPr>
        <p:txBody>
          <a:bodyPr anchor="t" rtlCol="false" tIns="0" lIns="0" bIns="0" rIns="0">
            <a:spAutoFit/>
          </a:bodyPr>
          <a:lstStyle/>
          <a:p>
            <a:pPr algn="ctr">
              <a:lnSpc>
                <a:spcPts val="11040"/>
              </a:lnSpc>
            </a:pPr>
            <a:r>
              <a:rPr lang="en-US" sz="12000">
                <a:solidFill>
                  <a:srgbClr val="022033"/>
                </a:solidFill>
                <a:latin typeface="Glacial Indifference"/>
                <a:ea typeface="Glacial Indifference"/>
                <a:cs typeface="Glacial Indifference"/>
                <a:sym typeface="Glacial Indifference"/>
              </a:rPr>
              <a:t>COMANDOS</a:t>
            </a:r>
          </a:p>
        </p:txBody>
      </p:sp>
      <p:grpSp>
        <p:nvGrpSpPr>
          <p:cNvPr name="Group 8" id="8"/>
          <p:cNvGrpSpPr/>
          <p:nvPr/>
        </p:nvGrpSpPr>
        <p:grpSpPr>
          <a:xfrm rot="0">
            <a:off x="1764733" y="4307099"/>
            <a:ext cx="971055" cy="934870"/>
            <a:chOff x="0" y="0"/>
            <a:chExt cx="255751" cy="246221"/>
          </a:xfrm>
        </p:grpSpPr>
        <p:sp>
          <p:nvSpPr>
            <p:cNvPr name="Freeform 9" id="9"/>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BFD1E1"/>
            </a:solidFill>
          </p:spPr>
        </p:sp>
        <p:sp>
          <p:nvSpPr>
            <p:cNvPr name="TextBox 10" id="10"/>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3642983" y="6595734"/>
            <a:ext cx="971055" cy="934870"/>
            <a:chOff x="0" y="0"/>
            <a:chExt cx="255751" cy="246221"/>
          </a:xfrm>
        </p:grpSpPr>
        <p:sp>
          <p:nvSpPr>
            <p:cNvPr name="Freeform 12" id="12"/>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F3E780"/>
            </a:solidFill>
          </p:spPr>
        </p:sp>
        <p:sp>
          <p:nvSpPr>
            <p:cNvPr name="TextBox 13" id="13"/>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487255" y="675492"/>
            <a:ext cx="971055" cy="934870"/>
            <a:chOff x="0" y="0"/>
            <a:chExt cx="255751" cy="246221"/>
          </a:xfrm>
        </p:grpSpPr>
        <p:sp>
          <p:nvSpPr>
            <p:cNvPr name="Freeform 15" id="15"/>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16" id="16"/>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253347" y="7530605"/>
            <a:ext cx="7781305" cy="1407503"/>
            <a:chOff x="0" y="0"/>
            <a:chExt cx="2049397" cy="370700"/>
          </a:xfrm>
        </p:grpSpPr>
        <p:sp>
          <p:nvSpPr>
            <p:cNvPr name="Freeform 3" id="3"/>
            <p:cNvSpPr/>
            <p:nvPr/>
          </p:nvSpPr>
          <p:spPr>
            <a:xfrm flipH="false" flipV="false" rot="0">
              <a:off x="0" y="0"/>
              <a:ext cx="2049397" cy="370700"/>
            </a:xfrm>
            <a:custGeom>
              <a:avLst/>
              <a:gdLst/>
              <a:ahLst/>
              <a:cxnLst/>
              <a:rect r="r" b="b" t="t" l="l"/>
              <a:pathLst>
                <a:path h="370700" w="2049397">
                  <a:moveTo>
                    <a:pt x="50742" y="0"/>
                  </a:moveTo>
                  <a:lnTo>
                    <a:pt x="1998656" y="0"/>
                  </a:lnTo>
                  <a:cubicBezTo>
                    <a:pt x="2012113" y="0"/>
                    <a:pt x="2025019" y="5346"/>
                    <a:pt x="2034536" y="14862"/>
                  </a:cubicBezTo>
                  <a:cubicBezTo>
                    <a:pt x="2044051" y="24378"/>
                    <a:pt x="2049397" y="37284"/>
                    <a:pt x="2049397" y="50742"/>
                  </a:cubicBezTo>
                  <a:lnTo>
                    <a:pt x="2049397" y="319959"/>
                  </a:lnTo>
                  <a:cubicBezTo>
                    <a:pt x="2049397" y="347983"/>
                    <a:pt x="2026679" y="370700"/>
                    <a:pt x="1998656" y="370700"/>
                  </a:cubicBezTo>
                  <a:lnTo>
                    <a:pt x="50742" y="370700"/>
                  </a:lnTo>
                  <a:cubicBezTo>
                    <a:pt x="37284" y="370700"/>
                    <a:pt x="24378" y="365354"/>
                    <a:pt x="14862" y="355838"/>
                  </a:cubicBezTo>
                  <a:cubicBezTo>
                    <a:pt x="5346" y="346323"/>
                    <a:pt x="0" y="333416"/>
                    <a:pt x="0" y="319959"/>
                  </a:cubicBezTo>
                  <a:lnTo>
                    <a:pt x="0" y="50742"/>
                  </a:lnTo>
                  <a:cubicBezTo>
                    <a:pt x="0" y="37284"/>
                    <a:pt x="5346" y="24378"/>
                    <a:pt x="14862" y="14862"/>
                  </a:cubicBezTo>
                  <a:cubicBezTo>
                    <a:pt x="24378" y="5346"/>
                    <a:pt x="37284" y="0"/>
                    <a:pt x="50742" y="0"/>
                  </a:cubicBezTo>
                  <a:close/>
                </a:path>
              </a:pathLst>
            </a:custGeom>
            <a:solidFill>
              <a:srgbClr val="96B5D3"/>
            </a:solidFill>
          </p:spPr>
        </p:sp>
        <p:sp>
          <p:nvSpPr>
            <p:cNvPr name="TextBox 4" id="4"/>
            <p:cNvSpPr txBox="true"/>
            <p:nvPr/>
          </p:nvSpPr>
          <p:spPr>
            <a:xfrm>
              <a:off x="0" y="-57150"/>
              <a:ext cx="2049397" cy="427850"/>
            </a:xfrm>
            <a:prstGeom prst="rect">
              <a:avLst/>
            </a:prstGeom>
          </p:spPr>
          <p:txBody>
            <a:bodyPr anchor="ctr" rtlCol="false" tIns="50800" lIns="50800" bIns="50800" rIns="50800"/>
            <a:lstStyle/>
            <a:p>
              <a:pPr algn="ctr">
                <a:lnSpc>
                  <a:spcPts val="3639"/>
                </a:lnSpc>
              </a:pPr>
              <a:r>
                <a:rPr lang="en-US" sz="2599">
                  <a:solidFill>
                    <a:srgbClr val="000000"/>
                  </a:solidFill>
                  <a:latin typeface="Open Sans Light"/>
                  <a:ea typeface="Open Sans Light"/>
                  <a:cs typeface="Open Sans Light"/>
                  <a:sym typeface="Open Sans Light"/>
                </a:rPr>
                <a:t>https://docs.docker.com/manuals/</a:t>
              </a:r>
            </a:p>
          </p:txBody>
        </p:sp>
      </p:grpSp>
      <p:grpSp>
        <p:nvGrpSpPr>
          <p:cNvPr name="Group 5" id="5"/>
          <p:cNvGrpSpPr/>
          <p:nvPr/>
        </p:nvGrpSpPr>
        <p:grpSpPr>
          <a:xfrm rot="0">
            <a:off x="5044958" y="675492"/>
            <a:ext cx="8198084" cy="4099042"/>
            <a:chOff x="0" y="0"/>
            <a:chExt cx="6350000" cy="3175000"/>
          </a:xfrm>
        </p:grpSpPr>
        <p:sp>
          <p:nvSpPr>
            <p:cNvPr name="Freeform 6" id="6"/>
            <p:cNvSpPr/>
            <p:nvPr/>
          </p:nvSpPr>
          <p:spPr>
            <a:xfrm flipH="false" flipV="false" rot="0">
              <a:off x="0" y="0"/>
              <a:ext cx="6350000" cy="3175000"/>
            </a:xfrm>
            <a:custGeom>
              <a:avLst/>
              <a:gdLst/>
              <a:ahLst/>
              <a:cxnLst/>
              <a:rect r="r" b="b" t="t" l="l"/>
              <a:pathLst>
                <a:path h="3175000" w="6350000">
                  <a:moveTo>
                    <a:pt x="6350000" y="3175000"/>
                  </a:moveTo>
                  <a:lnTo>
                    <a:pt x="0" y="3175000"/>
                  </a:lnTo>
                  <a:cubicBezTo>
                    <a:pt x="0" y="1421498"/>
                    <a:pt x="1421498" y="0"/>
                    <a:pt x="3175000" y="0"/>
                  </a:cubicBezTo>
                  <a:cubicBezTo>
                    <a:pt x="4928502" y="0"/>
                    <a:pt x="6350000" y="1421498"/>
                    <a:pt x="6350000" y="3175000"/>
                  </a:cubicBezTo>
                  <a:close/>
                </a:path>
              </a:pathLst>
            </a:custGeom>
            <a:blipFill>
              <a:blip r:embed="rId2"/>
              <a:stretch>
                <a:fillRect l="0" t="-100000" r="0" b="-100000"/>
              </a:stretch>
            </a:blipFill>
          </p:spPr>
        </p:sp>
      </p:grpSp>
      <p:sp>
        <p:nvSpPr>
          <p:cNvPr name="TextBox 7" id="7"/>
          <p:cNvSpPr txBox="true"/>
          <p:nvPr/>
        </p:nvSpPr>
        <p:spPr>
          <a:xfrm rot="0">
            <a:off x="2949699" y="5448300"/>
            <a:ext cx="12388602" cy="1522095"/>
          </a:xfrm>
          <a:prstGeom prst="rect">
            <a:avLst/>
          </a:prstGeom>
        </p:spPr>
        <p:txBody>
          <a:bodyPr anchor="t" rtlCol="false" tIns="0" lIns="0" bIns="0" rIns="0">
            <a:spAutoFit/>
          </a:bodyPr>
          <a:lstStyle/>
          <a:p>
            <a:pPr algn="ctr">
              <a:lnSpc>
                <a:spcPts val="11040"/>
              </a:lnSpc>
            </a:pPr>
            <a:r>
              <a:rPr lang="en-US" sz="12000">
                <a:solidFill>
                  <a:srgbClr val="022033"/>
                </a:solidFill>
                <a:latin typeface="Glacial Indifference"/>
                <a:ea typeface="Glacial Indifference"/>
                <a:cs typeface="Glacial Indifference"/>
                <a:sym typeface="Glacial Indifference"/>
              </a:rPr>
              <a:t>DOCUMENTACION</a:t>
            </a:r>
          </a:p>
        </p:txBody>
      </p:sp>
      <p:grpSp>
        <p:nvGrpSpPr>
          <p:cNvPr name="Group 8" id="8"/>
          <p:cNvGrpSpPr/>
          <p:nvPr/>
        </p:nvGrpSpPr>
        <p:grpSpPr>
          <a:xfrm rot="0">
            <a:off x="1764733" y="4307099"/>
            <a:ext cx="971055" cy="934870"/>
            <a:chOff x="0" y="0"/>
            <a:chExt cx="255751" cy="246221"/>
          </a:xfrm>
        </p:grpSpPr>
        <p:sp>
          <p:nvSpPr>
            <p:cNvPr name="Freeform 9" id="9"/>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BFD1E1"/>
            </a:solidFill>
          </p:spPr>
        </p:sp>
        <p:sp>
          <p:nvSpPr>
            <p:cNvPr name="TextBox 10" id="10"/>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3642983" y="6595734"/>
            <a:ext cx="971055" cy="934870"/>
            <a:chOff x="0" y="0"/>
            <a:chExt cx="255751" cy="246221"/>
          </a:xfrm>
        </p:grpSpPr>
        <p:sp>
          <p:nvSpPr>
            <p:cNvPr name="Freeform 12" id="12"/>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F3E780"/>
            </a:solidFill>
          </p:spPr>
        </p:sp>
        <p:sp>
          <p:nvSpPr>
            <p:cNvPr name="TextBox 13" id="13"/>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487255" y="675492"/>
            <a:ext cx="971055" cy="934870"/>
            <a:chOff x="0" y="0"/>
            <a:chExt cx="255751" cy="246221"/>
          </a:xfrm>
        </p:grpSpPr>
        <p:sp>
          <p:nvSpPr>
            <p:cNvPr name="Freeform 15" id="15"/>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16" id="16"/>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30356" y="1765548"/>
            <a:ext cx="14427288" cy="4119243"/>
          </a:xfrm>
          <a:prstGeom prst="rect">
            <a:avLst/>
          </a:prstGeom>
        </p:spPr>
        <p:txBody>
          <a:bodyPr anchor="t" rtlCol="false" tIns="0" lIns="0" bIns="0" rIns="0">
            <a:spAutoFit/>
          </a:bodyPr>
          <a:lstStyle/>
          <a:p>
            <a:pPr algn="ctr">
              <a:lnSpc>
                <a:spcPts val="15639"/>
              </a:lnSpc>
            </a:pPr>
            <a:r>
              <a:rPr lang="en-US" sz="16999">
                <a:solidFill>
                  <a:srgbClr val="022033"/>
                </a:solidFill>
                <a:latin typeface="Glacial Indifference"/>
                <a:ea typeface="Glacial Indifference"/>
                <a:cs typeface="Glacial Indifference"/>
                <a:sym typeface="Glacial Indifference"/>
              </a:rPr>
              <a:t>¡MUCHAS GRACIAS!</a:t>
            </a:r>
          </a:p>
        </p:txBody>
      </p:sp>
      <p:sp>
        <p:nvSpPr>
          <p:cNvPr name="Freeform 3" id="3"/>
          <p:cNvSpPr/>
          <p:nvPr/>
        </p:nvSpPr>
        <p:spPr>
          <a:xfrm flipH="false" flipV="false" rot="-10800000">
            <a:off x="-354670" y="-390474"/>
            <a:ext cx="4009030" cy="4009030"/>
          </a:xfrm>
          <a:custGeom>
            <a:avLst/>
            <a:gdLst/>
            <a:ahLst/>
            <a:cxnLst/>
            <a:rect r="r" b="b" t="t" l="l"/>
            <a:pathLst>
              <a:path h="4009030" w="4009030">
                <a:moveTo>
                  <a:pt x="0" y="0"/>
                </a:moveTo>
                <a:lnTo>
                  <a:pt x="4009029" y="0"/>
                </a:lnTo>
                <a:lnTo>
                  <a:pt x="4009029" y="4009030"/>
                </a:lnTo>
                <a:lnTo>
                  <a:pt x="0" y="4009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386589" y="7759322"/>
            <a:ext cx="971055" cy="934870"/>
            <a:chOff x="0" y="0"/>
            <a:chExt cx="255751" cy="246221"/>
          </a:xfrm>
        </p:grpSpPr>
        <p:sp>
          <p:nvSpPr>
            <p:cNvPr name="Freeform 5" id="5"/>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6" id="6"/>
            <p:cNvSpPr txBox="true"/>
            <p:nvPr/>
          </p:nvSpPr>
          <p:spPr>
            <a:xfrm>
              <a:off x="0" y="-38100"/>
              <a:ext cx="255751" cy="284321"/>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10800000">
            <a:off x="187905" y="5982697"/>
            <a:ext cx="3688357" cy="4114800"/>
          </a:xfrm>
          <a:custGeom>
            <a:avLst/>
            <a:gdLst/>
            <a:ahLst/>
            <a:cxnLst/>
            <a:rect r="r" b="b" t="t" l="l"/>
            <a:pathLst>
              <a:path h="4114800" w="3688357">
                <a:moveTo>
                  <a:pt x="0" y="0"/>
                </a:moveTo>
                <a:lnTo>
                  <a:pt x="3688357" y="0"/>
                </a:lnTo>
                <a:lnTo>
                  <a:pt x="36883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DAGU5X48jok</dc:identifier>
  <dcterms:modified xsi:type="dcterms:W3CDTF">2011-08-01T06:04:30Z</dcterms:modified>
  <cp:revision>1</cp:revision>
  <dc:title>Clase 14</dc:title>
</cp:coreProperties>
</file>