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Tenor Sans"/>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g90WsGabheFO6P3NXfCZwWkhBp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Tenor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8AB9"/>
        </a:solidFill>
      </p:bgPr>
    </p:bg>
    <p:spTree>
      <p:nvGrpSpPr>
        <p:cNvPr id="83" name="Shape 83"/>
        <p:cNvGrpSpPr/>
        <p:nvPr/>
      </p:nvGrpSpPr>
      <p:grpSpPr>
        <a:xfrm>
          <a:off x="0" y="0"/>
          <a:ext cx="0" cy="0"/>
          <a:chOff x="0" y="0"/>
          <a:chExt cx="0" cy="0"/>
        </a:xfrm>
      </p:grpSpPr>
      <p:sp>
        <p:nvSpPr>
          <p:cNvPr id="84" name="Google Shape;84;p1"/>
          <p:cNvSpPr txBox="1"/>
          <p:nvPr/>
        </p:nvSpPr>
        <p:spPr>
          <a:xfrm>
            <a:off x="225670" y="4575517"/>
            <a:ext cx="17836661" cy="1951356"/>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0" i="0" lang="en-US" sz="8000" u="none" cap="none" strike="noStrike">
                <a:solidFill>
                  <a:srgbClr val="000000"/>
                </a:solidFill>
                <a:latin typeface="Arial"/>
                <a:ea typeface="Arial"/>
                <a:cs typeface="Arial"/>
                <a:sym typeface="Arial"/>
              </a:rPr>
              <a:t>LABORATORIO SEMINARIO</a:t>
            </a:r>
            <a:endParaRPr/>
          </a:p>
          <a:p>
            <a:pPr indent="0" lvl="0" marL="0" marR="0" rtl="0" algn="ctr">
              <a:lnSpc>
                <a:spcPct val="92000"/>
              </a:lnSpc>
              <a:spcBef>
                <a:spcPts val="0"/>
              </a:spcBef>
              <a:spcAft>
                <a:spcPts val="0"/>
              </a:spcAft>
              <a:buNone/>
            </a:pPr>
            <a:r>
              <a:rPr b="0" i="0" lang="en-US" sz="8000" u="none" cap="none" strike="noStrike">
                <a:solidFill>
                  <a:srgbClr val="000000"/>
                </a:solidFill>
                <a:latin typeface="Arial"/>
                <a:ea typeface="Arial"/>
                <a:cs typeface="Arial"/>
                <a:sym typeface="Arial"/>
              </a:rPr>
              <a:t> DE SISTEMAS 1</a:t>
            </a:r>
            <a:endParaRPr/>
          </a:p>
        </p:txBody>
      </p:sp>
      <p:grpSp>
        <p:nvGrpSpPr>
          <p:cNvPr id="85" name="Google Shape;85;p1"/>
          <p:cNvGrpSpPr/>
          <p:nvPr/>
        </p:nvGrpSpPr>
        <p:grpSpPr>
          <a:xfrm>
            <a:off x="5101429" y="1703931"/>
            <a:ext cx="8085142" cy="1119292"/>
            <a:chOff x="0" y="-47625"/>
            <a:chExt cx="2129420" cy="294793"/>
          </a:xfrm>
        </p:grpSpPr>
        <p:sp>
          <p:nvSpPr>
            <p:cNvPr id="86" name="Google Shape;86;p1"/>
            <p:cNvSpPr/>
            <p:nvPr/>
          </p:nvSpPr>
          <p:spPr>
            <a:xfrm>
              <a:off x="0" y="0"/>
              <a:ext cx="2129420" cy="247168"/>
            </a:xfrm>
            <a:custGeom>
              <a:rect b="b" l="l" r="r" t="t"/>
              <a:pathLst>
                <a:path extrusionOk="0" h="247168" w="2129420">
                  <a:moveTo>
                    <a:pt x="24896" y="0"/>
                  </a:moveTo>
                  <a:lnTo>
                    <a:pt x="2104524" y="0"/>
                  </a:lnTo>
                  <a:cubicBezTo>
                    <a:pt x="2111127" y="0"/>
                    <a:pt x="2117459" y="2623"/>
                    <a:pt x="2122128" y="7292"/>
                  </a:cubicBezTo>
                  <a:cubicBezTo>
                    <a:pt x="2126797" y="11961"/>
                    <a:pt x="2129420" y="18293"/>
                    <a:pt x="2129420" y="24896"/>
                  </a:cubicBezTo>
                  <a:lnTo>
                    <a:pt x="2129420" y="222272"/>
                  </a:lnTo>
                  <a:cubicBezTo>
                    <a:pt x="2129420" y="228875"/>
                    <a:pt x="2126797" y="235207"/>
                    <a:pt x="2122128" y="239876"/>
                  </a:cubicBezTo>
                  <a:cubicBezTo>
                    <a:pt x="2117459" y="244545"/>
                    <a:pt x="2111127" y="247168"/>
                    <a:pt x="2104524" y="247168"/>
                  </a:cubicBezTo>
                  <a:lnTo>
                    <a:pt x="24896" y="247168"/>
                  </a:lnTo>
                  <a:cubicBezTo>
                    <a:pt x="11146" y="247168"/>
                    <a:pt x="0" y="236022"/>
                    <a:pt x="0" y="222272"/>
                  </a:cubicBezTo>
                  <a:lnTo>
                    <a:pt x="0" y="24896"/>
                  </a:lnTo>
                  <a:cubicBezTo>
                    <a:pt x="0" y="18293"/>
                    <a:pt x="2623" y="11961"/>
                    <a:pt x="7292" y="7292"/>
                  </a:cubicBezTo>
                  <a:cubicBezTo>
                    <a:pt x="11961" y="2623"/>
                    <a:pt x="18293" y="0"/>
                    <a:pt x="248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txBox="1"/>
            <p:nvPr/>
          </p:nvSpPr>
          <p:spPr>
            <a:xfrm>
              <a:off x="0" y="-47625"/>
              <a:ext cx="2129420" cy="2947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a:off x="-609474" y="6630732"/>
            <a:ext cx="4378481" cy="4378481"/>
            <a:chOff x="0" y="0"/>
            <a:chExt cx="812800" cy="812800"/>
          </a:xfrm>
        </p:grpSpPr>
        <p:sp>
          <p:nvSpPr>
            <p:cNvPr id="89" name="Google Shape;8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
          <p:cNvSpPr/>
          <p:nvPr/>
        </p:nvSpPr>
        <p:spPr>
          <a:xfrm rot="-5400000">
            <a:off x="362774" y="-30820"/>
            <a:ext cx="3688357" cy="4114800"/>
          </a:xfrm>
          <a:custGeom>
            <a:rect b="b" l="l" r="r" t="t"/>
            <a:pathLst>
              <a:path extrusionOk="0" h="4114800" w="3688357">
                <a:moveTo>
                  <a:pt x="0" y="0"/>
                </a:moveTo>
                <a:lnTo>
                  <a:pt x="3688357" y="0"/>
                </a:lnTo>
                <a:lnTo>
                  <a:pt x="3688357" y="4114800"/>
                </a:lnTo>
                <a:lnTo>
                  <a:pt x="0" y="4114800"/>
                </a:lnTo>
                <a:lnTo>
                  <a:pt x="0" y="0"/>
                </a:lnTo>
                <a:close/>
              </a:path>
            </a:pathLst>
          </a:custGeom>
          <a:blipFill rotWithShape="1">
            <a:blip r:embed="rId3">
              <a:alphaModFix/>
            </a:blip>
            <a:stretch>
              <a:fillRect b="0" l="0" r="0" t="0"/>
            </a:stretch>
          </a:blipFill>
          <a:ln>
            <a:noFill/>
          </a:ln>
        </p:spPr>
      </p:sp>
      <p:grpSp>
        <p:nvGrpSpPr>
          <p:cNvPr id="92" name="Google Shape;92;p1"/>
          <p:cNvGrpSpPr/>
          <p:nvPr/>
        </p:nvGrpSpPr>
        <p:grpSpPr>
          <a:xfrm>
            <a:off x="2531874" y="6850780"/>
            <a:ext cx="1237134" cy="1381775"/>
            <a:chOff x="0" y="-47625"/>
            <a:chExt cx="325830" cy="363924"/>
          </a:xfrm>
        </p:grpSpPr>
        <p:sp>
          <p:nvSpPr>
            <p:cNvPr id="93" name="Google Shape;93;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47625"/>
              <a:ext cx="325830" cy="36392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5728559" y="972215"/>
            <a:ext cx="1237134" cy="1381775"/>
            <a:chOff x="0" y="-47625"/>
            <a:chExt cx="325830" cy="363924"/>
          </a:xfrm>
        </p:grpSpPr>
        <p:sp>
          <p:nvSpPr>
            <p:cNvPr id="96" name="Google Shape;96;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txBox="1"/>
            <p:nvPr/>
          </p:nvSpPr>
          <p:spPr>
            <a:xfrm>
              <a:off x="0" y="-47625"/>
              <a:ext cx="325830" cy="36392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1"/>
          <p:cNvSpPr/>
          <p:nvPr/>
        </p:nvSpPr>
        <p:spPr>
          <a:xfrm>
            <a:off x="14289726" y="63930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99" name="Google Shape;99;p1"/>
          <p:cNvSpPr txBox="1"/>
          <p:nvPr/>
        </p:nvSpPr>
        <p:spPr>
          <a:xfrm>
            <a:off x="8075176" y="7527306"/>
            <a:ext cx="2137648" cy="745641"/>
          </a:xfrm>
          <a:prstGeom prst="rect">
            <a:avLst/>
          </a:prstGeom>
          <a:noFill/>
          <a:ln>
            <a:noFill/>
          </a:ln>
        </p:spPr>
        <p:txBody>
          <a:bodyPr anchorCtr="0" anchor="t" bIns="0" lIns="0" spcFirstLastPara="1" rIns="0" wrap="square" tIns="0">
            <a:spAutoFit/>
          </a:bodyPr>
          <a:lstStyle/>
          <a:p>
            <a:pPr indent="0" lvl="0" marL="0" marR="0" rtl="0" algn="ctr">
              <a:lnSpc>
                <a:spcPct val="146007"/>
              </a:lnSpc>
              <a:spcBef>
                <a:spcPts val="0"/>
              </a:spcBef>
              <a:spcAft>
                <a:spcPts val="0"/>
              </a:spcAft>
              <a:buNone/>
            </a:pPr>
            <a:r>
              <a:rPr b="0" i="0" lang="en-US" sz="4245" u="none" cap="none" strike="noStrike">
                <a:solidFill>
                  <a:srgbClr val="000000"/>
                </a:solidFill>
                <a:latin typeface="Tenor Sans"/>
                <a:ea typeface="Tenor Sans"/>
                <a:cs typeface="Tenor Sans"/>
                <a:sym typeface="Tenor Sans"/>
              </a:rPr>
              <a:t>Clase 8</a:t>
            </a:r>
            <a:endParaRPr/>
          </a:p>
        </p:txBody>
      </p:sp>
      <p:sp>
        <p:nvSpPr>
          <p:cNvPr id="100" name="Google Shape;100;p1"/>
          <p:cNvSpPr txBox="1"/>
          <p:nvPr/>
        </p:nvSpPr>
        <p:spPr>
          <a:xfrm>
            <a:off x="5749900" y="1928781"/>
            <a:ext cx="6788200" cy="745641"/>
          </a:xfrm>
          <a:prstGeom prst="rect">
            <a:avLst/>
          </a:prstGeom>
          <a:noFill/>
          <a:ln>
            <a:noFill/>
          </a:ln>
        </p:spPr>
        <p:txBody>
          <a:bodyPr anchorCtr="0" anchor="t" bIns="0" lIns="0" spcFirstLastPara="1" rIns="0" wrap="square" tIns="0">
            <a:spAutoFit/>
          </a:bodyPr>
          <a:lstStyle/>
          <a:p>
            <a:pPr indent="0" lvl="0" marL="0" marR="0" rtl="0" algn="ctr">
              <a:lnSpc>
                <a:spcPct val="146007"/>
              </a:lnSpc>
              <a:spcBef>
                <a:spcPts val="0"/>
              </a:spcBef>
              <a:spcAft>
                <a:spcPts val="0"/>
              </a:spcAft>
              <a:buNone/>
            </a:pPr>
            <a:r>
              <a:rPr b="0" i="0" lang="en-US" sz="4245" u="none" cap="none" strike="noStrike">
                <a:solidFill>
                  <a:srgbClr val="000000"/>
                </a:solidFill>
                <a:latin typeface="Tenor Sans"/>
                <a:ea typeface="Tenor Sans"/>
                <a:cs typeface="Tenor Sans"/>
                <a:sym typeface="Tenor Sans"/>
              </a:rPr>
              <a:t>Segundo semestre 2024</a:t>
            </a:r>
            <a:endParaRPr/>
          </a:p>
        </p:txBody>
      </p:sp>
      <p:grpSp>
        <p:nvGrpSpPr>
          <p:cNvPr id="101" name="Google Shape;101;p1"/>
          <p:cNvGrpSpPr/>
          <p:nvPr/>
        </p:nvGrpSpPr>
        <p:grpSpPr>
          <a:xfrm>
            <a:off x="13804199" y="8269650"/>
            <a:ext cx="971055" cy="1115696"/>
            <a:chOff x="0" y="-47625"/>
            <a:chExt cx="255751" cy="293846"/>
          </a:xfrm>
        </p:grpSpPr>
        <p:sp>
          <p:nvSpPr>
            <p:cNvPr id="102" name="Google Shape;102;p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p:nvPr/>
        </p:nvSpPr>
        <p:spPr>
          <a:xfrm>
            <a:off x="5486400" y="3247530"/>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3">
              <a:alphaModFix/>
            </a:blip>
            <a:stretch>
              <a:fillRect b="0" l="0" r="0" t="0"/>
            </a:stretch>
          </a:blipFill>
          <a:ln>
            <a:noFill/>
          </a:ln>
        </p:spPr>
      </p:sp>
      <p:sp>
        <p:nvSpPr>
          <p:cNvPr id="109" name="Google Shape;109;p2"/>
          <p:cNvSpPr/>
          <p:nvPr/>
        </p:nvSpPr>
        <p:spPr>
          <a:xfrm>
            <a:off x="5486400" y="4459579"/>
            <a:ext cx="7315200" cy="824623"/>
          </a:xfrm>
          <a:custGeom>
            <a:rect b="b" l="l" r="r" t="t"/>
            <a:pathLst>
              <a:path extrusionOk="0" h="824623" w="7315200">
                <a:moveTo>
                  <a:pt x="0" y="0"/>
                </a:moveTo>
                <a:lnTo>
                  <a:pt x="7315200" y="0"/>
                </a:lnTo>
                <a:lnTo>
                  <a:pt x="7315200" y="824622"/>
                </a:lnTo>
                <a:lnTo>
                  <a:pt x="0" y="824622"/>
                </a:lnTo>
                <a:lnTo>
                  <a:pt x="0" y="0"/>
                </a:lnTo>
                <a:close/>
              </a:path>
            </a:pathLst>
          </a:custGeom>
          <a:blipFill rotWithShape="1">
            <a:blip r:embed="rId4">
              <a:alphaModFix/>
            </a:blip>
            <a:stretch>
              <a:fillRect b="0" l="0" r="0" t="0"/>
            </a:stretch>
          </a:blipFill>
          <a:ln>
            <a:noFill/>
          </a:ln>
        </p:spPr>
      </p:sp>
      <p:sp>
        <p:nvSpPr>
          <p:cNvPr id="110" name="Google Shape;110;p2"/>
          <p:cNvSpPr/>
          <p:nvPr/>
        </p:nvSpPr>
        <p:spPr>
          <a:xfrm>
            <a:off x="5486400" y="5674726"/>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5">
              <a:alphaModFix/>
            </a:blip>
            <a:stretch>
              <a:fillRect b="0" l="0" r="0" t="0"/>
            </a:stretch>
          </a:blipFill>
          <a:ln>
            <a:noFill/>
          </a:ln>
        </p:spPr>
      </p:sp>
      <p:sp>
        <p:nvSpPr>
          <p:cNvPr id="111" name="Google Shape;111;p2"/>
          <p:cNvSpPr/>
          <p:nvPr/>
        </p:nvSpPr>
        <p:spPr>
          <a:xfrm>
            <a:off x="5486400" y="6889874"/>
            <a:ext cx="7315200" cy="824623"/>
          </a:xfrm>
          <a:custGeom>
            <a:rect b="b" l="l" r="r" t="t"/>
            <a:pathLst>
              <a:path extrusionOk="0" h="824623" w="7315200">
                <a:moveTo>
                  <a:pt x="0" y="0"/>
                </a:moveTo>
                <a:lnTo>
                  <a:pt x="7315200" y="0"/>
                </a:lnTo>
                <a:lnTo>
                  <a:pt x="7315200" y="824622"/>
                </a:lnTo>
                <a:lnTo>
                  <a:pt x="0" y="824622"/>
                </a:lnTo>
                <a:lnTo>
                  <a:pt x="0" y="0"/>
                </a:lnTo>
                <a:close/>
              </a:path>
            </a:pathLst>
          </a:custGeom>
          <a:blipFill rotWithShape="1">
            <a:blip r:embed="rId6">
              <a:alphaModFix/>
            </a:blip>
            <a:stretch>
              <a:fillRect b="0" l="0" r="0" t="0"/>
            </a:stretch>
          </a:blipFill>
          <a:ln>
            <a:noFill/>
          </a:ln>
        </p:spPr>
      </p:sp>
      <p:sp>
        <p:nvSpPr>
          <p:cNvPr id="112" name="Google Shape;112;p2"/>
          <p:cNvSpPr/>
          <p:nvPr/>
        </p:nvSpPr>
        <p:spPr>
          <a:xfrm>
            <a:off x="5486400" y="8105021"/>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4">
              <a:alphaModFix/>
            </a:blip>
            <a:stretch>
              <a:fillRect b="0" l="0" r="0" t="0"/>
            </a:stretch>
          </a:blipFill>
          <a:ln>
            <a:noFill/>
          </a:ln>
        </p:spPr>
      </p:sp>
      <p:sp>
        <p:nvSpPr>
          <p:cNvPr id="113" name="Google Shape;113;p2"/>
          <p:cNvSpPr/>
          <p:nvPr/>
        </p:nvSpPr>
        <p:spPr>
          <a:xfrm rot="10800000">
            <a:off x="134706" y="5284201"/>
            <a:ext cx="4372659" cy="4878220"/>
          </a:xfrm>
          <a:custGeom>
            <a:rect b="b" l="l" r="r" t="t"/>
            <a:pathLst>
              <a:path extrusionOk="0" h="4878220" w="4372659">
                <a:moveTo>
                  <a:pt x="0" y="0"/>
                </a:moveTo>
                <a:lnTo>
                  <a:pt x="4372659" y="0"/>
                </a:lnTo>
                <a:lnTo>
                  <a:pt x="4372659" y="4878220"/>
                </a:lnTo>
                <a:lnTo>
                  <a:pt x="0" y="4878220"/>
                </a:lnTo>
                <a:lnTo>
                  <a:pt x="0" y="0"/>
                </a:lnTo>
                <a:close/>
              </a:path>
            </a:pathLst>
          </a:custGeom>
          <a:blipFill rotWithShape="1">
            <a:blip r:embed="rId7">
              <a:alphaModFix/>
            </a:blip>
            <a:stretch>
              <a:fillRect b="0" l="0" r="0" t="0"/>
            </a:stretch>
          </a:blipFill>
          <a:ln>
            <a:noFill/>
          </a:ln>
        </p:spPr>
      </p:sp>
      <p:sp>
        <p:nvSpPr>
          <p:cNvPr id="114" name="Google Shape;114;p2"/>
          <p:cNvSpPr txBox="1"/>
          <p:nvPr/>
        </p:nvSpPr>
        <p:spPr>
          <a:xfrm>
            <a:off x="1711560" y="1285875"/>
            <a:ext cx="14864881" cy="1221538"/>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9708" u="none" cap="none" strike="noStrike">
                <a:solidFill>
                  <a:srgbClr val="022033"/>
                </a:solidFill>
                <a:latin typeface="Arial"/>
                <a:ea typeface="Arial"/>
                <a:cs typeface="Arial"/>
                <a:sym typeface="Arial"/>
              </a:rPr>
              <a:t>AGENDA</a:t>
            </a:r>
            <a:endParaRPr/>
          </a:p>
        </p:txBody>
      </p:sp>
      <p:sp>
        <p:nvSpPr>
          <p:cNvPr id="115" name="Google Shape;115;p2"/>
          <p:cNvSpPr txBox="1"/>
          <p:nvPr/>
        </p:nvSpPr>
        <p:spPr>
          <a:xfrm>
            <a:off x="6900484" y="3505233"/>
            <a:ext cx="4487032" cy="35427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DUDAS</a:t>
            </a:r>
            <a:endParaRPr/>
          </a:p>
        </p:txBody>
      </p:sp>
      <p:sp>
        <p:nvSpPr>
          <p:cNvPr id="116" name="Google Shape;116;p2"/>
          <p:cNvSpPr txBox="1"/>
          <p:nvPr/>
        </p:nvSpPr>
        <p:spPr>
          <a:xfrm>
            <a:off x="7404997" y="4722100"/>
            <a:ext cx="3478005" cy="35427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AVISOS</a:t>
            </a:r>
            <a:endParaRPr/>
          </a:p>
        </p:txBody>
      </p:sp>
      <p:sp>
        <p:nvSpPr>
          <p:cNvPr id="117" name="Google Shape;117;p2"/>
          <p:cNvSpPr txBox="1"/>
          <p:nvPr/>
        </p:nvSpPr>
        <p:spPr>
          <a:xfrm>
            <a:off x="6642075" y="5941426"/>
            <a:ext cx="5003851" cy="35427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EXPOSICIONES</a:t>
            </a:r>
            <a:endParaRPr/>
          </a:p>
        </p:txBody>
      </p:sp>
      <p:sp>
        <p:nvSpPr>
          <p:cNvPr id="118" name="Google Shape;118;p2"/>
          <p:cNvSpPr txBox="1"/>
          <p:nvPr/>
        </p:nvSpPr>
        <p:spPr>
          <a:xfrm>
            <a:off x="7404997" y="7156574"/>
            <a:ext cx="3478005" cy="35427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SERVERLESS</a:t>
            </a:r>
            <a:endParaRPr/>
          </a:p>
        </p:txBody>
      </p:sp>
      <p:sp>
        <p:nvSpPr>
          <p:cNvPr id="119" name="Google Shape;119;p2"/>
          <p:cNvSpPr txBox="1"/>
          <p:nvPr/>
        </p:nvSpPr>
        <p:spPr>
          <a:xfrm>
            <a:off x="7023536" y="8371721"/>
            <a:ext cx="4240928" cy="35427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EJEMPLO PRACTICO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9AB7"/>
        </a:solidFill>
      </p:bgPr>
    </p:bg>
    <p:spTree>
      <p:nvGrpSpPr>
        <p:cNvPr id="123" name="Shape 123"/>
        <p:cNvGrpSpPr/>
        <p:nvPr/>
      </p:nvGrpSpPr>
      <p:grpSpPr>
        <a:xfrm>
          <a:off x="0" y="0"/>
          <a:ext cx="0" cy="0"/>
          <a:chOff x="0" y="0"/>
          <a:chExt cx="0" cy="0"/>
        </a:xfrm>
      </p:grpSpPr>
      <p:sp>
        <p:nvSpPr>
          <p:cNvPr id="124" name="Google Shape;124;p3"/>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125" name="Google Shape;125;p3"/>
          <p:cNvGrpSpPr/>
          <p:nvPr/>
        </p:nvGrpSpPr>
        <p:grpSpPr>
          <a:xfrm>
            <a:off x="8403397" y="2004563"/>
            <a:ext cx="7953745" cy="1119292"/>
            <a:chOff x="0" y="-47625"/>
            <a:chExt cx="2094814" cy="294793"/>
          </a:xfrm>
        </p:grpSpPr>
        <p:sp>
          <p:nvSpPr>
            <p:cNvPr id="126" name="Google Shape;126;p3"/>
            <p:cNvSpPr/>
            <p:nvPr/>
          </p:nvSpPr>
          <p:spPr>
            <a:xfrm>
              <a:off x="0" y="0"/>
              <a:ext cx="2094814" cy="247168"/>
            </a:xfrm>
            <a:custGeom>
              <a:rect b="b" l="l" r="r" t="t"/>
              <a:pathLst>
                <a:path extrusionOk="0" h="247168" w="2094814">
                  <a:moveTo>
                    <a:pt x="25308" y="0"/>
                  </a:moveTo>
                  <a:lnTo>
                    <a:pt x="2069506" y="0"/>
                  </a:lnTo>
                  <a:cubicBezTo>
                    <a:pt x="2076218" y="0"/>
                    <a:pt x="2082655" y="2666"/>
                    <a:pt x="2087401" y="7412"/>
                  </a:cubicBezTo>
                  <a:cubicBezTo>
                    <a:pt x="2092147" y="12159"/>
                    <a:pt x="2094814" y="18596"/>
                    <a:pt x="2094814" y="25308"/>
                  </a:cubicBezTo>
                  <a:lnTo>
                    <a:pt x="2094814" y="221860"/>
                  </a:lnTo>
                  <a:cubicBezTo>
                    <a:pt x="2094814" y="228572"/>
                    <a:pt x="2092147" y="235009"/>
                    <a:pt x="2087401" y="239756"/>
                  </a:cubicBezTo>
                  <a:cubicBezTo>
                    <a:pt x="2082655" y="244502"/>
                    <a:pt x="2076218" y="247168"/>
                    <a:pt x="2069506" y="247168"/>
                  </a:cubicBezTo>
                  <a:lnTo>
                    <a:pt x="25308" y="247168"/>
                  </a:lnTo>
                  <a:cubicBezTo>
                    <a:pt x="11331" y="247168"/>
                    <a:pt x="0" y="235837"/>
                    <a:pt x="0" y="221860"/>
                  </a:cubicBezTo>
                  <a:lnTo>
                    <a:pt x="0" y="25308"/>
                  </a:lnTo>
                  <a:cubicBezTo>
                    <a:pt x="0" y="18596"/>
                    <a:pt x="2666" y="12159"/>
                    <a:pt x="7412" y="7412"/>
                  </a:cubicBezTo>
                  <a:cubicBezTo>
                    <a:pt x="12159" y="2666"/>
                    <a:pt x="18596" y="0"/>
                    <a:pt x="25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txBox="1"/>
            <p:nvPr/>
          </p:nvSpPr>
          <p:spPr>
            <a:xfrm>
              <a:off x="0" y="-47625"/>
              <a:ext cx="2094814" cy="2947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3"/>
          <p:cNvSpPr txBox="1"/>
          <p:nvPr/>
        </p:nvSpPr>
        <p:spPr>
          <a:xfrm>
            <a:off x="9345102" y="2482690"/>
            <a:ext cx="6029789" cy="43793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0" i="0" lang="en-US" sz="3475" u="none" cap="none" strike="noStrike">
                <a:solidFill>
                  <a:srgbClr val="000000"/>
                </a:solidFill>
                <a:latin typeface="Tenor Sans"/>
                <a:ea typeface="Tenor Sans"/>
                <a:cs typeface="Tenor Sans"/>
                <a:sym typeface="Tenor Sans"/>
              </a:rPr>
              <a:t>¿QUÉ ES SERVERLESS?</a:t>
            </a:r>
            <a:endParaRPr/>
          </a:p>
        </p:txBody>
      </p:sp>
      <p:sp>
        <p:nvSpPr>
          <p:cNvPr id="129" name="Google Shape;129;p3"/>
          <p:cNvSpPr/>
          <p:nvPr/>
        </p:nvSpPr>
        <p:spPr>
          <a:xfrm>
            <a:off x="388829" y="2344403"/>
            <a:ext cx="6332223" cy="6285833"/>
          </a:xfrm>
          <a:custGeom>
            <a:rect b="b" l="l" r="r" t="t"/>
            <a:pathLst>
              <a:path extrusionOk="0" h="6285833" w="6332223">
                <a:moveTo>
                  <a:pt x="0" y="0"/>
                </a:moveTo>
                <a:lnTo>
                  <a:pt x="6332223" y="0"/>
                </a:lnTo>
                <a:lnTo>
                  <a:pt x="6332223" y="6285833"/>
                </a:lnTo>
                <a:lnTo>
                  <a:pt x="0" y="6285833"/>
                </a:lnTo>
                <a:lnTo>
                  <a:pt x="0" y="0"/>
                </a:lnTo>
                <a:close/>
              </a:path>
            </a:pathLst>
          </a:custGeom>
          <a:blipFill rotWithShape="1">
            <a:blip r:embed="rId4">
              <a:alphaModFix/>
            </a:blip>
            <a:stretch>
              <a:fillRect b="0" l="0" r="0" t="0"/>
            </a:stretch>
          </a:blipFill>
          <a:ln>
            <a:noFill/>
          </a:ln>
        </p:spPr>
      </p:sp>
      <p:grpSp>
        <p:nvGrpSpPr>
          <p:cNvPr id="130" name="Google Shape;130;p3"/>
          <p:cNvGrpSpPr/>
          <p:nvPr/>
        </p:nvGrpSpPr>
        <p:grpSpPr>
          <a:xfrm>
            <a:off x="7142045" y="3350971"/>
            <a:ext cx="10437190" cy="4750639"/>
            <a:chOff x="0" y="-47625"/>
            <a:chExt cx="2748890" cy="1251197"/>
          </a:xfrm>
        </p:grpSpPr>
        <p:sp>
          <p:nvSpPr>
            <p:cNvPr id="131" name="Google Shape;131;p3"/>
            <p:cNvSpPr/>
            <p:nvPr/>
          </p:nvSpPr>
          <p:spPr>
            <a:xfrm>
              <a:off x="0" y="0"/>
              <a:ext cx="2748890" cy="1203572"/>
            </a:xfrm>
            <a:custGeom>
              <a:rect b="b" l="l" r="r" t="t"/>
              <a:pathLst>
                <a:path extrusionOk="0" h="1203572" w="2748890">
                  <a:moveTo>
                    <a:pt x="25962" y="0"/>
                  </a:moveTo>
                  <a:lnTo>
                    <a:pt x="2722928" y="0"/>
                  </a:lnTo>
                  <a:cubicBezTo>
                    <a:pt x="2729813" y="0"/>
                    <a:pt x="2736417" y="2735"/>
                    <a:pt x="2741286" y="7604"/>
                  </a:cubicBezTo>
                  <a:cubicBezTo>
                    <a:pt x="2746154" y="12473"/>
                    <a:pt x="2748890" y="19076"/>
                    <a:pt x="2748890" y="25962"/>
                  </a:cubicBezTo>
                  <a:lnTo>
                    <a:pt x="2748890" y="1177611"/>
                  </a:lnTo>
                  <a:cubicBezTo>
                    <a:pt x="2748890" y="1191949"/>
                    <a:pt x="2737266" y="1203572"/>
                    <a:pt x="2722928" y="1203572"/>
                  </a:cubicBezTo>
                  <a:lnTo>
                    <a:pt x="25962" y="1203572"/>
                  </a:lnTo>
                  <a:cubicBezTo>
                    <a:pt x="19076" y="1203572"/>
                    <a:pt x="12473" y="1200837"/>
                    <a:pt x="7604" y="1195968"/>
                  </a:cubicBezTo>
                  <a:cubicBezTo>
                    <a:pt x="2735" y="1191099"/>
                    <a:pt x="0" y="1184496"/>
                    <a:pt x="0" y="1177611"/>
                  </a:cubicBezTo>
                  <a:lnTo>
                    <a:pt x="0" y="25962"/>
                  </a:lnTo>
                  <a:cubicBezTo>
                    <a:pt x="0" y="19076"/>
                    <a:pt x="2735" y="12473"/>
                    <a:pt x="7604" y="7604"/>
                  </a:cubicBezTo>
                  <a:cubicBezTo>
                    <a:pt x="12473" y="2735"/>
                    <a:pt x="19076" y="0"/>
                    <a:pt x="259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txBox="1"/>
            <p:nvPr/>
          </p:nvSpPr>
          <p:spPr>
            <a:xfrm>
              <a:off x="0" y="-47625"/>
              <a:ext cx="2748890" cy="125119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3" name="Google Shape;133;p3"/>
          <p:cNvSpPr txBox="1"/>
          <p:nvPr/>
        </p:nvSpPr>
        <p:spPr>
          <a:xfrm>
            <a:off x="7752281" y="3954838"/>
            <a:ext cx="9255978" cy="353422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None/>
            </a:pPr>
            <a:r>
              <a:rPr b="0" i="0" lang="en-US" sz="3357" u="none" cap="none" strike="noStrike">
                <a:solidFill>
                  <a:srgbClr val="000000"/>
                </a:solidFill>
                <a:latin typeface="Tenor Sans"/>
                <a:ea typeface="Tenor Sans"/>
                <a:cs typeface="Tenor Sans"/>
                <a:sym typeface="Tenor Sans"/>
              </a:rPr>
              <a:t>Serverless computing es un modelo de ejecución de computación en la nube en el que el proveedor de los servicios en la nube destina por demanda recursos de las máquinas virtuales, cuidando de los servidores por sus clientes.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6B5D3"/>
        </a:solidFill>
      </p:bgPr>
    </p:bg>
    <p:spTree>
      <p:nvGrpSpPr>
        <p:cNvPr id="137" name="Shape 137"/>
        <p:cNvGrpSpPr/>
        <p:nvPr/>
      </p:nvGrpSpPr>
      <p:grpSpPr>
        <a:xfrm>
          <a:off x="0" y="0"/>
          <a:ext cx="0" cy="0"/>
          <a:chOff x="0" y="0"/>
          <a:chExt cx="0" cy="0"/>
        </a:xfrm>
      </p:grpSpPr>
      <p:grpSp>
        <p:nvGrpSpPr>
          <p:cNvPr id="138" name="Google Shape;138;p4"/>
          <p:cNvGrpSpPr/>
          <p:nvPr/>
        </p:nvGrpSpPr>
        <p:grpSpPr>
          <a:xfrm>
            <a:off x="7962789" y="621197"/>
            <a:ext cx="9296511" cy="8863784"/>
            <a:chOff x="0" y="-47625"/>
            <a:chExt cx="2448464" cy="2334494"/>
          </a:xfrm>
        </p:grpSpPr>
        <p:sp>
          <p:nvSpPr>
            <p:cNvPr id="139" name="Google Shape;139;p4"/>
            <p:cNvSpPr/>
            <p:nvPr/>
          </p:nvSpPr>
          <p:spPr>
            <a:xfrm>
              <a:off x="0" y="0"/>
              <a:ext cx="2448464" cy="2286869"/>
            </a:xfrm>
            <a:custGeom>
              <a:rect b="b" l="l" r="r" t="t"/>
              <a:pathLst>
                <a:path extrusionOk="0" h="2286869" w="2448464">
                  <a:moveTo>
                    <a:pt x="29147" y="0"/>
                  </a:moveTo>
                  <a:lnTo>
                    <a:pt x="2419316" y="0"/>
                  </a:lnTo>
                  <a:cubicBezTo>
                    <a:pt x="2435414" y="0"/>
                    <a:pt x="2448464" y="13050"/>
                    <a:pt x="2448464" y="29147"/>
                  </a:cubicBezTo>
                  <a:lnTo>
                    <a:pt x="2448464" y="2257721"/>
                  </a:lnTo>
                  <a:cubicBezTo>
                    <a:pt x="2448464" y="2265452"/>
                    <a:pt x="2445393" y="2272865"/>
                    <a:pt x="2439927" y="2278331"/>
                  </a:cubicBezTo>
                  <a:cubicBezTo>
                    <a:pt x="2434461" y="2283798"/>
                    <a:pt x="2427047" y="2286869"/>
                    <a:pt x="2419316" y="2286869"/>
                  </a:cubicBezTo>
                  <a:lnTo>
                    <a:pt x="29147" y="2286869"/>
                  </a:lnTo>
                  <a:cubicBezTo>
                    <a:pt x="21417" y="2286869"/>
                    <a:pt x="14003" y="2283798"/>
                    <a:pt x="8537" y="2278331"/>
                  </a:cubicBezTo>
                  <a:cubicBezTo>
                    <a:pt x="3071" y="2272865"/>
                    <a:pt x="0" y="2265452"/>
                    <a:pt x="0" y="2257721"/>
                  </a:cubicBezTo>
                  <a:lnTo>
                    <a:pt x="0" y="29147"/>
                  </a:lnTo>
                  <a:cubicBezTo>
                    <a:pt x="0" y="21417"/>
                    <a:pt x="3071" y="14003"/>
                    <a:pt x="8537" y="8537"/>
                  </a:cubicBezTo>
                  <a:cubicBezTo>
                    <a:pt x="14003" y="3071"/>
                    <a:pt x="21417" y="0"/>
                    <a:pt x="291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47625"/>
              <a:ext cx="2448464" cy="23344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634933" y="1903232"/>
            <a:ext cx="6409614" cy="6838965"/>
          </a:xfrm>
          <a:custGeom>
            <a:rect b="b" l="l" r="r" t="t"/>
            <a:pathLst>
              <a:path extrusionOk="0" h="6838965" w="6409614">
                <a:moveTo>
                  <a:pt x="0" y="0"/>
                </a:moveTo>
                <a:lnTo>
                  <a:pt x="6409615" y="0"/>
                </a:lnTo>
                <a:lnTo>
                  <a:pt x="6409615" y="6838965"/>
                </a:lnTo>
                <a:lnTo>
                  <a:pt x="0" y="6838965"/>
                </a:lnTo>
                <a:lnTo>
                  <a:pt x="0" y="0"/>
                </a:lnTo>
                <a:close/>
              </a:path>
            </a:pathLst>
          </a:custGeom>
          <a:blipFill rotWithShape="1">
            <a:blip r:embed="rId3">
              <a:alphaModFix/>
            </a:blip>
            <a:stretch>
              <a:fillRect b="0" l="0" r="-4222" t="0"/>
            </a:stretch>
          </a:blipFill>
          <a:ln>
            <a:noFill/>
          </a:ln>
        </p:spPr>
      </p:sp>
      <p:sp>
        <p:nvSpPr>
          <p:cNvPr id="142" name="Google Shape;142;p4"/>
          <p:cNvSpPr txBox="1"/>
          <p:nvPr/>
        </p:nvSpPr>
        <p:spPr>
          <a:xfrm>
            <a:off x="8476392" y="1283877"/>
            <a:ext cx="8280701" cy="3655723"/>
          </a:xfrm>
          <a:prstGeom prst="rect">
            <a:avLst/>
          </a:prstGeom>
          <a:noFill/>
          <a:ln>
            <a:noFill/>
          </a:ln>
        </p:spPr>
        <p:txBody>
          <a:bodyPr anchorCtr="0" anchor="t" bIns="0" lIns="0" spcFirstLastPara="1" rIns="0" wrap="square" tIns="0">
            <a:spAutoFit/>
          </a:bodyPr>
          <a:lstStyle/>
          <a:p>
            <a:pPr indent="0" lvl="0" marL="0" marR="0" rtl="0" algn="just">
              <a:lnSpc>
                <a:spcPct val="149982"/>
              </a:lnSpc>
              <a:spcBef>
                <a:spcPts val="0"/>
              </a:spcBef>
              <a:spcAft>
                <a:spcPts val="0"/>
              </a:spcAft>
              <a:buNone/>
            </a:pPr>
            <a:r>
              <a:rPr b="0" i="0" lang="en-US" sz="2799" u="none" cap="none" strike="noStrike">
                <a:solidFill>
                  <a:srgbClr val="000000"/>
                </a:solidFill>
                <a:latin typeface="Tenor Sans"/>
                <a:ea typeface="Tenor Sans"/>
                <a:cs typeface="Tenor Sans"/>
                <a:sym typeface="Tenor Sans"/>
              </a:rPr>
              <a:t>Con esta arquitectua podemos trasladar más responsabilidades operativas a AWS y se aumenta la agilidad y la innovacion. Gracias a la informática sin servidor, podemos crear y ejecutar aplicaciones y servicios sin tener que preocuparnos por los servidores.</a:t>
            </a:r>
            <a:endParaRPr/>
          </a:p>
        </p:txBody>
      </p:sp>
      <p:sp>
        <p:nvSpPr>
          <p:cNvPr id="143" name="Google Shape;143;p4"/>
          <p:cNvSpPr txBox="1"/>
          <p:nvPr/>
        </p:nvSpPr>
        <p:spPr>
          <a:xfrm>
            <a:off x="8476392" y="5610349"/>
            <a:ext cx="8280701" cy="3131848"/>
          </a:xfrm>
          <a:prstGeom prst="rect">
            <a:avLst/>
          </a:prstGeom>
          <a:noFill/>
          <a:ln>
            <a:noFill/>
          </a:ln>
        </p:spPr>
        <p:txBody>
          <a:bodyPr anchorCtr="0" anchor="t" bIns="0" lIns="0" spcFirstLastPara="1" rIns="0" wrap="square" tIns="0">
            <a:spAutoFit/>
          </a:bodyPr>
          <a:lstStyle/>
          <a:p>
            <a:pPr indent="0" lvl="0" marL="0" marR="0" rtl="0" algn="just">
              <a:lnSpc>
                <a:spcPct val="149982"/>
              </a:lnSpc>
              <a:spcBef>
                <a:spcPts val="0"/>
              </a:spcBef>
              <a:spcAft>
                <a:spcPts val="0"/>
              </a:spcAft>
              <a:buNone/>
            </a:pPr>
            <a:r>
              <a:rPr b="0" i="0" lang="en-US" sz="2799" u="none" cap="none" strike="noStrike">
                <a:solidFill>
                  <a:srgbClr val="000000"/>
                </a:solidFill>
                <a:latin typeface="Tenor Sans"/>
                <a:ea typeface="Tenor Sans"/>
                <a:cs typeface="Tenor Sans"/>
                <a:sym typeface="Tenor Sans"/>
              </a:rPr>
              <a:t>Nos permite eliminar las tareas de administración de infraestructura, como el aprovicionamiento de servidores, clústeres, parches, el mantenimiento de sistemas operativos y la capacidad de aprovisionamiento.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5"/>
          <p:cNvGrpSpPr/>
          <p:nvPr/>
        </p:nvGrpSpPr>
        <p:grpSpPr>
          <a:xfrm>
            <a:off x="1028700" y="3440181"/>
            <a:ext cx="7432615" cy="5433142"/>
            <a:chOff x="0" y="-38100"/>
            <a:chExt cx="1957561" cy="1430951"/>
          </a:xfrm>
        </p:grpSpPr>
        <p:sp>
          <p:nvSpPr>
            <p:cNvPr id="149" name="Google Shape;149;p5"/>
            <p:cNvSpPr/>
            <p:nvPr/>
          </p:nvSpPr>
          <p:spPr>
            <a:xfrm>
              <a:off x="0" y="0"/>
              <a:ext cx="1957561" cy="1392851"/>
            </a:xfrm>
            <a:custGeom>
              <a:rect b="b" l="l" r="r" t="t"/>
              <a:pathLst>
                <a:path extrusionOk="0" h="1392851" w="1957561">
                  <a:moveTo>
                    <a:pt x="53122" y="0"/>
                  </a:moveTo>
                  <a:lnTo>
                    <a:pt x="1904439" y="0"/>
                  </a:lnTo>
                  <a:cubicBezTo>
                    <a:pt x="1918528" y="0"/>
                    <a:pt x="1932040" y="5597"/>
                    <a:pt x="1942002" y="15559"/>
                  </a:cubicBezTo>
                  <a:cubicBezTo>
                    <a:pt x="1951964" y="25522"/>
                    <a:pt x="1957561" y="39033"/>
                    <a:pt x="1957561" y="53122"/>
                  </a:cubicBezTo>
                  <a:lnTo>
                    <a:pt x="1957561" y="1339729"/>
                  </a:lnTo>
                  <a:cubicBezTo>
                    <a:pt x="1957561" y="1369067"/>
                    <a:pt x="1933778" y="1392851"/>
                    <a:pt x="1904439" y="1392851"/>
                  </a:cubicBezTo>
                  <a:lnTo>
                    <a:pt x="53122" y="1392851"/>
                  </a:lnTo>
                  <a:cubicBezTo>
                    <a:pt x="23784" y="1392851"/>
                    <a:pt x="0" y="1369067"/>
                    <a:pt x="0" y="1339729"/>
                  </a:cubicBezTo>
                  <a:lnTo>
                    <a:pt x="0" y="53122"/>
                  </a:lnTo>
                  <a:cubicBezTo>
                    <a:pt x="0" y="23784"/>
                    <a:pt x="23784" y="0"/>
                    <a:pt x="53122"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txBox="1"/>
            <p:nvPr/>
          </p:nvSpPr>
          <p:spPr>
            <a:xfrm>
              <a:off x="0" y="-38100"/>
              <a:ext cx="1957561" cy="14309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1" name="Google Shape;151;p5"/>
          <p:cNvSpPr txBox="1"/>
          <p:nvPr/>
        </p:nvSpPr>
        <p:spPr>
          <a:xfrm>
            <a:off x="4726559" y="698305"/>
            <a:ext cx="9367706" cy="1687195"/>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22033"/>
                </a:solidFill>
                <a:latin typeface="Arial"/>
                <a:ea typeface="Arial"/>
                <a:cs typeface="Arial"/>
                <a:sym typeface="Arial"/>
              </a:rPr>
              <a:t>¿QUÉ SERVICIOS OFRECE AWS?</a:t>
            </a:r>
            <a:endParaRPr/>
          </a:p>
        </p:txBody>
      </p:sp>
      <p:sp>
        <p:nvSpPr>
          <p:cNvPr id="152" name="Google Shape;152;p5"/>
          <p:cNvSpPr txBox="1"/>
          <p:nvPr/>
        </p:nvSpPr>
        <p:spPr>
          <a:xfrm>
            <a:off x="1007027" y="4002170"/>
            <a:ext cx="7439064" cy="547046"/>
          </a:xfrm>
          <a:prstGeom prst="rect">
            <a:avLst/>
          </a:prstGeom>
          <a:noFill/>
          <a:ln>
            <a:noFill/>
          </a:ln>
        </p:spPr>
        <p:txBody>
          <a:bodyPr anchorCtr="0" anchor="t" bIns="0" lIns="0" spcFirstLastPara="1" rIns="0" wrap="square" tIns="0">
            <a:spAutoFit/>
          </a:bodyPr>
          <a:lstStyle/>
          <a:p>
            <a:pPr indent="0" lvl="0" marL="0" marR="0" rtl="0" algn="ctr">
              <a:lnSpc>
                <a:spcPct val="92001"/>
              </a:lnSpc>
              <a:spcBef>
                <a:spcPts val="0"/>
              </a:spcBef>
              <a:spcAft>
                <a:spcPts val="0"/>
              </a:spcAft>
              <a:buNone/>
            </a:pPr>
            <a:r>
              <a:rPr b="0" i="0" lang="en-US" sz="4401" u="none" cap="none" strike="noStrike">
                <a:solidFill>
                  <a:srgbClr val="022033"/>
                </a:solidFill>
                <a:latin typeface="Tenor Sans"/>
                <a:ea typeface="Tenor Sans"/>
                <a:cs typeface="Tenor Sans"/>
                <a:sym typeface="Tenor Sans"/>
              </a:rPr>
              <a:t>ALMACENAMIENTO</a:t>
            </a:r>
            <a:endParaRPr/>
          </a:p>
        </p:txBody>
      </p:sp>
      <p:sp>
        <p:nvSpPr>
          <p:cNvPr id="153" name="Google Shape;153;p5"/>
          <p:cNvSpPr txBox="1"/>
          <p:nvPr/>
        </p:nvSpPr>
        <p:spPr>
          <a:xfrm>
            <a:off x="1414788" y="4741630"/>
            <a:ext cx="6515479" cy="3733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022033"/>
                </a:solidFill>
                <a:latin typeface="Tenor Sans"/>
                <a:ea typeface="Tenor Sans"/>
                <a:cs typeface="Tenor Sans"/>
                <a:sym typeface="Tenor Sans"/>
              </a:rPr>
              <a:t>Amazon ofrece S3 a los desarrolladores y los equipos de TI como un almacenamiento de objetos seguro, duradero y altamente escalable. Es fácil de utilizar y con una sencilla interfaz web.</a:t>
            </a:r>
            <a:endParaRPr/>
          </a:p>
        </p:txBody>
      </p:sp>
      <p:grpSp>
        <p:nvGrpSpPr>
          <p:cNvPr id="154" name="Google Shape;154;p5"/>
          <p:cNvGrpSpPr/>
          <p:nvPr/>
        </p:nvGrpSpPr>
        <p:grpSpPr>
          <a:xfrm>
            <a:off x="9826685" y="3440181"/>
            <a:ext cx="7432615" cy="5433142"/>
            <a:chOff x="0" y="-38100"/>
            <a:chExt cx="1957561" cy="1430951"/>
          </a:xfrm>
        </p:grpSpPr>
        <p:sp>
          <p:nvSpPr>
            <p:cNvPr id="155" name="Google Shape;155;p5"/>
            <p:cNvSpPr/>
            <p:nvPr/>
          </p:nvSpPr>
          <p:spPr>
            <a:xfrm>
              <a:off x="0" y="0"/>
              <a:ext cx="1957561" cy="1392851"/>
            </a:xfrm>
            <a:custGeom>
              <a:rect b="b" l="l" r="r" t="t"/>
              <a:pathLst>
                <a:path extrusionOk="0" h="1392851" w="1957561">
                  <a:moveTo>
                    <a:pt x="53122" y="0"/>
                  </a:moveTo>
                  <a:lnTo>
                    <a:pt x="1904439" y="0"/>
                  </a:lnTo>
                  <a:cubicBezTo>
                    <a:pt x="1918528" y="0"/>
                    <a:pt x="1932040" y="5597"/>
                    <a:pt x="1942002" y="15559"/>
                  </a:cubicBezTo>
                  <a:cubicBezTo>
                    <a:pt x="1951964" y="25522"/>
                    <a:pt x="1957561" y="39033"/>
                    <a:pt x="1957561" y="53122"/>
                  </a:cubicBezTo>
                  <a:lnTo>
                    <a:pt x="1957561" y="1339729"/>
                  </a:lnTo>
                  <a:cubicBezTo>
                    <a:pt x="1957561" y="1369067"/>
                    <a:pt x="1933778" y="1392851"/>
                    <a:pt x="1904439" y="1392851"/>
                  </a:cubicBezTo>
                  <a:lnTo>
                    <a:pt x="53122" y="1392851"/>
                  </a:lnTo>
                  <a:cubicBezTo>
                    <a:pt x="23784" y="1392851"/>
                    <a:pt x="0" y="1369067"/>
                    <a:pt x="0" y="1339729"/>
                  </a:cubicBezTo>
                  <a:lnTo>
                    <a:pt x="0" y="53122"/>
                  </a:lnTo>
                  <a:cubicBezTo>
                    <a:pt x="0" y="23784"/>
                    <a:pt x="23784" y="0"/>
                    <a:pt x="53122"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0" y="-38100"/>
              <a:ext cx="1957561" cy="14309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5"/>
          <p:cNvSpPr txBox="1"/>
          <p:nvPr/>
        </p:nvSpPr>
        <p:spPr>
          <a:xfrm>
            <a:off x="9826685" y="4002170"/>
            <a:ext cx="7439064" cy="547046"/>
          </a:xfrm>
          <a:prstGeom prst="rect">
            <a:avLst/>
          </a:prstGeom>
          <a:noFill/>
          <a:ln>
            <a:noFill/>
          </a:ln>
        </p:spPr>
        <p:txBody>
          <a:bodyPr anchorCtr="0" anchor="t" bIns="0" lIns="0" spcFirstLastPara="1" rIns="0" wrap="square" tIns="0">
            <a:spAutoFit/>
          </a:bodyPr>
          <a:lstStyle/>
          <a:p>
            <a:pPr indent="0" lvl="0" marL="0" marR="0" rtl="0" algn="ctr">
              <a:lnSpc>
                <a:spcPct val="92001"/>
              </a:lnSpc>
              <a:spcBef>
                <a:spcPts val="0"/>
              </a:spcBef>
              <a:spcAft>
                <a:spcPts val="0"/>
              </a:spcAft>
              <a:buNone/>
            </a:pPr>
            <a:r>
              <a:rPr b="0" i="0" lang="en-US" sz="4401" u="none" cap="none" strike="noStrike">
                <a:solidFill>
                  <a:srgbClr val="022033"/>
                </a:solidFill>
                <a:latin typeface="Tenor Sans"/>
                <a:ea typeface="Tenor Sans"/>
                <a:cs typeface="Tenor Sans"/>
                <a:sym typeface="Tenor Sans"/>
              </a:rPr>
              <a:t>INFORMATICA</a:t>
            </a:r>
            <a:endParaRPr/>
          </a:p>
        </p:txBody>
      </p:sp>
      <p:sp>
        <p:nvSpPr>
          <p:cNvPr id="158" name="Google Shape;158;p5"/>
          <p:cNvSpPr txBox="1"/>
          <p:nvPr/>
        </p:nvSpPr>
        <p:spPr>
          <a:xfrm>
            <a:off x="10308512" y="4741630"/>
            <a:ext cx="6528840" cy="3733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022033"/>
                </a:solidFill>
                <a:latin typeface="Tenor Sans"/>
                <a:ea typeface="Tenor Sans"/>
                <a:cs typeface="Tenor Sans"/>
                <a:sym typeface="Tenor Sans"/>
              </a:rPr>
              <a:t>AWS Lambda nos permite ejecutar codigo sin aprovisionar ni administrar servidores. Solo pagaremos por el tiempo de computo que consumamos, no se aplican cargos si no se ejecuta.</a:t>
            </a:r>
            <a:endParaRPr/>
          </a:p>
        </p:txBody>
      </p:sp>
      <p:sp>
        <p:nvSpPr>
          <p:cNvPr id="159" name="Google Shape;159;p5"/>
          <p:cNvSpPr/>
          <p:nvPr/>
        </p:nvSpPr>
        <p:spPr>
          <a:xfrm rot="10800000">
            <a:off x="-202604" y="-22693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160" name="Google Shape;160;p5"/>
          <p:cNvGrpSpPr/>
          <p:nvPr/>
        </p:nvGrpSpPr>
        <p:grpSpPr>
          <a:xfrm>
            <a:off x="7490259" y="8261228"/>
            <a:ext cx="971055" cy="1079531"/>
            <a:chOff x="0" y="-38100"/>
            <a:chExt cx="255751" cy="284321"/>
          </a:xfrm>
        </p:grpSpPr>
        <p:sp>
          <p:nvSpPr>
            <p:cNvPr id="161" name="Google Shape;161;p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3" name="Google Shape;163;p5"/>
          <p:cNvGrpSpPr/>
          <p:nvPr/>
        </p:nvGrpSpPr>
        <p:grpSpPr>
          <a:xfrm>
            <a:off x="15070059" y="-1671910"/>
            <a:ext cx="4378481" cy="4378481"/>
            <a:chOff x="0" y="0"/>
            <a:chExt cx="812800" cy="812800"/>
          </a:xfrm>
        </p:grpSpPr>
        <p:sp>
          <p:nvSpPr>
            <p:cNvPr id="164" name="Google Shape;16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9AB7"/>
        </a:solidFill>
      </p:bgPr>
    </p:bg>
    <p:spTree>
      <p:nvGrpSpPr>
        <p:cNvPr id="169" name="Shape 169"/>
        <p:cNvGrpSpPr/>
        <p:nvPr/>
      </p:nvGrpSpPr>
      <p:grpSpPr>
        <a:xfrm>
          <a:off x="0" y="0"/>
          <a:ext cx="0" cy="0"/>
          <a:chOff x="0" y="0"/>
          <a:chExt cx="0" cy="0"/>
        </a:xfrm>
      </p:grpSpPr>
      <p:grpSp>
        <p:nvGrpSpPr>
          <p:cNvPr id="170" name="Google Shape;170;p6"/>
          <p:cNvGrpSpPr/>
          <p:nvPr/>
        </p:nvGrpSpPr>
        <p:grpSpPr>
          <a:xfrm>
            <a:off x="1558733" y="3429986"/>
            <a:ext cx="7166801" cy="6054991"/>
            <a:chOff x="0" y="-47625"/>
            <a:chExt cx="1887553" cy="1594730"/>
          </a:xfrm>
        </p:grpSpPr>
        <p:sp>
          <p:nvSpPr>
            <p:cNvPr id="171" name="Google Shape;171;p6"/>
            <p:cNvSpPr/>
            <p:nvPr/>
          </p:nvSpPr>
          <p:spPr>
            <a:xfrm>
              <a:off x="0" y="0"/>
              <a:ext cx="1887553" cy="1547105"/>
            </a:xfrm>
            <a:custGeom>
              <a:rect b="b" l="l" r="r" t="t"/>
              <a:pathLst>
                <a:path extrusionOk="0" h="1547105" w="1887553">
                  <a:moveTo>
                    <a:pt x="37809" y="0"/>
                  </a:moveTo>
                  <a:lnTo>
                    <a:pt x="1849744" y="0"/>
                  </a:lnTo>
                  <a:cubicBezTo>
                    <a:pt x="1859771" y="0"/>
                    <a:pt x="1869388" y="3983"/>
                    <a:pt x="1876479" y="11074"/>
                  </a:cubicBezTo>
                  <a:cubicBezTo>
                    <a:pt x="1883569" y="18164"/>
                    <a:pt x="1887553" y="27781"/>
                    <a:pt x="1887553" y="37809"/>
                  </a:cubicBezTo>
                  <a:lnTo>
                    <a:pt x="1887553" y="1509297"/>
                  </a:lnTo>
                  <a:cubicBezTo>
                    <a:pt x="1887553" y="1519324"/>
                    <a:pt x="1883569" y="1528941"/>
                    <a:pt x="1876479" y="1536031"/>
                  </a:cubicBezTo>
                  <a:cubicBezTo>
                    <a:pt x="1869388" y="1543122"/>
                    <a:pt x="1859771" y="1547105"/>
                    <a:pt x="1849744" y="1547105"/>
                  </a:cubicBezTo>
                  <a:lnTo>
                    <a:pt x="37809" y="1547105"/>
                  </a:lnTo>
                  <a:cubicBezTo>
                    <a:pt x="27781" y="1547105"/>
                    <a:pt x="18164" y="1543122"/>
                    <a:pt x="11074" y="1536031"/>
                  </a:cubicBezTo>
                  <a:cubicBezTo>
                    <a:pt x="3983" y="1528941"/>
                    <a:pt x="0" y="1519324"/>
                    <a:pt x="0" y="1509297"/>
                  </a:cubicBezTo>
                  <a:lnTo>
                    <a:pt x="0" y="37809"/>
                  </a:lnTo>
                  <a:cubicBezTo>
                    <a:pt x="0" y="27781"/>
                    <a:pt x="3983" y="18164"/>
                    <a:pt x="11074" y="11074"/>
                  </a:cubicBezTo>
                  <a:cubicBezTo>
                    <a:pt x="18164" y="3983"/>
                    <a:pt x="27781" y="0"/>
                    <a:pt x="37809"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txBox="1"/>
            <p:nvPr/>
          </p:nvSpPr>
          <p:spPr>
            <a:xfrm>
              <a:off x="0" y="-47625"/>
              <a:ext cx="1887553" cy="159473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6"/>
          <p:cNvSpPr txBox="1"/>
          <p:nvPr/>
        </p:nvSpPr>
        <p:spPr>
          <a:xfrm>
            <a:off x="2226035" y="1353641"/>
            <a:ext cx="5832197" cy="1687195"/>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OTROS SERVICIOS</a:t>
            </a:r>
            <a:endParaRPr/>
          </a:p>
        </p:txBody>
      </p:sp>
      <p:grpSp>
        <p:nvGrpSpPr>
          <p:cNvPr id="174" name="Google Shape;174;p6"/>
          <p:cNvGrpSpPr/>
          <p:nvPr/>
        </p:nvGrpSpPr>
        <p:grpSpPr>
          <a:xfrm>
            <a:off x="9562466" y="621197"/>
            <a:ext cx="7166801" cy="8863784"/>
            <a:chOff x="0" y="-47625"/>
            <a:chExt cx="1887553" cy="2334494"/>
          </a:xfrm>
        </p:grpSpPr>
        <p:sp>
          <p:nvSpPr>
            <p:cNvPr id="175" name="Google Shape;175;p6"/>
            <p:cNvSpPr/>
            <p:nvPr/>
          </p:nvSpPr>
          <p:spPr>
            <a:xfrm>
              <a:off x="0" y="0"/>
              <a:ext cx="1887553" cy="2286869"/>
            </a:xfrm>
            <a:custGeom>
              <a:rect b="b" l="l" r="r" t="t"/>
              <a:pathLst>
                <a:path extrusionOk="0" h="2286869" w="1887553">
                  <a:moveTo>
                    <a:pt x="37809" y="0"/>
                  </a:moveTo>
                  <a:lnTo>
                    <a:pt x="1849744" y="0"/>
                  </a:lnTo>
                  <a:cubicBezTo>
                    <a:pt x="1859771" y="0"/>
                    <a:pt x="1869388" y="3983"/>
                    <a:pt x="1876479" y="11074"/>
                  </a:cubicBezTo>
                  <a:cubicBezTo>
                    <a:pt x="1883569" y="18164"/>
                    <a:pt x="1887553" y="27781"/>
                    <a:pt x="1887553" y="37809"/>
                  </a:cubicBezTo>
                  <a:lnTo>
                    <a:pt x="1887553" y="2249060"/>
                  </a:lnTo>
                  <a:cubicBezTo>
                    <a:pt x="1887553" y="2259087"/>
                    <a:pt x="1883569" y="2268704"/>
                    <a:pt x="1876479" y="2275795"/>
                  </a:cubicBezTo>
                  <a:cubicBezTo>
                    <a:pt x="1869388" y="2282885"/>
                    <a:pt x="1859771" y="2286869"/>
                    <a:pt x="1849744" y="2286869"/>
                  </a:cubicBezTo>
                  <a:lnTo>
                    <a:pt x="37809" y="2286869"/>
                  </a:lnTo>
                  <a:cubicBezTo>
                    <a:pt x="27781" y="2286869"/>
                    <a:pt x="18164" y="2282885"/>
                    <a:pt x="11074" y="2275795"/>
                  </a:cubicBezTo>
                  <a:cubicBezTo>
                    <a:pt x="3983" y="2268704"/>
                    <a:pt x="0" y="2259087"/>
                    <a:pt x="0" y="2249060"/>
                  </a:cubicBezTo>
                  <a:lnTo>
                    <a:pt x="0" y="37809"/>
                  </a:lnTo>
                  <a:cubicBezTo>
                    <a:pt x="0" y="27781"/>
                    <a:pt x="3983" y="18164"/>
                    <a:pt x="11074" y="11074"/>
                  </a:cubicBezTo>
                  <a:cubicBezTo>
                    <a:pt x="18164" y="3983"/>
                    <a:pt x="27781" y="0"/>
                    <a:pt x="378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0" y="-47625"/>
              <a:ext cx="1887553" cy="23344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6"/>
          <p:cNvSpPr txBox="1"/>
          <p:nvPr/>
        </p:nvSpPr>
        <p:spPr>
          <a:xfrm>
            <a:off x="10051459" y="2964636"/>
            <a:ext cx="6188815" cy="4800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000000"/>
                </a:solidFill>
                <a:latin typeface="Tenor Sans"/>
                <a:ea typeface="Tenor Sans"/>
                <a:cs typeface="Tenor Sans"/>
                <a:sym typeface="Tenor Sans"/>
              </a:rPr>
              <a:t>API Gateway es un servicio completamente administrado que facilita las tareas que realizan los desarrolladores para la creación, la publicación, el mantenimiento y la monitorización y la proteccion de las API a cualquier escala.</a:t>
            </a:r>
            <a:endParaRPr/>
          </a:p>
        </p:txBody>
      </p:sp>
      <p:sp>
        <p:nvSpPr>
          <p:cNvPr id="178" name="Google Shape;178;p6"/>
          <p:cNvSpPr txBox="1"/>
          <p:nvPr/>
        </p:nvSpPr>
        <p:spPr>
          <a:xfrm>
            <a:off x="1286469" y="3901283"/>
            <a:ext cx="7439064" cy="838835"/>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ALMACENAMIENTO DE DATOS</a:t>
            </a:r>
            <a:endParaRPr/>
          </a:p>
        </p:txBody>
      </p:sp>
      <p:sp>
        <p:nvSpPr>
          <p:cNvPr id="179" name="Google Shape;179;p6"/>
          <p:cNvSpPr txBox="1"/>
          <p:nvPr/>
        </p:nvSpPr>
        <p:spPr>
          <a:xfrm>
            <a:off x="1911594" y="4991100"/>
            <a:ext cx="6459530" cy="3733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000000"/>
                </a:solidFill>
                <a:latin typeface="Tenor Sans"/>
                <a:ea typeface="Tenor Sans"/>
                <a:cs typeface="Tenor Sans"/>
                <a:sym typeface="Tenor Sans"/>
              </a:rPr>
              <a:t>Dynamo DB es un servicio de base de datos NoSQL rápido y flexible para todas las aplicaciones en las que se requieran latencias de milisegundos de un solo dígito uniformes a cualqueir escala.</a:t>
            </a:r>
            <a:endParaRPr/>
          </a:p>
        </p:txBody>
      </p:sp>
      <p:sp>
        <p:nvSpPr>
          <p:cNvPr id="180" name="Google Shape;180;p6"/>
          <p:cNvSpPr txBox="1"/>
          <p:nvPr/>
        </p:nvSpPr>
        <p:spPr>
          <a:xfrm>
            <a:off x="9426334" y="1930221"/>
            <a:ext cx="7439064" cy="438785"/>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PROXY DE API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9AB7"/>
        </a:solidFill>
      </p:bgPr>
    </p:bg>
    <p:spTree>
      <p:nvGrpSpPr>
        <p:cNvPr id="184" name="Shape 184"/>
        <p:cNvGrpSpPr/>
        <p:nvPr/>
      </p:nvGrpSpPr>
      <p:grpSpPr>
        <a:xfrm>
          <a:off x="0" y="0"/>
          <a:ext cx="0" cy="0"/>
          <a:chOff x="0" y="0"/>
          <a:chExt cx="0" cy="0"/>
        </a:xfrm>
      </p:grpSpPr>
      <p:sp>
        <p:nvSpPr>
          <p:cNvPr id="185" name="Google Shape;185;p7"/>
          <p:cNvSpPr txBox="1"/>
          <p:nvPr/>
        </p:nvSpPr>
        <p:spPr>
          <a:xfrm>
            <a:off x="3057525" y="1353641"/>
            <a:ext cx="12172950"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AWS LAMBDA</a:t>
            </a:r>
            <a:endParaRPr/>
          </a:p>
        </p:txBody>
      </p:sp>
      <p:sp>
        <p:nvSpPr>
          <p:cNvPr id="186" name="Google Shape;186;p7"/>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sp>
        <p:nvSpPr>
          <p:cNvPr id="187" name="Google Shape;187;p7"/>
          <p:cNvSpPr/>
          <p:nvPr/>
        </p:nvSpPr>
        <p:spPr>
          <a:xfrm>
            <a:off x="12120594" y="4119594"/>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pic>
        <p:nvPicPr>
          <p:cNvPr id="188" name="Google Shape;188;p7"/>
          <p:cNvPicPr preferRelativeResize="0"/>
          <p:nvPr/>
        </p:nvPicPr>
        <p:blipFill rotWithShape="1">
          <a:blip r:embed="rId5">
            <a:alphaModFix/>
          </a:blip>
          <a:srcRect b="0" l="0" r="0" t="0"/>
          <a:stretch/>
        </p:blipFill>
        <p:spPr>
          <a:xfrm>
            <a:off x="3057525" y="3129063"/>
            <a:ext cx="12172950" cy="61292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p:nvPr/>
        </p:nvSpPr>
        <p:spPr>
          <a:xfrm>
            <a:off x="5391143" y="739859"/>
            <a:ext cx="7505714" cy="8807283"/>
          </a:xfrm>
          <a:custGeom>
            <a:rect b="b" l="l" r="r" t="t"/>
            <a:pathLst>
              <a:path extrusionOk="0" h="8807283" w="7505714">
                <a:moveTo>
                  <a:pt x="0" y="0"/>
                </a:moveTo>
                <a:lnTo>
                  <a:pt x="7505714" y="0"/>
                </a:lnTo>
                <a:lnTo>
                  <a:pt x="7505714" y="8807282"/>
                </a:lnTo>
                <a:lnTo>
                  <a:pt x="0" y="8807282"/>
                </a:lnTo>
                <a:lnTo>
                  <a:pt x="0" y="0"/>
                </a:lnTo>
                <a:close/>
              </a:path>
            </a:pathLst>
          </a:custGeom>
          <a:blipFill rotWithShape="1">
            <a:blip r:embed="rId3">
              <a:alphaModFix/>
            </a:blip>
            <a:stretch>
              <a:fillRect b="0" l="0" r="0" t="0"/>
            </a:stretch>
          </a:blipFill>
          <a:ln>
            <a:noFill/>
          </a:ln>
        </p:spPr>
      </p:sp>
      <p:sp>
        <p:nvSpPr>
          <p:cNvPr id="194" name="Google Shape;194;p8"/>
          <p:cNvSpPr/>
          <p:nvPr/>
        </p:nvSpPr>
        <p:spPr>
          <a:xfrm rot="10800000">
            <a:off x="-202604" y="-22693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195" name="Google Shape;195;p8"/>
          <p:cNvSpPr/>
          <p:nvPr/>
        </p:nvSpPr>
        <p:spPr>
          <a:xfrm>
            <a:off x="12120594" y="4119594"/>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A4D5"/>
        </a:solidFill>
      </p:bgPr>
    </p:bg>
    <p:spTree>
      <p:nvGrpSpPr>
        <p:cNvPr id="199" name="Shape 199"/>
        <p:cNvGrpSpPr/>
        <p:nvPr/>
      </p:nvGrpSpPr>
      <p:grpSpPr>
        <a:xfrm>
          <a:off x="0" y="0"/>
          <a:ext cx="0" cy="0"/>
          <a:chOff x="0" y="0"/>
          <a:chExt cx="0" cy="0"/>
        </a:xfrm>
      </p:grpSpPr>
      <p:sp>
        <p:nvSpPr>
          <p:cNvPr id="200" name="Google Shape;200;p9"/>
          <p:cNvSpPr txBox="1"/>
          <p:nvPr/>
        </p:nvSpPr>
        <p:spPr>
          <a:xfrm>
            <a:off x="1908891" y="2717835"/>
            <a:ext cx="13764154" cy="5559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AWS Lambda es un servicio sin servidor de Amazon Web Services que permite a los desarrolladores ejecutar código sin preocuparse por la gestión de la infraestructura subyacente.</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Tenor Sans"/>
              <a:ea typeface="Tenor Sans"/>
              <a:cs typeface="Tenor Sans"/>
              <a:sym typeface="Tenor Sans"/>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Las funciones en Lambda son invocadas en respuesta a eventos específicos, como cambios en datos de almacenamiento en S3 o actualizaciones en bases de datos en DynamoDB.</a:t>
            </a:r>
            <a:endParaRPr/>
          </a:p>
        </p:txBody>
      </p:sp>
      <p:sp>
        <p:nvSpPr>
          <p:cNvPr id="201" name="Google Shape;201;p9"/>
          <p:cNvSpPr txBox="1"/>
          <p:nvPr/>
        </p:nvSpPr>
        <p:spPr>
          <a:xfrm>
            <a:off x="1908891" y="1209675"/>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¿QUÉ ES AWS LAMBDA?</a:t>
            </a:r>
            <a:endParaRPr/>
          </a:p>
        </p:txBody>
      </p:sp>
      <p:grpSp>
        <p:nvGrpSpPr>
          <p:cNvPr id="202" name="Google Shape;202;p9"/>
          <p:cNvGrpSpPr/>
          <p:nvPr/>
        </p:nvGrpSpPr>
        <p:grpSpPr>
          <a:xfrm>
            <a:off x="16098759" y="604794"/>
            <a:ext cx="4378481" cy="4378481"/>
            <a:chOff x="0" y="0"/>
            <a:chExt cx="812800" cy="812800"/>
          </a:xfrm>
        </p:grpSpPr>
        <p:sp>
          <p:nvSpPr>
            <p:cNvPr id="203" name="Google Shape;203;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9"/>
          <p:cNvGrpSpPr/>
          <p:nvPr/>
        </p:nvGrpSpPr>
        <p:grpSpPr>
          <a:xfrm>
            <a:off x="16288245" y="5599386"/>
            <a:ext cx="971055" cy="1115696"/>
            <a:chOff x="0" y="-47625"/>
            <a:chExt cx="255751" cy="293846"/>
          </a:xfrm>
        </p:grpSpPr>
        <p:sp>
          <p:nvSpPr>
            <p:cNvPr id="206" name="Google Shape;206;p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780"/>
        </a:solidFill>
      </p:bgPr>
    </p:bg>
    <p:spTree>
      <p:nvGrpSpPr>
        <p:cNvPr id="211" name="Shape 211"/>
        <p:cNvGrpSpPr/>
        <p:nvPr/>
      </p:nvGrpSpPr>
      <p:grpSpPr>
        <a:xfrm>
          <a:off x="0" y="0"/>
          <a:ext cx="0" cy="0"/>
          <a:chOff x="0" y="0"/>
          <a:chExt cx="0" cy="0"/>
        </a:xfrm>
      </p:grpSpPr>
      <p:sp>
        <p:nvSpPr>
          <p:cNvPr id="212" name="Google Shape;212;p10"/>
          <p:cNvSpPr txBox="1"/>
          <p:nvPr/>
        </p:nvSpPr>
        <p:spPr>
          <a:xfrm>
            <a:off x="1908891" y="2717835"/>
            <a:ext cx="13764154" cy="5559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Admite varios lenguajes de programación, escala automáticamente según la carga de trabajo y factura solo por el tiempo de ejecución y los recursos utilizados.</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Tenor Sans"/>
              <a:ea typeface="Tenor Sans"/>
              <a:cs typeface="Tenor Sans"/>
              <a:sym typeface="Tenor Sans"/>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Su integración con otros servicios de AWS facilita la construcción de aplicaciones escalables y ágiles, permitiendo a los desarrolladores centrarse en la lógica de la aplicación sin preocuparse por la administración de la infraestructura.</a:t>
            </a:r>
            <a:endParaRPr/>
          </a:p>
        </p:txBody>
      </p:sp>
      <p:sp>
        <p:nvSpPr>
          <p:cNvPr id="213" name="Google Shape;213;p10"/>
          <p:cNvSpPr txBox="1"/>
          <p:nvPr/>
        </p:nvSpPr>
        <p:spPr>
          <a:xfrm>
            <a:off x="1908891" y="1209675"/>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¿QUÉ ES AWS LAMBDA?</a:t>
            </a:r>
            <a:endParaRPr/>
          </a:p>
        </p:txBody>
      </p:sp>
      <p:grpSp>
        <p:nvGrpSpPr>
          <p:cNvPr id="214" name="Google Shape;214;p10"/>
          <p:cNvGrpSpPr/>
          <p:nvPr/>
        </p:nvGrpSpPr>
        <p:grpSpPr>
          <a:xfrm>
            <a:off x="16098759" y="604794"/>
            <a:ext cx="4378481" cy="4378481"/>
            <a:chOff x="0" y="0"/>
            <a:chExt cx="812800" cy="812800"/>
          </a:xfrm>
        </p:grpSpPr>
        <p:sp>
          <p:nvSpPr>
            <p:cNvPr id="215" name="Google Shape;215;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10"/>
          <p:cNvGrpSpPr/>
          <p:nvPr/>
        </p:nvGrpSpPr>
        <p:grpSpPr>
          <a:xfrm>
            <a:off x="16288245" y="5599386"/>
            <a:ext cx="971055" cy="1115696"/>
            <a:chOff x="0" y="-47625"/>
            <a:chExt cx="255751" cy="293846"/>
          </a:xfrm>
        </p:grpSpPr>
        <p:sp>
          <p:nvSpPr>
            <p:cNvPr id="218" name="Google Shape;218;p1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1D1EF"/>
        </a:solidFill>
      </p:bgPr>
    </p:bg>
    <p:spTree>
      <p:nvGrpSpPr>
        <p:cNvPr id="223" name="Shape 223"/>
        <p:cNvGrpSpPr/>
        <p:nvPr/>
      </p:nvGrpSpPr>
      <p:grpSpPr>
        <a:xfrm>
          <a:off x="0" y="0"/>
          <a:ext cx="0" cy="0"/>
          <a:chOff x="0" y="0"/>
          <a:chExt cx="0" cy="0"/>
        </a:xfrm>
      </p:grpSpPr>
      <p:sp>
        <p:nvSpPr>
          <p:cNvPr id="224" name="Google Shape;224;p11"/>
          <p:cNvSpPr txBox="1"/>
          <p:nvPr/>
        </p:nvSpPr>
        <p:spPr>
          <a:xfrm>
            <a:off x="1423364" y="963571"/>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BENEFICIOS DE AWS LAMBDA</a:t>
            </a:r>
            <a:endParaRPr/>
          </a:p>
        </p:txBody>
      </p:sp>
      <p:grpSp>
        <p:nvGrpSpPr>
          <p:cNvPr id="225" name="Google Shape;225;p11"/>
          <p:cNvGrpSpPr/>
          <p:nvPr/>
        </p:nvGrpSpPr>
        <p:grpSpPr>
          <a:xfrm>
            <a:off x="16288245" y="-1160541"/>
            <a:ext cx="4378481" cy="4378481"/>
            <a:chOff x="0" y="0"/>
            <a:chExt cx="812800" cy="812800"/>
          </a:xfrm>
        </p:grpSpPr>
        <p:sp>
          <p:nvSpPr>
            <p:cNvPr id="226" name="Google Shape;22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11"/>
          <p:cNvGrpSpPr/>
          <p:nvPr/>
        </p:nvGrpSpPr>
        <p:grpSpPr>
          <a:xfrm>
            <a:off x="16288245" y="5599386"/>
            <a:ext cx="971055" cy="1115696"/>
            <a:chOff x="0" y="-47625"/>
            <a:chExt cx="255751" cy="293846"/>
          </a:xfrm>
        </p:grpSpPr>
        <p:sp>
          <p:nvSpPr>
            <p:cNvPr id="229" name="Google Shape;229;p1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11"/>
          <p:cNvSpPr/>
          <p:nvPr/>
        </p:nvSpPr>
        <p:spPr>
          <a:xfrm>
            <a:off x="733375" y="2514974"/>
            <a:ext cx="6824882" cy="6530475"/>
          </a:xfrm>
          <a:custGeom>
            <a:rect b="b" l="l" r="r" t="t"/>
            <a:pathLst>
              <a:path extrusionOk="0" h="6530475" w="6824882">
                <a:moveTo>
                  <a:pt x="0" y="0"/>
                </a:moveTo>
                <a:lnTo>
                  <a:pt x="6824882" y="0"/>
                </a:lnTo>
                <a:lnTo>
                  <a:pt x="6824882" y="6530475"/>
                </a:lnTo>
                <a:lnTo>
                  <a:pt x="0" y="6530475"/>
                </a:lnTo>
                <a:lnTo>
                  <a:pt x="0" y="0"/>
                </a:lnTo>
                <a:close/>
              </a:path>
            </a:pathLst>
          </a:custGeom>
          <a:blipFill rotWithShape="1">
            <a:blip r:embed="rId3">
              <a:alphaModFix/>
            </a:blip>
            <a:stretch>
              <a:fillRect b="0" l="0" r="0" t="0"/>
            </a:stretch>
          </a:blipFill>
          <a:ln>
            <a:noFill/>
          </a:ln>
        </p:spPr>
      </p:sp>
      <p:sp>
        <p:nvSpPr>
          <p:cNvPr id="232" name="Google Shape;232;p11"/>
          <p:cNvSpPr/>
          <p:nvPr/>
        </p:nvSpPr>
        <p:spPr>
          <a:xfrm>
            <a:off x="8001244" y="2463768"/>
            <a:ext cx="1347305" cy="6632887"/>
          </a:xfrm>
          <a:custGeom>
            <a:rect b="b" l="l" r="r" t="t"/>
            <a:pathLst>
              <a:path extrusionOk="0" h="6632887" w="1347305">
                <a:moveTo>
                  <a:pt x="0" y="0"/>
                </a:moveTo>
                <a:lnTo>
                  <a:pt x="1347306" y="0"/>
                </a:lnTo>
                <a:lnTo>
                  <a:pt x="1347306" y="6632887"/>
                </a:lnTo>
                <a:lnTo>
                  <a:pt x="0" y="6632887"/>
                </a:lnTo>
                <a:lnTo>
                  <a:pt x="0" y="0"/>
                </a:lnTo>
                <a:close/>
              </a:path>
            </a:pathLst>
          </a:custGeom>
          <a:blipFill rotWithShape="1">
            <a:blip r:embed="rId4">
              <a:alphaModFix/>
            </a:blip>
            <a:stretch>
              <a:fillRect b="0" l="0" r="0" t="0"/>
            </a:stretch>
          </a:blipFill>
          <a:ln>
            <a:noFill/>
          </a:ln>
        </p:spPr>
      </p:sp>
      <p:sp>
        <p:nvSpPr>
          <p:cNvPr id="233" name="Google Shape;233;p11"/>
          <p:cNvSpPr txBox="1"/>
          <p:nvPr/>
        </p:nvSpPr>
        <p:spPr>
          <a:xfrm>
            <a:off x="9348550" y="2865497"/>
            <a:ext cx="7282797"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Sin servidores para adminitrar</a:t>
            </a:r>
            <a:endParaRPr/>
          </a:p>
        </p:txBody>
      </p:sp>
      <p:sp>
        <p:nvSpPr>
          <p:cNvPr id="234" name="Google Shape;234;p11"/>
          <p:cNvSpPr txBox="1"/>
          <p:nvPr/>
        </p:nvSpPr>
        <p:spPr>
          <a:xfrm>
            <a:off x="9348550" y="4284755"/>
            <a:ext cx="7282797"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Escalado continuo</a:t>
            </a:r>
            <a:endParaRPr/>
          </a:p>
        </p:txBody>
      </p:sp>
      <p:sp>
        <p:nvSpPr>
          <p:cNvPr id="235" name="Google Shape;235;p11"/>
          <p:cNvSpPr txBox="1"/>
          <p:nvPr/>
        </p:nvSpPr>
        <p:spPr>
          <a:xfrm>
            <a:off x="9348550" y="5957980"/>
            <a:ext cx="7282797" cy="12255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Medicion de tiempos inferiores a 1 segundo.</a:t>
            </a:r>
            <a:endParaRPr/>
          </a:p>
        </p:txBody>
      </p:sp>
      <p:sp>
        <p:nvSpPr>
          <p:cNvPr id="236" name="Google Shape;236;p11"/>
          <p:cNvSpPr txBox="1"/>
          <p:nvPr/>
        </p:nvSpPr>
        <p:spPr>
          <a:xfrm>
            <a:off x="9490976" y="7964579"/>
            <a:ext cx="7282797"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Rendimiento constante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8AB9"/>
        </a:solidFill>
      </p:bgPr>
    </p:bg>
    <p:spTree>
      <p:nvGrpSpPr>
        <p:cNvPr id="240" name="Shape 240"/>
        <p:cNvGrpSpPr/>
        <p:nvPr/>
      </p:nvGrpSpPr>
      <p:grpSpPr>
        <a:xfrm>
          <a:off x="0" y="0"/>
          <a:ext cx="0" cy="0"/>
          <a:chOff x="0" y="0"/>
          <a:chExt cx="0" cy="0"/>
        </a:xfrm>
      </p:grpSpPr>
      <p:sp>
        <p:nvSpPr>
          <p:cNvPr id="241" name="Google Shape;241;p12"/>
          <p:cNvSpPr txBox="1"/>
          <p:nvPr/>
        </p:nvSpPr>
        <p:spPr>
          <a:xfrm>
            <a:off x="1028700" y="3456305"/>
            <a:ext cx="6980496" cy="1687195"/>
          </a:xfrm>
          <a:prstGeom prst="rect">
            <a:avLst/>
          </a:prstGeom>
          <a:noFill/>
          <a:ln>
            <a:noFill/>
          </a:ln>
        </p:spPr>
        <p:txBody>
          <a:bodyPr anchorCtr="0" anchor="t" bIns="0" lIns="0" spcFirstLastPara="1" rIns="0" wrap="square" tIns="0">
            <a:spAutoFit/>
          </a:bodyPr>
          <a:lstStyle/>
          <a:p>
            <a:pPr indent="0" lvl="0" marL="0" marR="0" rtl="0" algn="l">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¿QUE OFRECE LA CAPA GRATUITA?</a:t>
            </a:r>
            <a:endParaRPr/>
          </a:p>
        </p:txBody>
      </p:sp>
      <p:grpSp>
        <p:nvGrpSpPr>
          <p:cNvPr id="242" name="Google Shape;242;p12"/>
          <p:cNvGrpSpPr/>
          <p:nvPr/>
        </p:nvGrpSpPr>
        <p:grpSpPr>
          <a:xfrm>
            <a:off x="-533410" y="8097759"/>
            <a:ext cx="4378481" cy="4378481"/>
            <a:chOff x="0" y="0"/>
            <a:chExt cx="812800" cy="812800"/>
          </a:xfrm>
        </p:grpSpPr>
        <p:sp>
          <p:nvSpPr>
            <p:cNvPr id="243" name="Google Shape;24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12"/>
          <p:cNvGrpSpPr/>
          <p:nvPr/>
        </p:nvGrpSpPr>
        <p:grpSpPr>
          <a:xfrm>
            <a:off x="13291039" y="-2189241"/>
            <a:ext cx="4378481" cy="4378481"/>
            <a:chOff x="0" y="0"/>
            <a:chExt cx="812800" cy="812800"/>
          </a:xfrm>
        </p:grpSpPr>
        <p:sp>
          <p:nvSpPr>
            <p:cNvPr id="246" name="Google Shape;24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12"/>
          <p:cNvSpPr/>
          <p:nvPr/>
        </p:nvSpPr>
        <p:spPr>
          <a:xfrm>
            <a:off x="9144000" y="1103578"/>
            <a:ext cx="5429144" cy="8079844"/>
          </a:xfrm>
          <a:custGeom>
            <a:rect b="b" l="l" r="r" t="t"/>
            <a:pathLst>
              <a:path extrusionOk="0" h="8079844" w="5429144">
                <a:moveTo>
                  <a:pt x="0" y="0"/>
                </a:moveTo>
                <a:lnTo>
                  <a:pt x="5429144" y="0"/>
                </a:lnTo>
                <a:lnTo>
                  <a:pt x="5429144" y="8079844"/>
                </a:lnTo>
                <a:lnTo>
                  <a:pt x="0" y="807984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p:nvPr/>
        </p:nvSpPr>
        <p:spPr>
          <a:xfrm rot="10800000">
            <a:off x="-202604" y="-22693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54" name="Google Shape;254;p13"/>
          <p:cNvSpPr/>
          <p:nvPr/>
        </p:nvSpPr>
        <p:spPr>
          <a:xfrm>
            <a:off x="12120594" y="4119594"/>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255" name="Google Shape;255;p13"/>
          <p:cNvSpPr/>
          <p:nvPr/>
        </p:nvSpPr>
        <p:spPr>
          <a:xfrm>
            <a:off x="4968724" y="1624599"/>
            <a:ext cx="8350552" cy="7037801"/>
          </a:xfrm>
          <a:custGeom>
            <a:rect b="b" l="l" r="r" t="t"/>
            <a:pathLst>
              <a:path extrusionOk="0" h="7037801" w="8350552">
                <a:moveTo>
                  <a:pt x="0" y="0"/>
                </a:moveTo>
                <a:lnTo>
                  <a:pt x="8350552" y="0"/>
                </a:lnTo>
                <a:lnTo>
                  <a:pt x="8350552" y="7037802"/>
                </a:lnTo>
                <a:lnTo>
                  <a:pt x="0" y="703780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A4D5"/>
        </a:solidFill>
      </p:bgPr>
    </p:bg>
    <p:spTree>
      <p:nvGrpSpPr>
        <p:cNvPr id="259" name="Shape 259"/>
        <p:cNvGrpSpPr/>
        <p:nvPr/>
      </p:nvGrpSpPr>
      <p:grpSpPr>
        <a:xfrm>
          <a:off x="0" y="0"/>
          <a:ext cx="0" cy="0"/>
          <a:chOff x="0" y="0"/>
          <a:chExt cx="0" cy="0"/>
        </a:xfrm>
      </p:grpSpPr>
      <p:sp>
        <p:nvSpPr>
          <p:cNvPr id="260" name="Google Shape;260;p14"/>
          <p:cNvSpPr txBox="1"/>
          <p:nvPr/>
        </p:nvSpPr>
        <p:spPr>
          <a:xfrm>
            <a:off x="1908891" y="2033712"/>
            <a:ext cx="13764154" cy="7416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Amazon API Gateway es un servicio completamente administrado que facilita a los desarrolladores la creacion, la publicación, el mantenimiento, el monitorio y la proteccion de API a cualquier escala.</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Tenor Sans"/>
              <a:ea typeface="Tenor Sans"/>
              <a:cs typeface="Tenor Sans"/>
              <a:sym typeface="Tenor Sans"/>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Las API actuan como una puerta de entrada para que las aplicaciones accedan a los datos, la logia empresarial o la funcionalidad de sus servicios de backend.</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Tenor Sans"/>
              <a:ea typeface="Tenor Sans"/>
              <a:cs typeface="Tenor Sans"/>
              <a:sym typeface="Tenor Sans"/>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Con API Gateway puede crear API RestFul y API WebSocket que permitiendo apliaciones de comunicacion bidireccional en tiempo real.</a:t>
            </a:r>
            <a:endParaRPr/>
          </a:p>
        </p:txBody>
      </p:sp>
      <p:sp>
        <p:nvSpPr>
          <p:cNvPr id="261" name="Google Shape;261;p14"/>
          <p:cNvSpPr txBox="1"/>
          <p:nvPr/>
        </p:nvSpPr>
        <p:spPr>
          <a:xfrm>
            <a:off x="1711560" y="785769"/>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¿QUÉ ES API GATEWAY?</a:t>
            </a:r>
            <a:endParaRPr/>
          </a:p>
        </p:txBody>
      </p:sp>
      <p:grpSp>
        <p:nvGrpSpPr>
          <p:cNvPr id="262" name="Google Shape;262;p14"/>
          <p:cNvGrpSpPr/>
          <p:nvPr/>
        </p:nvGrpSpPr>
        <p:grpSpPr>
          <a:xfrm>
            <a:off x="16098759" y="604794"/>
            <a:ext cx="4378481" cy="4378481"/>
            <a:chOff x="0" y="0"/>
            <a:chExt cx="812800" cy="812800"/>
          </a:xfrm>
        </p:grpSpPr>
        <p:sp>
          <p:nvSpPr>
            <p:cNvPr id="263" name="Google Shape;263;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14"/>
          <p:cNvGrpSpPr/>
          <p:nvPr/>
        </p:nvGrpSpPr>
        <p:grpSpPr>
          <a:xfrm>
            <a:off x="16288245" y="5599386"/>
            <a:ext cx="971055" cy="1115696"/>
            <a:chOff x="0" y="-47625"/>
            <a:chExt cx="255751" cy="293846"/>
          </a:xfrm>
        </p:grpSpPr>
        <p:sp>
          <p:nvSpPr>
            <p:cNvPr id="266" name="Google Shape;266;p1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6B5D3"/>
        </a:solidFill>
      </p:bgPr>
    </p:bg>
    <p:spTree>
      <p:nvGrpSpPr>
        <p:cNvPr id="271" name="Shape 271"/>
        <p:cNvGrpSpPr/>
        <p:nvPr/>
      </p:nvGrpSpPr>
      <p:grpSpPr>
        <a:xfrm>
          <a:off x="0" y="0"/>
          <a:ext cx="0" cy="0"/>
          <a:chOff x="0" y="0"/>
          <a:chExt cx="0" cy="0"/>
        </a:xfrm>
      </p:grpSpPr>
      <p:sp>
        <p:nvSpPr>
          <p:cNvPr id="272" name="Google Shape;272;p15"/>
          <p:cNvSpPr txBox="1"/>
          <p:nvPr/>
        </p:nvSpPr>
        <p:spPr>
          <a:xfrm>
            <a:off x="1711560" y="2325688"/>
            <a:ext cx="13764154" cy="5559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API Gateway admite una variedad de patrones de solicitud y respuesta, incluyendo REST (Representational State Transfer), WebSocket y HTTP.</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Tenor Sans"/>
              <a:ea typeface="Tenor Sans"/>
              <a:cs typeface="Tenor Sans"/>
              <a:sym typeface="Tenor Sans"/>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Los desarrolladores pueden usar API Gateway para definir y gestionar versiones, políticas de acceso y autenticación, transformaciones de solicitud y respuesta, así como para implementar escenarios de integración y orquestación de servicios.</a:t>
            </a:r>
            <a:endParaRPr/>
          </a:p>
        </p:txBody>
      </p:sp>
      <p:sp>
        <p:nvSpPr>
          <p:cNvPr id="273" name="Google Shape;273;p15"/>
          <p:cNvSpPr txBox="1"/>
          <p:nvPr/>
        </p:nvSpPr>
        <p:spPr>
          <a:xfrm>
            <a:off x="1161196" y="1209675"/>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¿QUÉ ES API GATEWAY?</a:t>
            </a:r>
            <a:endParaRPr/>
          </a:p>
        </p:txBody>
      </p:sp>
      <p:grpSp>
        <p:nvGrpSpPr>
          <p:cNvPr id="274" name="Google Shape;274;p15"/>
          <p:cNvGrpSpPr/>
          <p:nvPr/>
        </p:nvGrpSpPr>
        <p:grpSpPr>
          <a:xfrm>
            <a:off x="16098759" y="604794"/>
            <a:ext cx="4378481" cy="4378481"/>
            <a:chOff x="0" y="0"/>
            <a:chExt cx="812800" cy="812800"/>
          </a:xfrm>
        </p:grpSpPr>
        <p:sp>
          <p:nvSpPr>
            <p:cNvPr id="275" name="Google Shape;275;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p15"/>
          <p:cNvGrpSpPr/>
          <p:nvPr/>
        </p:nvGrpSpPr>
        <p:grpSpPr>
          <a:xfrm>
            <a:off x="16288245" y="5599386"/>
            <a:ext cx="971055" cy="1115696"/>
            <a:chOff x="0" y="-47625"/>
            <a:chExt cx="255751" cy="293846"/>
          </a:xfrm>
        </p:grpSpPr>
        <p:sp>
          <p:nvSpPr>
            <p:cNvPr id="278" name="Google Shape;278;p1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16"/>
          <p:cNvGrpSpPr/>
          <p:nvPr/>
        </p:nvGrpSpPr>
        <p:grpSpPr>
          <a:xfrm>
            <a:off x="16288245" y="-1160541"/>
            <a:ext cx="4378481" cy="4378481"/>
            <a:chOff x="0" y="0"/>
            <a:chExt cx="812800" cy="812800"/>
          </a:xfrm>
        </p:grpSpPr>
        <p:sp>
          <p:nvSpPr>
            <p:cNvPr id="285" name="Google Shape;285;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16"/>
          <p:cNvGrpSpPr/>
          <p:nvPr/>
        </p:nvGrpSpPr>
        <p:grpSpPr>
          <a:xfrm>
            <a:off x="16288245" y="5599386"/>
            <a:ext cx="971055" cy="1115696"/>
            <a:chOff x="0" y="-47625"/>
            <a:chExt cx="255751" cy="293846"/>
          </a:xfrm>
        </p:grpSpPr>
        <p:sp>
          <p:nvSpPr>
            <p:cNvPr id="288" name="Google Shape;288;p1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txBox="1"/>
            <p:nvPr/>
          </p:nvSpPr>
          <p:spPr>
            <a:xfrm>
              <a:off x="0" y="-47625"/>
              <a:ext cx="255751" cy="2938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6"/>
          <p:cNvSpPr/>
          <p:nvPr/>
        </p:nvSpPr>
        <p:spPr>
          <a:xfrm>
            <a:off x="1176792" y="2941697"/>
            <a:ext cx="5873387" cy="6042001"/>
          </a:xfrm>
          <a:custGeom>
            <a:rect b="b" l="l" r="r" t="t"/>
            <a:pathLst>
              <a:path extrusionOk="0" h="6042001" w="5873387">
                <a:moveTo>
                  <a:pt x="0" y="0"/>
                </a:moveTo>
                <a:lnTo>
                  <a:pt x="5873387" y="0"/>
                </a:lnTo>
                <a:lnTo>
                  <a:pt x="5873387" y="6042001"/>
                </a:lnTo>
                <a:lnTo>
                  <a:pt x="0" y="6042001"/>
                </a:lnTo>
                <a:lnTo>
                  <a:pt x="0" y="0"/>
                </a:lnTo>
                <a:close/>
              </a:path>
            </a:pathLst>
          </a:custGeom>
          <a:blipFill rotWithShape="1">
            <a:blip r:embed="rId3">
              <a:alphaModFix/>
            </a:blip>
            <a:stretch>
              <a:fillRect b="0" l="0" r="0" t="0"/>
            </a:stretch>
          </a:blipFill>
          <a:ln>
            <a:noFill/>
          </a:ln>
        </p:spPr>
      </p:sp>
      <p:sp>
        <p:nvSpPr>
          <p:cNvPr id="291" name="Google Shape;291;p16"/>
          <p:cNvSpPr/>
          <p:nvPr/>
        </p:nvSpPr>
        <p:spPr>
          <a:xfrm>
            <a:off x="7773152" y="2310848"/>
            <a:ext cx="1370848" cy="7303701"/>
          </a:xfrm>
          <a:custGeom>
            <a:rect b="b" l="l" r="r" t="t"/>
            <a:pathLst>
              <a:path extrusionOk="0" h="7303701" w="1370848">
                <a:moveTo>
                  <a:pt x="0" y="0"/>
                </a:moveTo>
                <a:lnTo>
                  <a:pt x="1370848" y="0"/>
                </a:lnTo>
                <a:lnTo>
                  <a:pt x="1370848" y="7303700"/>
                </a:lnTo>
                <a:lnTo>
                  <a:pt x="0" y="7303700"/>
                </a:lnTo>
                <a:lnTo>
                  <a:pt x="0" y="0"/>
                </a:lnTo>
                <a:close/>
              </a:path>
            </a:pathLst>
          </a:custGeom>
          <a:blipFill rotWithShape="1">
            <a:blip r:embed="rId4">
              <a:alphaModFix/>
            </a:blip>
            <a:stretch>
              <a:fillRect b="0" l="0" r="0" t="0"/>
            </a:stretch>
          </a:blipFill>
          <a:ln>
            <a:noFill/>
          </a:ln>
        </p:spPr>
      </p:sp>
      <p:sp>
        <p:nvSpPr>
          <p:cNvPr id="292" name="Google Shape;292;p16"/>
          <p:cNvSpPr txBox="1"/>
          <p:nvPr/>
        </p:nvSpPr>
        <p:spPr>
          <a:xfrm>
            <a:off x="1423364" y="963571"/>
            <a:ext cx="14864881" cy="87757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BENEFICIOS DE API GATEWAY</a:t>
            </a:r>
            <a:endParaRPr/>
          </a:p>
        </p:txBody>
      </p:sp>
      <p:sp>
        <p:nvSpPr>
          <p:cNvPr id="293" name="Google Shape;293;p16"/>
          <p:cNvSpPr txBox="1"/>
          <p:nvPr/>
        </p:nvSpPr>
        <p:spPr>
          <a:xfrm>
            <a:off x="9144000" y="2600385"/>
            <a:ext cx="7629772"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Desarrollo de APIs eficientes</a:t>
            </a:r>
            <a:endParaRPr/>
          </a:p>
        </p:txBody>
      </p:sp>
      <p:sp>
        <p:nvSpPr>
          <p:cNvPr id="294" name="Google Shape;294;p16"/>
          <p:cNvSpPr txBox="1"/>
          <p:nvPr/>
        </p:nvSpPr>
        <p:spPr>
          <a:xfrm>
            <a:off x="9144000" y="3849812"/>
            <a:ext cx="7910750"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Rendimiento a cualquier escala</a:t>
            </a:r>
            <a:endParaRPr/>
          </a:p>
        </p:txBody>
      </p:sp>
      <p:sp>
        <p:nvSpPr>
          <p:cNvPr id="295" name="Google Shape;295;p16"/>
          <p:cNvSpPr txBox="1"/>
          <p:nvPr/>
        </p:nvSpPr>
        <p:spPr>
          <a:xfrm>
            <a:off x="9144000" y="5067300"/>
            <a:ext cx="7282797" cy="6064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Ahorro de costos a escala</a:t>
            </a:r>
            <a:endParaRPr/>
          </a:p>
        </p:txBody>
      </p:sp>
      <p:sp>
        <p:nvSpPr>
          <p:cNvPr id="296" name="Google Shape;296;p16"/>
          <p:cNvSpPr txBox="1"/>
          <p:nvPr/>
        </p:nvSpPr>
        <p:spPr>
          <a:xfrm>
            <a:off x="9144000" y="8583704"/>
            <a:ext cx="7282797"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Operaciones de API Restful</a:t>
            </a:r>
            <a:endParaRPr/>
          </a:p>
        </p:txBody>
      </p:sp>
      <p:sp>
        <p:nvSpPr>
          <p:cNvPr id="297" name="Google Shape;297;p16"/>
          <p:cNvSpPr txBox="1"/>
          <p:nvPr/>
        </p:nvSpPr>
        <p:spPr>
          <a:xfrm>
            <a:off x="9144000" y="6283325"/>
            <a:ext cx="7282797" cy="6064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Fácil monitoreo</a:t>
            </a:r>
            <a:endParaRPr/>
          </a:p>
        </p:txBody>
      </p:sp>
      <p:sp>
        <p:nvSpPr>
          <p:cNvPr id="298" name="Google Shape;298;p16"/>
          <p:cNvSpPr txBox="1"/>
          <p:nvPr/>
        </p:nvSpPr>
        <p:spPr>
          <a:xfrm>
            <a:off x="9144000" y="7434355"/>
            <a:ext cx="8115300" cy="6064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Tenor Sans"/>
                <a:ea typeface="Tenor Sans"/>
                <a:cs typeface="Tenor Sans"/>
                <a:sym typeface="Tenor Sans"/>
              </a:rPr>
              <a:t>Controles de seguridad flexibles.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8AB9"/>
        </a:solidFill>
      </p:bgPr>
    </p:bg>
    <p:spTree>
      <p:nvGrpSpPr>
        <p:cNvPr id="302" name="Shape 302"/>
        <p:cNvGrpSpPr/>
        <p:nvPr/>
      </p:nvGrpSpPr>
      <p:grpSpPr>
        <a:xfrm>
          <a:off x="0" y="0"/>
          <a:ext cx="0" cy="0"/>
          <a:chOff x="0" y="0"/>
          <a:chExt cx="0" cy="0"/>
        </a:xfrm>
      </p:grpSpPr>
      <p:grpSp>
        <p:nvGrpSpPr>
          <p:cNvPr id="303" name="Google Shape;303;p17"/>
          <p:cNvGrpSpPr/>
          <p:nvPr/>
        </p:nvGrpSpPr>
        <p:grpSpPr>
          <a:xfrm>
            <a:off x="-533410" y="8097759"/>
            <a:ext cx="4378481" cy="4378481"/>
            <a:chOff x="0" y="0"/>
            <a:chExt cx="812800" cy="812800"/>
          </a:xfrm>
        </p:grpSpPr>
        <p:sp>
          <p:nvSpPr>
            <p:cNvPr id="304" name="Google Shape;30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7"/>
          <p:cNvGrpSpPr/>
          <p:nvPr/>
        </p:nvGrpSpPr>
        <p:grpSpPr>
          <a:xfrm>
            <a:off x="13291039" y="-2189241"/>
            <a:ext cx="4378481" cy="4378481"/>
            <a:chOff x="0" y="0"/>
            <a:chExt cx="812800" cy="812800"/>
          </a:xfrm>
        </p:grpSpPr>
        <p:sp>
          <p:nvSpPr>
            <p:cNvPr id="307" name="Google Shape;30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7"/>
          <p:cNvSpPr/>
          <p:nvPr/>
        </p:nvSpPr>
        <p:spPr>
          <a:xfrm>
            <a:off x="8894015" y="1479966"/>
            <a:ext cx="6980032" cy="7778334"/>
          </a:xfrm>
          <a:custGeom>
            <a:rect b="b" l="l" r="r" t="t"/>
            <a:pathLst>
              <a:path extrusionOk="0" h="7778334" w="6980032">
                <a:moveTo>
                  <a:pt x="0" y="0"/>
                </a:moveTo>
                <a:lnTo>
                  <a:pt x="6980032" y="0"/>
                </a:lnTo>
                <a:lnTo>
                  <a:pt x="6980032" y="7778334"/>
                </a:lnTo>
                <a:lnTo>
                  <a:pt x="0" y="7778334"/>
                </a:lnTo>
                <a:lnTo>
                  <a:pt x="0" y="0"/>
                </a:lnTo>
                <a:close/>
              </a:path>
            </a:pathLst>
          </a:custGeom>
          <a:blipFill rotWithShape="1">
            <a:blip r:embed="rId3">
              <a:alphaModFix/>
            </a:blip>
            <a:stretch>
              <a:fillRect b="0" l="0" r="0" t="0"/>
            </a:stretch>
          </a:blipFill>
          <a:ln>
            <a:noFill/>
          </a:ln>
        </p:spPr>
      </p:sp>
      <p:sp>
        <p:nvSpPr>
          <p:cNvPr id="310" name="Google Shape;310;p17"/>
          <p:cNvSpPr txBox="1"/>
          <p:nvPr/>
        </p:nvSpPr>
        <p:spPr>
          <a:xfrm>
            <a:off x="1028700" y="4170007"/>
            <a:ext cx="6980496" cy="1687195"/>
          </a:xfrm>
          <a:prstGeom prst="rect">
            <a:avLst/>
          </a:prstGeom>
          <a:noFill/>
          <a:ln>
            <a:noFill/>
          </a:ln>
        </p:spPr>
        <p:txBody>
          <a:bodyPr anchorCtr="0" anchor="t" bIns="0" lIns="0" spcFirstLastPara="1" rIns="0" wrap="square" tIns="0">
            <a:spAutoFit/>
          </a:bodyPr>
          <a:lstStyle/>
          <a:p>
            <a:pPr indent="0" lvl="0" marL="0" marR="0" rtl="0" algn="l">
              <a:lnSpc>
                <a:spcPct val="91998"/>
              </a:lnSpc>
              <a:spcBef>
                <a:spcPts val="0"/>
              </a:spcBef>
              <a:spcAft>
                <a:spcPts val="0"/>
              </a:spcAft>
              <a:buNone/>
            </a:pPr>
            <a:r>
              <a:rPr b="0" i="0" lang="en-US" sz="6999" u="none" cap="none" strike="noStrike">
                <a:solidFill>
                  <a:srgbClr val="000000"/>
                </a:solidFill>
                <a:latin typeface="Arial"/>
                <a:ea typeface="Arial"/>
                <a:cs typeface="Arial"/>
                <a:sym typeface="Arial"/>
              </a:rPr>
              <a:t>¿QUE OFRECE LA CAPA GRATUITA?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9AB7"/>
        </a:solidFill>
      </p:bgPr>
    </p:bg>
    <p:spTree>
      <p:nvGrpSpPr>
        <p:cNvPr id="314" name="Shape 314"/>
        <p:cNvGrpSpPr/>
        <p:nvPr/>
      </p:nvGrpSpPr>
      <p:grpSpPr>
        <a:xfrm>
          <a:off x="0" y="0"/>
          <a:ext cx="0" cy="0"/>
          <a:chOff x="0" y="0"/>
          <a:chExt cx="0" cy="0"/>
        </a:xfrm>
      </p:grpSpPr>
      <p:grpSp>
        <p:nvGrpSpPr>
          <p:cNvPr id="315" name="Google Shape;315;p18"/>
          <p:cNvGrpSpPr/>
          <p:nvPr/>
        </p:nvGrpSpPr>
        <p:grpSpPr>
          <a:xfrm rot="-344930">
            <a:off x="2840824" y="4441899"/>
            <a:ext cx="6826419" cy="2288134"/>
            <a:chOff x="0" y="-104775"/>
            <a:chExt cx="1146356" cy="384245"/>
          </a:xfrm>
        </p:grpSpPr>
        <p:sp>
          <p:nvSpPr>
            <p:cNvPr id="316" name="Google Shape;316;p18"/>
            <p:cNvSpPr/>
            <p:nvPr/>
          </p:nvSpPr>
          <p:spPr>
            <a:xfrm>
              <a:off x="0" y="0"/>
              <a:ext cx="1146356" cy="279470"/>
            </a:xfrm>
            <a:custGeom>
              <a:rect b="b" l="l" r="r" t="t"/>
              <a:pathLst>
                <a:path extrusionOk="0" h="279470" w="1146356">
                  <a:moveTo>
                    <a:pt x="87327" y="0"/>
                  </a:moveTo>
                  <a:lnTo>
                    <a:pt x="1059029" y="0"/>
                  </a:lnTo>
                  <a:cubicBezTo>
                    <a:pt x="1107259" y="0"/>
                    <a:pt x="1146356" y="39097"/>
                    <a:pt x="1146356" y="87327"/>
                  </a:cubicBezTo>
                  <a:lnTo>
                    <a:pt x="1146356" y="192143"/>
                  </a:lnTo>
                  <a:cubicBezTo>
                    <a:pt x="1146356" y="240372"/>
                    <a:pt x="1107259" y="279470"/>
                    <a:pt x="1059029" y="279470"/>
                  </a:cubicBezTo>
                  <a:lnTo>
                    <a:pt x="87327" y="279470"/>
                  </a:lnTo>
                  <a:cubicBezTo>
                    <a:pt x="39097" y="279470"/>
                    <a:pt x="0" y="240372"/>
                    <a:pt x="0" y="192143"/>
                  </a:cubicBezTo>
                  <a:lnTo>
                    <a:pt x="0" y="87327"/>
                  </a:lnTo>
                  <a:cubicBezTo>
                    <a:pt x="0" y="39097"/>
                    <a:pt x="39097" y="0"/>
                    <a:pt x="873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txBox="1"/>
            <p:nvPr/>
          </p:nvSpPr>
          <p:spPr>
            <a:xfrm>
              <a:off x="0" y="-104775"/>
              <a:ext cx="1146356" cy="384245"/>
            </a:xfrm>
            <a:prstGeom prst="rect">
              <a:avLst/>
            </a:prstGeom>
            <a:noFill/>
            <a:ln>
              <a:noFill/>
            </a:ln>
          </p:spPr>
          <p:txBody>
            <a:bodyPr anchorCtr="0" anchor="ctr" bIns="76200" lIns="76200" spcFirstLastPara="1" rIns="76200" wrap="square" tIns="76200">
              <a:noAutofit/>
            </a:bodyPr>
            <a:lstStyle/>
            <a:p>
              <a:pPr indent="0" lvl="0" marL="0" marR="0" rtl="0" algn="ctr">
                <a:lnSpc>
                  <a:spcPct val="140007"/>
                </a:lnSpc>
                <a:spcBef>
                  <a:spcPts val="0"/>
                </a:spcBef>
                <a:spcAft>
                  <a:spcPts val="0"/>
                </a:spcAft>
                <a:buNone/>
              </a:pPr>
              <a:r>
                <a:rPr b="0" i="0" lang="en-US" sz="5249" u="none" cap="none" strike="noStrike">
                  <a:solidFill>
                    <a:srgbClr val="000000"/>
                  </a:solidFill>
                  <a:latin typeface="Tenor Sans"/>
                  <a:ea typeface="Tenor Sans"/>
                  <a:cs typeface="Tenor Sans"/>
                  <a:sym typeface="Tenor Sans"/>
                </a:rPr>
                <a:t>DUDA?</a:t>
              </a:r>
              <a:endParaRPr/>
            </a:p>
          </p:txBody>
        </p:sp>
      </p:grpSp>
      <p:grpSp>
        <p:nvGrpSpPr>
          <p:cNvPr id="318" name="Google Shape;318;p18"/>
          <p:cNvGrpSpPr/>
          <p:nvPr/>
        </p:nvGrpSpPr>
        <p:grpSpPr>
          <a:xfrm rot="-434561">
            <a:off x="1107030" y="2981519"/>
            <a:ext cx="6826419" cy="2401574"/>
            <a:chOff x="0" y="-123825"/>
            <a:chExt cx="1146356" cy="403295"/>
          </a:xfrm>
        </p:grpSpPr>
        <p:sp>
          <p:nvSpPr>
            <p:cNvPr id="319" name="Google Shape;319;p18"/>
            <p:cNvSpPr/>
            <p:nvPr/>
          </p:nvSpPr>
          <p:spPr>
            <a:xfrm>
              <a:off x="0" y="0"/>
              <a:ext cx="1146356" cy="279470"/>
            </a:xfrm>
            <a:custGeom>
              <a:rect b="b" l="l" r="r" t="t"/>
              <a:pathLst>
                <a:path extrusionOk="0" h="279470" w="1146356">
                  <a:moveTo>
                    <a:pt x="87327" y="0"/>
                  </a:moveTo>
                  <a:lnTo>
                    <a:pt x="1059029" y="0"/>
                  </a:lnTo>
                  <a:cubicBezTo>
                    <a:pt x="1107259" y="0"/>
                    <a:pt x="1146356" y="39097"/>
                    <a:pt x="1146356" y="87327"/>
                  </a:cubicBezTo>
                  <a:lnTo>
                    <a:pt x="1146356" y="192143"/>
                  </a:lnTo>
                  <a:cubicBezTo>
                    <a:pt x="1146356" y="240372"/>
                    <a:pt x="1107259" y="279470"/>
                    <a:pt x="1059029" y="279470"/>
                  </a:cubicBezTo>
                  <a:lnTo>
                    <a:pt x="87327" y="279470"/>
                  </a:lnTo>
                  <a:cubicBezTo>
                    <a:pt x="39097" y="279470"/>
                    <a:pt x="0" y="240372"/>
                    <a:pt x="0" y="192143"/>
                  </a:cubicBezTo>
                  <a:lnTo>
                    <a:pt x="0" y="87327"/>
                  </a:lnTo>
                  <a:cubicBezTo>
                    <a:pt x="0" y="39097"/>
                    <a:pt x="39097" y="0"/>
                    <a:pt x="87327"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txBox="1"/>
            <p:nvPr/>
          </p:nvSpPr>
          <p:spPr>
            <a:xfrm>
              <a:off x="0" y="-123825"/>
              <a:ext cx="1146356" cy="403295"/>
            </a:xfrm>
            <a:prstGeom prst="rect">
              <a:avLst/>
            </a:prstGeom>
            <a:noFill/>
            <a:ln>
              <a:noFill/>
            </a:ln>
          </p:spPr>
          <p:txBody>
            <a:bodyPr anchorCtr="0" anchor="ctr" bIns="76200" lIns="76200" spcFirstLastPara="1" rIns="76200" wrap="square" tIns="76200">
              <a:noAutofit/>
            </a:bodyPr>
            <a:lstStyle/>
            <a:p>
              <a:pPr indent="0" lvl="0" marL="0" marR="0" rtl="0" algn="ctr">
                <a:lnSpc>
                  <a:spcPct val="140006"/>
                </a:lnSpc>
                <a:spcBef>
                  <a:spcPts val="0"/>
                </a:spcBef>
                <a:spcAft>
                  <a:spcPts val="0"/>
                </a:spcAft>
                <a:buNone/>
              </a:pPr>
              <a:r>
                <a:rPr b="0" i="0" lang="en-US" sz="5999" u="none" cap="none" strike="noStrike">
                  <a:solidFill>
                    <a:srgbClr val="000000"/>
                  </a:solidFill>
                  <a:latin typeface="Arial"/>
                  <a:ea typeface="Arial"/>
                  <a:cs typeface="Arial"/>
                  <a:sym typeface="Arial"/>
                </a:rPr>
                <a:t>¿ALGUNA</a:t>
              </a:r>
              <a:endParaRPr/>
            </a:p>
          </p:txBody>
        </p:sp>
      </p:grpSp>
      <p:sp>
        <p:nvSpPr>
          <p:cNvPr id="321" name="Google Shape;321;p18"/>
          <p:cNvSpPr/>
          <p:nvPr/>
        </p:nvSpPr>
        <p:spPr>
          <a:xfrm>
            <a:off x="10893858" y="1266093"/>
            <a:ext cx="5524119" cy="8229600"/>
          </a:xfrm>
          <a:custGeom>
            <a:rect b="b" l="l" r="r" t="t"/>
            <a:pathLst>
              <a:path extrusionOk="0" h="8229600" w="5524119">
                <a:moveTo>
                  <a:pt x="0" y="0"/>
                </a:moveTo>
                <a:lnTo>
                  <a:pt x="5524119" y="0"/>
                </a:lnTo>
                <a:lnTo>
                  <a:pt x="5524119" y="8229600"/>
                </a:lnTo>
                <a:lnTo>
                  <a:pt x="0" y="82296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