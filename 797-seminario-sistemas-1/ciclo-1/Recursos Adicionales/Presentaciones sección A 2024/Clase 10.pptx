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8288000" cy="10287000"/>
  <p:notesSz cx="6858000" cy="9144000"/>
  <p:embeddedFontLst>
    <p:embeddedFont>
      <p:font typeface="Glacial Indifference" charset="1" panose="00000000000000000000"/>
      <p:regular r:id="rId47"/>
    </p:embeddedFont>
    <p:embeddedFont>
      <p:font typeface="Nirmala UI" charset="1" panose="020B0502040204020203"/>
      <p:regular r:id="rId48"/>
    </p:embeddedFont>
    <p:embeddedFont>
      <p:font typeface="Open Sans" charset="1" panose="020B0606030504020204"/>
      <p:regular r:id="rId49"/>
    </p:embeddedFont>
    <p:embeddedFont>
      <p:font typeface="Tenor Sans" charset="1" panose="0200000000000000000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https://www.microsoft.com/en-us/power-platform/products/power-bi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https://www.youtube.com/watch?v=yKTSLffVGbk" TargetMode="External" Type="http://schemas.openxmlformats.org/officeDocument/2006/relationships/video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https://www.microsoft.com/en-us/power-platform/products/power-apps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https://www.youtube.com/watch?v=OwOWDXteakM" TargetMode="External" Type="http://schemas.openxmlformats.org/officeDocument/2006/relationships/video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https://www.youtube.com/watch?v=0TcGVvAiE84" TargetMode="External" Type="http://schemas.openxmlformats.org/officeDocument/2006/relationships/video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https://www.youtube.com/watch?v=J5i7h4Uzju4" TargetMode="External" Type="http://schemas.openxmlformats.org/officeDocument/2006/relationships/video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5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https://www.youtube.com/watch?v=SG382TuFIaQ" TargetMode="External" Type="http://schemas.openxmlformats.org/officeDocument/2006/relationships/video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Relationship Id="rId4" Target="../media/image58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5670" y="4575517"/>
            <a:ext cx="17836661" cy="1951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LABORATORIO SEMINARIO</a:t>
            </a:r>
          </a:p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 SISTEMAS 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101429" y="1884757"/>
            <a:ext cx="8085142" cy="938466"/>
            <a:chOff x="0" y="0"/>
            <a:chExt cx="2129420" cy="2471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9420" cy="247168"/>
            </a:xfrm>
            <a:custGeom>
              <a:avLst/>
              <a:gdLst/>
              <a:ahLst/>
              <a:cxnLst/>
              <a:rect r="r" b="b" t="t" l="l"/>
              <a:pathLst>
                <a:path h="247168" w="2129420">
                  <a:moveTo>
                    <a:pt x="24896" y="0"/>
                  </a:moveTo>
                  <a:lnTo>
                    <a:pt x="2104524" y="0"/>
                  </a:lnTo>
                  <a:cubicBezTo>
                    <a:pt x="2111127" y="0"/>
                    <a:pt x="2117459" y="2623"/>
                    <a:pt x="2122128" y="7292"/>
                  </a:cubicBezTo>
                  <a:cubicBezTo>
                    <a:pt x="2126797" y="11961"/>
                    <a:pt x="2129420" y="18293"/>
                    <a:pt x="2129420" y="24896"/>
                  </a:cubicBezTo>
                  <a:lnTo>
                    <a:pt x="2129420" y="222272"/>
                  </a:lnTo>
                  <a:cubicBezTo>
                    <a:pt x="2129420" y="228875"/>
                    <a:pt x="2126797" y="235207"/>
                    <a:pt x="2122128" y="239876"/>
                  </a:cubicBezTo>
                  <a:cubicBezTo>
                    <a:pt x="2117459" y="244545"/>
                    <a:pt x="2111127" y="247168"/>
                    <a:pt x="2104524" y="247168"/>
                  </a:cubicBezTo>
                  <a:lnTo>
                    <a:pt x="24896" y="247168"/>
                  </a:lnTo>
                  <a:cubicBezTo>
                    <a:pt x="11146" y="247168"/>
                    <a:pt x="0" y="236022"/>
                    <a:pt x="0" y="222272"/>
                  </a:cubicBezTo>
                  <a:lnTo>
                    <a:pt x="0" y="24896"/>
                  </a:lnTo>
                  <a:cubicBezTo>
                    <a:pt x="0" y="18293"/>
                    <a:pt x="2623" y="11961"/>
                    <a:pt x="7292" y="7292"/>
                  </a:cubicBezTo>
                  <a:cubicBezTo>
                    <a:pt x="11961" y="2623"/>
                    <a:pt x="18293" y="0"/>
                    <a:pt x="24896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29420" cy="2852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609474" y="6630732"/>
            <a:ext cx="4378481" cy="43784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400000">
            <a:off x="362774" y="-30820"/>
            <a:ext cx="3688357" cy="4114800"/>
          </a:xfrm>
          <a:custGeom>
            <a:avLst/>
            <a:gdLst/>
            <a:ahLst/>
            <a:cxnLst/>
            <a:rect r="r" b="b" t="t" l="l"/>
            <a:pathLst>
              <a:path h="4114800" w="3688357">
                <a:moveTo>
                  <a:pt x="0" y="0"/>
                </a:moveTo>
                <a:lnTo>
                  <a:pt x="3688357" y="0"/>
                </a:lnTo>
                <a:lnTo>
                  <a:pt x="3688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531874" y="7031606"/>
            <a:ext cx="1237134" cy="1200949"/>
            <a:chOff x="0" y="0"/>
            <a:chExt cx="325830" cy="316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5830" cy="316299"/>
            </a:xfrm>
            <a:custGeom>
              <a:avLst/>
              <a:gdLst/>
              <a:ahLst/>
              <a:cxnLst/>
              <a:rect r="r" b="b" t="t" l="l"/>
              <a:pathLst>
                <a:path h="316299" w="325830">
                  <a:moveTo>
                    <a:pt x="158150" y="0"/>
                  </a:moveTo>
                  <a:lnTo>
                    <a:pt x="167680" y="0"/>
                  </a:lnTo>
                  <a:cubicBezTo>
                    <a:pt x="255024" y="0"/>
                    <a:pt x="325830" y="70806"/>
                    <a:pt x="325830" y="158150"/>
                  </a:cubicBezTo>
                  <a:lnTo>
                    <a:pt x="325830" y="158150"/>
                  </a:lnTo>
                  <a:cubicBezTo>
                    <a:pt x="325830" y="245493"/>
                    <a:pt x="255024" y="316299"/>
                    <a:pt x="167680" y="316299"/>
                  </a:cubicBezTo>
                  <a:lnTo>
                    <a:pt x="158150" y="316299"/>
                  </a:lnTo>
                  <a:cubicBezTo>
                    <a:pt x="70806" y="316299"/>
                    <a:pt x="0" y="245493"/>
                    <a:pt x="0" y="158150"/>
                  </a:cubicBezTo>
                  <a:lnTo>
                    <a:pt x="0" y="158150"/>
                  </a:lnTo>
                  <a:cubicBezTo>
                    <a:pt x="0" y="70806"/>
                    <a:pt x="70806" y="0"/>
                    <a:pt x="158150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25830" cy="354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728559" y="1153041"/>
            <a:ext cx="1237134" cy="1200949"/>
            <a:chOff x="0" y="0"/>
            <a:chExt cx="325830" cy="3162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5830" cy="316299"/>
            </a:xfrm>
            <a:custGeom>
              <a:avLst/>
              <a:gdLst/>
              <a:ahLst/>
              <a:cxnLst/>
              <a:rect r="r" b="b" t="t" l="l"/>
              <a:pathLst>
                <a:path h="316299" w="325830">
                  <a:moveTo>
                    <a:pt x="158150" y="0"/>
                  </a:moveTo>
                  <a:lnTo>
                    <a:pt x="167680" y="0"/>
                  </a:lnTo>
                  <a:cubicBezTo>
                    <a:pt x="255024" y="0"/>
                    <a:pt x="325830" y="70806"/>
                    <a:pt x="325830" y="158150"/>
                  </a:cubicBezTo>
                  <a:lnTo>
                    <a:pt x="325830" y="158150"/>
                  </a:lnTo>
                  <a:cubicBezTo>
                    <a:pt x="325830" y="245493"/>
                    <a:pt x="255024" y="316299"/>
                    <a:pt x="167680" y="316299"/>
                  </a:cubicBezTo>
                  <a:lnTo>
                    <a:pt x="158150" y="316299"/>
                  </a:lnTo>
                  <a:cubicBezTo>
                    <a:pt x="70806" y="316299"/>
                    <a:pt x="0" y="245493"/>
                    <a:pt x="0" y="158150"/>
                  </a:cubicBezTo>
                  <a:lnTo>
                    <a:pt x="0" y="158150"/>
                  </a:lnTo>
                  <a:cubicBezTo>
                    <a:pt x="0" y="70806"/>
                    <a:pt x="70806" y="0"/>
                    <a:pt x="15815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25830" cy="354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289726" y="639307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034040" y="7527306"/>
            <a:ext cx="2219920" cy="7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8"/>
              </a:lnSpc>
            </a:pPr>
            <a:r>
              <a:rPr lang="en-US" sz="4245" spc="23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Clase 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64436" y="1928781"/>
            <a:ext cx="6359128" cy="7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98"/>
              </a:lnSpc>
            </a:pPr>
            <a:r>
              <a:rPr lang="en-US" sz="4245" spc="23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Segundo</a:t>
            </a:r>
            <a:r>
              <a:rPr lang="en-US" sz="4245" spc="23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 semestre 2024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804199" y="8450476"/>
            <a:ext cx="971055" cy="934870"/>
            <a:chOff x="0" y="0"/>
            <a:chExt cx="255751" cy="24622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5751" cy="246221"/>
            </a:xfrm>
            <a:custGeom>
              <a:avLst/>
              <a:gdLst/>
              <a:ahLst/>
              <a:cxnLst/>
              <a:rect r="r" b="b" t="t" l="l"/>
              <a:pathLst>
                <a:path h="246221" w="255751">
                  <a:moveTo>
                    <a:pt x="123111" y="0"/>
                  </a:moveTo>
                  <a:lnTo>
                    <a:pt x="132641" y="0"/>
                  </a:lnTo>
                  <a:cubicBezTo>
                    <a:pt x="200633" y="0"/>
                    <a:pt x="255751" y="55118"/>
                    <a:pt x="255751" y="123111"/>
                  </a:cubicBezTo>
                  <a:lnTo>
                    <a:pt x="255751" y="123111"/>
                  </a:lnTo>
                  <a:cubicBezTo>
                    <a:pt x="255751" y="155761"/>
                    <a:pt x="242781" y="187075"/>
                    <a:pt x="219693" y="210163"/>
                  </a:cubicBezTo>
                  <a:cubicBezTo>
                    <a:pt x="196605" y="233251"/>
                    <a:pt x="165292" y="246221"/>
                    <a:pt x="132641" y="246221"/>
                  </a:cubicBezTo>
                  <a:lnTo>
                    <a:pt x="123111" y="246221"/>
                  </a:lnTo>
                  <a:cubicBezTo>
                    <a:pt x="55118" y="246221"/>
                    <a:pt x="0" y="191103"/>
                    <a:pt x="0" y="123111"/>
                  </a:cubicBezTo>
                  <a:lnTo>
                    <a:pt x="0" y="123111"/>
                  </a:lnTo>
                  <a:cubicBezTo>
                    <a:pt x="0" y="55118"/>
                    <a:pt x="55118" y="0"/>
                    <a:pt x="123111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5751" cy="28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6400" y="2443145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2"/>
                </a:lnTo>
                <a:lnTo>
                  <a:pt x="0" y="82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6400" y="4873440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2"/>
                </a:lnTo>
                <a:lnTo>
                  <a:pt x="0" y="824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86400" y="6088587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3"/>
                </a:lnTo>
                <a:lnTo>
                  <a:pt x="0" y="824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7303735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2"/>
                </a:lnTo>
                <a:lnTo>
                  <a:pt x="0" y="824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34706" y="5284201"/>
            <a:ext cx="4372659" cy="4878220"/>
          </a:xfrm>
          <a:custGeom>
            <a:avLst/>
            <a:gdLst/>
            <a:ahLst/>
            <a:cxnLst/>
            <a:rect r="r" b="b" t="t" l="l"/>
            <a:pathLst>
              <a:path h="4878220" w="4372659">
                <a:moveTo>
                  <a:pt x="0" y="0"/>
                </a:moveTo>
                <a:lnTo>
                  <a:pt x="4372659" y="0"/>
                </a:lnTo>
                <a:lnTo>
                  <a:pt x="4372659" y="4878220"/>
                </a:lnTo>
                <a:lnTo>
                  <a:pt x="0" y="4878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1560" y="831082"/>
            <a:ext cx="14864881" cy="122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1"/>
              </a:lnSpc>
            </a:pPr>
            <a:r>
              <a:rPr lang="en-US" sz="970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AGENDA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00484" y="2719897"/>
            <a:ext cx="4487032" cy="3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3099" spc="173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Dudas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3536" y="5159190"/>
            <a:ext cx="5102648" cy="3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3099" spc="173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Evaluacion Docente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42075" y="6374337"/>
            <a:ext cx="5003851" cy="3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3099" spc="173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E</a:t>
            </a:r>
            <a:r>
              <a:rPr lang="en-US" sz="3099" spc="173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xposiciones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91634" y="7589485"/>
            <a:ext cx="7104733" cy="3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3099" spc="173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Microsoft Power Platform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486400" y="3658292"/>
            <a:ext cx="7315200" cy="824623"/>
          </a:xfrm>
          <a:custGeom>
            <a:avLst/>
            <a:gdLst/>
            <a:ahLst/>
            <a:cxnLst/>
            <a:rect r="r" b="b" t="t" l="l"/>
            <a:pathLst>
              <a:path h="824623" w="7315200">
                <a:moveTo>
                  <a:pt x="0" y="0"/>
                </a:moveTo>
                <a:lnTo>
                  <a:pt x="7315200" y="0"/>
                </a:lnTo>
                <a:lnTo>
                  <a:pt x="7315200" y="824623"/>
                </a:lnTo>
                <a:lnTo>
                  <a:pt x="0" y="824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642075" y="3944042"/>
            <a:ext cx="5003851" cy="39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3099" spc="173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Avisos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119352" y="-1500496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28559" y="1153041"/>
            <a:ext cx="1237134" cy="1200949"/>
            <a:chOff x="0" y="0"/>
            <a:chExt cx="325830" cy="3162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5830" cy="316299"/>
            </a:xfrm>
            <a:custGeom>
              <a:avLst/>
              <a:gdLst/>
              <a:ahLst/>
              <a:cxnLst/>
              <a:rect r="r" b="b" t="t" l="l"/>
              <a:pathLst>
                <a:path h="316299" w="325830">
                  <a:moveTo>
                    <a:pt x="158150" y="0"/>
                  </a:moveTo>
                  <a:lnTo>
                    <a:pt x="167680" y="0"/>
                  </a:lnTo>
                  <a:cubicBezTo>
                    <a:pt x="255024" y="0"/>
                    <a:pt x="325830" y="70806"/>
                    <a:pt x="325830" y="158150"/>
                  </a:cubicBezTo>
                  <a:lnTo>
                    <a:pt x="325830" y="158150"/>
                  </a:lnTo>
                  <a:cubicBezTo>
                    <a:pt x="325830" y="245493"/>
                    <a:pt x="255024" y="316299"/>
                    <a:pt x="167680" y="316299"/>
                  </a:cubicBezTo>
                  <a:lnTo>
                    <a:pt x="158150" y="316299"/>
                  </a:lnTo>
                  <a:cubicBezTo>
                    <a:pt x="70806" y="316299"/>
                    <a:pt x="0" y="245493"/>
                    <a:pt x="0" y="158150"/>
                  </a:cubicBezTo>
                  <a:lnTo>
                    <a:pt x="0" y="158150"/>
                  </a:lnTo>
                  <a:cubicBezTo>
                    <a:pt x="0" y="70806"/>
                    <a:pt x="70806" y="0"/>
                    <a:pt x="15815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5830" cy="354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686425" y="519241"/>
            <a:ext cx="8915150" cy="6711036"/>
          </a:xfrm>
          <a:custGeom>
            <a:avLst/>
            <a:gdLst/>
            <a:ahLst/>
            <a:cxnLst/>
            <a:rect r="r" b="b" t="t" l="l"/>
            <a:pathLst>
              <a:path h="6711036" w="8915150">
                <a:moveTo>
                  <a:pt x="0" y="0"/>
                </a:moveTo>
                <a:lnTo>
                  <a:pt x="8915150" y="0"/>
                </a:lnTo>
                <a:lnTo>
                  <a:pt x="8915150" y="6711036"/>
                </a:lnTo>
                <a:lnTo>
                  <a:pt x="0" y="6711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77207" y="6581096"/>
            <a:ext cx="13933587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MICROSOFT POWER PLATFORM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4386421" y="6385421"/>
            <a:ext cx="3688357" cy="4114800"/>
          </a:xfrm>
          <a:custGeom>
            <a:avLst/>
            <a:gdLst/>
            <a:ahLst/>
            <a:cxnLst/>
            <a:rect r="r" b="b" t="t" l="l"/>
            <a:pathLst>
              <a:path h="4114800" w="3688357">
                <a:moveTo>
                  <a:pt x="0" y="0"/>
                </a:moveTo>
                <a:lnTo>
                  <a:pt x="3688358" y="0"/>
                </a:lnTo>
                <a:lnTo>
                  <a:pt x="3688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119352" y="-1500496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526196" y="1873766"/>
            <a:ext cx="13235608" cy="1686153"/>
            <a:chOff x="0" y="0"/>
            <a:chExt cx="3485921" cy="4440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85921" cy="444090"/>
            </a:xfrm>
            <a:custGeom>
              <a:avLst/>
              <a:gdLst/>
              <a:ahLst/>
              <a:cxnLst/>
              <a:rect r="r" b="b" t="t" l="l"/>
              <a:pathLst>
                <a:path h="444090" w="3485921">
                  <a:moveTo>
                    <a:pt x="15208" y="0"/>
                  </a:moveTo>
                  <a:lnTo>
                    <a:pt x="3470713" y="0"/>
                  </a:lnTo>
                  <a:cubicBezTo>
                    <a:pt x="3474746" y="0"/>
                    <a:pt x="3478615" y="1602"/>
                    <a:pt x="3481467" y="4454"/>
                  </a:cubicBezTo>
                  <a:cubicBezTo>
                    <a:pt x="3484319" y="7306"/>
                    <a:pt x="3485921" y="11175"/>
                    <a:pt x="3485921" y="15208"/>
                  </a:cubicBezTo>
                  <a:lnTo>
                    <a:pt x="3485921" y="428881"/>
                  </a:lnTo>
                  <a:cubicBezTo>
                    <a:pt x="3485921" y="437281"/>
                    <a:pt x="3479112" y="444090"/>
                    <a:pt x="3470713" y="444090"/>
                  </a:cubicBezTo>
                  <a:lnTo>
                    <a:pt x="15208" y="444090"/>
                  </a:lnTo>
                  <a:cubicBezTo>
                    <a:pt x="11175" y="444090"/>
                    <a:pt x="7306" y="442487"/>
                    <a:pt x="4454" y="439635"/>
                  </a:cubicBezTo>
                  <a:cubicBezTo>
                    <a:pt x="1602" y="436783"/>
                    <a:pt x="0" y="432915"/>
                    <a:pt x="0" y="428881"/>
                  </a:cubicBezTo>
                  <a:lnTo>
                    <a:pt x="0" y="15208"/>
                  </a:lnTo>
                  <a:cubicBezTo>
                    <a:pt x="0" y="11175"/>
                    <a:pt x="1602" y="7306"/>
                    <a:pt x="4454" y="4454"/>
                  </a:cubicBezTo>
                  <a:cubicBezTo>
                    <a:pt x="7306" y="1602"/>
                    <a:pt x="11175" y="0"/>
                    <a:pt x="1520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85921" cy="482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26196" y="4217785"/>
            <a:ext cx="13235608" cy="5040515"/>
            <a:chOff x="0" y="0"/>
            <a:chExt cx="3485921" cy="1327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85921" cy="1327543"/>
            </a:xfrm>
            <a:custGeom>
              <a:avLst/>
              <a:gdLst/>
              <a:ahLst/>
              <a:cxnLst/>
              <a:rect r="r" b="b" t="t" l="l"/>
              <a:pathLst>
                <a:path h="1327543" w="3485921">
                  <a:moveTo>
                    <a:pt x="20473" y="0"/>
                  </a:moveTo>
                  <a:lnTo>
                    <a:pt x="3465449" y="0"/>
                  </a:lnTo>
                  <a:cubicBezTo>
                    <a:pt x="3476756" y="0"/>
                    <a:pt x="3485921" y="9166"/>
                    <a:pt x="3485921" y="20473"/>
                  </a:cubicBezTo>
                  <a:lnTo>
                    <a:pt x="3485921" y="1307070"/>
                  </a:lnTo>
                  <a:cubicBezTo>
                    <a:pt x="3485921" y="1318377"/>
                    <a:pt x="3476756" y="1327543"/>
                    <a:pt x="3465449" y="1327543"/>
                  </a:cubicBezTo>
                  <a:lnTo>
                    <a:pt x="20473" y="1327543"/>
                  </a:lnTo>
                  <a:cubicBezTo>
                    <a:pt x="9166" y="1327543"/>
                    <a:pt x="0" y="1318377"/>
                    <a:pt x="0" y="1307070"/>
                  </a:cubicBezTo>
                  <a:lnTo>
                    <a:pt x="0" y="20473"/>
                  </a:lnTo>
                  <a:cubicBezTo>
                    <a:pt x="0" y="9166"/>
                    <a:pt x="9166" y="0"/>
                    <a:pt x="204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485921" cy="1365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515985" y="2000724"/>
            <a:ext cx="4969548" cy="1432235"/>
          </a:xfrm>
          <a:custGeom>
            <a:avLst/>
            <a:gdLst/>
            <a:ahLst/>
            <a:cxnLst/>
            <a:rect r="r" b="b" t="t" l="l"/>
            <a:pathLst>
              <a:path h="1432235" w="4969548">
                <a:moveTo>
                  <a:pt x="0" y="0"/>
                </a:moveTo>
                <a:lnTo>
                  <a:pt x="4969547" y="0"/>
                </a:lnTo>
                <a:lnTo>
                  <a:pt x="4969547" y="1432236"/>
                </a:lnTo>
                <a:lnTo>
                  <a:pt x="0" y="1432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4476" r="0" b="-132502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791535" y="4994143"/>
            <a:ext cx="10704930" cy="273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36"/>
              </a:lnSpc>
            </a:pPr>
            <a:r>
              <a:rPr lang="en-US" sz="3883" spc="21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Microsoft Power Platform es un conjunto de herramientas de Microsoft que permite a las empresas crear soluciones sin necesidad de ser un programador experto.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13762" y="2350239"/>
            <a:ext cx="7195254" cy="82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7"/>
              </a:lnSpc>
            </a:pPr>
            <a:r>
              <a:rPr lang="en-US" sz="3475" spc="35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MICROSOFT POWER PLATFORM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74833" y="2095300"/>
            <a:ext cx="11938334" cy="7163000"/>
          </a:xfrm>
          <a:custGeom>
            <a:avLst/>
            <a:gdLst/>
            <a:ahLst/>
            <a:cxnLst/>
            <a:rect r="r" b="b" t="t" l="l"/>
            <a:pathLst>
              <a:path h="7163000" w="11938334">
                <a:moveTo>
                  <a:pt x="0" y="0"/>
                </a:moveTo>
                <a:lnTo>
                  <a:pt x="11938334" y="0"/>
                </a:lnTo>
                <a:lnTo>
                  <a:pt x="11938334" y="7163000"/>
                </a:lnTo>
                <a:lnTo>
                  <a:pt x="0" y="716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1560" y="927205"/>
            <a:ext cx="14864881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220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14335596" y="-1747558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8692" y="1830530"/>
            <a:ext cx="12530617" cy="7048472"/>
          </a:xfrm>
          <a:custGeom>
            <a:avLst/>
            <a:gdLst/>
            <a:ahLst/>
            <a:cxnLst/>
            <a:rect r="r" b="b" t="t" l="l"/>
            <a:pathLst>
              <a:path h="7048472" w="12530617">
                <a:moveTo>
                  <a:pt x="0" y="0"/>
                </a:moveTo>
                <a:lnTo>
                  <a:pt x="12530616" y="0"/>
                </a:lnTo>
                <a:lnTo>
                  <a:pt x="12530616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11560" y="927205"/>
            <a:ext cx="14864881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220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PRODUCTOS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4386421" y="6385421"/>
            <a:ext cx="3688357" cy="4114800"/>
          </a:xfrm>
          <a:custGeom>
            <a:avLst/>
            <a:gdLst/>
            <a:ahLst/>
            <a:cxnLst/>
            <a:rect r="r" b="b" t="t" l="l"/>
            <a:pathLst>
              <a:path h="4114800" w="3688357">
                <a:moveTo>
                  <a:pt x="0" y="0"/>
                </a:moveTo>
                <a:lnTo>
                  <a:pt x="3688358" y="0"/>
                </a:lnTo>
                <a:lnTo>
                  <a:pt x="3688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-1119352" y="-1500496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8A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538" y="1028700"/>
            <a:ext cx="18128923" cy="7067745"/>
          </a:xfrm>
          <a:custGeom>
            <a:avLst/>
            <a:gdLst/>
            <a:ahLst/>
            <a:cxnLst/>
            <a:rect r="r" b="b" t="t" l="l"/>
            <a:pathLst>
              <a:path h="7067745" w="18128923">
                <a:moveTo>
                  <a:pt x="0" y="0"/>
                </a:moveTo>
                <a:lnTo>
                  <a:pt x="18128924" y="0"/>
                </a:lnTo>
                <a:lnTo>
                  <a:pt x="18128924" y="7067745"/>
                </a:lnTo>
                <a:lnTo>
                  <a:pt x="0" y="7067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3238" y="8265235"/>
            <a:ext cx="166415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microsoft.com/en-us/power-platform/products/power-bi"/>
              </a:rPr>
              <a:t>https://www.microsoft.com/en-us/power-platform/products/power-bi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8A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1447814" y="814396"/>
            <a:ext cx="15392371" cy="86582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5322" y="2524657"/>
            <a:ext cx="7671385" cy="6212762"/>
            <a:chOff x="0" y="0"/>
            <a:chExt cx="2020447" cy="1636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447" cy="1636283"/>
            </a:xfrm>
            <a:custGeom>
              <a:avLst/>
              <a:gdLst/>
              <a:ahLst/>
              <a:cxnLst/>
              <a:rect r="r" b="b" t="t" l="l"/>
              <a:pathLst>
                <a:path h="1636283" w="2020447">
                  <a:moveTo>
                    <a:pt x="35322" y="0"/>
                  </a:moveTo>
                  <a:lnTo>
                    <a:pt x="1985125" y="0"/>
                  </a:lnTo>
                  <a:cubicBezTo>
                    <a:pt x="2004633" y="0"/>
                    <a:pt x="2020447" y="15814"/>
                    <a:pt x="2020447" y="35322"/>
                  </a:cubicBezTo>
                  <a:lnTo>
                    <a:pt x="2020447" y="1600961"/>
                  </a:lnTo>
                  <a:cubicBezTo>
                    <a:pt x="2020447" y="1620469"/>
                    <a:pt x="2004633" y="1636283"/>
                    <a:pt x="1985125" y="1636283"/>
                  </a:cubicBezTo>
                  <a:lnTo>
                    <a:pt x="35322" y="1636283"/>
                  </a:lnTo>
                  <a:cubicBezTo>
                    <a:pt x="15814" y="1636283"/>
                    <a:pt x="0" y="1620469"/>
                    <a:pt x="0" y="1600961"/>
                  </a:cubicBezTo>
                  <a:lnTo>
                    <a:pt x="0" y="35322"/>
                  </a:lnTo>
                  <a:cubicBezTo>
                    <a:pt x="0" y="15814"/>
                    <a:pt x="15814" y="0"/>
                    <a:pt x="353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447" cy="1674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756879">
            <a:off x="-553033" y="771993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75653" y="2334685"/>
            <a:ext cx="5421185" cy="6592705"/>
          </a:xfrm>
          <a:custGeom>
            <a:avLst/>
            <a:gdLst/>
            <a:ahLst/>
            <a:cxnLst/>
            <a:rect r="r" b="b" t="t" l="l"/>
            <a:pathLst>
              <a:path h="6592705" w="5421185">
                <a:moveTo>
                  <a:pt x="0" y="0"/>
                </a:moveTo>
                <a:lnTo>
                  <a:pt x="5421185" y="0"/>
                </a:lnTo>
                <a:lnTo>
                  <a:pt x="5421185" y="6592705"/>
                </a:lnTo>
                <a:lnTo>
                  <a:pt x="0" y="65927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3555" t="0" r="-6446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021063" y="2915098"/>
            <a:ext cx="6399903" cy="512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1"/>
              </a:lnSpc>
            </a:pPr>
            <a:r>
              <a:rPr lang="en-US" sz="2650" spc="14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Es una herramienta completa de visualización y análisis de datos que nos permite convertir nuestros datos en información útil. Con Power Bi podemos:</a:t>
            </a:r>
          </a:p>
          <a:p>
            <a:pPr algn="just" marL="572348" indent="-286174" lvl="1">
              <a:lnSpc>
                <a:spcPts val="3711"/>
              </a:lnSpc>
              <a:buFont typeface="Arial"/>
              <a:buChar char="•"/>
            </a:pPr>
            <a:r>
              <a:rPr lang="en-US" sz="2650" spc="14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Conectar una amplia gama de fuentes de datos.</a:t>
            </a:r>
          </a:p>
          <a:p>
            <a:pPr algn="just" marL="572348" indent="-286174" lvl="1">
              <a:lnSpc>
                <a:spcPts val="3711"/>
              </a:lnSpc>
              <a:buFont typeface="Arial"/>
              <a:buChar char="•"/>
            </a:pPr>
            <a:r>
              <a:rPr lang="en-US" sz="2650" spc="14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informes interactivos y paneles de control.</a:t>
            </a:r>
          </a:p>
          <a:p>
            <a:pPr algn="just" marL="572348" indent="-286174" lvl="1">
              <a:lnSpc>
                <a:spcPts val="3711"/>
              </a:lnSpc>
              <a:buFont typeface="Arial"/>
              <a:buChar char="•"/>
            </a:pPr>
            <a:r>
              <a:rPr lang="en-US" sz="2650" spc="14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Obtener informacion mas profunda de nuestros datos.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248823" y="-2338212"/>
            <a:ext cx="4378481" cy="43784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822292" y="1022364"/>
            <a:ext cx="11639849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¿QUE ES POWER BI?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119352" y="-1500496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4050" y="4999339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8750" y="7329747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81116" y="1384814"/>
            <a:ext cx="10725767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CASOS DE USO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61353" y="2933741"/>
            <a:ext cx="4249995" cy="31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</a:pPr>
            <a:r>
              <a:rPr lang="en-US" sz="2542" spc="26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ANÁLISIS DE VENTAS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50636" y="2908016"/>
            <a:ext cx="5902028" cy="34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28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ANÁLISIS  DE MARKETING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14445" y="5252406"/>
            <a:ext cx="4374410" cy="34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28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ANÁLISIS DE RIESGOS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4758" y="5252406"/>
            <a:ext cx="4683184" cy="34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28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ANÁLISIS FINANCIERO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7889" y="7575592"/>
            <a:ext cx="4536922" cy="34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2"/>
              </a:lnSpc>
            </a:pPr>
            <a:r>
              <a:rPr lang="en-US" sz="2730" spc="28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ANÁLISIS OPERATIVO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05364" y="3392788"/>
            <a:ext cx="5961972" cy="103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1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Monitorizar el rendimiento de ventas, identificar tendencias y oportunidades, y optimizar el rendimiento del equipo de ventas.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20664" y="3392788"/>
            <a:ext cx="5961972" cy="682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1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Medir la eficacia de las campañas de marketing.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20664" y="5709628"/>
            <a:ext cx="596197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1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Identificar y mitigar riesgos potenciales, mejorar la toma de decisiones y proteger la empresa de posibles amenazas.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05364" y="5713199"/>
            <a:ext cx="596197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1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Obtener una vista completa de la salud financiera de la empresa, identificar riesgos y tomar decisiones financieras más informadas.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05364" y="8044144"/>
            <a:ext cx="5961972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1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Optimizar los procesos operativos, mejorar la eficiencia y aumentar la productividad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20594" y="4119594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4050" y="4999339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8750" y="7329747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44050" y="7327942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56869" y="1247775"/>
            <a:ext cx="737426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22033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00989" y="3364757"/>
            <a:ext cx="5170721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22033"/>
                </a:solidFill>
                <a:latin typeface="Nirmala UI"/>
                <a:ea typeface="Nirmala UI"/>
                <a:cs typeface="Nirmala UI"/>
                <a:sym typeface="Nirmala UI"/>
              </a:rPr>
              <a:t>Interfaz intuitiva y fácil de usar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3179" y="8172232"/>
            <a:ext cx="4796942" cy="3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22033"/>
                </a:solidFill>
                <a:latin typeface="Nirmala UI"/>
                <a:ea typeface="Nirmala UI"/>
                <a:cs typeface="Nirmala UI"/>
                <a:sym typeface="Nirmala UI"/>
              </a:rPr>
              <a:t>Comunidad activa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7495" y="3361476"/>
            <a:ext cx="6308310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22033"/>
                </a:solidFill>
                <a:latin typeface="Nirmala UI"/>
                <a:ea typeface="Nirmala UI"/>
                <a:cs typeface="Nirmala UI"/>
                <a:sym typeface="Nirmala UI"/>
              </a:rPr>
              <a:t>Amplia gama de visualizaciones de datos.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8467" y="5529305"/>
            <a:ext cx="6226366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22033"/>
                </a:solidFill>
                <a:latin typeface="Nirmala UI"/>
                <a:ea typeface="Nirmala UI"/>
                <a:cs typeface="Nirmala UI"/>
                <a:sym typeface="Nirmala UI"/>
              </a:rPr>
              <a:t>Capacidad para crear informes interactivos y paneles de control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7828" y="5529305"/>
            <a:ext cx="6097043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22033"/>
                </a:solidFill>
                <a:latin typeface="Nirmala UI"/>
                <a:ea typeface="Nirmala UI"/>
                <a:cs typeface="Nirmala UI"/>
                <a:sym typeface="Nirmala UI"/>
              </a:rPr>
              <a:t>Integración con diferentes fuentes de datos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1587" y="7853622"/>
            <a:ext cx="5869526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22033"/>
                </a:solidFill>
                <a:latin typeface="Nirmala UI"/>
                <a:ea typeface="Nirmala UI"/>
                <a:cs typeface="Nirmala UI"/>
                <a:sym typeface="Nirmala UI"/>
              </a:rPr>
              <a:t>Funcionalidades de inteligencia artificial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72374" y="1275442"/>
            <a:ext cx="1014325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DES</a:t>
            </a: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989" y="3317139"/>
            <a:ext cx="5170721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Puede ser costoso para empresas pequeñas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7495" y="3143635"/>
            <a:ext cx="6308310" cy="107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Requiere cierta curva de aprendizaje para aprovechar al máximo sus capacidades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7828" y="5642931"/>
            <a:ext cx="6097043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es una herramienta de análisis de datos avanzada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9368" y="538395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3410" y="8097759"/>
            <a:ext cx="4378481" cy="43784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D1E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91039" y="-2189241"/>
            <a:ext cx="4378481" cy="43784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55831" y="2493375"/>
            <a:ext cx="15073604" cy="5300249"/>
          </a:xfrm>
          <a:custGeom>
            <a:avLst/>
            <a:gdLst/>
            <a:ahLst/>
            <a:cxnLst/>
            <a:rect r="r" b="b" t="t" l="l"/>
            <a:pathLst>
              <a:path h="5300249" w="15073604">
                <a:moveTo>
                  <a:pt x="0" y="0"/>
                </a:moveTo>
                <a:lnTo>
                  <a:pt x="15073603" y="0"/>
                </a:lnTo>
                <a:lnTo>
                  <a:pt x="15073603" y="5300250"/>
                </a:lnTo>
                <a:lnTo>
                  <a:pt x="0" y="530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41914" y="1131753"/>
            <a:ext cx="5372324" cy="1057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8456">
                <a:solidFill>
                  <a:srgbClr val="022033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PRECIOS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8A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8692" y="1619264"/>
            <a:ext cx="12530617" cy="7048472"/>
          </a:xfrm>
          <a:custGeom>
            <a:avLst/>
            <a:gdLst/>
            <a:ahLst/>
            <a:cxnLst/>
            <a:rect r="r" b="b" t="t" l="l"/>
            <a:pathLst>
              <a:path h="7048472" w="12530617">
                <a:moveTo>
                  <a:pt x="0" y="0"/>
                </a:moveTo>
                <a:lnTo>
                  <a:pt x="12530616" y="0"/>
                </a:lnTo>
                <a:lnTo>
                  <a:pt x="12530616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3238" y="8677910"/>
            <a:ext cx="166415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microsoft.com/en-us/power-platform/products/power-apps"/>
              </a:rPr>
              <a:t>https://www.microsoft.com/en-us/power-platform/products/power-apps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8A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1483013" y="1286094"/>
            <a:ext cx="15321974" cy="771481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5322" y="2524657"/>
            <a:ext cx="7671385" cy="6212762"/>
            <a:chOff x="0" y="0"/>
            <a:chExt cx="2020447" cy="1636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447" cy="1636283"/>
            </a:xfrm>
            <a:custGeom>
              <a:avLst/>
              <a:gdLst/>
              <a:ahLst/>
              <a:cxnLst/>
              <a:rect r="r" b="b" t="t" l="l"/>
              <a:pathLst>
                <a:path h="1636283" w="2020447">
                  <a:moveTo>
                    <a:pt x="35322" y="0"/>
                  </a:moveTo>
                  <a:lnTo>
                    <a:pt x="1985125" y="0"/>
                  </a:lnTo>
                  <a:cubicBezTo>
                    <a:pt x="2004633" y="0"/>
                    <a:pt x="2020447" y="15814"/>
                    <a:pt x="2020447" y="35322"/>
                  </a:cubicBezTo>
                  <a:lnTo>
                    <a:pt x="2020447" y="1600961"/>
                  </a:lnTo>
                  <a:cubicBezTo>
                    <a:pt x="2020447" y="1620469"/>
                    <a:pt x="2004633" y="1636283"/>
                    <a:pt x="1985125" y="1636283"/>
                  </a:cubicBezTo>
                  <a:lnTo>
                    <a:pt x="35322" y="1636283"/>
                  </a:lnTo>
                  <a:cubicBezTo>
                    <a:pt x="15814" y="1636283"/>
                    <a:pt x="0" y="1620469"/>
                    <a:pt x="0" y="1600961"/>
                  </a:cubicBezTo>
                  <a:lnTo>
                    <a:pt x="0" y="35322"/>
                  </a:lnTo>
                  <a:cubicBezTo>
                    <a:pt x="0" y="15814"/>
                    <a:pt x="15814" y="0"/>
                    <a:pt x="353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447" cy="1674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75653" y="2753595"/>
            <a:ext cx="5421185" cy="6255807"/>
          </a:xfrm>
          <a:custGeom>
            <a:avLst/>
            <a:gdLst/>
            <a:ahLst/>
            <a:cxnLst/>
            <a:rect r="r" b="b" t="t" l="l"/>
            <a:pathLst>
              <a:path h="6255807" w="5421185">
                <a:moveTo>
                  <a:pt x="0" y="0"/>
                </a:moveTo>
                <a:lnTo>
                  <a:pt x="5421185" y="0"/>
                </a:lnTo>
                <a:lnTo>
                  <a:pt x="5421185" y="6255807"/>
                </a:lnTo>
                <a:lnTo>
                  <a:pt x="0" y="6255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429" t="0" r="-4689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756879">
            <a:off x="-553033" y="771993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248823" y="-2338212"/>
            <a:ext cx="4378481" cy="437848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021063" y="2886523"/>
            <a:ext cx="6399903" cy="559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3"/>
              </a:lnSpc>
            </a:pPr>
            <a:r>
              <a:rPr lang="en-US" sz="2468" spc="13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Es una plataforma de desarrollo de aplicaciones low-code que nos permite crear aplicaciones móviles y web personalizadas sin necesidad de ser programadores expertos. Con Power Apps podemos:</a:t>
            </a:r>
          </a:p>
          <a:p>
            <a:pPr algn="just" marL="532999" indent="-266499" lvl="1">
              <a:lnSpc>
                <a:spcPts val="3703"/>
              </a:lnSpc>
              <a:buFont typeface="Arial"/>
              <a:buChar char="•"/>
            </a:pPr>
            <a:r>
              <a:rPr lang="en-US" sz="2468" spc="13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Crear aplicacions sin código.</a:t>
            </a:r>
          </a:p>
          <a:p>
            <a:pPr algn="just" marL="532999" indent="-266499" lvl="1">
              <a:lnSpc>
                <a:spcPts val="3703"/>
              </a:lnSpc>
              <a:buFont typeface="Arial"/>
              <a:buChar char="•"/>
            </a:pPr>
            <a:r>
              <a:rPr lang="en-US" sz="2468" spc="13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Personalizar nuestras aplicaciones.</a:t>
            </a:r>
          </a:p>
          <a:p>
            <a:pPr algn="just" marL="532999" indent="-266499" lvl="1">
              <a:lnSpc>
                <a:spcPts val="3703"/>
              </a:lnSpc>
              <a:buFont typeface="Arial"/>
              <a:buChar char="•"/>
            </a:pPr>
            <a:r>
              <a:rPr lang="en-US" sz="2468" spc="13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Integrar nuestras aplicaciones con productos de Microsoft.</a:t>
            </a:r>
          </a:p>
          <a:p>
            <a:pPr algn="just" marL="532999" indent="-266499" lvl="1">
              <a:lnSpc>
                <a:spcPts val="3703"/>
              </a:lnSpc>
              <a:buFont typeface="Arial"/>
              <a:buChar char="•"/>
            </a:pPr>
            <a:r>
              <a:rPr lang="en-US" sz="2468" spc="138">
                <a:solidFill>
                  <a:srgbClr val="000000"/>
                </a:solidFill>
                <a:latin typeface="Tenor Sans"/>
                <a:ea typeface="Tenor Sans"/>
                <a:cs typeface="Tenor Sans"/>
                <a:sym typeface="Tenor Sans"/>
              </a:rPr>
              <a:t>Compartir nuestras aplicaciones con otros.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22292" y="1022364"/>
            <a:ext cx="11639849" cy="101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¿QUE ES POWER APPS?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3023" y="460290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81116" y="1403864"/>
            <a:ext cx="10725767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CASOS DE USO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8750" y="2916209"/>
            <a:ext cx="7259311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APLICACIONES DE PRODUCTIVIDAD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50636" y="2917541"/>
            <a:ext cx="5902028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APLICACIONES DE CLIENTES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6774" y="5261931"/>
            <a:ext cx="5723264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APLICACIONES DE NEGOCIO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5364" y="3383263"/>
            <a:ext cx="596197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Aplicaciones de automatizacion de tareas repetitivas, como la gestión de proyectos o la aprobación de flujos de trabajo.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20664" y="3392788"/>
            <a:ext cx="5961972" cy="103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11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aplicaciones móviles para clientes que les permitan realizar pedidos, acceder a información o solicitar asistencia.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5364" y="5716729"/>
            <a:ext cx="596197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aplicaciones personalizadas para las necesidades específicas del negocio como aplicaciones de gestión de inventario.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20594" y="4119594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4050" y="4999339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8750" y="7329747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44050" y="7327942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56869" y="1247775"/>
            <a:ext cx="737426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64870" y="3494254"/>
            <a:ext cx="6242961" cy="3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Interfaz intuitiva y fácil de usar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3179" y="8172232"/>
            <a:ext cx="4796942" cy="3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Comunidad activa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7495" y="3361476"/>
            <a:ext cx="6308310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requiere experiencia en programacion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88467" y="5529305"/>
            <a:ext cx="6226366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Capacidad para crear aplicaciones moviles y web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37828" y="5529305"/>
            <a:ext cx="6097043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Amplia gama de plantillas y conectores disponibles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1587" y="7853622"/>
            <a:ext cx="5869526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Integracion con otros productos de Microsoft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72374" y="1275442"/>
            <a:ext cx="1014325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DES</a:t>
            </a: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989" y="3317139"/>
            <a:ext cx="5170721" cy="72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Puede ser costoso para empresas pequeñas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7495" y="3143635"/>
            <a:ext cx="6308310" cy="107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Las aplicaciones complejas pueden requerir conocimientos de programación.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7828" y="5469675"/>
            <a:ext cx="6097043" cy="107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es una plataforma de desarrollo de aplicaciones profesional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9368" y="538395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1D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3410" y="8097759"/>
            <a:ext cx="4378481" cy="43784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91039" y="-2189241"/>
            <a:ext cx="4378481" cy="43784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33740" y="3117967"/>
            <a:ext cx="15820519" cy="4608485"/>
          </a:xfrm>
          <a:custGeom>
            <a:avLst/>
            <a:gdLst/>
            <a:ahLst/>
            <a:cxnLst/>
            <a:rect r="r" b="b" t="t" l="l"/>
            <a:pathLst>
              <a:path h="4608485" w="15820519">
                <a:moveTo>
                  <a:pt x="0" y="0"/>
                </a:moveTo>
                <a:lnTo>
                  <a:pt x="15820520" y="0"/>
                </a:lnTo>
                <a:lnTo>
                  <a:pt x="15820520" y="4608485"/>
                </a:lnTo>
                <a:lnTo>
                  <a:pt x="0" y="4608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41914" y="1131753"/>
            <a:ext cx="5372324" cy="105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845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PRECIOS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4255" y="1286110"/>
            <a:ext cx="14519489" cy="7259745"/>
          </a:xfrm>
          <a:custGeom>
            <a:avLst/>
            <a:gdLst/>
            <a:ahLst/>
            <a:cxnLst/>
            <a:rect r="r" b="b" t="t" l="l"/>
            <a:pathLst>
              <a:path h="7259745" w="14519489">
                <a:moveTo>
                  <a:pt x="0" y="0"/>
                </a:moveTo>
                <a:lnTo>
                  <a:pt x="14519490" y="0"/>
                </a:lnTo>
                <a:lnTo>
                  <a:pt x="14519490" y="7259745"/>
                </a:lnTo>
                <a:lnTo>
                  <a:pt x="0" y="725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3238" y="8677910"/>
            <a:ext cx="166415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https://www.microsoft.com/en-us/power-platform/products/power-automate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1227414" y="1157397"/>
            <a:ext cx="15833171" cy="797220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5322" y="2524657"/>
            <a:ext cx="7671385" cy="6212762"/>
            <a:chOff x="0" y="0"/>
            <a:chExt cx="2020447" cy="1636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447" cy="1636283"/>
            </a:xfrm>
            <a:custGeom>
              <a:avLst/>
              <a:gdLst/>
              <a:ahLst/>
              <a:cxnLst/>
              <a:rect r="r" b="b" t="t" l="l"/>
              <a:pathLst>
                <a:path h="1636283" w="2020447">
                  <a:moveTo>
                    <a:pt x="35322" y="0"/>
                  </a:moveTo>
                  <a:lnTo>
                    <a:pt x="1985125" y="0"/>
                  </a:lnTo>
                  <a:cubicBezTo>
                    <a:pt x="2004633" y="0"/>
                    <a:pt x="2020447" y="15814"/>
                    <a:pt x="2020447" y="35322"/>
                  </a:cubicBezTo>
                  <a:lnTo>
                    <a:pt x="2020447" y="1600961"/>
                  </a:lnTo>
                  <a:cubicBezTo>
                    <a:pt x="2020447" y="1620469"/>
                    <a:pt x="2004633" y="1636283"/>
                    <a:pt x="1985125" y="1636283"/>
                  </a:cubicBezTo>
                  <a:lnTo>
                    <a:pt x="35322" y="1636283"/>
                  </a:lnTo>
                  <a:cubicBezTo>
                    <a:pt x="15814" y="1636283"/>
                    <a:pt x="0" y="1620469"/>
                    <a:pt x="0" y="1600961"/>
                  </a:cubicBezTo>
                  <a:lnTo>
                    <a:pt x="0" y="35322"/>
                  </a:lnTo>
                  <a:cubicBezTo>
                    <a:pt x="0" y="15814"/>
                    <a:pt x="15814" y="0"/>
                    <a:pt x="353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20447" cy="1683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756879">
            <a:off x="-553033" y="771993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48823" y="-2338212"/>
            <a:ext cx="4378481" cy="43784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41854" y="2524657"/>
            <a:ext cx="6354856" cy="6354856"/>
          </a:xfrm>
          <a:custGeom>
            <a:avLst/>
            <a:gdLst/>
            <a:ahLst/>
            <a:cxnLst/>
            <a:rect r="r" b="b" t="t" l="l"/>
            <a:pathLst>
              <a:path h="6354856" w="6354856">
                <a:moveTo>
                  <a:pt x="0" y="0"/>
                </a:moveTo>
                <a:lnTo>
                  <a:pt x="6354856" y="0"/>
                </a:lnTo>
                <a:lnTo>
                  <a:pt x="6354856" y="6354856"/>
                </a:lnTo>
                <a:lnTo>
                  <a:pt x="0" y="635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21063" y="3465034"/>
            <a:ext cx="6399903" cy="426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Es una herramienta de automatización de procesos robóticos (RPA) que nos permite automatizar tareas repetitivas en aplicaciones de escritorio y web. Con Power Automate podemos: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Automatizar tareas repetitivas.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flujos de trabajo.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Utilizar la RPA.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Compartir los flujos de trabajo con otros.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33458" y="1247775"/>
            <a:ext cx="13785016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FFFFF"/>
                </a:solidFill>
                <a:latin typeface="Nirmala UI"/>
                <a:ea typeface="Nirmala UI"/>
                <a:cs typeface="Nirmala UI"/>
                <a:sym typeface="Nirmala UI"/>
              </a:rPr>
              <a:t>¿QUE ES POWER AUTOMATE?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0332" y="2674348"/>
            <a:ext cx="7218918" cy="2731004"/>
            <a:chOff x="0" y="0"/>
            <a:chExt cx="1901279" cy="7192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1279" cy="719277"/>
            </a:xfrm>
            <a:custGeom>
              <a:avLst/>
              <a:gdLst/>
              <a:ahLst/>
              <a:cxnLst/>
              <a:rect r="r" b="b" t="t" l="l"/>
              <a:pathLst>
                <a:path h="719277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664582"/>
                  </a:lnTo>
                  <a:cubicBezTo>
                    <a:pt x="1901279" y="694789"/>
                    <a:pt x="1876791" y="719277"/>
                    <a:pt x="1846584" y="719277"/>
                  </a:cubicBezTo>
                  <a:lnTo>
                    <a:pt x="54695" y="719277"/>
                  </a:lnTo>
                  <a:cubicBezTo>
                    <a:pt x="24488" y="719277"/>
                    <a:pt x="0" y="694789"/>
                    <a:pt x="0" y="664582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01279" cy="74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93023" y="460290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76891" y="2711763"/>
            <a:ext cx="7218918" cy="2693589"/>
            <a:chOff x="0" y="0"/>
            <a:chExt cx="1901279" cy="7094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1279" cy="709423"/>
            </a:xfrm>
            <a:custGeom>
              <a:avLst/>
              <a:gdLst/>
              <a:ahLst/>
              <a:cxnLst/>
              <a:rect r="r" b="b" t="t" l="l"/>
              <a:pathLst>
                <a:path h="709423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654728"/>
                  </a:lnTo>
                  <a:cubicBezTo>
                    <a:pt x="1901279" y="684935"/>
                    <a:pt x="1876791" y="709423"/>
                    <a:pt x="1846584" y="709423"/>
                  </a:cubicBezTo>
                  <a:lnTo>
                    <a:pt x="54695" y="709423"/>
                  </a:lnTo>
                  <a:cubicBezTo>
                    <a:pt x="40189" y="709423"/>
                    <a:pt x="26277" y="703660"/>
                    <a:pt x="16020" y="693403"/>
                  </a:cubicBezTo>
                  <a:cubicBezTo>
                    <a:pt x="5762" y="683146"/>
                    <a:pt x="0" y="669234"/>
                    <a:pt x="0" y="654728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01279" cy="737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9143" y="5843502"/>
            <a:ext cx="7218918" cy="2657645"/>
            <a:chOff x="0" y="0"/>
            <a:chExt cx="1901279" cy="6999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1279" cy="699956"/>
            </a:xfrm>
            <a:custGeom>
              <a:avLst/>
              <a:gdLst/>
              <a:ahLst/>
              <a:cxnLst/>
              <a:rect r="r" b="b" t="t" l="l"/>
              <a:pathLst>
                <a:path h="699956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645261"/>
                  </a:lnTo>
                  <a:cubicBezTo>
                    <a:pt x="1901279" y="675468"/>
                    <a:pt x="1876791" y="699956"/>
                    <a:pt x="1846584" y="699956"/>
                  </a:cubicBezTo>
                  <a:lnTo>
                    <a:pt x="54695" y="699956"/>
                  </a:lnTo>
                  <a:cubicBezTo>
                    <a:pt x="40189" y="699956"/>
                    <a:pt x="26277" y="694193"/>
                    <a:pt x="16020" y="683936"/>
                  </a:cubicBezTo>
                  <a:cubicBezTo>
                    <a:pt x="5762" y="673679"/>
                    <a:pt x="0" y="659767"/>
                    <a:pt x="0" y="645261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1279" cy="738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1116" y="1403864"/>
            <a:ext cx="10725767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CASOS DE USO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2916209"/>
            <a:ext cx="7259311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AUTOMATIZACIÓN DE TAREAS REPETITIVAS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988" y="2916209"/>
            <a:ext cx="6503325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CREACIÓN DE FLUJOS DE TRABAJO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6970" y="6103058"/>
            <a:ext cx="5723264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AUTOMATIZACION ROBÓTICA DE PROCESOS - RPA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1756" y="3735688"/>
            <a:ext cx="695329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Automatizar tareas como enviar correos electrónicos, crear documentos y actualizar registros.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20664" y="3627790"/>
            <a:ext cx="596197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flujos de trabajo automatizados complejos que abarcan diferentes aplicaciones y servicios, como la aprobación de solicitudes de vacaciones o el procesamiento de pedidos.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97616" y="6975215"/>
            <a:ext cx="596197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Automatizar tareas repetitivas en aplicaciones de escritorio, como la introducción de datos o la extracción de datos.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20594" y="4119594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4050" y="4999339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8750" y="7329747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56869" y="1247775"/>
            <a:ext cx="737426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4870" y="3484729"/>
            <a:ext cx="6242961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Interfaz intuitiva y fácil de usar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7495" y="3351951"/>
            <a:ext cx="6308310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Capacidad para crear flujos de trabajo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8467" y="5698312"/>
            <a:ext cx="6226366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Reduce el tiempo dedicado a tareas repetitivas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7828" y="5698312"/>
            <a:ext cx="6097043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Amplia gama de conectores disponibles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1587" y="8015070"/>
            <a:ext cx="5869526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Mejora la eficiencia y la productividad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44050" y="7327942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03179" y="8172232"/>
            <a:ext cx="4796942" cy="3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Comunidad activa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72374" y="1275442"/>
            <a:ext cx="1014325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DES</a:t>
            </a: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989" y="3375127"/>
            <a:ext cx="5170721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Puede ser costoso para empresas pequeñas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7495" y="3227489"/>
            <a:ext cx="6308310" cy="90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Requiere cierta curva de aprendizaje para aprovechar al máximo sus capacidades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7828" y="5552480"/>
            <a:ext cx="6097043" cy="90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es una herramienta de automatización de procesos avanzada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9368" y="538395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3410" y="8097759"/>
            <a:ext cx="4378481" cy="43784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91039" y="-2189241"/>
            <a:ext cx="4378481" cy="43784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80458" y="2331212"/>
            <a:ext cx="16278842" cy="6182599"/>
          </a:xfrm>
          <a:custGeom>
            <a:avLst/>
            <a:gdLst/>
            <a:ahLst/>
            <a:cxnLst/>
            <a:rect r="r" b="b" t="t" l="l"/>
            <a:pathLst>
              <a:path h="6182599" w="16278842">
                <a:moveTo>
                  <a:pt x="0" y="0"/>
                </a:moveTo>
                <a:lnTo>
                  <a:pt x="16278842" y="0"/>
                </a:lnTo>
                <a:lnTo>
                  <a:pt x="16278842" y="6182599"/>
                </a:lnTo>
                <a:lnTo>
                  <a:pt x="0" y="6182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41914" y="1131753"/>
            <a:ext cx="5372324" cy="105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845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PRECIOS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95500" y="1574400"/>
            <a:ext cx="11897000" cy="7138200"/>
          </a:xfrm>
          <a:custGeom>
            <a:avLst/>
            <a:gdLst/>
            <a:ahLst/>
            <a:cxnLst/>
            <a:rect r="r" b="b" t="t" l="l"/>
            <a:pathLst>
              <a:path h="7138200" w="11897000">
                <a:moveTo>
                  <a:pt x="0" y="0"/>
                </a:moveTo>
                <a:lnTo>
                  <a:pt x="11897000" y="0"/>
                </a:lnTo>
                <a:lnTo>
                  <a:pt x="11897000" y="7138200"/>
                </a:lnTo>
                <a:lnTo>
                  <a:pt x="0" y="7138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1379916" y="776203"/>
            <a:ext cx="15528168" cy="873459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5322" y="2524657"/>
            <a:ext cx="7671385" cy="6212762"/>
            <a:chOff x="0" y="0"/>
            <a:chExt cx="2020447" cy="1636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447" cy="1636283"/>
            </a:xfrm>
            <a:custGeom>
              <a:avLst/>
              <a:gdLst/>
              <a:ahLst/>
              <a:cxnLst/>
              <a:rect r="r" b="b" t="t" l="l"/>
              <a:pathLst>
                <a:path h="1636283" w="2020447">
                  <a:moveTo>
                    <a:pt x="35322" y="0"/>
                  </a:moveTo>
                  <a:lnTo>
                    <a:pt x="1985125" y="0"/>
                  </a:lnTo>
                  <a:cubicBezTo>
                    <a:pt x="2004633" y="0"/>
                    <a:pt x="2020447" y="15814"/>
                    <a:pt x="2020447" y="35322"/>
                  </a:cubicBezTo>
                  <a:lnTo>
                    <a:pt x="2020447" y="1600961"/>
                  </a:lnTo>
                  <a:cubicBezTo>
                    <a:pt x="2020447" y="1620469"/>
                    <a:pt x="2004633" y="1636283"/>
                    <a:pt x="1985125" y="1636283"/>
                  </a:cubicBezTo>
                  <a:lnTo>
                    <a:pt x="35322" y="1636283"/>
                  </a:lnTo>
                  <a:cubicBezTo>
                    <a:pt x="15814" y="1636283"/>
                    <a:pt x="0" y="1620469"/>
                    <a:pt x="0" y="1600961"/>
                  </a:cubicBezTo>
                  <a:lnTo>
                    <a:pt x="0" y="35322"/>
                  </a:lnTo>
                  <a:cubicBezTo>
                    <a:pt x="0" y="15814"/>
                    <a:pt x="15814" y="0"/>
                    <a:pt x="353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20447" cy="1683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756879">
            <a:off x="-553033" y="771993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48823" y="-2338212"/>
            <a:ext cx="4378481" cy="43784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86819" y="2760981"/>
            <a:ext cx="6876955" cy="5740114"/>
          </a:xfrm>
          <a:custGeom>
            <a:avLst/>
            <a:gdLst/>
            <a:ahLst/>
            <a:cxnLst/>
            <a:rect r="r" b="b" t="t" l="l"/>
            <a:pathLst>
              <a:path h="5740114" w="6876955">
                <a:moveTo>
                  <a:pt x="0" y="0"/>
                </a:moveTo>
                <a:lnTo>
                  <a:pt x="6876955" y="0"/>
                </a:lnTo>
                <a:lnTo>
                  <a:pt x="6876955" y="5740114"/>
                </a:lnTo>
                <a:lnTo>
                  <a:pt x="0" y="57401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21063" y="3465034"/>
            <a:ext cx="6399903" cy="426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Es una plataforma para la creación de chatbots y asistentes virtuales que nos permite crear chatbots que pueden interacturas con los usuarios de forma natural</a:t>
            </a: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. Con Power Virtual Agents podemos: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chatbots sin código.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Personalizar nuestros chatbots.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Integrar nuestros chatbots con otros productos Microsoft.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Compartir nuestros chatbots con otros.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209675"/>
            <a:ext cx="16695565" cy="87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7000">
                <a:solidFill>
                  <a:srgbClr val="FFFFFF"/>
                </a:solidFill>
                <a:latin typeface="Nirmala UI"/>
                <a:ea typeface="Nirmala UI"/>
                <a:cs typeface="Nirmala UI"/>
                <a:sym typeface="Nirmala UI"/>
              </a:rPr>
              <a:t>¿QUE ES POWER VIRTUAL AGENTS?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0332" y="2674348"/>
            <a:ext cx="7218918" cy="1928553"/>
            <a:chOff x="0" y="0"/>
            <a:chExt cx="1901279" cy="507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1279" cy="507932"/>
            </a:xfrm>
            <a:custGeom>
              <a:avLst/>
              <a:gdLst/>
              <a:ahLst/>
              <a:cxnLst/>
              <a:rect r="r" b="b" t="t" l="l"/>
              <a:pathLst>
                <a:path h="507932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53237"/>
                  </a:lnTo>
                  <a:cubicBezTo>
                    <a:pt x="1901279" y="467743"/>
                    <a:pt x="1895516" y="481655"/>
                    <a:pt x="1885259" y="491912"/>
                  </a:cubicBezTo>
                  <a:cubicBezTo>
                    <a:pt x="1875002" y="502169"/>
                    <a:pt x="1861090" y="507932"/>
                    <a:pt x="1846584" y="507932"/>
                  </a:cubicBezTo>
                  <a:lnTo>
                    <a:pt x="54695" y="507932"/>
                  </a:lnTo>
                  <a:cubicBezTo>
                    <a:pt x="24488" y="507932"/>
                    <a:pt x="0" y="483444"/>
                    <a:pt x="0" y="453237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01279" cy="53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93023" y="460290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76891" y="2711763"/>
            <a:ext cx="7218918" cy="1891137"/>
            <a:chOff x="0" y="0"/>
            <a:chExt cx="1901279" cy="4980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1279" cy="498077"/>
            </a:xfrm>
            <a:custGeom>
              <a:avLst/>
              <a:gdLst/>
              <a:ahLst/>
              <a:cxnLst/>
              <a:rect r="r" b="b" t="t" l="l"/>
              <a:pathLst>
                <a:path h="498077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43382"/>
                  </a:lnTo>
                  <a:cubicBezTo>
                    <a:pt x="1901279" y="473590"/>
                    <a:pt x="1876791" y="498077"/>
                    <a:pt x="1846584" y="498077"/>
                  </a:cubicBezTo>
                  <a:lnTo>
                    <a:pt x="54695" y="498077"/>
                  </a:lnTo>
                  <a:cubicBezTo>
                    <a:pt x="24488" y="498077"/>
                    <a:pt x="0" y="473590"/>
                    <a:pt x="0" y="443382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01279" cy="52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76891" y="5143500"/>
            <a:ext cx="7218918" cy="2028824"/>
            <a:chOff x="0" y="0"/>
            <a:chExt cx="1901279" cy="5343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1279" cy="534340"/>
            </a:xfrm>
            <a:custGeom>
              <a:avLst/>
              <a:gdLst/>
              <a:ahLst/>
              <a:cxnLst/>
              <a:rect r="r" b="b" t="t" l="l"/>
              <a:pathLst>
                <a:path h="534340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79646"/>
                  </a:lnTo>
                  <a:cubicBezTo>
                    <a:pt x="1901279" y="509853"/>
                    <a:pt x="1876791" y="534340"/>
                    <a:pt x="1846584" y="534340"/>
                  </a:cubicBezTo>
                  <a:lnTo>
                    <a:pt x="54695" y="534340"/>
                  </a:lnTo>
                  <a:cubicBezTo>
                    <a:pt x="40189" y="534340"/>
                    <a:pt x="26277" y="528578"/>
                    <a:pt x="16020" y="518321"/>
                  </a:cubicBezTo>
                  <a:cubicBezTo>
                    <a:pt x="5762" y="508063"/>
                    <a:pt x="0" y="494152"/>
                    <a:pt x="0" y="479646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1279" cy="57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1116" y="1403864"/>
            <a:ext cx="10725767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CASOS DE USO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2916209"/>
            <a:ext cx="7259311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ATENCIÓN AL CLIENTE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988" y="2916209"/>
            <a:ext cx="6503325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VENTAS Y MARKETING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4718" y="5403056"/>
            <a:ext cx="5723264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RECURSOS HUMANOS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1756" y="3476978"/>
            <a:ext cx="69532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Ofrecer atención al cliente 24/7 a través de chatbots.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20664" y="3451578"/>
            <a:ext cx="596197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Generar clientes potenciales y aumentar las ventas a través de chatbots.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5167" y="5948188"/>
            <a:ext cx="596197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Responder preguntas frecuentes de los empleados a través de chatbots.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40332" y="5143500"/>
            <a:ext cx="7218918" cy="2028824"/>
            <a:chOff x="0" y="0"/>
            <a:chExt cx="1901279" cy="5343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1279" cy="534340"/>
            </a:xfrm>
            <a:custGeom>
              <a:avLst/>
              <a:gdLst/>
              <a:ahLst/>
              <a:cxnLst/>
              <a:rect r="r" b="b" t="t" l="l"/>
              <a:pathLst>
                <a:path h="534340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79646"/>
                  </a:lnTo>
                  <a:cubicBezTo>
                    <a:pt x="1901279" y="509853"/>
                    <a:pt x="1876791" y="534340"/>
                    <a:pt x="1846584" y="534340"/>
                  </a:cubicBezTo>
                  <a:lnTo>
                    <a:pt x="54695" y="534340"/>
                  </a:lnTo>
                  <a:cubicBezTo>
                    <a:pt x="40189" y="534340"/>
                    <a:pt x="26277" y="528578"/>
                    <a:pt x="16020" y="518321"/>
                  </a:cubicBezTo>
                  <a:cubicBezTo>
                    <a:pt x="5762" y="508063"/>
                    <a:pt x="0" y="494152"/>
                    <a:pt x="0" y="479646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01279" cy="572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88159" y="5403056"/>
            <a:ext cx="5723264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SOPORTE TÉCNICO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68805" y="5962237"/>
            <a:ext cx="596197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Ofrecer soporte técnico a los clientes a través de chatbots.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20594" y="4119594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4050" y="4999339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8750" y="7329747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56869" y="1247775"/>
            <a:ext cx="737426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4870" y="3484729"/>
            <a:ext cx="6242961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Interfaz intuitiva y fácil de usar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7495" y="3351951"/>
            <a:ext cx="6308310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requiere experiencia en programación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8467" y="5698312"/>
            <a:ext cx="6226366" cy="90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Capacidad de crear chatbots que pueden interactuar con los usuarios de forma natural.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7828" y="5698312"/>
            <a:ext cx="6097043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Amplia gama de plantillas y conectores disponibles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1587" y="8015070"/>
            <a:ext cx="5869526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Integración con otros productos Microsoft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44050" y="7327942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03179" y="8172232"/>
            <a:ext cx="4796942" cy="3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Comunidad activa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72374" y="1275442"/>
            <a:ext cx="1014325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DES</a:t>
            </a: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989" y="3375127"/>
            <a:ext cx="5170721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Puede ser costoso para empresas pequeñas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7495" y="3227489"/>
            <a:ext cx="6308310" cy="90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Los chatbots complejos pueden requerir conocimientos de programación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7828" y="5552480"/>
            <a:ext cx="6097043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es una plataforma de desarrollo de chatbots avanzada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9368" y="538395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11689"/>
            <a:ext cx="16212073" cy="4863622"/>
          </a:xfrm>
          <a:custGeom>
            <a:avLst/>
            <a:gdLst/>
            <a:ahLst/>
            <a:cxnLst/>
            <a:rect r="r" b="b" t="t" l="l"/>
            <a:pathLst>
              <a:path h="4863622" w="16212073">
                <a:moveTo>
                  <a:pt x="0" y="0"/>
                </a:moveTo>
                <a:lnTo>
                  <a:pt x="16212073" y="0"/>
                </a:lnTo>
                <a:lnTo>
                  <a:pt x="16212073" y="4863622"/>
                </a:lnTo>
                <a:lnTo>
                  <a:pt x="0" y="486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3238" y="8417890"/>
            <a:ext cx="1664152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https://www.microsoft.com/en-us/power-platform/products/power-pages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B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a:videoFile r:link="rId3"/>
          </p:nvPr>
        </p:nvPicPr>
        <p:blipFill>
          <a:blip r:embed="rId2"/>
          <a:stretch>
            <a:fillRect/>
          </a:stretch>
        </p:blipFill>
        <p:spPr>
          <a:xfrm rot="0">
            <a:off x="1379916" y="776203"/>
            <a:ext cx="15513508" cy="872634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5322" y="2524657"/>
            <a:ext cx="7671385" cy="6212762"/>
            <a:chOff x="0" y="0"/>
            <a:chExt cx="2020447" cy="1636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447" cy="1636283"/>
            </a:xfrm>
            <a:custGeom>
              <a:avLst/>
              <a:gdLst/>
              <a:ahLst/>
              <a:cxnLst/>
              <a:rect r="r" b="b" t="t" l="l"/>
              <a:pathLst>
                <a:path h="1636283" w="2020447">
                  <a:moveTo>
                    <a:pt x="35322" y="0"/>
                  </a:moveTo>
                  <a:lnTo>
                    <a:pt x="1985125" y="0"/>
                  </a:lnTo>
                  <a:cubicBezTo>
                    <a:pt x="2004633" y="0"/>
                    <a:pt x="2020447" y="15814"/>
                    <a:pt x="2020447" y="35322"/>
                  </a:cubicBezTo>
                  <a:lnTo>
                    <a:pt x="2020447" y="1600961"/>
                  </a:lnTo>
                  <a:cubicBezTo>
                    <a:pt x="2020447" y="1620469"/>
                    <a:pt x="2004633" y="1636283"/>
                    <a:pt x="1985125" y="1636283"/>
                  </a:cubicBezTo>
                  <a:lnTo>
                    <a:pt x="35322" y="1636283"/>
                  </a:lnTo>
                  <a:cubicBezTo>
                    <a:pt x="15814" y="1636283"/>
                    <a:pt x="0" y="1620469"/>
                    <a:pt x="0" y="1600961"/>
                  </a:cubicBezTo>
                  <a:lnTo>
                    <a:pt x="0" y="35322"/>
                  </a:lnTo>
                  <a:cubicBezTo>
                    <a:pt x="0" y="15814"/>
                    <a:pt x="15814" y="0"/>
                    <a:pt x="3532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20447" cy="1683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756879">
            <a:off x="-553033" y="771993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5248823" y="-2338212"/>
            <a:ext cx="4378481" cy="437848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86209" y="2524657"/>
            <a:ext cx="6306102" cy="6306102"/>
          </a:xfrm>
          <a:custGeom>
            <a:avLst/>
            <a:gdLst/>
            <a:ahLst/>
            <a:cxnLst/>
            <a:rect r="r" b="b" t="t" l="l"/>
            <a:pathLst>
              <a:path h="6306102" w="6306102">
                <a:moveTo>
                  <a:pt x="0" y="0"/>
                </a:moveTo>
                <a:lnTo>
                  <a:pt x="6306102" y="0"/>
                </a:lnTo>
                <a:lnTo>
                  <a:pt x="6306102" y="6306102"/>
                </a:lnTo>
                <a:lnTo>
                  <a:pt x="0" y="6306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21063" y="3465034"/>
            <a:ext cx="6399903" cy="426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48"/>
              </a:lnSpc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Es una plataforma de creación de sitios web sin código que nos permite crear sitios webmodernos y profesionales sin necesidad de ser un programador</a:t>
            </a: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. Con Power Pages podemos: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sitios web sin código.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Personalizar nuestros sitios web.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Integrar nuestros sitios web con otros productos Microsoft.</a:t>
            </a:r>
          </a:p>
          <a:p>
            <a:pPr algn="just" marL="496355" indent="-248178" lvl="1">
              <a:lnSpc>
                <a:spcPts val="3448"/>
              </a:lnSpc>
              <a:buFont typeface="Arial"/>
              <a:buChar char="•"/>
            </a:pPr>
            <a:r>
              <a:rPr lang="en-US" sz="2299" spc="128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Compartir nuestros sitios web con otros.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209675"/>
            <a:ext cx="16695565" cy="87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7000">
                <a:solidFill>
                  <a:srgbClr val="FFFFFF"/>
                </a:solidFill>
                <a:latin typeface="Nirmala UI"/>
                <a:ea typeface="Nirmala UI"/>
                <a:cs typeface="Nirmala UI"/>
                <a:sym typeface="Nirmala UI"/>
              </a:rPr>
              <a:t>¿QUE ES POWER PAGES?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0332" y="2674348"/>
            <a:ext cx="7218918" cy="1928553"/>
            <a:chOff x="0" y="0"/>
            <a:chExt cx="1901279" cy="5079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1279" cy="507932"/>
            </a:xfrm>
            <a:custGeom>
              <a:avLst/>
              <a:gdLst/>
              <a:ahLst/>
              <a:cxnLst/>
              <a:rect r="r" b="b" t="t" l="l"/>
              <a:pathLst>
                <a:path h="507932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53237"/>
                  </a:lnTo>
                  <a:cubicBezTo>
                    <a:pt x="1901279" y="467743"/>
                    <a:pt x="1895516" y="481655"/>
                    <a:pt x="1885259" y="491912"/>
                  </a:cubicBezTo>
                  <a:cubicBezTo>
                    <a:pt x="1875002" y="502169"/>
                    <a:pt x="1861090" y="507932"/>
                    <a:pt x="1846584" y="507932"/>
                  </a:cubicBezTo>
                  <a:lnTo>
                    <a:pt x="54695" y="507932"/>
                  </a:lnTo>
                  <a:cubicBezTo>
                    <a:pt x="24488" y="507932"/>
                    <a:pt x="0" y="483444"/>
                    <a:pt x="0" y="453237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901279" cy="536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393023" y="460290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76891" y="2711763"/>
            <a:ext cx="7218918" cy="1891137"/>
            <a:chOff x="0" y="0"/>
            <a:chExt cx="1901279" cy="4980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01279" cy="498077"/>
            </a:xfrm>
            <a:custGeom>
              <a:avLst/>
              <a:gdLst/>
              <a:ahLst/>
              <a:cxnLst/>
              <a:rect r="r" b="b" t="t" l="l"/>
              <a:pathLst>
                <a:path h="498077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43382"/>
                  </a:lnTo>
                  <a:cubicBezTo>
                    <a:pt x="1901279" y="473590"/>
                    <a:pt x="1876791" y="498077"/>
                    <a:pt x="1846584" y="498077"/>
                  </a:cubicBezTo>
                  <a:lnTo>
                    <a:pt x="54695" y="498077"/>
                  </a:lnTo>
                  <a:cubicBezTo>
                    <a:pt x="24488" y="498077"/>
                    <a:pt x="0" y="473590"/>
                    <a:pt x="0" y="443382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901279" cy="526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76891" y="5143500"/>
            <a:ext cx="7218918" cy="2028824"/>
            <a:chOff x="0" y="0"/>
            <a:chExt cx="1901279" cy="5343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1279" cy="534340"/>
            </a:xfrm>
            <a:custGeom>
              <a:avLst/>
              <a:gdLst/>
              <a:ahLst/>
              <a:cxnLst/>
              <a:rect r="r" b="b" t="t" l="l"/>
              <a:pathLst>
                <a:path h="534340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79646"/>
                  </a:lnTo>
                  <a:cubicBezTo>
                    <a:pt x="1901279" y="509853"/>
                    <a:pt x="1876791" y="534340"/>
                    <a:pt x="1846584" y="534340"/>
                  </a:cubicBezTo>
                  <a:lnTo>
                    <a:pt x="54695" y="534340"/>
                  </a:lnTo>
                  <a:cubicBezTo>
                    <a:pt x="40189" y="534340"/>
                    <a:pt x="26277" y="528578"/>
                    <a:pt x="16020" y="518321"/>
                  </a:cubicBezTo>
                  <a:cubicBezTo>
                    <a:pt x="5762" y="508063"/>
                    <a:pt x="0" y="494152"/>
                    <a:pt x="0" y="479646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901279" cy="562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81116" y="1403864"/>
            <a:ext cx="10725767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CASOS DE USO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28750" y="2916209"/>
            <a:ext cx="7259311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SITIOS WEB CORPORATIVOS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9988" y="2916209"/>
            <a:ext cx="6503325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SITIOS WEB DE MARKETING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24718" y="5403056"/>
            <a:ext cx="5723264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SITIOS WEB DE INTRANET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81756" y="3476978"/>
            <a:ext cx="6953299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sitios web corporativos que presenten la empresa, sus productos y servicios.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20664" y="3451578"/>
            <a:ext cx="596197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sitios web de marketing para promocionar los productos o servicios.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85167" y="5948188"/>
            <a:ext cx="596197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sitios web de intranet para compartir información y recursos con los empleados.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640332" y="5143500"/>
            <a:ext cx="7218918" cy="2028824"/>
            <a:chOff x="0" y="0"/>
            <a:chExt cx="1901279" cy="5343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1279" cy="534340"/>
            </a:xfrm>
            <a:custGeom>
              <a:avLst/>
              <a:gdLst/>
              <a:ahLst/>
              <a:cxnLst/>
              <a:rect r="r" b="b" t="t" l="l"/>
              <a:pathLst>
                <a:path h="534340" w="1901279">
                  <a:moveTo>
                    <a:pt x="54695" y="0"/>
                  </a:moveTo>
                  <a:lnTo>
                    <a:pt x="1846584" y="0"/>
                  </a:lnTo>
                  <a:cubicBezTo>
                    <a:pt x="1876791" y="0"/>
                    <a:pt x="1901279" y="24488"/>
                    <a:pt x="1901279" y="54695"/>
                  </a:cubicBezTo>
                  <a:lnTo>
                    <a:pt x="1901279" y="479646"/>
                  </a:lnTo>
                  <a:cubicBezTo>
                    <a:pt x="1901279" y="509853"/>
                    <a:pt x="1876791" y="534340"/>
                    <a:pt x="1846584" y="534340"/>
                  </a:cubicBezTo>
                  <a:lnTo>
                    <a:pt x="54695" y="534340"/>
                  </a:lnTo>
                  <a:cubicBezTo>
                    <a:pt x="40189" y="534340"/>
                    <a:pt x="26277" y="528578"/>
                    <a:pt x="16020" y="518321"/>
                  </a:cubicBezTo>
                  <a:cubicBezTo>
                    <a:pt x="5762" y="508063"/>
                    <a:pt x="0" y="494152"/>
                    <a:pt x="0" y="479646"/>
                  </a:cubicBezTo>
                  <a:lnTo>
                    <a:pt x="0" y="54695"/>
                  </a:lnTo>
                  <a:cubicBezTo>
                    <a:pt x="0" y="24488"/>
                    <a:pt x="24488" y="0"/>
                    <a:pt x="54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901279" cy="5629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388159" y="5403056"/>
            <a:ext cx="5723264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267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SITIOS WEB DE PORTALES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68805" y="5962237"/>
            <a:ext cx="596197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12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Crear sitios web de portales para proporcionar acceso a diferentes aplicaciones y servicios.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20594" y="4119594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44050" y="4999339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8750" y="7329747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456869" y="1247775"/>
            <a:ext cx="737426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4870" y="3484729"/>
            <a:ext cx="6242961" cy="31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Interfaz intuitiva y fácil de usar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7495" y="3351951"/>
            <a:ext cx="6308310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requiere experiencia en programación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88467" y="5698312"/>
            <a:ext cx="6226366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Capacidad para crear sitios web modernos y profesionales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7828" y="5698312"/>
            <a:ext cx="6097043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Amplia gama de plantillas de sitios web disponibles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51587" y="8015070"/>
            <a:ext cx="5869526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Integración con otros productos Microsoft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544050" y="7327942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03179" y="8172232"/>
            <a:ext cx="4796942" cy="3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8"/>
              </a:lnSpc>
            </a:pPr>
            <a:r>
              <a:rPr lang="en-US" sz="3030" spc="169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Comunidad activa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71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2676153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3"/>
                </a:lnTo>
                <a:lnTo>
                  <a:pt x="0" y="1928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44050" y="2674348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8750" y="5001145"/>
            <a:ext cx="7315200" cy="1928553"/>
          </a:xfrm>
          <a:custGeom>
            <a:avLst/>
            <a:gdLst/>
            <a:ahLst/>
            <a:cxnLst/>
            <a:rect r="r" b="b" t="t" l="l"/>
            <a:pathLst>
              <a:path h="1928553" w="7315200">
                <a:moveTo>
                  <a:pt x="0" y="0"/>
                </a:moveTo>
                <a:lnTo>
                  <a:pt x="7315200" y="0"/>
                </a:lnTo>
                <a:lnTo>
                  <a:pt x="7315200" y="1928552"/>
                </a:lnTo>
                <a:lnTo>
                  <a:pt x="0" y="192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72374" y="1275442"/>
            <a:ext cx="10143252" cy="998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0"/>
              </a:lnSpc>
            </a:pP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DES</a:t>
            </a:r>
            <a:r>
              <a:rPr lang="en-US" sz="8000">
                <a:solidFill>
                  <a:srgbClr val="F3E780"/>
                </a:solidFill>
                <a:latin typeface="Nirmala UI"/>
                <a:ea typeface="Nirmala UI"/>
                <a:cs typeface="Nirmala UI"/>
                <a:sym typeface="Nirmala UI"/>
              </a:rPr>
              <a:t>VENTAJAS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989" y="3375127"/>
            <a:ext cx="5170721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Puede ser costoso para empresas pequeñas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7495" y="3227489"/>
            <a:ext cx="6308310" cy="90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Los sitios web complejos pueden requerir conocimientos de programación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7828" y="5552480"/>
            <a:ext cx="6097043" cy="60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spc="145">
                <a:solidFill>
                  <a:srgbClr val="000000"/>
                </a:solidFill>
                <a:latin typeface="Nirmala UI"/>
                <a:ea typeface="Nirmala UI"/>
                <a:cs typeface="Nirmala UI"/>
                <a:sym typeface="Nirmala UI"/>
              </a:rPr>
              <a:t>No es una plataforma de desarrollo web avanzada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429368" y="5383950"/>
            <a:ext cx="6167406" cy="6167406"/>
          </a:xfrm>
          <a:custGeom>
            <a:avLst/>
            <a:gdLst/>
            <a:ahLst/>
            <a:cxnLst/>
            <a:rect r="r" b="b" t="t" l="l"/>
            <a:pathLst>
              <a:path h="6167406" w="6167406">
                <a:moveTo>
                  <a:pt x="0" y="0"/>
                </a:moveTo>
                <a:lnTo>
                  <a:pt x="6167406" y="0"/>
                </a:lnTo>
                <a:lnTo>
                  <a:pt x="6167406" y="6167406"/>
                </a:lnTo>
                <a:lnTo>
                  <a:pt x="0" y="6167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33410" y="8097759"/>
            <a:ext cx="4378481" cy="437848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8AB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291039" y="-2189241"/>
            <a:ext cx="4378481" cy="437848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6B5D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18221" y="2396773"/>
            <a:ext cx="15741079" cy="5834266"/>
          </a:xfrm>
          <a:custGeom>
            <a:avLst/>
            <a:gdLst/>
            <a:ahLst/>
            <a:cxnLst/>
            <a:rect r="r" b="b" t="t" l="l"/>
            <a:pathLst>
              <a:path h="5834266" w="15741079">
                <a:moveTo>
                  <a:pt x="0" y="0"/>
                </a:moveTo>
                <a:lnTo>
                  <a:pt x="15741079" y="0"/>
                </a:lnTo>
                <a:lnTo>
                  <a:pt x="15741079" y="5834266"/>
                </a:lnTo>
                <a:lnTo>
                  <a:pt x="0" y="583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41914" y="1131753"/>
            <a:ext cx="5372324" cy="105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0"/>
              </a:lnSpc>
            </a:pPr>
            <a:r>
              <a:rPr lang="en-US" sz="845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PRECIOS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9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344930">
            <a:off x="2872072" y="5064253"/>
            <a:ext cx="6826419" cy="1664211"/>
            <a:chOff x="0" y="0"/>
            <a:chExt cx="1146356" cy="279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6356" cy="279470"/>
            </a:xfrm>
            <a:custGeom>
              <a:avLst/>
              <a:gdLst/>
              <a:ahLst/>
              <a:cxnLst/>
              <a:rect r="r" b="b" t="t" l="l"/>
              <a:pathLst>
                <a:path h="279470" w="1146356">
                  <a:moveTo>
                    <a:pt x="87327" y="0"/>
                  </a:moveTo>
                  <a:lnTo>
                    <a:pt x="1059029" y="0"/>
                  </a:lnTo>
                  <a:cubicBezTo>
                    <a:pt x="1107259" y="0"/>
                    <a:pt x="1146356" y="39097"/>
                    <a:pt x="1146356" y="87327"/>
                  </a:cubicBezTo>
                  <a:lnTo>
                    <a:pt x="1146356" y="192143"/>
                  </a:lnTo>
                  <a:cubicBezTo>
                    <a:pt x="1146356" y="240372"/>
                    <a:pt x="1107259" y="279470"/>
                    <a:pt x="1059029" y="279470"/>
                  </a:cubicBezTo>
                  <a:lnTo>
                    <a:pt x="87327" y="279470"/>
                  </a:lnTo>
                  <a:cubicBezTo>
                    <a:pt x="39097" y="279470"/>
                    <a:pt x="0" y="240372"/>
                    <a:pt x="0" y="192143"/>
                  </a:cubicBezTo>
                  <a:lnTo>
                    <a:pt x="0" y="87327"/>
                  </a:lnTo>
                  <a:cubicBezTo>
                    <a:pt x="0" y="39097"/>
                    <a:pt x="39097" y="0"/>
                    <a:pt x="873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146356" cy="374720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7349"/>
                </a:lnSpc>
                <a:spcBef>
                  <a:spcPct val="0"/>
                </a:spcBef>
              </a:pPr>
              <a:r>
                <a:rPr lang="en-US" sz="5249" spc="540">
                  <a:solidFill>
                    <a:srgbClr val="000000"/>
                  </a:solidFill>
                  <a:latin typeface="Nirmala UI"/>
                  <a:ea typeface="Nirmala UI"/>
                  <a:cs typeface="Nirmala UI"/>
                  <a:sym typeface="Nirmala UI"/>
                </a:rPr>
                <a:t>DUDA?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-434561">
            <a:off x="1153511" y="3715941"/>
            <a:ext cx="6826419" cy="1664211"/>
            <a:chOff x="0" y="0"/>
            <a:chExt cx="1146356" cy="2794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6356" cy="279470"/>
            </a:xfrm>
            <a:custGeom>
              <a:avLst/>
              <a:gdLst/>
              <a:ahLst/>
              <a:cxnLst/>
              <a:rect r="r" b="b" t="t" l="l"/>
              <a:pathLst>
                <a:path h="279470" w="1146356">
                  <a:moveTo>
                    <a:pt x="87327" y="0"/>
                  </a:moveTo>
                  <a:lnTo>
                    <a:pt x="1059029" y="0"/>
                  </a:lnTo>
                  <a:cubicBezTo>
                    <a:pt x="1107259" y="0"/>
                    <a:pt x="1146356" y="39097"/>
                    <a:pt x="1146356" y="87327"/>
                  </a:cubicBezTo>
                  <a:lnTo>
                    <a:pt x="1146356" y="192143"/>
                  </a:lnTo>
                  <a:cubicBezTo>
                    <a:pt x="1146356" y="240372"/>
                    <a:pt x="1107259" y="279470"/>
                    <a:pt x="1059029" y="279470"/>
                  </a:cubicBezTo>
                  <a:lnTo>
                    <a:pt x="87327" y="279470"/>
                  </a:lnTo>
                  <a:cubicBezTo>
                    <a:pt x="39097" y="279470"/>
                    <a:pt x="0" y="240372"/>
                    <a:pt x="0" y="192143"/>
                  </a:cubicBezTo>
                  <a:lnTo>
                    <a:pt x="0" y="87327"/>
                  </a:lnTo>
                  <a:cubicBezTo>
                    <a:pt x="0" y="39097"/>
                    <a:pt x="39097" y="0"/>
                    <a:pt x="87327" y="0"/>
                  </a:cubicBezTo>
                  <a:close/>
                </a:path>
              </a:pathLst>
            </a:custGeom>
            <a:solidFill>
              <a:srgbClr val="F3E7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146356" cy="403295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ctr">
                <a:lnSpc>
                  <a:spcPts val="8399"/>
                </a:lnSpc>
                <a:spcBef>
                  <a:spcPct val="0"/>
                </a:spcBef>
              </a:pPr>
              <a:r>
                <a:rPr lang="en-US" sz="5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¿ALGUNA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93858" y="1266093"/>
            <a:ext cx="5524119" cy="8229600"/>
          </a:xfrm>
          <a:custGeom>
            <a:avLst/>
            <a:gdLst/>
            <a:ahLst/>
            <a:cxnLst/>
            <a:rect r="r" b="b" t="t" l="l"/>
            <a:pathLst>
              <a:path h="8229600" w="5524119">
                <a:moveTo>
                  <a:pt x="0" y="0"/>
                </a:moveTo>
                <a:lnTo>
                  <a:pt x="5524119" y="0"/>
                </a:lnTo>
                <a:lnTo>
                  <a:pt x="55241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DAGB7B5Jg7w</dc:identifier>
  <dcterms:modified xsi:type="dcterms:W3CDTF">2011-08-01T06:04:30Z</dcterms:modified>
  <cp:revision>1</cp:revision>
  <dc:title>Clase 10</dc:title>
</cp:coreProperties>
</file>