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10287000" cx="18288000"/>
  <p:notesSz cx="6858000" cy="9144000"/>
  <p:embeddedFontLst>
    <p:embeddedFont>
      <p:font typeface="Open Sans"/>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g3ijfJ8KGYVSzMlCCO7K92M1tE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OpenSans-boldItalic.fntdata"/><Relationship Id="rId14" Type="http://schemas.openxmlformats.org/officeDocument/2006/relationships/slide" Target="slides/slide9.xml"/><Relationship Id="rId36" Type="http://schemas.openxmlformats.org/officeDocument/2006/relationships/font" Target="fonts/OpenSans-bold.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0"/>
          <p:cNvSpPr/>
          <p:nvPr>
            <p:ph idx="2" type="pic"/>
          </p:nvPr>
        </p:nvSpPr>
        <p:spPr>
          <a:xfrm>
            <a:off x="1792288" y="612775"/>
            <a:ext cx="5486400" cy="4114800"/>
          </a:xfrm>
          <a:prstGeom prst="rect">
            <a:avLst/>
          </a:prstGeom>
          <a:noFill/>
          <a:ln>
            <a:noFill/>
          </a:ln>
        </p:spPr>
      </p:sp>
      <p:sp>
        <p:nvSpPr>
          <p:cNvPr id="64" name="Google Shape;64;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3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8.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36.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3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27.png"/><Relationship Id="rId5"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83" name="Shape 83"/>
        <p:cNvGrpSpPr/>
        <p:nvPr/>
      </p:nvGrpSpPr>
      <p:grpSpPr>
        <a:xfrm>
          <a:off x="0" y="0"/>
          <a:ext cx="0" cy="0"/>
          <a:chOff x="0" y="0"/>
          <a:chExt cx="0" cy="0"/>
        </a:xfrm>
      </p:grpSpPr>
      <p:sp>
        <p:nvSpPr>
          <p:cNvPr id="84" name="Google Shape;84;p1"/>
          <p:cNvSpPr txBox="1"/>
          <p:nvPr/>
        </p:nvSpPr>
        <p:spPr>
          <a:xfrm>
            <a:off x="225670" y="4585042"/>
            <a:ext cx="17836661" cy="194183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Laboratorio seminario</a:t>
            </a:r>
            <a:endParaRPr/>
          </a:p>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 de sistemas 1</a:t>
            </a:r>
            <a:endParaRPr/>
          </a:p>
        </p:txBody>
      </p:sp>
      <p:grpSp>
        <p:nvGrpSpPr>
          <p:cNvPr id="85" name="Google Shape;85;p1"/>
          <p:cNvGrpSpPr/>
          <p:nvPr/>
        </p:nvGrpSpPr>
        <p:grpSpPr>
          <a:xfrm>
            <a:off x="5101429" y="1740096"/>
            <a:ext cx="8085142" cy="1083127"/>
            <a:chOff x="0" y="-38100"/>
            <a:chExt cx="2129420" cy="285268"/>
          </a:xfrm>
        </p:grpSpPr>
        <p:sp>
          <p:nvSpPr>
            <p:cNvPr id="86" name="Google Shape;86;p1"/>
            <p:cNvSpPr/>
            <p:nvPr/>
          </p:nvSpPr>
          <p:spPr>
            <a:xfrm>
              <a:off x="0" y="0"/>
              <a:ext cx="2129420" cy="247168"/>
            </a:xfrm>
            <a:custGeom>
              <a:rect b="b" l="l" r="r" t="t"/>
              <a:pathLst>
                <a:path extrusionOk="0" h="247168" w="2129420">
                  <a:moveTo>
                    <a:pt x="24896" y="0"/>
                  </a:moveTo>
                  <a:lnTo>
                    <a:pt x="2104524" y="0"/>
                  </a:lnTo>
                  <a:cubicBezTo>
                    <a:pt x="2111127" y="0"/>
                    <a:pt x="2117459" y="2623"/>
                    <a:pt x="2122128" y="7292"/>
                  </a:cubicBezTo>
                  <a:cubicBezTo>
                    <a:pt x="2126797" y="11961"/>
                    <a:pt x="2129420" y="18293"/>
                    <a:pt x="2129420" y="24896"/>
                  </a:cubicBezTo>
                  <a:lnTo>
                    <a:pt x="2129420" y="222272"/>
                  </a:lnTo>
                  <a:cubicBezTo>
                    <a:pt x="2129420" y="228875"/>
                    <a:pt x="2126797" y="235207"/>
                    <a:pt x="2122128" y="239876"/>
                  </a:cubicBezTo>
                  <a:cubicBezTo>
                    <a:pt x="2117459" y="244545"/>
                    <a:pt x="2111127" y="247168"/>
                    <a:pt x="2104524" y="247168"/>
                  </a:cubicBezTo>
                  <a:lnTo>
                    <a:pt x="24896" y="247168"/>
                  </a:lnTo>
                  <a:cubicBezTo>
                    <a:pt x="11146" y="247168"/>
                    <a:pt x="0" y="236022"/>
                    <a:pt x="0" y="222272"/>
                  </a:cubicBezTo>
                  <a:lnTo>
                    <a:pt x="0" y="24896"/>
                  </a:lnTo>
                  <a:cubicBezTo>
                    <a:pt x="0" y="18293"/>
                    <a:pt x="2623" y="11961"/>
                    <a:pt x="7292" y="7292"/>
                  </a:cubicBezTo>
                  <a:cubicBezTo>
                    <a:pt x="11961" y="2623"/>
                    <a:pt x="18293" y="0"/>
                    <a:pt x="24896" y="0"/>
                  </a:cubicBezTo>
                  <a:close/>
                </a:path>
              </a:pathLst>
            </a:custGeom>
            <a:solidFill>
              <a:srgbClr val="233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txBox="1"/>
            <p:nvPr/>
          </p:nvSpPr>
          <p:spPr>
            <a:xfrm>
              <a:off x="0" y="-38100"/>
              <a:ext cx="2129420" cy="28526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a:off x="-609474" y="6630732"/>
            <a:ext cx="4378481" cy="4378481"/>
            <a:chOff x="0" y="0"/>
            <a:chExt cx="812800" cy="812800"/>
          </a:xfrm>
        </p:grpSpPr>
        <p:sp>
          <p:nvSpPr>
            <p:cNvPr id="89" name="Google Shape;8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
          <p:cNvSpPr/>
          <p:nvPr/>
        </p:nvSpPr>
        <p:spPr>
          <a:xfrm rot="-5400000">
            <a:off x="362774" y="-30820"/>
            <a:ext cx="3688357" cy="4114800"/>
          </a:xfrm>
          <a:custGeom>
            <a:rect b="b" l="l" r="r" t="t"/>
            <a:pathLst>
              <a:path extrusionOk="0" h="4114800" w="3688357">
                <a:moveTo>
                  <a:pt x="0" y="0"/>
                </a:moveTo>
                <a:lnTo>
                  <a:pt x="3688357" y="0"/>
                </a:lnTo>
                <a:lnTo>
                  <a:pt x="3688357" y="4114800"/>
                </a:lnTo>
                <a:lnTo>
                  <a:pt x="0" y="4114800"/>
                </a:lnTo>
                <a:lnTo>
                  <a:pt x="0" y="0"/>
                </a:lnTo>
                <a:close/>
              </a:path>
            </a:pathLst>
          </a:custGeom>
          <a:blipFill rotWithShape="1">
            <a:blip r:embed="rId3">
              <a:alphaModFix/>
            </a:blip>
            <a:stretch>
              <a:fillRect b="0" l="0" r="0" t="0"/>
            </a:stretch>
          </a:blipFill>
          <a:ln>
            <a:noFill/>
          </a:ln>
        </p:spPr>
      </p:sp>
      <p:grpSp>
        <p:nvGrpSpPr>
          <p:cNvPr id="92" name="Google Shape;92;p1"/>
          <p:cNvGrpSpPr/>
          <p:nvPr/>
        </p:nvGrpSpPr>
        <p:grpSpPr>
          <a:xfrm>
            <a:off x="2531874" y="6886945"/>
            <a:ext cx="1237134" cy="1345610"/>
            <a:chOff x="0" y="-38100"/>
            <a:chExt cx="325830" cy="354399"/>
          </a:xfrm>
        </p:grpSpPr>
        <p:sp>
          <p:nvSpPr>
            <p:cNvPr id="93" name="Google Shape;93;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C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5728559" y="1008380"/>
            <a:ext cx="1237134" cy="1345610"/>
            <a:chOff x="0" y="-38100"/>
            <a:chExt cx="325830" cy="354399"/>
          </a:xfrm>
        </p:grpSpPr>
        <p:sp>
          <p:nvSpPr>
            <p:cNvPr id="96" name="Google Shape;96;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1"/>
          <p:cNvSpPr/>
          <p:nvPr/>
        </p:nvSpPr>
        <p:spPr>
          <a:xfrm>
            <a:off x="14289726" y="63930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99" name="Google Shape;99;p1"/>
          <p:cNvSpPr txBox="1"/>
          <p:nvPr/>
        </p:nvSpPr>
        <p:spPr>
          <a:xfrm>
            <a:off x="8116267" y="7527306"/>
            <a:ext cx="2055465" cy="745641"/>
          </a:xfrm>
          <a:prstGeom prst="rect">
            <a:avLst/>
          </a:prstGeom>
          <a:noFill/>
          <a:ln>
            <a:noFill/>
          </a:ln>
        </p:spPr>
        <p:txBody>
          <a:bodyPr anchorCtr="0" anchor="t" bIns="0" lIns="0" spcFirstLastPara="1" rIns="0" wrap="square" tIns="0">
            <a:spAutoFit/>
          </a:bodyPr>
          <a:lstStyle/>
          <a:p>
            <a:pPr indent="0" lvl="0" marL="0" marR="0" rtl="0" algn="ctr">
              <a:lnSpc>
                <a:spcPct val="146007"/>
              </a:lnSpc>
              <a:spcBef>
                <a:spcPts val="0"/>
              </a:spcBef>
              <a:spcAft>
                <a:spcPts val="0"/>
              </a:spcAft>
              <a:buNone/>
            </a:pPr>
            <a:r>
              <a:rPr b="1" i="0" lang="en-US" sz="4245" u="none" cap="none" strike="noStrike">
                <a:solidFill>
                  <a:srgbClr val="F4F6FC"/>
                </a:solidFill>
                <a:latin typeface="Arial"/>
                <a:ea typeface="Arial"/>
                <a:cs typeface="Arial"/>
                <a:sym typeface="Arial"/>
              </a:rPr>
              <a:t>Clase 12</a:t>
            </a:r>
            <a:endParaRPr/>
          </a:p>
        </p:txBody>
      </p:sp>
      <p:sp>
        <p:nvSpPr>
          <p:cNvPr id="100" name="Google Shape;100;p1"/>
          <p:cNvSpPr txBox="1"/>
          <p:nvPr/>
        </p:nvSpPr>
        <p:spPr>
          <a:xfrm>
            <a:off x="6295579" y="1928781"/>
            <a:ext cx="5696843" cy="745641"/>
          </a:xfrm>
          <a:prstGeom prst="rect">
            <a:avLst/>
          </a:prstGeom>
          <a:noFill/>
          <a:ln>
            <a:noFill/>
          </a:ln>
        </p:spPr>
        <p:txBody>
          <a:bodyPr anchorCtr="0" anchor="t" bIns="0" lIns="0" spcFirstLastPara="1" rIns="0" wrap="square" tIns="0">
            <a:spAutoFit/>
          </a:bodyPr>
          <a:lstStyle/>
          <a:p>
            <a:pPr indent="0" lvl="0" marL="0" marR="0" rtl="0" algn="ctr">
              <a:lnSpc>
                <a:spcPct val="146007"/>
              </a:lnSpc>
              <a:spcBef>
                <a:spcPts val="0"/>
              </a:spcBef>
              <a:spcAft>
                <a:spcPts val="0"/>
              </a:spcAft>
              <a:buNone/>
            </a:pPr>
            <a:r>
              <a:rPr b="1" i="0" lang="en-US" sz="4245" u="none" cap="none" strike="noStrike">
                <a:solidFill>
                  <a:srgbClr val="F4F6FC"/>
                </a:solidFill>
                <a:latin typeface="Arial"/>
                <a:ea typeface="Arial"/>
                <a:cs typeface="Arial"/>
                <a:sym typeface="Arial"/>
              </a:rPr>
              <a:t>Segundo semestre 2024</a:t>
            </a:r>
            <a:endParaRPr/>
          </a:p>
        </p:txBody>
      </p:sp>
      <p:grpSp>
        <p:nvGrpSpPr>
          <p:cNvPr id="101" name="Google Shape;101;p1"/>
          <p:cNvGrpSpPr/>
          <p:nvPr/>
        </p:nvGrpSpPr>
        <p:grpSpPr>
          <a:xfrm>
            <a:off x="13804199" y="8305815"/>
            <a:ext cx="971055" cy="1079531"/>
            <a:chOff x="0" y="-38100"/>
            <a:chExt cx="255751" cy="284321"/>
          </a:xfrm>
        </p:grpSpPr>
        <p:sp>
          <p:nvSpPr>
            <p:cNvPr id="102" name="Google Shape;102;p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233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E8FF"/>
        </a:solidFill>
      </p:bgPr>
    </p:bg>
    <p:spTree>
      <p:nvGrpSpPr>
        <p:cNvPr id="107" name="Shape 107"/>
        <p:cNvGrpSpPr/>
        <p:nvPr/>
      </p:nvGrpSpPr>
      <p:grpSpPr>
        <a:xfrm>
          <a:off x="0" y="0"/>
          <a:ext cx="0" cy="0"/>
          <a:chOff x="0" y="0"/>
          <a:chExt cx="0" cy="0"/>
        </a:xfrm>
      </p:grpSpPr>
      <p:sp>
        <p:nvSpPr>
          <p:cNvPr id="108" name="Google Shape;108;p2"/>
          <p:cNvSpPr/>
          <p:nvPr/>
        </p:nvSpPr>
        <p:spPr>
          <a:xfrm>
            <a:off x="5486400" y="2857498"/>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3">
              <a:alphaModFix/>
            </a:blip>
            <a:stretch>
              <a:fillRect b="0" l="0" r="0" t="0"/>
            </a:stretch>
          </a:blipFill>
          <a:ln>
            <a:noFill/>
          </a:ln>
        </p:spPr>
      </p:sp>
      <p:sp>
        <p:nvSpPr>
          <p:cNvPr id="109" name="Google Shape;109;p2"/>
          <p:cNvSpPr/>
          <p:nvPr/>
        </p:nvSpPr>
        <p:spPr>
          <a:xfrm>
            <a:off x="5486400" y="6273381"/>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3">
              <a:alphaModFix/>
            </a:blip>
            <a:stretch>
              <a:fillRect b="0" l="0" r="0" t="0"/>
            </a:stretch>
          </a:blipFill>
          <a:ln>
            <a:noFill/>
          </a:ln>
        </p:spPr>
      </p:sp>
      <p:sp>
        <p:nvSpPr>
          <p:cNvPr id="110" name="Google Shape;110;p2"/>
          <p:cNvSpPr/>
          <p:nvPr/>
        </p:nvSpPr>
        <p:spPr>
          <a:xfrm>
            <a:off x="5486400" y="7488529"/>
            <a:ext cx="7315200" cy="824623"/>
          </a:xfrm>
          <a:custGeom>
            <a:rect b="b" l="l" r="r" t="t"/>
            <a:pathLst>
              <a:path extrusionOk="0" h="824623" w="7315200">
                <a:moveTo>
                  <a:pt x="0" y="0"/>
                </a:moveTo>
                <a:lnTo>
                  <a:pt x="7315200" y="0"/>
                </a:lnTo>
                <a:lnTo>
                  <a:pt x="7315200" y="824622"/>
                </a:lnTo>
                <a:lnTo>
                  <a:pt x="0" y="824622"/>
                </a:lnTo>
                <a:lnTo>
                  <a:pt x="0" y="0"/>
                </a:lnTo>
                <a:close/>
              </a:path>
            </a:pathLst>
          </a:custGeom>
          <a:blipFill rotWithShape="1">
            <a:blip r:embed="rId4">
              <a:alphaModFix/>
            </a:blip>
            <a:stretch>
              <a:fillRect b="0" l="0" r="0" t="0"/>
            </a:stretch>
          </a:blipFill>
          <a:ln>
            <a:noFill/>
          </a:ln>
        </p:spPr>
      </p:sp>
      <p:sp>
        <p:nvSpPr>
          <p:cNvPr id="111" name="Google Shape;111;p2"/>
          <p:cNvSpPr/>
          <p:nvPr/>
        </p:nvSpPr>
        <p:spPr>
          <a:xfrm rot="10800000">
            <a:off x="134706" y="5284201"/>
            <a:ext cx="4372659" cy="4878220"/>
          </a:xfrm>
          <a:custGeom>
            <a:rect b="b" l="l" r="r" t="t"/>
            <a:pathLst>
              <a:path extrusionOk="0" h="4878220" w="4372659">
                <a:moveTo>
                  <a:pt x="0" y="0"/>
                </a:moveTo>
                <a:lnTo>
                  <a:pt x="4372659" y="0"/>
                </a:lnTo>
                <a:lnTo>
                  <a:pt x="4372659" y="4878220"/>
                </a:lnTo>
                <a:lnTo>
                  <a:pt x="0" y="4878220"/>
                </a:lnTo>
                <a:lnTo>
                  <a:pt x="0" y="0"/>
                </a:lnTo>
                <a:close/>
              </a:path>
            </a:pathLst>
          </a:custGeom>
          <a:blipFill rotWithShape="1">
            <a:blip r:embed="rId5">
              <a:alphaModFix/>
            </a:blip>
            <a:stretch>
              <a:fillRect b="0" l="0" r="0" t="0"/>
            </a:stretch>
          </a:blipFill>
          <a:ln>
            <a:noFill/>
          </a:ln>
        </p:spPr>
      </p:sp>
      <p:sp>
        <p:nvSpPr>
          <p:cNvPr id="112" name="Google Shape;112;p2"/>
          <p:cNvSpPr txBox="1"/>
          <p:nvPr/>
        </p:nvSpPr>
        <p:spPr>
          <a:xfrm>
            <a:off x="1711560" y="1285875"/>
            <a:ext cx="14864881" cy="1221538"/>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1" i="0" lang="en-US" sz="9708" u="none" cap="none" strike="noStrike">
                <a:solidFill>
                  <a:srgbClr val="050A30"/>
                </a:solidFill>
                <a:latin typeface="Arial"/>
                <a:ea typeface="Arial"/>
                <a:cs typeface="Arial"/>
                <a:sym typeface="Arial"/>
              </a:rPr>
              <a:t>Agenda</a:t>
            </a:r>
            <a:endParaRPr/>
          </a:p>
        </p:txBody>
      </p:sp>
      <p:sp>
        <p:nvSpPr>
          <p:cNvPr id="113" name="Google Shape;113;p2"/>
          <p:cNvSpPr txBox="1"/>
          <p:nvPr/>
        </p:nvSpPr>
        <p:spPr>
          <a:xfrm>
            <a:off x="6900484" y="3134251"/>
            <a:ext cx="4487032" cy="395986"/>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b="1" i="0" lang="en-US" sz="3099" u="none" cap="none" strike="noStrike">
                <a:solidFill>
                  <a:srgbClr val="F4F6FC"/>
                </a:solidFill>
                <a:latin typeface="Arial"/>
                <a:ea typeface="Arial"/>
                <a:cs typeface="Arial"/>
                <a:sym typeface="Arial"/>
              </a:rPr>
              <a:t>Dudas</a:t>
            </a:r>
            <a:endParaRPr/>
          </a:p>
        </p:txBody>
      </p:sp>
      <p:sp>
        <p:nvSpPr>
          <p:cNvPr id="114" name="Google Shape;114;p2"/>
          <p:cNvSpPr txBox="1"/>
          <p:nvPr/>
        </p:nvSpPr>
        <p:spPr>
          <a:xfrm>
            <a:off x="6642075" y="6559131"/>
            <a:ext cx="5003851" cy="395986"/>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b="1" i="0" lang="en-US" sz="3099" u="none" cap="none" strike="noStrike">
                <a:solidFill>
                  <a:srgbClr val="F4F6FC"/>
                </a:solidFill>
                <a:latin typeface="Arial"/>
                <a:ea typeface="Arial"/>
                <a:cs typeface="Arial"/>
                <a:sym typeface="Arial"/>
              </a:rPr>
              <a:t>Exposiciones</a:t>
            </a:r>
            <a:endParaRPr/>
          </a:p>
        </p:txBody>
      </p:sp>
      <p:sp>
        <p:nvSpPr>
          <p:cNvPr id="115" name="Google Shape;115;p2"/>
          <p:cNvSpPr txBox="1"/>
          <p:nvPr/>
        </p:nvSpPr>
        <p:spPr>
          <a:xfrm>
            <a:off x="5591634" y="7774279"/>
            <a:ext cx="7104733" cy="395986"/>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b="1" i="0" lang="en-US" sz="3099" u="none" cap="none" strike="noStrike">
                <a:solidFill>
                  <a:srgbClr val="F4F6FC"/>
                </a:solidFill>
                <a:latin typeface="Arial"/>
                <a:ea typeface="Arial"/>
                <a:cs typeface="Arial"/>
                <a:sym typeface="Arial"/>
              </a:rPr>
              <a:t>Azure Cognitive Services</a:t>
            </a:r>
            <a:endParaRPr/>
          </a:p>
        </p:txBody>
      </p:sp>
      <p:sp>
        <p:nvSpPr>
          <p:cNvPr id="116" name="Google Shape;116;p2"/>
          <p:cNvSpPr/>
          <p:nvPr/>
        </p:nvSpPr>
        <p:spPr>
          <a:xfrm>
            <a:off x="5486400" y="5058234"/>
            <a:ext cx="7315200" cy="824623"/>
          </a:xfrm>
          <a:custGeom>
            <a:rect b="b" l="l" r="r" t="t"/>
            <a:pathLst>
              <a:path extrusionOk="0" h="824623" w="7315200">
                <a:moveTo>
                  <a:pt x="0" y="0"/>
                </a:moveTo>
                <a:lnTo>
                  <a:pt x="7315200" y="0"/>
                </a:lnTo>
                <a:lnTo>
                  <a:pt x="7315200" y="824622"/>
                </a:lnTo>
                <a:lnTo>
                  <a:pt x="0" y="824622"/>
                </a:lnTo>
                <a:lnTo>
                  <a:pt x="0" y="0"/>
                </a:lnTo>
                <a:close/>
              </a:path>
            </a:pathLst>
          </a:custGeom>
          <a:blipFill rotWithShape="1">
            <a:blip r:embed="rId4">
              <a:alphaModFix/>
            </a:blip>
            <a:stretch>
              <a:fillRect b="0" l="0" r="0" t="0"/>
            </a:stretch>
          </a:blipFill>
          <a:ln>
            <a:noFill/>
          </a:ln>
        </p:spPr>
      </p:sp>
      <p:sp>
        <p:nvSpPr>
          <p:cNvPr id="117" name="Google Shape;117;p2"/>
          <p:cNvSpPr txBox="1"/>
          <p:nvPr/>
        </p:nvSpPr>
        <p:spPr>
          <a:xfrm>
            <a:off x="6642075" y="5343984"/>
            <a:ext cx="5003851" cy="395986"/>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b="1" i="0" lang="en-US" sz="3099" u="none" cap="none" strike="noStrike">
                <a:solidFill>
                  <a:srgbClr val="F4F6FC"/>
                </a:solidFill>
                <a:latin typeface="Arial"/>
                <a:ea typeface="Arial"/>
                <a:cs typeface="Arial"/>
                <a:sym typeface="Arial"/>
              </a:rPr>
              <a:t>Avisos</a:t>
            </a:r>
            <a:endParaRPr/>
          </a:p>
        </p:txBody>
      </p:sp>
      <p:sp>
        <p:nvSpPr>
          <p:cNvPr id="118" name="Google Shape;118;p2"/>
          <p:cNvSpPr/>
          <p:nvPr/>
        </p:nvSpPr>
        <p:spPr>
          <a:xfrm>
            <a:off x="5381166" y="3957866"/>
            <a:ext cx="7315200" cy="824623"/>
          </a:xfrm>
          <a:custGeom>
            <a:rect b="b" l="l" r="r" t="t"/>
            <a:pathLst>
              <a:path extrusionOk="0" h="824623" w="7315200">
                <a:moveTo>
                  <a:pt x="0" y="0"/>
                </a:moveTo>
                <a:lnTo>
                  <a:pt x="7315200" y="0"/>
                </a:lnTo>
                <a:lnTo>
                  <a:pt x="7315200" y="824623"/>
                </a:lnTo>
                <a:lnTo>
                  <a:pt x="0" y="824623"/>
                </a:lnTo>
                <a:lnTo>
                  <a:pt x="0" y="0"/>
                </a:lnTo>
                <a:close/>
              </a:path>
            </a:pathLst>
          </a:custGeom>
          <a:blipFill rotWithShape="1">
            <a:blip r:embed="rId3">
              <a:alphaModFix/>
            </a:blip>
            <a:stretch>
              <a:fillRect b="0" l="0" r="0" t="0"/>
            </a:stretch>
          </a:blipFill>
          <a:ln>
            <a:noFill/>
          </a:ln>
        </p:spPr>
      </p:sp>
      <p:sp>
        <p:nvSpPr>
          <p:cNvPr id="119" name="Google Shape;119;p2"/>
          <p:cNvSpPr txBox="1"/>
          <p:nvPr/>
        </p:nvSpPr>
        <p:spPr>
          <a:xfrm>
            <a:off x="6795250" y="4234618"/>
            <a:ext cx="4487032" cy="395986"/>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b="1" i="0" lang="en-US" sz="3099" u="none" cap="none" strike="noStrike">
                <a:solidFill>
                  <a:srgbClr val="F4F6FC"/>
                </a:solidFill>
                <a:latin typeface="Arial"/>
                <a:ea typeface="Arial"/>
                <a:cs typeface="Arial"/>
                <a:sym typeface="Arial"/>
              </a:rPr>
              <a:t>Evaluación Docente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123" name="Shape 123"/>
        <p:cNvGrpSpPr/>
        <p:nvPr/>
      </p:nvGrpSpPr>
      <p:grpSpPr>
        <a:xfrm>
          <a:off x="0" y="0"/>
          <a:ext cx="0" cy="0"/>
          <a:chOff x="0" y="0"/>
          <a:chExt cx="0" cy="0"/>
        </a:xfrm>
      </p:grpSpPr>
      <p:sp>
        <p:nvSpPr>
          <p:cNvPr id="124" name="Google Shape;124;p3"/>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125" name="Google Shape;125;p3"/>
          <p:cNvGrpSpPr/>
          <p:nvPr/>
        </p:nvGrpSpPr>
        <p:grpSpPr>
          <a:xfrm>
            <a:off x="15728559" y="1008380"/>
            <a:ext cx="1237134" cy="1345610"/>
            <a:chOff x="0" y="-38100"/>
            <a:chExt cx="325830" cy="354399"/>
          </a:xfrm>
        </p:grpSpPr>
        <p:sp>
          <p:nvSpPr>
            <p:cNvPr id="126" name="Google Shape;126;p3"/>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C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3"/>
          <p:cNvSpPr txBox="1"/>
          <p:nvPr/>
        </p:nvSpPr>
        <p:spPr>
          <a:xfrm>
            <a:off x="3709868" y="7434441"/>
            <a:ext cx="10868263" cy="1008381"/>
          </a:xfrm>
          <a:prstGeom prst="rect">
            <a:avLst/>
          </a:prstGeom>
          <a:noFill/>
          <a:ln>
            <a:noFill/>
          </a:ln>
        </p:spPr>
        <p:txBody>
          <a:bodyPr anchorCtr="0" anchor="t" bIns="0" lIns="0" spcFirstLastPara="1" rIns="0" wrap="square" tIns="0">
            <a:spAutoFit/>
          </a:bodyPr>
          <a:lstStyle/>
          <a:p>
            <a:pPr indent="0" lvl="0" marL="0" marR="0" rtl="0" algn="just">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Azure cognitive services</a:t>
            </a:r>
            <a:endParaRPr/>
          </a:p>
        </p:txBody>
      </p:sp>
      <p:sp>
        <p:nvSpPr>
          <p:cNvPr id="129" name="Google Shape;129;p3"/>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4">
              <a:alphaModFix/>
            </a:blip>
            <a:stretch>
              <a:fillRect b="0" l="0" r="0" t="0"/>
            </a:stretch>
          </a:blipFill>
          <a:ln>
            <a:noFill/>
          </a:ln>
        </p:spPr>
      </p:sp>
      <p:sp>
        <p:nvSpPr>
          <p:cNvPr id="130" name="Google Shape;130;p3"/>
          <p:cNvSpPr/>
          <p:nvPr/>
        </p:nvSpPr>
        <p:spPr>
          <a:xfrm>
            <a:off x="5365554" y="1028700"/>
            <a:ext cx="7556892" cy="5748307"/>
          </a:xfrm>
          <a:custGeom>
            <a:rect b="b" l="l" r="r" t="t"/>
            <a:pathLst>
              <a:path extrusionOk="0" h="5748307" w="7556892">
                <a:moveTo>
                  <a:pt x="0" y="0"/>
                </a:moveTo>
                <a:lnTo>
                  <a:pt x="7556892" y="0"/>
                </a:lnTo>
                <a:lnTo>
                  <a:pt x="7556892" y="5748307"/>
                </a:lnTo>
                <a:lnTo>
                  <a:pt x="0" y="574830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p:nvPr/>
        </p:nvSpPr>
        <p:spPr>
          <a:xfrm rot="-5400000">
            <a:off x="14335596" y="-1747558"/>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sp>
        <p:nvSpPr>
          <p:cNvPr id="136" name="Google Shape;136;p4"/>
          <p:cNvSpPr/>
          <p:nvPr/>
        </p:nvSpPr>
        <p:spPr>
          <a:xfrm>
            <a:off x="1267792" y="5159092"/>
            <a:ext cx="15752416" cy="4099208"/>
          </a:xfrm>
          <a:custGeom>
            <a:rect b="b" l="l" r="r" t="t"/>
            <a:pathLst>
              <a:path extrusionOk="0" h="4099208" w="15752416">
                <a:moveTo>
                  <a:pt x="0" y="0"/>
                </a:moveTo>
                <a:lnTo>
                  <a:pt x="15752416" y="0"/>
                </a:lnTo>
                <a:lnTo>
                  <a:pt x="15752416" y="4099208"/>
                </a:lnTo>
                <a:lnTo>
                  <a:pt x="0" y="4099208"/>
                </a:lnTo>
                <a:lnTo>
                  <a:pt x="0" y="0"/>
                </a:lnTo>
                <a:close/>
              </a:path>
            </a:pathLst>
          </a:custGeom>
          <a:blipFill rotWithShape="1">
            <a:blip r:embed="rId4">
              <a:alphaModFix/>
            </a:blip>
            <a:stretch>
              <a:fillRect b="0" l="0" r="0" t="0"/>
            </a:stretch>
          </a:blipFill>
          <a:ln>
            <a:noFill/>
          </a:ln>
        </p:spPr>
      </p:sp>
      <p:sp>
        <p:nvSpPr>
          <p:cNvPr id="137" name="Google Shape;137;p4"/>
          <p:cNvSpPr/>
          <p:nvPr/>
        </p:nvSpPr>
        <p:spPr>
          <a:xfrm>
            <a:off x="5756608" y="-454120"/>
            <a:ext cx="6774784" cy="6774784"/>
          </a:xfrm>
          <a:custGeom>
            <a:rect b="b" l="l" r="r" t="t"/>
            <a:pathLst>
              <a:path extrusionOk="0" h="6774784" w="6774784">
                <a:moveTo>
                  <a:pt x="0" y="0"/>
                </a:moveTo>
                <a:lnTo>
                  <a:pt x="6774784" y="0"/>
                </a:lnTo>
                <a:lnTo>
                  <a:pt x="6774784" y="6774784"/>
                </a:lnTo>
                <a:lnTo>
                  <a:pt x="0" y="677478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1713705" y="0"/>
            <a:ext cx="14860590" cy="10297102"/>
          </a:xfrm>
          <a:custGeom>
            <a:rect b="b" l="l" r="r" t="t"/>
            <a:pathLst>
              <a:path extrusionOk="0" h="10297102" w="14860590">
                <a:moveTo>
                  <a:pt x="0" y="0"/>
                </a:moveTo>
                <a:lnTo>
                  <a:pt x="14860590" y="0"/>
                </a:lnTo>
                <a:lnTo>
                  <a:pt x="14860590" y="10297102"/>
                </a:lnTo>
                <a:lnTo>
                  <a:pt x="0" y="10297102"/>
                </a:lnTo>
                <a:lnTo>
                  <a:pt x="0" y="0"/>
                </a:lnTo>
                <a:close/>
              </a:path>
            </a:pathLst>
          </a:custGeom>
          <a:blipFill rotWithShape="1">
            <a:blip r:embed="rId3">
              <a:alphaModFix/>
            </a:blip>
            <a:stretch>
              <a:fillRect b="0" l="0" r="0" t="0"/>
            </a:stretch>
          </a:blipFill>
          <a:ln>
            <a:noFill/>
          </a:ln>
        </p:spPr>
      </p:sp>
      <p:sp>
        <p:nvSpPr>
          <p:cNvPr id="143" name="Google Shape;143;p5"/>
          <p:cNvSpPr/>
          <p:nvPr/>
        </p:nvSpPr>
        <p:spPr>
          <a:xfrm rot="-5400000">
            <a:off x="14335596" y="-1747558"/>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149" name="Google Shape;149;p6"/>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150" name="Google Shape;150;p6"/>
          <p:cNvSpPr/>
          <p:nvPr/>
        </p:nvSpPr>
        <p:spPr>
          <a:xfrm>
            <a:off x="2881138" y="1735547"/>
            <a:ext cx="12525723" cy="6815907"/>
          </a:xfrm>
          <a:custGeom>
            <a:rect b="b" l="l" r="r" t="t"/>
            <a:pathLst>
              <a:path extrusionOk="0" h="6815907" w="12525723">
                <a:moveTo>
                  <a:pt x="0" y="0"/>
                </a:moveTo>
                <a:lnTo>
                  <a:pt x="12525724" y="0"/>
                </a:lnTo>
                <a:lnTo>
                  <a:pt x="12525724" y="6815906"/>
                </a:lnTo>
                <a:lnTo>
                  <a:pt x="0" y="681590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3DFF"/>
        </a:solidFill>
      </p:bgPr>
    </p:bg>
    <p:spTree>
      <p:nvGrpSpPr>
        <p:cNvPr id="154" name="Shape 154"/>
        <p:cNvGrpSpPr/>
        <p:nvPr/>
      </p:nvGrpSpPr>
      <p:grpSpPr>
        <a:xfrm>
          <a:off x="0" y="0"/>
          <a:ext cx="0" cy="0"/>
          <a:chOff x="0" y="0"/>
          <a:chExt cx="0" cy="0"/>
        </a:xfrm>
      </p:grpSpPr>
      <p:sp>
        <p:nvSpPr>
          <p:cNvPr id="155" name="Google Shape;155;p7"/>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156" name="Google Shape;156;p7"/>
          <p:cNvGrpSpPr/>
          <p:nvPr/>
        </p:nvGrpSpPr>
        <p:grpSpPr>
          <a:xfrm>
            <a:off x="2526196" y="1729105"/>
            <a:ext cx="13235608" cy="1830814"/>
            <a:chOff x="0" y="-38100"/>
            <a:chExt cx="3485921" cy="482190"/>
          </a:xfrm>
        </p:grpSpPr>
        <p:sp>
          <p:nvSpPr>
            <p:cNvPr id="157" name="Google Shape;157;p7"/>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p7"/>
          <p:cNvGrpSpPr/>
          <p:nvPr/>
        </p:nvGrpSpPr>
        <p:grpSpPr>
          <a:xfrm>
            <a:off x="2526196" y="4073124"/>
            <a:ext cx="13235608" cy="5185176"/>
            <a:chOff x="0" y="-38100"/>
            <a:chExt cx="3485921" cy="1365643"/>
          </a:xfrm>
        </p:grpSpPr>
        <p:sp>
          <p:nvSpPr>
            <p:cNvPr id="160" name="Google Shape;160;p7"/>
            <p:cNvSpPr/>
            <p:nvPr/>
          </p:nvSpPr>
          <p:spPr>
            <a:xfrm>
              <a:off x="0" y="0"/>
              <a:ext cx="3485921" cy="1327543"/>
            </a:xfrm>
            <a:custGeom>
              <a:rect b="b" l="l" r="r" t="t"/>
              <a:pathLst>
                <a:path extrusionOk="0" h="1327543" w="3485921">
                  <a:moveTo>
                    <a:pt x="20473" y="0"/>
                  </a:moveTo>
                  <a:lnTo>
                    <a:pt x="3465449" y="0"/>
                  </a:lnTo>
                  <a:cubicBezTo>
                    <a:pt x="3476756" y="0"/>
                    <a:pt x="3485921" y="9166"/>
                    <a:pt x="3485921" y="20473"/>
                  </a:cubicBezTo>
                  <a:lnTo>
                    <a:pt x="3485921" y="1307070"/>
                  </a:lnTo>
                  <a:cubicBezTo>
                    <a:pt x="3485921" y="1318377"/>
                    <a:pt x="3476756" y="1327543"/>
                    <a:pt x="3465449" y="1327543"/>
                  </a:cubicBezTo>
                  <a:lnTo>
                    <a:pt x="20473" y="1327543"/>
                  </a:lnTo>
                  <a:cubicBezTo>
                    <a:pt x="9166" y="1327543"/>
                    <a:pt x="0" y="1318377"/>
                    <a:pt x="0" y="1307070"/>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txBox="1"/>
            <p:nvPr/>
          </p:nvSpPr>
          <p:spPr>
            <a:xfrm>
              <a:off x="0" y="-38100"/>
              <a:ext cx="3485921" cy="13656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7"/>
          <p:cNvSpPr txBox="1"/>
          <p:nvPr/>
        </p:nvSpPr>
        <p:spPr>
          <a:xfrm>
            <a:off x="3791535" y="4590710"/>
            <a:ext cx="10704930" cy="349885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50A30"/>
                </a:solidFill>
                <a:latin typeface="Arial"/>
                <a:ea typeface="Arial"/>
                <a:cs typeface="Arial"/>
                <a:sym typeface="Arial"/>
              </a:rPr>
              <a:t>Proporciona acceso mediante la API de REST a los eficaces modelos de lenguaje de OpenAI  incluyendo las series de modelos de inserciones, además de GPT GPT-4 y GPT-3,5-turbo ya tienen disponibilidad general</a:t>
            </a:r>
            <a:endParaRPr/>
          </a:p>
        </p:txBody>
      </p:sp>
      <p:sp>
        <p:nvSpPr>
          <p:cNvPr id="163" name="Google Shape;163;p7"/>
          <p:cNvSpPr txBox="1"/>
          <p:nvPr/>
        </p:nvSpPr>
        <p:spPr>
          <a:xfrm>
            <a:off x="2949974" y="2461254"/>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OPENAI SERVICE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3DFF"/>
        </a:solidFill>
      </p:bgPr>
    </p:bg>
    <p:spTree>
      <p:nvGrpSpPr>
        <p:cNvPr id="167" name="Shape 167"/>
        <p:cNvGrpSpPr/>
        <p:nvPr/>
      </p:nvGrpSpPr>
      <p:grpSpPr>
        <a:xfrm>
          <a:off x="0" y="0"/>
          <a:ext cx="0" cy="0"/>
          <a:chOff x="0" y="0"/>
          <a:chExt cx="0" cy="0"/>
        </a:xfrm>
      </p:grpSpPr>
      <p:sp>
        <p:nvSpPr>
          <p:cNvPr id="168" name="Google Shape;168;p8"/>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169" name="Google Shape;169;p8"/>
          <p:cNvGrpSpPr/>
          <p:nvPr/>
        </p:nvGrpSpPr>
        <p:grpSpPr>
          <a:xfrm>
            <a:off x="1476891" y="2603267"/>
            <a:ext cx="7218918" cy="2802085"/>
            <a:chOff x="0" y="-28575"/>
            <a:chExt cx="1901279" cy="737998"/>
          </a:xfrm>
        </p:grpSpPr>
        <p:sp>
          <p:nvSpPr>
            <p:cNvPr id="170" name="Google Shape;170;p8"/>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txBox="1"/>
            <p:nvPr/>
          </p:nvSpPr>
          <p:spPr>
            <a:xfrm>
              <a:off x="0" y="-28575"/>
              <a:ext cx="1901279" cy="7379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2" name="Google Shape;172;p8"/>
          <p:cNvGrpSpPr/>
          <p:nvPr/>
        </p:nvGrpSpPr>
        <p:grpSpPr>
          <a:xfrm>
            <a:off x="9592191" y="2565852"/>
            <a:ext cx="7218918" cy="2802085"/>
            <a:chOff x="0" y="-28575"/>
            <a:chExt cx="1901279" cy="737998"/>
          </a:xfrm>
        </p:grpSpPr>
        <p:sp>
          <p:nvSpPr>
            <p:cNvPr id="173" name="Google Shape;173;p8"/>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txBox="1"/>
            <p:nvPr/>
          </p:nvSpPr>
          <p:spPr>
            <a:xfrm>
              <a:off x="0" y="-28575"/>
              <a:ext cx="1901279" cy="7379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5" name="Google Shape;175;p8"/>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Casos de uso</a:t>
            </a:r>
            <a:endParaRPr/>
          </a:p>
        </p:txBody>
      </p:sp>
      <p:sp>
        <p:nvSpPr>
          <p:cNvPr id="176" name="Google Shape;176;p8"/>
          <p:cNvSpPr txBox="1"/>
          <p:nvPr/>
        </p:nvSpPr>
        <p:spPr>
          <a:xfrm>
            <a:off x="1533949" y="2924216"/>
            <a:ext cx="7104803" cy="328546"/>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1" i="0" lang="en-US" sz="2542" u="none" cap="none" strike="noStrike">
                <a:solidFill>
                  <a:srgbClr val="050A30"/>
                </a:solidFill>
                <a:latin typeface="Arial"/>
                <a:ea typeface="Arial"/>
                <a:cs typeface="Arial"/>
                <a:sym typeface="Arial"/>
              </a:rPr>
              <a:t>CREACIÓN Y DISEÑO DE CONTENIDO</a:t>
            </a:r>
            <a:endParaRPr/>
          </a:p>
        </p:txBody>
      </p:sp>
      <p:sp>
        <p:nvSpPr>
          <p:cNvPr id="177" name="Google Shape;177;p8"/>
          <p:cNvSpPr txBox="1"/>
          <p:nvPr/>
        </p:nvSpPr>
        <p:spPr>
          <a:xfrm>
            <a:off x="10250636" y="2908016"/>
            <a:ext cx="5902028" cy="344746"/>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1" i="0" lang="en-US" sz="2730" u="none" cap="none" strike="noStrike">
                <a:solidFill>
                  <a:srgbClr val="050A30"/>
                </a:solidFill>
                <a:latin typeface="Arial"/>
                <a:ea typeface="Arial"/>
                <a:cs typeface="Arial"/>
                <a:sym typeface="Arial"/>
              </a:rPr>
              <a:t>AUTOMATIZACIÓN ACELERADA</a:t>
            </a:r>
            <a:endParaRPr/>
          </a:p>
        </p:txBody>
      </p:sp>
      <p:sp>
        <p:nvSpPr>
          <p:cNvPr id="178" name="Google Shape;178;p8"/>
          <p:cNvSpPr txBox="1"/>
          <p:nvPr/>
        </p:nvSpPr>
        <p:spPr>
          <a:xfrm>
            <a:off x="2067068" y="3373738"/>
            <a:ext cx="5961972" cy="70167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La creación y el diseño de contenido efectivos son cruciales para atraer e involucrar a los clientes.</a:t>
            </a:r>
            <a:endParaRPr/>
          </a:p>
        </p:txBody>
      </p:sp>
      <p:sp>
        <p:nvSpPr>
          <p:cNvPr id="179" name="Google Shape;179;p8"/>
          <p:cNvSpPr txBox="1"/>
          <p:nvPr/>
        </p:nvSpPr>
        <p:spPr>
          <a:xfrm>
            <a:off x="10041900" y="3377328"/>
            <a:ext cx="6110764"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La automatización de las tareas de TI mejora las experiencias de los empleados, mejora las interacciones con los clientes e impulsa una mayor eficiencia dentro de la comunidad de desarrolladores de una empresa.</a:t>
            </a:r>
            <a:endParaRPr/>
          </a:p>
        </p:txBody>
      </p:sp>
      <p:grpSp>
        <p:nvGrpSpPr>
          <p:cNvPr id="180" name="Google Shape;180;p8"/>
          <p:cNvGrpSpPr/>
          <p:nvPr/>
        </p:nvGrpSpPr>
        <p:grpSpPr>
          <a:xfrm>
            <a:off x="1438595" y="5601656"/>
            <a:ext cx="7218918" cy="2802085"/>
            <a:chOff x="0" y="-28575"/>
            <a:chExt cx="1901279" cy="737998"/>
          </a:xfrm>
        </p:grpSpPr>
        <p:sp>
          <p:nvSpPr>
            <p:cNvPr id="181" name="Google Shape;181;p8"/>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txBox="1"/>
            <p:nvPr/>
          </p:nvSpPr>
          <p:spPr>
            <a:xfrm>
              <a:off x="0" y="-28575"/>
              <a:ext cx="1901279" cy="7379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3" name="Google Shape;183;p8"/>
          <p:cNvSpPr txBox="1"/>
          <p:nvPr/>
        </p:nvSpPr>
        <p:spPr>
          <a:xfrm>
            <a:off x="1495652" y="5922605"/>
            <a:ext cx="7104803" cy="328546"/>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1" i="0" lang="en-US" sz="2542" u="none" cap="none" strike="noStrike">
                <a:solidFill>
                  <a:srgbClr val="050A30"/>
                </a:solidFill>
                <a:latin typeface="Arial"/>
                <a:ea typeface="Arial"/>
                <a:cs typeface="Arial"/>
                <a:sym typeface="Arial"/>
              </a:rPr>
              <a:t>MARKETING PERSONALIZADO</a:t>
            </a:r>
            <a:endParaRPr/>
          </a:p>
        </p:txBody>
      </p:sp>
      <p:sp>
        <p:nvSpPr>
          <p:cNvPr id="184" name="Google Shape;184;p8"/>
          <p:cNvSpPr txBox="1"/>
          <p:nvPr/>
        </p:nvSpPr>
        <p:spPr>
          <a:xfrm>
            <a:off x="2067068" y="6372126"/>
            <a:ext cx="5961972"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la personalización aumenta las posibilidades de participación y conversión del cliente y puede mejorar significativamente el retorno de la inversión en marketing.</a:t>
            </a:r>
            <a:endParaRPr/>
          </a:p>
        </p:txBody>
      </p:sp>
      <p:grpSp>
        <p:nvGrpSpPr>
          <p:cNvPr id="185" name="Google Shape;185;p8"/>
          <p:cNvGrpSpPr/>
          <p:nvPr/>
        </p:nvGrpSpPr>
        <p:grpSpPr>
          <a:xfrm>
            <a:off x="9592191" y="5697590"/>
            <a:ext cx="7218918" cy="2802085"/>
            <a:chOff x="0" y="-28575"/>
            <a:chExt cx="1901279" cy="737998"/>
          </a:xfrm>
        </p:grpSpPr>
        <p:sp>
          <p:nvSpPr>
            <p:cNvPr id="186" name="Google Shape;186;p8"/>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0" y="-28575"/>
              <a:ext cx="1901279" cy="7379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8"/>
          <p:cNvSpPr txBox="1"/>
          <p:nvPr/>
        </p:nvSpPr>
        <p:spPr>
          <a:xfrm>
            <a:off x="9649249" y="6018540"/>
            <a:ext cx="7104803" cy="328546"/>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1" i="0" lang="en-US" sz="2542" u="none" cap="none" strike="noStrike">
                <a:solidFill>
                  <a:srgbClr val="050A30"/>
                </a:solidFill>
                <a:latin typeface="Arial"/>
                <a:ea typeface="Arial"/>
                <a:cs typeface="Arial"/>
                <a:sym typeface="Arial"/>
              </a:rPr>
              <a:t>CHATBOTS Y ASISTENTES VIRTUALES</a:t>
            </a:r>
            <a:endParaRPr/>
          </a:p>
        </p:txBody>
      </p:sp>
      <p:sp>
        <p:nvSpPr>
          <p:cNvPr id="189" name="Google Shape;189;p8"/>
          <p:cNvSpPr txBox="1"/>
          <p:nvPr/>
        </p:nvSpPr>
        <p:spPr>
          <a:xfrm>
            <a:off x="10041900" y="6470911"/>
            <a:ext cx="6110764" cy="105410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los chatbots y asistentes virtuales impulsados ​​por IA generativa brindan respuestas instantáneas y precisas a las consultas de los clientes.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195" name="Google Shape;195;p9"/>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196" name="Google Shape;196;p9"/>
          <p:cNvSpPr/>
          <p:nvPr/>
        </p:nvSpPr>
        <p:spPr>
          <a:xfrm>
            <a:off x="4502331" y="2278065"/>
            <a:ext cx="9283338" cy="5730870"/>
          </a:xfrm>
          <a:custGeom>
            <a:rect b="b" l="l" r="r" t="t"/>
            <a:pathLst>
              <a:path extrusionOk="0" h="5730870" w="9283338">
                <a:moveTo>
                  <a:pt x="0" y="0"/>
                </a:moveTo>
                <a:lnTo>
                  <a:pt x="9283338" y="0"/>
                </a:lnTo>
                <a:lnTo>
                  <a:pt x="9283338" y="5730870"/>
                </a:lnTo>
                <a:lnTo>
                  <a:pt x="0" y="573087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200" name="Shape 200"/>
        <p:cNvGrpSpPr/>
        <p:nvPr/>
      </p:nvGrpSpPr>
      <p:grpSpPr>
        <a:xfrm>
          <a:off x="0" y="0"/>
          <a:ext cx="0" cy="0"/>
          <a:chOff x="0" y="0"/>
          <a:chExt cx="0" cy="0"/>
        </a:xfrm>
      </p:grpSpPr>
      <p:sp>
        <p:nvSpPr>
          <p:cNvPr id="201" name="Google Shape;201;p10"/>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202" name="Google Shape;202;p10"/>
          <p:cNvGrpSpPr/>
          <p:nvPr/>
        </p:nvGrpSpPr>
        <p:grpSpPr>
          <a:xfrm>
            <a:off x="15248823" y="-2338212"/>
            <a:ext cx="4378481" cy="4378481"/>
            <a:chOff x="0" y="0"/>
            <a:chExt cx="812800" cy="812800"/>
          </a:xfrm>
        </p:grpSpPr>
        <p:sp>
          <p:nvSpPr>
            <p:cNvPr id="203" name="Google Shape;20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0A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10"/>
          <p:cNvGrpSpPr/>
          <p:nvPr/>
        </p:nvGrpSpPr>
        <p:grpSpPr>
          <a:xfrm>
            <a:off x="2526196" y="1729105"/>
            <a:ext cx="13235608" cy="1830814"/>
            <a:chOff x="0" y="-38100"/>
            <a:chExt cx="3485921" cy="482190"/>
          </a:xfrm>
        </p:grpSpPr>
        <p:sp>
          <p:nvSpPr>
            <p:cNvPr id="206" name="Google Shape;206;p10"/>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10"/>
          <p:cNvSpPr txBox="1"/>
          <p:nvPr/>
        </p:nvSpPr>
        <p:spPr>
          <a:xfrm>
            <a:off x="2949974" y="2461254"/>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SEARCH</a:t>
            </a:r>
            <a:endParaRPr/>
          </a:p>
        </p:txBody>
      </p:sp>
      <p:grpSp>
        <p:nvGrpSpPr>
          <p:cNvPr id="209" name="Google Shape;209;p10"/>
          <p:cNvGrpSpPr/>
          <p:nvPr/>
        </p:nvGrpSpPr>
        <p:grpSpPr>
          <a:xfrm>
            <a:off x="2526196" y="4073124"/>
            <a:ext cx="13235608" cy="5185176"/>
            <a:chOff x="0" y="-38100"/>
            <a:chExt cx="3485921" cy="1365643"/>
          </a:xfrm>
        </p:grpSpPr>
        <p:sp>
          <p:nvSpPr>
            <p:cNvPr id="210" name="Google Shape;210;p10"/>
            <p:cNvSpPr/>
            <p:nvPr/>
          </p:nvSpPr>
          <p:spPr>
            <a:xfrm>
              <a:off x="0" y="0"/>
              <a:ext cx="3485921" cy="1327543"/>
            </a:xfrm>
            <a:custGeom>
              <a:rect b="b" l="l" r="r" t="t"/>
              <a:pathLst>
                <a:path extrusionOk="0" h="1327543" w="3485921">
                  <a:moveTo>
                    <a:pt x="20473" y="0"/>
                  </a:moveTo>
                  <a:lnTo>
                    <a:pt x="3465449" y="0"/>
                  </a:lnTo>
                  <a:cubicBezTo>
                    <a:pt x="3476756" y="0"/>
                    <a:pt x="3485921" y="9166"/>
                    <a:pt x="3485921" y="20473"/>
                  </a:cubicBezTo>
                  <a:lnTo>
                    <a:pt x="3485921" y="1307070"/>
                  </a:lnTo>
                  <a:cubicBezTo>
                    <a:pt x="3485921" y="1318377"/>
                    <a:pt x="3476756" y="1327543"/>
                    <a:pt x="3465449" y="1327543"/>
                  </a:cubicBezTo>
                  <a:lnTo>
                    <a:pt x="20473" y="1327543"/>
                  </a:lnTo>
                  <a:cubicBezTo>
                    <a:pt x="9166" y="1327543"/>
                    <a:pt x="0" y="1318377"/>
                    <a:pt x="0" y="1307070"/>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txBox="1"/>
            <p:nvPr/>
          </p:nvSpPr>
          <p:spPr>
            <a:xfrm>
              <a:off x="0" y="-38100"/>
              <a:ext cx="3485921" cy="13656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2" name="Google Shape;212;p10"/>
          <p:cNvSpPr txBox="1"/>
          <p:nvPr/>
        </p:nvSpPr>
        <p:spPr>
          <a:xfrm>
            <a:off x="2822292" y="4653758"/>
            <a:ext cx="12665500" cy="349885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50A30"/>
                </a:solidFill>
                <a:latin typeface="Arial"/>
                <a:ea typeface="Arial"/>
                <a:cs typeface="Arial"/>
                <a:sym typeface="Arial"/>
              </a:rPr>
              <a:t>Azure AI Search, una plataforma de recuperación de información basada en IA, ayuda a los desarrolladores a crear experiencias de búsqueda enriquecidas y aplicaciones de IA generativas que combinan grandes modelos de lenguaje con datos empresariales.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216" name="Shape 216"/>
        <p:cNvGrpSpPr/>
        <p:nvPr/>
      </p:nvGrpSpPr>
      <p:grpSpPr>
        <a:xfrm>
          <a:off x="0" y="0"/>
          <a:ext cx="0" cy="0"/>
          <a:chOff x="0" y="0"/>
          <a:chExt cx="0" cy="0"/>
        </a:xfrm>
      </p:grpSpPr>
      <p:sp>
        <p:nvSpPr>
          <p:cNvPr id="217" name="Google Shape;217;p11"/>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218" name="Google Shape;218;p11"/>
          <p:cNvGrpSpPr/>
          <p:nvPr/>
        </p:nvGrpSpPr>
        <p:grpSpPr>
          <a:xfrm>
            <a:off x="1476891" y="2530937"/>
            <a:ext cx="7218918" cy="2874415"/>
            <a:chOff x="0" y="-47625"/>
            <a:chExt cx="1901279" cy="757048"/>
          </a:xfrm>
        </p:grpSpPr>
        <p:sp>
          <p:nvSpPr>
            <p:cNvPr id="219" name="Google Shape;219;p1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11"/>
          <p:cNvGrpSpPr/>
          <p:nvPr/>
        </p:nvGrpSpPr>
        <p:grpSpPr>
          <a:xfrm>
            <a:off x="9592191" y="2493522"/>
            <a:ext cx="7218918" cy="2874415"/>
            <a:chOff x="0" y="-47625"/>
            <a:chExt cx="1901279" cy="757048"/>
          </a:xfrm>
        </p:grpSpPr>
        <p:sp>
          <p:nvSpPr>
            <p:cNvPr id="222" name="Google Shape;222;p1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11"/>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050A30"/>
                </a:solidFill>
                <a:latin typeface="Arial"/>
                <a:ea typeface="Arial"/>
                <a:cs typeface="Arial"/>
                <a:sym typeface="Arial"/>
              </a:rPr>
              <a:t>Casos de uso</a:t>
            </a:r>
            <a:endParaRPr/>
          </a:p>
        </p:txBody>
      </p:sp>
      <p:sp>
        <p:nvSpPr>
          <p:cNvPr id="225" name="Google Shape;225;p11"/>
          <p:cNvSpPr txBox="1"/>
          <p:nvPr/>
        </p:nvSpPr>
        <p:spPr>
          <a:xfrm>
            <a:off x="1533949" y="3037975"/>
            <a:ext cx="7104803" cy="761997"/>
          </a:xfrm>
          <a:prstGeom prst="rect">
            <a:avLst/>
          </a:prstGeom>
          <a:noFill/>
          <a:ln>
            <a:noFill/>
          </a:ln>
        </p:spPr>
        <p:txBody>
          <a:bodyPr anchorCtr="0" anchor="t" bIns="0" lIns="0" spcFirstLastPara="1" rIns="0" wrap="square" tIns="0">
            <a:spAutoFit/>
          </a:bodyPr>
          <a:lstStyle/>
          <a:p>
            <a:pPr indent="0" lvl="0" marL="0" marR="0" rtl="0" algn="ctr">
              <a:lnSpc>
                <a:spcPct val="92016"/>
              </a:lnSpc>
              <a:spcBef>
                <a:spcPts val="0"/>
              </a:spcBef>
              <a:spcAft>
                <a:spcPts val="0"/>
              </a:spcAft>
              <a:buNone/>
            </a:pPr>
            <a:r>
              <a:rPr b="1" i="0" lang="en-US" sz="2142" u="none" cap="none" strike="noStrike">
                <a:solidFill>
                  <a:srgbClr val="050A30"/>
                </a:solidFill>
                <a:latin typeface="Arial"/>
                <a:ea typeface="Arial"/>
                <a:cs typeface="Arial"/>
                <a:sym typeface="Arial"/>
              </a:rPr>
              <a:t>MUESTRA LOS RESULTADOS MÁS RELEVANTES PARA TUS USUARIOS</a:t>
            </a:r>
            <a:endParaRPr/>
          </a:p>
          <a:p>
            <a:pPr indent="0" lvl="0" marL="0" marR="0" rtl="0" algn="ctr">
              <a:lnSpc>
                <a:spcPct val="92016"/>
              </a:lnSpc>
              <a:spcBef>
                <a:spcPts val="0"/>
              </a:spcBef>
              <a:spcAft>
                <a:spcPts val="0"/>
              </a:spcAft>
              <a:buNone/>
            </a:pPr>
            <a:r>
              <a:t/>
            </a:r>
            <a:endParaRPr b="1" i="0" sz="2142" u="none" cap="none" strike="noStrike">
              <a:solidFill>
                <a:srgbClr val="050A30"/>
              </a:solidFill>
              <a:latin typeface="Arial"/>
              <a:ea typeface="Arial"/>
              <a:cs typeface="Arial"/>
              <a:sym typeface="Arial"/>
            </a:endParaRPr>
          </a:p>
        </p:txBody>
      </p:sp>
      <p:sp>
        <p:nvSpPr>
          <p:cNvPr id="226" name="Google Shape;226;p11"/>
          <p:cNvSpPr txBox="1"/>
          <p:nvPr/>
        </p:nvSpPr>
        <p:spPr>
          <a:xfrm>
            <a:off x="10041900" y="2970225"/>
            <a:ext cx="6500794" cy="761561"/>
          </a:xfrm>
          <a:prstGeom prst="rect">
            <a:avLst/>
          </a:prstGeom>
          <a:noFill/>
          <a:ln>
            <a:noFill/>
          </a:ln>
        </p:spPr>
        <p:txBody>
          <a:bodyPr anchorCtr="0" anchor="t" bIns="0" lIns="0" spcFirstLastPara="1" rIns="0" wrap="square" tIns="0">
            <a:spAutoFit/>
          </a:bodyPr>
          <a:lstStyle/>
          <a:p>
            <a:pPr indent="0" lvl="0" marL="0" marR="0" rtl="0" algn="ctr">
              <a:lnSpc>
                <a:spcPct val="92018"/>
              </a:lnSpc>
              <a:spcBef>
                <a:spcPts val="0"/>
              </a:spcBef>
              <a:spcAft>
                <a:spcPts val="0"/>
              </a:spcAft>
              <a:buNone/>
            </a:pPr>
            <a:r>
              <a:rPr b="1" i="0" lang="en-US" sz="2130" u="none" cap="none" strike="noStrike">
                <a:solidFill>
                  <a:srgbClr val="050A30"/>
                </a:solidFill>
                <a:latin typeface="Arial"/>
                <a:ea typeface="Arial"/>
                <a:cs typeface="Arial"/>
                <a:sym typeface="Arial"/>
              </a:rPr>
              <a:t>CREE APLICACIONES DE PRÓXIMA GENERACIÓN CON AZURE OPENAI SERVICE.</a:t>
            </a:r>
            <a:endParaRPr/>
          </a:p>
          <a:p>
            <a:pPr indent="0" lvl="0" marL="0" marR="0" rtl="0" algn="ctr">
              <a:lnSpc>
                <a:spcPct val="92018"/>
              </a:lnSpc>
              <a:spcBef>
                <a:spcPts val="0"/>
              </a:spcBef>
              <a:spcAft>
                <a:spcPts val="0"/>
              </a:spcAft>
              <a:buNone/>
            </a:pPr>
            <a:r>
              <a:t/>
            </a:r>
            <a:endParaRPr b="1" i="0" sz="2130" u="none" cap="none" strike="noStrike">
              <a:solidFill>
                <a:srgbClr val="050A30"/>
              </a:solidFill>
              <a:latin typeface="Arial"/>
              <a:ea typeface="Arial"/>
              <a:cs typeface="Arial"/>
              <a:sym typeface="Arial"/>
            </a:endParaRPr>
          </a:p>
        </p:txBody>
      </p:sp>
      <p:sp>
        <p:nvSpPr>
          <p:cNvPr id="227" name="Google Shape;227;p11"/>
          <p:cNvSpPr txBox="1"/>
          <p:nvPr/>
        </p:nvSpPr>
        <p:spPr>
          <a:xfrm>
            <a:off x="2067068" y="3684160"/>
            <a:ext cx="5961972"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Utilice modelos avanzados de aprendizaje profundo de Microsoft Research y Bing para proporcionar resultados contextuales y relevantes en sus aplicaciones.</a:t>
            </a:r>
            <a:endParaRPr/>
          </a:p>
        </p:txBody>
      </p:sp>
      <p:sp>
        <p:nvSpPr>
          <p:cNvPr id="228" name="Google Shape;228;p11"/>
          <p:cNvSpPr txBox="1"/>
          <p:nvPr/>
        </p:nvSpPr>
        <p:spPr>
          <a:xfrm>
            <a:off x="10236915" y="3578940"/>
            <a:ext cx="6110764"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Combine Azure AI Search con Azure OpenAI Service para aplicar los modelos de lenguaje de IA más avanzados a sus soluciones de búsqueda utilizando sus propios datos como base para las respuestas.</a:t>
            </a:r>
            <a:endParaRPr/>
          </a:p>
        </p:txBody>
      </p:sp>
      <p:grpSp>
        <p:nvGrpSpPr>
          <p:cNvPr id="229" name="Google Shape;229;p11"/>
          <p:cNvGrpSpPr/>
          <p:nvPr/>
        </p:nvGrpSpPr>
        <p:grpSpPr>
          <a:xfrm>
            <a:off x="1438595" y="5529326"/>
            <a:ext cx="7218918" cy="2874415"/>
            <a:chOff x="0" y="-47625"/>
            <a:chExt cx="1901279" cy="757048"/>
          </a:xfrm>
        </p:grpSpPr>
        <p:sp>
          <p:nvSpPr>
            <p:cNvPr id="230" name="Google Shape;230;p1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11"/>
          <p:cNvSpPr txBox="1"/>
          <p:nvPr/>
        </p:nvSpPr>
        <p:spPr>
          <a:xfrm>
            <a:off x="1495652" y="5922605"/>
            <a:ext cx="7104803" cy="76189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50A30"/>
                </a:solidFill>
                <a:latin typeface="Arial"/>
                <a:ea typeface="Arial"/>
                <a:cs typeface="Arial"/>
                <a:sym typeface="Arial"/>
              </a:rPr>
              <a:t>PERSONALICE LAS CAPACIDADES DE BÚSQUEDA CON INTEGRACIONES DE IA</a:t>
            </a:r>
            <a:endParaRPr/>
          </a:p>
          <a:p>
            <a:pPr indent="0" lvl="0" marL="0" marR="0" rtl="0" algn="ctr">
              <a:lnSpc>
                <a:spcPct val="92005"/>
              </a:lnSpc>
              <a:spcBef>
                <a:spcPts val="0"/>
              </a:spcBef>
              <a:spcAft>
                <a:spcPts val="0"/>
              </a:spcAft>
              <a:buNone/>
            </a:pPr>
            <a:r>
              <a:t/>
            </a:r>
            <a:endParaRPr b="1" i="0" sz="2139" u="none" cap="none" strike="noStrike">
              <a:solidFill>
                <a:srgbClr val="050A30"/>
              </a:solidFill>
              <a:latin typeface="Arial"/>
              <a:ea typeface="Arial"/>
              <a:cs typeface="Arial"/>
              <a:sym typeface="Arial"/>
            </a:endParaRPr>
          </a:p>
        </p:txBody>
      </p:sp>
      <p:sp>
        <p:nvSpPr>
          <p:cNvPr id="233" name="Google Shape;233;p11"/>
          <p:cNvSpPr txBox="1"/>
          <p:nvPr/>
        </p:nvSpPr>
        <p:spPr>
          <a:xfrm>
            <a:off x="1715334" y="6470911"/>
            <a:ext cx="6742032"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Azure AI Search ofrece capacidades personalizables como extracción de frases clave, detección de idioma, reconocimiento óptico de caracteres (OCR), análisis de imágenes, traducción y control de acceso basado en roles (RBAC).</a:t>
            </a:r>
            <a:endParaRPr/>
          </a:p>
        </p:txBody>
      </p:sp>
      <p:grpSp>
        <p:nvGrpSpPr>
          <p:cNvPr id="234" name="Google Shape;234;p11"/>
          <p:cNvGrpSpPr/>
          <p:nvPr/>
        </p:nvGrpSpPr>
        <p:grpSpPr>
          <a:xfrm>
            <a:off x="9592191" y="5625260"/>
            <a:ext cx="7218918" cy="2874415"/>
            <a:chOff x="0" y="-47625"/>
            <a:chExt cx="1901279" cy="757048"/>
          </a:xfrm>
        </p:grpSpPr>
        <p:sp>
          <p:nvSpPr>
            <p:cNvPr id="235" name="Google Shape;235;p1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1"/>
          <p:cNvSpPr txBox="1"/>
          <p:nvPr/>
        </p:nvSpPr>
        <p:spPr>
          <a:xfrm>
            <a:off x="9876766" y="6018540"/>
            <a:ext cx="6665928" cy="100954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50A30"/>
                </a:solidFill>
                <a:latin typeface="Arial"/>
                <a:ea typeface="Arial"/>
                <a:cs typeface="Arial"/>
                <a:sym typeface="Arial"/>
              </a:rPr>
              <a:t>ESCALE PARA GESTIONAR GRANDES CONJUNTOS DE DATOS Y CARGAS DE TRÁFICO ELEVADO</a:t>
            </a:r>
            <a:endParaRPr/>
          </a:p>
          <a:p>
            <a:pPr indent="0" lvl="0" marL="0" marR="0" rtl="0" algn="ctr">
              <a:lnSpc>
                <a:spcPct val="92005"/>
              </a:lnSpc>
              <a:spcBef>
                <a:spcPts val="0"/>
              </a:spcBef>
              <a:spcAft>
                <a:spcPts val="0"/>
              </a:spcAft>
              <a:buNone/>
            </a:pPr>
            <a:r>
              <a:t/>
            </a:r>
            <a:endParaRPr b="1" i="0" sz="2139" u="none" cap="none" strike="noStrike">
              <a:solidFill>
                <a:srgbClr val="050A30"/>
              </a:solidFill>
              <a:latin typeface="Arial"/>
              <a:ea typeface="Arial"/>
              <a:cs typeface="Arial"/>
              <a:sym typeface="Arial"/>
            </a:endParaRPr>
          </a:p>
        </p:txBody>
      </p:sp>
      <p:sp>
        <p:nvSpPr>
          <p:cNvPr id="238" name="Google Shape;238;p11"/>
          <p:cNvSpPr txBox="1"/>
          <p:nvPr/>
        </p:nvSpPr>
        <p:spPr>
          <a:xfrm>
            <a:off x="9876766" y="6823336"/>
            <a:ext cx="6665928"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Azure AI Search está diseñado para manejar grandes cantidades de datos y admitir cargas de tráfico elevado, lo que garantiza que su solución de búsqueda pueda escalar a medida que crece su organización.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E8FF"/>
        </a:solidFill>
      </p:bgPr>
    </p:bg>
    <p:spTree>
      <p:nvGrpSpPr>
        <p:cNvPr id="242" name="Shape 242"/>
        <p:cNvGrpSpPr/>
        <p:nvPr/>
      </p:nvGrpSpPr>
      <p:grpSpPr>
        <a:xfrm>
          <a:off x="0" y="0"/>
          <a:ext cx="0" cy="0"/>
          <a:chOff x="0" y="0"/>
          <a:chExt cx="0" cy="0"/>
        </a:xfrm>
      </p:grpSpPr>
      <p:sp>
        <p:nvSpPr>
          <p:cNvPr id="243" name="Google Shape;243;p12"/>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244" name="Google Shape;244;p12"/>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245" name="Google Shape;245;p12"/>
          <p:cNvSpPr/>
          <p:nvPr/>
        </p:nvSpPr>
        <p:spPr>
          <a:xfrm>
            <a:off x="2415389" y="1358656"/>
            <a:ext cx="13457222" cy="7569687"/>
          </a:xfrm>
          <a:custGeom>
            <a:rect b="b" l="l" r="r" t="t"/>
            <a:pathLst>
              <a:path extrusionOk="0" h="7569687" w="13457222">
                <a:moveTo>
                  <a:pt x="0" y="0"/>
                </a:moveTo>
                <a:lnTo>
                  <a:pt x="13457222" y="0"/>
                </a:lnTo>
                <a:lnTo>
                  <a:pt x="13457222" y="7569688"/>
                </a:lnTo>
                <a:lnTo>
                  <a:pt x="0" y="756968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E8FF"/>
        </a:solidFill>
      </p:bgPr>
    </p:bg>
    <p:spTree>
      <p:nvGrpSpPr>
        <p:cNvPr id="249" name="Shape 249"/>
        <p:cNvGrpSpPr/>
        <p:nvPr/>
      </p:nvGrpSpPr>
      <p:grpSpPr>
        <a:xfrm>
          <a:off x="0" y="0"/>
          <a:ext cx="0" cy="0"/>
          <a:chOff x="0" y="0"/>
          <a:chExt cx="0" cy="0"/>
        </a:xfrm>
      </p:grpSpPr>
      <p:sp>
        <p:nvSpPr>
          <p:cNvPr id="250" name="Google Shape;250;p13"/>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251" name="Google Shape;251;p13"/>
          <p:cNvGrpSpPr/>
          <p:nvPr/>
        </p:nvGrpSpPr>
        <p:grpSpPr>
          <a:xfrm>
            <a:off x="15248823" y="-2338212"/>
            <a:ext cx="4378481" cy="4378481"/>
            <a:chOff x="0" y="0"/>
            <a:chExt cx="812800" cy="812800"/>
          </a:xfrm>
        </p:grpSpPr>
        <p:sp>
          <p:nvSpPr>
            <p:cNvPr id="252" name="Google Shape;252;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0A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13"/>
          <p:cNvGrpSpPr/>
          <p:nvPr/>
        </p:nvGrpSpPr>
        <p:grpSpPr>
          <a:xfrm>
            <a:off x="2526196" y="1729105"/>
            <a:ext cx="13235608" cy="1830814"/>
            <a:chOff x="0" y="-38100"/>
            <a:chExt cx="3485921" cy="482190"/>
          </a:xfrm>
        </p:grpSpPr>
        <p:sp>
          <p:nvSpPr>
            <p:cNvPr id="255" name="Google Shape;255;p13"/>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13"/>
          <p:cNvSpPr txBox="1"/>
          <p:nvPr/>
        </p:nvSpPr>
        <p:spPr>
          <a:xfrm>
            <a:off x="3099740" y="2461254"/>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CONTENT SAFETY</a:t>
            </a:r>
            <a:endParaRPr/>
          </a:p>
        </p:txBody>
      </p:sp>
      <p:grpSp>
        <p:nvGrpSpPr>
          <p:cNvPr id="258" name="Google Shape;258;p13"/>
          <p:cNvGrpSpPr/>
          <p:nvPr/>
        </p:nvGrpSpPr>
        <p:grpSpPr>
          <a:xfrm>
            <a:off x="2526196" y="4073124"/>
            <a:ext cx="13235608" cy="5185176"/>
            <a:chOff x="0" y="-38100"/>
            <a:chExt cx="3485921" cy="1365643"/>
          </a:xfrm>
        </p:grpSpPr>
        <p:sp>
          <p:nvSpPr>
            <p:cNvPr id="259" name="Google Shape;259;p13"/>
            <p:cNvSpPr/>
            <p:nvPr/>
          </p:nvSpPr>
          <p:spPr>
            <a:xfrm>
              <a:off x="0" y="0"/>
              <a:ext cx="3485921" cy="1327543"/>
            </a:xfrm>
            <a:custGeom>
              <a:rect b="b" l="l" r="r" t="t"/>
              <a:pathLst>
                <a:path extrusionOk="0" h="1327543" w="3485921">
                  <a:moveTo>
                    <a:pt x="20473" y="0"/>
                  </a:moveTo>
                  <a:lnTo>
                    <a:pt x="3465449" y="0"/>
                  </a:lnTo>
                  <a:cubicBezTo>
                    <a:pt x="3476756" y="0"/>
                    <a:pt x="3485921" y="9166"/>
                    <a:pt x="3485921" y="20473"/>
                  </a:cubicBezTo>
                  <a:lnTo>
                    <a:pt x="3485921" y="1307070"/>
                  </a:lnTo>
                  <a:cubicBezTo>
                    <a:pt x="3485921" y="1318377"/>
                    <a:pt x="3476756" y="1327543"/>
                    <a:pt x="3465449" y="1327543"/>
                  </a:cubicBezTo>
                  <a:lnTo>
                    <a:pt x="20473" y="1327543"/>
                  </a:lnTo>
                  <a:cubicBezTo>
                    <a:pt x="9166" y="1327543"/>
                    <a:pt x="0" y="1318377"/>
                    <a:pt x="0" y="1307070"/>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txBox="1"/>
            <p:nvPr/>
          </p:nvSpPr>
          <p:spPr>
            <a:xfrm>
              <a:off x="0" y="-38100"/>
              <a:ext cx="3485921" cy="13656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1" name="Google Shape;261;p13"/>
          <p:cNvSpPr txBox="1"/>
          <p:nvPr/>
        </p:nvSpPr>
        <p:spPr>
          <a:xfrm>
            <a:off x="2822292" y="4653758"/>
            <a:ext cx="12665500" cy="27940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50A30"/>
                </a:solidFill>
                <a:latin typeface="Arial"/>
                <a:ea typeface="Arial"/>
                <a:cs typeface="Arial"/>
                <a:sym typeface="Arial"/>
              </a:rPr>
              <a:t>Azure AI Content Safety es un sistema de seguridad para monitorear el contenido generado tanto por modelos básicos como por humanos. Detectar y bloquear posibles riesgos, amenazas y problemas de calidad.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E8FF"/>
        </a:solidFill>
      </p:bgPr>
    </p:bg>
    <p:spTree>
      <p:nvGrpSpPr>
        <p:cNvPr id="265" name="Shape 265"/>
        <p:cNvGrpSpPr/>
        <p:nvPr/>
      </p:nvGrpSpPr>
      <p:grpSpPr>
        <a:xfrm>
          <a:off x="0" y="0"/>
          <a:ext cx="0" cy="0"/>
          <a:chOff x="0" y="0"/>
          <a:chExt cx="0" cy="0"/>
        </a:xfrm>
      </p:grpSpPr>
      <p:sp>
        <p:nvSpPr>
          <p:cNvPr id="266" name="Google Shape;266;p14"/>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267" name="Google Shape;267;p14"/>
          <p:cNvGrpSpPr/>
          <p:nvPr/>
        </p:nvGrpSpPr>
        <p:grpSpPr>
          <a:xfrm>
            <a:off x="1476891" y="2530937"/>
            <a:ext cx="7218918" cy="2874415"/>
            <a:chOff x="0" y="-47625"/>
            <a:chExt cx="1901279" cy="757048"/>
          </a:xfrm>
        </p:grpSpPr>
        <p:sp>
          <p:nvSpPr>
            <p:cNvPr id="268" name="Google Shape;268;p14"/>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4"/>
          <p:cNvGrpSpPr/>
          <p:nvPr/>
        </p:nvGrpSpPr>
        <p:grpSpPr>
          <a:xfrm>
            <a:off x="9592191" y="2493522"/>
            <a:ext cx="7218918" cy="2874415"/>
            <a:chOff x="0" y="-47625"/>
            <a:chExt cx="1901279" cy="757048"/>
          </a:xfrm>
        </p:grpSpPr>
        <p:sp>
          <p:nvSpPr>
            <p:cNvPr id="271" name="Google Shape;271;p14"/>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4"/>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050A30"/>
                </a:solidFill>
                <a:latin typeface="Arial"/>
                <a:ea typeface="Arial"/>
                <a:cs typeface="Arial"/>
                <a:sym typeface="Arial"/>
              </a:rPr>
              <a:t>Casos de uso</a:t>
            </a:r>
            <a:endParaRPr/>
          </a:p>
        </p:txBody>
      </p:sp>
      <p:sp>
        <p:nvSpPr>
          <p:cNvPr id="274" name="Google Shape;274;p14"/>
          <p:cNvSpPr txBox="1"/>
          <p:nvPr/>
        </p:nvSpPr>
        <p:spPr>
          <a:xfrm>
            <a:off x="1533949" y="3037975"/>
            <a:ext cx="7104803" cy="623821"/>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1" i="0" lang="en-US" sz="2542" u="none" cap="none" strike="noStrike">
                <a:solidFill>
                  <a:srgbClr val="000000"/>
                </a:solidFill>
                <a:latin typeface="Arial"/>
                <a:ea typeface="Arial"/>
                <a:cs typeface="Arial"/>
                <a:sym typeface="Arial"/>
              </a:rPr>
              <a:t>Proteja sus aplicaciones de IA generativa</a:t>
            </a:r>
            <a:endParaRPr/>
          </a:p>
          <a:p>
            <a:pPr indent="0" lvl="0" marL="0" marR="0" rtl="0" algn="ctr">
              <a:lnSpc>
                <a:spcPct val="92014"/>
              </a:lnSpc>
              <a:spcBef>
                <a:spcPts val="0"/>
              </a:spcBef>
              <a:spcAft>
                <a:spcPts val="0"/>
              </a:spcAft>
              <a:buNone/>
            </a:pPr>
            <a:r>
              <a:t/>
            </a:r>
            <a:endParaRPr b="1" i="0" sz="2542" u="none" cap="none" strike="noStrike">
              <a:solidFill>
                <a:srgbClr val="000000"/>
              </a:solidFill>
              <a:latin typeface="Arial"/>
              <a:ea typeface="Arial"/>
              <a:cs typeface="Arial"/>
              <a:sym typeface="Arial"/>
            </a:endParaRPr>
          </a:p>
        </p:txBody>
      </p:sp>
      <p:sp>
        <p:nvSpPr>
          <p:cNvPr id="275" name="Google Shape;275;p14"/>
          <p:cNvSpPr txBox="1"/>
          <p:nvPr/>
        </p:nvSpPr>
        <p:spPr>
          <a:xfrm>
            <a:off x="10041900" y="2970225"/>
            <a:ext cx="6500794" cy="623722"/>
          </a:xfrm>
          <a:prstGeom prst="rect">
            <a:avLst/>
          </a:prstGeom>
          <a:noFill/>
          <a:ln>
            <a:noFill/>
          </a:ln>
        </p:spPr>
        <p:txBody>
          <a:bodyPr anchorCtr="0" anchor="t" bIns="0" lIns="0" spcFirstLastPara="1" rIns="0" wrap="square" tIns="0">
            <a:spAutoFit/>
          </a:bodyPr>
          <a:lstStyle/>
          <a:p>
            <a:pPr indent="0" lvl="0" marL="0" marR="0" rtl="0" algn="ctr">
              <a:lnSpc>
                <a:spcPct val="92004"/>
              </a:lnSpc>
              <a:spcBef>
                <a:spcPts val="0"/>
              </a:spcBef>
              <a:spcAft>
                <a:spcPts val="0"/>
              </a:spcAft>
              <a:buNone/>
            </a:pPr>
            <a:r>
              <a:rPr b="1" i="0" lang="en-US" sz="2539" u="none" cap="none" strike="noStrike">
                <a:solidFill>
                  <a:srgbClr val="000000"/>
                </a:solidFill>
                <a:latin typeface="Arial"/>
                <a:ea typeface="Arial"/>
                <a:cs typeface="Arial"/>
                <a:sym typeface="Arial"/>
              </a:rPr>
              <a:t>Configure sus filtros de contenido para reflejar estándares y políticas</a:t>
            </a:r>
            <a:endParaRPr/>
          </a:p>
        </p:txBody>
      </p:sp>
      <p:sp>
        <p:nvSpPr>
          <p:cNvPr id="276" name="Google Shape;276;p14"/>
          <p:cNvSpPr txBox="1"/>
          <p:nvPr/>
        </p:nvSpPr>
        <p:spPr>
          <a:xfrm>
            <a:off x="1823299" y="3381128"/>
            <a:ext cx="6530766"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Utilice Prompt Shields para detectar y bloquear ataques de inyección rápida, detección de conexión a tierra para identificar materiales alucinados o sin conexión a tierra, y detección de material protegido para identificar contenido con derechos de autor o de propiedad.</a:t>
            </a:r>
            <a:endParaRPr/>
          </a:p>
        </p:txBody>
      </p:sp>
      <p:sp>
        <p:nvSpPr>
          <p:cNvPr id="277" name="Google Shape;277;p14"/>
          <p:cNvSpPr txBox="1"/>
          <p:nvPr/>
        </p:nvSpPr>
        <p:spPr>
          <a:xfrm>
            <a:off x="10236915" y="3733553"/>
            <a:ext cx="6110764" cy="105410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Ajuste los filtros de contenido para alinearlos con sus políticas de IA responsable, pautas de la comunidad o escenarios de aplicación únicos.</a:t>
            </a:r>
            <a:endParaRPr/>
          </a:p>
        </p:txBody>
      </p:sp>
      <p:grpSp>
        <p:nvGrpSpPr>
          <p:cNvPr id="278" name="Google Shape;278;p14"/>
          <p:cNvGrpSpPr/>
          <p:nvPr/>
        </p:nvGrpSpPr>
        <p:grpSpPr>
          <a:xfrm>
            <a:off x="1438595" y="5529326"/>
            <a:ext cx="7218918" cy="3459460"/>
            <a:chOff x="0" y="-47625"/>
            <a:chExt cx="1901279" cy="911134"/>
          </a:xfrm>
        </p:grpSpPr>
        <p:sp>
          <p:nvSpPr>
            <p:cNvPr id="279" name="Google Shape;279;p14"/>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14"/>
          <p:cNvSpPr txBox="1"/>
          <p:nvPr/>
        </p:nvSpPr>
        <p:spPr>
          <a:xfrm>
            <a:off x="1495652" y="5922605"/>
            <a:ext cx="7104803" cy="623722"/>
          </a:xfrm>
          <a:prstGeom prst="rect">
            <a:avLst/>
          </a:prstGeom>
          <a:noFill/>
          <a:ln>
            <a:noFill/>
          </a:ln>
        </p:spPr>
        <p:txBody>
          <a:bodyPr anchorCtr="0" anchor="t" bIns="0" lIns="0" spcFirstLastPara="1" rIns="0" wrap="square" tIns="0">
            <a:spAutoFit/>
          </a:bodyPr>
          <a:lstStyle/>
          <a:p>
            <a:pPr indent="0" lvl="0" marL="0" marR="0" rtl="0" algn="ctr">
              <a:lnSpc>
                <a:spcPct val="92004"/>
              </a:lnSpc>
              <a:spcBef>
                <a:spcPts val="0"/>
              </a:spcBef>
              <a:spcAft>
                <a:spcPts val="0"/>
              </a:spcAft>
              <a:buNone/>
            </a:pPr>
            <a:r>
              <a:rPr b="1" i="0" lang="en-US" sz="2539" u="none" cap="none" strike="noStrike">
                <a:solidFill>
                  <a:srgbClr val="000000"/>
                </a:solidFill>
                <a:latin typeface="Arial"/>
                <a:ea typeface="Arial"/>
                <a:cs typeface="Arial"/>
                <a:sym typeface="Arial"/>
              </a:rPr>
              <a:t>Integración e implementación perfectas</a:t>
            </a:r>
            <a:endParaRPr/>
          </a:p>
          <a:p>
            <a:pPr indent="0" lvl="0" marL="0" marR="0" rtl="0" algn="ctr">
              <a:lnSpc>
                <a:spcPct val="92004"/>
              </a:lnSpc>
              <a:spcBef>
                <a:spcPts val="0"/>
              </a:spcBef>
              <a:spcAft>
                <a:spcPts val="0"/>
              </a:spcAft>
              <a:buNone/>
            </a:pPr>
            <a:r>
              <a:t/>
            </a:r>
            <a:endParaRPr b="1" i="0" sz="2539" u="none" cap="none" strike="noStrike">
              <a:solidFill>
                <a:srgbClr val="000000"/>
              </a:solidFill>
              <a:latin typeface="Arial"/>
              <a:ea typeface="Arial"/>
              <a:cs typeface="Arial"/>
              <a:sym typeface="Arial"/>
            </a:endParaRPr>
          </a:p>
        </p:txBody>
      </p:sp>
      <p:sp>
        <p:nvSpPr>
          <p:cNvPr id="282" name="Google Shape;282;p14"/>
          <p:cNvSpPr txBox="1"/>
          <p:nvPr/>
        </p:nvSpPr>
        <p:spPr>
          <a:xfrm>
            <a:off x="1717666" y="6389228"/>
            <a:ext cx="6742032" cy="211137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Cree un sistema de seguridad que funcione de manera uniforme en todos los modelos básicos de nuestro catálogo de modelos AI Studio, incluido Azure OpenAI Service, o utilice la API Azure AI Content Safety. Azure AI Content Safety proporciona flexibilidad y compatibilidad, sin comprometer nunca la seguridad.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286" name="Shape 286"/>
        <p:cNvGrpSpPr/>
        <p:nvPr/>
      </p:nvGrpSpPr>
      <p:grpSpPr>
        <a:xfrm>
          <a:off x="0" y="0"/>
          <a:ext cx="0" cy="0"/>
          <a:chOff x="0" y="0"/>
          <a:chExt cx="0" cy="0"/>
        </a:xfrm>
      </p:grpSpPr>
      <p:sp>
        <p:nvSpPr>
          <p:cNvPr id="287" name="Google Shape;287;p15"/>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288" name="Google Shape;288;p15"/>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289" name="Google Shape;289;p15"/>
          <p:cNvSpPr/>
          <p:nvPr/>
        </p:nvSpPr>
        <p:spPr>
          <a:xfrm>
            <a:off x="2638934" y="2205728"/>
            <a:ext cx="13010132" cy="5875543"/>
          </a:xfrm>
          <a:custGeom>
            <a:rect b="b" l="l" r="r" t="t"/>
            <a:pathLst>
              <a:path extrusionOk="0" h="5875543" w="13010132">
                <a:moveTo>
                  <a:pt x="0" y="0"/>
                </a:moveTo>
                <a:lnTo>
                  <a:pt x="13010132" y="0"/>
                </a:lnTo>
                <a:lnTo>
                  <a:pt x="13010132" y="5875544"/>
                </a:lnTo>
                <a:lnTo>
                  <a:pt x="0" y="587554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293" name="Shape 293"/>
        <p:cNvGrpSpPr/>
        <p:nvPr/>
      </p:nvGrpSpPr>
      <p:grpSpPr>
        <a:xfrm>
          <a:off x="0" y="0"/>
          <a:ext cx="0" cy="0"/>
          <a:chOff x="0" y="0"/>
          <a:chExt cx="0" cy="0"/>
        </a:xfrm>
      </p:grpSpPr>
      <p:sp>
        <p:nvSpPr>
          <p:cNvPr id="294" name="Google Shape;294;p16"/>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295" name="Google Shape;295;p16"/>
          <p:cNvGrpSpPr/>
          <p:nvPr/>
        </p:nvGrpSpPr>
        <p:grpSpPr>
          <a:xfrm>
            <a:off x="15248823" y="-2338212"/>
            <a:ext cx="4378481" cy="4378481"/>
            <a:chOff x="0" y="0"/>
            <a:chExt cx="812800" cy="812800"/>
          </a:xfrm>
        </p:grpSpPr>
        <p:sp>
          <p:nvSpPr>
            <p:cNvPr id="296" name="Google Shape;296;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8" name="Google Shape;298;p16"/>
          <p:cNvGrpSpPr/>
          <p:nvPr/>
        </p:nvGrpSpPr>
        <p:grpSpPr>
          <a:xfrm>
            <a:off x="2526196" y="1729105"/>
            <a:ext cx="13235608" cy="1830814"/>
            <a:chOff x="0" y="-38100"/>
            <a:chExt cx="3485921" cy="482190"/>
          </a:xfrm>
        </p:grpSpPr>
        <p:sp>
          <p:nvSpPr>
            <p:cNvPr id="299" name="Google Shape;299;p16"/>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6"/>
          <p:cNvSpPr txBox="1"/>
          <p:nvPr/>
        </p:nvSpPr>
        <p:spPr>
          <a:xfrm>
            <a:off x="3099740" y="2461254"/>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TRANSLATOR</a:t>
            </a:r>
            <a:endParaRPr/>
          </a:p>
        </p:txBody>
      </p:sp>
      <p:grpSp>
        <p:nvGrpSpPr>
          <p:cNvPr id="302" name="Google Shape;302;p16"/>
          <p:cNvGrpSpPr/>
          <p:nvPr/>
        </p:nvGrpSpPr>
        <p:grpSpPr>
          <a:xfrm>
            <a:off x="2526196" y="4073124"/>
            <a:ext cx="13235608" cy="5185176"/>
            <a:chOff x="0" y="-38100"/>
            <a:chExt cx="3485921" cy="1365643"/>
          </a:xfrm>
        </p:grpSpPr>
        <p:sp>
          <p:nvSpPr>
            <p:cNvPr id="303" name="Google Shape;303;p16"/>
            <p:cNvSpPr/>
            <p:nvPr/>
          </p:nvSpPr>
          <p:spPr>
            <a:xfrm>
              <a:off x="0" y="0"/>
              <a:ext cx="3485921" cy="1327543"/>
            </a:xfrm>
            <a:custGeom>
              <a:rect b="b" l="l" r="r" t="t"/>
              <a:pathLst>
                <a:path extrusionOk="0" h="1327543" w="3485921">
                  <a:moveTo>
                    <a:pt x="20473" y="0"/>
                  </a:moveTo>
                  <a:lnTo>
                    <a:pt x="3465449" y="0"/>
                  </a:lnTo>
                  <a:cubicBezTo>
                    <a:pt x="3476756" y="0"/>
                    <a:pt x="3485921" y="9166"/>
                    <a:pt x="3485921" y="20473"/>
                  </a:cubicBezTo>
                  <a:lnTo>
                    <a:pt x="3485921" y="1307070"/>
                  </a:lnTo>
                  <a:cubicBezTo>
                    <a:pt x="3485921" y="1318377"/>
                    <a:pt x="3476756" y="1327543"/>
                    <a:pt x="3465449" y="1327543"/>
                  </a:cubicBezTo>
                  <a:lnTo>
                    <a:pt x="20473" y="1327543"/>
                  </a:lnTo>
                  <a:cubicBezTo>
                    <a:pt x="9166" y="1327543"/>
                    <a:pt x="0" y="1318377"/>
                    <a:pt x="0" y="1307070"/>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txBox="1"/>
            <p:nvPr/>
          </p:nvSpPr>
          <p:spPr>
            <a:xfrm>
              <a:off x="0" y="-38100"/>
              <a:ext cx="3485921" cy="13656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6"/>
          <p:cNvSpPr txBox="1"/>
          <p:nvPr/>
        </p:nvSpPr>
        <p:spPr>
          <a:xfrm>
            <a:off x="2822292" y="4653758"/>
            <a:ext cx="12665500" cy="42037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50A30"/>
                </a:solidFill>
                <a:latin typeface="Arial"/>
                <a:ea typeface="Arial"/>
                <a:cs typeface="Arial"/>
                <a:sym typeface="Arial"/>
              </a:rPr>
              <a:t>Traduce texto al instante o en lotes en más de 100 idiomas , con la tecnología de las últimas innovaciones en traducción automática. Admite una amplia gama de casos de uso, como traducción para centros de llamadas, agentes conversacionales multilingües o comunicación dentro de la aplicación.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309" name="Shape 309"/>
        <p:cNvGrpSpPr/>
        <p:nvPr/>
      </p:nvGrpSpPr>
      <p:grpSpPr>
        <a:xfrm>
          <a:off x="0" y="0"/>
          <a:ext cx="0" cy="0"/>
          <a:chOff x="0" y="0"/>
          <a:chExt cx="0" cy="0"/>
        </a:xfrm>
      </p:grpSpPr>
      <p:sp>
        <p:nvSpPr>
          <p:cNvPr id="310" name="Google Shape;310;p17"/>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311" name="Google Shape;311;p17"/>
          <p:cNvGrpSpPr/>
          <p:nvPr/>
        </p:nvGrpSpPr>
        <p:grpSpPr>
          <a:xfrm>
            <a:off x="1476891" y="2530937"/>
            <a:ext cx="7218918" cy="2874415"/>
            <a:chOff x="0" y="-47625"/>
            <a:chExt cx="1901279" cy="757048"/>
          </a:xfrm>
        </p:grpSpPr>
        <p:sp>
          <p:nvSpPr>
            <p:cNvPr id="312" name="Google Shape;312;p17"/>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17"/>
          <p:cNvGrpSpPr/>
          <p:nvPr/>
        </p:nvGrpSpPr>
        <p:grpSpPr>
          <a:xfrm>
            <a:off x="9592191" y="2493522"/>
            <a:ext cx="7218918" cy="2874415"/>
            <a:chOff x="0" y="-47625"/>
            <a:chExt cx="1901279" cy="757048"/>
          </a:xfrm>
        </p:grpSpPr>
        <p:sp>
          <p:nvSpPr>
            <p:cNvPr id="315" name="Google Shape;315;p17"/>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7"/>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7" name="Google Shape;317;p17"/>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Casos de uso</a:t>
            </a:r>
            <a:endParaRPr/>
          </a:p>
        </p:txBody>
      </p:sp>
      <p:sp>
        <p:nvSpPr>
          <p:cNvPr id="318" name="Google Shape;318;p17"/>
          <p:cNvSpPr txBox="1"/>
          <p:nvPr/>
        </p:nvSpPr>
        <p:spPr>
          <a:xfrm>
            <a:off x="1533949" y="3037975"/>
            <a:ext cx="7104803" cy="514347"/>
          </a:xfrm>
          <a:prstGeom prst="rect">
            <a:avLst/>
          </a:prstGeom>
          <a:noFill/>
          <a:ln>
            <a:noFill/>
          </a:ln>
        </p:spPr>
        <p:txBody>
          <a:bodyPr anchorCtr="0" anchor="t" bIns="0" lIns="0" spcFirstLastPara="1" rIns="0" wrap="square" tIns="0">
            <a:spAutoFit/>
          </a:bodyPr>
          <a:lstStyle/>
          <a:p>
            <a:pPr indent="0" lvl="0" marL="0" marR="0" rtl="0" algn="ctr">
              <a:lnSpc>
                <a:spcPct val="92016"/>
              </a:lnSpc>
              <a:spcBef>
                <a:spcPts val="0"/>
              </a:spcBef>
              <a:spcAft>
                <a:spcPts val="0"/>
              </a:spcAft>
              <a:buNone/>
            </a:pPr>
            <a:r>
              <a:rPr b="1" i="0" lang="en-US" sz="2142" u="none" cap="none" strike="noStrike">
                <a:solidFill>
                  <a:srgbClr val="050A30"/>
                </a:solidFill>
                <a:latin typeface="Arial"/>
                <a:ea typeface="Arial"/>
                <a:cs typeface="Arial"/>
                <a:sym typeface="Arial"/>
              </a:rPr>
              <a:t>AMPLÍE EL ALCANCE DE SU APLICACIÓN</a:t>
            </a:r>
            <a:endParaRPr/>
          </a:p>
          <a:p>
            <a:pPr indent="0" lvl="0" marL="0" marR="0" rtl="0" algn="ctr">
              <a:lnSpc>
                <a:spcPct val="92016"/>
              </a:lnSpc>
              <a:spcBef>
                <a:spcPts val="0"/>
              </a:spcBef>
              <a:spcAft>
                <a:spcPts val="0"/>
              </a:spcAft>
              <a:buNone/>
            </a:pPr>
            <a:r>
              <a:t/>
            </a:r>
            <a:endParaRPr b="1" i="0" sz="2142" u="none" cap="none" strike="noStrike">
              <a:solidFill>
                <a:srgbClr val="050A30"/>
              </a:solidFill>
              <a:latin typeface="Arial"/>
              <a:ea typeface="Arial"/>
              <a:cs typeface="Arial"/>
              <a:sym typeface="Arial"/>
            </a:endParaRPr>
          </a:p>
        </p:txBody>
      </p:sp>
      <p:sp>
        <p:nvSpPr>
          <p:cNvPr id="319" name="Google Shape;319;p17"/>
          <p:cNvSpPr txBox="1"/>
          <p:nvPr/>
        </p:nvSpPr>
        <p:spPr>
          <a:xfrm>
            <a:off x="10041900" y="2960700"/>
            <a:ext cx="6500794" cy="503296"/>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1" i="0" lang="en-US" sz="2099" u="none" cap="none" strike="noStrike">
                <a:solidFill>
                  <a:srgbClr val="050A30"/>
                </a:solidFill>
                <a:latin typeface="Arial"/>
                <a:ea typeface="Arial"/>
                <a:cs typeface="Arial"/>
                <a:sym typeface="Arial"/>
              </a:rPr>
              <a:t>PERSONALIZA TUS TRADUCCIONES DE TEXTO</a:t>
            </a:r>
            <a:endParaRPr/>
          </a:p>
          <a:p>
            <a:pPr indent="0" lvl="0" marL="0" marR="0" rtl="0" algn="ctr">
              <a:lnSpc>
                <a:spcPct val="91996"/>
              </a:lnSpc>
              <a:spcBef>
                <a:spcPts val="0"/>
              </a:spcBef>
              <a:spcAft>
                <a:spcPts val="0"/>
              </a:spcAft>
              <a:buNone/>
            </a:pPr>
            <a:r>
              <a:t/>
            </a:r>
            <a:endParaRPr b="1" i="0" sz="2099" u="none" cap="none" strike="noStrike">
              <a:solidFill>
                <a:srgbClr val="050A30"/>
              </a:solidFill>
              <a:latin typeface="Arial"/>
              <a:ea typeface="Arial"/>
              <a:cs typeface="Arial"/>
              <a:sym typeface="Arial"/>
            </a:endParaRPr>
          </a:p>
        </p:txBody>
      </p:sp>
      <p:sp>
        <p:nvSpPr>
          <p:cNvPr id="320" name="Google Shape;320;p17"/>
          <p:cNvSpPr txBox="1"/>
          <p:nvPr/>
        </p:nvSpPr>
        <p:spPr>
          <a:xfrm>
            <a:off x="1823299" y="3504697"/>
            <a:ext cx="6530766"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50A30"/>
                </a:solidFill>
                <a:latin typeface="Arial"/>
                <a:ea typeface="Arial"/>
                <a:cs typeface="Arial"/>
                <a:sym typeface="Arial"/>
              </a:rPr>
              <a:t>Aproveche nuestro servicio AI Translator para eliminar la complejidad de crear traducción instantánea en sus aplicaciones y soluciones con una sola llamada a la API REST.</a:t>
            </a:r>
            <a:endParaRPr/>
          </a:p>
        </p:txBody>
      </p:sp>
      <p:sp>
        <p:nvSpPr>
          <p:cNvPr id="321" name="Google Shape;321;p17"/>
          <p:cNvSpPr txBox="1"/>
          <p:nvPr/>
        </p:nvSpPr>
        <p:spPr>
          <a:xfrm>
            <a:off x="10041900" y="3293976"/>
            <a:ext cx="6500794"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50A30"/>
                </a:solidFill>
                <a:latin typeface="Arial"/>
                <a:ea typeface="Arial"/>
                <a:cs typeface="Arial"/>
                <a:sym typeface="Arial"/>
              </a:rPr>
              <a:t>Personalice sus traducciones de texto para reflejar la terminología específica del dominio. Defina cómo se traducen esos términos en función de documentos traducidos previamente. Cree modelos de traducción personalizados sin experiencia en aprendizaje automático</a:t>
            </a:r>
            <a:endParaRPr/>
          </a:p>
        </p:txBody>
      </p:sp>
      <p:grpSp>
        <p:nvGrpSpPr>
          <p:cNvPr id="322" name="Google Shape;322;p17"/>
          <p:cNvGrpSpPr/>
          <p:nvPr/>
        </p:nvGrpSpPr>
        <p:grpSpPr>
          <a:xfrm>
            <a:off x="1438595" y="5529326"/>
            <a:ext cx="7218918" cy="3459460"/>
            <a:chOff x="0" y="-47625"/>
            <a:chExt cx="1901279" cy="911134"/>
          </a:xfrm>
        </p:grpSpPr>
        <p:sp>
          <p:nvSpPr>
            <p:cNvPr id="323" name="Google Shape;323;p17"/>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5" name="Google Shape;325;p17"/>
          <p:cNvSpPr txBox="1"/>
          <p:nvPr/>
        </p:nvSpPr>
        <p:spPr>
          <a:xfrm>
            <a:off x="1717666" y="6043527"/>
            <a:ext cx="6742032" cy="76189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50A30"/>
                </a:solidFill>
                <a:latin typeface="Arial"/>
                <a:ea typeface="Arial"/>
                <a:cs typeface="Arial"/>
                <a:sym typeface="Arial"/>
              </a:rPr>
              <a:t>BENEFÍCIESE DE UN MOTOR DE TRADUCCIÓN ESCALABLE Y PROBADO</a:t>
            </a:r>
            <a:endParaRPr/>
          </a:p>
          <a:p>
            <a:pPr indent="0" lvl="0" marL="0" marR="0" rtl="0" algn="ctr">
              <a:lnSpc>
                <a:spcPct val="92005"/>
              </a:lnSpc>
              <a:spcBef>
                <a:spcPts val="0"/>
              </a:spcBef>
              <a:spcAft>
                <a:spcPts val="0"/>
              </a:spcAft>
              <a:buNone/>
            </a:pPr>
            <a:r>
              <a:t/>
            </a:r>
            <a:endParaRPr b="1" i="0" sz="2139" u="none" cap="none" strike="noStrike">
              <a:solidFill>
                <a:srgbClr val="050A30"/>
              </a:solidFill>
              <a:latin typeface="Arial"/>
              <a:ea typeface="Arial"/>
              <a:cs typeface="Arial"/>
              <a:sym typeface="Arial"/>
            </a:endParaRPr>
          </a:p>
        </p:txBody>
      </p:sp>
      <p:sp>
        <p:nvSpPr>
          <p:cNvPr id="326" name="Google Shape;326;p17"/>
          <p:cNvSpPr txBox="1"/>
          <p:nvPr/>
        </p:nvSpPr>
        <p:spPr>
          <a:xfrm>
            <a:off x="1677038" y="6757800"/>
            <a:ext cx="6742032"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50A30"/>
                </a:solidFill>
                <a:latin typeface="Arial"/>
                <a:ea typeface="Arial"/>
                <a:cs typeface="Arial"/>
                <a:sym typeface="Arial"/>
              </a:rPr>
              <a:t>Cree sus soluciones utilizando un motor de traducción listo para producción que se ha probado a escala y que impulsa las traducciones en productos de Microsoft como Word, PowerPoint, Teams, Edge, Visual Studio y Bing.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330" name="Shape 330"/>
        <p:cNvGrpSpPr/>
        <p:nvPr/>
      </p:nvGrpSpPr>
      <p:grpSpPr>
        <a:xfrm>
          <a:off x="0" y="0"/>
          <a:ext cx="0" cy="0"/>
          <a:chOff x="0" y="0"/>
          <a:chExt cx="0" cy="0"/>
        </a:xfrm>
      </p:grpSpPr>
      <p:sp>
        <p:nvSpPr>
          <p:cNvPr id="331" name="Google Shape;331;p18"/>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332" name="Google Shape;332;p18"/>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333" name="Google Shape;333;p18"/>
          <p:cNvSpPr/>
          <p:nvPr/>
        </p:nvSpPr>
        <p:spPr>
          <a:xfrm>
            <a:off x="4825176" y="1628428"/>
            <a:ext cx="8637647" cy="7030145"/>
          </a:xfrm>
          <a:custGeom>
            <a:rect b="b" l="l" r="r" t="t"/>
            <a:pathLst>
              <a:path extrusionOk="0" h="7030145" w="8637647">
                <a:moveTo>
                  <a:pt x="0" y="0"/>
                </a:moveTo>
                <a:lnTo>
                  <a:pt x="8637648" y="0"/>
                </a:lnTo>
                <a:lnTo>
                  <a:pt x="8637648" y="7030144"/>
                </a:lnTo>
                <a:lnTo>
                  <a:pt x="0" y="703014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337" name="Shape 337"/>
        <p:cNvGrpSpPr/>
        <p:nvPr/>
      </p:nvGrpSpPr>
      <p:grpSpPr>
        <a:xfrm>
          <a:off x="0" y="0"/>
          <a:ext cx="0" cy="0"/>
          <a:chOff x="0" y="0"/>
          <a:chExt cx="0" cy="0"/>
        </a:xfrm>
      </p:grpSpPr>
      <p:sp>
        <p:nvSpPr>
          <p:cNvPr id="338" name="Google Shape;338;p19"/>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339" name="Google Shape;339;p19"/>
          <p:cNvGrpSpPr/>
          <p:nvPr/>
        </p:nvGrpSpPr>
        <p:grpSpPr>
          <a:xfrm>
            <a:off x="15248823" y="-2338212"/>
            <a:ext cx="4378481" cy="4378481"/>
            <a:chOff x="0" y="0"/>
            <a:chExt cx="812800" cy="812800"/>
          </a:xfrm>
        </p:grpSpPr>
        <p:sp>
          <p:nvSpPr>
            <p:cNvPr id="340" name="Google Shape;340;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0A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2" name="Google Shape;342;p19"/>
          <p:cNvGrpSpPr/>
          <p:nvPr/>
        </p:nvGrpSpPr>
        <p:grpSpPr>
          <a:xfrm>
            <a:off x="2537238" y="754029"/>
            <a:ext cx="13235608" cy="1830814"/>
            <a:chOff x="0" y="-38100"/>
            <a:chExt cx="3485921" cy="482190"/>
          </a:xfrm>
        </p:grpSpPr>
        <p:sp>
          <p:nvSpPr>
            <p:cNvPr id="343" name="Google Shape;343;p19"/>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19"/>
          <p:cNvSpPr txBox="1"/>
          <p:nvPr/>
        </p:nvSpPr>
        <p:spPr>
          <a:xfrm>
            <a:off x="3110782" y="1486179"/>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SPEECH</a:t>
            </a:r>
            <a:endParaRPr/>
          </a:p>
        </p:txBody>
      </p:sp>
      <p:grpSp>
        <p:nvGrpSpPr>
          <p:cNvPr id="346" name="Google Shape;346;p19"/>
          <p:cNvGrpSpPr/>
          <p:nvPr/>
        </p:nvGrpSpPr>
        <p:grpSpPr>
          <a:xfrm>
            <a:off x="2537238" y="2740521"/>
            <a:ext cx="13235608" cy="6517779"/>
            <a:chOff x="0" y="-38100"/>
            <a:chExt cx="3485921" cy="1716617"/>
          </a:xfrm>
        </p:grpSpPr>
        <p:sp>
          <p:nvSpPr>
            <p:cNvPr id="347" name="Google Shape;347;p19"/>
            <p:cNvSpPr/>
            <p:nvPr/>
          </p:nvSpPr>
          <p:spPr>
            <a:xfrm>
              <a:off x="0" y="0"/>
              <a:ext cx="3485921" cy="1678517"/>
            </a:xfrm>
            <a:custGeom>
              <a:rect b="b" l="l" r="r" t="t"/>
              <a:pathLst>
                <a:path extrusionOk="0" h="1678517" w="3485921">
                  <a:moveTo>
                    <a:pt x="20473" y="0"/>
                  </a:moveTo>
                  <a:lnTo>
                    <a:pt x="3465449" y="0"/>
                  </a:lnTo>
                  <a:cubicBezTo>
                    <a:pt x="3476756" y="0"/>
                    <a:pt x="3485921" y="9166"/>
                    <a:pt x="3485921" y="20473"/>
                  </a:cubicBezTo>
                  <a:lnTo>
                    <a:pt x="3485921" y="1658044"/>
                  </a:lnTo>
                  <a:cubicBezTo>
                    <a:pt x="3485921" y="1669351"/>
                    <a:pt x="3476756" y="1678517"/>
                    <a:pt x="3465449" y="1678517"/>
                  </a:cubicBezTo>
                  <a:lnTo>
                    <a:pt x="20473" y="1678517"/>
                  </a:lnTo>
                  <a:cubicBezTo>
                    <a:pt x="9166" y="1678517"/>
                    <a:pt x="0" y="1669351"/>
                    <a:pt x="0" y="1658044"/>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txBox="1"/>
            <p:nvPr/>
          </p:nvSpPr>
          <p:spPr>
            <a:xfrm>
              <a:off x="0" y="-38100"/>
              <a:ext cx="3485921" cy="171661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19"/>
          <p:cNvSpPr txBox="1"/>
          <p:nvPr/>
        </p:nvSpPr>
        <p:spPr>
          <a:xfrm>
            <a:off x="2833334" y="3321155"/>
            <a:ext cx="12665500" cy="56134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1" i="0" lang="en-US" sz="3999" u="none" cap="none" strike="noStrike">
                <a:solidFill>
                  <a:srgbClr val="050A30"/>
                </a:solidFill>
                <a:latin typeface="Arial"/>
                <a:ea typeface="Arial"/>
                <a:cs typeface="Arial"/>
                <a:sym typeface="Arial"/>
              </a:rPr>
              <a:t>Cree aplicaciones habilitadas para voz con confianza y rapidez con  Speech SDK. Transcriba voz a texto con alta precisión, produzca voces de texto a voz con sonido natural, traduzca audio hablado y utilice el reconocimiento del hablante durante las conversaciones. Explora con una experiencia sin código y crea modelos personalizados adaptados a tu aplicación con  Speech Studio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353" name="Shape 353"/>
        <p:cNvGrpSpPr/>
        <p:nvPr/>
      </p:nvGrpSpPr>
      <p:grpSpPr>
        <a:xfrm>
          <a:off x="0" y="0"/>
          <a:ext cx="0" cy="0"/>
          <a:chOff x="0" y="0"/>
          <a:chExt cx="0" cy="0"/>
        </a:xfrm>
      </p:grpSpPr>
      <p:sp>
        <p:nvSpPr>
          <p:cNvPr id="354" name="Google Shape;354;p20"/>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sp>
        <p:nvSpPr>
          <p:cNvPr id="355" name="Google Shape;355;p20"/>
          <p:cNvSpPr/>
          <p:nvPr/>
        </p:nvSpPr>
        <p:spPr>
          <a:xfrm>
            <a:off x="3474602" y="3384994"/>
            <a:ext cx="11338796" cy="2736951"/>
          </a:xfrm>
          <a:custGeom>
            <a:rect b="b" l="l" r="r" t="t"/>
            <a:pathLst>
              <a:path extrusionOk="0" h="2736951" w="11338796">
                <a:moveTo>
                  <a:pt x="0" y="0"/>
                </a:moveTo>
                <a:lnTo>
                  <a:pt x="11338796" y="0"/>
                </a:lnTo>
                <a:lnTo>
                  <a:pt x="11338796" y="2736951"/>
                </a:lnTo>
                <a:lnTo>
                  <a:pt x="0" y="2736951"/>
                </a:lnTo>
                <a:lnTo>
                  <a:pt x="0" y="0"/>
                </a:lnTo>
                <a:close/>
              </a:path>
            </a:pathLst>
          </a:custGeom>
          <a:blipFill rotWithShape="1">
            <a:blip r:embed="rId4">
              <a:alphaModFix/>
            </a:blip>
            <a:stretch>
              <a:fillRect b="0" l="0" r="0" t="0"/>
            </a:stretch>
          </a:blipFill>
          <a:ln>
            <a:noFill/>
          </a:ln>
        </p:spPr>
      </p:sp>
      <p:sp>
        <p:nvSpPr>
          <p:cNvPr id="356" name="Google Shape;356;p20"/>
          <p:cNvSpPr/>
          <p:nvPr/>
        </p:nvSpPr>
        <p:spPr>
          <a:xfrm>
            <a:off x="3474602" y="6121945"/>
            <a:ext cx="11332567" cy="2756192"/>
          </a:xfrm>
          <a:custGeom>
            <a:rect b="b" l="l" r="r" t="t"/>
            <a:pathLst>
              <a:path extrusionOk="0" h="2756192" w="11332567">
                <a:moveTo>
                  <a:pt x="0" y="0"/>
                </a:moveTo>
                <a:lnTo>
                  <a:pt x="11332567" y="0"/>
                </a:lnTo>
                <a:lnTo>
                  <a:pt x="11332567" y="2756192"/>
                </a:lnTo>
                <a:lnTo>
                  <a:pt x="0" y="2756192"/>
                </a:lnTo>
                <a:lnTo>
                  <a:pt x="0" y="0"/>
                </a:lnTo>
                <a:close/>
              </a:path>
            </a:pathLst>
          </a:custGeom>
          <a:blipFill rotWithShape="1">
            <a:blip r:embed="rId5">
              <a:alphaModFix/>
            </a:blip>
            <a:stretch>
              <a:fillRect b="0" l="0" r="0" t="0"/>
            </a:stretch>
          </a:blipFill>
          <a:ln>
            <a:noFill/>
          </a:ln>
        </p:spPr>
      </p:sp>
      <p:sp>
        <p:nvSpPr>
          <p:cNvPr id="357" name="Google Shape;357;p20"/>
          <p:cNvSpPr txBox="1"/>
          <p:nvPr/>
        </p:nvSpPr>
        <p:spPr>
          <a:xfrm>
            <a:off x="3778002" y="1792757"/>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050A30"/>
                </a:solidFill>
                <a:latin typeface="Arial"/>
                <a:ea typeface="Arial"/>
                <a:cs typeface="Arial"/>
                <a:sym typeface="Arial"/>
              </a:rPr>
              <a:t>Caracteristicas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B6F9"/>
        </a:solidFill>
      </p:bgPr>
    </p:bg>
    <p:spTree>
      <p:nvGrpSpPr>
        <p:cNvPr id="361" name="Shape 361"/>
        <p:cNvGrpSpPr/>
        <p:nvPr/>
      </p:nvGrpSpPr>
      <p:grpSpPr>
        <a:xfrm>
          <a:off x="0" y="0"/>
          <a:ext cx="0" cy="0"/>
          <a:chOff x="0" y="0"/>
          <a:chExt cx="0" cy="0"/>
        </a:xfrm>
      </p:grpSpPr>
      <p:sp>
        <p:nvSpPr>
          <p:cNvPr id="362" name="Google Shape;362;p21"/>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363" name="Google Shape;363;p21"/>
          <p:cNvGrpSpPr/>
          <p:nvPr/>
        </p:nvGrpSpPr>
        <p:grpSpPr>
          <a:xfrm>
            <a:off x="1476891" y="2530937"/>
            <a:ext cx="7218918" cy="2874415"/>
            <a:chOff x="0" y="-47625"/>
            <a:chExt cx="1901279" cy="757048"/>
          </a:xfrm>
        </p:grpSpPr>
        <p:sp>
          <p:nvSpPr>
            <p:cNvPr id="364" name="Google Shape;364;p2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21"/>
          <p:cNvGrpSpPr/>
          <p:nvPr/>
        </p:nvGrpSpPr>
        <p:grpSpPr>
          <a:xfrm>
            <a:off x="9592191" y="2493522"/>
            <a:ext cx="7218918" cy="2874415"/>
            <a:chOff x="0" y="-47625"/>
            <a:chExt cx="1901279" cy="757048"/>
          </a:xfrm>
        </p:grpSpPr>
        <p:sp>
          <p:nvSpPr>
            <p:cNvPr id="367" name="Google Shape;367;p21"/>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21"/>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050A30"/>
                </a:solidFill>
                <a:latin typeface="Arial"/>
                <a:ea typeface="Arial"/>
                <a:cs typeface="Arial"/>
                <a:sym typeface="Arial"/>
              </a:rPr>
              <a:t>Casos de uso</a:t>
            </a:r>
            <a:endParaRPr/>
          </a:p>
        </p:txBody>
      </p:sp>
      <p:sp>
        <p:nvSpPr>
          <p:cNvPr id="370" name="Google Shape;370;p21"/>
          <p:cNvSpPr txBox="1"/>
          <p:nvPr/>
        </p:nvSpPr>
        <p:spPr>
          <a:xfrm>
            <a:off x="1533949" y="3037975"/>
            <a:ext cx="7104803" cy="266697"/>
          </a:xfrm>
          <a:prstGeom prst="rect">
            <a:avLst/>
          </a:prstGeom>
          <a:noFill/>
          <a:ln>
            <a:noFill/>
          </a:ln>
        </p:spPr>
        <p:txBody>
          <a:bodyPr anchorCtr="0" anchor="t" bIns="0" lIns="0" spcFirstLastPara="1" rIns="0" wrap="square" tIns="0">
            <a:spAutoFit/>
          </a:bodyPr>
          <a:lstStyle/>
          <a:p>
            <a:pPr indent="0" lvl="0" marL="0" marR="0" rtl="0" algn="ctr">
              <a:lnSpc>
                <a:spcPct val="92016"/>
              </a:lnSpc>
              <a:spcBef>
                <a:spcPts val="0"/>
              </a:spcBef>
              <a:spcAft>
                <a:spcPts val="0"/>
              </a:spcAft>
              <a:buNone/>
            </a:pPr>
            <a:r>
              <a:rPr b="1" i="0" lang="en-US" sz="2142" u="none" cap="none" strike="noStrike">
                <a:solidFill>
                  <a:srgbClr val="000000"/>
                </a:solidFill>
                <a:latin typeface="Arial"/>
                <a:ea typeface="Arial"/>
                <a:cs typeface="Arial"/>
                <a:sym typeface="Arial"/>
              </a:rPr>
              <a:t>CONVERTIR VOZ EN TEXTO</a:t>
            </a:r>
            <a:endParaRPr/>
          </a:p>
        </p:txBody>
      </p:sp>
      <p:sp>
        <p:nvSpPr>
          <p:cNvPr id="371" name="Google Shape;371;p21"/>
          <p:cNvSpPr txBox="1"/>
          <p:nvPr/>
        </p:nvSpPr>
        <p:spPr>
          <a:xfrm>
            <a:off x="10041900" y="2960700"/>
            <a:ext cx="6500794" cy="503296"/>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1" i="0" lang="en-US" sz="2099" u="none" cap="none" strike="noStrike">
                <a:solidFill>
                  <a:srgbClr val="000000"/>
                </a:solidFill>
                <a:latin typeface="Arial"/>
                <a:ea typeface="Arial"/>
                <a:cs typeface="Arial"/>
                <a:sym typeface="Arial"/>
              </a:rPr>
              <a:t>DALE VOZ A TU APLICACIÓN</a:t>
            </a:r>
            <a:endParaRPr/>
          </a:p>
          <a:p>
            <a:pPr indent="0" lvl="0" marL="0" marR="0" rtl="0" algn="ctr">
              <a:lnSpc>
                <a:spcPct val="91996"/>
              </a:lnSpc>
              <a:spcBef>
                <a:spcPts val="0"/>
              </a:spcBef>
              <a:spcAft>
                <a:spcPts val="0"/>
              </a:spcAft>
              <a:buNone/>
            </a:pPr>
            <a:r>
              <a:t/>
            </a:r>
            <a:endParaRPr b="1" i="0" sz="2099" u="none" cap="none" strike="noStrike">
              <a:solidFill>
                <a:srgbClr val="000000"/>
              </a:solidFill>
              <a:latin typeface="Arial"/>
              <a:ea typeface="Arial"/>
              <a:cs typeface="Arial"/>
              <a:sym typeface="Arial"/>
            </a:endParaRPr>
          </a:p>
        </p:txBody>
      </p:sp>
      <p:sp>
        <p:nvSpPr>
          <p:cNvPr id="372" name="Google Shape;372;p21"/>
          <p:cNvSpPr txBox="1"/>
          <p:nvPr/>
        </p:nvSpPr>
        <p:spPr>
          <a:xfrm>
            <a:off x="1823299" y="3416371"/>
            <a:ext cx="6530766"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Transcribe audio de forma rápida y precisa en más de 100 idiomas y variantes. Obtenga información sobre los clientes con la transcripción del centro de llamadas, mejore las experiencias con asistentes habilitados por voz, capture debates clave en reuniones y más.</a:t>
            </a:r>
            <a:endParaRPr/>
          </a:p>
        </p:txBody>
      </p:sp>
      <p:sp>
        <p:nvSpPr>
          <p:cNvPr id="373" name="Google Shape;373;p21"/>
          <p:cNvSpPr txBox="1"/>
          <p:nvPr/>
        </p:nvSpPr>
        <p:spPr>
          <a:xfrm>
            <a:off x="10041900" y="3293976"/>
            <a:ext cx="6500794"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Utilice texto a voz para crear aplicaciones y servicios que hablen en forma conversacional. Cree contenido de audio con sonido natural, mejore la accesibilidad con la funcionalidad de lectura en voz alta y cree asistentes de voz personalizados.</a:t>
            </a:r>
            <a:endParaRPr/>
          </a:p>
        </p:txBody>
      </p:sp>
      <p:grpSp>
        <p:nvGrpSpPr>
          <p:cNvPr id="374" name="Google Shape;374;p21"/>
          <p:cNvGrpSpPr/>
          <p:nvPr/>
        </p:nvGrpSpPr>
        <p:grpSpPr>
          <a:xfrm>
            <a:off x="1438595" y="5529326"/>
            <a:ext cx="7218918" cy="3459460"/>
            <a:chOff x="0" y="-47625"/>
            <a:chExt cx="1901279" cy="911134"/>
          </a:xfrm>
        </p:grpSpPr>
        <p:sp>
          <p:nvSpPr>
            <p:cNvPr id="375" name="Google Shape;375;p21"/>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21"/>
          <p:cNvSpPr txBox="1"/>
          <p:nvPr/>
        </p:nvSpPr>
        <p:spPr>
          <a:xfrm>
            <a:off x="1717666" y="6043527"/>
            <a:ext cx="6742032" cy="26659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00000"/>
                </a:solidFill>
                <a:latin typeface="Arial"/>
                <a:ea typeface="Arial"/>
                <a:cs typeface="Arial"/>
                <a:sym typeface="Arial"/>
              </a:rPr>
              <a:t>TRADUCIR VOZ EN TIEMPO REAL</a:t>
            </a:r>
            <a:endParaRPr/>
          </a:p>
        </p:txBody>
      </p:sp>
      <p:sp>
        <p:nvSpPr>
          <p:cNvPr id="378" name="Google Shape;378;p21"/>
          <p:cNvSpPr txBox="1"/>
          <p:nvPr/>
        </p:nvSpPr>
        <p:spPr>
          <a:xfrm>
            <a:off x="1677038" y="6424425"/>
            <a:ext cx="6742032"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Traduzca audio de más de 30 idiomas y personalice las traducciones para los términos específicos de su organización, todo en su lenguaje de programación preferido.</a:t>
            </a:r>
            <a:endParaRPr/>
          </a:p>
        </p:txBody>
      </p:sp>
      <p:grpSp>
        <p:nvGrpSpPr>
          <p:cNvPr id="379" name="Google Shape;379;p21"/>
          <p:cNvGrpSpPr/>
          <p:nvPr/>
        </p:nvGrpSpPr>
        <p:grpSpPr>
          <a:xfrm>
            <a:off x="9592191" y="5529326"/>
            <a:ext cx="7218918" cy="3459460"/>
            <a:chOff x="0" y="-47625"/>
            <a:chExt cx="1901279" cy="911134"/>
          </a:xfrm>
        </p:grpSpPr>
        <p:sp>
          <p:nvSpPr>
            <p:cNvPr id="380" name="Google Shape;380;p21"/>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1"/>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2" name="Google Shape;382;p21"/>
          <p:cNvSpPr txBox="1"/>
          <p:nvPr/>
        </p:nvSpPr>
        <p:spPr>
          <a:xfrm>
            <a:off x="9871262" y="6043527"/>
            <a:ext cx="6742032" cy="26659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00000"/>
                </a:solidFill>
                <a:latin typeface="Arial"/>
                <a:ea typeface="Arial"/>
                <a:cs typeface="Arial"/>
                <a:sym typeface="Arial"/>
              </a:rPr>
              <a:t>VERIFICAR Y RECONOCER HABLANTES</a:t>
            </a:r>
            <a:endParaRPr/>
          </a:p>
        </p:txBody>
      </p:sp>
      <p:sp>
        <p:nvSpPr>
          <p:cNvPr id="383" name="Google Shape;383;p21"/>
          <p:cNvSpPr txBox="1"/>
          <p:nvPr/>
        </p:nvSpPr>
        <p:spPr>
          <a:xfrm>
            <a:off x="9830634" y="6424425"/>
            <a:ext cx="6742032" cy="105410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00000"/>
                </a:solidFill>
                <a:latin typeface="Arial"/>
                <a:ea typeface="Arial"/>
                <a:cs typeface="Arial"/>
                <a:sym typeface="Arial"/>
              </a:rPr>
              <a:t>Confirme la identidad de una persona o reconozca quién está hablando en una reunión agregando verificación e identificación del orador a su aplicación.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9D"/>
        </a:solidFill>
      </p:bgPr>
    </p:bg>
    <p:spTree>
      <p:nvGrpSpPr>
        <p:cNvPr id="387" name="Shape 387"/>
        <p:cNvGrpSpPr/>
        <p:nvPr/>
      </p:nvGrpSpPr>
      <p:grpSpPr>
        <a:xfrm>
          <a:off x="0" y="0"/>
          <a:ext cx="0" cy="0"/>
          <a:chOff x="0" y="0"/>
          <a:chExt cx="0" cy="0"/>
        </a:xfrm>
      </p:grpSpPr>
      <p:sp>
        <p:nvSpPr>
          <p:cNvPr id="388" name="Google Shape;388;p22"/>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389" name="Google Shape;389;p22"/>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390" name="Google Shape;390;p22"/>
          <p:cNvSpPr/>
          <p:nvPr/>
        </p:nvSpPr>
        <p:spPr>
          <a:xfrm>
            <a:off x="2878692" y="2270269"/>
            <a:ext cx="12530617" cy="5746463"/>
          </a:xfrm>
          <a:custGeom>
            <a:rect b="b" l="l" r="r" t="t"/>
            <a:pathLst>
              <a:path extrusionOk="0" h="5746463" w="12530617">
                <a:moveTo>
                  <a:pt x="0" y="0"/>
                </a:moveTo>
                <a:lnTo>
                  <a:pt x="12530616" y="0"/>
                </a:lnTo>
                <a:lnTo>
                  <a:pt x="12530616" y="5746462"/>
                </a:lnTo>
                <a:lnTo>
                  <a:pt x="0" y="574646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9D"/>
        </a:solidFill>
      </p:bgPr>
    </p:bg>
    <p:spTree>
      <p:nvGrpSpPr>
        <p:cNvPr id="394" name="Shape 394"/>
        <p:cNvGrpSpPr/>
        <p:nvPr/>
      </p:nvGrpSpPr>
      <p:grpSpPr>
        <a:xfrm>
          <a:off x="0" y="0"/>
          <a:ext cx="0" cy="0"/>
          <a:chOff x="0" y="0"/>
          <a:chExt cx="0" cy="0"/>
        </a:xfrm>
      </p:grpSpPr>
      <p:sp>
        <p:nvSpPr>
          <p:cNvPr id="395" name="Google Shape;395;p23"/>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396" name="Google Shape;396;p23"/>
          <p:cNvGrpSpPr/>
          <p:nvPr/>
        </p:nvGrpSpPr>
        <p:grpSpPr>
          <a:xfrm>
            <a:off x="15248823" y="-2338212"/>
            <a:ext cx="4378481" cy="4378481"/>
            <a:chOff x="0" y="0"/>
            <a:chExt cx="812800" cy="812800"/>
          </a:xfrm>
        </p:grpSpPr>
        <p:sp>
          <p:nvSpPr>
            <p:cNvPr id="397" name="Google Shape;397;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9" name="Google Shape;399;p23"/>
          <p:cNvGrpSpPr/>
          <p:nvPr/>
        </p:nvGrpSpPr>
        <p:grpSpPr>
          <a:xfrm>
            <a:off x="2537238" y="754029"/>
            <a:ext cx="13235608" cy="1830814"/>
            <a:chOff x="0" y="-38100"/>
            <a:chExt cx="3485921" cy="482190"/>
          </a:xfrm>
        </p:grpSpPr>
        <p:sp>
          <p:nvSpPr>
            <p:cNvPr id="400" name="Google Shape;400;p23"/>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3"/>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2" name="Google Shape;402;p23"/>
          <p:cNvSpPr txBox="1"/>
          <p:nvPr/>
        </p:nvSpPr>
        <p:spPr>
          <a:xfrm>
            <a:off x="3110782" y="1486179"/>
            <a:ext cx="12388052"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LANGUAGE</a:t>
            </a:r>
            <a:endParaRPr/>
          </a:p>
        </p:txBody>
      </p:sp>
      <p:grpSp>
        <p:nvGrpSpPr>
          <p:cNvPr id="403" name="Google Shape;403;p23"/>
          <p:cNvGrpSpPr/>
          <p:nvPr/>
        </p:nvGrpSpPr>
        <p:grpSpPr>
          <a:xfrm>
            <a:off x="2537238" y="2740521"/>
            <a:ext cx="13235608" cy="6517779"/>
            <a:chOff x="0" y="-38100"/>
            <a:chExt cx="3485921" cy="1716617"/>
          </a:xfrm>
        </p:grpSpPr>
        <p:sp>
          <p:nvSpPr>
            <p:cNvPr id="404" name="Google Shape;404;p23"/>
            <p:cNvSpPr/>
            <p:nvPr/>
          </p:nvSpPr>
          <p:spPr>
            <a:xfrm>
              <a:off x="0" y="0"/>
              <a:ext cx="3485921" cy="1678517"/>
            </a:xfrm>
            <a:custGeom>
              <a:rect b="b" l="l" r="r" t="t"/>
              <a:pathLst>
                <a:path extrusionOk="0" h="1678517" w="3485921">
                  <a:moveTo>
                    <a:pt x="20473" y="0"/>
                  </a:moveTo>
                  <a:lnTo>
                    <a:pt x="3465449" y="0"/>
                  </a:lnTo>
                  <a:cubicBezTo>
                    <a:pt x="3476756" y="0"/>
                    <a:pt x="3485921" y="9166"/>
                    <a:pt x="3485921" y="20473"/>
                  </a:cubicBezTo>
                  <a:lnTo>
                    <a:pt x="3485921" y="1658044"/>
                  </a:lnTo>
                  <a:cubicBezTo>
                    <a:pt x="3485921" y="1669351"/>
                    <a:pt x="3476756" y="1678517"/>
                    <a:pt x="3465449" y="1678517"/>
                  </a:cubicBezTo>
                  <a:lnTo>
                    <a:pt x="20473" y="1678517"/>
                  </a:lnTo>
                  <a:cubicBezTo>
                    <a:pt x="9166" y="1678517"/>
                    <a:pt x="0" y="1669351"/>
                    <a:pt x="0" y="1658044"/>
                  </a:cubicBezTo>
                  <a:lnTo>
                    <a:pt x="0" y="20473"/>
                  </a:lnTo>
                  <a:cubicBezTo>
                    <a:pt x="0" y="9166"/>
                    <a:pt x="9166" y="0"/>
                    <a:pt x="20473"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txBox="1"/>
            <p:nvPr/>
          </p:nvSpPr>
          <p:spPr>
            <a:xfrm>
              <a:off x="0" y="-38100"/>
              <a:ext cx="3485921" cy="171661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6" name="Google Shape;406;p23"/>
          <p:cNvSpPr txBox="1"/>
          <p:nvPr/>
        </p:nvSpPr>
        <p:spPr>
          <a:xfrm>
            <a:off x="2833334" y="3330680"/>
            <a:ext cx="12665500" cy="457327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700" u="none" cap="none" strike="noStrike">
                <a:solidFill>
                  <a:srgbClr val="050A30"/>
                </a:solidFill>
                <a:latin typeface="Arial"/>
                <a:ea typeface="Arial"/>
                <a:cs typeface="Arial"/>
                <a:sym typeface="Arial"/>
              </a:rPr>
              <a:t>Azure AI Language es un servicio administrado para desarrollar aplicaciones de procesamiento de lenguaje natural. Identifique términos y frases clave, analice opiniones, resuma texto y cree interfaces conversacionales. Utilice Language para anotar, entrenar, evaluar e implementar modelos de IA personalizables con una mínima experiencia en aprendizaje automático.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9D"/>
        </a:solidFill>
      </p:bgPr>
    </p:bg>
    <p:spTree>
      <p:nvGrpSpPr>
        <p:cNvPr id="410" name="Shape 410"/>
        <p:cNvGrpSpPr/>
        <p:nvPr/>
      </p:nvGrpSpPr>
      <p:grpSpPr>
        <a:xfrm>
          <a:off x="0" y="0"/>
          <a:ext cx="0" cy="0"/>
          <a:chOff x="0" y="0"/>
          <a:chExt cx="0" cy="0"/>
        </a:xfrm>
      </p:grpSpPr>
      <p:sp>
        <p:nvSpPr>
          <p:cNvPr id="411" name="Google Shape;411;p24"/>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sp>
        <p:nvSpPr>
          <p:cNvPr id="412" name="Google Shape;412;p24"/>
          <p:cNvSpPr/>
          <p:nvPr/>
        </p:nvSpPr>
        <p:spPr>
          <a:xfrm>
            <a:off x="3462198" y="2312115"/>
            <a:ext cx="11363605" cy="3464514"/>
          </a:xfrm>
          <a:custGeom>
            <a:rect b="b" l="l" r="r" t="t"/>
            <a:pathLst>
              <a:path extrusionOk="0" h="3464514" w="11363605">
                <a:moveTo>
                  <a:pt x="0" y="0"/>
                </a:moveTo>
                <a:lnTo>
                  <a:pt x="11363604" y="0"/>
                </a:lnTo>
                <a:lnTo>
                  <a:pt x="11363604" y="3464514"/>
                </a:lnTo>
                <a:lnTo>
                  <a:pt x="0" y="3464514"/>
                </a:lnTo>
                <a:lnTo>
                  <a:pt x="0" y="0"/>
                </a:lnTo>
                <a:close/>
              </a:path>
            </a:pathLst>
          </a:custGeom>
          <a:blipFill rotWithShape="1">
            <a:blip r:embed="rId4">
              <a:alphaModFix/>
            </a:blip>
            <a:stretch>
              <a:fillRect b="0" l="0" r="0" t="0"/>
            </a:stretch>
          </a:blipFill>
          <a:ln>
            <a:noFill/>
          </a:ln>
        </p:spPr>
      </p:sp>
      <p:sp>
        <p:nvSpPr>
          <p:cNvPr id="413" name="Google Shape;413;p24"/>
          <p:cNvSpPr/>
          <p:nvPr/>
        </p:nvSpPr>
        <p:spPr>
          <a:xfrm>
            <a:off x="3462198" y="5776629"/>
            <a:ext cx="11360513" cy="3481671"/>
          </a:xfrm>
          <a:custGeom>
            <a:rect b="b" l="l" r="r" t="t"/>
            <a:pathLst>
              <a:path extrusionOk="0" h="3481671" w="11360513">
                <a:moveTo>
                  <a:pt x="0" y="0"/>
                </a:moveTo>
                <a:lnTo>
                  <a:pt x="11360513" y="0"/>
                </a:lnTo>
                <a:lnTo>
                  <a:pt x="11360513" y="3481671"/>
                </a:lnTo>
                <a:lnTo>
                  <a:pt x="0" y="3481671"/>
                </a:lnTo>
                <a:lnTo>
                  <a:pt x="0" y="0"/>
                </a:lnTo>
                <a:close/>
              </a:path>
            </a:pathLst>
          </a:custGeom>
          <a:blipFill rotWithShape="1">
            <a:blip r:embed="rId5">
              <a:alphaModFix/>
            </a:blip>
            <a:stretch>
              <a:fillRect b="0" l="0" r="0" t="0"/>
            </a:stretch>
          </a:blipFill>
          <a:ln>
            <a:noFill/>
          </a:ln>
        </p:spPr>
      </p:sp>
      <p:sp>
        <p:nvSpPr>
          <p:cNvPr id="414" name="Google Shape;414;p24"/>
          <p:cNvSpPr txBox="1"/>
          <p:nvPr/>
        </p:nvSpPr>
        <p:spPr>
          <a:xfrm>
            <a:off x="3781116" y="1238250"/>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Caracteristicas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9D"/>
        </a:solidFill>
      </p:bgPr>
    </p:bg>
    <p:spTree>
      <p:nvGrpSpPr>
        <p:cNvPr id="418" name="Shape 418"/>
        <p:cNvGrpSpPr/>
        <p:nvPr/>
      </p:nvGrpSpPr>
      <p:grpSpPr>
        <a:xfrm>
          <a:off x="0" y="0"/>
          <a:ext cx="0" cy="0"/>
          <a:chOff x="0" y="0"/>
          <a:chExt cx="0" cy="0"/>
        </a:xfrm>
      </p:grpSpPr>
      <p:sp>
        <p:nvSpPr>
          <p:cNvPr id="419" name="Google Shape;419;p25"/>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420" name="Google Shape;420;p25"/>
          <p:cNvGrpSpPr/>
          <p:nvPr/>
        </p:nvGrpSpPr>
        <p:grpSpPr>
          <a:xfrm>
            <a:off x="1476891" y="2530937"/>
            <a:ext cx="7218918" cy="2874415"/>
            <a:chOff x="0" y="-47625"/>
            <a:chExt cx="1901279" cy="757048"/>
          </a:xfrm>
        </p:grpSpPr>
        <p:sp>
          <p:nvSpPr>
            <p:cNvPr id="421" name="Google Shape;421;p25"/>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5"/>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3" name="Google Shape;423;p25"/>
          <p:cNvGrpSpPr/>
          <p:nvPr/>
        </p:nvGrpSpPr>
        <p:grpSpPr>
          <a:xfrm>
            <a:off x="9592191" y="2493522"/>
            <a:ext cx="7218918" cy="2874415"/>
            <a:chOff x="0" y="-47625"/>
            <a:chExt cx="1901279" cy="757048"/>
          </a:xfrm>
        </p:grpSpPr>
        <p:sp>
          <p:nvSpPr>
            <p:cNvPr id="424" name="Google Shape;424;p25"/>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5"/>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6" name="Google Shape;426;p25"/>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Casos de uso</a:t>
            </a:r>
            <a:endParaRPr/>
          </a:p>
        </p:txBody>
      </p:sp>
      <p:sp>
        <p:nvSpPr>
          <p:cNvPr id="427" name="Google Shape;427;p25"/>
          <p:cNvSpPr txBox="1"/>
          <p:nvPr/>
        </p:nvSpPr>
        <p:spPr>
          <a:xfrm>
            <a:off x="1533949" y="3037975"/>
            <a:ext cx="7104803" cy="514347"/>
          </a:xfrm>
          <a:prstGeom prst="rect">
            <a:avLst/>
          </a:prstGeom>
          <a:noFill/>
          <a:ln>
            <a:noFill/>
          </a:ln>
        </p:spPr>
        <p:txBody>
          <a:bodyPr anchorCtr="0" anchor="t" bIns="0" lIns="0" spcFirstLastPara="1" rIns="0" wrap="square" tIns="0">
            <a:spAutoFit/>
          </a:bodyPr>
          <a:lstStyle/>
          <a:p>
            <a:pPr indent="0" lvl="0" marL="0" marR="0" rtl="0" algn="ctr">
              <a:lnSpc>
                <a:spcPct val="92016"/>
              </a:lnSpc>
              <a:spcBef>
                <a:spcPts val="0"/>
              </a:spcBef>
              <a:spcAft>
                <a:spcPts val="0"/>
              </a:spcAft>
              <a:buNone/>
            </a:pPr>
            <a:r>
              <a:rPr b="1" i="0" lang="en-US" sz="2142" u="none" cap="none" strike="noStrike">
                <a:solidFill>
                  <a:srgbClr val="050A30"/>
                </a:solidFill>
                <a:latin typeface="Arial"/>
                <a:ea typeface="Arial"/>
                <a:cs typeface="Arial"/>
                <a:sym typeface="Arial"/>
              </a:rPr>
              <a:t>Personalice modelos multilingües para adaptarlos a su escenario</a:t>
            </a:r>
            <a:endParaRPr/>
          </a:p>
        </p:txBody>
      </p:sp>
      <p:sp>
        <p:nvSpPr>
          <p:cNvPr id="428" name="Google Shape;428;p25"/>
          <p:cNvSpPr txBox="1"/>
          <p:nvPr/>
        </p:nvSpPr>
        <p:spPr>
          <a:xfrm>
            <a:off x="10041900" y="2960700"/>
            <a:ext cx="6500794" cy="503296"/>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1" i="0" lang="en-US" sz="2099" u="none" cap="none" strike="noStrike">
                <a:solidFill>
                  <a:srgbClr val="050A30"/>
                </a:solidFill>
                <a:latin typeface="Arial"/>
                <a:ea typeface="Arial"/>
                <a:cs typeface="Arial"/>
                <a:sym typeface="Arial"/>
              </a:rPr>
              <a:t>Etiquetar datos al instante con el servicio Azure OpenAI</a:t>
            </a:r>
            <a:endParaRPr/>
          </a:p>
        </p:txBody>
      </p:sp>
      <p:sp>
        <p:nvSpPr>
          <p:cNvPr id="429" name="Google Shape;429;p25"/>
          <p:cNvSpPr txBox="1"/>
          <p:nvPr/>
        </p:nvSpPr>
        <p:spPr>
          <a:xfrm>
            <a:off x="1782671" y="3532101"/>
            <a:ext cx="6677027"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Proporcione algunos ejemplos etiquetados para entrenar su modelo de aprendizaje automático para su caso de uso específico. Los modelos multilingües personalizados se pueden entrenar en un idioma y usarse para varios otros idiomas.</a:t>
            </a:r>
            <a:endParaRPr/>
          </a:p>
        </p:txBody>
      </p:sp>
      <p:sp>
        <p:nvSpPr>
          <p:cNvPr id="430" name="Google Shape;430;p25"/>
          <p:cNvSpPr txBox="1"/>
          <p:nvPr/>
        </p:nvSpPr>
        <p:spPr>
          <a:xfrm>
            <a:off x="9951253" y="3507694"/>
            <a:ext cx="6500794" cy="105410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050A30"/>
                </a:solidFill>
                <a:latin typeface="Arial"/>
                <a:ea typeface="Arial"/>
                <a:cs typeface="Arial"/>
                <a:sym typeface="Arial"/>
              </a:rPr>
              <a:t>Acceda a modelos de lenguaje avanzados con tecnología GPT a través de Language Studio para escanear y sugerir etiquetas rápidamente para su contenido.</a:t>
            </a:r>
            <a:endParaRPr/>
          </a:p>
        </p:txBody>
      </p:sp>
      <p:grpSp>
        <p:nvGrpSpPr>
          <p:cNvPr id="431" name="Google Shape;431;p25"/>
          <p:cNvGrpSpPr/>
          <p:nvPr/>
        </p:nvGrpSpPr>
        <p:grpSpPr>
          <a:xfrm>
            <a:off x="1438595" y="5529326"/>
            <a:ext cx="7218918" cy="3459460"/>
            <a:chOff x="0" y="-47625"/>
            <a:chExt cx="1901279" cy="911134"/>
          </a:xfrm>
        </p:grpSpPr>
        <p:sp>
          <p:nvSpPr>
            <p:cNvPr id="432" name="Google Shape;432;p25"/>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5"/>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4" name="Google Shape;434;p25"/>
          <p:cNvSpPr txBox="1"/>
          <p:nvPr/>
        </p:nvSpPr>
        <p:spPr>
          <a:xfrm>
            <a:off x="1717666" y="6043527"/>
            <a:ext cx="6742032" cy="514248"/>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b="1" i="0" lang="en-US" sz="2139" u="none" cap="none" strike="noStrike">
                <a:solidFill>
                  <a:srgbClr val="050A30"/>
                </a:solidFill>
                <a:latin typeface="Arial"/>
                <a:ea typeface="Arial"/>
                <a:cs typeface="Arial"/>
                <a:sym typeface="Arial"/>
              </a:rPr>
              <a:t>Póngase en marcha rápidamente con capacidades prediseñadas</a:t>
            </a:r>
            <a:endParaRPr/>
          </a:p>
        </p:txBody>
      </p:sp>
      <p:sp>
        <p:nvSpPr>
          <p:cNvPr id="435" name="Google Shape;435;p25"/>
          <p:cNvSpPr txBox="1"/>
          <p:nvPr/>
        </p:nvSpPr>
        <p:spPr>
          <a:xfrm>
            <a:off x="1715334" y="6605400"/>
            <a:ext cx="6742032" cy="175895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050A30"/>
                </a:solidFill>
                <a:latin typeface="Arial"/>
                <a:ea typeface="Arial"/>
                <a:cs typeface="Arial"/>
                <a:sym typeface="Arial"/>
              </a:rPr>
              <a:t>Desde categorías de entidades predefinidas para cada negocio hasta análisis de texto para dominios de atención médica, las capacidades listas para usar lo ayudan a comenzar rápidamente con la capacidad de personalizar y optimizar aún más cuando sea necesario.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439" name="Shape 439"/>
        <p:cNvGrpSpPr/>
        <p:nvPr/>
      </p:nvGrpSpPr>
      <p:grpSpPr>
        <a:xfrm>
          <a:off x="0" y="0"/>
          <a:ext cx="0" cy="0"/>
          <a:chOff x="0" y="0"/>
          <a:chExt cx="0" cy="0"/>
        </a:xfrm>
      </p:grpSpPr>
      <p:sp>
        <p:nvSpPr>
          <p:cNvPr id="440" name="Google Shape;440;p26"/>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441" name="Google Shape;441;p26"/>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sp>
        <p:nvSpPr>
          <p:cNvPr id="442" name="Google Shape;442;p26"/>
          <p:cNvSpPr/>
          <p:nvPr/>
        </p:nvSpPr>
        <p:spPr>
          <a:xfrm>
            <a:off x="2878692" y="2005951"/>
            <a:ext cx="12530617" cy="6275098"/>
          </a:xfrm>
          <a:custGeom>
            <a:rect b="b" l="l" r="r" t="t"/>
            <a:pathLst>
              <a:path extrusionOk="0" h="6275098" w="12530617">
                <a:moveTo>
                  <a:pt x="0" y="0"/>
                </a:moveTo>
                <a:lnTo>
                  <a:pt x="12530616" y="0"/>
                </a:lnTo>
                <a:lnTo>
                  <a:pt x="12530616" y="6275098"/>
                </a:lnTo>
                <a:lnTo>
                  <a:pt x="0" y="6275098"/>
                </a:lnTo>
                <a:lnTo>
                  <a:pt x="0" y="0"/>
                </a:lnTo>
                <a:close/>
              </a:path>
            </a:pathLst>
          </a:custGeom>
          <a:blipFill rotWithShape="1">
            <a:blip r:embed="rId5">
              <a:alphaModFix/>
            </a:blip>
            <a:stretch>
              <a:fillRect b="0" l="0" r="0" t="0"/>
            </a:stretch>
          </a:blipFill>
          <a:ln>
            <a:noFill/>
          </a:ln>
        </p:spPr>
      </p:sp>
      <p:sp>
        <p:nvSpPr>
          <p:cNvPr id="443" name="Google Shape;443;p26"/>
          <p:cNvSpPr txBox="1"/>
          <p:nvPr/>
        </p:nvSpPr>
        <p:spPr>
          <a:xfrm>
            <a:off x="5048054" y="8338046"/>
            <a:ext cx="8842623"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568AB9"/>
                </a:solidFill>
                <a:latin typeface="Arial"/>
                <a:ea typeface="Arial"/>
                <a:cs typeface="Arial"/>
                <a:sym typeface="Arial"/>
              </a:rPr>
              <a:t>AI DOCUMENT INTELLIGENCE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447" name="Shape 447"/>
        <p:cNvGrpSpPr/>
        <p:nvPr/>
      </p:nvGrpSpPr>
      <p:grpSpPr>
        <a:xfrm>
          <a:off x="0" y="0"/>
          <a:ext cx="0" cy="0"/>
          <a:chOff x="0" y="0"/>
          <a:chExt cx="0" cy="0"/>
        </a:xfrm>
      </p:grpSpPr>
      <p:sp>
        <p:nvSpPr>
          <p:cNvPr id="448" name="Google Shape;448;p27"/>
          <p:cNvSpPr/>
          <p:nvPr/>
        </p:nvSpPr>
        <p:spPr>
          <a:xfrm rot="5756879">
            <a:off x="-553033" y="771993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grpSp>
        <p:nvGrpSpPr>
          <p:cNvPr id="449" name="Google Shape;449;p27"/>
          <p:cNvGrpSpPr/>
          <p:nvPr/>
        </p:nvGrpSpPr>
        <p:grpSpPr>
          <a:xfrm>
            <a:off x="15248823" y="-2338212"/>
            <a:ext cx="4378481" cy="4378481"/>
            <a:chOff x="0" y="0"/>
            <a:chExt cx="812800" cy="812800"/>
          </a:xfrm>
        </p:grpSpPr>
        <p:sp>
          <p:nvSpPr>
            <p:cNvPr id="450" name="Google Shape;450;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0A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2" name="Google Shape;452;p27"/>
          <p:cNvGrpSpPr/>
          <p:nvPr/>
        </p:nvGrpSpPr>
        <p:grpSpPr>
          <a:xfrm>
            <a:off x="2537238" y="754029"/>
            <a:ext cx="13235608" cy="1830814"/>
            <a:chOff x="0" y="-38100"/>
            <a:chExt cx="3485921" cy="482190"/>
          </a:xfrm>
        </p:grpSpPr>
        <p:sp>
          <p:nvSpPr>
            <p:cNvPr id="453" name="Google Shape;453;p27"/>
            <p:cNvSpPr/>
            <p:nvPr/>
          </p:nvSpPr>
          <p:spPr>
            <a:xfrm>
              <a:off x="0" y="0"/>
              <a:ext cx="3485921" cy="444090"/>
            </a:xfrm>
            <a:custGeom>
              <a:rect b="b" l="l" r="r" t="t"/>
              <a:pathLst>
                <a:path extrusionOk="0" h="444090" w="3485921">
                  <a:moveTo>
                    <a:pt x="15208" y="0"/>
                  </a:moveTo>
                  <a:lnTo>
                    <a:pt x="3470713" y="0"/>
                  </a:lnTo>
                  <a:cubicBezTo>
                    <a:pt x="3474746" y="0"/>
                    <a:pt x="3478615" y="1602"/>
                    <a:pt x="3481467" y="4454"/>
                  </a:cubicBezTo>
                  <a:cubicBezTo>
                    <a:pt x="3484319" y="7306"/>
                    <a:pt x="3485921" y="11175"/>
                    <a:pt x="3485921" y="15208"/>
                  </a:cubicBezTo>
                  <a:lnTo>
                    <a:pt x="3485921" y="428881"/>
                  </a:lnTo>
                  <a:cubicBezTo>
                    <a:pt x="3485921" y="437281"/>
                    <a:pt x="3479112" y="444090"/>
                    <a:pt x="3470713" y="444090"/>
                  </a:cubicBezTo>
                  <a:lnTo>
                    <a:pt x="15208" y="444090"/>
                  </a:lnTo>
                  <a:cubicBezTo>
                    <a:pt x="11175" y="444090"/>
                    <a:pt x="7306" y="442487"/>
                    <a:pt x="4454" y="439635"/>
                  </a:cubicBezTo>
                  <a:cubicBezTo>
                    <a:pt x="1602" y="436783"/>
                    <a:pt x="0" y="432915"/>
                    <a:pt x="0" y="428881"/>
                  </a:cubicBezTo>
                  <a:lnTo>
                    <a:pt x="0" y="15208"/>
                  </a:lnTo>
                  <a:cubicBezTo>
                    <a:pt x="0" y="11175"/>
                    <a:pt x="1602" y="7306"/>
                    <a:pt x="4454" y="4454"/>
                  </a:cubicBezTo>
                  <a:cubicBezTo>
                    <a:pt x="7306" y="1602"/>
                    <a:pt x="11175" y="0"/>
                    <a:pt x="15208" y="0"/>
                  </a:cubicBezTo>
                  <a:close/>
                </a:path>
              </a:pathLst>
            </a:custGeom>
            <a:solidFill>
              <a:srgbClr val="CAE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7"/>
            <p:cNvSpPr txBox="1"/>
            <p:nvPr/>
          </p:nvSpPr>
          <p:spPr>
            <a:xfrm>
              <a:off x="0" y="-38100"/>
              <a:ext cx="3485921" cy="48219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5" name="Google Shape;455;p27"/>
          <p:cNvSpPr txBox="1"/>
          <p:nvPr/>
        </p:nvSpPr>
        <p:spPr>
          <a:xfrm>
            <a:off x="2655747" y="1486179"/>
            <a:ext cx="12843087" cy="635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5000" u="none" cap="none" strike="noStrike">
                <a:solidFill>
                  <a:srgbClr val="050A30"/>
                </a:solidFill>
                <a:latin typeface="Arial"/>
                <a:ea typeface="Arial"/>
                <a:cs typeface="Arial"/>
                <a:sym typeface="Arial"/>
              </a:rPr>
              <a:t>AZURE AI DOCUMENT INTELLIGENCE</a:t>
            </a:r>
            <a:endParaRPr/>
          </a:p>
        </p:txBody>
      </p:sp>
      <p:grpSp>
        <p:nvGrpSpPr>
          <p:cNvPr id="456" name="Google Shape;456;p27"/>
          <p:cNvGrpSpPr/>
          <p:nvPr/>
        </p:nvGrpSpPr>
        <p:grpSpPr>
          <a:xfrm>
            <a:off x="2537238" y="2740521"/>
            <a:ext cx="13235608" cy="6517779"/>
            <a:chOff x="0" y="-38100"/>
            <a:chExt cx="3485921" cy="1716617"/>
          </a:xfrm>
        </p:grpSpPr>
        <p:sp>
          <p:nvSpPr>
            <p:cNvPr id="457" name="Google Shape;457;p27"/>
            <p:cNvSpPr/>
            <p:nvPr/>
          </p:nvSpPr>
          <p:spPr>
            <a:xfrm>
              <a:off x="0" y="0"/>
              <a:ext cx="3485921" cy="1678517"/>
            </a:xfrm>
            <a:custGeom>
              <a:rect b="b" l="l" r="r" t="t"/>
              <a:pathLst>
                <a:path extrusionOk="0" h="1678517" w="3485921">
                  <a:moveTo>
                    <a:pt x="20473" y="0"/>
                  </a:moveTo>
                  <a:lnTo>
                    <a:pt x="3465449" y="0"/>
                  </a:lnTo>
                  <a:cubicBezTo>
                    <a:pt x="3476756" y="0"/>
                    <a:pt x="3485921" y="9166"/>
                    <a:pt x="3485921" y="20473"/>
                  </a:cubicBezTo>
                  <a:lnTo>
                    <a:pt x="3485921" y="1658044"/>
                  </a:lnTo>
                  <a:cubicBezTo>
                    <a:pt x="3485921" y="1669351"/>
                    <a:pt x="3476756" y="1678517"/>
                    <a:pt x="3465449" y="1678517"/>
                  </a:cubicBezTo>
                  <a:lnTo>
                    <a:pt x="20473" y="1678517"/>
                  </a:lnTo>
                  <a:cubicBezTo>
                    <a:pt x="9166" y="1678517"/>
                    <a:pt x="0" y="1669351"/>
                    <a:pt x="0" y="1658044"/>
                  </a:cubicBezTo>
                  <a:lnTo>
                    <a:pt x="0" y="20473"/>
                  </a:lnTo>
                  <a:cubicBezTo>
                    <a:pt x="0" y="9166"/>
                    <a:pt x="9166" y="0"/>
                    <a:pt x="20473" y="0"/>
                  </a:cubicBezTo>
                  <a:close/>
                </a:path>
              </a:pathLst>
            </a:custGeom>
            <a:solidFill>
              <a:srgbClr val="CAE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7"/>
            <p:cNvSpPr txBox="1"/>
            <p:nvPr/>
          </p:nvSpPr>
          <p:spPr>
            <a:xfrm>
              <a:off x="0" y="-38100"/>
              <a:ext cx="3485921" cy="171661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9" name="Google Shape;459;p27"/>
          <p:cNvSpPr txBox="1"/>
          <p:nvPr/>
        </p:nvSpPr>
        <p:spPr>
          <a:xfrm>
            <a:off x="2833334" y="3330680"/>
            <a:ext cx="12665500" cy="59810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400" u="none" cap="none" strike="noStrike">
                <a:solidFill>
                  <a:srgbClr val="050A30"/>
                </a:solidFill>
                <a:latin typeface="Arial"/>
                <a:ea typeface="Arial"/>
                <a:cs typeface="Arial"/>
                <a:sym typeface="Arial"/>
              </a:rPr>
              <a:t>AI Document Intelligence es un servicio de inteligencia artificial que aplica aprendizaje automático avanzado para extraer texto, pares clave-valor, tablas y estructuras de documentos de forma automática y precisa. Convierta los documentos en datos utilizables y cambie su enfoque para actuar sobre la información en lugar de compilarla. Comience con modelos prediseñados o cree modelos personalizados adaptados a sus documentos tanto en las instalaciones como en la nube con  AI Document Intelligence Studio  o  SDK .</a:t>
            </a:r>
            <a:endParaRPr/>
          </a:p>
          <a:p>
            <a:pPr indent="0" lvl="0" marL="0" marR="0" rtl="0" algn="just">
              <a:lnSpc>
                <a:spcPct val="140000"/>
              </a:lnSpc>
              <a:spcBef>
                <a:spcPts val="0"/>
              </a:spcBef>
              <a:spcAft>
                <a:spcPts val="0"/>
              </a:spcAft>
              <a:buNone/>
            </a:pPr>
            <a:r>
              <a:t/>
            </a:r>
            <a:endParaRPr b="1" i="0" sz="3400" u="none" cap="none" strike="noStrike">
              <a:solidFill>
                <a:srgbClr val="050A3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463" name="Shape 463"/>
        <p:cNvGrpSpPr/>
        <p:nvPr/>
      </p:nvGrpSpPr>
      <p:grpSpPr>
        <a:xfrm>
          <a:off x="0" y="0"/>
          <a:ext cx="0" cy="0"/>
          <a:chOff x="0" y="0"/>
          <a:chExt cx="0" cy="0"/>
        </a:xfrm>
      </p:grpSpPr>
      <p:sp>
        <p:nvSpPr>
          <p:cNvPr id="464" name="Google Shape;464;p28"/>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sp>
        <p:nvSpPr>
          <p:cNvPr id="465" name="Google Shape;465;p28"/>
          <p:cNvSpPr/>
          <p:nvPr/>
        </p:nvSpPr>
        <p:spPr>
          <a:xfrm>
            <a:off x="3462198" y="2652644"/>
            <a:ext cx="11357419" cy="3123984"/>
          </a:xfrm>
          <a:custGeom>
            <a:rect b="b" l="l" r="r" t="t"/>
            <a:pathLst>
              <a:path extrusionOk="0" h="3123984" w="11357419">
                <a:moveTo>
                  <a:pt x="0" y="0"/>
                </a:moveTo>
                <a:lnTo>
                  <a:pt x="11357418" y="0"/>
                </a:lnTo>
                <a:lnTo>
                  <a:pt x="11357418" y="3123985"/>
                </a:lnTo>
                <a:lnTo>
                  <a:pt x="0" y="3123985"/>
                </a:lnTo>
                <a:lnTo>
                  <a:pt x="0" y="0"/>
                </a:lnTo>
                <a:close/>
              </a:path>
            </a:pathLst>
          </a:custGeom>
          <a:blipFill rotWithShape="1">
            <a:blip r:embed="rId4">
              <a:alphaModFix/>
            </a:blip>
            <a:stretch>
              <a:fillRect b="0" l="0" r="0" t="0"/>
            </a:stretch>
          </a:blipFill>
          <a:ln>
            <a:noFill/>
          </a:ln>
        </p:spPr>
      </p:sp>
      <p:sp>
        <p:nvSpPr>
          <p:cNvPr id="466" name="Google Shape;466;p28"/>
          <p:cNvSpPr/>
          <p:nvPr/>
        </p:nvSpPr>
        <p:spPr>
          <a:xfrm>
            <a:off x="3462198" y="5776629"/>
            <a:ext cx="11357419" cy="3178060"/>
          </a:xfrm>
          <a:custGeom>
            <a:rect b="b" l="l" r="r" t="t"/>
            <a:pathLst>
              <a:path extrusionOk="0" h="3178060" w="11357419">
                <a:moveTo>
                  <a:pt x="0" y="0"/>
                </a:moveTo>
                <a:lnTo>
                  <a:pt x="11357418" y="0"/>
                </a:lnTo>
                <a:lnTo>
                  <a:pt x="11357418" y="3178060"/>
                </a:lnTo>
                <a:lnTo>
                  <a:pt x="0" y="3178060"/>
                </a:lnTo>
                <a:lnTo>
                  <a:pt x="0" y="0"/>
                </a:lnTo>
                <a:close/>
              </a:path>
            </a:pathLst>
          </a:custGeom>
          <a:blipFill rotWithShape="1">
            <a:blip r:embed="rId5">
              <a:alphaModFix/>
            </a:blip>
            <a:stretch>
              <a:fillRect b="-373" l="0" r="0" t="-374"/>
            </a:stretch>
          </a:blipFill>
          <a:ln>
            <a:noFill/>
          </a:ln>
        </p:spPr>
      </p:sp>
      <p:sp>
        <p:nvSpPr>
          <p:cNvPr id="467" name="Google Shape;467;p28"/>
          <p:cNvSpPr txBox="1"/>
          <p:nvPr/>
        </p:nvSpPr>
        <p:spPr>
          <a:xfrm>
            <a:off x="3781116" y="1238250"/>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F4F6FC"/>
                </a:solidFill>
                <a:latin typeface="Arial"/>
                <a:ea typeface="Arial"/>
                <a:cs typeface="Arial"/>
                <a:sym typeface="Arial"/>
              </a:rPr>
              <a:t>Caracteristicas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471" name="Shape 471"/>
        <p:cNvGrpSpPr/>
        <p:nvPr/>
      </p:nvGrpSpPr>
      <p:grpSpPr>
        <a:xfrm>
          <a:off x="0" y="0"/>
          <a:ext cx="0" cy="0"/>
          <a:chOff x="0" y="0"/>
          <a:chExt cx="0" cy="0"/>
        </a:xfrm>
      </p:grpSpPr>
      <p:sp>
        <p:nvSpPr>
          <p:cNvPr id="472" name="Google Shape;472;p29"/>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3">
              <a:alphaModFix/>
            </a:blip>
            <a:stretch>
              <a:fillRect b="0" l="0" r="0" t="0"/>
            </a:stretch>
          </a:blipFill>
          <a:ln>
            <a:noFill/>
          </a:ln>
        </p:spPr>
      </p:sp>
      <p:grpSp>
        <p:nvGrpSpPr>
          <p:cNvPr id="473" name="Google Shape;473;p29"/>
          <p:cNvGrpSpPr/>
          <p:nvPr/>
        </p:nvGrpSpPr>
        <p:grpSpPr>
          <a:xfrm>
            <a:off x="1476891" y="2530937"/>
            <a:ext cx="7218918" cy="2874415"/>
            <a:chOff x="0" y="-47625"/>
            <a:chExt cx="1901279" cy="757048"/>
          </a:xfrm>
        </p:grpSpPr>
        <p:sp>
          <p:nvSpPr>
            <p:cNvPr id="474" name="Google Shape;474;p29"/>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1222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9"/>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6" name="Google Shape;476;p29"/>
          <p:cNvGrpSpPr/>
          <p:nvPr/>
        </p:nvGrpSpPr>
        <p:grpSpPr>
          <a:xfrm>
            <a:off x="9592191" y="2493522"/>
            <a:ext cx="7218918" cy="2874415"/>
            <a:chOff x="0" y="-47625"/>
            <a:chExt cx="1901279" cy="757048"/>
          </a:xfrm>
        </p:grpSpPr>
        <p:sp>
          <p:nvSpPr>
            <p:cNvPr id="477" name="Google Shape;477;p29"/>
            <p:cNvSpPr/>
            <p:nvPr/>
          </p:nvSpPr>
          <p:spPr>
            <a:xfrm>
              <a:off x="0" y="0"/>
              <a:ext cx="1901279" cy="709423"/>
            </a:xfrm>
            <a:custGeom>
              <a:rect b="b" l="l" r="r" t="t"/>
              <a:pathLst>
                <a:path extrusionOk="0" h="709423" w="1901279">
                  <a:moveTo>
                    <a:pt x="54695" y="0"/>
                  </a:moveTo>
                  <a:lnTo>
                    <a:pt x="1846584" y="0"/>
                  </a:lnTo>
                  <a:cubicBezTo>
                    <a:pt x="1876791" y="0"/>
                    <a:pt x="1901279" y="24488"/>
                    <a:pt x="1901279" y="54695"/>
                  </a:cubicBezTo>
                  <a:lnTo>
                    <a:pt x="1901279" y="654728"/>
                  </a:lnTo>
                  <a:cubicBezTo>
                    <a:pt x="1901279" y="684935"/>
                    <a:pt x="1876791" y="709423"/>
                    <a:pt x="1846584" y="709423"/>
                  </a:cubicBezTo>
                  <a:lnTo>
                    <a:pt x="54695" y="709423"/>
                  </a:lnTo>
                  <a:cubicBezTo>
                    <a:pt x="40189" y="709423"/>
                    <a:pt x="26277" y="703660"/>
                    <a:pt x="16020" y="693403"/>
                  </a:cubicBezTo>
                  <a:cubicBezTo>
                    <a:pt x="5762" y="683146"/>
                    <a:pt x="0" y="669234"/>
                    <a:pt x="0" y="654728"/>
                  </a:cubicBezTo>
                  <a:lnTo>
                    <a:pt x="0" y="54695"/>
                  </a:lnTo>
                  <a:cubicBezTo>
                    <a:pt x="0" y="24488"/>
                    <a:pt x="24488" y="0"/>
                    <a:pt x="54695" y="0"/>
                  </a:cubicBezTo>
                  <a:close/>
                </a:path>
              </a:pathLst>
            </a:custGeom>
            <a:solidFill>
              <a:srgbClr val="1222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9"/>
            <p:cNvSpPr txBox="1"/>
            <p:nvPr/>
          </p:nvSpPr>
          <p:spPr>
            <a:xfrm>
              <a:off x="0" y="-47625"/>
              <a:ext cx="1901279" cy="75704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9" name="Google Shape;479;p29"/>
          <p:cNvSpPr txBox="1"/>
          <p:nvPr/>
        </p:nvSpPr>
        <p:spPr>
          <a:xfrm>
            <a:off x="3781116" y="1394339"/>
            <a:ext cx="10725767" cy="1008381"/>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US" sz="8000" u="none" cap="none" strike="noStrike">
                <a:solidFill>
                  <a:srgbClr val="050A30"/>
                </a:solidFill>
                <a:latin typeface="Arial"/>
                <a:ea typeface="Arial"/>
                <a:cs typeface="Arial"/>
                <a:sym typeface="Arial"/>
              </a:rPr>
              <a:t>Casos de uso</a:t>
            </a:r>
            <a:endParaRPr/>
          </a:p>
        </p:txBody>
      </p:sp>
      <p:sp>
        <p:nvSpPr>
          <p:cNvPr id="480" name="Google Shape;480;p29"/>
          <p:cNvSpPr txBox="1"/>
          <p:nvPr/>
        </p:nvSpPr>
        <p:spPr>
          <a:xfrm>
            <a:off x="1533949" y="3037975"/>
            <a:ext cx="7104803" cy="266697"/>
          </a:xfrm>
          <a:prstGeom prst="rect">
            <a:avLst/>
          </a:prstGeom>
          <a:noFill/>
          <a:ln>
            <a:noFill/>
          </a:ln>
        </p:spPr>
        <p:txBody>
          <a:bodyPr anchorCtr="0" anchor="t" bIns="0" lIns="0" spcFirstLastPara="1" rIns="0" wrap="square" tIns="0">
            <a:spAutoFit/>
          </a:bodyPr>
          <a:lstStyle/>
          <a:p>
            <a:pPr indent="0" lvl="0" marL="0" marR="0" rtl="0" algn="ctr">
              <a:lnSpc>
                <a:spcPct val="92016"/>
              </a:lnSpc>
              <a:spcBef>
                <a:spcPts val="0"/>
              </a:spcBef>
              <a:spcAft>
                <a:spcPts val="0"/>
              </a:spcAft>
              <a:buNone/>
            </a:pPr>
            <a:r>
              <a:rPr b="1" i="0" lang="en-US" sz="2142" u="none" cap="none" strike="noStrike">
                <a:solidFill>
                  <a:srgbClr val="F4F6FC"/>
                </a:solidFill>
                <a:latin typeface="Arial"/>
                <a:ea typeface="Arial"/>
                <a:cs typeface="Arial"/>
                <a:sym typeface="Arial"/>
              </a:rPr>
              <a:t>ANALIZAR FORMULARIOS Y DOCUMENTOS.</a:t>
            </a:r>
            <a:endParaRPr/>
          </a:p>
        </p:txBody>
      </p:sp>
      <p:sp>
        <p:nvSpPr>
          <p:cNvPr id="481" name="Google Shape;481;p29"/>
          <p:cNvSpPr txBox="1"/>
          <p:nvPr/>
        </p:nvSpPr>
        <p:spPr>
          <a:xfrm>
            <a:off x="10041900" y="2960700"/>
            <a:ext cx="6500794" cy="264238"/>
          </a:xfrm>
          <a:prstGeom prst="rect">
            <a:avLst/>
          </a:prstGeom>
          <a:noFill/>
          <a:ln>
            <a:noFill/>
          </a:ln>
        </p:spPr>
        <p:txBody>
          <a:bodyPr anchorCtr="0" anchor="t" bIns="0" lIns="0" spcFirstLastPara="1" rIns="0" wrap="square" tIns="0">
            <a:spAutoFit/>
          </a:bodyPr>
          <a:lstStyle/>
          <a:p>
            <a:pPr indent="0" lvl="0" marL="0" marR="0" rtl="0" algn="ctr">
              <a:lnSpc>
                <a:spcPct val="91992"/>
              </a:lnSpc>
              <a:spcBef>
                <a:spcPts val="0"/>
              </a:spcBef>
              <a:spcAft>
                <a:spcPts val="0"/>
              </a:spcAft>
              <a:buNone/>
            </a:pPr>
            <a:r>
              <a:rPr b="1" i="0" lang="en-US" sz="2073" u="none" cap="none" strike="noStrike">
                <a:solidFill>
                  <a:srgbClr val="F4F6FC"/>
                </a:solidFill>
                <a:latin typeface="Arial"/>
                <a:ea typeface="Arial"/>
                <a:cs typeface="Arial"/>
                <a:sym typeface="Arial"/>
              </a:rPr>
              <a:t>CREAR ÍNDICES DE BÚSQUEDA INTELIGENTES</a:t>
            </a:r>
            <a:endParaRPr/>
          </a:p>
        </p:txBody>
      </p:sp>
      <p:sp>
        <p:nvSpPr>
          <p:cNvPr id="482" name="Google Shape;482;p29"/>
          <p:cNvSpPr txBox="1"/>
          <p:nvPr/>
        </p:nvSpPr>
        <p:spPr>
          <a:xfrm>
            <a:off x="1782671" y="3532101"/>
            <a:ext cx="6677027" cy="105410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F4F6FC"/>
                </a:solidFill>
                <a:latin typeface="Arial"/>
                <a:ea typeface="Arial"/>
                <a:cs typeface="Arial"/>
                <a:sym typeface="Arial"/>
              </a:rPr>
              <a:t>Tome decisiones basadas en datos extrayendo datos de documentos y colocándolos en su servicio de visualización de datos para su análisis.</a:t>
            </a:r>
            <a:endParaRPr/>
          </a:p>
        </p:txBody>
      </p:sp>
      <p:sp>
        <p:nvSpPr>
          <p:cNvPr id="483" name="Google Shape;483;p29"/>
          <p:cNvSpPr txBox="1"/>
          <p:nvPr/>
        </p:nvSpPr>
        <p:spPr>
          <a:xfrm>
            <a:off x="9951253" y="3507694"/>
            <a:ext cx="6500794"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F4F6FC"/>
                </a:solidFill>
                <a:latin typeface="Arial"/>
                <a:ea typeface="Arial"/>
                <a:cs typeface="Arial"/>
                <a:sym typeface="Arial"/>
              </a:rPr>
              <a:t>Encuentre fácilmente información específica en sus documentos y formularios, como el total de cuentas por pagar, integrando AI Document Intelligence con Azure Applied AI Search.</a:t>
            </a:r>
            <a:endParaRPr/>
          </a:p>
        </p:txBody>
      </p:sp>
      <p:grpSp>
        <p:nvGrpSpPr>
          <p:cNvPr id="484" name="Google Shape;484;p29"/>
          <p:cNvGrpSpPr/>
          <p:nvPr/>
        </p:nvGrpSpPr>
        <p:grpSpPr>
          <a:xfrm>
            <a:off x="1438595" y="5529326"/>
            <a:ext cx="7218918" cy="3459460"/>
            <a:chOff x="0" y="-47625"/>
            <a:chExt cx="1901279" cy="911134"/>
          </a:xfrm>
        </p:grpSpPr>
        <p:sp>
          <p:nvSpPr>
            <p:cNvPr id="485" name="Google Shape;485;p29"/>
            <p:cNvSpPr/>
            <p:nvPr/>
          </p:nvSpPr>
          <p:spPr>
            <a:xfrm>
              <a:off x="0" y="0"/>
              <a:ext cx="1901279" cy="863509"/>
            </a:xfrm>
            <a:custGeom>
              <a:rect b="b" l="l" r="r" t="t"/>
              <a:pathLst>
                <a:path extrusionOk="0" h="863509" w="1901279">
                  <a:moveTo>
                    <a:pt x="54695" y="0"/>
                  </a:moveTo>
                  <a:lnTo>
                    <a:pt x="1846584" y="0"/>
                  </a:lnTo>
                  <a:cubicBezTo>
                    <a:pt x="1876791" y="0"/>
                    <a:pt x="1901279" y="24488"/>
                    <a:pt x="1901279" y="54695"/>
                  </a:cubicBezTo>
                  <a:lnTo>
                    <a:pt x="1901279" y="808814"/>
                  </a:lnTo>
                  <a:cubicBezTo>
                    <a:pt x="1901279" y="823320"/>
                    <a:pt x="1895516" y="837231"/>
                    <a:pt x="1885259" y="847489"/>
                  </a:cubicBezTo>
                  <a:cubicBezTo>
                    <a:pt x="1875002" y="857746"/>
                    <a:pt x="1861090" y="863509"/>
                    <a:pt x="1846584" y="863509"/>
                  </a:cubicBezTo>
                  <a:lnTo>
                    <a:pt x="54695" y="863509"/>
                  </a:lnTo>
                  <a:cubicBezTo>
                    <a:pt x="40189" y="863509"/>
                    <a:pt x="26277" y="857746"/>
                    <a:pt x="16020" y="847489"/>
                  </a:cubicBezTo>
                  <a:cubicBezTo>
                    <a:pt x="5762" y="837231"/>
                    <a:pt x="0" y="823320"/>
                    <a:pt x="0" y="808814"/>
                  </a:cubicBezTo>
                  <a:lnTo>
                    <a:pt x="0" y="54695"/>
                  </a:lnTo>
                  <a:cubicBezTo>
                    <a:pt x="0" y="24488"/>
                    <a:pt x="24488" y="0"/>
                    <a:pt x="54695" y="0"/>
                  </a:cubicBezTo>
                  <a:close/>
                </a:path>
              </a:pathLst>
            </a:custGeom>
            <a:solidFill>
              <a:srgbClr val="1222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9"/>
            <p:cNvSpPr txBox="1"/>
            <p:nvPr/>
          </p:nvSpPr>
          <p:spPr>
            <a:xfrm>
              <a:off x="0" y="-47625"/>
              <a:ext cx="1901279" cy="91113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7" name="Google Shape;487;p29"/>
          <p:cNvSpPr txBox="1"/>
          <p:nvPr/>
        </p:nvSpPr>
        <p:spPr>
          <a:xfrm>
            <a:off x="1717666" y="6034002"/>
            <a:ext cx="6742032" cy="413506"/>
          </a:xfrm>
          <a:prstGeom prst="rect">
            <a:avLst/>
          </a:prstGeom>
          <a:noFill/>
          <a:ln>
            <a:noFill/>
          </a:ln>
        </p:spPr>
        <p:txBody>
          <a:bodyPr anchorCtr="0" anchor="t" bIns="0" lIns="0" spcFirstLastPara="1" rIns="0" wrap="square" tIns="0">
            <a:spAutoFit/>
          </a:bodyPr>
          <a:lstStyle/>
          <a:p>
            <a:pPr indent="0" lvl="0" marL="0" marR="0" rtl="0" algn="ctr">
              <a:lnSpc>
                <a:spcPct val="92020"/>
              </a:lnSpc>
              <a:spcBef>
                <a:spcPts val="0"/>
              </a:spcBef>
              <a:spcAft>
                <a:spcPts val="0"/>
              </a:spcAft>
              <a:buNone/>
            </a:pPr>
            <a:r>
              <a:rPr b="1" i="0" lang="en-US" sz="1717" u="none" cap="none" strike="noStrike">
                <a:solidFill>
                  <a:srgbClr val="F4F6FC"/>
                </a:solidFill>
                <a:latin typeface="Arial"/>
                <a:ea typeface="Arial"/>
                <a:cs typeface="Arial"/>
                <a:sym typeface="Arial"/>
              </a:rPr>
              <a:t>AUTOMATIZAR LOS FLUJOS DE TRABAJO EMPRESARIALES</a:t>
            </a:r>
            <a:endParaRPr/>
          </a:p>
          <a:p>
            <a:pPr indent="0" lvl="0" marL="0" marR="0" rtl="0" algn="ctr">
              <a:lnSpc>
                <a:spcPct val="92020"/>
              </a:lnSpc>
              <a:spcBef>
                <a:spcPts val="0"/>
              </a:spcBef>
              <a:spcAft>
                <a:spcPts val="0"/>
              </a:spcAft>
              <a:buNone/>
            </a:pPr>
            <a:r>
              <a:t/>
            </a:r>
            <a:endParaRPr b="1" i="0" sz="1717" u="none" cap="none" strike="noStrike">
              <a:solidFill>
                <a:srgbClr val="F4F6FC"/>
              </a:solidFill>
              <a:latin typeface="Arial"/>
              <a:ea typeface="Arial"/>
              <a:cs typeface="Arial"/>
              <a:sym typeface="Arial"/>
            </a:endParaRPr>
          </a:p>
        </p:txBody>
      </p:sp>
      <p:sp>
        <p:nvSpPr>
          <p:cNvPr id="488" name="Google Shape;488;p29"/>
          <p:cNvSpPr txBox="1"/>
          <p:nvPr/>
        </p:nvSpPr>
        <p:spPr>
          <a:xfrm>
            <a:off x="1715334" y="6605400"/>
            <a:ext cx="6742032" cy="1406526"/>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1999" u="none" cap="none" strike="noStrike">
                <a:solidFill>
                  <a:srgbClr val="F4F6FC"/>
                </a:solidFill>
                <a:latin typeface="Arial"/>
                <a:ea typeface="Arial"/>
                <a:cs typeface="Arial"/>
                <a:sym typeface="Arial"/>
              </a:rPr>
              <a:t>Extraiga texto, pares clave-valor, tablas y estructuras de documentos y canalícelos a sus sistemas back-end para realizar tareas como el procesamiento de reclamos, facturas y recibos.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9D"/>
        </a:solidFill>
      </p:bgPr>
    </p:bg>
    <p:spTree>
      <p:nvGrpSpPr>
        <p:cNvPr id="492" name="Shape 492"/>
        <p:cNvGrpSpPr/>
        <p:nvPr/>
      </p:nvGrpSpPr>
      <p:grpSpPr>
        <a:xfrm>
          <a:off x="0" y="0"/>
          <a:ext cx="0" cy="0"/>
          <a:chOff x="0" y="0"/>
          <a:chExt cx="0" cy="0"/>
        </a:xfrm>
      </p:grpSpPr>
      <p:sp>
        <p:nvSpPr>
          <p:cNvPr id="493" name="Google Shape;493;p30"/>
          <p:cNvSpPr/>
          <p:nvPr/>
        </p:nvSpPr>
        <p:spPr>
          <a:xfrm rot="5400000">
            <a:off x="14386421" y="6385421"/>
            <a:ext cx="3688357" cy="4114800"/>
          </a:xfrm>
          <a:custGeom>
            <a:rect b="b" l="l" r="r" t="t"/>
            <a:pathLst>
              <a:path extrusionOk="0" h="4114800" w="3688357">
                <a:moveTo>
                  <a:pt x="0" y="0"/>
                </a:moveTo>
                <a:lnTo>
                  <a:pt x="3688358" y="0"/>
                </a:lnTo>
                <a:lnTo>
                  <a:pt x="3688358" y="4114800"/>
                </a:lnTo>
                <a:lnTo>
                  <a:pt x="0" y="4114800"/>
                </a:lnTo>
                <a:lnTo>
                  <a:pt x="0" y="0"/>
                </a:lnTo>
                <a:close/>
              </a:path>
            </a:pathLst>
          </a:custGeom>
          <a:blipFill rotWithShape="1">
            <a:blip r:embed="rId3">
              <a:alphaModFix/>
            </a:blip>
            <a:stretch>
              <a:fillRect b="0" l="0" r="0" t="0"/>
            </a:stretch>
          </a:blipFill>
          <a:ln>
            <a:noFill/>
          </a:ln>
        </p:spPr>
      </p:sp>
      <p:sp>
        <p:nvSpPr>
          <p:cNvPr id="494" name="Google Shape;494;p30"/>
          <p:cNvSpPr/>
          <p:nvPr/>
        </p:nvSpPr>
        <p:spPr>
          <a:xfrm rot="10800000">
            <a:off x="-1119352" y="-1500496"/>
            <a:ext cx="6167406" cy="6167406"/>
          </a:xfrm>
          <a:custGeom>
            <a:rect b="b" l="l" r="r" t="t"/>
            <a:pathLst>
              <a:path extrusionOk="0" h="6167406" w="6167406">
                <a:moveTo>
                  <a:pt x="0" y="0"/>
                </a:moveTo>
                <a:lnTo>
                  <a:pt x="6167406" y="0"/>
                </a:lnTo>
                <a:lnTo>
                  <a:pt x="6167406" y="6167406"/>
                </a:lnTo>
                <a:lnTo>
                  <a:pt x="0" y="6167406"/>
                </a:lnTo>
                <a:lnTo>
                  <a:pt x="0" y="0"/>
                </a:lnTo>
                <a:close/>
              </a:path>
            </a:pathLst>
          </a:custGeom>
          <a:blipFill rotWithShape="1">
            <a:blip r:embed="rId4">
              <a:alphaModFix/>
            </a:blip>
            <a:stretch>
              <a:fillRect b="0" l="0" r="0" t="0"/>
            </a:stretch>
          </a:blipFill>
          <a:ln>
            <a:noFill/>
          </a:ln>
        </p:spPr>
      </p:sp>
      <p:grpSp>
        <p:nvGrpSpPr>
          <p:cNvPr id="495" name="Google Shape;495;p30"/>
          <p:cNvGrpSpPr/>
          <p:nvPr/>
        </p:nvGrpSpPr>
        <p:grpSpPr>
          <a:xfrm>
            <a:off x="1665169" y="1438546"/>
            <a:ext cx="14957663" cy="7681156"/>
            <a:chOff x="0" y="-38100"/>
            <a:chExt cx="3939467" cy="2023020"/>
          </a:xfrm>
        </p:grpSpPr>
        <p:sp>
          <p:nvSpPr>
            <p:cNvPr id="496" name="Google Shape;496;p30"/>
            <p:cNvSpPr/>
            <p:nvPr/>
          </p:nvSpPr>
          <p:spPr>
            <a:xfrm>
              <a:off x="0" y="0"/>
              <a:ext cx="3939467" cy="1984920"/>
            </a:xfrm>
            <a:custGeom>
              <a:rect b="b" l="l" r="r" t="t"/>
              <a:pathLst>
                <a:path extrusionOk="0" h="1984920" w="3939467">
                  <a:moveTo>
                    <a:pt x="18633" y="0"/>
                  </a:moveTo>
                  <a:lnTo>
                    <a:pt x="3920834" y="0"/>
                  </a:lnTo>
                  <a:cubicBezTo>
                    <a:pt x="3931124" y="0"/>
                    <a:pt x="3939467" y="8342"/>
                    <a:pt x="3939467" y="18633"/>
                  </a:cubicBezTo>
                  <a:lnTo>
                    <a:pt x="3939467" y="1966287"/>
                  </a:lnTo>
                  <a:cubicBezTo>
                    <a:pt x="3939467" y="1976578"/>
                    <a:pt x="3931124" y="1984920"/>
                    <a:pt x="3920834" y="1984920"/>
                  </a:cubicBezTo>
                  <a:lnTo>
                    <a:pt x="18633" y="1984920"/>
                  </a:lnTo>
                  <a:cubicBezTo>
                    <a:pt x="8342" y="1984920"/>
                    <a:pt x="0" y="1976578"/>
                    <a:pt x="0" y="1966287"/>
                  </a:cubicBezTo>
                  <a:lnTo>
                    <a:pt x="0" y="18633"/>
                  </a:lnTo>
                  <a:cubicBezTo>
                    <a:pt x="0" y="8342"/>
                    <a:pt x="8342" y="0"/>
                    <a:pt x="18633"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0"/>
            <p:cNvSpPr txBox="1"/>
            <p:nvPr/>
          </p:nvSpPr>
          <p:spPr>
            <a:xfrm>
              <a:off x="0" y="-38100"/>
              <a:ext cx="3939467" cy="202302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8" name="Google Shape;498;p30"/>
          <p:cNvSpPr txBox="1"/>
          <p:nvPr/>
        </p:nvSpPr>
        <p:spPr>
          <a:xfrm>
            <a:off x="6018429" y="544513"/>
            <a:ext cx="5912346"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FFFFFF"/>
                </a:solidFill>
                <a:latin typeface="Open Sans"/>
                <a:ea typeface="Open Sans"/>
                <a:cs typeface="Open Sans"/>
                <a:sym typeface="Open Sans"/>
              </a:rPr>
              <a:t>Hoja de Trabajo #2</a:t>
            </a:r>
            <a:endParaRPr/>
          </a:p>
        </p:txBody>
      </p:sp>
      <p:sp>
        <p:nvSpPr>
          <p:cNvPr id="499" name="Google Shape;499;p30"/>
          <p:cNvSpPr txBox="1"/>
          <p:nvPr/>
        </p:nvSpPr>
        <p:spPr>
          <a:xfrm>
            <a:off x="1964351" y="2020852"/>
            <a:ext cx="14266249" cy="70167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000000"/>
                </a:solidFill>
                <a:latin typeface="Open Sans"/>
                <a:ea typeface="Open Sans"/>
                <a:cs typeface="Open Sans"/>
                <a:sym typeface="Open Sans"/>
              </a:rPr>
              <a:t>El estudiante deberá crear un API utilizando Amazon API Gateway en donde deberán exponer rutas para las siguientes funcionalidades:</a:t>
            </a:r>
            <a:endParaRPr/>
          </a:p>
        </p:txBody>
      </p:sp>
      <p:sp>
        <p:nvSpPr>
          <p:cNvPr id="500" name="Google Shape;500;p30"/>
          <p:cNvSpPr txBox="1"/>
          <p:nvPr/>
        </p:nvSpPr>
        <p:spPr>
          <a:xfrm>
            <a:off x="1964351" y="2944304"/>
            <a:ext cx="11660630" cy="1406525"/>
          </a:xfrm>
          <a:prstGeom prst="rect">
            <a:avLst/>
          </a:prstGeom>
          <a:noFill/>
          <a:ln>
            <a:noFill/>
          </a:ln>
        </p:spPr>
        <p:txBody>
          <a:bodyPr anchorCtr="0" anchor="t" bIns="0" lIns="0" spcFirstLastPara="1" rIns="0" wrap="square" tIns="0">
            <a:spAutoFit/>
          </a:bodyPr>
          <a:lstStyle/>
          <a:p>
            <a:pPr indent="-215901" lvl="1" marL="431802"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/ht2-&lt;Carné&gt;-compare-faces  (Función de comparación de rostros.)</a:t>
            </a:r>
            <a:endParaRPr/>
          </a:p>
          <a:p>
            <a:pPr indent="-215901" lvl="1" marL="431802"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/ht2-&lt;Carné&gt;-detect-text  (Función de detección de texto.)</a:t>
            </a:r>
            <a:endParaRPr/>
          </a:p>
          <a:p>
            <a:pPr indent="-215901" lvl="1" marL="431802"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/ht2-&lt;Carné&gt;-get-labels (Función de obtención de etiquetas.)</a:t>
            </a:r>
            <a:endParaRPr/>
          </a:p>
          <a:p>
            <a:pPr indent="-215901" lvl="1" marL="431802"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/ht2-&lt;Carné&gt;-translate (Función para traducir un texto a otro lenguaje.)</a:t>
            </a:r>
            <a:endParaRPr/>
          </a:p>
        </p:txBody>
      </p:sp>
      <p:sp>
        <p:nvSpPr>
          <p:cNvPr id="501" name="Google Shape;501;p30"/>
          <p:cNvSpPr txBox="1"/>
          <p:nvPr/>
        </p:nvSpPr>
        <p:spPr>
          <a:xfrm>
            <a:off x="1964351" y="4592638"/>
            <a:ext cx="14266249" cy="105409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000000"/>
                </a:solidFill>
                <a:latin typeface="Open Sans"/>
                <a:ea typeface="Open Sans"/>
                <a:cs typeface="Open Sans"/>
                <a:sym typeface="Open Sans"/>
              </a:rPr>
              <a:t>Las imágenes deben ser enviadas en base64, y deberán de retornar un resultado comprensible (no la respuesta de Rekognition por defecto. </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Open Sans"/>
                <a:ea typeface="Open Sans"/>
                <a:cs typeface="Open Sans"/>
                <a:sym typeface="Open Sans"/>
              </a:rPr>
              <a:t>Ej: Si se envía una solicitud de GetLabels, deberán retornar </a:t>
            </a:r>
            <a:r>
              <a:rPr b="1" i="0" lang="en-US" sz="2000" u="none" cap="none" strike="noStrike">
                <a:solidFill>
                  <a:srgbClr val="000000"/>
                </a:solidFill>
                <a:latin typeface="Open Sans"/>
                <a:ea typeface="Open Sans"/>
                <a:cs typeface="Open Sans"/>
                <a:sym typeface="Open Sans"/>
              </a:rPr>
              <a:t>únicamente</a:t>
            </a:r>
            <a:r>
              <a:rPr b="0" i="0" lang="en-US" sz="2000" u="none" cap="none" strike="noStrike">
                <a:solidFill>
                  <a:srgbClr val="000000"/>
                </a:solidFill>
                <a:latin typeface="Open Sans"/>
                <a:ea typeface="Open Sans"/>
                <a:cs typeface="Open Sans"/>
                <a:sym typeface="Open Sans"/>
              </a:rPr>
              <a:t> las etiquetas obtenidas.</a:t>
            </a:r>
            <a:endParaRPr/>
          </a:p>
        </p:txBody>
      </p:sp>
      <p:sp>
        <p:nvSpPr>
          <p:cNvPr id="502" name="Google Shape;502;p30"/>
          <p:cNvSpPr txBox="1"/>
          <p:nvPr/>
        </p:nvSpPr>
        <p:spPr>
          <a:xfrm>
            <a:off x="1964351" y="5896969"/>
            <a:ext cx="14266249" cy="70167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Recomendaciones</a:t>
            </a:r>
            <a:r>
              <a:rPr b="0" i="0" lang="en-US" sz="2000" u="none" cap="none" strike="noStrike">
                <a:solidFill>
                  <a:srgbClr val="000000"/>
                </a:solidFill>
                <a:latin typeface="Open Sans"/>
                <a:ea typeface="Open Sans"/>
                <a:cs typeface="Open Sans"/>
                <a:sym typeface="Open Sans"/>
              </a:rPr>
              <a:t>:</a:t>
            </a:r>
            <a:endParaRPr/>
          </a:p>
          <a:p>
            <a:pPr indent="-215903" lvl="1" marL="431806"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Probar su función en postman, ya que con ese se estará probando para calificar.</a:t>
            </a:r>
            <a:endParaRPr/>
          </a:p>
        </p:txBody>
      </p:sp>
      <p:sp>
        <p:nvSpPr>
          <p:cNvPr id="503" name="Google Shape;503;p30"/>
          <p:cNvSpPr txBox="1"/>
          <p:nvPr/>
        </p:nvSpPr>
        <p:spPr>
          <a:xfrm>
            <a:off x="1964351" y="6818929"/>
            <a:ext cx="14266249" cy="14065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Entregables</a:t>
            </a:r>
            <a:r>
              <a:rPr b="0" i="0" lang="en-US" sz="2000" u="none" cap="none" strike="noStrike">
                <a:solidFill>
                  <a:srgbClr val="000000"/>
                </a:solidFill>
                <a:latin typeface="Open Sans"/>
                <a:ea typeface="Open Sans"/>
                <a:cs typeface="Open Sans"/>
                <a:sym typeface="Open Sans"/>
              </a:rPr>
              <a:t>:</a:t>
            </a:r>
            <a:endParaRPr/>
          </a:p>
          <a:p>
            <a:pPr indent="-215903" lvl="1" marL="431806"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Documento PDF con el código de las funciones lambda creadas.</a:t>
            </a:r>
            <a:endParaRPr/>
          </a:p>
          <a:p>
            <a:pPr indent="-215903" lvl="1" marL="431806" marR="0" rtl="0" algn="l">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Open Sans"/>
                <a:ea typeface="Open Sans"/>
                <a:cs typeface="Open Sans"/>
                <a:sym typeface="Open Sans"/>
              </a:rPr>
              <a:t>URL de los endpoints creados en API Gateway (opcionalmente se puede entregar una colección de Postman en formato JSON).</a:t>
            </a:r>
            <a:endParaRPr/>
          </a:p>
        </p:txBody>
      </p:sp>
      <p:sp>
        <p:nvSpPr>
          <p:cNvPr id="504" name="Google Shape;504;p30"/>
          <p:cNvSpPr txBox="1"/>
          <p:nvPr/>
        </p:nvSpPr>
        <p:spPr>
          <a:xfrm>
            <a:off x="2010875" y="8473103"/>
            <a:ext cx="14266249" cy="3492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00000"/>
                </a:solidFill>
                <a:latin typeface="Open Sans"/>
                <a:ea typeface="Open Sans"/>
                <a:cs typeface="Open Sans"/>
                <a:sym typeface="Open Sans"/>
              </a:rPr>
              <a:t>FECHA DE ENTREGA: LUNES 21 DE OCTUBRE DEL 2024 A LAS 23:59 HRS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