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10287000" cx="18288000"/>
  <p:notesSz cx="6858000" cy="9144000"/>
  <p:embeddedFontLst>
    <p:embeddedFont>
      <p:font typeface="Poppins"/>
      <p:bold r:id="rId32"/>
      <p:boldItalic r:id="rId33"/>
    </p:embeddedFont>
    <p:embeddedFont>
      <p:font typeface="Open Sans Light"/>
      <p:regular r:id="rId34"/>
      <p:bold r:id="rId35"/>
      <p:italic r:id="rId36"/>
      <p:boldItalic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2" roundtripDataSignature="AMtx7mgAat2IQl7BEoAZSeHyFZDTJA/5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font" Target="fonts/OpenSans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oppins-boldItalic.fntdata"/><Relationship Id="rId10" Type="http://schemas.openxmlformats.org/officeDocument/2006/relationships/slide" Target="slides/slide5.xml"/><Relationship Id="rId32" Type="http://schemas.openxmlformats.org/officeDocument/2006/relationships/font" Target="fonts/Poppins-bold.fntdata"/><Relationship Id="rId13" Type="http://schemas.openxmlformats.org/officeDocument/2006/relationships/slide" Target="slides/slide8.xml"/><Relationship Id="rId35" Type="http://schemas.openxmlformats.org/officeDocument/2006/relationships/font" Target="fonts/OpenSansLight-bold.fntdata"/><Relationship Id="rId12" Type="http://schemas.openxmlformats.org/officeDocument/2006/relationships/slide" Target="slides/slide7.xml"/><Relationship Id="rId34" Type="http://schemas.openxmlformats.org/officeDocument/2006/relationships/font" Target="fonts/OpenSansLight-regular.fntdata"/><Relationship Id="rId15" Type="http://schemas.openxmlformats.org/officeDocument/2006/relationships/slide" Target="slides/slide10.xml"/><Relationship Id="rId37" Type="http://schemas.openxmlformats.org/officeDocument/2006/relationships/font" Target="fonts/OpenSansLight-boldItalic.fntdata"/><Relationship Id="rId14" Type="http://schemas.openxmlformats.org/officeDocument/2006/relationships/slide" Target="slides/slide9.xml"/><Relationship Id="rId36" Type="http://schemas.openxmlformats.org/officeDocument/2006/relationships/font" Target="fonts/OpenSansLight-italic.fntdata"/><Relationship Id="rId17" Type="http://schemas.openxmlformats.org/officeDocument/2006/relationships/slide" Target="slides/slide12.xml"/><Relationship Id="rId39" Type="http://schemas.openxmlformats.org/officeDocument/2006/relationships/font" Target="fonts/OpenSans-bold.fntdata"/><Relationship Id="rId16" Type="http://schemas.openxmlformats.org/officeDocument/2006/relationships/slide" Target="slides/slide11.xml"/><Relationship Id="rId38" Type="http://schemas.openxmlformats.org/officeDocument/2006/relationships/font" Target="fonts/OpenSan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Relationship Id="rId4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C4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3550987" y="3184451"/>
            <a:ext cx="10946941" cy="8896877"/>
          </a:xfrm>
          <a:custGeom>
            <a:rect b="b" l="l" r="r" t="t"/>
            <a:pathLst>
              <a:path extrusionOk="0" h="8896877" w="10946941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-3243554" y="-1718684"/>
            <a:ext cx="5643741" cy="4114800"/>
          </a:xfrm>
          <a:custGeom>
            <a:rect b="b" l="l" r="r" t="t"/>
            <a:pathLst>
              <a:path extrusionOk="0" h="4114800" w="5643741">
                <a:moveTo>
                  <a:pt x="0" y="0"/>
                </a:moveTo>
                <a:lnTo>
                  <a:pt x="5643740" y="0"/>
                </a:lnTo>
                <a:lnTo>
                  <a:pt x="56437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6" name="Google Shape;86;p1"/>
          <p:cNvGrpSpPr/>
          <p:nvPr/>
        </p:nvGrpSpPr>
        <p:grpSpPr>
          <a:xfrm>
            <a:off x="0" y="9853606"/>
            <a:ext cx="9144000" cy="433394"/>
            <a:chOff x="0" y="-38100"/>
            <a:chExt cx="2408296" cy="114145"/>
          </a:xfrm>
        </p:grpSpPr>
        <p:sp>
          <p:nvSpPr>
            <p:cNvPr id="87" name="Google Shape;87;p1"/>
            <p:cNvSpPr/>
            <p:nvPr/>
          </p:nvSpPr>
          <p:spPr>
            <a:xfrm>
              <a:off x="0" y="0"/>
              <a:ext cx="2408296" cy="76045"/>
            </a:xfrm>
            <a:custGeom>
              <a:rect b="b" l="l" r="r" t="t"/>
              <a:pathLst>
                <a:path extrusionOk="0" h="76045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3DCAB1"/>
            </a:solidFill>
            <a:ln>
              <a:noFill/>
            </a:ln>
          </p:spPr>
        </p:sp>
        <p:sp>
          <p:nvSpPr>
            <p:cNvPr id="88" name="Google Shape;88;p1"/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1"/>
          <p:cNvSpPr txBox="1"/>
          <p:nvPr/>
        </p:nvSpPr>
        <p:spPr>
          <a:xfrm>
            <a:off x="3317051" y="3877164"/>
            <a:ext cx="9970610" cy="2307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33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Laboratorio</a:t>
            </a:r>
            <a:endParaRPr/>
          </a:p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33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Seminario de Sistemas 1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5358841" y="6553541"/>
            <a:ext cx="7928819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Clase 4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3317051" y="3242164"/>
            <a:ext cx="7928819" cy="49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Segundo Semestre 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C4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-6475716" y="-4047360"/>
            <a:ext cx="10946941" cy="8896877"/>
          </a:xfrm>
          <a:custGeom>
            <a:rect b="b" l="l" r="r" t="t"/>
            <a:pathLst>
              <a:path extrusionOk="0" h="8896877" w="10946941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7" name="Google Shape;97;p2"/>
          <p:cNvGrpSpPr/>
          <p:nvPr/>
        </p:nvGrpSpPr>
        <p:grpSpPr>
          <a:xfrm>
            <a:off x="0" y="9853606"/>
            <a:ext cx="9144000" cy="433394"/>
            <a:chOff x="0" y="-38100"/>
            <a:chExt cx="2408296" cy="114145"/>
          </a:xfrm>
        </p:grpSpPr>
        <p:sp>
          <p:nvSpPr>
            <p:cNvPr id="98" name="Google Shape;98;p2"/>
            <p:cNvSpPr/>
            <p:nvPr/>
          </p:nvSpPr>
          <p:spPr>
            <a:xfrm>
              <a:off x="0" y="0"/>
              <a:ext cx="2408296" cy="76045"/>
            </a:xfrm>
            <a:custGeom>
              <a:rect b="b" l="l" r="r" t="t"/>
              <a:pathLst>
                <a:path extrusionOk="0" h="76045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3DCAB1"/>
            </a:solidFill>
            <a:ln>
              <a:noFill/>
            </a:ln>
          </p:spPr>
        </p:sp>
        <p:sp>
          <p:nvSpPr>
            <p:cNvPr id="99" name="Google Shape;99;p2"/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14141389" y="6745580"/>
            <a:ext cx="5414211" cy="4114800"/>
          </a:xfrm>
          <a:custGeom>
            <a:rect b="b" l="l" r="r" t="t"/>
            <a:pathLst>
              <a:path extrusionOk="0" h="4114800" w="5414211">
                <a:moveTo>
                  <a:pt x="0" y="0"/>
                </a:moveTo>
                <a:lnTo>
                  <a:pt x="5414211" y="0"/>
                </a:lnTo>
                <a:lnTo>
                  <a:pt x="54142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2"/>
          <p:cNvSpPr txBox="1"/>
          <p:nvPr/>
        </p:nvSpPr>
        <p:spPr>
          <a:xfrm>
            <a:off x="3317051" y="2205616"/>
            <a:ext cx="9970610" cy="1167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33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Agenda del día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3317051" y="4212965"/>
            <a:ext cx="7928819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48" lvl="1" marL="647698" marR="0" rtl="0" algn="just">
              <a:lnSpc>
                <a:spcPct val="16002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Dudas clase anterior</a:t>
            </a:r>
            <a:endParaRPr/>
          </a:p>
          <a:p>
            <a:pPr indent="-323848" lvl="1" marL="647698" marR="0" rtl="0" algn="just">
              <a:lnSpc>
                <a:spcPct val="16002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Dudas práctica #1</a:t>
            </a:r>
            <a:endParaRPr/>
          </a:p>
          <a:p>
            <a:pPr indent="-323848" lvl="1" marL="647698" marR="0" rtl="0" algn="just">
              <a:lnSpc>
                <a:spcPct val="16002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Aviso foro #4</a:t>
            </a:r>
            <a:endParaRPr/>
          </a:p>
          <a:p>
            <a:pPr indent="-323848" lvl="1" marL="647698" marR="0" rtl="0" algn="just">
              <a:lnSpc>
                <a:spcPct val="16002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Notas DTT</a:t>
            </a:r>
            <a:endParaRPr/>
          </a:p>
          <a:p>
            <a:pPr indent="-323848" lvl="1" marL="647698" marR="0" rtl="0" algn="just">
              <a:lnSpc>
                <a:spcPct val="16002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Exposiciones</a:t>
            </a:r>
            <a:endParaRPr/>
          </a:p>
          <a:p>
            <a:pPr indent="-323848" lvl="1" marL="647698" marR="0" rtl="0" algn="just">
              <a:lnSpc>
                <a:spcPct val="16002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Almacenamiento en la nube</a:t>
            </a:r>
            <a:endParaRPr/>
          </a:p>
          <a:p>
            <a:pPr indent="-323848" lvl="1" marL="647698" marR="0" rtl="0" algn="just">
              <a:lnSpc>
                <a:spcPct val="16002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Ejemplo práctico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C42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-6475716" y="-4047360"/>
            <a:ext cx="10946941" cy="8896877"/>
          </a:xfrm>
          <a:custGeom>
            <a:rect b="b" l="l" r="r" t="t"/>
            <a:pathLst>
              <a:path extrusionOk="0" h="8896877" w="10946941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8" name="Google Shape;108;p3"/>
          <p:cNvGrpSpPr/>
          <p:nvPr/>
        </p:nvGrpSpPr>
        <p:grpSpPr>
          <a:xfrm>
            <a:off x="0" y="9853606"/>
            <a:ext cx="9144000" cy="433394"/>
            <a:chOff x="0" y="-38100"/>
            <a:chExt cx="2408296" cy="114145"/>
          </a:xfrm>
        </p:grpSpPr>
        <p:sp>
          <p:nvSpPr>
            <p:cNvPr id="109" name="Google Shape;109;p3"/>
            <p:cNvSpPr/>
            <p:nvPr/>
          </p:nvSpPr>
          <p:spPr>
            <a:xfrm>
              <a:off x="0" y="0"/>
              <a:ext cx="2408296" cy="76045"/>
            </a:xfrm>
            <a:custGeom>
              <a:rect b="b" l="l" r="r" t="t"/>
              <a:pathLst>
                <a:path extrusionOk="0" h="76045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3DCAB1"/>
            </a:solidFill>
            <a:ln>
              <a:noFill/>
            </a:ln>
          </p:spPr>
        </p:sp>
        <p:sp>
          <p:nvSpPr>
            <p:cNvPr id="110" name="Google Shape;110;p3"/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3"/>
          <p:cNvSpPr/>
          <p:nvPr/>
        </p:nvSpPr>
        <p:spPr>
          <a:xfrm>
            <a:off x="14141389" y="6745580"/>
            <a:ext cx="5414211" cy="4114800"/>
          </a:xfrm>
          <a:custGeom>
            <a:rect b="b" l="l" r="r" t="t"/>
            <a:pathLst>
              <a:path extrusionOk="0" h="4114800" w="5414211">
                <a:moveTo>
                  <a:pt x="0" y="0"/>
                </a:moveTo>
                <a:lnTo>
                  <a:pt x="5414211" y="0"/>
                </a:lnTo>
                <a:lnTo>
                  <a:pt x="54142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3"/>
          <p:cNvSpPr/>
          <p:nvPr/>
        </p:nvSpPr>
        <p:spPr>
          <a:xfrm>
            <a:off x="1805086" y="2401488"/>
            <a:ext cx="14677828" cy="5484024"/>
          </a:xfrm>
          <a:custGeom>
            <a:rect b="b" l="l" r="r" t="t"/>
            <a:pathLst>
              <a:path extrusionOk="0" h="5484024" w="14677828">
                <a:moveTo>
                  <a:pt x="0" y="0"/>
                </a:moveTo>
                <a:lnTo>
                  <a:pt x="14677828" y="0"/>
                </a:lnTo>
                <a:lnTo>
                  <a:pt x="14677828" y="5484024"/>
                </a:lnTo>
                <a:lnTo>
                  <a:pt x="0" y="5484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3"/>
          <p:cNvSpPr txBox="1"/>
          <p:nvPr/>
        </p:nvSpPr>
        <p:spPr>
          <a:xfrm>
            <a:off x="3079954" y="838200"/>
            <a:ext cx="12128093" cy="1167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33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Almacenamiento en la nube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4"/>
          <p:cNvGrpSpPr/>
          <p:nvPr/>
        </p:nvGrpSpPr>
        <p:grpSpPr>
          <a:xfrm>
            <a:off x="0" y="4982766"/>
            <a:ext cx="6121614" cy="5304234"/>
            <a:chOff x="0" y="-38100"/>
            <a:chExt cx="1451049" cy="1257300"/>
          </a:xfrm>
        </p:grpSpPr>
        <p:sp>
          <p:nvSpPr>
            <p:cNvPr id="119" name="Google Shape;119;p4"/>
            <p:cNvSpPr/>
            <p:nvPr/>
          </p:nvSpPr>
          <p:spPr>
            <a:xfrm>
              <a:off x="0" y="0"/>
              <a:ext cx="1451049" cy="1219200"/>
            </a:xfrm>
            <a:custGeom>
              <a:rect b="b" l="l" r="r" t="t"/>
              <a:pathLst>
                <a:path extrusionOk="0" h="1219200" w="1451049">
                  <a:moveTo>
                    <a:pt x="0" y="0"/>
                  </a:moveTo>
                  <a:lnTo>
                    <a:pt x="1451049" y="0"/>
                  </a:lnTo>
                  <a:lnTo>
                    <a:pt x="145104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71C42"/>
            </a:solidFill>
            <a:ln>
              <a:noFill/>
            </a:ln>
          </p:spPr>
        </p:sp>
        <p:sp>
          <p:nvSpPr>
            <p:cNvPr id="120" name="Google Shape;120;p4"/>
            <p:cNvSpPr txBox="1"/>
            <p:nvPr/>
          </p:nvSpPr>
          <p:spPr>
            <a:xfrm>
              <a:off x="0" y="-38100"/>
              <a:ext cx="1451049" cy="12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4"/>
          <p:cNvSpPr/>
          <p:nvPr/>
        </p:nvSpPr>
        <p:spPr>
          <a:xfrm>
            <a:off x="8187217" y="-1676277"/>
            <a:ext cx="12260528" cy="8939040"/>
          </a:xfrm>
          <a:custGeom>
            <a:rect b="b" l="l" r="r" t="t"/>
            <a:pathLst>
              <a:path extrusionOk="0" h="8939040" w="12260528">
                <a:moveTo>
                  <a:pt x="0" y="0"/>
                </a:moveTo>
                <a:lnTo>
                  <a:pt x="12260529" y="0"/>
                </a:lnTo>
                <a:lnTo>
                  <a:pt x="12260529" y="8939040"/>
                </a:lnTo>
                <a:lnTo>
                  <a:pt x="0" y="89390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2" name="Google Shape;122;p4"/>
          <p:cNvGrpSpPr/>
          <p:nvPr/>
        </p:nvGrpSpPr>
        <p:grpSpPr>
          <a:xfrm>
            <a:off x="6121614" y="4982766"/>
            <a:ext cx="6044772" cy="5304234"/>
            <a:chOff x="0" y="-38100"/>
            <a:chExt cx="1432835" cy="1257300"/>
          </a:xfrm>
        </p:grpSpPr>
        <p:sp>
          <p:nvSpPr>
            <p:cNvPr id="123" name="Google Shape;123;p4"/>
            <p:cNvSpPr/>
            <p:nvPr/>
          </p:nvSpPr>
          <p:spPr>
            <a:xfrm>
              <a:off x="0" y="0"/>
              <a:ext cx="1432835" cy="1219200"/>
            </a:xfrm>
            <a:custGeom>
              <a:rect b="b" l="l" r="r" t="t"/>
              <a:pathLst>
                <a:path extrusionOk="0" h="1219200" w="1432835">
                  <a:moveTo>
                    <a:pt x="0" y="0"/>
                  </a:moveTo>
                  <a:lnTo>
                    <a:pt x="1432835" y="0"/>
                  </a:lnTo>
                  <a:lnTo>
                    <a:pt x="1432835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3DCAB1"/>
            </a:solidFill>
            <a:ln>
              <a:noFill/>
            </a:ln>
          </p:spPr>
        </p:sp>
        <p:sp>
          <p:nvSpPr>
            <p:cNvPr id="124" name="Google Shape;124;p4"/>
            <p:cNvSpPr txBox="1"/>
            <p:nvPr/>
          </p:nvSpPr>
          <p:spPr>
            <a:xfrm>
              <a:off x="0" y="-38100"/>
              <a:ext cx="1432835" cy="12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4"/>
          <p:cNvGrpSpPr/>
          <p:nvPr/>
        </p:nvGrpSpPr>
        <p:grpSpPr>
          <a:xfrm>
            <a:off x="12166386" y="4982766"/>
            <a:ext cx="6287170" cy="5304234"/>
            <a:chOff x="0" y="-38100"/>
            <a:chExt cx="1490292" cy="1257300"/>
          </a:xfrm>
        </p:grpSpPr>
        <p:sp>
          <p:nvSpPr>
            <p:cNvPr id="126" name="Google Shape;126;p4"/>
            <p:cNvSpPr/>
            <p:nvPr/>
          </p:nvSpPr>
          <p:spPr>
            <a:xfrm>
              <a:off x="0" y="0"/>
              <a:ext cx="1490292" cy="1219200"/>
            </a:xfrm>
            <a:custGeom>
              <a:rect b="b" l="l" r="r" t="t"/>
              <a:pathLst>
                <a:path extrusionOk="0" h="1219200" w="1490292">
                  <a:moveTo>
                    <a:pt x="0" y="0"/>
                  </a:moveTo>
                  <a:lnTo>
                    <a:pt x="1490292" y="0"/>
                  </a:lnTo>
                  <a:lnTo>
                    <a:pt x="149029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71C42"/>
            </a:solidFill>
            <a:ln>
              <a:noFill/>
            </a:ln>
          </p:spPr>
        </p:sp>
        <p:sp>
          <p:nvSpPr>
            <p:cNvPr id="127" name="Google Shape;127;p4"/>
            <p:cNvSpPr txBox="1"/>
            <p:nvPr/>
          </p:nvSpPr>
          <p:spPr>
            <a:xfrm>
              <a:off x="0" y="-38100"/>
              <a:ext cx="1490292" cy="12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8" name="Google Shape;128;p4"/>
          <p:cNvCxnSpPr/>
          <p:nvPr/>
        </p:nvCxnSpPr>
        <p:spPr>
          <a:xfrm>
            <a:off x="1028700" y="601417"/>
            <a:ext cx="16230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4"/>
          <p:cNvSpPr txBox="1"/>
          <p:nvPr/>
        </p:nvSpPr>
        <p:spPr>
          <a:xfrm>
            <a:off x="1002929" y="3742652"/>
            <a:ext cx="13899365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399" u="none" cap="none" strike="noStrike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¿Qué es almacenamiento en la nube?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1002929" y="6117907"/>
            <a:ext cx="4109035" cy="2065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un modelo de almacenamiento de datos basado en redes de computadoras.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7089482" y="6024244"/>
            <a:ext cx="4109035" cy="2588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Ideado en los años 60's, donde los datos están alojados en espacios de almacenamiento virtualizados.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13176036" y="5946140"/>
            <a:ext cx="4109035" cy="2891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Funciona por medio de compañoas de alojamiento, quienes operan enormes centros de procesamiento de datos.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5"/>
          <p:cNvGrpSpPr/>
          <p:nvPr/>
        </p:nvGrpSpPr>
        <p:grpSpPr>
          <a:xfrm>
            <a:off x="0" y="-144661"/>
            <a:ext cx="18288000" cy="10431661"/>
            <a:chOff x="0" y="-38100"/>
            <a:chExt cx="4816593" cy="2747433"/>
          </a:xfrm>
        </p:grpSpPr>
        <p:sp>
          <p:nvSpPr>
            <p:cNvPr id="138" name="Google Shape;138;p5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71C42"/>
            </a:solidFill>
            <a:ln>
              <a:noFill/>
            </a:ln>
          </p:spPr>
        </p:sp>
        <p:sp>
          <p:nvSpPr>
            <p:cNvPr id="139" name="Google Shape;139;p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p5"/>
          <p:cNvSpPr/>
          <p:nvPr/>
        </p:nvSpPr>
        <p:spPr>
          <a:xfrm>
            <a:off x="13786888" y="629992"/>
            <a:ext cx="6267753" cy="5093974"/>
          </a:xfrm>
          <a:custGeom>
            <a:rect b="b" l="l" r="r" t="t"/>
            <a:pathLst>
              <a:path extrusionOk="0" h="5093974" w="6267753">
                <a:moveTo>
                  <a:pt x="0" y="0"/>
                </a:moveTo>
                <a:lnTo>
                  <a:pt x="6267752" y="0"/>
                </a:lnTo>
                <a:lnTo>
                  <a:pt x="6267752" y="5093973"/>
                </a:lnTo>
                <a:lnTo>
                  <a:pt x="0" y="509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41" name="Google Shape;141;p5"/>
          <p:cNvCxnSpPr/>
          <p:nvPr/>
        </p:nvCxnSpPr>
        <p:spPr>
          <a:xfrm>
            <a:off x="1028700" y="601417"/>
            <a:ext cx="16230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5"/>
          <p:cNvSpPr/>
          <p:nvPr/>
        </p:nvSpPr>
        <p:spPr>
          <a:xfrm>
            <a:off x="2334196" y="2338109"/>
            <a:ext cx="14400317" cy="6125022"/>
          </a:xfrm>
          <a:custGeom>
            <a:rect b="b" l="l" r="r" t="t"/>
            <a:pathLst>
              <a:path extrusionOk="0" h="6125022" w="14400317">
                <a:moveTo>
                  <a:pt x="0" y="0"/>
                </a:moveTo>
                <a:lnTo>
                  <a:pt x="14400317" y="0"/>
                </a:lnTo>
                <a:lnTo>
                  <a:pt x="14400317" y="6125022"/>
                </a:lnTo>
                <a:lnTo>
                  <a:pt x="0" y="61250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5"/>
          <p:cNvSpPr txBox="1"/>
          <p:nvPr/>
        </p:nvSpPr>
        <p:spPr>
          <a:xfrm>
            <a:off x="2479057" y="998275"/>
            <a:ext cx="14110594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Servicios de almacenamiento en AWS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6"/>
          <p:cNvGrpSpPr/>
          <p:nvPr/>
        </p:nvGrpSpPr>
        <p:grpSpPr>
          <a:xfrm>
            <a:off x="0" y="-144661"/>
            <a:ext cx="18288000" cy="10431661"/>
            <a:chOff x="0" y="-38100"/>
            <a:chExt cx="4816593" cy="2747433"/>
          </a:xfrm>
        </p:grpSpPr>
        <p:sp>
          <p:nvSpPr>
            <p:cNvPr id="149" name="Google Shape;149;p6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71C42"/>
            </a:solidFill>
            <a:ln>
              <a:noFill/>
            </a:ln>
          </p:spPr>
        </p:sp>
        <p:sp>
          <p:nvSpPr>
            <p:cNvPr id="150" name="Google Shape;150;p6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6"/>
          <p:cNvSpPr/>
          <p:nvPr/>
        </p:nvSpPr>
        <p:spPr>
          <a:xfrm>
            <a:off x="13786888" y="629992"/>
            <a:ext cx="6267753" cy="5093974"/>
          </a:xfrm>
          <a:custGeom>
            <a:rect b="b" l="l" r="r" t="t"/>
            <a:pathLst>
              <a:path extrusionOk="0" h="5093974" w="6267753">
                <a:moveTo>
                  <a:pt x="0" y="0"/>
                </a:moveTo>
                <a:lnTo>
                  <a:pt x="6267752" y="0"/>
                </a:lnTo>
                <a:lnTo>
                  <a:pt x="6267752" y="5093973"/>
                </a:lnTo>
                <a:lnTo>
                  <a:pt x="0" y="509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52" name="Google Shape;152;p6"/>
          <p:cNvCxnSpPr/>
          <p:nvPr/>
        </p:nvCxnSpPr>
        <p:spPr>
          <a:xfrm>
            <a:off x="1028700" y="601417"/>
            <a:ext cx="16230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6"/>
          <p:cNvSpPr/>
          <p:nvPr/>
        </p:nvSpPr>
        <p:spPr>
          <a:xfrm>
            <a:off x="2088703" y="2341300"/>
            <a:ext cx="14110594" cy="7082857"/>
          </a:xfrm>
          <a:custGeom>
            <a:rect b="b" l="l" r="r" t="t"/>
            <a:pathLst>
              <a:path extrusionOk="0" h="7082857" w="14110594">
                <a:moveTo>
                  <a:pt x="0" y="0"/>
                </a:moveTo>
                <a:lnTo>
                  <a:pt x="14110594" y="0"/>
                </a:lnTo>
                <a:lnTo>
                  <a:pt x="14110594" y="7082857"/>
                </a:lnTo>
                <a:lnTo>
                  <a:pt x="0" y="70828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6"/>
          <p:cNvSpPr txBox="1"/>
          <p:nvPr/>
        </p:nvSpPr>
        <p:spPr>
          <a:xfrm>
            <a:off x="2088703" y="999871"/>
            <a:ext cx="14110594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Servicios de almacenamiento en AWS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7"/>
          <p:cNvGrpSpPr/>
          <p:nvPr/>
        </p:nvGrpSpPr>
        <p:grpSpPr>
          <a:xfrm>
            <a:off x="0" y="-144661"/>
            <a:ext cx="18288000" cy="10431661"/>
            <a:chOff x="0" y="-38100"/>
            <a:chExt cx="4816593" cy="2747433"/>
          </a:xfrm>
        </p:grpSpPr>
        <p:sp>
          <p:nvSpPr>
            <p:cNvPr id="160" name="Google Shape;160;p7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71C42"/>
            </a:solidFill>
            <a:ln>
              <a:noFill/>
            </a:ln>
          </p:spPr>
        </p:sp>
        <p:sp>
          <p:nvSpPr>
            <p:cNvPr id="161" name="Google Shape;161;p7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7"/>
          <p:cNvSpPr/>
          <p:nvPr/>
        </p:nvSpPr>
        <p:spPr>
          <a:xfrm>
            <a:off x="13786888" y="629992"/>
            <a:ext cx="6267753" cy="5093974"/>
          </a:xfrm>
          <a:custGeom>
            <a:rect b="b" l="l" r="r" t="t"/>
            <a:pathLst>
              <a:path extrusionOk="0" h="5093974" w="6267753">
                <a:moveTo>
                  <a:pt x="0" y="0"/>
                </a:moveTo>
                <a:lnTo>
                  <a:pt x="6267752" y="0"/>
                </a:lnTo>
                <a:lnTo>
                  <a:pt x="6267752" y="5093973"/>
                </a:lnTo>
                <a:lnTo>
                  <a:pt x="0" y="509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63" name="Google Shape;163;p7"/>
          <p:cNvCxnSpPr/>
          <p:nvPr/>
        </p:nvCxnSpPr>
        <p:spPr>
          <a:xfrm>
            <a:off x="1028700" y="601417"/>
            <a:ext cx="16230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7"/>
          <p:cNvSpPr txBox="1"/>
          <p:nvPr/>
        </p:nvSpPr>
        <p:spPr>
          <a:xfrm>
            <a:off x="6270681" y="1045872"/>
            <a:ext cx="5019302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Amazon EFS</a:t>
            </a:r>
            <a:endParaRPr/>
          </a:p>
        </p:txBody>
      </p:sp>
      <p:pic>
        <p:nvPicPr>
          <p:cNvPr id="165" name="Google Shape;16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3932" y="2433303"/>
            <a:ext cx="10972800" cy="617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/>
          <p:nvPr/>
        </p:nvSpPr>
        <p:spPr>
          <a:xfrm>
            <a:off x="10561679" y="-3455076"/>
            <a:ext cx="11153665" cy="8132036"/>
          </a:xfrm>
          <a:custGeom>
            <a:rect b="b" l="l" r="r" t="t"/>
            <a:pathLst>
              <a:path extrusionOk="0" h="8132036" w="11153665">
                <a:moveTo>
                  <a:pt x="0" y="0"/>
                </a:moveTo>
                <a:lnTo>
                  <a:pt x="11153665" y="0"/>
                </a:lnTo>
                <a:lnTo>
                  <a:pt x="11153665" y="8132036"/>
                </a:lnTo>
                <a:lnTo>
                  <a:pt x="0" y="8132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71" name="Google Shape;171;p8"/>
          <p:cNvCxnSpPr/>
          <p:nvPr/>
        </p:nvCxnSpPr>
        <p:spPr>
          <a:xfrm>
            <a:off x="1028700" y="601417"/>
            <a:ext cx="16230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2" name="Google Shape;172;p8"/>
          <p:cNvGrpSpPr/>
          <p:nvPr/>
        </p:nvGrpSpPr>
        <p:grpSpPr>
          <a:xfrm>
            <a:off x="0" y="9269024"/>
            <a:ext cx="18288000" cy="1875218"/>
            <a:chOff x="0" y="-38100"/>
            <a:chExt cx="4334933" cy="444496"/>
          </a:xfrm>
        </p:grpSpPr>
        <p:sp>
          <p:nvSpPr>
            <p:cNvPr id="173" name="Google Shape;173;p8"/>
            <p:cNvSpPr/>
            <p:nvPr/>
          </p:nvSpPr>
          <p:spPr>
            <a:xfrm>
              <a:off x="0" y="0"/>
              <a:ext cx="4334933" cy="406396"/>
            </a:xfrm>
            <a:custGeom>
              <a:rect b="b" l="l" r="r" t="t"/>
              <a:pathLst>
                <a:path extrusionOk="0" h="406396" w="4334933">
                  <a:moveTo>
                    <a:pt x="0" y="0"/>
                  </a:moveTo>
                  <a:lnTo>
                    <a:pt x="4334933" y="0"/>
                  </a:lnTo>
                  <a:lnTo>
                    <a:pt x="4334933" y="406396"/>
                  </a:lnTo>
                  <a:lnTo>
                    <a:pt x="0" y="406396"/>
                  </a:lnTo>
                  <a:close/>
                </a:path>
              </a:pathLst>
            </a:custGeom>
            <a:solidFill>
              <a:srgbClr val="071C42"/>
            </a:solidFill>
            <a:ln>
              <a:noFill/>
            </a:ln>
          </p:spPr>
        </p:sp>
        <p:sp>
          <p:nvSpPr>
            <p:cNvPr id="174" name="Google Shape;174;p8"/>
            <p:cNvSpPr txBox="1"/>
            <p:nvPr/>
          </p:nvSpPr>
          <p:spPr>
            <a:xfrm>
              <a:off x="0" y="-38100"/>
              <a:ext cx="4334933" cy="4444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8"/>
          <p:cNvGrpSpPr/>
          <p:nvPr/>
        </p:nvGrpSpPr>
        <p:grpSpPr>
          <a:xfrm>
            <a:off x="0" y="8821294"/>
            <a:ext cx="8737081" cy="608464"/>
            <a:chOff x="0" y="-38100"/>
            <a:chExt cx="2071012" cy="144228"/>
          </a:xfrm>
        </p:grpSpPr>
        <p:sp>
          <p:nvSpPr>
            <p:cNvPr id="176" name="Google Shape;176;p8"/>
            <p:cNvSpPr/>
            <p:nvPr/>
          </p:nvSpPr>
          <p:spPr>
            <a:xfrm>
              <a:off x="0" y="0"/>
              <a:ext cx="2071012" cy="106128"/>
            </a:xfrm>
            <a:custGeom>
              <a:rect b="b" l="l" r="r" t="t"/>
              <a:pathLst>
                <a:path extrusionOk="0" h="106128" w="2071012">
                  <a:moveTo>
                    <a:pt x="0" y="0"/>
                  </a:moveTo>
                  <a:lnTo>
                    <a:pt x="2071012" y="0"/>
                  </a:lnTo>
                  <a:lnTo>
                    <a:pt x="2071012" y="106128"/>
                  </a:lnTo>
                  <a:lnTo>
                    <a:pt x="0" y="106128"/>
                  </a:lnTo>
                  <a:close/>
                </a:path>
              </a:pathLst>
            </a:custGeom>
            <a:solidFill>
              <a:srgbClr val="3DCAB1"/>
            </a:solidFill>
            <a:ln>
              <a:noFill/>
            </a:ln>
          </p:spPr>
        </p:sp>
        <p:sp>
          <p:nvSpPr>
            <p:cNvPr id="177" name="Google Shape;177;p8"/>
            <p:cNvSpPr txBox="1"/>
            <p:nvPr/>
          </p:nvSpPr>
          <p:spPr>
            <a:xfrm>
              <a:off x="0" y="-38100"/>
              <a:ext cx="2071012" cy="144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8"/>
          <p:cNvSpPr/>
          <p:nvPr/>
        </p:nvSpPr>
        <p:spPr>
          <a:xfrm>
            <a:off x="1173562" y="2401927"/>
            <a:ext cx="5246370" cy="5246370"/>
          </a:xfrm>
          <a:custGeom>
            <a:rect b="b" l="l" r="r" t="t"/>
            <a:pathLst>
              <a:path extrusionOk="0" h="812800" w="812800">
                <a:moveTo>
                  <a:pt x="88540" y="0"/>
                </a:moveTo>
                <a:lnTo>
                  <a:pt x="724260" y="0"/>
                </a:lnTo>
                <a:cubicBezTo>
                  <a:pt x="773159" y="0"/>
                  <a:pt x="812800" y="39641"/>
                  <a:pt x="812800" y="88540"/>
                </a:cubicBezTo>
                <a:lnTo>
                  <a:pt x="812800" y="724260"/>
                </a:lnTo>
                <a:cubicBezTo>
                  <a:pt x="812800" y="773159"/>
                  <a:pt x="773159" y="812800"/>
                  <a:pt x="724260" y="812800"/>
                </a:cubicBezTo>
                <a:lnTo>
                  <a:pt x="88540" y="812800"/>
                </a:lnTo>
                <a:cubicBezTo>
                  <a:pt x="39641" y="812800"/>
                  <a:pt x="0" y="773159"/>
                  <a:pt x="0" y="724260"/>
                </a:cubicBezTo>
                <a:lnTo>
                  <a:pt x="0" y="88540"/>
                </a:lnTo>
                <a:cubicBezTo>
                  <a:pt x="0" y="39641"/>
                  <a:pt x="39641" y="0"/>
                  <a:pt x="8854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885" r="-1885" t="0"/>
            </a:stretch>
          </a:blipFill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1028700" y="971550"/>
            <a:ext cx="12546211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99" u="none" cap="none" strike="noStrike">
                <a:solidFill>
                  <a:srgbClr val="071C42"/>
                </a:solidFill>
                <a:latin typeface="Poppins"/>
                <a:ea typeface="Poppins"/>
                <a:cs typeface="Poppins"/>
                <a:sym typeface="Poppins"/>
              </a:rPr>
              <a:t>Amazon Elastic File System (EFS)</a:t>
            </a:r>
            <a:endParaRPr/>
          </a:p>
        </p:txBody>
      </p:sp>
      <p:sp>
        <p:nvSpPr>
          <p:cNvPr id="180" name="Google Shape;180;p8"/>
          <p:cNvSpPr txBox="1"/>
          <p:nvPr/>
        </p:nvSpPr>
        <p:spPr>
          <a:xfrm>
            <a:off x="7816965" y="3208998"/>
            <a:ext cx="8321546" cy="397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71C42"/>
                </a:solidFill>
                <a:latin typeface="Open Sans"/>
                <a:ea typeface="Open Sans"/>
                <a:cs typeface="Open Sans"/>
                <a:sym typeface="Open Sans"/>
              </a:rPr>
              <a:t>Amazon Elastic File System es un servicio de almacenamiento en la nube proporcionado por Amazon Web Services diseñado para proporcionar almacenamiento de archivos escalable, elástico, simultáneo con algunas restricciones, y cifrado para su uso con ambos servicios en la nube de AWS y recursos locales.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9"/>
          <p:cNvGrpSpPr/>
          <p:nvPr/>
        </p:nvGrpSpPr>
        <p:grpSpPr>
          <a:xfrm>
            <a:off x="0" y="-144661"/>
            <a:ext cx="18288000" cy="10431661"/>
            <a:chOff x="0" y="-38100"/>
            <a:chExt cx="4816593" cy="2747433"/>
          </a:xfrm>
        </p:grpSpPr>
        <p:sp>
          <p:nvSpPr>
            <p:cNvPr id="186" name="Google Shape;186;p9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71C42"/>
            </a:solidFill>
            <a:ln>
              <a:noFill/>
            </a:ln>
          </p:spPr>
        </p:sp>
        <p:sp>
          <p:nvSpPr>
            <p:cNvPr id="187" name="Google Shape;187;p9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9"/>
          <p:cNvSpPr/>
          <p:nvPr/>
        </p:nvSpPr>
        <p:spPr>
          <a:xfrm>
            <a:off x="13786888" y="629992"/>
            <a:ext cx="6267753" cy="5093974"/>
          </a:xfrm>
          <a:custGeom>
            <a:rect b="b" l="l" r="r" t="t"/>
            <a:pathLst>
              <a:path extrusionOk="0" h="5093974" w="6267753">
                <a:moveTo>
                  <a:pt x="0" y="0"/>
                </a:moveTo>
                <a:lnTo>
                  <a:pt x="6267752" y="0"/>
                </a:lnTo>
                <a:lnTo>
                  <a:pt x="6267752" y="5093973"/>
                </a:lnTo>
                <a:lnTo>
                  <a:pt x="0" y="509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89" name="Google Shape;189;p9"/>
          <p:cNvCxnSpPr/>
          <p:nvPr/>
        </p:nvCxnSpPr>
        <p:spPr>
          <a:xfrm>
            <a:off x="1028700" y="601417"/>
            <a:ext cx="16230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9"/>
          <p:cNvSpPr txBox="1"/>
          <p:nvPr/>
        </p:nvSpPr>
        <p:spPr>
          <a:xfrm>
            <a:off x="3356323" y="1320156"/>
            <a:ext cx="11575353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Características de Amazon EFS</a:t>
            </a:r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4463306" y="3110304"/>
            <a:ext cx="6163628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EF2F5"/>
                </a:solidFill>
                <a:latin typeface="Open Sans"/>
                <a:ea typeface="Open Sans"/>
                <a:cs typeface="Open Sans"/>
                <a:sym typeface="Open Sans"/>
              </a:rPr>
              <a:t>Completamente administrado.</a:t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4463306" y="4214569"/>
            <a:ext cx="6592014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EF2F5"/>
                </a:solidFill>
                <a:latin typeface="Open Sans"/>
                <a:ea typeface="Open Sans"/>
                <a:cs typeface="Open Sans"/>
                <a:sym typeface="Open Sans"/>
              </a:rPr>
              <a:t>Alta disponibilidad y durabilidad.</a:t>
            </a:r>
            <a:endParaRPr/>
          </a:p>
        </p:txBody>
      </p:sp>
      <p:sp>
        <p:nvSpPr>
          <p:cNvPr id="193" name="Google Shape;193;p9"/>
          <p:cNvSpPr txBox="1"/>
          <p:nvPr/>
        </p:nvSpPr>
        <p:spPr>
          <a:xfrm>
            <a:off x="4463306" y="5318834"/>
            <a:ext cx="8515945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EF2F5"/>
                </a:solidFill>
                <a:latin typeface="Open Sans"/>
                <a:ea typeface="Open Sans"/>
                <a:cs typeface="Open Sans"/>
                <a:sym typeface="Open Sans"/>
              </a:rPr>
              <a:t>Totalmente elástico y altamente escalable.</a:t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3356323" y="3291656"/>
            <a:ext cx="540042" cy="513715"/>
          </a:xfrm>
          <a:custGeom>
            <a:rect b="b" l="l" r="r" t="t"/>
            <a:pathLst>
              <a:path extrusionOk="0" h="513715" w="540042">
                <a:moveTo>
                  <a:pt x="0" y="0"/>
                </a:moveTo>
                <a:lnTo>
                  <a:pt x="540042" y="0"/>
                </a:lnTo>
                <a:lnTo>
                  <a:pt x="540042" y="513716"/>
                </a:lnTo>
                <a:lnTo>
                  <a:pt x="0" y="5137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9"/>
          <p:cNvSpPr/>
          <p:nvPr/>
        </p:nvSpPr>
        <p:spPr>
          <a:xfrm>
            <a:off x="3356323" y="4338583"/>
            <a:ext cx="540042" cy="513715"/>
          </a:xfrm>
          <a:custGeom>
            <a:rect b="b" l="l" r="r" t="t"/>
            <a:pathLst>
              <a:path extrusionOk="0" h="513715" w="540042">
                <a:moveTo>
                  <a:pt x="0" y="0"/>
                </a:moveTo>
                <a:lnTo>
                  <a:pt x="540042" y="0"/>
                </a:lnTo>
                <a:lnTo>
                  <a:pt x="540042" y="513715"/>
                </a:lnTo>
                <a:lnTo>
                  <a:pt x="0" y="5137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9"/>
          <p:cNvSpPr txBox="1"/>
          <p:nvPr/>
        </p:nvSpPr>
        <p:spPr>
          <a:xfrm>
            <a:off x="4463306" y="6423099"/>
            <a:ext cx="5300543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EF2F5"/>
                </a:solidFill>
                <a:latin typeface="Open Sans"/>
                <a:ea typeface="Open Sans"/>
                <a:cs typeface="Open Sans"/>
                <a:sym typeface="Open Sans"/>
              </a:rPr>
              <a:t>Tipos de almacenamiento.</a:t>
            </a:r>
            <a:endParaRPr/>
          </a:p>
        </p:txBody>
      </p:sp>
      <p:sp>
        <p:nvSpPr>
          <p:cNvPr id="197" name="Google Shape;197;p9"/>
          <p:cNvSpPr txBox="1"/>
          <p:nvPr/>
        </p:nvSpPr>
        <p:spPr>
          <a:xfrm>
            <a:off x="4463306" y="7527364"/>
            <a:ext cx="8080983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EF2F5"/>
                </a:solidFill>
                <a:latin typeface="Open Sans"/>
                <a:ea typeface="Open Sans"/>
                <a:cs typeface="Open Sans"/>
                <a:sym typeface="Open Sans"/>
              </a:rPr>
              <a:t>Administración del ciclo de vida y organización inteligente por niveles.</a:t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3356323" y="5385509"/>
            <a:ext cx="540042" cy="513715"/>
          </a:xfrm>
          <a:custGeom>
            <a:rect b="b" l="l" r="r" t="t"/>
            <a:pathLst>
              <a:path extrusionOk="0" h="513715" w="540042">
                <a:moveTo>
                  <a:pt x="0" y="0"/>
                </a:moveTo>
                <a:lnTo>
                  <a:pt x="540042" y="0"/>
                </a:lnTo>
                <a:lnTo>
                  <a:pt x="540042" y="513715"/>
                </a:lnTo>
                <a:lnTo>
                  <a:pt x="0" y="5137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9"/>
          <p:cNvSpPr/>
          <p:nvPr/>
        </p:nvSpPr>
        <p:spPr>
          <a:xfrm>
            <a:off x="3356323" y="6537399"/>
            <a:ext cx="540042" cy="513715"/>
          </a:xfrm>
          <a:custGeom>
            <a:rect b="b" l="l" r="r" t="t"/>
            <a:pathLst>
              <a:path extrusionOk="0" h="513715" w="540042">
                <a:moveTo>
                  <a:pt x="0" y="0"/>
                </a:moveTo>
                <a:lnTo>
                  <a:pt x="540042" y="0"/>
                </a:lnTo>
                <a:lnTo>
                  <a:pt x="540042" y="513715"/>
                </a:lnTo>
                <a:lnTo>
                  <a:pt x="0" y="5137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9"/>
          <p:cNvSpPr/>
          <p:nvPr/>
        </p:nvSpPr>
        <p:spPr>
          <a:xfrm>
            <a:off x="3356323" y="7679764"/>
            <a:ext cx="540042" cy="513715"/>
          </a:xfrm>
          <a:custGeom>
            <a:rect b="b" l="l" r="r" t="t"/>
            <a:pathLst>
              <a:path extrusionOk="0" h="513715" w="540042">
                <a:moveTo>
                  <a:pt x="0" y="0"/>
                </a:moveTo>
                <a:lnTo>
                  <a:pt x="540042" y="0"/>
                </a:lnTo>
                <a:lnTo>
                  <a:pt x="540042" y="513715"/>
                </a:lnTo>
                <a:lnTo>
                  <a:pt x="0" y="5137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/>
          <p:nvPr/>
        </p:nvSpPr>
        <p:spPr>
          <a:xfrm>
            <a:off x="10561679" y="-3455076"/>
            <a:ext cx="11153665" cy="8132036"/>
          </a:xfrm>
          <a:custGeom>
            <a:rect b="b" l="l" r="r" t="t"/>
            <a:pathLst>
              <a:path extrusionOk="0" h="8132036" w="11153665">
                <a:moveTo>
                  <a:pt x="0" y="0"/>
                </a:moveTo>
                <a:lnTo>
                  <a:pt x="11153665" y="0"/>
                </a:lnTo>
                <a:lnTo>
                  <a:pt x="11153665" y="8132036"/>
                </a:lnTo>
                <a:lnTo>
                  <a:pt x="0" y="8132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06" name="Google Shape;206;p10"/>
          <p:cNvCxnSpPr/>
          <p:nvPr/>
        </p:nvCxnSpPr>
        <p:spPr>
          <a:xfrm>
            <a:off x="1028700" y="601417"/>
            <a:ext cx="16230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7" name="Google Shape;207;p10"/>
          <p:cNvGrpSpPr/>
          <p:nvPr/>
        </p:nvGrpSpPr>
        <p:grpSpPr>
          <a:xfrm>
            <a:off x="0" y="9269024"/>
            <a:ext cx="18288000" cy="1875218"/>
            <a:chOff x="0" y="-38100"/>
            <a:chExt cx="4334933" cy="444496"/>
          </a:xfrm>
        </p:grpSpPr>
        <p:sp>
          <p:nvSpPr>
            <p:cNvPr id="208" name="Google Shape;208;p10"/>
            <p:cNvSpPr/>
            <p:nvPr/>
          </p:nvSpPr>
          <p:spPr>
            <a:xfrm>
              <a:off x="0" y="0"/>
              <a:ext cx="4334933" cy="406396"/>
            </a:xfrm>
            <a:custGeom>
              <a:rect b="b" l="l" r="r" t="t"/>
              <a:pathLst>
                <a:path extrusionOk="0" h="406396" w="4334933">
                  <a:moveTo>
                    <a:pt x="0" y="0"/>
                  </a:moveTo>
                  <a:lnTo>
                    <a:pt x="4334933" y="0"/>
                  </a:lnTo>
                  <a:lnTo>
                    <a:pt x="4334933" y="406396"/>
                  </a:lnTo>
                  <a:lnTo>
                    <a:pt x="0" y="406396"/>
                  </a:lnTo>
                  <a:close/>
                </a:path>
              </a:pathLst>
            </a:custGeom>
            <a:solidFill>
              <a:srgbClr val="071C42"/>
            </a:solidFill>
            <a:ln>
              <a:noFill/>
            </a:ln>
          </p:spPr>
        </p:sp>
        <p:sp>
          <p:nvSpPr>
            <p:cNvPr id="209" name="Google Shape;209;p10"/>
            <p:cNvSpPr txBox="1"/>
            <p:nvPr/>
          </p:nvSpPr>
          <p:spPr>
            <a:xfrm>
              <a:off x="0" y="-38100"/>
              <a:ext cx="4334933" cy="4444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10"/>
          <p:cNvGrpSpPr/>
          <p:nvPr/>
        </p:nvGrpSpPr>
        <p:grpSpPr>
          <a:xfrm>
            <a:off x="0" y="8821294"/>
            <a:ext cx="8737081" cy="608464"/>
            <a:chOff x="0" y="-38100"/>
            <a:chExt cx="2071012" cy="144228"/>
          </a:xfrm>
        </p:grpSpPr>
        <p:sp>
          <p:nvSpPr>
            <p:cNvPr id="211" name="Google Shape;211;p10"/>
            <p:cNvSpPr/>
            <p:nvPr/>
          </p:nvSpPr>
          <p:spPr>
            <a:xfrm>
              <a:off x="0" y="0"/>
              <a:ext cx="2071012" cy="106128"/>
            </a:xfrm>
            <a:custGeom>
              <a:rect b="b" l="l" r="r" t="t"/>
              <a:pathLst>
                <a:path extrusionOk="0" h="106128" w="2071012">
                  <a:moveTo>
                    <a:pt x="0" y="0"/>
                  </a:moveTo>
                  <a:lnTo>
                    <a:pt x="2071012" y="0"/>
                  </a:lnTo>
                  <a:lnTo>
                    <a:pt x="2071012" y="106128"/>
                  </a:lnTo>
                  <a:lnTo>
                    <a:pt x="0" y="106128"/>
                  </a:lnTo>
                  <a:close/>
                </a:path>
              </a:pathLst>
            </a:custGeom>
            <a:solidFill>
              <a:srgbClr val="3DCAB1"/>
            </a:solidFill>
            <a:ln>
              <a:noFill/>
            </a:ln>
          </p:spPr>
        </p:sp>
        <p:sp>
          <p:nvSpPr>
            <p:cNvPr id="212" name="Google Shape;212;p10"/>
            <p:cNvSpPr txBox="1"/>
            <p:nvPr/>
          </p:nvSpPr>
          <p:spPr>
            <a:xfrm>
              <a:off x="0" y="-38100"/>
              <a:ext cx="2071012" cy="144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10"/>
          <p:cNvSpPr/>
          <p:nvPr/>
        </p:nvSpPr>
        <p:spPr>
          <a:xfrm>
            <a:off x="398283" y="1107638"/>
            <a:ext cx="17491433" cy="7138644"/>
          </a:xfrm>
          <a:custGeom>
            <a:rect b="b" l="l" r="r" t="t"/>
            <a:pathLst>
              <a:path extrusionOk="0" h="7138644" w="17491433">
                <a:moveTo>
                  <a:pt x="0" y="0"/>
                </a:moveTo>
                <a:lnTo>
                  <a:pt x="17491434" y="0"/>
                </a:lnTo>
                <a:lnTo>
                  <a:pt x="17491434" y="7138644"/>
                </a:lnTo>
                <a:lnTo>
                  <a:pt x="0" y="7138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585" r="-584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/>
          <p:nvPr/>
        </p:nvSpPr>
        <p:spPr>
          <a:xfrm>
            <a:off x="10561679" y="-3455076"/>
            <a:ext cx="11153665" cy="8132036"/>
          </a:xfrm>
          <a:custGeom>
            <a:rect b="b" l="l" r="r" t="t"/>
            <a:pathLst>
              <a:path extrusionOk="0" h="8132036" w="11153665">
                <a:moveTo>
                  <a:pt x="0" y="0"/>
                </a:moveTo>
                <a:lnTo>
                  <a:pt x="11153665" y="0"/>
                </a:lnTo>
                <a:lnTo>
                  <a:pt x="11153665" y="8132036"/>
                </a:lnTo>
                <a:lnTo>
                  <a:pt x="0" y="8132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19" name="Google Shape;219;p11"/>
          <p:cNvCxnSpPr/>
          <p:nvPr/>
        </p:nvCxnSpPr>
        <p:spPr>
          <a:xfrm>
            <a:off x="1028700" y="601417"/>
            <a:ext cx="16230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0" name="Google Shape;220;p11"/>
          <p:cNvGrpSpPr/>
          <p:nvPr/>
        </p:nvGrpSpPr>
        <p:grpSpPr>
          <a:xfrm>
            <a:off x="0" y="9269024"/>
            <a:ext cx="18288000" cy="1875218"/>
            <a:chOff x="0" y="-38100"/>
            <a:chExt cx="4334933" cy="444496"/>
          </a:xfrm>
        </p:grpSpPr>
        <p:sp>
          <p:nvSpPr>
            <p:cNvPr id="221" name="Google Shape;221;p11"/>
            <p:cNvSpPr/>
            <p:nvPr/>
          </p:nvSpPr>
          <p:spPr>
            <a:xfrm>
              <a:off x="0" y="0"/>
              <a:ext cx="4334933" cy="406396"/>
            </a:xfrm>
            <a:custGeom>
              <a:rect b="b" l="l" r="r" t="t"/>
              <a:pathLst>
                <a:path extrusionOk="0" h="406396" w="4334933">
                  <a:moveTo>
                    <a:pt x="0" y="0"/>
                  </a:moveTo>
                  <a:lnTo>
                    <a:pt x="4334933" y="0"/>
                  </a:lnTo>
                  <a:lnTo>
                    <a:pt x="4334933" y="406396"/>
                  </a:lnTo>
                  <a:lnTo>
                    <a:pt x="0" y="406396"/>
                  </a:lnTo>
                  <a:close/>
                </a:path>
              </a:pathLst>
            </a:custGeom>
            <a:solidFill>
              <a:srgbClr val="071C42"/>
            </a:solidFill>
            <a:ln>
              <a:noFill/>
            </a:ln>
          </p:spPr>
        </p:sp>
        <p:sp>
          <p:nvSpPr>
            <p:cNvPr id="222" name="Google Shape;222;p11"/>
            <p:cNvSpPr txBox="1"/>
            <p:nvPr/>
          </p:nvSpPr>
          <p:spPr>
            <a:xfrm>
              <a:off x="0" y="-38100"/>
              <a:ext cx="4334933" cy="4444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" name="Google Shape;223;p11"/>
          <p:cNvGrpSpPr/>
          <p:nvPr/>
        </p:nvGrpSpPr>
        <p:grpSpPr>
          <a:xfrm>
            <a:off x="0" y="8821294"/>
            <a:ext cx="8737081" cy="608464"/>
            <a:chOff x="0" y="-38100"/>
            <a:chExt cx="2071012" cy="144228"/>
          </a:xfrm>
        </p:grpSpPr>
        <p:sp>
          <p:nvSpPr>
            <p:cNvPr id="224" name="Google Shape;224;p11"/>
            <p:cNvSpPr/>
            <p:nvPr/>
          </p:nvSpPr>
          <p:spPr>
            <a:xfrm>
              <a:off x="0" y="0"/>
              <a:ext cx="2071012" cy="106128"/>
            </a:xfrm>
            <a:custGeom>
              <a:rect b="b" l="l" r="r" t="t"/>
              <a:pathLst>
                <a:path extrusionOk="0" h="106128" w="2071012">
                  <a:moveTo>
                    <a:pt x="0" y="0"/>
                  </a:moveTo>
                  <a:lnTo>
                    <a:pt x="2071012" y="0"/>
                  </a:lnTo>
                  <a:lnTo>
                    <a:pt x="2071012" y="106128"/>
                  </a:lnTo>
                  <a:lnTo>
                    <a:pt x="0" y="106128"/>
                  </a:lnTo>
                  <a:close/>
                </a:path>
              </a:pathLst>
            </a:custGeom>
            <a:solidFill>
              <a:srgbClr val="3DCAB1"/>
            </a:solidFill>
            <a:ln>
              <a:noFill/>
            </a:ln>
          </p:spPr>
        </p:sp>
        <p:sp>
          <p:nvSpPr>
            <p:cNvPr id="225" name="Google Shape;225;p11"/>
            <p:cNvSpPr txBox="1"/>
            <p:nvPr/>
          </p:nvSpPr>
          <p:spPr>
            <a:xfrm>
              <a:off x="0" y="-38100"/>
              <a:ext cx="2071012" cy="144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11"/>
          <p:cNvSpPr/>
          <p:nvPr/>
        </p:nvSpPr>
        <p:spPr>
          <a:xfrm>
            <a:off x="1028700" y="2065893"/>
            <a:ext cx="16230600" cy="5222133"/>
          </a:xfrm>
          <a:custGeom>
            <a:rect b="b" l="l" r="r" t="t"/>
            <a:pathLst>
              <a:path extrusionOk="0" h="5222133" w="16230600">
                <a:moveTo>
                  <a:pt x="0" y="0"/>
                </a:moveTo>
                <a:lnTo>
                  <a:pt x="16230600" y="0"/>
                </a:lnTo>
                <a:lnTo>
                  <a:pt x="16230600" y="5222133"/>
                </a:lnTo>
                <a:lnTo>
                  <a:pt x="0" y="52221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2"/>
          <p:cNvGrpSpPr/>
          <p:nvPr/>
        </p:nvGrpSpPr>
        <p:grpSpPr>
          <a:xfrm>
            <a:off x="0" y="-144661"/>
            <a:ext cx="18288000" cy="10431661"/>
            <a:chOff x="0" y="-38100"/>
            <a:chExt cx="4816593" cy="2747433"/>
          </a:xfrm>
        </p:grpSpPr>
        <p:sp>
          <p:nvSpPr>
            <p:cNvPr id="232" name="Google Shape;232;p12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71C42"/>
            </a:solidFill>
            <a:ln>
              <a:noFill/>
            </a:ln>
          </p:spPr>
        </p:sp>
        <p:sp>
          <p:nvSpPr>
            <p:cNvPr id="233" name="Google Shape;233;p12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12"/>
          <p:cNvSpPr/>
          <p:nvPr/>
        </p:nvSpPr>
        <p:spPr>
          <a:xfrm>
            <a:off x="13786888" y="629992"/>
            <a:ext cx="6267753" cy="5093974"/>
          </a:xfrm>
          <a:custGeom>
            <a:rect b="b" l="l" r="r" t="t"/>
            <a:pathLst>
              <a:path extrusionOk="0" h="5093974" w="6267753">
                <a:moveTo>
                  <a:pt x="0" y="0"/>
                </a:moveTo>
                <a:lnTo>
                  <a:pt x="6267752" y="0"/>
                </a:lnTo>
                <a:lnTo>
                  <a:pt x="6267752" y="5093973"/>
                </a:lnTo>
                <a:lnTo>
                  <a:pt x="0" y="509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35" name="Google Shape;235;p12"/>
          <p:cNvCxnSpPr/>
          <p:nvPr/>
        </p:nvCxnSpPr>
        <p:spPr>
          <a:xfrm>
            <a:off x="1028700" y="601417"/>
            <a:ext cx="16230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12"/>
          <p:cNvSpPr txBox="1"/>
          <p:nvPr/>
        </p:nvSpPr>
        <p:spPr>
          <a:xfrm>
            <a:off x="6270681" y="1045872"/>
            <a:ext cx="5019302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Amazon EBS</a:t>
            </a:r>
            <a:endParaRPr/>
          </a:p>
        </p:txBody>
      </p:sp>
      <p:pic>
        <p:nvPicPr>
          <p:cNvPr id="237" name="Google Shape;23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3932" y="2433303"/>
            <a:ext cx="10972800" cy="617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"/>
          <p:cNvSpPr/>
          <p:nvPr/>
        </p:nvSpPr>
        <p:spPr>
          <a:xfrm>
            <a:off x="10561679" y="-3455076"/>
            <a:ext cx="11153665" cy="8132036"/>
          </a:xfrm>
          <a:custGeom>
            <a:rect b="b" l="l" r="r" t="t"/>
            <a:pathLst>
              <a:path extrusionOk="0" h="8132036" w="11153665">
                <a:moveTo>
                  <a:pt x="0" y="0"/>
                </a:moveTo>
                <a:lnTo>
                  <a:pt x="11153665" y="0"/>
                </a:lnTo>
                <a:lnTo>
                  <a:pt x="11153665" y="8132036"/>
                </a:lnTo>
                <a:lnTo>
                  <a:pt x="0" y="8132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43" name="Google Shape;243;p13"/>
          <p:cNvCxnSpPr/>
          <p:nvPr/>
        </p:nvCxnSpPr>
        <p:spPr>
          <a:xfrm>
            <a:off x="1028700" y="601417"/>
            <a:ext cx="16230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4" name="Google Shape;244;p13"/>
          <p:cNvGrpSpPr/>
          <p:nvPr/>
        </p:nvGrpSpPr>
        <p:grpSpPr>
          <a:xfrm>
            <a:off x="0" y="9269024"/>
            <a:ext cx="18288000" cy="1875218"/>
            <a:chOff x="0" y="-38100"/>
            <a:chExt cx="4334933" cy="444496"/>
          </a:xfrm>
        </p:grpSpPr>
        <p:sp>
          <p:nvSpPr>
            <p:cNvPr id="245" name="Google Shape;245;p13"/>
            <p:cNvSpPr/>
            <p:nvPr/>
          </p:nvSpPr>
          <p:spPr>
            <a:xfrm>
              <a:off x="0" y="0"/>
              <a:ext cx="4334933" cy="406396"/>
            </a:xfrm>
            <a:custGeom>
              <a:rect b="b" l="l" r="r" t="t"/>
              <a:pathLst>
                <a:path extrusionOk="0" h="406396" w="4334933">
                  <a:moveTo>
                    <a:pt x="0" y="0"/>
                  </a:moveTo>
                  <a:lnTo>
                    <a:pt x="4334933" y="0"/>
                  </a:lnTo>
                  <a:lnTo>
                    <a:pt x="4334933" y="406396"/>
                  </a:lnTo>
                  <a:lnTo>
                    <a:pt x="0" y="406396"/>
                  </a:lnTo>
                  <a:close/>
                </a:path>
              </a:pathLst>
            </a:custGeom>
            <a:solidFill>
              <a:srgbClr val="071C42"/>
            </a:solidFill>
            <a:ln>
              <a:noFill/>
            </a:ln>
          </p:spPr>
        </p:sp>
        <p:sp>
          <p:nvSpPr>
            <p:cNvPr id="246" name="Google Shape;246;p13"/>
            <p:cNvSpPr txBox="1"/>
            <p:nvPr/>
          </p:nvSpPr>
          <p:spPr>
            <a:xfrm>
              <a:off x="0" y="-38100"/>
              <a:ext cx="4334933" cy="4444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13"/>
          <p:cNvGrpSpPr/>
          <p:nvPr/>
        </p:nvGrpSpPr>
        <p:grpSpPr>
          <a:xfrm>
            <a:off x="0" y="8821294"/>
            <a:ext cx="8737081" cy="608464"/>
            <a:chOff x="0" y="-38100"/>
            <a:chExt cx="2071012" cy="144228"/>
          </a:xfrm>
        </p:grpSpPr>
        <p:sp>
          <p:nvSpPr>
            <p:cNvPr id="248" name="Google Shape;248;p13"/>
            <p:cNvSpPr/>
            <p:nvPr/>
          </p:nvSpPr>
          <p:spPr>
            <a:xfrm>
              <a:off x="0" y="0"/>
              <a:ext cx="2071012" cy="106128"/>
            </a:xfrm>
            <a:custGeom>
              <a:rect b="b" l="l" r="r" t="t"/>
              <a:pathLst>
                <a:path extrusionOk="0" h="106128" w="2071012">
                  <a:moveTo>
                    <a:pt x="0" y="0"/>
                  </a:moveTo>
                  <a:lnTo>
                    <a:pt x="2071012" y="0"/>
                  </a:lnTo>
                  <a:lnTo>
                    <a:pt x="2071012" y="106128"/>
                  </a:lnTo>
                  <a:lnTo>
                    <a:pt x="0" y="106128"/>
                  </a:lnTo>
                  <a:close/>
                </a:path>
              </a:pathLst>
            </a:custGeom>
            <a:solidFill>
              <a:srgbClr val="3DCAB1"/>
            </a:solidFill>
            <a:ln>
              <a:noFill/>
            </a:ln>
          </p:spPr>
        </p:sp>
        <p:sp>
          <p:nvSpPr>
            <p:cNvPr id="249" name="Google Shape;249;p13"/>
            <p:cNvSpPr txBox="1"/>
            <p:nvPr/>
          </p:nvSpPr>
          <p:spPr>
            <a:xfrm>
              <a:off x="0" y="-38100"/>
              <a:ext cx="2071012" cy="144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13"/>
          <p:cNvSpPr/>
          <p:nvPr/>
        </p:nvSpPr>
        <p:spPr>
          <a:xfrm>
            <a:off x="1173562" y="2401927"/>
            <a:ext cx="5246370" cy="5246370"/>
          </a:xfrm>
          <a:custGeom>
            <a:rect b="b" l="l" r="r" t="t"/>
            <a:pathLst>
              <a:path extrusionOk="0" h="812800" w="812800">
                <a:moveTo>
                  <a:pt x="88540" y="0"/>
                </a:moveTo>
                <a:lnTo>
                  <a:pt x="724260" y="0"/>
                </a:lnTo>
                <a:cubicBezTo>
                  <a:pt x="773159" y="0"/>
                  <a:pt x="812800" y="39641"/>
                  <a:pt x="812800" y="88540"/>
                </a:cubicBezTo>
                <a:lnTo>
                  <a:pt x="812800" y="724260"/>
                </a:lnTo>
                <a:cubicBezTo>
                  <a:pt x="812800" y="773159"/>
                  <a:pt x="773159" y="812800"/>
                  <a:pt x="724260" y="812800"/>
                </a:cubicBezTo>
                <a:lnTo>
                  <a:pt x="88540" y="812800"/>
                </a:lnTo>
                <a:cubicBezTo>
                  <a:pt x="39641" y="812800"/>
                  <a:pt x="0" y="773159"/>
                  <a:pt x="0" y="724260"/>
                </a:cubicBezTo>
                <a:lnTo>
                  <a:pt x="0" y="88540"/>
                </a:lnTo>
                <a:cubicBezTo>
                  <a:pt x="0" y="39641"/>
                  <a:pt x="39641" y="0"/>
                  <a:pt x="8854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468" l="-11042" r="-11438" t="-16747"/>
            </a:stretch>
          </a:blipFill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"/>
          <p:cNvSpPr txBox="1"/>
          <p:nvPr/>
        </p:nvSpPr>
        <p:spPr>
          <a:xfrm>
            <a:off x="1028700" y="971550"/>
            <a:ext cx="12546211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99" u="none" cap="none" strike="noStrike">
                <a:solidFill>
                  <a:srgbClr val="071C42"/>
                </a:solidFill>
                <a:latin typeface="Poppins"/>
                <a:ea typeface="Poppins"/>
                <a:cs typeface="Poppins"/>
                <a:sym typeface="Poppins"/>
              </a:rPr>
              <a:t>Amazon Elastic Block Store (EBS)</a:t>
            </a:r>
            <a:endParaRPr/>
          </a:p>
        </p:txBody>
      </p:sp>
      <p:sp>
        <p:nvSpPr>
          <p:cNvPr id="252" name="Google Shape;252;p13"/>
          <p:cNvSpPr txBox="1"/>
          <p:nvPr/>
        </p:nvSpPr>
        <p:spPr>
          <a:xfrm>
            <a:off x="7670704" y="2200275"/>
            <a:ext cx="8321546" cy="511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71C42"/>
                </a:solidFill>
                <a:latin typeface="Open Sans"/>
                <a:ea typeface="Open Sans"/>
                <a:cs typeface="Open Sans"/>
                <a:sym typeface="Open Sans"/>
              </a:rPr>
              <a:t>Amazon Elastic Block Store (EBS) es un servicio de almacenamiento de bloques escalable y de alto rendimiento ofrecido por Amazon Web Services (AWS). Proporciona volúmenes de almacenamiento persistente para instancias de Amazon EC2 (Elastic Compute Cloud), lo que permite a los usuarios almacenar datos de forma duradera y acceder a ellos de manera rápida y confiable.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14"/>
          <p:cNvGrpSpPr/>
          <p:nvPr/>
        </p:nvGrpSpPr>
        <p:grpSpPr>
          <a:xfrm>
            <a:off x="0" y="-144661"/>
            <a:ext cx="18288000" cy="10431661"/>
            <a:chOff x="0" y="-38100"/>
            <a:chExt cx="4816593" cy="2747433"/>
          </a:xfrm>
        </p:grpSpPr>
        <p:sp>
          <p:nvSpPr>
            <p:cNvPr id="258" name="Google Shape;258;p14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71C42"/>
            </a:solidFill>
            <a:ln>
              <a:noFill/>
            </a:ln>
          </p:spPr>
        </p:sp>
        <p:sp>
          <p:nvSpPr>
            <p:cNvPr id="259" name="Google Shape;259;p1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14"/>
          <p:cNvSpPr/>
          <p:nvPr/>
        </p:nvSpPr>
        <p:spPr>
          <a:xfrm>
            <a:off x="13786888" y="629992"/>
            <a:ext cx="6267753" cy="5093974"/>
          </a:xfrm>
          <a:custGeom>
            <a:rect b="b" l="l" r="r" t="t"/>
            <a:pathLst>
              <a:path extrusionOk="0" h="5093974" w="6267753">
                <a:moveTo>
                  <a:pt x="0" y="0"/>
                </a:moveTo>
                <a:lnTo>
                  <a:pt x="6267752" y="0"/>
                </a:lnTo>
                <a:lnTo>
                  <a:pt x="6267752" y="5093973"/>
                </a:lnTo>
                <a:lnTo>
                  <a:pt x="0" y="509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61" name="Google Shape;261;p14"/>
          <p:cNvCxnSpPr/>
          <p:nvPr/>
        </p:nvCxnSpPr>
        <p:spPr>
          <a:xfrm>
            <a:off x="1028700" y="601417"/>
            <a:ext cx="16230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14"/>
          <p:cNvSpPr txBox="1"/>
          <p:nvPr/>
        </p:nvSpPr>
        <p:spPr>
          <a:xfrm>
            <a:off x="3356323" y="1320156"/>
            <a:ext cx="11575353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Características de Amazon EBS</a:t>
            </a:r>
            <a:endParaRPr/>
          </a:p>
        </p:txBody>
      </p:sp>
      <p:sp>
        <p:nvSpPr>
          <p:cNvPr id="263" name="Google Shape;263;p14"/>
          <p:cNvSpPr txBox="1"/>
          <p:nvPr/>
        </p:nvSpPr>
        <p:spPr>
          <a:xfrm>
            <a:off x="4463306" y="3110304"/>
            <a:ext cx="2414111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EF2F5"/>
                </a:solidFill>
                <a:latin typeface="Open Sans"/>
                <a:ea typeface="Open Sans"/>
                <a:cs typeface="Open Sans"/>
                <a:sym typeface="Open Sans"/>
              </a:rPr>
              <a:t>Persistencia</a:t>
            </a:r>
            <a:endParaRPr/>
          </a:p>
        </p:txBody>
      </p:sp>
      <p:sp>
        <p:nvSpPr>
          <p:cNvPr id="264" name="Google Shape;264;p14"/>
          <p:cNvSpPr txBox="1"/>
          <p:nvPr/>
        </p:nvSpPr>
        <p:spPr>
          <a:xfrm>
            <a:off x="4463306" y="4214569"/>
            <a:ext cx="6592014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EF2F5"/>
                </a:solidFill>
                <a:latin typeface="Open Sans"/>
                <a:ea typeface="Open Sans"/>
                <a:cs typeface="Open Sans"/>
                <a:sym typeface="Open Sans"/>
              </a:rPr>
              <a:t>Alta disponibilidad y durabilidad.</a:t>
            </a:r>
            <a:endParaRPr/>
          </a:p>
        </p:txBody>
      </p:sp>
      <p:sp>
        <p:nvSpPr>
          <p:cNvPr id="265" name="Google Shape;265;p14"/>
          <p:cNvSpPr txBox="1"/>
          <p:nvPr/>
        </p:nvSpPr>
        <p:spPr>
          <a:xfrm>
            <a:off x="4463306" y="5318834"/>
            <a:ext cx="8515945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EF2F5"/>
                </a:solidFill>
                <a:latin typeface="Open Sans"/>
                <a:ea typeface="Open Sans"/>
                <a:cs typeface="Open Sans"/>
                <a:sym typeface="Open Sans"/>
              </a:rPr>
              <a:t>Totalmente elástico y altamente escalable.</a:t>
            </a:r>
            <a:endParaRPr/>
          </a:p>
        </p:txBody>
      </p:sp>
      <p:sp>
        <p:nvSpPr>
          <p:cNvPr id="266" name="Google Shape;266;p14"/>
          <p:cNvSpPr/>
          <p:nvPr/>
        </p:nvSpPr>
        <p:spPr>
          <a:xfrm>
            <a:off x="3356323" y="3291656"/>
            <a:ext cx="540042" cy="513715"/>
          </a:xfrm>
          <a:custGeom>
            <a:rect b="b" l="l" r="r" t="t"/>
            <a:pathLst>
              <a:path extrusionOk="0" h="513715" w="540042">
                <a:moveTo>
                  <a:pt x="0" y="0"/>
                </a:moveTo>
                <a:lnTo>
                  <a:pt x="540042" y="0"/>
                </a:lnTo>
                <a:lnTo>
                  <a:pt x="540042" y="513716"/>
                </a:lnTo>
                <a:lnTo>
                  <a:pt x="0" y="5137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14"/>
          <p:cNvSpPr/>
          <p:nvPr/>
        </p:nvSpPr>
        <p:spPr>
          <a:xfrm>
            <a:off x="3356323" y="4338583"/>
            <a:ext cx="540042" cy="513715"/>
          </a:xfrm>
          <a:custGeom>
            <a:rect b="b" l="l" r="r" t="t"/>
            <a:pathLst>
              <a:path extrusionOk="0" h="513715" w="540042">
                <a:moveTo>
                  <a:pt x="0" y="0"/>
                </a:moveTo>
                <a:lnTo>
                  <a:pt x="540042" y="0"/>
                </a:lnTo>
                <a:lnTo>
                  <a:pt x="540042" y="513715"/>
                </a:lnTo>
                <a:lnTo>
                  <a:pt x="0" y="5137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14"/>
          <p:cNvSpPr txBox="1"/>
          <p:nvPr/>
        </p:nvSpPr>
        <p:spPr>
          <a:xfrm>
            <a:off x="4463306" y="6470724"/>
            <a:ext cx="7761804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EF2F5"/>
                </a:solidFill>
                <a:latin typeface="Open Sans"/>
                <a:ea typeface="Open Sans"/>
                <a:cs typeface="Open Sans"/>
                <a:sym typeface="Open Sans"/>
              </a:rPr>
              <a:t>Instantáneas para copias de seguridad</a:t>
            </a:r>
            <a:endParaRPr/>
          </a:p>
        </p:txBody>
      </p:sp>
      <p:sp>
        <p:nvSpPr>
          <p:cNvPr id="269" name="Google Shape;269;p14"/>
          <p:cNvSpPr txBox="1"/>
          <p:nvPr/>
        </p:nvSpPr>
        <p:spPr>
          <a:xfrm>
            <a:off x="4463306" y="7527364"/>
            <a:ext cx="10468371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EF2F5"/>
                </a:solidFill>
                <a:latin typeface="Open Sans"/>
                <a:ea typeface="Open Sans"/>
                <a:cs typeface="Open Sans"/>
                <a:sym typeface="Open Sans"/>
              </a:rPr>
              <a:t>Ofrece diferentes tipos de volumenes con opciones de rendimiento configurables</a:t>
            </a:r>
            <a:endParaRPr/>
          </a:p>
        </p:txBody>
      </p:sp>
      <p:sp>
        <p:nvSpPr>
          <p:cNvPr id="270" name="Google Shape;270;p14"/>
          <p:cNvSpPr/>
          <p:nvPr/>
        </p:nvSpPr>
        <p:spPr>
          <a:xfrm>
            <a:off x="3356323" y="5385509"/>
            <a:ext cx="540042" cy="513715"/>
          </a:xfrm>
          <a:custGeom>
            <a:rect b="b" l="l" r="r" t="t"/>
            <a:pathLst>
              <a:path extrusionOk="0" h="513715" w="540042">
                <a:moveTo>
                  <a:pt x="0" y="0"/>
                </a:moveTo>
                <a:lnTo>
                  <a:pt x="540042" y="0"/>
                </a:lnTo>
                <a:lnTo>
                  <a:pt x="540042" y="513715"/>
                </a:lnTo>
                <a:lnTo>
                  <a:pt x="0" y="5137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14"/>
          <p:cNvSpPr/>
          <p:nvPr/>
        </p:nvSpPr>
        <p:spPr>
          <a:xfrm>
            <a:off x="3356323" y="6537399"/>
            <a:ext cx="540042" cy="513715"/>
          </a:xfrm>
          <a:custGeom>
            <a:rect b="b" l="l" r="r" t="t"/>
            <a:pathLst>
              <a:path extrusionOk="0" h="513715" w="540042">
                <a:moveTo>
                  <a:pt x="0" y="0"/>
                </a:moveTo>
                <a:lnTo>
                  <a:pt x="540042" y="0"/>
                </a:lnTo>
                <a:lnTo>
                  <a:pt x="540042" y="513715"/>
                </a:lnTo>
                <a:lnTo>
                  <a:pt x="0" y="5137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2" name="Google Shape;272;p14"/>
          <p:cNvSpPr/>
          <p:nvPr/>
        </p:nvSpPr>
        <p:spPr>
          <a:xfrm>
            <a:off x="3356323" y="7679764"/>
            <a:ext cx="540042" cy="513715"/>
          </a:xfrm>
          <a:custGeom>
            <a:rect b="b" l="l" r="r" t="t"/>
            <a:pathLst>
              <a:path extrusionOk="0" h="513715" w="540042">
                <a:moveTo>
                  <a:pt x="0" y="0"/>
                </a:moveTo>
                <a:lnTo>
                  <a:pt x="540042" y="0"/>
                </a:lnTo>
                <a:lnTo>
                  <a:pt x="540042" y="513715"/>
                </a:lnTo>
                <a:lnTo>
                  <a:pt x="0" y="5137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10561679" y="-3455076"/>
            <a:ext cx="11153665" cy="8132036"/>
          </a:xfrm>
          <a:custGeom>
            <a:rect b="b" l="l" r="r" t="t"/>
            <a:pathLst>
              <a:path extrusionOk="0" h="8132036" w="11153665">
                <a:moveTo>
                  <a:pt x="0" y="0"/>
                </a:moveTo>
                <a:lnTo>
                  <a:pt x="11153665" y="0"/>
                </a:lnTo>
                <a:lnTo>
                  <a:pt x="11153665" y="8132036"/>
                </a:lnTo>
                <a:lnTo>
                  <a:pt x="0" y="8132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78" name="Google Shape;278;p15"/>
          <p:cNvCxnSpPr/>
          <p:nvPr/>
        </p:nvCxnSpPr>
        <p:spPr>
          <a:xfrm>
            <a:off x="1028700" y="601417"/>
            <a:ext cx="16230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9" name="Google Shape;279;p15"/>
          <p:cNvGrpSpPr/>
          <p:nvPr/>
        </p:nvGrpSpPr>
        <p:grpSpPr>
          <a:xfrm>
            <a:off x="0" y="9269024"/>
            <a:ext cx="18288000" cy="1875218"/>
            <a:chOff x="0" y="-38100"/>
            <a:chExt cx="4334933" cy="444496"/>
          </a:xfrm>
        </p:grpSpPr>
        <p:sp>
          <p:nvSpPr>
            <p:cNvPr id="280" name="Google Shape;280;p15"/>
            <p:cNvSpPr/>
            <p:nvPr/>
          </p:nvSpPr>
          <p:spPr>
            <a:xfrm>
              <a:off x="0" y="0"/>
              <a:ext cx="4334933" cy="406396"/>
            </a:xfrm>
            <a:custGeom>
              <a:rect b="b" l="l" r="r" t="t"/>
              <a:pathLst>
                <a:path extrusionOk="0" h="406396" w="4334933">
                  <a:moveTo>
                    <a:pt x="0" y="0"/>
                  </a:moveTo>
                  <a:lnTo>
                    <a:pt x="4334933" y="0"/>
                  </a:lnTo>
                  <a:lnTo>
                    <a:pt x="4334933" y="406396"/>
                  </a:lnTo>
                  <a:lnTo>
                    <a:pt x="0" y="406396"/>
                  </a:lnTo>
                  <a:close/>
                </a:path>
              </a:pathLst>
            </a:custGeom>
            <a:solidFill>
              <a:srgbClr val="071C42"/>
            </a:solidFill>
            <a:ln>
              <a:noFill/>
            </a:ln>
          </p:spPr>
        </p:sp>
        <p:sp>
          <p:nvSpPr>
            <p:cNvPr id="281" name="Google Shape;281;p15"/>
            <p:cNvSpPr txBox="1"/>
            <p:nvPr/>
          </p:nvSpPr>
          <p:spPr>
            <a:xfrm>
              <a:off x="0" y="-38100"/>
              <a:ext cx="4334933" cy="4444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282;p15"/>
          <p:cNvGrpSpPr/>
          <p:nvPr/>
        </p:nvGrpSpPr>
        <p:grpSpPr>
          <a:xfrm>
            <a:off x="0" y="8821294"/>
            <a:ext cx="8737081" cy="608464"/>
            <a:chOff x="0" y="-38100"/>
            <a:chExt cx="2071012" cy="144228"/>
          </a:xfrm>
        </p:grpSpPr>
        <p:sp>
          <p:nvSpPr>
            <p:cNvPr id="283" name="Google Shape;283;p15"/>
            <p:cNvSpPr/>
            <p:nvPr/>
          </p:nvSpPr>
          <p:spPr>
            <a:xfrm>
              <a:off x="0" y="0"/>
              <a:ext cx="2071012" cy="106128"/>
            </a:xfrm>
            <a:custGeom>
              <a:rect b="b" l="l" r="r" t="t"/>
              <a:pathLst>
                <a:path extrusionOk="0" h="106128" w="2071012">
                  <a:moveTo>
                    <a:pt x="0" y="0"/>
                  </a:moveTo>
                  <a:lnTo>
                    <a:pt x="2071012" y="0"/>
                  </a:lnTo>
                  <a:lnTo>
                    <a:pt x="2071012" y="106128"/>
                  </a:lnTo>
                  <a:lnTo>
                    <a:pt x="0" y="106128"/>
                  </a:lnTo>
                  <a:close/>
                </a:path>
              </a:pathLst>
            </a:custGeom>
            <a:solidFill>
              <a:srgbClr val="3DCAB1"/>
            </a:solidFill>
            <a:ln>
              <a:noFill/>
            </a:ln>
          </p:spPr>
        </p:sp>
        <p:sp>
          <p:nvSpPr>
            <p:cNvPr id="284" name="Google Shape;284;p15"/>
            <p:cNvSpPr txBox="1"/>
            <p:nvPr/>
          </p:nvSpPr>
          <p:spPr>
            <a:xfrm>
              <a:off x="0" y="-38100"/>
              <a:ext cx="2071012" cy="144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" name="Google Shape;285;p15"/>
          <p:cNvSpPr/>
          <p:nvPr/>
        </p:nvSpPr>
        <p:spPr>
          <a:xfrm>
            <a:off x="287213" y="1483623"/>
            <a:ext cx="17713573" cy="6386674"/>
          </a:xfrm>
          <a:custGeom>
            <a:rect b="b" l="l" r="r" t="t"/>
            <a:pathLst>
              <a:path extrusionOk="0" h="6386674" w="17713573">
                <a:moveTo>
                  <a:pt x="0" y="0"/>
                </a:moveTo>
                <a:lnTo>
                  <a:pt x="17713574" y="0"/>
                </a:lnTo>
                <a:lnTo>
                  <a:pt x="17713574" y="6386674"/>
                </a:lnTo>
                <a:lnTo>
                  <a:pt x="0" y="6386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736" l="-5370" r="-5613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"/>
          <p:cNvSpPr/>
          <p:nvPr/>
        </p:nvSpPr>
        <p:spPr>
          <a:xfrm>
            <a:off x="10561679" y="-3455076"/>
            <a:ext cx="11153665" cy="8132036"/>
          </a:xfrm>
          <a:custGeom>
            <a:rect b="b" l="l" r="r" t="t"/>
            <a:pathLst>
              <a:path extrusionOk="0" h="8132036" w="11153665">
                <a:moveTo>
                  <a:pt x="0" y="0"/>
                </a:moveTo>
                <a:lnTo>
                  <a:pt x="11153665" y="0"/>
                </a:lnTo>
                <a:lnTo>
                  <a:pt x="11153665" y="8132036"/>
                </a:lnTo>
                <a:lnTo>
                  <a:pt x="0" y="8132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91" name="Google Shape;291;p16"/>
          <p:cNvCxnSpPr/>
          <p:nvPr/>
        </p:nvCxnSpPr>
        <p:spPr>
          <a:xfrm>
            <a:off x="1028700" y="601417"/>
            <a:ext cx="16230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2" name="Google Shape;292;p16"/>
          <p:cNvGrpSpPr/>
          <p:nvPr/>
        </p:nvGrpSpPr>
        <p:grpSpPr>
          <a:xfrm>
            <a:off x="0" y="9269024"/>
            <a:ext cx="18288000" cy="1875218"/>
            <a:chOff x="0" y="-38100"/>
            <a:chExt cx="4334933" cy="444496"/>
          </a:xfrm>
        </p:grpSpPr>
        <p:sp>
          <p:nvSpPr>
            <p:cNvPr id="293" name="Google Shape;293;p16"/>
            <p:cNvSpPr/>
            <p:nvPr/>
          </p:nvSpPr>
          <p:spPr>
            <a:xfrm>
              <a:off x="0" y="0"/>
              <a:ext cx="4334933" cy="406396"/>
            </a:xfrm>
            <a:custGeom>
              <a:rect b="b" l="l" r="r" t="t"/>
              <a:pathLst>
                <a:path extrusionOk="0" h="406396" w="4334933">
                  <a:moveTo>
                    <a:pt x="0" y="0"/>
                  </a:moveTo>
                  <a:lnTo>
                    <a:pt x="4334933" y="0"/>
                  </a:lnTo>
                  <a:lnTo>
                    <a:pt x="4334933" y="406396"/>
                  </a:lnTo>
                  <a:lnTo>
                    <a:pt x="0" y="406396"/>
                  </a:lnTo>
                  <a:close/>
                </a:path>
              </a:pathLst>
            </a:custGeom>
            <a:solidFill>
              <a:srgbClr val="071C42"/>
            </a:solidFill>
            <a:ln>
              <a:noFill/>
            </a:ln>
          </p:spPr>
        </p:sp>
        <p:sp>
          <p:nvSpPr>
            <p:cNvPr id="294" name="Google Shape;294;p16"/>
            <p:cNvSpPr txBox="1"/>
            <p:nvPr/>
          </p:nvSpPr>
          <p:spPr>
            <a:xfrm>
              <a:off x="0" y="-38100"/>
              <a:ext cx="4334933" cy="4444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5" name="Google Shape;295;p16"/>
          <p:cNvGrpSpPr/>
          <p:nvPr/>
        </p:nvGrpSpPr>
        <p:grpSpPr>
          <a:xfrm>
            <a:off x="0" y="8821294"/>
            <a:ext cx="8737081" cy="608464"/>
            <a:chOff x="0" y="-38100"/>
            <a:chExt cx="2071012" cy="144228"/>
          </a:xfrm>
        </p:grpSpPr>
        <p:sp>
          <p:nvSpPr>
            <p:cNvPr id="296" name="Google Shape;296;p16"/>
            <p:cNvSpPr/>
            <p:nvPr/>
          </p:nvSpPr>
          <p:spPr>
            <a:xfrm>
              <a:off x="0" y="0"/>
              <a:ext cx="2071012" cy="106128"/>
            </a:xfrm>
            <a:custGeom>
              <a:rect b="b" l="l" r="r" t="t"/>
              <a:pathLst>
                <a:path extrusionOk="0" h="106128" w="2071012">
                  <a:moveTo>
                    <a:pt x="0" y="0"/>
                  </a:moveTo>
                  <a:lnTo>
                    <a:pt x="2071012" y="0"/>
                  </a:lnTo>
                  <a:lnTo>
                    <a:pt x="2071012" y="106128"/>
                  </a:lnTo>
                  <a:lnTo>
                    <a:pt x="0" y="106128"/>
                  </a:lnTo>
                  <a:close/>
                </a:path>
              </a:pathLst>
            </a:custGeom>
            <a:solidFill>
              <a:srgbClr val="3DCAB1"/>
            </a:solidFill>
            <a:ln>
              <a:noFill/>
            </a:ln>
          </p:spPr>
        </p:sp>
        <p:sp>
          <p:nvSpPr>
            <p:cNvPr id="297" name="Google Shape;297;p16"/>
            <p:cNvSpPr txBox="1"/>
            <p:nvPr/>
          </p:nvSpPr>
          <p:spPr>
            <a:xfrm>
              <a:off x="0" y="-38100"/>
              <a:ext cx="2071012" cy="144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8" name="Google Shape;298;p16"/>
          <p:cNvSpPr/>
          <p:nvPr/>
        </p:nvSpPr>
        <p:spPr>
          <a:xfrm>
            <a:off x="1028700" y="1895151"/>
            <a:ext cx="16230600" cy="5563617"/>
          </a:xfrm>
          <a:custGeom>
            <a:rect b="b" l="l" r="r" t="t"/>
            <a:pathLst>
              <a:path extrusionOk="0" h="5563617" w="16230600">
                <a:moveTo>
                  <a:pt x="0" y="0"/>
                </a:moveTo>
                <a:lnTo>
                  <a:pt x="16230600" y="0"/>
                </a:lnTo>
                <a:lnTo>
                  <a:pt x="16230600" y="5563617"/>
                </a:lnTo>
                <a:lnTo>
                  <a:pt x="0" y="55636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17"/>
          <p:cNvGrpSpPr/>
          <p:nvPr/>
        </p:nvGrpSpPr>
        <p:grpSpPr>
          <a:xfrm>
            <a:off x="0" y="-144661"/>
            <a:ext cx="18288000" cy="10431661"/>
            <a:chOff x="0" y="-38100"/>
            <a:chExt cx="4816593" cy="2747433"/>
          </a:xfrm>
        </p:grpSpPr>
        <p:sp>
          <p:nvSpPr>
            <p:cNvPr id="304" name="Google Shape;304;p17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71C42"/>
            </a:solidFill>
            <a:ln>
              <a:noFill/>
            </a:ln>
          </p:spPr>
        </p:sp>
        <p:sp>
          <p:nvSpPr>
            <p:cNvPr id="305" name="Google Shape;305;p17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6" name="Google Shape;306;p17"/>
          <p:cNvSpPr/>
          <p:nvPr/>
        </p:nvSpPr>
        <p:spPr>
          <a:xfrm>
            <a:off x="13786888" y="629992"/>
            <a:ext cx="6267753" cy="5093974"/>
          </a:xfrm>
          <a:custGeom>
            <a:rect b="b" l="l" r="r" t="t"/>
            <a:pathLst>
              <a:path extrusionOk="0" h="5093974" w="6267753">
                <a:moveTo>
                  <a:pt x="0" y="0"/>
                </a:moveTo>
                <a:lnTo>
                  <a:pt x="6267752" y="0"/>
                </a:lnTo>
                <a:lnTo>
                  <a:pt x="6267752" y="5093973"/>
                </a:lnTo>
                <a:lnTo>
                  <a:pt x="0" y="509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07" name="Google Shape;307;p17"/>
          <p:cNvCxnSpPr/>
          <p:nvPr/>
        </p:nvCxnSpPr>
        <p:spPr>
          <a:xfrm>
            <a:off x="1028700" y="601417"/>
            <a:ext cx="16230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17"/>
          <p:cNvSpPr txBox="1"/>
          <p:nvPr/>
        </p:nvSpPr>
        <p:spPr>
          <a:xfrm>
            <a:off x="6715613" y="1045872"/>
            <a:ext cx="4129438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Amazon S3</a:t>
            </a:r>
            <a:endParaRPr/>
          </a:p>
        </p:txBody>
      </p:sp>
      <p:pic>
        <p:nvPicPr>
          <p:cNvPr id="309" name="Google Shape;30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3932" y="2433303"/>
            <a:ext cx="10972800" cy="617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"/>
          <p:cNvSpPr/>
          <p:nvPr/>
        </p:nvSpPr>
        <p:spPr>
          <a:xfrm>
            <a:off x="10561679" y="-3455076"/>
            <a:ext cx="11153665" cy="8132036"/>
          </a:xfrm>
          <a:custGeom>
            <a:rect b="b" l="l" r="r" t="t"/>
            <a:pathLst>
              <a:path extrusionOk="0" h="8132036" w="11153665">
                <a:moveTo>
                  <a:pt x="0" y="0"/>
                </a:moveTo>
                <a:lnTo>
                  <a:pt x="11153665" y="0"/>
                </a:lnTo>
                <a:lnTo>
                  <a:pt x="11153665" y="8132036"/>
                </a:lnTo>
                <a:lnTo>
                  <a:pt x="0" y="8132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15" name="Google Shape;315;p18"/>
          <p:cNvCxnSpPr/>
          <p:nvPr/>
        </p:nvCxnSpPr>
        <p:spPr>
          <a:xfrm>
            <a:off x="1028700" y="601417"/>
            <a:ext cx="16230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6" name="Google Shape;316;p18"/>
          <p:cNvGrpSpPr/>
          <p:nvPr/>
        </p:nvGrpSpPr>
        <p:grpSpPr>
          <a:xfrm>
            <a:off x="0" y="9269024"/>
            <a:ext cx="18288000" cy="1875218"/>
            <a:chOff x="0" y="-38100"/>
            <a:chExt cx="4334933" cy="444496"/>
          </a:xfrm>
        </p:grpSpPr>
        <p:sp>
          <p:nvSpPr>
            <p:cNvPr id="317" name="Google Shape;317;p18"/>
            <p:cNvSpPr/>
            <p:nvPr/>
          </p:nvSpPr>
          <p:spPr>
            <a:xfrm>
              <a:off x="0" y="0"/>
              <a:ext cx="4334933" cy="406396"/>
            </a:xfrm>
            <a:custGeom>
              <a:rect b="b" l="l" r="r" t="t"/>
              <a:pathLst>
                <a:path extrusionOk="0" h="406396" w="4334933">
                  <a:moveTo>
                    <a:pt x="0" y="0"/>
                  </a:moveTo>
                  <a:lnTo>
                    <a:pt x="4334933" y="0"/>
                  </a:lnTo>
                  <a:lnTo>
                    <a:pt x="4334933" y="406396"/>
                  </a:lnTo>
                  <a:lnTo>
                    <a:pt x="0" y="406396"/>
                  </a:lnTo>
                  <a:close/>
                </a:path>
              </a:pathLst>
            </a:custGeom>
            <a:solidFill>
              <a:srgbClr val="071C42"/>
            </a:solidFill>
            <a:ln>
              <a:noFill/>
            </a:ln>
          </p:spPr>
        </p:sp>
        <p:sp>
          <p:nvSpPr>
            <p:cNvPr id="318" name="Google Shape;318;p18"/>
            <p:cNvSpPr txBox="1"/>
            <p:nvPr/>
          </p:nvSpPr>
          <p:spPr>
            <a:xfrm>
              <a:off x="0" y="-38100"/>
              <a:ext cx="4334933" cy="4444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9" name="Google Shape;319;p18"/>
          <p:cNvGrpSpPr/>
          <p:nvPr/>
        </p:nvGrpSpPr>
        <p:grpSpPr>
          <a:xfrm>
            <a:off x="0" y="8821294"/>
            <a:ext cx="8737081" cy="608464"/>
            <a:chOff x="0" y="-38100"/>
            <a:chExt cx="2071012" cy="144228"/>
          </a:xfrm>
        </p:grpSpPr>
        <p:sp>
          <p:nvSpPr>
            <p:cNvPr id="320" name="Google Shape;320;p18"/>
            <p:cNvSpPr/>
            <p:nvPr/>
          </p:nvSpPr>
          <p:spPr>
            <a:xfrm>
              <a:off x="0" y="0"/>
              <a:ext cx="2071012" cy="106128"/>
            </a:xfrm>
            <a:custGeom>
              <a:rect b="b" l="l" r="r" t="t"/>
              <a:pathLst>
                <a:path extrusionOk="0" h="106128" w="2071012">
                  <a:moveTo>
                    <a:pt x="0" y="0"/>
                  </a:moveTo>
                  <a:lnTo>
                    <a:pt x="2071012" y="0"/>
                  </a:lnTo>
                  <a:lnTo>
                    <a:pt x="2071012" y="106128"/>
                  </a:lnTo>
                  <a:lnTo>
                    <a:pt x="0" y="106128"/>
                  </a:lnTo>
                  <a:close/>
                </a:path>
              </a:pathLst>
            </a:custGeom>
            <a:solidFill>
              <a:srgbClr val="3DCAB1"/>
            </a:solidFill>
            <a:ln>
              <a:noFill/>
            </a:ln>
          </p:spPr>
        </p:sp>
        <p:sp>
          <p:nvSpPr>
            <p:cNvPr id="321" name="Google Shape;321;p18"/>
            <p:cNvSpPr txBox="1"/>
            <p:nvPr/>
          </p:nvSpPr>
          <p:spPr>
            <a:xfrm>
              <a:off x="0" y="-38100"/>
              <a:ext cx="2071012" cy="144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2" name="Google Shape;322;p18"/>
          <p:cNvSpPr/>
          <p:nvPr/>
        </p:nvSpPr>
        <p:spPr>
          <a:xfrm>
            <a:off x="1173562" y="2401927"/>
            <a:ext cx="5246370" cy="5246370"/>
          </a:xfrm>
          <a:custGeom>
            <a:rect b="b" l="l" r="r" t="t"/>
            <a:pathLst>
              <a:path extrusionOk="0" h="812800" w="812800">
                <a:moveTo>
                  <a:pt x="88540" y="0"/>
                </a:moveTo>
                <a:lnTo>
                  <a:pt x="724260" y="0"/>
                </a:lnTo>
                <a:cubicBezTo>
                  <a:pt x="773159" y="0"/>
                  <a:pt x="812800" y="39641"/>
                  <a:pt x="812800" y="88540"/>
                </a:cubicBezTo>
                <a:lnTo>
                  <a:pt x="812800" y="724260"/>
                </a:lnTo>
                <a:cubicBezTo>
                  <a:pt x="812800" y="773159"/>
                  <a:pt x="773159" y="812800"/>
                  <a:pt x="724260" y="812800"/>
                </a:cubicBezTo>
                <a:lnTo>
                  <a:pt x="88540" y="812800"/>
                </a:lnTo>
                <a:cubicBezTo>
                  <a:pt x="39641" y="812800"/>
                  <a:pt x="0" y="773159"/>
                  <a:pt x="0" y="724260"/>
                </a:cubicBezTo>
                <a:lnTo>
                  <a:pt x="0" y="88540"/>
                </a:lnTo>
                <a:cubicBezTo>
                  <a:pt x="0" y="39641"/>
                  <a:pt x="39641" y="0"/>
                  <a:pt x="8854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46996" r="-46994" t="0"/>
            </a:stretch>
          </a:blipFill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8"/>
          <p:cNvSpPr txBox="1"/>
          <p:nvPr/>
        </p:nvSpPr>
        <p:spPr>
          <a:xfrm>
            <a:off x="1028700" y="971550"/>
            <a:ext cx="14305245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99" u="none" cap="none" strike="noStrike">
                <a:solidFill>
                  <a:srgbClr val="071C42"/>
                </a:solidFill>
                <a:latin typeface="Poppins"/>
                <a:ea typeface="Poppins"/>
                <a:cs typeface="Poppins"/>
                <a:sym typeface="Poppins"/>
              </a:rPr>
              <a:t>Amazon Simple Storage Service (S3)</a:t>
            </a:r>
            <a:endParaRPr/>
          </a:p>
        </p:txBody>
      </p:sp>
      <p:sp>
        <p:nvSpPr>
          <p:cNvPr id="324" name="Google Shape;324;p18"/>
          <p:cNvSpPr txBox="1"/>
          <p:nvPr/>
        </p:nvSpPr>
        <p:spPr>
          <a:xfrm>
            <a:off x="7816965" y="3237573"/>
            <a:ext cx="8321546" cy="3517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73" u="none" cap="none" strike="noStrike">
                <a:solidFill>
                  <a:srgbClr val="071C42"/>
                </a:solidFill>
                <a:latin typeface="Open Sans"/>
                <a:ea typeface="Open Sans"/>
                <a:cs typeface="Open Sans"/>
                <a:sym typeface="Open Sans"/>
              </a:rPr>
              <a:t>Amazon Simple Storage Service (Amazon S3) es un servicio de almacenamiento de objetos que ofrece escalabilidad, disponibilidad de datos, seguridad y rendimiento lideres en el sector. </a:t>
            </a:r>
            <a:endParaRPr/>
          </a:p>
          <a:p>
            <a:pPr indent="0" lvl="0" marL="0" marR="0" rtl="0" algn="just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73" u="none" cap="none" strike="noStrike">
              <a:solidFill>
                <a:srgbClr val="071C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73" u="none" cap="none" strike="noStrike">
                <a:solidFill>
                  <a:srgbClr val="071C42"/>
                </a:solidFill>
                <a:latin typeface="Open Sans"/>
                <a:ea typeface="Open Sans"/>
                <a:cs typeface="Open Sans"/>
                <a:sym typeface="Open Sans"/>
              </a:rPr>
              <a:t>Los objetos son almacenados en bucket y este tiene un nombre globalmente unico.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oogle Shape;329;p19"/>
          <p:cNvGrpSpPr/>
          <p:nvPr/>
        </p:nvGrpSpPr>
        <p:grpSpPr>
          <a:xfrm>
            <a:off x="0" y="-144661"/>
            <a:ext cx="18288000" cy="10431661"/>
            <a:chOff x="0" y="-38100"/>
            <a:chExt cx="4816593" cy="2747433"/>
          </a:xfrm>
        </p:grpSpPr>
        <p:sp>
          <p:nvSpPr>
            <p:cNvPr id="330" name="Google Shape;330;p19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71C42"/>
            </a:solidFill>
            <a:ln>
              <a:noFill/>
            </a:ln>
          </p:spPr>
        </p:sp>
        <p:sp>
          <p:nvSpPr>
            <p:cNvPr id="331" name="Google Shape;331;p19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19"/>
          <p:cNvSpPr/>
          <p:nvPr/>
        </p:nvSpPr>
        <p:spPr>
          <a:xfrm>
            <a:off x="13786888" y="629992"/>
            <a:ext cx="6267753" cy="5093974"/>
          </a:xfrm>
          <a:custGeom>
            <a:rect b="b" l="l" r="r" t="t"/>
            <a:pathLst>
              <a:path extrusionOk="0" h="5093974" w="6267753">
                <a:moveTo>
                  <a:pt x="0" y="0"/>
                </a:moveTo>
                <a:lnTo>
                  <a:pt x="6267752" y="0"/>
                </a:lnTo>
                <a:lnTo>
                  <a:pt x="6267752" y="5093973"/>
                </a:lnTo>
                <a:lnTo>
                  <a:pt x="0" y="509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33" name="Google Shape;333;p19"/>
          <p:cNvCxnSpPr/>
          <p:nvPr/>
        </p:nvCxnSpPr>
        <p:spPr>
          <a:xfrm>
            <a:off x="1028700" y="601417"/>
            <a:ext cx="16230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19"/>
          <p:cNvSpPr txBox="1"/>
          <p:nvPr/>
        </p:nvSpPr>
        <p:spPr>
          <a:xfrm>
            <a:off x="3356323" y="1320156"/>
            <a:ext cx="11575353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Características de Amazon S3</a:t>
            </a:r>
            <a:endParaRPr/>
          </a:p>
        </p:txBody>
      </p:sp>
      <p:sp>
        <p:nvSpPr>
          <p:cNvPr id="335" name="Google Shape;335;p19"/>
          <p:cNvSpPr txBox="1"/>
          <p:nvPr/>
        </p:nvSpPr>
        <p:spPr>
          <a:xfrm>
            <a:off x="4463306" y="2696413"/>
            <a:ext cx="8151019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EF2F5"/>
                </a:solidFill>
                <a:latin typeface="Open Sans"/>
                <a:ea typeface="Open Sans"/>
                <a:cs typeface="Open Sans"/>
                <a:sym typeface="Open Sans"/>
              </a:rPr>
              <a:t>Rendimiento, escalabilidad y durabilidad</a:t>
            </a:r>
            <a:endParaRPr/>
          </a:p>
        </p:txBody>
      </p:sp>
      <p:sp>
        <p:nvSpPr>
          <p:cNvPr id="336" name="Google Shape;336;p19"/>
          <p:cNvSpPr txBox="1"/>
          <p:nvPr/>
        </p:nvSpPr>
        <p:spPr>
          <a:xfrm>
            <a:off x="4463306" y="3858017"/>
            <a:ext cx="9965531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EF2F5"/>
                </a:solidFill>
                <a:latin typeface="Open Sans"/>
                <a:ea typeface="Open Sans"/>
                <a:cs typeface="Open Sans"/>
                <a:sym typeface="Open Sans"/>
              </a:rPr>
              <a:t>Variedad de clases de almacenamiento rentables.</a:t>
            </a:r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4463306" y="4904944"/>
            <a:ext cx="10357247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EF2F5"/>
                </a:solidFill>
                <a:latin typeface="Open Sans"/>
                <a:ea typeface="Open Sans"/>
                <a:cs typeface="Open Sans"/>
                <a:sym typeface="Open Sans"/>
              </a:rPr>
              <a:t>Capacidades de seguridad, conformidad y auditoria</a:t>
            </a:r>
            <a:endParaRPr/>
          </a:p>
        </p:txBody>
      </p:sp>
      <p:sp>
        <p:nvSpPr>
          <p:cNvPr id="338" name="Google Shape;338;p19"/>
          <p:cNvSpPr/>
          <p:nvPr/>
        </p:nvSpPr>
        <p:spPr>
          <a:xfrm>
            <a:off x="3356323" y="2877766"/>
            <a:ext cx="540042" cy="513715"/>
          </a:xfrm>
          <a:custGeom>
            <a:rect b="b" l="l" r="r" t="t"/>
            <a:pathLst>
              <a:path extrusionOk="0" h="513715" w="540042">
                <a:moveTo>
                  <a:pt x="0" y="0"/>
                </a:moveTo>
                <a:lnTo>
                  <a:pt x="540042" y="0"/>
                </a:lnTo>
                <a:lnTo>
                  <a:pt x="540042" y="513715"/>
                </a:lnTo>
                <a:lnTo>
                  <a:pt x="0" y="5137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9" name="Google Shape;339;p19"/>
          <p:cNvSpPr/>
          <p:nvPr/>
        </p:nvSpPr>
        <p:spPr>
          <a:xfrm>
            <a:off x="3356323" y="3924692"/>
            <a:ext cx="540042" cy="513715"/>
          </a:xfrm>
          <a:custGeom>
            <a:rect b="b" l="l" r="r" t="t"/>
            <a:pathLst>
              <a:path extrusionOk="0" h="513715" w="540042">
                <a:moveTo>
                  <a:pt x="0" y="0"/>
                </a:moveTo>
                <a:lnTo>
                  <a:pt x="540042" y="0"/>
                </a:lnTo>
                <a:lnTo>
                  <a:pt x="540042" y="513715"/>
                </a:lnTo>
                <a:lnTo>
                  <a:pt x="0" y="5137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0" name="Google Shape;340;p19"/>
          <p:cNvSpPr txBox="1"/>
          <p:nvPr/>
        </p:nvSpPr>
        <p:spPr>
          <a:xfrm>
            <a:off x="4463306" y="6171134"/>
            <a:ext cx="10468371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EF2F5"/>
                </a:solidFill>
                <a:latin typeface="Open Sans"/>
                <a:ea typeface="Open Sans"/>
                <a:cs typeface="Open Sans"/>
                <a:sym typeface="Open Sans"/>
              </a:rPr>
              <a:t>Servicio de almacenamiento en la nube con mayor nivel de soporte.</a:t>
            </a:r>
            <a:endParaRPr/>
          </a:p>
        </p:txBody>
      </p:sp>
      <p:sp>
        <p:nvSpPr>
          <p:cNvPr id="341" name="Google Shape;341;p19"/>
          <p:cNvSpPr txBox="1"/>
          <p:nvPr/>
        </p:nvSpPr>
        <p:spPr>
          <a:xfrm>
            <a:off x="4463306" y="7818324"/>
            <a:ext cx="10357247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EEF2F5"/>
                </a:solidFill>
                <a:latin typeface="Open Sans"/>
                <a:ea typeface="Open Sans"/>
                <a:cs typeface="Open Sans"/>
                <a:sym typeface="Open Sans"/>
              </a:rPr>
              <a:t>Administración del ciclo de vida y organización inteligente por niveles.</a:t>
            </a:r>
            <a:endParaRPr/>
          </a:p>
        </p:txBody>
      </p:sp>
      <p:sp>
        <p:nvSpPr>
          <p:cNvPr id="342" name="Google Shape;342;p19"/>
          <p:cNvSpPr/>
          <p:nvPr/>
        </p:nvSpPr>
        <p:spPr>
          <a:xfrm>
            <a:off x="3356323" y="4971619"/>
            <a:ext cx="540042" cy="513715"/>
          </a:xfrm>
          <a:custGeom>
            <a:rect b="b" l="l" r="r" t="t"/>
            <a:pathLst>
              <a:path extrusionOk="0" h="513715" w="540042">
                <a:moveTo>
                  <a:pt x="0" y="0"/>
                </a:moveTo>
                <a:lnTo>
                  <a:pt x="540042" y="0"/>
                </a:lnTo>
                <a:lnTo>
                  <a:pt x="540042" y="513715"/>
                </a:lnTo>
                <a:lnTo>
                  <a:pt x="0" y="5137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3" name="Google Shape;343;p19"/>
          <p:cNvSpPr/>
          <p:nvPr/>
        </p:nvSpPr>
        <p:spPr>
          <a:xfrm>
            <a:off x="3356323" y="6237809"/>
            <a:ext cx="540042" cy="513715"/>
          </a:xfrm>
          <a:custGeom>
            <a:rect b="b" l="l" r="r" t="t"/>
            <a:pathLst>
              <a:path extrusionOk="0" h="513715" w="540042">
                <a:moveTo>
                  <a:pt x="0" y="0"/>
                </a:moveTo>
                <a:lnTo>
                  <a:pt x="540042" y="0"/>
                </a:lnTo>
                <a:lnTo>
                  <a:pt x="540042" y="513715"/>
                </a:lnTo>
                <a:lnTo>
                  <a:pt x="0" y="5137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4" name="Google Shape;344;p19"/>
          <p:cNvSpPr/>
          <p:nvPr/>
        </p:nvSpPr>
        <p:spPr>
          <a:xfrm>
            <a:off x="3356323" y="7884999"/>
            <a:ext cx="540042" cy="513715"/>
          </a:xfrm>
          <a:custGeom>
            <a:rect b="b" l="l" r="r" t="t"/>
            <a:pathLst>
              <a:path extrusionOk="0" h="513715" w="540042">
                <a:moveTo>
                  <a:pt x="0" y="0"/>
                </a:moveTo>
                <a:lnTo>
                  <a:pt x="540042" y="0"/>
                </a:lnTo>
                <a:lnTo>
                  <a:pt x="540042" y="513715"/>
                </a:lnTo>
                <a:lnTo>
                  <a:pt x="0" y="5137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0"/>
          <p:cNvSpPr/>
          <p:nvPr/>
        </p:nvSpPr>
        <p:spPr>
          <a:xfrm>
            <a:off x="10561679" y="-3455076"/>
            <a:ext cx="11153665" cy="8132036"/>
          </a:xfrm>
          <a:custGeom>
            <a:rect b="b" l="l" r="r" t="t"/>
            <a:pathLst>
              <a:path extrusionOk="0" h="8132036" w="11153665">
                <a:moveTo>
                  <a:pt x="0" y="0"/>
                </a:moveTo>
                <a:lnTo>
                  <a:pt x="11153665" y="0"/>
                </a:lnTo>
                <a:lnTo>
                  <a:pt x="11153665" y="8132036"/>
                </a:lnTo>
                <a:lnTo>
                  <a:pt x="0" y="8132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50" name="Google Shape;350;p20"/>
          <p:cNvCxnSpPr/>
          <p:nvPr/>
        </p:nvCxnSpPr>
        <p:spPr>
          <a:xfrm>
            <a:off x="1028700" y="601417"/>
            <a:ext cx="16230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51" name="Google Shape;351;p20"/>
          <p:cNvGrpSpPr/>
          <p:nvPr/>
        </p:nvGrpSpPr>
        <p:grpSpPr>
          <a:xfrm>
            <a:off x="0" y="9269024"/>
            <a:ext cx="18288000" cy="1875218"/>
            <a:chOff x="0" y="-38100"/>
            <a:chExt cx="4334933" cy="444496"/>
          </a:xfrm>
        </p:grpSpPr>
        <p:sp>
          <p:nvSpPr>
            <p:cNvPr id="352" name="Google Shape;352;p20"/>
            <p:cNvSpPr/>
            <p:nvPr/>
          </p:nvSpPr>
          <p:spPr>
            <a:xfrm>
              <a:off x="0" y="0"/>
              <a:ext cx="4334933" cy="406396"/>
            </a:xfrm>
            <a:custGeom>
              <a:rect b="b" l="l" r="r" t="t"/>
              <a:pathLst>
                <a:path extrusionOk="0" h="406396" w="4334933">
                  <a:moveTo>
                    <a:pt x="0" y="0"/>
                  </a:moveTo>
                  <a:lnTo>
                    <a:pt x="4334933" y="0"/>
                  </a:lnTo>
                  <a:lnTo>
                    <a:pt x="4334933" y="406396"/>
                  </a:lnTo>
                  <a:lnTo>
                    <a:pt x="0" y="406396"/>
                  </a:lnTo>
                  <a:close/>
                </a:path>
              </a:pathLst>
            </a:custGeom>
            <a:solidFill>
              <a:srgbClr val="071C42"/>
            </a:solidFill>
            <a:ln>
              <a:noFill/>
            </a:ln>
          </p:spPr>
        </p:sp>
        <p:sp>
          <p:nvSpPr>
            <p:cNvPr id="353" name="Google Shape;353;p20"/>
            <p:cNvSpPr txBox="1"/>
            <p:nvPr/>
          </p:nvSpPr>
          <p:spPr>
            <a:xfrm>
              <a:off x="0" y="-38100"/>
              <a:ext cx="4334933" cy="4444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20"/>
          <p:cNvGrpSpPr/>
          <p:nvPr/>
        </p:nvGrpSpPr>
        <p:grpSpPr>
          <a:xfrm>
            <a:off x="0" y="8821294"/>
            <a:ext cx="8737081" cy="608464"/>
            <a:chOff x="0" y="-38100"/>
            <a:chExt cx="2071012" cy="144228"/>
          </a:xfrm>
        </p:grpSpPr>
        <p:sp>
          <p:nvSpPr>
            <p:cNvPr id="355" name="Google Shape;355;p20"/>
            <p:cNvSpPr/>
            <p:nvPr/>
          </p:nvSpPr>
          <p:spPr>
            <a:xfrm>
              <a:off x="0" y="0"/>
              <a:ext cx="2071012" cy="106128"/>
            </a:xfrm>
            <a:custGeom>
              <a:rect b="b" l="l" r="r" t="t"/>
              <a:pathLst>
                <a:path extrusionOk="0" h="106128" w="2071012">
                  <a:moveTo>
                    <a:pt x="0" y="0"/>
                  </a:moveTo>
                  <a:lnTo>
                    <a:pt x="2071012" y="0"/>
                  </a:lnTo>
                  <a:lnTo>
                    <a:pt x="2071012" y="106128"/>
                  </a:lnTo>
                  <a:lnTo>
                    <a:pt x="0" y="106128"/>
                  </a:lnTo>
                  <a:close/>
                </a:path>
              </a:pathLst>
            </a:custGeom>
            <a:solidFill>
              <a:srgbClr val="3DCAB1"/>
            </a:solidFill>
            <a:ln>
              <a:noFill/>
            </a:ln>
          </p:spPr>
        </p:sp>
        <p:sp>
          <p:nvSpPr>
            <p:cNvPr id="356" name="Google Shape;356;p20"/>
            <p:cNvSpPr txBox="1"/>
            <p:nvPr/>
          </p:nvSpPr>
          <p:spPr>
            <a:xfrm>
              <a:off x="0" y="-38100"/>
              <a:ext cx="2071012" cy="144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7" name="Google Shape;357;p20"/>
          <p:cNvSpPr/>
          <p:nvPr/>
        </p:nvSpPr>
        <p:spPr>
          <a:xfrm>
            <a:off x="514350" y="1807369"/>
            <a:ext cx="17259300" cy="6672262"/>
          </a:xfrm>
          <a:custGeom>
            <a:rect b="b" l="l" r="r" t="t"/>
            <a:pathLst>
              <a:path extrusionOk="0" h="6672262" w="17259300">
                <a:moveTo>
                  <a:pt x="0" y="0"/>
                </a:moveTo>
                <a:lnTo>
                  <a:pt x="17259300" y="0"/>
                </a:lnTo>
                <a:lnTo>
                  <a:pt x="17259300" y="6672262"/>
                </a:lnTo>
                <a:lnTo>
                  <a:pt x="0" y="6672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1"/>
          <p:cNvSpPr/>
          <p:nvPr/>
        </p:nvSpPr>
        <p:spPr>
          <a:xfrm>
            <a:off x="10561679" y="-3455076"/>
            <a:ext cx="11153665" cy="8132036"/>
          </a:xfrm>
          <a:custGeom>
            <a:rect b="b" l="l" r="r" t="t"/>
            <a:pathLst>
              <a:path extrusionOk="0" h="8132036" w="11153665">
                <a:moveTo>
                  <a:pt x="0" y="0"/>
                </a:moveTo>
                <a:lnTo>
                  <a:pt x="11153665" y="0"/>
                </a:lnTo>
                <a:lnTo>
                  <a:pt x="11153665" y="8132036"/>
                </a:lnTo>
                <a:lnTo>
                  <a:pt x="0" y="8132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63" name="Google Shape;363;p21"/>
          <p:cNvCxnSpPr/>
          <p:nvPr/>
        </p:nvCxnSpPr>
        <p:spPr>
          <a:xfrm>
            <a:off x="1028700" y="601417"/>
            <a:ext cx="16230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64" name="Google Shape;364;p21"/>
          <p:cNvGrpSpPr/>
          <p:nvPr/>
        </p:nvGrpSpPr>
        <p:grpSpPr>
          <a:xfrm>
            <a:off x="0" y="9269024"/>
            <a:ext cx="18288000" cy="1875218"/>
            <a:chOff x="0" y="-38100"/>
            <a:chExt cx="4334933" cy="444496"/>
          </a:xfrm>
        </p:grpSpPr>
        <p:sp>
          <p:nvSpPr>
            <p:cNvPr id="365" name="Google Shape;365;p21"/>
            <p:cNvSpPr/>
            <p:nvPr/>
          </p:nvSpPr>
          <p:spPr>
            <a:xfrm>
              <a:off x="0" y="0"/>
              <a:ext cx="4334933" cy="406396"/>
            </a:xfrm>
            <a:custGeom>
              <a:rect b="b" l="l" r="r" t="t"/>
              <a:pathLst>
                <a:path extrusionOk="0" h="406396" w="4334933">
                  <a:moveTo>
                    <a:pt x="0" y="0"/>
                  </a:moveTo>
                  <a:lnTo>
                    <a:pt x="4334933" y="0"/>
                  </a:lnTo>
                  <a:lnTo>
                    <a:pt x="4334933" y="406396"/>
                  </a:lnTo>
                  <a:lnTo>
                    <a:pt x="0" y="406396"/>
                  </a:lnTo>
                  <a:close/>
                </a:path>
              </a:pathLst>
            </a:custGeom>
            <a:solidFill>
              <a:srgbClr val="071C42"/>
            </a:solidFill>
            <a:ln>
              <a:noFill/>
            </a:ln>
          </p:spPr>
        </p:sp>
        <p:sp>
          <p:nvSpPr>
            <p:cNvPr id="366" name="Google Shape;366;p21"/>
            <p:cNvSpPr txBox="1"/>
            <p:nvPr/>
          </p:nvSpPr>
          <p:spPr>
            <a:xfrm>
              <a:off x="0" y="-38100"/>
              <a:ext cx="4334933" cy="4444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7" name="Google Shape;367;p21"/>
          <p:cNvGrpSpPr/>
          <p:nvPr/>
        </p:nvGrpSpPr>
        <p:grpSpPr>
          <a:xfrm>
            <a:off x="0" y="8821294"/>
            <a:ext cx="8737081" cy="608464"/>
            <a:chOff x="0" y="-38100"/>
            <a:chExt cx="2071012" cy="144228"/>
          </a:xfrm>
        </p:grpSpPr>
        <p:sp>
          <p:nvSpPr>
            <p:cNvPr id="368" name="Google Shape;368;p21"/>
            <p:cNvSpPr/>
            <p:nvPr/>
          </p:nvSpPr>
          <p:spPr>
            <a:xfrm>
              <a:off x="0" y="0"/>
              <a:ext cx="2071012" cy="106128"/>
            </a:xfrm>
            <a:custGeom>
              <a:rect b="b" l="l" r="r" t="t"/>
              <a:pathLst>
                <a:path extrusionOk="0" h="106128" w="2071012">
                  <a:moveTo>
                    <a:pt x="0" y="0"/>
                  </a:moveTo>
                  <a:lnTo>
                    <a:pt x="2071012" y="0"/>
                  </a:lnTo>
                  <a:lnTo>
                    <a:pt x="2071012" y="106128"/>
                  </a:lnTo>
                  <a:lnTo>
                    <a:pt x="0" y="106128"/>
                  </a:lnTo>
                  <a:close/>
                </a:path>
              </a:pathLst>
            </a:custGeom>
            <a:solidFill>
              <a:srgbClr val="3DCAB1"/>
            </a:solidFill>
            <a:ln>
              <a:noFill/>
            </a:ln>
          </p:spPr>
        </p:sp>
        <p:sp>
          <p:nvSpPr>
            <p:cNvPr id="369" name="Google Shape;369;p21"/>
            <p:cNvSpPr txBox="1"/>
            <p:nvPr/>
          </p:nvSpPr>
          <p:spPr>
            <a:xfrm>
              <a:off x="0" y="-38100"/>
              <a:ext cx="2071012" cy="144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0" name="Google Shape;370;p21"/>
          <p:cNvSpPr/>
          <p:nvPr/>
        </p:nvSpPr>
        <p:spPr>
          <a:xfrm>
            <a:off x="1028700" y="2014935"/>
            <a:ext cx="16230600" cy="5324050"/>
          </a:xfrm>
          <a:custGeom>
            <a:rect b="b" l="l" r="r" t="t"/>
            <a:pathLst>
              <a:path extrusionOk="0" h="5324050" w="16230600">
                <a:moveTo>
                  <a:pt x="0" y="0"/>
                </a:moveTo>
                <a:lnTo>
                  <a:pt x="16230600" y="0"/>
                </a:lnTo>
                <a:lnTo>
                  <a:pt x="16230600" y="5324050"/>
                </a:lnTo>
                <a:lnTo>
                  <a:pt x="0" y="5324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5" name="Google Shape;375;p22"/>
          <p:cNvCxnSpPr/>
          <p:nvPr/>
        </p:nvCxnSpPr>
        <p:spPr>
          <a:xfrm>
            <a:off x="1028700" y="601417"/>
            <a:ext cx="16230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76" name="Google Shape;376;p22"/>
          <p:cNvGrpSpPr/>
          <p:nvPr/>
        </p:nvGrpSpPr>
        <p:grpSpPr>
          <a:xfrm>
            <a:off x="6831501" y="-160734"/>
            <a:ext cx="11456499" cy="10447734"/>
            <a:chOff x="0" y="-38100"/>
            <a:chExt cx="2715615" cy="2476500"/>
          </a:xfrm>
        </p:grpSpPr>
        <p:sp>
          <p:nvSpPr>
            <p:cNvPr id="377" name="Google Shape;377;p22"/>
            <p:cNvSpPr/>
            <p:nvPr/>
          </p:nvSpPr>
          <p:spPr>
            <a:xfrm>
              <a:off x="0" y="0"/>
              <a:ext cx="2715614" cy="2438400"/>
            </a:xfrm>
            <a:custGeom>
              <a:rect b="b" l="l" r="r" t="t"/>
              <a:pathLst>
                <a:path extrusionOk="0" h="2438400" w="2715614">
                  <a:moveTo>
                    <a:pt x="0" y="0"/>
                  </a:moveTo>
                  <a:lnTo>
                    <a:pt x="2715614" y="0"/>
                  </a:lnTo>
                  <a:lnTo>
                    <a:pt x="2715614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71C42"/>
            </a:solidFill>
            <a:ln>
              <a:noFill/>
            </a:ln>
          </p:spPr>
        </p:sp>
        <p:sp>
          <p:nvSpPr>
            <p:cNvPr id="378" name="Google Shape;378;p22"/>
            <p:cNvSpPr txBox="1"/>
            <p:nvPr/>
          </p:nvSpPr>
          <p:spPr>
            <a:xfrm>
              <a:off x="0" y="-38100"/>
              <a:ext cx="2715615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9" name="Google Shape;379;p22"/>
          <p:cNvSpPr/>
          <p:nvPr/>
        </p:nvSpPr>
        <p:spPr>
          <a:xfrm>
            <a:off x="-3260346" y="5562684"/>
            <a:ext cx="9094357" cy="7391232"/>
          </a:xfrm>
          <a:custGeom>
            <a:rect b="b" l="l" r="r" t="t"/>
            <a:pathLst>
              <a:path extrusionOk="0" h="7391232" w="9094357">
                <a:moveTo>
                  <a:pt x="0" y="0"/>
                </a:moveTo>
                <a:lnTo>
                  <a:pt x="9094357" y="0"/>
                </a:lnTo>
                <a:lnTo>
                  <a:pt x="9094357" y="7391232"/>
                </a:lnTo>
                <a:lnTo>
                  <a:pt x="0" y="73912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0" name="Google Shape;380;p22"/>
          <p:cNvSpPr/>
          <p:nvPr/>
        </p:nvSpPr>
        <p:spPr>
          <a:xfrm>
            <a:off x="10543085" y="1028700"/>
            <a:ext cx="3246870" cy="6223168"/>
          </a:xfrm>
          <a:custGeom>
            <a:rect b="b" l="l" r="r" t="t"/>
            <a:pathLst>
              <a:path extrusionOk="0" h="6223168" w="3246870">
                <a:moveTo>
                  <a:pt x="0" y="0"/>
                </a:moveTo>
                <a:lnTo>
                  <a:pt x="3246870" y="0"/>
                </a:lnTo>
                <a:lnTo>
                  <a:pt x="3246870" y="6223168"/>
                </a:lnTo>
                <a:lnTo>
                  <a:pt x="0" y="6223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1" name="Google Shape;381;p22"/>
          <p:cNvSpPr/>
          <p:nvPr/>
        </p:nvSpPr>
        <p:spPr>
          <a:xfrm>
            <a:off x="14091004" y="1028700"/>
            <a:ext cx="3168296" cy="5755695"/>
          </a:xfrm>
          <a:custGeom>
            <a:rect b="b" l="l" r="r" t="t"/>
            <a:pathLst>
              <a:path extrusionOk="0" h="5755695" w="3168296">
                <a:moveTo>
                  <a:pt x="0" y="0"/>
                </a:moveTo>
                <a:lnTo>
                  <a:pt x="3168296" y="0"/>
                </a:lnTo>
                <a:lnTo>
                  <a:pt x="3168296" y="5755695"/>
                </a:lnTo>
                <a:lnTo>
                  <a:pt x="0" y="57556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7517" r="-7518" t="0"/>
            </a:stretch>
          </a:blipFill>
          <a:ln>
            <a:noFill/>
          </a:ln>
        </p:spPr>
      </p:sp>
      <p:sp>
        <p:nvSpPr>
          <p:cNvPr id="382" name="Google Shape;382;p22"/>
          <p:cNvSpPr/>
          <p:nvPr/>
        </p:nvSpPr>
        <p:spPr>
          <a:xfrm>
            <a:off x="7310394" y="1028700"/>
            <a:ext cx="2831111" cy="8229600"/>
          </a:xfrm>
          <a:custGeom>
            <a:rect b="b" l="l" r="r" t="t"/>
            <a:pathLst>
              <a:path extrusionOk="0" h="8229600" w="2831111">
                <a:moveTo>
                  <a:pt x="0" y="0"/>
                </a:moveTo>
                <a:lnTo>
                  <a:pt x="2831111" y="0"/>
                </a:lnTo>
                <a:lnTo>
                  <a:pt x="283111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2887" r="-11996" t="0"/>
            </a:stretch>
          </a:blipFill>
          <a:ln>
            <a:noFill/>
          </a:ln>
        </p:spPr>
      </p:sp>
      <p:sp>
        <p:nvSpPr>
          <p:cNvPr id="383" name="Google Shape;383;p22"/>
          <p:cNvSpPr txBox="1"/>
          <p:nvPr/>
        </p:nvSpPr>
        <p:spPr>
          <a:xfrm>
            <a:off x="289342" y="3686134"/>
            <a:ext cx="5544669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Capa gratuita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" name="Google Shape;388;p23"/>
          <p:cNvGrpSpPr/>
          <p:nvPr/>
        </p:nvGrpSpPr>
        <p:grpSpPr>
          <a:xfrm>
            <a:off x="0" y="-144661"/>
            <a:ext cx="18288000" cy="10432910"/>
            <a:chOff x="0" y="-38100"/>
            <a:chExt cx="4816593" cy="2747762"/>
          </a:xfrm>
        </p:grpSpPr>
        <p:sp>
          <p:nvSpPr>
            <p:cNvPr id="389" name="Google Shape;389;p23"/>
            <p:cNvSpPr/>
            <p:nvPr/>
          </p:nvSpPr>
          <p:spPr>
            <a:xfrm>
              <a:off x="0" y="0"/>
              <a:ext cx="4816592" cy="2709662"/>
            </a:xfrm>
            <a:custGeom>
              <a:rect b="b" l="l" r="r" t="t"/>
              <a:pathLst>
                <a:path extrusionOk="0" h="27096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662"/>
                  </a:lnTo>
                  <a:lnTo>
                    <a:pt x="0" y="2709662"/>
                  </a:lnTo>
                  <a:close/>
                </a:path>
              </a:pathLst>
            </a:custGeom>
            <a:solidFill>
              <a:srgbClr val="071C42"/>
            </a:solidFill>
            <a:ln>
              <a:noFill/>
            </a:ln>
          </p:spPr>
        </p:sp>
        <p:sp>
          <p:nvSpPr>
            <p:cNvPr id="390" name="Google Shape;390;p23"/>
            <p:cNvSpPr txBox="1"/>
            <p:nvPr/>
          </p:nvSpPr>
          <p:spPr>
            <a:xfrm>
              <a:off x="0" y="-38100"/>
              <a:ext cx="4816593" cy="2747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1" name="Google Shape;391;p23"/>
          <p:cNvGrpSpPr/>
          <p:nvPr/>
        </p:nvGrpSpPr>
        <p:grpSpPr>
          <a:xfrm>
            <a:off x="0" y="9854855"/>
            <a:ext cx="6212838" cy="433394"/>
            <a:chOff x="0" y="-38100"/>
            <a:chExt cx="1636303" cy="114145"/>
          </a:xfrm>
        </p:grpSpPr>
        <p:sp>
          <p:nvSpPr>
            <p:cNvPr id="392" name="Google Shape;392;p23"/>
            <p:cNvSpPr/>
            <p:nvPr/>
          </p:nvSpPr>
          <p:spPr>
            <a:xfrm>
              <a:off x="0" y="0"/>
              <a:ext cx="1636303" cy="76045"/>
            </a:xfrm>
            <a:custGeom>
              <a:rect b="b" l="l" r="r" t="t"/>
              <a:pathLst>
                <a:path extrusionOk="0" h="76045" w="1636303">
                  <a:moveTo>
                    <a:pt x="0" y="0"/>
                  </a:moveTo>
                  <a:lnTo>
                    <a:pt x="1636303" y="0"/>
                  </a:lnTo>
                  <a:lnTo>
                    <a:pt x="1636303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3DCAB1"/>
            </a:solidFill>
            <a:ln>
              <a:noFill/>
            </a:ln>
          </p:spPr>
        </p:sp>
        <p:sp>
          <p:nvSpPr>
            <p:cNvPr id="393" name="Google Shape;393;p23"/>
            <p:cNvSpPr txBox="1"/>
            <p:nvPr/>
          </p:nvSpPr>
          <p:spPr>
            <a:xfrm>
              <a:off x="0" y="-38100"/>
              <a:ext cx="1636303" cy="114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94" name="Google Shape;394;p23"/>
          <p:cNvCxnSpPr/>
          <p:nvPr/>
        </p:nvCxnSpPr>
        <p:spPr>
          <a:xfrm>
            <a:off x="1028700" y="601417"/>
            <a:ext cx="16230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5" name="Google Shape;395;p23"/>
          <p:cNvSpPr/>
          <p:nvPr/>
        </p:nvSpPr>
        <p:spPr>
          <a:xfrm>
            <a:off x="12249182" y="6716672"/>
            <a:ext cx="9005307" cy="6565688"/>
          </a:xfrm>
          <a:custGeom>
            <a:rect b="b" l="l" r="r" t="t"/>
            <a:pathLst>
              <a:path extrusionOk="0" h="6565688" w="9005307">
                <a:moveTo>
                  <a:pt x="0" y="0"/>
                </a:moveTo>
                <a:lnTo>
                  <a:pt x="9005307" y="0"/>
                </a:lnTo>
                <a:lnTo>
                  <a:pt x="9005307" y="6565688"/>
                </a:lnTo>
                <a:lnTo>
                  <a:pt x="0" y="6565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6" name="Google Shape;396;p23"/>
          <p:cNvSpPr/>
          <p:nvPr/>
        </p:nvSpPr>
        <p:spPr>
          <a:xfrm>
            <a:off x="2878692" y="2286000"/>
            <a:ext cx="12530617" cy="7048472"/>
          </a:xfrm>
          <a:custGeom>
            <a:rect b="b" l="l" r="r" t="t"/>
            <a:pathLst>
              <a:path extrusionOk="0" h="7048472" w="12530617">
                <a:moveTo>
                  <a:pt x="0" y="0"/>
                </a:moveTo>
                <a:lnTo>
                  <a:pt x="12530616" y="0"/>
                </a:lnTo>
                <a:lnTo>
                  <a:pt x="12530616" y="7048472"/>
                </a:lnTo>
                <a:lnTo>
                  <a:pt x="0" y="7048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7" name="Google Shape;397;p23"/>
          <p:cNvSpPr txBox="1"/>
          <p:nvPr/>
        </p:nvSpPr>
        <p:spPr>
          <a:xfrm>
            <a:off x="3267169" y="971550"/>
            <a:ext cx="11753661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¿Que opciones ofrece Azure?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2" name="Google Shape;402;p24"/>
          <p:cNvCxnSpPr/>
          <p:nvPr/>
        </p:nvCxnSpPr>
        <p:spPr>
          <a:xfrm>
            <a:off x="1028700" y="601417"/>
            <a:ext cx="16230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03" name="Google Shape;403;p24"/>
          <p:cNvGrpSpPr/>
          <p:nvPr/>
        </p:nvGrpSpPr>
        <p:grpSpPr>
          <a:xfrm>
            <a:off x="8385961" y="-160734"/>
            <a:ext cx="9902039" cy="10447734"/>
            <a:chOff x="0" y="-38100"/>
            <a:chExt cx="2347150" cy="2476500"/>
          </a:xfrm>
        </p:grpSpPr>
        <p:sp>
          <p:nvSpPr>
            <p:cNvPr id="404" name="Google Shape;404;p24"/>
            <p:cNvSpPr/>
            <p:nvPr/>
          </p:nvSpPr>
          <p:spPr>
            <a:xfrm>
              <a:off x="0" y="0"/>
              <a:ext cx="2347150" cy="2438400"/>
            </a:xfrm>
            <a:custGeom>
              <a:rect b="b" l="l" r="r" t="t"/>
              <a:pathLst>
                <a:path extrusionOk="0" h="2438400" w="2347150">
                  <a:moveTo>
                    <a:pt x="0" y="0"/>
                  </a:moveTo>
                  <a:lnTo>
                    <a:pt x="2347150" y="0"/>
                  </a:lnTo>
                  <a:lnTo>
                    <a:pt x="234715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71C42"/>
            </a:solidFill>
            <a:ln>
              <a:noFill/>
            </a:ln>
          </p:spPr>
        </p:sp>
        <p:sp>
          <p:nvSpPr>
            <p:cNvPr id="405" name="Google Shape;405;p24"/>
            <p:cNvSpPr txBox="1"/>
            <p:nvPr/>
          </p:nvSpPr>
          <p:spPr>
            <a:xfrm>
              <a:off x="0" y="-38100"/>
              <a:ext cx="234715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" name="Google Shape;406;p24"/>
          <p:cNvSpPr/>
          <p:nvPr/>
        </p:nvSpPr>
        <p:spPr>
          <a:xfrm>
            <a:off x="-1201801" y="5219620"/>
            <a:ext cx="8127642" cy="6605556"/>
          </a:xfrm>
          <a:custGeom>
            <a:rect b="b" l="l" r="r" t="t"/>
            <a:pathLst>
              <a:path extrusionOk="0" h="6605556" w="8127642">
                <a:moveTo>
                  <a:pt x="0" y="0"/>
                </a:moveTo>
                <a:lnTo>
                  <a:pt x="8127642" y="0"/>
                </a:lnTo>
                <a:lnTo>
                  <a:pt x="8127642" y="6605556"/>
                </a:lnTo>
                <a:lnTo>
                  <a:pt x="0" y="66055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7" name="Google Shape;407;p24"/>
          <p:cNvSpPr txBox="1"/>
          <p:nvPr/>
        </p:nvSpPr>
        <p:spPr>
          <a:xfrm>
            <a:off x="161719" y="3647995"/>
            <a:ext cx="8037991" cy="3095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Bases de datos 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VS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 almacenamiento en la nube</a:t>
            </a:r>
            <a:endParaRPr/>
          </a:p>
        </p:txBody>
      </p:sp>
      <p:sp>
        <p:nvSpPr>
          <p:cNvPr id="408" name="Google Shape;408;p24"/>
          <p:cNvSpPr txBox="1"/>
          <p:nvPr/>
        </p:nvSpPr>
        <p:spPr>
          <a:xfrm>
            <a:off x="9144000" y="2876549"/>
            <a:ext cx="8375328" cy="4457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La diferencia entre ambas radica en su enfoque y funcionalidad: mientras que los servicios de bases de datos están orientados a la gestión y consultas de datos estructurados, Los servicios de almacenamiento están destinados la almacenamiento y recuperación de datos de cualquier tipo, estructurados o no estructurados.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C42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3" name="Google Shape;413;p25"/>
          <p:cNvCxnSpPr/>
          <p:nvPr/>
        </p:nvCxnSpPr>
        <p:spPr>
          <a:xfrm>
            <a:off x="1028700" y="601417"/>
            <a:ext cx="16230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4" name="Google Shape;414;p25"/>
          <p:cNvSpPr/>
          <p:nvPr/>
        </p:nvSpPr>
        <p:spPr>
          <a:xfrm flipH="1">
            <a:off x="-1811192" y="1427962"/>
            <a:ext cx="9143383" cy="7431077"/>
          </a:xfrm>
          <a:custGeom>
            <a:rect b="b" l="l" r="r" t="t"/>
            <a:pathLst>
              <a:path extrusionOk="0" h="7431077" w="9143383">
                <a:moveTo>
                  <a:pt x="9143383" y="0"/>
                </a:moveTo>
                <a:lnTo>
                  <a:pt x="0" y="0"/>
                </a:lnTo>
                <a:lnTo>
                  <a:pt x="0" y="7431076"/>
                </a:lnTo>
                <a:lnTo>
                  <a:pt x="9143383" y="7431076"/>
                </a:lnTo>
                <a:lnTo>
                  <a:pt x="914338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15" name="Google Shape;415;p25"/>
          <p:cNvGrpSpPr/>
          <p:nvPr/>
        </p:nvGrpSpPr>
        <p:grpSpPr>
          <a:xfrm>
            <a:off x="8981917" y="9853606"/>
            <a:ext cx="9995383" cy="433394"/>
            <a:chOff x="0" y="-38100"/>
            <a:chExt cx="2632529" cy="114145"/>
          </a:xfrm>
        </p:grpSpPr>
        <p:sp>
          <p:nvSpPr>
            <p:cNvPr id="416" name="Google Shape;416;p25"/>
            <p:cNvSpPr/>
            <p:nvPr/>
          </p:nvSpPr>
          <p:spPr>
            <a:xfrm>
              <a:off x="0" y="0"/>
              <a:ext cx="2632529" cy="76045"/>
            </a:xfrm>
            <a:custGeom>
              <a:rect b="b" l="l" r="r" t="t"/>
              <a:pathLst>
                <a:path extrusionOk="0" h="76045" w="2632529">
                  <a:moveTo>
                    <a:pt x="0" y="0"/>
                  </a:moveTo>
                  <a:lnTo>
                    <a:pt x="2632529" y="0"/>
                  </a:lnTo>
                  <a:lnTo>
                    <a:pt x="2632529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3DCAB1"/>
            </a:solidFill>
            <a:ln>
              <a:noFill/>
            </a:ln>
          </p:spPr>
        </p:sp>
        <p:sp>
          <p:nvSpPr>
            <p:cNvPr id="417" name="Google Shape;417;p25"/>
            <p:cNvSpPr txBox="1"/>
            <p:nvPr/>
          </p:nvSpPr>
          <p:spPr>
            <a:xfrm>
              <a:off x="0" y="-38100"/>
              <a:ext cx="2632529" cy="114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8" name="Google Shape;418;p25"/>
          <p:cNvSpPr txBox="1"/>
          <p:nvPr/>
        </p:nvSpPr>
        <p:spPr>
          <a:xfrm>
            <a:off x="5645729" y="4095750"/>
            <a:ext cx="6996541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7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¿Dudas?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C42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6"/>
          <p:cNvSpPr txBox="1"/>
          <p:nvPr/>
        </p:nvSpPr>
        <p:spPr>
          <a:xfrm>
            <a:off x="9144000" y="3171825"/>
            <a:ext cx="6996541" cy="3819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7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 práctico</a:t>
            </a:r>
            <a:endParaRPr/>
          </a:p>
        </p:txBody>
      </p:sp>
      <p:cxnSp>
        <p:nvCxnSpPr>
          <p:cNvPr id="424" name="Google Shape;424;p26"/>
          <p:cNvCxnSpPr/>
          <p:nvPr/>
        </p:nvCxnSpPr>
        <p:spPr>
          <a:xfrm>
            <a:off x="1028700" y="601417"/>
            <a:ext cx="16230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5" name="Google Shape;425;p26"/>
          <p:cNvSpPr/>
          <p:nvPr/>
        </p:nvSpPr>
        <p:spPr>
          <a:xfrm flipH="1">
            <a:off x="-1811192" y="1427962"/>
            <a:ext cx="9143383" cy="7431077"/>
          </a:xfrm>
          <a:custGeom>
            <a:rect b="b" l="l" r="r" t="t"/>
            <a:pathLst>
              <a:path extrusionOk="0" h="7431077" w="9143383">
                <a:moveTo>
                  <a:pt x="9143383" y="0"/>
                </a:moveTo>
                <a:lnTo>
                  <a:pt x="0" y="0"/>
                </a:lnTo>
                <a:lnTo>
                  <a:pt x="0" y="7431076"/>
                </a:lnTo>
                <a:lnTo>
                  <a:pt x="9143383" y="7431076"/>
                </a:lnTo>
                <a:lnTo>
                  <a:pt x="914338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26" name="Google Shape;426;p26"/>
          <p:cNvGrpSpPr/>
          <p:nvPr/>
        </p:nvGrpSpPr>
        <p:grpSpPr>
          <a:xfrm>
            <a:off x="8981917" y="9853606"/>
            <a:ext cx="9995383" cy="433394"/>
            <a:chOff x="0" y="-38100"/>
            <a:chExt cx="2632529" cy="114145"/>
          </a:xfrm>
        </p:grpSpPr>
        <p:sp>
          <p:nvSpPr>
            <p:cNvPr id="427" name="Google Shape;427;p26"/>
            <p:cNvSpPr/>
            <p:nvPr/>
          </p:nvSpPr>
          <p:spPr>
            <a:xfrm>
              <a:off x="0" y="0"/>
              <a:ext cx="2632529" cy="76045"/>
            </a:xfrm>
            <a:custGeom>
              <a:rect b="b" l="l" r="r" t="t"/>
              <a:pathLst>
                <a:path extrusionOk="0" h="76045" w="2632529">
                  <a:moveTo>
                    <a:pt x="0" y="0"/>
                  </a:moveTo>
                  <a:lnTo>
                    <a:pt x="2632529" y="0"/>
                  </a:lnTo>
                  <a:lnTo>
                    <a:pt x="2632529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3DCAB1"/>
            </a:solidFill>
            <a:ln>
              <a:noFill/>
            </a:ln>
          </p:spPr>
        </p:sp>
        <p:sp>
          <p:nvSpPr>
            <p:cNvPr id="428" name="Google Shape;428;p26"/>
            <p:cNvSpPr txBox="1"/>
            <p:nvPr/>
          </p:nvSpPr>
          <p:spPr>
            <a:xfrm>
              <a:off x="0" y="-38100"/>
              <a:ext cx="2632529" cy="114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