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4"/>
  </p:sldMasterIdLst>
  <p:notesMasterIdLst>
    <p:notesMasterId r:id="rId28"/>
  </p:notesMasterIdLst>
  <p:handoutMasterIdLst>
    <p:handoutMasterId r:id="rId29"/>
  </p:handoutMasterIdLst>
  <p:sldIdLst>
    <p:sldId id="256" r:id="rId5"/>
    <p:sldId id="290" r:id="rId6"/>
    <p:sldId id="297" r:id="rId7"/>
    <p:sldId id="298" r:id="rId8"/>
    <p:sldId id="346" r:id="rId9"/>
    <p:sldId id="311" r:id="rId10"/>
    <p:sldId id="309" r:id="rId11"/>
    <p:sldId id="368" r:id="rId12"/>
    <p:sldId id="327" r:id="rId13"/>
    <p:sldId id="364" r:id="rId14"/>
    <p:sldId id="369" r:id="rId15"/>
    <p:sldId id="338" r:id="rId16"/>
    <p:sldId id="370" r:id="rId17"/>
    <p:sldId id="347" r:id="rId18"/>
    <p:sldId id="363" r:id="rId19"/>
    <p:sldId id="365" r:id="rId20"/>
    <p:sldId id="372" r:id="rId21"/>
    <p:sldId id="371" r:id="rId22"/>
    <p:sldId id="351" r:id="rId23"/>
    <p:sldId id="352" r:id="rId24"/>
    <p:sldId id="336" r:id="rId25"/>
    <p:sldId id="348" r:id="rId26"/>
    <p:sldId id="301" r:id="rId27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5602" autoAdjust="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3708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D9CB4F3C-75A8-4BB8-A18E-B730DDD68B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AE10D8-98A5-4E68-A41F-7AA79FF6968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27022EB2-72D7-451B-AEA0-CC69EE5C4891}" type="datetime1">
              <a:rPr lang="es-ES" smtClean="0"/>
              <a:t>21/08/2024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77EF411-0DAB-4BCE-94A8-E903E20549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3A11237F-7CCA-4423-B624-29C06FF2E7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5A8CD4AB-B9A2-4248-B31F-8EBC71546D8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97791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fld id="{A8661170-17F7-49AF-B705-E8F2CF2052F2}" type="datetime1">
              <a:rPr lang="es-ES" smtClean="0"/>
              <a:t>21/08/2024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AABE9C73-6CDE-45E2-97F8-E3C5308FA232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763496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b241b134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b241b134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ABE9C73-6CDE-45E2-97F8-E3C5308FA232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67470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/>
          </a:p>
        </p:txBody>
      </p:sp>
      <p:sp useBgFill="1">
        <p:nvSpPr>
          <p:cNvPr id="10" name="Rectángulo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ángulo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ángulo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Conector recto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3000"/>
              </a:lnSpc>
              <a:defRPr lang="es-E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lang="es-ES"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lang="es-ES" sz="1600"/>
            </a:lvl2pPr>
            <a:lvl3pPr marL="914400" indent="0" algn="ctr">
              <a:buNone/>
              <a:defRPr lang="es-ES" sz="16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20" name="Marcador de fecha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lang="es-ES"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BEB4F5C9-88B7-447F-BE3E-E1414EC76429}" type="datetime1">
              <a:rPr lang="es-ES" noProof="0" smtClean="0"/>
              <a:t>21/08/2024</a:t>
            </a:fld>
            <a:endParaRPr lang="es-ES" noProof="0"/>
          </a:p>
        </p:txBody>
      </p:sp>
      <p:sp>
        <p:nvSpPr>
          <p:cNvPr id="21" name="Marcador de pie de página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22" name="Marcador de número de diapositiva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982019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13B000A-243B-4CA4-8C44-C6A6C08C8650}" type="datetime1">
              <a:rPr lang="es-ES" noProof="0" smtClean="0"/>
              <a:t>21/08/2024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28558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la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/>
          </a:p>
        </p:txBody>
      </p:sp>
      <p:sp useBgFill="1">
        <p:nvSpPr>
          <p:cNvPr id="23" name="Rectángulo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ángulo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ángulo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rmAutofit/>
          </a:bodyPr>
          <a:lstStyle>
            <a:lvl1pPr algn="ctr">
              <a:lnSpc>
                <a:spcPct val="83000"/>
              </a:lnSpc>
              <a:defRPr lang="es-E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lang="es-ES"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s-E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ADEEDB7D-CC81-4931-9AAA-0077BE628FD4}" type="datetime1">
              <a:rPr lang="es-ES" noProof="0" smtClean="0"/>
              <a:t>21/08/2024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87034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lang="es-ES" sz="1800"/>
            </a:lvl1pPr>
            <a:lvl2pPr>
              <a:defRPr lang="es-ES" sz="1600"/>
            </a:lvl2pPr>
            <a:lvl3pPr>
              <a:defRPr lang="es-ES" sz="1400"/>
            </a:lvl3pPr>
            <a:lvl4pPr>
              <a:defRPr lang="es-ES" sz="1400"/>
            </a:lvl4pPr>
            <a:lvl5pPr>
              <a:defRPr lang="es-ES" sz="1400"/>
            </a:lvl5pPr>
            <a:lvl6pPr>
              <a:defRPr lang="es-ES" sz="1400"/>
            </a:lvl6pPr>
            <a:lvl7pPr>
              <a:defRPr lang="es-ES" sz="1400"/>
            </a:lvl7pPr>
            <a:lvl8pPr>
              <a:defRPr lang="es-ES" sz="1400"/>
            </a:lvl8pPr>
            <a:lvl9pPr>
              <a:defRPr lang="es-ES"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lang="es-ES" sz="1800"/>
            </a:lvl1pPr>
            <a:lvl2pPr>
              <a:defRPr lang="es-ES" sz="1600"/>
            </a:lvl2pPr>
            <a:lvl3pPr>
              <a:defRPr lang="es-ES" sz="1400"/>
            </a:lvl3pPr>
            <a:lvl4pPr>
              <a:defRPr lang="es-ES" sz="1400"/>
            </a:lvl4pPr>
            <a:lvl5pPr>
              <a:defRPr lang="es-ES" sz="1400"/>
            </a:lvl5pPr>
            <a:lvl6pPr>
              <a:defRPr lang="es-ES" sz="1400"/>
            </a:lvl6pPr>
            <a:lvl7pPr>
              <a:defRPr lang="es-ES" sz="1400"/>
            </a:lvl7pPr>
            <a:lvl8pPr>
              <a:defRPr lang="es-ES" sz="1400"/>
            </a:lvl8pPr>
            <a:lvl9pPr>
              <a:defRPr lang="es-ES"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E7F46B3-842E-4E89-8BDF-E361735C01BC}" type="datetime1">
              <a:rPr lang="es-ES" noProof="0" smtClean="0"/>
              <a:t>21/08/2024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05556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s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2F2F0876-DA34-44C2-B05E-66533803FE6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33400" y="246600"/>
            <a:ext cx="11725200" cy="6364800"/>
          </a:xfrm>
        </p:spPr>
        <p:txBody>
          <a:bodyPr rtlCol="0" anchor="ctr" anchorCtr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n-US" noProof="0"/>
              <a:t>Click icon to add picture</a:t>
            </a:r>
            <a:endParaRPr lang="es-ES" noProof="0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6E352C7E-BCE1-47CD-872E-2935DD89FC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52488" y="2103438"/>
            <a:ext cx="5243512" cy="3748087"/>
          </a:xfrm>
        </p:spPr>
        <p:txBody>
          <a:bodyPr rtlCol="0" anchor="ctr" anchorCtr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n-US" noProof="0"/>
              <a:t>Click icon to add picture</a:t>
            </a:r>
            <a:endParaRPr lang="es-ES" noProof="0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lang="es-ES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lang="es-ES" sz="1800"/>
            </a:lvl1pPr>
            <a:lvl2pPr>
              <a:defRPr lang="es-ES" sz="1600"/>
            </a:lvl2pPr>
            <a:lvl3pPr>
              <a:defRPr lang="es-ES" sz="1400"/>
            </a:lvl3pPr>
            <a:lvl4pPr>
              <a:defRPr lang="es-ES" sz="1400"/>
            </a:lvl4pPr>
            <a:lvl5pPr>
              <a:defRPr lang="es-ES" sz="1400"/>
            </a:lvl5pPr>
            <a:lvl6pPr>
              <a:defRPr lang="es-ES" sz="1400"/>
            </a:lvl6pPr>
            <a:lvl7pPr>
              <a:defRPr lang="es-ES" sz="1400"/>
            </a:lvl7pPr>
            <a:lvl8pPr>
              <a:defRPr lang="es-ES" sz="1400"/>
            </a:lvl8pPr>
            <a:lvl9pPr>
              <a:defRPr lang="es-ES"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4C7856E-8481-4380-87B1-968A6434EDCE}" type="datetime1">
              <a:rPr lang="es-ES" noProof="0" smtClean="0"/>
              <a:t>21/08/2024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223926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lang="es-ES"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lang="es-ES" sz="1800" b="1"/>
            </a:lvl2pPr>
            <a:lvl3pPr marL="914400" indent="0">
              <a:buNone/>
              <a:defRPr lang="es-ES" sz="1800" b="1"/>
            </a:lvl3pPr>
            <a:lvl4pPr marL="1371600" indent="0">
              <a:buNone/>
              <a:defRPr lang="es-ES" sz="1600" b="1"/>
            </a:lvl4pPr>
            <a:lvl5pPr marL="1828800" indent="0">
              <a:buNone/>
              <a:defRPr lang="es-ES" sz="1600" b="1"/>
            </a:lvl5pPr>
            <a:lvl6pPr marL="2286000" indent="0">
              <a:buNone/>
              <a:defRPr lang="es-ES" sz="1600" b="1"/>
            </a:lvl6pPr>
            <a:lvl7pPr marL="2743200" indent="0">
              <a:buNone/>
              <a:defRPr lang="es-ES" sz="1600" b="1"/>
            </a:lvl7pPr>
            <a:lvl8pPr marL="3200400" indent="0">
              <a:buNone/>
              <a:defRPr lang="es-ES" sz="1600" b="1"/>
            </a:lvl8pPr>
            <a:lvl9pPr marL="3657600" indent="0">
              <a:buNone/>
              <a:defRPr lang="es-ES"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lang="es-ES" sz="1800"/>
            </a:lvl1pPr>
            <a:lvl2pPr>
              <a:defRPr lang="es-ES" sz="1600"/>
            </a:lvl2pPr>
            <a:lvl3pPr>
              <a:defRPr lang="es-ES" sz="1400"/>
            </a:lvl3pPr>
            <a:lvl4pPr>
              <a:defRPr lang="es-ES" sz="1400"/>
            </a:lvl4pPr>
            <a:lvl5pPr>
              <a:defRPr lang="es-ES" sz="1400"/>
            </a:lvl5pPr>
            <a:lvl6pPr>
              <a:defRPr lang="es-ES" sz="1400"/>
            </a:lvl6pPr>
            <a:lvl7pPr>
              <a:defRPr lang="es-ES" sz="1400"/>
            </a:lvl7pPr>
            <a:lvl8pPr>
              <a:defRPr lang="es-ES" sz="1400"/>
            </a:lvl8pPr>
            <a:lvl9pPr>
              <a:defRPr lang="es-ES"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lang="es-ES" sz="1900" b="1">
                <a:solidFill>
                  <a:schemeClr val="tx1"/>
                </a:solidFill>
              </a:defRPr>
            </a:lvl1pPr>
            <a:lvl2pPr marL="457200" indent="0">
              <a:buNone/>
              <a:defRPr lang="es-ES" sz="1800" b="1"/>
            </a:lvl2pPr>
            <a:lvl3pPr marL="914400" indent="0">
              <a:buNone/>
              <a:defRPr lang="es-ES" sz="1800" b="1"/>
            </a:lvl3pPr>
            <a:lvl4pPr marL="1371600" indent="0">
              <a:buNone/>
              <a:defRPr lang="es-ES" sz="1600" b="1"/>
            </a:lvl4pPr>
            <a:lvl5pPr marL="1828800" indent="0">
              <a:buNone/>
              <a:defRPr lang="es-ES" sz="1600" b="1"/>
            </a:lvl5pPr>
            <a:lvl6pPr marL="2286000" indent="0">
              <a:buNone/>
              <a:defRPr lang="es-ES" sz="1600" b="1"/>
            </a:lvl6pPr>
            <a:lvl7pPr marL="2743200" indent="0">
              <a:buNone/>
              <a:defRPr lang="es-ES" sz="1600" b="1"/>
            </a:lvl7pPr>
            <a:lvl8pPr marL="3200400" indent="0">
              <a:buNone/>
              <a:defRPr lang="es-ES" sz="1600" b="1"/>
            </a:lvl8pPr>
            <a:lvl9pPr marL="3657600" indent="0">
              <a:buNone/>
              <a:defRPr lang="es-ES"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lang="es-ES" sz="1800"/>
            </a:lvl1pPr>
            <a:lvl2pPr>
              <a:defRPr lang="es-ES" sz="1600"/>
            </a:lvl2pPr>
            <a:lvl3pPr>
              <a:defRPr lang="es-ES" sz="1400"/>
            </a:lvl3pPr>
            <a:lvl4pPr>
              <a:defRPr lang="es-ES" sz="1400"/>
            </a:lvl4pPr>
            <a:lvl5pPr>
              <a:defRPr lang="es-ES" sz="1400"/>
            </a:lvl5pPr>
            <a:lvl6pPr>
              <a:defRPr lang="es-ES" sz="1400"/>
            </a:lvl6pPr>
            <a:lvl7pPr>
              <a:defRPr lang="es-ES" sz="1400"/>
            </a:lvl7pPr>
            <a:lvl8pPr>
              <a:defRPr lang="es-ES" sz="1400"/>
            </a:lvl8pPr>
            <a:lvl9pPr>
              <a:defRPr lang="es-ES"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FFA1CE0-D520-4AE6-8983-BF7F35BD3F6A}" type="datetime1">
              <a:rPr lang="es-ES" noProof="0" smtClean="0"/>
              <a:t>21/08/2024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523591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D2744B2-8AFF-4854-8EB2-6AEDB3208B71}" type="datetime1">
              <a:rPr lang="es-ES" noProof="0" smtClean="0"/>
              <a:t>21/08/2024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758772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C7B5EDD-7914-41F5-AC1A-03040CA5E9C6}" type="datetime1">
              <a:rPr lang="es-ES" noProof="0" smtClean="0"/>
              <a:t>21/08/2024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865951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s-E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lang="es-ES" sz="1900"/>
            </a:lvl1pPr>
            <a:lvl2pPr>
              <a:defRPr lang="es-ES" sz="1600"/>
            </a:lvl2pPr>
            <a:lvl3pPr>
              <a:defRPr lang="es-ES" sz="1400"/>
            </a:lvl3pPr>
            <a:lvl4pPr>
              <a:defRPr lang="es-ES" sz="1400"/>
            </a:lvl4pPr>
            <a:lvl5pPr>
              <a:defRPr lang="es-ES" sz="1400"/>
            </a:lvl5pPr>
            <a:lvl6pPr>
              <a:defRPr lang="es-ES" sz="1400"/>
            </a:lvl6pPr>
            <a:lvl7pPr>
              <a:defRPr lang="es-ES" sz="1400"/>
            </a:lvl7pPr>
            <a:lvl8pPr>
              <a:defRPr lang="es-ES" sz="1400"/>
            </a:lvl8pPr>
            <a:lvl9pPr>
              <a:defRPr lang="es-ES"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lang="es-ES" sz="1800">
                <a:solidFill>
                  <a:schemeClr val="tx1"/>
                </a:solidFill>
              </a:defRPr>
            </a:lvl1pPr>
            <a:lvl2pPr marL="457200" indent="0">
              <a:buNone/>
              <a:defRPr lang="es-ES" sz="1200"/>
            </a:lvl2pPr>
            <a:lvl3pPr marL="914400" indent="0">
              <a:buNone/>
              <a:defRPr lang="es-ES" sz="1000"/>
            </a:lvl3pPr>
            <a:lvl4pPr marL="1371600" indent="0">
              <a:buNone/>
              <a:defRPr lang="es-ES" sz="900"/>
            </a:lvl4pPr>
            <a:lvl5pPr marL="1828800" indent="0">
              <a:buNone/>
              <a:defRPr lang="es-ES" sz="900"/>
            </a:lvl5pPr>
            <a:lvl6pPr marL="2286000" indent="0">
              <a:buNone/>
              <a:defRPr lang="es-ES" sz="900"/>
            </a:lvl6pPr>
            <a:lvl7pPr marL="2743200" indent="0">
              <a:buNone/>
              <a:defRPr lang="es-ES" sz="900"/>
            </a:lvl7pPr>
            <a:lvl8pPr marL="3200400" indent="0">
              <a:buNone/>
              <a:defRPr lang="es-ES" sz="900"/>
            </a:lvl8pPr>
            <a:lvl9pPr marL="3657600" indent="0">
              <a:buNone/>
              <a:defRPr lang="es-ES"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Marcador de fecha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BCC3E2A5-012A-4BBA-9BD6-129DEB004F28}" type="datetime1">
              <a:rPr lang="es-ES" noProof="0" smtClean="0"/>
              <a:t>21/08/2024</a:t>
            </a:fld>
            <a:endParaRPr lang="es-ES" noProof="0"/>
          </a:p>
        </p:txBody>
      </p:sp>
      <p:sp>
        <p:nvSpPr>
          <p:cNvPr id="9" name="Marcador de pie de página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 lang="es-ES"/>
            </a:lvl1pPr>
          </a:lstStyle>
          <a:p>
            <a:pPr rtl="0"/>
            <a:endParaRPr lang="es-ES" noProof="0"/>
          </a:p>
        </p:txBody>
      </p:sp>
      <p:sp>
        <p:nvSpPr>
          <p:cNvPr id="11" name="Marcador de número de diapositiva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96644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1_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s-ES" sz="41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lang="es-ES" sz="1900"/>
            </a:lvl1pPr>
            <a:lvl2pPr>
              <a:defRPr lang="es-ES" sz="1600"/>
            </a:lvl2pPr>
            <a:lvl3pPr>
              <a:defRPr lang="es-ES" sz="1400"/>
            </a:lvl3pPr>
            <a:lvl4pPr>
              <a:defRPr lang="es-ES" sz="1400"/>
            </a:lvl4pPr>
            <a:lvl5pPr>
              <a:defRPr lang="es-ES" sz="1400"/>
            </a:lvl5pPr>
            <a:lvl6pPr>
              <a:defRPr lang="es-ES" sz="1400"/>
            </a:lvl6pPr>
            <a:lvl7pPr>
              <a:defRPr lang="es-ES" sz="1400"/>
            </a:lvl7pPr>
            <a:lvl8pPr>
              <a:defRPr lang="es-ES" sz="1400"/>
            </a:lvl8pPr>
            <a:lvl9pPr>
              <a:defRPr lang="es-ES"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lang="es-ES" sz="18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lang="es-ES" sz="1200"/>
            </a:lvl2pPr>
            <a:lvl3pPr marL="914400" indent="0">
              <a:buNone/>
              <a:defRPr lang="es-ES" sz="1000"/>
            </a:lvl3pPr>
            <a:lvl4pPr marL="1371600" indent="0">
              <a:buNone/>
              <a:defRPr lang="es-ES" sz="900"/>
            </a:lvl4pPr>
            <a:lvl5pPr marL="1828800" indent="0">
              <a:buNone/>
              <a:defRPr lang="es-ES" sz="900"/>
            </a:lvl5pPr>
            <a:lvl6pPr marL="2286000" indent="0">
              <a:buNone/>
              <a:defRPr lang="es-ES" sz="900"/>
            </a:lvl6pPr>
            <a:lvl7pPr marL="2743200" indent="0">
              <a:buNone/>
              <a:defRPr lang="es-ES" sz="900"/>
            </a:lvl7pPr>
            <a:lvl8pPr marL="3200400" indent="0">
              <a:buNone/>
              <a:defRPr lang="es-ES" sz="900"/>
            </a:lvl8pPr>
            <a:lvl9pPr marL="3657600" indent="0">
              <a:buNone/>
              <a:defRPr lang="es-ES"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Marcador de fecha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D2FFF39E-7815-46BC-A7EE-7F1F6D4908E7}" type="datetime1">
              <a:rPr lang="es-ES" noProof="0" smtClean="0"/>
              <a:t>21/08/2024</a:t>
            </a:fld>
            <a:endParaRPr lang="es-ES" noProof="0"/>
          </a:p>
        </p:txBody>
      </p:sp>
      <p:sp>
        <p:nvSpPr>
          <p:cNvPr id="9" name="Marcador de pie de página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 lang="es-ES"/>
            </a:lvl1pPr>
          </a:lstStyle>
          <a:p>
            <a:pPr rtl="0"/>
            <a:endParaRPr lang="es-ES" noProof="0"/>
          </a:p>
        </p:txBody>
      </p:sp>
      <p:sp>
        <p:nvSpPr>
          <p:cNvPr id="11" name="Marcador de número de diapositiva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4680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CD7A40E7-331A-409D-8385-D6893D1EA86A}"/>
              </a:ext>
            </a:extLst>
          </p:cNvPr>
          <p:cNvSpPr/>
          <p:nvPr userDrawn="1"/>
        </p:nvSpPr>
        <p:spPr>
          <a:xfrm>
            <a:off x="948394" y="941695"/>
            <a:ext cx="5452526" cy="497461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/>
          </a:p>
        </p:txBody>
      </p:sp>
      <p:sp>
        <p:nvSpPr>
          <p:cNvPr id="24" name="Marcador de posición de imagen 23">
            <a:extLst>
              <a:ext uri="{FF2B5EF4-FFF2-40B4-BE49-F238E27FC236}">
                <a16:creationId xmlns:a16="http://schemas.microsoft.com/office/drawing/2014/main" id="{75561E95-1FD2-4358-9E4C-3D2E929E48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48394 w 12192000"/>
              <a:gd name="connsiteY0" fmla="*/ 941695 h 6858000"/>
              <a:gd name="connsiteX1" fmla="*/ 948394 w 12192000"/>
              <a:gd name="connsiteY1" fmla="*/ 5916305 h 6858000"/>
              <a:gd name="connsiteX2" fmla="*/ 6400920 w 12192000"/>
              <a:gd name="connsiteY2" fmla="*/ 5916305 h 6858000"/>
              <a:gd name="connsiteX3" fmla="*/ 6400920 w 12192000"/>
              <a:gd name="connsiteY3" fmla="*/ 941695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948394" y="941695"/>
                </a:moveTo>
                <a:lnTo>
                  <a:pt x="948394" y="5916305"/>
                </a:lnTo>
                <a:lnTo>
                  <a:pt x="6400920" y="5916305"/>
                </a:lnTo>
                <a:lnTo>
                  <a:pt x="6400920" y="94169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noAutofit/>
          </a:bodyPr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n-US" noProof="0"/>
              <a:t>Click icon to add picture</a:t>
            </a:r>
            <a:endParaRPr lang="es-ES" noProof="0"/>
          </a:p>
        </p:txBody>
      </p:sp>
      <p:sp>
        <p:nvSpPr>
          <p:cNvPr id="8" name="Marcador de fecha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D21ACFE4-7A0B-4C5F-B126-3E7852FCEB08}" type="datetime1">
              <a:rPr lang="es-ES" noProof="0" smtClean="0"/>
              <a:t>21/08/2024</a:t>
            </a:fld>
            <a:endParaRPr lang="es-ES" noProof="0"/>
          </a:p>
        </p:txBody>
      </p:sp>
      <p:sp>
        <p:nvSpPr>
          <p:cNvPr id="9" name="Marcador de pie de página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 lang="es-ES"/>
            </a:lvl1pPr>
          </a:lstStyle>
          <a:p>
            <a:pPr rtl="0"/>
            <a:endParaRPr lang="es-ES" noProof="0"/>
          </a:p>
        </p:txBody>
      </p:sp>
      <p:sp>
        <p:nvSpPr>
          <p:cNvPr id="11" name="Marcador de número de diapositiva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6E7077FF-6FAE-4A98-862F-3A2F931B958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357950" y="2852792"/>
            <a:ext cx="4633415" cy="257219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s-ES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51E07B6-8D69-4F8A-9729-400511B37F8B}"/>
              </a:ext>
            </a:extLst>
          </p:cNvPr>
          <p:cNvSpPr/>
          <p:nvPr userDrawn="1"/>
        </p:nvSpPr>
        <p:spPr>
          <a:xfrm>
            <a:off x="1101715" y="1106424"/>
            <a:ext cx="5120640" cy="46451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57950" y="1352804"/>
            <a:ext cx="4633415" cy="1333641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s-ES" sz="4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811138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lang="es-ES" sz="3200"/>
            </a:lvl1pPr>
            <a:lvl2pPr marL="457200" indent="0">
              <a:buNone/>
              <a:defRPr lang="es-ES" sz="2800"/>
            </a:lvl2pPr>
            <a:lvl3pPr marL="914400" indent="0">
              <a:buNone/>
              <a:defRPr lang="es-ES" sz="2400"/>
            </a:lvl3pPr>
            <a:lvl4pPr marL="1371600" indent="0">
              <a:buNone/>
              <a:defRPr lang="es-ES" sz="2000"/>
            </a:lvl4pPr>
            <a:lvl5pPr marL="1828800" indent="0">
              <a:buNone/>
              <a:defRPr lang="es-ES" sz="2000"/>
            </a:lvl5pPr>
            <a:lvl6pPr marL="2286000" indent="0">
              <a:buNone/>
              <a:defRPr lang="es-ES" sz="2000"/>
            </a:lvl6pPr>
            <a:lvl7pPr marL="2743200" indent="0">
              <a:buNone/>
              <a:defRPr lang="es-ES" sz="2000"/>
            </a:lvl7pPr>
            <a:lvl8pPr marL="3200400" indent="0">
              <a:buNone/>
              <a:defRPr lang="es-ES" sz="2000"/>
            </a:lvl8pPr>
            <a:lvl9pPr marL="3657600" indent="0">
              <a:buNone/>
              <a:defRPr lang="es-ES" sz="2000"/>
            </a:lvl9pPr>
          </a:lstStyle>
          <a:p>
            <a:pPr rtl="0"/>
            <a:r>
              <a:rPr lang="en-US" noProof="0"/>
              <a:t>Click icon to add picture</a:t>
            </a:r>
            <a:endParaRPr lang="es-ES" noProof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lang="es-ES"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57BC489D-2B38-4086-A7AC-7DA6DCFEF9A7}" type="datetime1">
              <a:rPr lang="es-ES" noProof="0" smtClean="0"/>
              <a:t>21/08/2024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s-E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lang="es-ES" sz="32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lang="es-ES" sz="1800">
                <a:solidFill>
                  <a:schemeClr val="tx1"/>
                </a:solidFill>
              </a:defRPr>
            </a:lvl1pPr>
            <a:lvl2pPr marL="457200" indent="0">
              <a:buNone/>
              <a:defRPr lang="es-ES" sz="1200"/>
            </a:lvl2pPr>
            <a:lvl3pPr marL="914400" indent="0">
              <a:buNone/>
              <a:defRPr lang="es-ES" sz="1000"/>
            </a:lvl3pPr>
            <a:lvl4pPr marL="1371600" indent="0">
              <a:buNone/>
              <a:defRPr lang="es-ES" sz="900"/>
            </a:lvl4pPr>
            <a:lvl5pPr marL="1828800" indent="0">
              <a:buNone/>
              <a:defRPr lang="es-ES" sz="900"/>
            </a:lvl5pPr>
            <a:lvl6pPr marL="2286000" indent="0">
              <a:buNone/>
              <a:defRPr lang="es-ES" sz="900"/>
            </a:lvl6pPr>
            <a:lvl7pPr marL="2743200" indent="0">
              <a:buNone/>
              <a:defRPr lang="es-ES" sz="900"/>
            </a:lvl7pPr>
            <a:lvl8pPr marL="3200400" indent="0">
              <a:buNone/>
              <a:defRPr lang="es-ES" sz="900"/>
            </a:lvl8pPr>
            <a:lvl9pPr marL="3657600" indent="0">
              <a:buNone/>
              <a:defRPr lang="es-ES"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1001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47030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ángulo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/>
          </a:p>
        </p:txBody>
      </p:sp>
      <p:sp>
        <p:nvSpPr>
          <p:cNvPr id="7" name="Rectángulo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ángulo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D81C884-65B5-4077-A415-CB6AF9CEFAD3}" type="datetime1">
              <a:rPr lang="es-ES" noProof="0" smtClean="0"/>
              <a:t>21/08/2024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60424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9" r:id="rId5"/>
    <p:sldLayoutId id="2147483730" r:id="rId6"/>
    <p:sldLayoutId id="2147483736" r:id="rId7"/>
    <p:sldLayoutId id="2147483737" r:id="rId8"/>
    <p:sldLayoutId id="2147483727" r:id="rId9"/>
    <p:sldLayoutId id="2147483741" r:id="rId10"/>
    <p:sldLayoutId id="2147483740" r:id="rId11"/>
    <p:sldLayoutId id="2147483728" r:id="rId12"/>
    <p:sldLayoutId id="2147483742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xhere.com/es/photo/57785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 amt="62000"/>
          </a:blip>
          <a:stretch>
            <a:fillRect/>
          </a:stretch>
        </p:blipFill>
        <p:spPr>
          <a:xfrm>
            <a:off x="-144431" y="-159390"/>
            <a:ext cx="12169465" cy="6858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3"/>
          <p:cNvGraphicFramePr/>
          <p:nvPr>
            <p:extLst>
              <p:ext uri="{D42A27DB-BD31-4B8C-83A1-F6EECF244321}">
                <p14:modId xmlns:p14="http://schemas.microsoft.com/office/powerpoint/2010/main" val="1470805384"/>
              </p:ext>
            </p:extLst>
          </p:nvPr>
        </p:nvGraphicFramePr>
        <p:xfrm>
          <a:off x="7104267" y="1293367"/>
          <a:ext cx="4920767" cy="12191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24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sz="1900" b="1" dirty="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400" dirty="0"/>
                        <a:t>Viernes, 23/08/2024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900" b="1" dirty="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400" dirty="0"/>
                        <a:t>07:10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" name="Google Shape;56;p13"/>
          <p:cNvSpPr txBox="1"/>
          <p:nvPr/>
        </p:nvSpPr>
        <p:spPr>
          <a:xfrm>
            <a:off x="1920233" y="3011068"/>
            <a:ext cx="9056000" cy="759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" sz="3333" dirty="0"/>
              <a:t>Seminario de Sistemas 1 [B]</a:t>
            </a:r>
            <a:endParaRPr sz="3333" dirty="0"/>
          </a:p>
        </p:txBody>
      </p:sp>
      <p:sp>
        <p:nvSpPr>
          <p:cNvPr id="57" name="Google Shape;57;p13"/>
          <p:cNvSpPr txBox="1"/>
          <p:nvPr/>
        </p:nvSpPr>
        <p:spPr>
          <a:xfrm>
            <a:off x="2371600" y="3867668"/>
            <a:ext cx="7448800" cy="656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" sz="2667" dirty="0"/>
              <a:t>Luis Enrique Rivera Najera</a:t>
            </a:r>
            <a:endParaRPr sz="266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ángulo 8">
            <a:extLst>
              <a:ext uri="{FF2B5EF4-FFF2-40B4-BE49-F238E27FC236}">
                <a16:creationId xmlns:a16="http://schemas.microsoft.com/office/drawing/2014/main" id="{6F40FBDA-CEB1-40F0-9AB9-BD9C402D7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DA04C7C-FE8B-4C2F-BF2E-CBD501A02D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609610" y="0"/>
            <a:ext cx="10972780" cy="685798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0344D4FE-ABEF-4230-9E4E-AD5782FC7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253F3E-E6E8-4DEE-A6F6-D6A88FD39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532" y="2091263"/>
            <a:ext cx="8652938" cy="2461504"/>
          </a:xfrm>
          <a:solidFill>
            <a:schemeClr val="bg1"/>
          </a:solidFill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LAB. SEMINARIO DE SISTEMAS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54176-1A2D-47B9-B195-FB21407C0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9532" y="4623127"/>
            <a:ext cx="8655200" cy="457201"/>
          </a:xfrm>
          <a:solidFill>
            <a:schemeClr val="bg1"/>
          </a:solidFill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>
              <a:spcAft>
                <a:spcPts val="600"/>
              </a:spcAft>
            </a:pPr>
            <a:r>
              <a:rPr lang="es-ES" sz="2400" dirty="0">
                <a:solidFill>
                  <a:schemeClr val="tx2">
                    <a:lumMod val="90000"/>
                  </a:schemeClr>
                </a:solidFill>
              </a:rPr>
              <a:t>Laboratorio #6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25F979-D3F9-4926-81B7-7ACCB31A5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  <a:alpha val="80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1735354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9689F-1FC0-B631-77FE-D08756E76662}"/>
              </a:ext>
            </a:extLst>
          </p:cNvPr>
          <p:cNvSpPr txBox="1"/>
          <p:nvPr/>
        </p:nvSpPr>
        <p:spPr>
          <a:xfrm>
            <a:off x="2357307" y="3059668"/>
            <a:ext cx="19462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Agenda</a:t>
            </a:r>
            <a:endParaRPr lang="es-GT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48C306-4CB0-E16F-2A8F-1F689FD33D9F}"/>
              </a:ext>
            </a:extLst>
          </p:cNvPr>
          <p:cNvSpPr txBox="1"/>
          <p:nvPr/>
        </p:nvSpPr>
        <p:spPr>
          <a:xfrm>
            <a:off x="6374683" y="1859339"/>
            <a:ext cx="38337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Dudas</a:t>
            </a:r>
            <a:r>
              <a:rPr lang="en-US" dirty="0"/>
              <a:t> y </a:t>
            </a:r>
            <a:r>
              <a:rPr lang="en-US" dirty="0" err="1"/>
              <a:t>comentarios</a:t>
            </a:r>
            <a:r>
              <a:rPr lang="en-US" dirty="0"/>
              <a:t> de la </a:t>
            </a:r>
            <a:r>
              <a:rPr lang="en-US" dirty="0" err="1"/>
              <a:t>clase</a:t>
            </a:r>
            <a:r>
              <a:rPr lang="en-US" dirty="0"/>
              <a:t> anterior</a:t>
            </a:r>
          </a:p>
          <a:p>
            <a:r>
              <a:rPr lang="en-US" dirty="0"/>
              <a:t>---------------------------------------------</a:t>
            </a:r>
          </a:p>
          <a:p>
            <a:r>
              <a:rPr lang="es-GT" dirty="0"/>
              <a:t>Dudas Practica #1</a:t>
            </a:r>
          </a:p>
          <a:p>
            <a:r>
              <a:rPr lang="es-GT" dirty="0"/>
              <a:t>---------------------------------------------</a:t>
            </a:r>
          </a:p>
          <a:p>
            <a:r>
              <a:rPr lang="en-US" dirty="0" err="1"/>
              <a:t>Inteligencia</a:t>
            </a:r>
            <a:r>
              <a:rPr lang="en-US" dirty="0"/>
              <a:t> Artificial</a:t>
            </a:r>
          </a:p>
          <a:p>
            <a:r>
              <a:rPr lang="en-US" dirty="0"/>
              <a:t>---------------------------------------------</a:t>
            </a:r>
          </a:p>
          <a:p>
            <a:r>
              <a:rPr lang="en-US" dirty="0" err="1"/>
              <a:t>Ejemplo</a:t>
            </a:r>
            <a:r>
              <a:rPr lang="en-US" dirty="0"/>
              <a:t> </a:t>
            </a:r>
            <a:r>
              <a:rPr lang="en-US" dirty="0" err="1"/>
              <a:t>Practico</a:t>
            </a:r>
            <a:endParaRPr lang="en-US" dirty="0"/>
          </a:p>
          <a:p>
            <a:r>
              <a:rPr lang="en-US" dirty="0"/>
              <a:t>---------------------------------------------</a:t>
            </a:r>
          </a:p>
          <a:p>
            <a:r>
              <a:rPr lang="en-US" dirty="0" err="1"/>
              <a:t>Exposiciones</a:t>
            </a:r>
            <a:endParaRPr lang="en-US" dirty="0"/>
          </a:p>
          <a:p>
            <a:r>
              <a:rPr lang="en-US" dirty="0"/>
              <a:t>---------------------------------------------</a:t>
            </a:r>
          </a:p>
          <a:p>
            <a:r>
              <a:rPr lang="en-US" dirty="0" err="1"/>
              <a:t>Dudas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941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85041E-59DC-35E3-A8FF-DE178D68EE79}"/>
              </a:ext>
            </a:extLst>
          </p:cNvPr>
          <p:cNvSpPr txBox="1"/>
          <p:nvPr/>
        </p:nvSpPr>
        <p:spPr>
          <a:xfrm>
            <a:off x="2539068" y="2705725"/>
            <a:ext cx="71138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/>
              <a:t>Dudas</a:t>
            </a:r>
            <a:r>
              <a:rPr lang="en-US" sz="4400" dirty="0"/>
              <a:t> o </a:t>
            </a:r>
            <a:r>
              <a:rPr lang="en-US" sz="4400" dirty="0" err="1"/>
              <a:t>comentarios</a:t>
            </a:r>
            <a:r>
              <a:rPr lang="en-US" sz="4400" dirty="0"/>
              <a:t> de la </a:t>
            </a:r>
            <a:r>
              <a:rPr lang="en-US" sz="4400" dirty="0" err="1"/>
              <a:t>clase</a:t>
            </a:r>
            <a:r>
              <a:rPr lang="en-US" sz="4400" dirty="0"/>
              <a:t> anterior?</a:t>
            </a:r>
            <a:endParaRPr lang="es-GT" sz="4400" dirty="0"/>
          </a:p>
        </p:txBody>
      </p:sp>
    </p:spTree>
    <p:extLst>
      <p:ext uri="{BB962C8B-B14F-4D97-AF65-F5344CB8AC3E}">
        <p14:creationId xmlns:p14="http://schemas.microsoft.com/office/powerpoint/2010/main" val="707530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09144-72EC-EC21-2E49-C79C2EF0B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630519-DDCB-6D8B-7C0A-340A459CD0C3}"/>
              </a:ext>
            </a:extLst>
          </p:cNvPr>
          <p:cNvSpPr txBox="1"/>
          <p:nvPr/>
        </p:nvSpPr>
        <p:spPr>
          <a:xfrm>
            <a:off x="2539068" y="2789615"/>
            <a:ext cx="71138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GT" sz="4400" dirty="0"/>
              <a:t>Dudas Practica #1?</a:t>
            </a:r>
          </a:p>
        </p:txBody>
      </p:sp>
    </p:spTree>
    <p:extLst>
      <p:ext uri="{BB962C8B-B14F-4D97-AF65-F5344CB8AC3E}">
        <p14:creationId xmlns:p14="http://schemas.microsoft.com/office/powerpoint/2010/main" val="3288252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5EC2A3A-0932-FCC6-A64C-F8F9954CC60D}"/>
              </a:ext>
            </a:extLst>
          </p:cNvPr>
          <p:cNvSpPr txBox="1"/>
          <p:nvPr/>
        </p:nvSpPr>
        <p:spPr>
          <a:xfrm>
            <a:off x="921717" y="3044279"/>
            <a:ext cx="419556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Inteligencia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Artificial</a:t>
            </a:r>
          </a:p>
        </p:txBody>
      </p:sp>
      <p:pic>
        <p:nvPicPr>
          <p:cNvPr id="1026" name="Picture 2" descr="Los 6 sectores donde más impacta la Inteligencia Artificial -  Emprendedores: La revista líder en economía de empresa">
            <a:extLst>
              <a:ext uri="{FF2B5EF4-FFF2-40B4-BE49-F238E27FC236}">
                <a16:creationId xmlns:a16="http://schemas.microsoft.com/office/drawing/2014/main" id="{E7DA9F83-5A06-41DD-60A8-8BB061A41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3407" y="523875"/>
            <a:ext cx="5810250" cy="581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2983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0F77DF7-0968-5890-DD75-8D7067053DFB}"/>
              </a:ext>
            </a:extLst>
          </p:cNvPr>
          <p:cNvSpPr txBox="1"/>
          <p:nvPr/>
        </p:nvSpPr>
        <p:spPr>
          <a:xfrm>
            <a:off x="5764622" y="2551837"/>
            <a:ext cx="54763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La inteligencia artificial es la inteligencia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llevada a cabo por máquinas. En ciencias de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la computación, una máquina «inteligente»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ideal es un agente flexible que percibe su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entorno y lleva a cabo acciones que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maximicen sus posibilidades de éxito en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algún objetivo o tarea.</a:t>
            </a:r>
            <a:endParaRPr lang="es-GT" dirty="0">
              <a:solidFill>
                <a:schemeClr val="bg1"/>
              </a:solidFill>
              <a:latin typeface="Abad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5EC2A3A-0932-FCC6-A64C-F8F9954CC60D}"/>
              </a:ext>
            </a:extLst>
          </p:cNvPr>
          <p:cNvSpPr txBox="1"/>
          <p:nvPr/>
        </p:nvSpPr>
        <p:spPr>
          <a:xfrm>
            <a:off x="2985331" y="450803"/>
            <a:ext cx="622133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Que es la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Inteligencia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Artificial?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2052" name="Picture 4" descr="Inteligencia Artificial PNG para descargar gratis">
            <a:extLst>
              <a:ext uri="{FF2B5EF4-FFF2-40B4-BE49-F238E27FC236}">
                <a16:creationId xmlns:a16="http://schemas.microsoft.com/office/drawing/2014/main" id="{2F9F5E47-0839-0066-4E19-EB1A46864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89" y="1897353"/>
            <a:ext cx="5021433" cy="3349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4322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DB695A-60D7-E3C9-4F42-1BE867BC8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7E60687-F408-E166-8BD5-E98524DE932E}"/>
              </a:ext>
            </a:extLst>
          </p:cNvPr>
          <p:cNvSpPr txBox="1"/>
          <p:nvPr/>
        </p:nvSpPr>
        <p:spPr>
          <a:xfrm>
            <a:off x="529892" y="2819690"/>
            <a:ext cx="54763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En líneas generales, a través del</a:t>
            </a:r>
          </a:p>
          <a:p>
            <a:pPr lvl="1"/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aprendizaje de patrones de</a:t>
            </a:r>
          </a:p>
          <a:p>
            <a:pPr lvl="1"/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comportamiento para, a partir de ellos,</a:t>
            </a:r>
          </a:p>
          <a:p>
            <a:pPr lvl="1"/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predecir y solucionar problemas futuros.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La inteligencia artificial está basada en</a:t>
            </a:r>
          </a:p>
          <a:p>
            <a:pPr lvl="1"/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datos y algoritmos que funciona a partir</a:t>
            </a:r>
          </a:p>
          <a:p>
            <a:pPr lvl="1"/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mediante procesos</a:t>
            </a:r>
            <a:endParaRPr lang="es-GT" dirty="0">
              <a:solidFill>
                <a:schemeClr val="bg1"/>
              </a:solidFill>
              <a:latin typeface="Abad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22DD6A0-4099-B722-1CF1-EFF5F8EAD4DD}"/>
              </a:ext>
            </a:extLst>
          </p:cNvPr>
          <p:cNvSpPr txBox="1"/>
          <p:nvPr/>
        </p:nvSpPr>
        <p:spPr>
          <a:xfrm>
            <a:off x="2895588" y="459192"/>
            <a:ext cx="62213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Como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funciona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?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3076" name="Picture 4" descr="Pin en Guardado rápido">
            <a:extLst>
              <a:ext uri="{FF2B5EF4-FFF2-40B4-BE49-F238E27FC236}">
                <a16:creationId xmlns:a16="http://schemas.microsoft.com/office/drawing/2014/main" id="{087D564F-FF49-3BB0-8EC9-528E8FF69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156" y="1396952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9622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0F77DF7-0968-5890-DD75-8D7067053DFB}"/>
              </a:ext>
            </a:extLst>
          </p:cNvPr>
          <p:cNvSpPr txBox="1"/>
          <p:nvPr/>
        </p:nvSpPr>
        <p:spPr>
          <a:xfrm>
            <a:off x="5919831" y="1997839"/>
            <a:ext cx="59142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Puede ayudarnos a realizar tareas repetitivas que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implican manejar una cantidad elevada de datos o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datos muy complejos.</a:t>
            </a: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---------------------------------------------------------------------------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Aprendizaje profundo: automatización de la analítica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predicativa (capacidad para predecir actividades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futuras, comportamientos o tendencias).</a:t>
            </a: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---------------------------------------------------------------------------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A partir de un programa informático puede procesar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el lenguaje humano.</a:t>
            </a: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5EC2A3A-0932-FCC6-A64C-F8F9954CC60D}"/>
              </a:ext>
            </a:extLst>
          </p:cNvPr>
          <p:cNvSpPr txBox="1"/>
          <p:nvPr/>
        </p:nvSpPr>
        <p:spPr>
          <a:xfrm>
            <a:off x="809145" y="2367171"/>
            <a:ext cx="458497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Beneficios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de la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inteligencia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artificial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040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C17B50-E0BF-421E-3993-CAEFDF64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9F77DF0-C951-0DC3-DE28-5AF07ABE233B}"/>
              </a:ext>
            </a:extLst>
          </p:cNvPr>
          <p:cNvSpPr txBox="1"/>
          <p:nvPr/>
        </p:nvSpPr>
        <p:spPr>
          <a:xfrm>
            <a:off x="527356" y="2103632"/>
            <a:ext cx="547636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Watson es un sistema basado en inteligencia artificial capaz de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reponder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a preguntas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formualdas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en lenguaje natural, desarrollado por la empresa IBM. Forma parte del proyecto del equipo de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investigacion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de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DeepQA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, liderado por el investigador principal David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Ferrucci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.</a:t>
            </a:r>
          </a:p>
          <a:p>
            <a:endParaRPr lang="es-MX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Watson le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permine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incorporar herramientas y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aplicacion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de IA a sus datos, en donde quiera que residan, ya sea en IBM Cloud, AWS, Azure, etc.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5B689F9-81BF-50D9-1986-A0E4FEE1FD10}"/>
              </a:ext>
            </a:extLst>
          </p:cNvPr>
          <p:cNvSpPr txBox="1"/>
          <p:nvPr/>
        </p:nvSpPr>
        <p:spPr>
          <a:xfrm>
            <a:off x="154870" y="832749"/>
            <a:ext cx="62213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Que es IBM Watson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4098" name="Picture 2" descr="IBM WATSON XPRIZE – DoGoodFilms">
            <a:extLst>
              <a:ext uri="{FF2B5EF4-FFF2-40B4-BE49-F238E27FC236}">
                <a16:creationId xmlns:a16="http://schemas.microsoft.com/office/drawing/2014/main" id="{522DCF52-BEA8-CCB9-3DBF-5F59A0F83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208" y="2103632"/>
            <a:ext cx="5648627" cy="2650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2085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D359CE-49E4-6064-161D-082AA2B2C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7B823C7-30DC-DAF1-5890-ECA8C671AC9D}"/>
              </a:ext>
            </a:extLst>
          </p:cNvPr>
          <p:cNvSpPr txBox="1"/>
          <p:nvPr/>
        </p:nvSpPr>
        <p:spPr>
          <a:xfrm>
            <a:off x="527356" y="2551837"/>
            <a:ext cx="54763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Basado en las últimas innovaciones de machine</a:t>
            </a:r>
          </a:p>
          <a:p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Learning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. Watson es una plataforma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multicloud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abierta que le permite automatizar el ciclo de vida de la inteligencia artificial. Cree modelos potentes desde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cero, o acelere la generación de valor con aplicaciones empresariales prediseñadas.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0B18257-4E3D-2171-0ACC-5C8A9C9E06FD}"/>
              </a:ext>
            </a:extLst>
          </p:cNvPr>
          <p:cNvSpPr txBox="1"/>
          <p:nvPr/>
        </p:nvSpPr>
        <p:spPr>
          <a:xfrm>
            <a:off x="154870" y="571492"/>
            <a:ext cx="622133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En que se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diferencia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Watson?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4098" name="Picture 2" descr="IBM WATSON XPRIZE – DoGoodFilms">
            <a:extLst>
              <a:ext uri="{FF2B5EF4-FFF2-40B4-BE49-F238E27FC236}">
                <a16:creationId xmlns:a16="http://schemas.microsoft.com/office/drawing/2014/main" id="{2844F3A4-E747-5AFE-0CC5-DD3156703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208" y="2103632"/>
            <a:ext cx="5648627" cy="2650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7385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5EC2A3A-0932-FCC6-A64C-F8F9954CC60D}"/>
              </a:ext>
            </a:extLst>
          </p:cNvPr>
          <p:cNvSpPr txBox="1"/>
          <p:nvPr/>
        </p:nvSpPr>
        <p:spPr>
          <a:xfrm>
            <a:off x="1979050" y="1162849"/>
            <a:ext cx="8233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Que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servicios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ofrece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?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EC50892-6B5A-6BC3-5BD1-12201EE55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425" y="2607359"/>
            <a:ext cx="8773149" cy="199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724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F7CD9B-F206-FDCF-900D-27DB440B2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CC16A9D-1ACE-D98C-9911-F6D8847AD590}"/>
              </a:ext>
            </a:extLst>
          </p:cNvPr>
          <p:cNvSpPr txBox="1"/>
          <p:nvPr/>
        </p:nvSpPr>
        <p:spPr>
          <a:xfrm>
            <a:off x="1979049" y="1200170"/>
            <a:ext cx="8233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Estadisticas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2788CEA-6E17-E856-244A-BB47A43F2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351" y="2390775"/>
            <a:ext cx="9257297" cy="250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563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2CD0F0-A081-83C1-585F-FA4C40343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00FAF55-B2A5-EA61-FF90-938825CB5E7B}"/>
              </a:ext>
            </a:extLst>
          </p:cNvPr>
          <p:cNvSpPr txBox="1"/>
          <p:nvPr/>
        </p:nvSpPr>
        <p:spPr>
          <a:xfrm>
            <a:off x="6018486" y="3046625"/>
            <a:ext cx="517802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Amazon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Rekognition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5122" name="Picture 2" descr="Amazon Rekognition - Overview | OutSystems">
            <a:extLst>
              <a:ext uri="{FF2B5EF4-FFF2-40B4-BE49-F238E27FC236}">
                <a16:creationId xmlns:a16="http://schemas.microsoft.com/office/drawing/2014/main" id="{DEFA6F6F-90A7-6F10-262A-C27D545DB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22" y="1497409"/>
            <a:ext cx="4637314" cy="4637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54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2841C4-8D54-2909-A48F-8D6242862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146EB25-EBDD-936B-BA90-0B305DAD6730}"/>
              </a:ext>
            </a:extLst>
          </p:cNvPr>
          <p:cNvSpPr txBox="1"/>
          <p:nvPr/>
        </p:nvSpPr>
        <p:spPr>
          <a:xfrm>
            <a:off x="958791" y="1770728"/>
            <a:ext cx="540006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Amazon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Rekognition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facilita la adición de análisis de imagen y video a su aplicación con tecnología probada, altamente escalable y de aprendizaje profundo que no requiere experiencia en aprendizaje automático para su uso.</a:t>
            </a:r>
          </a:p>
          <a:p>
            <a:endParaRPr lang="es-MX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Con Amazon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Rekognition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puede identificar objetos, personas, texto, escenas y actividades en imágenes y videos, además de detectar cualquier contenido inapropiado. Amazon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Rekognition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también proporciona análisis facial de alta precisión y capacidades de brusquedad facial que puede usar para detectar, analizar y comparar rostros.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03E9419-F668-F34E-2E18-87E2D3D1B92C}"/>
              </a:ext>
            </a:extLst>
          </p:cNvPr>
          <p:cNvSpPr txBox="1"/>
          <p:nvPr/>
        </p:nvSpPr>
        <p:spPr>
          <a:xfrm>
            <a:off x="552975" y="226594"/>
            <a:ext cx="55430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Que es Amazon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Rekognition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?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6146" name="Picture 2" descr="AI Amazon Rekognition&quot; Icon - Download for free – Iconduck">
            <a:extLst>
              <a:ext uri="{FF2B5EF4-FFF2-40B4-BE49-F238E27FC236}">
                <a16:creationId xmlns:a16="http://schemas.microsoft.com/office/drawing/2014/main" id="{525D8138-0919-70E5-62D2-987FEC3E5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580" y="949869"/>
            <a:ext cx="4376199" cy="5283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0031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8B0174-55C5-DEFD-2B98-257B51E1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0C25276-7A51-5FE3-2CE1-BBDC0D2ECB8F}"/>
              </a:ext>
            </a:extLst>
          </p:cNvPr>
          <p:cNvSpPr txBox="1"/>
          <p:nvPr/>
        </p:nvSpPr>
        <p:spPr>
          <a:xfrm>
            <a:off x="5743662" y="1305339"/>
            <a:ext cx="591423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Integra un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reconocimiento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imagenes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potente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en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tu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aplicacion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manera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sencilla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Inteligencia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artificial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en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el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nucleo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Analisis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imagenes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escalable</a:t>
            </a: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Analizar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miles de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millones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imagenes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al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dia</a:t>
            </a: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Integracion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con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servicios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de AWS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populares</a:t>
            </a: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Bajo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costo</a:t>
            </a: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No se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requieren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pagos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minimos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ni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compromisos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iniciales</a:t>
            </a: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47CC0B4-2972-8697-947D-FCD708F8D25C}"/>
              </a:ext>
            </a:extLst>
          </p:cNvPr>
          <p:cNvSpPr txBox="1"/>
          <p:nvPr/>
        </p:nvSpPr>
        <p:spPr>
          <a:xfrm>
            <a:off x="441821" y="3044278"/>
            <a:ext cx="47957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Beneficios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598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B30908-B72C-2E52-273E-92C0AF17F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EADA836-D249-17C3-C10C-88461D6D482C}"/>
              </a:ext>
            </a:extLst>
          </p:cNvPr>
          <p:cNvSpPr txBox="1"/>
          <p:nvPr/>
        </p:nvSpPr>
        <p:spPr>
          <a:xfrm>
            <a:off x="5609438" y="751341"/>
            <a:ext cx="591423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Biblioteca de imágenes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buscables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. Amazon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Rekognition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hace que las imágenes sean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buscables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, lo que te permite descubrir objetos y escenas que aparecen en ellas.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Verificación de usuarios basada en el rostro. Puedes confirmar las identidades de usuarios comparando su imagen en vivo con una imagen de referencia.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Análisis de opiniones. Detecta emociones, como la felicidad, tristeza o sorpresa, a partir de imágenes faciales; puedes analizar imágenes en vivo y enviar atributos emocionales a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Redshift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para generar informes periódicos sobre tendencias en cada tienda.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Reconocimiento facial . Almacena metadatos de rostros, lo que facilita la búsqueda en tu colección de imágenes de rostros muy parecidos con la función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IndexFaces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de la API.</a:t>
            </a: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A31F9C6-A3E6-838F-4660-65AE3E8A2680}"/>
              </a:ext>
            </a:extLst>
          </p:cNvPr>
          <p:cNvSpPr txBox="1"/>
          <p:nvPr/>
        </p:nvSpPr>
        <p:spPr>
          <a:xfrm>
            <a:off x="441821" y="2705722"/>
            <a:ext cx="479572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Casos de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uso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de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Rekognition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24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3C200-CE93-80DA-5448-772A3A67B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E8F9D34-B757-F9C6-055B-21A29111EF64}"/>
              </a:ext>
            </a:extLst>
          </p:cNvPr>
          <p:cNvSpPr txBox="1"/>
          <p:nvPr/>
        </p:nvSpPr>
        <p:spPr>
          <a:xfrm>
            <a:off x="5760440" y="1582340"/>
            <a:ext cx="591423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Listado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Etiquetas</a:t>
            </a: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---------------------------------------------------------------------------</a:t>
            </a:r>
          </a:p>
          <a:p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Moderacion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Contenido</a:t>
            </a: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---------------------------------------------------------------------------</a:t>
            </a:r>
          </a:p>
          <a:p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Deteccion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texto</a:t>
            </a: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---------------------------------------------------------------------------</a:t>
            </a:r>
          </a:p>
          <a:p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Deteccion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y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analisis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rostros</a:t>
            </a: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---------------------------------------------------------------------------</a:t>
            </a:r>
          </a:p>
          <a:p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Verificacion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rostros</a:t>
            </a: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---------------------------------------------------------------------------</a:t>
            </a:r>
          </a:p>
          <a:p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Reconocimiento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famosos</a:t>
            </a: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---------------------------------------------------------------------------</a:t>
            </a:r>
          </a:p>
          <a:p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Deteccion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equipo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proteccion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personal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21E6CDF-DCC7-E838-83E7-7EBE3CDF80D8}"/>
              </a:ext>
            </a:extLst>
          </p:cNvPr>
          <p:cNvSpPr txBox="1"/>
          <p:nvPr/>
        </p:nvSpPr>
        <p:spPr>
          <a:xfrm>
            <a:off x="517322" y="2367170"/>
            <a:ext cx="479572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Que se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puede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realizar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con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Rekognition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?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330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0908AC-0DF6-7B85-ECA4-A6EAD6C03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D7CC464-B2C2-56FC-6782-092218D1C880}"/>
              </a:ext>
            </a:extLst>
          </p:cNvPr>
          <p:cNvSpPr txBox="1"/>
          <p:nvPr/>
        </p:nvSpPr>
        <p:spPr>
          <a:xfrm>
            <a:off x="1979049" y="400649"/>
            <a:ext cx="8233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Quienes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usan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este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servicio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?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7CF2B65-CE0A-17D0-6F1B-68E92A589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472" y="1543552"/>
            <a:ext cx="1924050" cy="19812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9ED33A5-6FB4-9B0C-04BA-B1750415D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449" y="4124718"/>
            <a:ext cx="8191500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5530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9130B2-EAB7-9832-957F-09F82222F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5A3A31E-FC95-CCA9-0C13-2563F5914C55}"/>
              </a:ext>
            </a:extLst>
          </p:cNvPr>
          <p:cNvSpPr txBox="1"/>
          <p:nvPr/>
        </p:nvSpPr>
        <p:spPr>
          <a:xfrm>
            <a:off x="1812561" y="3044279"/>
            <a:ext cx="34579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Capa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Gratuita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62A18CA-D050-D9B9-26DF-7949A516F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442" y="1300161"/>
            <a:ext cx="2981238" cy="456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9268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52B95A-DA72-12FF-8433-D200833CCF83}"/>
              </a:ext>
            </a:extLst>
          </p:cNvPr>
          <p:cNvSpPr txBox="1"/>
          <p:nvPr/>
        </p:nvSpPr>
        <p:spPr>
          <a:xfrm>
            <a:off x="2878822" y="973123"/>
            <a:ext cx="64343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err="1"/>
              <a:t>Ejemplo</a:t>
            </a:r>
            <a:r>
              <a:rPr lang="en-US" sz="7200" dirty="0"/>
              <a:t> </a:t>
            </a:r>
            <a:r>
              <a:rPr lang="en-US" sz="7200" dirty="0" err="1"/>
              <a:t>Practico</a:t>
            </a:r>
            <a:endParaRPr lang="es-GT" sz="7200" dirty="0"/>
          </a:p>
        </p:txBody>
      </p:sp>
      <p:pic>
        <p:nvPicPr>
          <p:cNvPr id="3" name="Picture 2" descr="AWS Logo and sign, new logo meaning and history, PNG, SVG">
            <a:extLst>
              <a:ext uri="{FF2B5EF4-FFF2-40B4-BE49-F238E27FC236}">
                <a16:creationId xmlns:a16="http://schemas.microsoft.com/office/drawing/2014/main" id="{D31C251C-9909-6F35-02CA-2205D2E5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029" y="2341605"/>
            <a:ext cx="5745942" cy="3631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7729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210249-07DA-972E-89E8-5004A7787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72D0B9F-C2A6-22D0-F9E8-ABC70C670AB6}"/>
              </a:ext>
            </a:extLst>
          </p:cNvPr>
          <p:cNvSpPr txBox="1"/>
          <p:nvPr/>
        </p:nvSpPr>
        <p:spPr>
          <a:xfrm>
            <a:off x="4265961" y="2705725"/>
            <a:ext cx="344196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Exposiciones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</a:p>
          <a:p>
            <a:pPr algn="ctr"/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Grupo 2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1020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52B95A-DA72-12FF-8433-D200833CCF83}"/>
              </a:ext>
            </a:extLst>
          </p:cNvPr>
          <p:cNvSpPr txBox="1"/>
          <p:nvPr/>
        </p:nvSpPr>
        <p:spPr>
          <a:xfrm>
            <a:off x="3422708" y="2046914"/>
            <a:ext cx="50417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err="1"/>
              <a:t>Dudas</a:t>
            </a:r>
            <a:r>
              <a:rPr lang="en-US" sz="7200" dirty="0"/>
              <a:t> o </a:t>
            </a:r>
            <a:r>
              <a:rPr lang="en-US" sz="7200" dirty="0" err="1"/>
              <a:t>comentarios</a:t>
            </a:r>
            <a:endParaRPr lang="es-GT" sz="7200" dirty="0"/>
          </a:p>
        </p:txBody>
      </p:sp>
    </p:spTree>
    <p:extLst>
      <p:ext uri="{BB962C8B-B14F-4D97-AF65-F5344CB8AC3E}">
        <p14:creationId xmlns:p14="http://schemas.microsoft.com/office/powerpoint/2010/main" val="21147757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">
      <a:dk1>
        <a:srgbClr val="000000"/>
      </a:dk1>
      <a:lt1>
        <a:srgbClr val="FFFFFF"/>
      </a:lt1>
      <a:dk2>
        <a:srgbClr val="41242D"/>
      </a:dk2>
      <a:lt2>
        <a:srgbClr val="E2E2E8"/>
      </a:lt2>
      <a:accent1>
        <a:srgbClr val="A5A27D"/>
      </a:accent1>
      <a:accent2>
        <a:srgbClr val="B79A7A"/>
      </a:accent2>
      <a:accent3>
        <a:srgbClr val="C2948F"/>
      </a:accent3>
      <a:accent4>
        <a:srgbClr val="BA7F91"/>
      </a:accent4>
      <a:accent5>
        <a:srgbClr val="C390B5"/>
      </a:accent5>
      <a:accent6>
        <a:srgbClr val="B17FBA"/>
      </a:accent6>
      <a:hlink>
        <a:srgbClr val="6D71B0"/>
      </a:hlink>
      <a:folHlink>
        <a:srgbClr val="7F7F7F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5202519_TF89747358_Win32" id="{B609F969-5D32-4B95-9F78-8698CAA0F86F}" vid="{861FB8E8-60C1-4B53-B06A-67A7A082AC9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5E4A76-0180-4CD0-B081-82F74A33613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41243E30-12F4-4BE3-B27D-23AB115E9D1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96A612-58F4-4E9A-9665-3987CC3AC4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para enseñar un curso</Template>
  <TotalTime>2307</TotalTime>
  <Words>684</Words>
  <Application>Microsoft Office PowerPoint</Application>
  <PresentationFormat>Widescreen</PresentationFormat>
  <Paragraphs>108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Abadi</vt:lpstr>
      <vt:lpstr>Arial</vt:lpstr>
      <vt:lpstr>Calibri</vt:lpstr>
      <vt:lpstr>Garamond</vt:lpstr>
      <vt:lpstr>SavonVTI</vt:lpstr>
      <vt:lpstr>PowerPoint Presentation</vt:lpstr>
      <vt:lpstr>LAB. SEMINARIO DE SISTEMAS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Luis Enrique Rivera Najera</dc:creator>
  <cp:lastModifiedBy>Luis Enrique Rivera Najera</cp:lastModifiedBy>
  <cp:revision>84</cp:revision>
  <dcterms:created xsi:type="dcterms:W3CDTF">2024-01-19T00:28:28Z</dcterms:created>
  <dcterms:modified xsi:type="dcterms:W3CDTF">2024-08-22T02:11:30Z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