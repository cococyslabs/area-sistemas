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90" r:id="rId6"/>
    <p:sldId id="297" r:id="rId7"/>
    <p:sldId id="298" r:id="rId8"/>
    <p:sldId id="373" r:id="rId9"/>
    <p:sldId id="348" r:id="rId10"/>
    <p:sldId id="336" r:id="rId11"/>
    <p:sldId id="311" r:id="rId12"/>
    <p:sldId id="309" r:id="rId13"/>
    <p:sldId id="383" r:id="rId14"/>
    <p:sldId id="368" r:id="rId15"/>
    <p:sldId id="375" r:id="rId16"/>
    <p:sldId id="364" r:id="rId17"/>
    <p:sldId id="384" r:id="rId18"/>
    <p:sldId id="385" r:id="rId19"/>
    <p:sldId id="352" r:id="rId20"/>
    <p:sldId id="347" r:id="rId21"/>
    <p:sldId id="363" r:id="rId22"/>
    <p:sldId id="365" r:id="rId23"/>
    <p:sldId id="388" r:id="rId24"/>
    <p:sldId id="386" r:id="rId25"/>
    <p:sldId id="387" r:id="rId26"/>
    <p:sldId id="389" r:id="rId27"/>
    <p:sldId id="301" r:id="rId2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5602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70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D9CB4F3C-75A8-4BB8-A18E-B730DDD68B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AE10D8-98A5-4E68-A41F-7AA79FF696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27022EB2-72D7-451B-AEA0-CC69EE5C4891}" type="datetime1">
              <a:rPr lang="es-ES" smtClean="0"/>
              <a:t>12/09/2024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7EF411-0DAB-4BCE-94A8-E903E20549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A11237F-7CCA-4423-B624-29C06FF2E7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5A8CD4AB-B9A2-4248-B31F-8EBC71546D8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97791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A8661170-17F7-49AF-B705-E8F2CF2052F2}" type="datetime1">
              <a:rPr lang="es-ES" smtClean="0"/>
              <a:t>12/09/2024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ABE9C73-6CDE-45E2-97F8-E3C5308FA232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63496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ABE9C73-6CDE-45E2-97F8-E3C5308FA23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747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 useBgFill="1"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s-E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s-ES"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lang="es-ES" sz="1600"/>
            </a:lvl2pPr>
            <a:lvl3pPr marL="914400" indent="0" algn="ctr">
              <a:buNone/>
              <a:defRPr lang="es-ES" sz="16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20" name="Marcador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lang="es-ES"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BEB4F5C9-88B7-447F-BE3E-E1414EC76429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21" name="Marcador de pie de página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2" name="Marcador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8201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13B000A-243B-4CA4-8C44-C6A6C08C8650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2855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 useBgFill="1"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s-E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lang="es-ES"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s-E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ADEEDB7D-CC81-4931-9AAA-0077BE628FD4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703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E7F46B3-842E-4E89-8BDF-E361735C01BC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0555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2F2F0876-DA34-44C2-B05E-66533803FE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3400" y="246600"/>
            <a:ext cx="11725200" cy="6364800"/>
          </a:xfrm>
        </p:spPr>
        <p:txBody>
          <a:bodyPr rtlCol="0" anchor="ctr" anchorCtr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6E352C7E-BCE1-47CD-872E-2935DD89FC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488" y="2103438"/>
            <a:ext cx="5243512" cy="3748087"/>
          </a:xfrm>
        </p:spPr>
        <p:txBody>
          <a:bodyPr rtlCol="0" anchor="ctr" anchorCtr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lang="es-E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4C7856E-8481-4380-87B1-968A6434EDCE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2392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es-ES"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lang="es-ES" sz="18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es-ES" sz="1900" b="1">
                <a:solidFill>
                  <a:schemeClr val="tx1"/>
                </a:solidFill>
              </a:defRPr>
            </a:lvl1pPr>
            <a:lvl2pPr marL="457200" indent="0">
              <a:buNone/>
              <a:defRPr lang="es-ES" sz="18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FFA1CE0-D520-4AE6-8983-BF7F35BD3F6A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2359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D2744B2-8AFF-4854-8EB2-6AEDB3208B71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5877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C7B5EDD-7914-41F5-AC1A-03040CA5E9C6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6595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lang="es-ES" sz="19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BCC3E2A5-012A-4BBA-9BD6-129DEB004F28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9664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41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lang="es-ES" sz="19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2FFF39E-7815-46BC-A7EE-7F1F6D4908E7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468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CD7A40E7-331A-409D-8385-D6893D1EA86A}"/>
              </a:ext>
            </a:extLst>
          </p:cNvPr>
          <p:cNvSpPr/>
          <p:nvPr userDrawn="1"/>
        </p:nvSpPr>
        <p:spPr>
          <a:xfrm>
            <a:off x="948394" y="941695"/>
            <a:ext cx="5452526" cy="497461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75561E95-1FD2-4358-9E4C-3D2E929E4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48394 w 12192000"/>
              <a:gd name="connsiteY0" fmla="*/ 941695 h 6858000"/>
              <a:gd name="connsiteX1" fmla="*/ 948394 w 12192000"/>
              <a:gd name="connsiteY1" fmla="*/ 5916305 h 6858000"/>
              <a:gd name="connsiteX2" fmla="*/ 6400920 w 12192000"/>
              <a:gd name="connsiteY2" fmla="*/ 5916305 h 6858000"/>
              <a:gd name="connsiteX3" fmla="*/ 6400920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48394" y="941695"/>
                </a:moveTo>
                <a:lnTo>
                  <a:pt x="948394" y="5916305"/>
                </a:lnTo>
                <a:lnTo>
                  <a:pt x="6400920" y="5916305"/>
                </a:lnTo>
                <a:lnTo>
                  <a:pt x="6400920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21ACFE4-7A0B-4C5F-B126-3E7852FCEB08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6E7077FF-6FAE-4A98-862F-3A2F931B95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357950" y="2852792"/>
            <a:ext cx="4633415" cy="257219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51E07B6-8D69-4F8A-9729-400511B37F8B}"/>
              </a:ext>
            </a:extLst>
          </p:cNvPr>
          <p:cNvSpPr/>
          <p:nvPr userDrawn="1"/>
        </p:nvSpPr>
        <p:spPr>
          <a:xfrm>
            <a:off x="1101715" y="1106424"/>
            <a:ext cx="5120640" cy="4645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57950" y="1352804"/>
            <a:ext cx="4633415" cy="1333641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4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11138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lang="es-ES" sz="32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lang="es-ES"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7BC489D-2B38-4086-A7AC-7DA6DCFEF9A7}" type="datetime1">
              <a:rPr lang="es-ES" noProof="0" smtClean="0"/>
              <a:t>12/09/2024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s-E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lang="es-ES"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001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7030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D81C884-65B5-4077-A415-CB6AF9CEFAD3}" type="datetime1">
              <a:rPr lang="es-ES" noProof="0" smtClean="0"/>
              <a:t>12/09/2024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6042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9" r:id="rId5"/>
    <p:sldLayoutId id="2147483730" r:id="rId6"/>
    <p:sldLayoutId id="2147483736" r:id="rId7"/>
    <p:sldLayoutId id="2147483737" r:id="rId8"/>
    <p:sldLayoutId id="2147483727" r:id="rId9"/>
    <p:sldLayoutId id="2147483741" r:id="rId10"/>
    <p:sldLayoutId id="2147483740" r:id="rId11"/>
    <p:sldLayoutId id="2147483728" r:id="rId12"/>
    <p:sldLayoutId id="2147483742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es/photo/57785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-144431" y="-159390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1001398882"/>
              </p:ext>
            </p:extLst>
          </p:nvPr>
        </p:nvGraphicFramePr>
        <p:xfrm>
          <a:off x="7104267" y="1293367"/>
          <a:ext cx="4920767" cy="1219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Viernes, 13/09/2024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07:10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3333" dirty="0"/>
              <a:t>Seminario de Sistemas 1 [B]</a:t>
            </a:r>
            <a:endParaRPr sz="3333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2667" dirty="0"/>
              <a:t>Luis Enrique Rivera Najera</a:t>
            </a:r>
            <a:endParaRPr sz="26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A04C7C-FE8B-4C2F-BF2E-CBD501A02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09610" y="0"/>
            <a:ext cx="10972780" cy="68579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253F3E-E6E8-4DEE-A6F6-D6A88FD39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LAB. SEMINARIO DE SISTEMAS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54176-1A2D-47B9-B195-FB21407C0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r>
              <a:rPr lang="es-ES" sz="2400" dirty="0">
                <a:solidFill>
                  <a:schemeClr val="tx2">
                    <a:lumMod val="90000"/>
                  </a:schemeClr>
                </a:solidFill>
              </a:rPr>
              <a:t>Laboratorio #8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17353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9689F-1FC0-B631-77FE-D08756E76662}"/>
              </a:ext>
            </a:extLst>
          </p:cNvPr>
          <p:cNvSpPr txBox="1"/>
          <p:nvPr/>
        </p:nvSpPr>
        <p:spPr>
          <a:xfrm>
            <a:off x="2357307" y="3059668"/>
            <a:ext cx="1946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Agenda</a:t>
            </a:r>
            <a:endParaRPr lang="es-GT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8C306-4CB0-E16F-2A8F-1F689FD33D9F}"/>
              </a:ext>
            </a:extLst>
          </p:cNvPr>
          <p:cNvSpPr txBox="1"/>
          <p:nvPr/>
        </p:nvSpPr>
        <p:spPr>
          <a:xfrm>
            <a:off x="6448285" y="1213008"/>
            <a:ext cx="38337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Dudas</a:t>
            </a:r>
            <a:r>
              <a:rPr lang="en-US" dirty="0"/>
              <a:t> y </a:t>
            </a:r>
            <a:r>
              <a:rPr lang="en-US" dirty="0" err="1"/>
              <a:t>comentarios</a:t>
            </a:r>
            <a:r>
              <a:rPr lang="en-US" dirty="0"/>
              <a:t> de la </a:t>
            </a:r>
            <a:r>
              <a:rPr lang="en-US" dirty="0" err="1"/>
              <a:t>clase</a:t>
            </a:r>
            <a:r>
              <a:rPr lang="en-US" dirty="0"/>
              <a:t> anterior</a:t>
            </a:r>
          </a:p>
          <a:p>
            <a:r>
              <a:rPr lang="en-US" dirty="0"/>
              <a:t>--------------------------------------------</a:t>
            </a:r>
          </a:p>
          <a:p>
            <a:r>
              <a:rPr lang="en-US" dirty="0" err="1"/>
              <a:t>Dudas</a:t>
            </a:r>
            <a:r>
              <a:rPr lang="en-US" dirty="0"/>
              <a:t> </a:t>
            </a:r>
            <a:r>
              <a:rPr lang="en-US" dirty="0" err="1"/>
              <a:t>Practica</a:t>
            </a:r>
            <a:r>
              <a:rPr lang="en-US" dirty="0"/>
              <a:t> 2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Exposiciones</a:t>
            </a:r>
            <a:endParaRPr lang="en-US" dirty="0"/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Practico</a:t>
            </a:r>
            <a:r>
              <a:rPr lang="en-US" dirty="0"/>
              <a:t> Amazon Lex, Polly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Serveless</a:t>
            </a:r>
            <a:r>
              <a:rPr lang="en-US" dirty="0"/>
              <a:t> AWS Lambda</a:t>
            </a:r>
          </a:p>
          <a:p>
            <a:r>
              <a:rPr lang="en-US" dirty="0"/>
              <a:t>---------------------------------------------</a:t>
            </a:r>
            <a:r>
              <a:rPr lang="en-US" dirty="0" err="1"/>
              <a:t>Repaso</a:t>
            </a:r>
            <a:r>
              <a:rPr lang="en-US" dirty="0"/>
              <a:t> </a:t>
            </a:r>
            <a:r>
              <a:rPr lang="en-US" dirty="0" err="1"/>
              <a:t>Rekognition</a:t>
            </a:r>
            <a:r>
              <a:rPr lang="en-US" dirty="0"/>
              <a:t> y Translate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Dudas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94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5041E-59DC-35E3-A8FF-DE178D68EE79}"/>
              </a:ext>
            </a:extLst>
          </p:cNvPr>
          <p:cNvSpPr txBox="1"/>
          <p:nvPr/>
        </p:nvSpPr>
        <p:spPr>
          <a:xfrm>
            <a:off x="2539068" y="2705725"/>
            <a:ext cx="71138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/>
              <a:t>Dudas</a:t>
            </a:r>
            <a:r>
              <a:rPr lang="en-US" sz="4400" dirty="0"/>
              <a:t> o </a:t>
            </a:r>
            <a:r>
              <a:rPr lang="en-US" sz="4400" dirty="0" err="1"/>
              <a:t>comentarios</a:t>
            </a:r>
            <a:r>
              <a:rPr lang="en-US" sz="4400" dirty="0"/>
              <a:t> de la </a:t>
            </a:r>
            <a:r>
              <a:rPr lang="en-US" sz="4400" dirty="0" err="1"/>
              <a:t>clase</a:t>
            </a:r>
            <a:r>
              <a:rPr lang="en-US" sz="4400" dirty="0"/>
              <a:t> anterior?</a:t>
            </a:r>
            <a:endParaRPr lang="es-GT" sz="4400" dirty="0"/>
          </a:p>
        </p:txBody>
      </p:sp>
    </p:spTree>
    <p:extLst>
      <p:ext uri="{BB962C8B-B14F-4D97-AF65-F5344CB8AC3E}">
        <p14:creationId xmlns:p14="http://schemas.microsoft.com/office/powerpoint/2010/main" val="70753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2479-9F54-39DF-9BD8-D263D039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78ABFA-3C63-59FD-452E-862E3F960833}"/>
              </a:ext>
            </a:extLst>
          </p:cNvPr>
          <p:cNvSpPr txBox="1"/>
          <p:nvPr/>
        </p:nvSpPr>
        <p:spPr>
          <a:xfrm>
            <a:off x="2539068" y="2705725"/>
            <a:ext cx="71138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/>
              <a:t>Dudas</a:t>
            </a:r>
            <a:r>
              <a:rPr lang="en-US" sz="4400" dirty="0"/>
              <a:t> </a:t>
            </a:r>
            <a:r>
              <a:rPr lang="en-US" sz="4400" dirty="0" err="1"/>
              <a:t>Practica</a:t>
            </a:r>
            <a:r>
              <a:rPr lang="en-US" sz="4400" dirty="0"/>
              <a:t> 2?</a:t>
            </a:r>
            <a:endParaRPr lang="es-GT" sz="4400" dirty="0"/>
          </a:p>
        </p:txBody>
      </p:sp>
    </p:spTree>
    <p:extLst>
      <p:ext uri="{BB962C8B-B14F-4D97-AF65-F5344CB8AC3E}">
        <p14:creationId xmlns:p14="http://schemas.microsoft.com/office/powerpoint/2010/main" val="4164798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10249-07DA-972E-89E8-5004A778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72D0B9F-C2A6-22D0-F9E8-ABC70C670AB6}"/>
              </a:ext>
            </a:extLst>
          </p:cNvPr>
          <p:cNvSpPr txBox="1"/>
          <p:nvPr/>
        </p:nvSpPr>
        <p:spPr>
          <a:xfrm>
            <a:off x="4265961" y="2705725"/>
            <a:ext cx="344196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Exposiciones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Grupo 4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102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2878822" y="653945"/>
            <a:ext cx="64343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/>
              <a:t>Ejemplo</a:t>
            </a:r>
            <a:r>
              <a:rPr lang="en-US" sz="7200" dirty="0"/>
              <a:t> </a:t>
            </a:r>
            <a:r>
              <a:rPr lang="en-US" sz="7200" dirty="0" err="1"/>
              <a:t>Practico</a:t>
            </a:r>
            <a:r>
              <a:rPr lang="en-US" sz="7200" dirty="0"/>
              <a:t> Anterior</a:t>
            </a:r>
            <a:endParaRPr lang="es-GT" sz="7200" dirty="0"/>
          </a:p>
        </p:txBody>
      </p:sp>
      <p:pic>
        <p:nvPicPr>
          <p:cNvPr id="3" name="Picture 2" descr="AWS Logo and sign, new logo meaning and history, PNG, SVG">
            <a:extLst>
              <a:ext uri="{FF2B5EF4-FFF2-40B4-BE49-F238E27FC236}">
                <a16:creationId xmlns:a16="http://schemas.microsoft.com/office/drawing/2014/main" id="{D31C251C-9909-6F35-02CA-2205D2E5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029" y="2753853"/>
            <a:ext cx="5745942" cy="363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77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669791" y="2705725"/>
            <a:ext cx="41955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Serveless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en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AWS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5B6BF7-E384-D7F1-B309-CC0CD11F3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49857"/>
            <a:ext cx="3944541" cy="395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83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1704364" y="2190786"/>
            <a:ext cx="8783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Sin servidor se refiere a la arquitectura nativa de la nube, con la cual se le permite trasladar más responsabilidades operativas a AWS y se aumenta la agilidad y la innovación. Gracias a la informática sin servidor, puede crear y ejecutar aplicaciones y servicios sin tener que preocuparse por los servidores.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Permite eliminar las tareas de administración de infraestructura, como el aprovisionamiento de servidores o clústeres, los parches, el mantenimiento del sistema operativo y la capacidad de aprovisionamiento. Puede crearlas para prácticamente cualquier tipo de aplicación o servicio de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backend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. 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Además, administra todo lo necesario para ejecutar y escalar la aplicación con alta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disponibilidad.</a:t>
            </a:r>
            <a:endParaRPr lang="es-GT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2985331" y="660527"/>
            <a:ext cx="622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es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Serveless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32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332763" y="1855226"/>
            <a:ext cx="1152647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Almacenamiento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En Amazon Simple Storage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Services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(Amazon S3), se ofrece a los desarrolladores y lo equipos de TI un</a:t>
            </a:r>
          </a:p>
          <a:p>
            <a:pPr lvl="2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almacenamiento de objetos seguro, duradero y altamente escalable. S3 esa fácil de utilizar, con una</a:t>
            </a:r>
          </a:p>
          <a:p>
            <a:pPr lvl="2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sencilla interfaz de servicios web para almacenar y recuperar cualquier cantidad de datos, sea cual sea la</a:t>
            </a:r>
          </a:p>
          <a:p>
            <a:pPr lvl="2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ubicación en la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Informática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AWS Lambda le permite ejecutar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codigo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sin aprovisionar ni administrar servidores. Solo pagará por el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	tiempo de cómputo que consume; no se aplican cargos si no se ejecuta su código.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Proxy de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Amazon API Gateway es un servicio completamente administrado que facilita las tareas que realizan los</a:t>
            </a:r>
          </a:p>
          <a:p>
            <a:pPr lvl="1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desarrolladores para la creación, la publicación, el mantenimiento, la monitorización y la protección de</a:t>
            </a:r>
          </a:p>
          <a:p>
            <a:pPr lvl="1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las API a cualquier escala.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Almacenamiento de Datos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Amazon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DynamoDB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es un servicio de base de datos NoSQL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rapido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y flexible para todas las aplicaciones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	en las que ser requieren latencias de milisegundos de un solo digito uniformes a cualquier escala</a:t>
            </a:r>
            <a:endParaRPr lang="es-GT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2985331" y="333357"/>
            <a:ext cx="6221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servicios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ofrece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AWS?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62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B695A-60D7-E3C9-4F42-1BE867BC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7E60687-F408-E166-8BD5-E98524DE932E}"/>
              </a:ext>
            </a:extLst>
          </p:cNvPr>
          <p:cNvSpPr txBox="1"/>
          <p:nvPr/>
        </p:nvSpPr>
        <p:spPr>
          <a:xfrm>
            <a:off x="529892" y="2272454"/>
            <a:ext cx="54763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Amazon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DynamoDB</a:t>
            </a:r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Es una base de datos de clave valor y documentos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que ofrece rendimiento en milisegundos de un solo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dígito a cualquier escala</a:t>
            </a:r>
          </a:p>
          <a:p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Amazon 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Es un servicio de almacenamiento de objetos que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ofrece escalabilidad, disponibilidad de datos,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seguridad y rendimiento.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22DD6A0-4099-B722-1CF1-EFF5F8EAD4DD}"/>
              </a:ext>
            </a:extLst>
          </p:cNvPr>
          <p:cNvSpPr txBox="1"/>
          <p:nvPr/>
        </p:nvSpPr>
        <p:spPr>
          <a:xfrm>
            <a:off x="2895588" y="157188"/>
            <a:ext cx="622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Repaso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Serveless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8168CB-DA22-24B8-E574-F87ED0D4C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388" y="1663029"/>
            <a:ext cx="2233865" cy="20751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2CA0933-FE46-9C78-9414-6C3130F1D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931" y="3876188"/>
            <a:ext cx="2433579" cy="18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2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0E218-783F-AA3D-1861-3234B13B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E25B217-8A93-4D75-72EE-E04F34B5B471}"/>
              </a:ext>
            </a:extLst>
          </p:cNvPr>
          <p:cNvSpPr txBox="1"/>
          <p:nvPr/>
        </p:nvSpPr>
        <p:spPr>
          <a:xfrm>
            <a:off x="552345" y="3044278"/>
            <a:ext cx="41955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AWS Lambda</a:t>
            </a:r>
          </a:p>
        </p:txBody>
      </p:sp>
      <p:pic>
        <p:nvPicPr>
          <p:cNvPr id="1026" name="Picture 2" descr="Demystifying AWS Lambda: How AWS Lambda works in simple words | by Saurav  Sharma | Medium">
            <a:extLst>
              <a:ext uri="{FF2B5EF4-FFF2-40B4-BE49-F238E27FC236}">
                <a16:creationId xmlns:a16="http://schemas.microsoft.com/office/drawing/2014/main" id="{A6214341-8709-19E4-EBF2-4CDF646D9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513" y="867746"/>
            <a:ext cx="4823927" cy="4823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24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17B50-E0BF-421E-3993-CAEFDF64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9F77DF0-C951-0DC3-DE28-5AF07ABE233B}"/>
              </a:ext>
            </a:extLst>
          </p:cNvPr>
          <p:cNvSpPr txBox="1"/>
          <p:nvPr/>
        </p:nvSpPr>
        <p:spPr>
          <a:xfrm>
            <a:off x="924436" y="2073665"/>
            <a:ext cx="49282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AWS Lambda le permite ejecutar código sin aprovisionar ni administrar servidores. Paga solo por el tiempo de cómputo que consume.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Con Lambda, puede ejecutar código para casi cualquier tipo de aplicación o servicio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backend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sin tener que realizar tareas administrativas. Solo tiene que cargar el código y Lambda se encarga de todo lo necesario para ejecutar y escalar el código con alta disponibilidad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B689F9-81BF-50D9-1986-A0E4FEE1FD10}"/>
              </a:ext>
            </a:extLst>
          </p:cNvPr>
          <p:cNvSpPr txBox="1"/>
          <p:nvPr/>
        </p:nvSpPr>
        <p:spPr>
          <a:xfrm>
            <a:off x="277909" y="598574"/>
            <a:ext cx="622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es AWS Lambda?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2050" name="Picture 2" descr="AWS Lambda - Wikipedia, la enciclopedia libre">
            <a:extLst>
              <a:ext uri="{FF2B5EF4-FFF2-40B4-BE49-F238E27FC236}">
                <a16:creationId xmlns:a16="http://schemas.microsoft.com/office/drawing/2014/main" id="{77B67BA1-FCAE-25A9-5CF0-67B912889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959" y="1870788"/>
            <a:ext cx="3116424" cy="31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085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17B50-E0BF-421E-3993-CAEFDF64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9F77DF0-C951-0DC3-DE28-5AF07ABE233B}"/>
              </a:ext>
            </a:extLst>
          </p:cNvPr>
          <p:cNvSpPr txBox="1"/>
          <p:nvPr/>
        </p:nvSpPr>
        <p:spPr>
          <a:xfrm>
            <a:off x="836619" y="2828835"/>
            <a:ext cx="5779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Sin servidores para Administrar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Escalado continuo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Medición de tiempos inferiores a 1 segundo (100 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Rendimiento constante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B689F9-81BF-50D9-1986-A0E4FEE1FD10}"/>
              </a:ext>
            </a:extLst>
          </p:cNvPr>
          <p:cNvSpPr txBox="1"/>
          <p:nvPr/>
        </p:nvSpPr>
        <p:spPr>
          <a:xfrm>
            <a:off x="2985331" y="474571"/>
            <a:ext cx="6221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Beneficios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AWS Lambda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2" name="Picture 2" descr="Demystifying AWS Lambda: How AWS Lambda works in simple words | by Saurav  Sharma | Medium">
            <a:extLst>
              <a:ext uri="{FF2B5EF4-FFF2-40B4-BE49-F238E27FC236}">
                <a16:creationId xmlns:a16="http://schemas.microsoft.com/office/drawing/2014/main" id="{3CE592CD-FD93-A3FF-BA49-433E39AFD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803" y="1585647"/>
            <a:ext cx="3686704" cy="368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324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17B50-E0BF-421E-3993-CAEFDF64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5B689F9-81BF-50D9-1986-A0E4FEE1FD10}"/>
              </a:ext>
            </a:extLst>
          </p:cNvPr>
          <p:cNvSpPr txBox="1"/>
          <p:nvPr/>
        </p:nvSpPr>
        <p:spPr>
          <a:xfrm>
            <a:off x="2985330" y="546563"/>
            <a:ext cx="622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Arquitectura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Lambda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FE5CFB-3187-3DD6-5270-53B9FAA36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1946901"/>
            <a:ext cx="57054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40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130B2-EAB7-9832-957F-09F82222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5A3A31E-FC95-CCA9-0C13-2563F5914C55}"/>
              </a:ext>
            </a:extLst>
          </p:cNvPr>
          <p:cNvSpPr txBox="1"/>
          <p:nvPr/>
        </p:nvSpPr>
        <p:spPr>
          <a:xfrm>
            <a:off x="1348239" y="2810561"/>
            <a:ext cx="34579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Capa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Gratuita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70C8CD-C7FA-55B7-4800-21496C1E8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217" y="1171575"/>
            <a:ext cx="26384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26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CD0F0-A081-83C1-585F-FA4C4034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00FAF55-B2A5-EA61-FF90-938825CB5E7B}"/>
              </a:ext>
            </a:extLst>
          </p:cNvPr>
          <p:cNvSpPr txBox="1"/>
          <p:nvPr/>
        </p:nvSpPr>
        <p:spPr>
          <a:xfrm>
            <a:off x="6454661" y="3044278"/>
            <a:ext cx="5295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Amazon API Gateway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E6C1D9-9C9A-4533-08AA-DE597FF47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535" y="1228723"/>
            <a:ext cx="38862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54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841C4-8D54-2909-A48F-8D624286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46EB25-EBDD-936B-BA90-0B305DAD6730}"/>
              </a:ext>
            </a:extLst>
          </p:cNvPr>
          <p:cNvSpPr txBox="1"/>
          <p:nvPr/>
        </p:nvSpPr>
        <p:spPr>
          <a:xfrm>
            <a:off x="2135153" y="2765675"/>
            <a:ext cx="79216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Amazon API Gateway es un servicio completamente administrado que facilita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 los desarrolladores la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creacion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, la publicación, el mantenimiento, el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monitorio y la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proteccion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de API a cualquier escala. Las API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actuan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como una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puerta de entrada para que las aplicaciones accedan a los datos, la logia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empresarial o la funcionalidad de sus servicios de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backend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. Con API Gateway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puede crear API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RestFul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y API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WebSocket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que permitiendo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apliaciones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de</a:t>
            </a:r>
          </a:p>
          <a:p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comunicacion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bidireccional en tiempo real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3E9419-F668-F34E-2E18-87E2D3D1B92C}"/>
              </a:ext>
            </a:extLst>
          </p:cNvPr>
          <p:cNvSpPr txBox="1"/>
          <p:nvPr/>
        </p:nvSpPr>
        <p:spPr>
          <a:xfrm>
            <a:off x="3324486" y="675918"/>
            <a:ext cx="55430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es Amazon API Gateway?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031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B0174-55C5-DEFD-2B98-257B51E1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0C25276-7A51-5FE3-2CE1-BBDC0D2ECB8F}"/>
              </a:ext>
            </a:extLst>
          </p:cNvPr>
          <p:cNvSpPr txBox="1"/>
          <p:nvPr/>
        </p:nvSpPr>
        <p:spPr>
          <a:xfrm>
            <a:off x="6523859" y="2551837"/>
            <a:ext cx="4230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Desarrollo de API eficiente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Rendimiento a cualquier escala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Ahorro de costos a escala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Monitoreo fácil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Controles de seguridad flexibles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Opciones de API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Restful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47CC0B4-2972-8697-947D-FCD708F8D25C}"/>
              </a:ext>
            </a:extLst>
          </p:cNvPr>
          <p:cNvSpPr txBox="1"/>
          <p:nvPr/>
        </p:nvSpPr>
        <p:spPr>
          <a:xfrm>
            <a:off x="872415" y="2705725"/>
            <a:ext cx="47957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Beneficios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API Gateway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598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17B50-E0BF-421E-3993-CAEFDF64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5B689F9-81BF-50D9-1986-A0E4FEE1FD10}"/>
              </a:ext>
            </a:extLst>
          </p:cNvPr>
          <p:cNvSpPr txBox="1"/>
          <p:nvPr/>
        </p:nvSpPr>
        <p:spPr>
          <a:xfrm>
            <a:off x="2985330" y="555505"/>
            <a:ext cx="6221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Arquitectura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API Gateway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AF2A55-3004-DBEA-D797-25CB1E8A8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598" y="2401896"/>
            <a:ext cx="5950801" cy="34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20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130B2-EAB7-9832-957F-09F82222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5A3A31E-FC95-CCA9-0C13-2563F5914C55}"/>
              </a:ext>
            </a:extLst>
          </p:cNvPr>
          <p:cNvSpPr txBox="1"/>
          <p:nvPr/>
        </p:nvSpPr>
        <p:spPr>
          <a:xfrm>
            <a:off x="976308" y="2705725"/>
            <a:ext cx="52341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ofrece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la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Capa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Gratuita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5B1BE9-FC42-88EF-ADD6-0C489D8F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400" y="1152525"/>
            <a:ext cx="327660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69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2878822" y="973123"/>
            <a:ext cx="6434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Ejemplo</a:t>
            </a:r>
            <a:r>
              <a:rPr lang="en-US" sz="7200" dirty="0"/>
              <a:t> </a:t>
            </a:r>
            <a:r>
              <a:rPr lang="en-US" sz="7200" dirty="0" err="1"/>
              <a:t>Practico</a:t>
            </a:r>
            <a:endParaRPr lang="es-GT" sz="7200" dirty="0"/>
          </a:p>
        </p:txBody>
      </p:sp>
      <p:pic>
        <p:nvPicPr>
          <p:cNvPr id="3" name="Picture 2" descr="AWS Logo and sign, new logo meaning and history, PNG, SVG">
            <a:extLst>
              <a:ext uri="{FF2B5EF4-FFF2-40B4-BE49-F238E27FC236}">
                <a16:creationId xmlns:a16="http://schemas.microsoft.com/office/drawing/2014/main" id="{D31C251C-9909-6F35-02CA-2205D2E5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029" y="2341605"/>
            <a:ext cx="5745942" cy="363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697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2878822" y="973123"/>
            <a:ext cx="64343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/>
              <a:t>Repaso</a:t>
            </a:r>
            <a:r>
              <a:rPr lang="en-US" sz="6000" dirty="0"/>
              <a:t> </a:t>
            </a:r>
            <a:r>
              <a:rPr lang="en-US" sz="6000" dirty="0" err="1"/>
              <a:t>Rekognition</a:t>
            </a:r>
            <a:r>
              <a:rPr lang="en-US" sz="6000" dirty="0"/>
              <a:t> y Translate</a:t>
            </a:r>
            <a:endParaRPr lang="es-GT" sz="6000" dirty="0"/>
          </a:p>
        </p:txBody>
      </p:sp>
      <p:pic>
        <p:nvPicPr>
          <p:cNvPr id="3" name="Picture 2" descr="AWS Logo and sign, new logo meaning and history, PNG, SVG">
            <a:extLst>
              <a:ext uri="{FF2B5EF4-FFF2-40B4-BE49-F238E27FC236}">
                <a16:creationId xmlns:a16="http://schemas.microsoft.com/office/drawing/2014/main" id="{D31C251C-9909-6F35-02CA-2205D2E5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029" y="2669409"/>
            <a:ext cx="5745942" cy="363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296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3422708" y="2046914"/>
            <a:ext cx="5041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Dudas</a:t>
            </a:r>
            <a:r>
              <a:rPr lang="en-US" sz="7200" dirty="0"/>
              <a:t> o </a:t>
            </a:r>
            <a:r>
              <a:rPr lang="en-US" sz="7200" dirty="0" err="1"/>
              <a:t>comentarios</a:t>
            </a:r>
            <a:endParaRPr lang="es-GT" sz="7200" dirty="0"/>
          </a:p>
        </p:txBody>
      </p:sp>
    </p:spTree>
    <p:extLst>
      <p:ext uri="{BB962C8B-B14F-4D97-AF65-F5344CB8AC3E}">
        <p14:creationId xmlns:p14="http://schemas.microsoft.com/office/powerpoint/2010/main" val="2114775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5202519_TF89747358_Win32" id="{B609F969-5D32-4B95-9F78-8698CAA0F86F}" vid="{861FB8E8-60C1-4B53-B06A-67A7A082AC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96A612-58F4-4E9A-9665-3987CC3AC4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5E4A76-0180-4CD0-B081-82F74A33613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1243E30-12F4-4BE3-B27D-23AB115E9D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para enseñar un curso</Template>
  <TotalTime>3115</TotalTime>
  <Words>673</Words>
  <Application>Microsoft Office PowerPoint</Application>
  <PresentationFormat>Widescreen</PresentationFormat>
  <Paragraphs>92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Abadi</vt:lpstr>
      <vt:lpstr>Arial</vt:lpstr>
      <vt:lpstr>Calibri</vt:lpstr>
      <vt:lpstr>Garamond</vt:lpstr>
      <vt:lpstr>SavonVTI</vt:lpstr>
      <vt:lpstr>PowerPoint Presentation</vt:lpstr>
      <vt:lpstr>LAB. SEMINARIO DE SISTEMAS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Enrique Rivera Najera</dc:creator>
  <cp:lastModifiedBy>Luis Enrique Rivera Najera</cp:lastModifiedBy>
  <cp:revision>136</cp:revision>
  <dcterms:created xsi:type="dcterms:W3CDTF">2024-01-19T00:28:28Z</dcterms:created>
  <dcterms:modified xsi:type="dcterms:W3CDTF">2024-09-13T00:24:31Z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