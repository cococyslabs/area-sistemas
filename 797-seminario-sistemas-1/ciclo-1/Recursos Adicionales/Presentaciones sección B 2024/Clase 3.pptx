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90" r:id="rId6"/>
    <p:sldId id="297" r:id="rId7"/>
    <p:sldId id="298" r:id="rId8"/>
    <p:sldId id="311" r:id="rId9"/>
    <p:sldId id="338" r:id="rId10"/>
    <p:sldId id="339" r:id="rId11"/>
    <p:sldId id="309" r:id="rId12"/>
    <p:sldId id="312" r:id="rId13"/>
    <p:sldId id="340" r:id="rId14"/>
    <p:sldId id="341" r:id="rId15"/>
    <p:sldId id="342" r:id="rId16"/>
    <p:sldId id="343" r:id="rId17"/>
    <p:sldId id="344" r:id="rId18"/>
    <p:sldId id="345" r:id="rId19"/>
    <p:sldId id="327" r:id="rId20"/>
    <p:sldId id="336" r:id="rId21"/>
    <p:sldId id="335" r:id="rId22"/>
    <p:sldId id="301" r:id="rId2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85602" autoAdjust="0"/>
  </p:normalViewPr>
  <p:slideViewPr>
    <p:cSldViewPr snapToGrid="0">
      <p:cViewPr>
        <p:scale>
          <a:sx n="100" d="100"/>
          <a:sy n="100" d="100"/>
        </p:scale>
        <p:origin x="1152" y="31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370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D9CB4F3C-75A8-4BB8-A18E-B730DDD68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AE10D8-98A5-4E68-A41F-7AA79FF696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27022EB2-72D7-451B-AEA0-CC69EE5C4891}" type="datetime1">
              <a:rPr lang="es-ES" smtClean="0"/>
              <a:t>02/08/2024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77EF411-0DAB-4BCE-94A8-E903E20549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3A11237F-7CCA-4423-B624-29C06FF2E74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5A8CD4AB-B9A2-4248-B31F-8EBC71546D8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97791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8661170-17F7-49AF-B705-E8F2CF2052F2}" type="datetime1">
              <a:rPr lang="es-ES" smtClean="0"/>
              <a:t>02/08/2024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ABE9C73-6CDE-45E2-97F8-E3C5308FA232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63496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ABE9C73-6CDE-45E2-97F8-E3C5308FA232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747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s-E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lang="es-ES"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lang="es-ES" sz="1600"/>
            </a:lvl2pPr>
            <a:lvl3pPr marL="914400" indent="0" algn="ctr">
              <a:buNone/>
              <a:defRPr lang="es-ES" sz="16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20" name="Marcador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lang="es-ES"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BEB4F5C9-88B7-447F-BE3E-E1414EC76429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21" name="Marcador de pie de página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8201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13B000A-243B-4CA4-8C44-C6A6C08C8650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28558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 useBgFill="1"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s-E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lang="es-ES"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s-E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ADEEDB7D-CC81-4931-9AAA-0077BE628FD4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87034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E7F46B3-842E-4E89-8BDF-E361735C01BC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305556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F2F0876-DA34-44C2-B05E-66533803FE6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3400" y="246600"/>
            <a:ext cx="11725200" cy="6364800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6E352C7E-BCE1-47CD-872E-2935DD89FC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2488" y="2103438"/>
            <a:ext cx="5243512" cy="3748087"/>
          </a:xfrm>
        </p:spPr>
        <p:txBody>
          <a:bodyPr rtlCol="0" anchor="ctr" anchorCtr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lang="es-ES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4C7856E-8481-4380-87B1-968A6434EDCE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2392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lang="es-ES" sz="1900" b="1">
                <a:solidFill>
                  <a:schemeClr val="tx1"/>
                </a:solidFill>
              </a:defRPr>
            </a:lvl1pPr>
            <a:lvl2pPr marL="457200" indent="0">
              <a:buNone/>
              <a:defRPr lang="es-ES" sz="1800" b="1"/>
            </a:lvl2pPr>
            <a:lvl3pPr marL="914400" indent="0">
              <a:buNone/>
              <a:defRPr lang="es-ES" sz="1800" b="1"/>
            </a:lvl3pPr>
            <a:lvl4pPr marL="1371600" indent="0">
              <a:buNone/>
              <a:defRPr lang="es-ES" sz="1600" b="1"/>
            </a:lvl4pPr>
            <a:lvl5pPr marL="1828800" indent="0">
              <a:buNone/>
              <a:defRPr lang="es-ES" sz="1600" b="1"/>
            </a:lvl5pPr>
            <a:lvl6pPr marL="2286000" indent="0">
              <a:buNone/>
              <a:defRPr lang="es-ES" sz="1600" b="1"/>
            </a:lvl6pPr>
            <a:lvl7pPr marL="2743200" indent="0">
              <a:buNone/>
              <a:defRPr lang="es-ES" sz="1600" b="1"/>
            </a:lvl7pPr>
            <a:lvl8pPr marL="3200400" indent="0">
              <a:buNone/>
              <a:defRPr lang="es-ES" sz="1600" b="1"/>
            </a:lvl8pPr>
            <a:lvl9pPr marL="3657600" indent="0">
              <a:buNone/>
              <a:defRPr lang="es-ES"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FFA1CE0-D520-4AE6-8983-BF7F35BD3F6A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52359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D2744B2-8AFF-4854-8EB2-6AEDB3208B71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758772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C7B5EDD-7914-41F5-AC1A-03040CA5E9C6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6595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CC3E2A5-012A-4BBA-9BD6-129DEB004F28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69664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1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lang="es-ES" sz="1900"/>
            </a:lvl1pPr>
            <a:lvl2pPr>
              <a:defRPr lang="es-ES" sz="1600"/>
            </a:lvl2pPr>
            <a:lvl3pPr>
              <a:defRPr lang="es-ES" sz="1400"/>
            </a:lvl3pPr>
            <a:lvl4pPr>
              <a:defRPr lang="es-ES" sz="1400"/>
            </a:lvl4pPr>
            <a:lvl5pPr>
              <a:defRPr lang="es-ES" sz="1400"/>
            </a:lvl5pPr>
            <a:lvl6pPr>
              <a:defRPr lang="es-ES" sz="1400"/>
            </a:lvl6pPr>
            <a:lvl7pPr>
              <a:defRPr lang="es-ES" sz="1400"/>
            </a:lvl7pPr>
            <a:lvl8pPr>
              <a:defRPr lang="es-ES" sz="1400"/>
            </a:lvl8pPr>
            <a:lvl9pPr>
              <a:defRPr lang="es-ES"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FFF39E-7815-46BC-A7EE-7F1F6D4908E7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4680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CD7A40E7-331A-409D-8385-D6893D1EA86A}"/>
              </a:ext>
            </a:extLst>
          </p:cNvPr>
          <p:cNvSpPr/>
          <p:nvPr userDrawn="1"/>
        </p:nvSpPr>
        <p:spPr>
          <a:xfrm>
            <a:off x="948394" y="941695"/>
            <a:ext cx="5452526" cy="497461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4" name="Marcador de posición de imagen 23">
            <a:extLst>
              <a:ext uri="{FF2B5EF4-FFF2-40B4-BE49-F238E27FC236}">
                <a16:creationId xmlns:a16="http://schemas.microsoft.com/office/drawing/2014/main" id="{75561E95-1FD2-4358-9E4C-3D2E929E48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48394 w 12192000"/>
              <a:gd name="connsiteY0" fmla="*/ 941695 h 6858000"/>
              <a:gd name="connsiteX1" fmla="*/ 948394 w 12192000"/>
              <a:gd name="connsiteY1" fmla="*/ 5916305 h 6858000"/>
              <a:gd name="connsiteX2" fmla="*/ 6400920 w 12192000"/>
              <a:gd name="connsiteY2" fmla="*/ 5916305 h 6858000"/>
              <a:gd name="connsiteX3" fmla="*/ 6400920 w 12192000"/>
              <a:gd name="connsiteY3" fmla="*/ 941695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948394" y="941695"/>
                </a:moveTo>
                <a:lnTo>
                  <a:pt x="948394" y="5916305"/>
                </a:lnTo>
                <a:lnTo>
                  <a:pt x="6400920" y="5916305"/>
                </a:lnTo>
                <a:lnTo>
                  <a:pt x="6400920" y="94169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noAutofit/>
          </a:bodyPr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8" name="Marcador de fecha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D21ACFE4-7A0B-4C5F-B126-3E7852FCEB08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9" name="Marcador de pie de página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 lang="es-ES"/>
            </a:lvl1pPr>
          </a:lstStyle>
          <a:p>
            <a:pPr rtl="0"/>
            <a:endParaRPr lang="es-ES" noProof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22" name="Marcador de contenido 3">
            <a:extLst>
              <a:ext uri="{FF2B5EF4-FFF2-40B4-BE49-F238E27FC236}">
                <a16:creationId xmlns:a16="http://schemas.microsoft.com/office/drawing/2014/main" id="{6E7077FF-6FAE-4A98-862F-3A2F931B958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357950" y="2852792"/>
            <a:ext cx="4633415" cy="257219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51E07B6-8D69-4F8A-9729-400511B37F8B}"/>
              </a:ext>
            </a:extLst>
          </p:cNvPr>
          <p:cNvSpPr/>
          <p:nvPr userDrawn="1"/>
        </p:nvSpPr>
        <p:spPr>
          <a:xfrm>
            <a:off x="1101715" y="1106424"/>
            <a:ext cx="5120640" cy="46451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57950" y="1352804"/>
            <a:ext cx="4633415" cy="1333641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s-ES" sz="4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11138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lang="es-ES"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7BC489D-2B38-4086-A7AC-7DA6DCFEF9A7}" type="datetime1">
              <a:rPr lang="es-ES" noProof="0" smtClean="0"/>
              <a:t>02/08/2024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s-E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lang="es-ES"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lang="es-ES" sz="1800">
                <a:solidFill>
                  <a:schemeClr val="tx1"/>
                </a:solidFill>
              </a:defRPr>
            </a:lvl1pPr>
            <a:lvl2pPr marL="457200" indent="0">
              <a:buNone/>
              <a:defRPr lang="es-ES" sz="1200"/>
            </a:lvl2pPr>
            <a:lvl3pPr marL="914400" indent="0">
              <a:buNone/>
              <a:defRPr lang="es-ES" sz="1000"/>
            </a:lvl3pPr>
            <a:lvl4pPr marL="1371600" indent="0">
              <a:buNone/>
              <a:defRPr lang="es-ES" sz="900"/>
            </a:lvl4pPr>
            <a:lvl5pPr marL="1828800" indent="0">
              <a:buNone/>
              <a:defRPr lang="es-ES" sz="900"/>
            </a:lvl5pPr>
            <a:lvl6pPr marL="2286000" indent="0">
              <a:buNone/>
              <a:defRPr lang="es-ES" sz="900"/>
            </a:lvl6pPr>
            <a:lvl7pPr marL="2743200" indent="0">
              <a:buNone/>
              <a:defRPr lang="es-ES" sz="900"/>
            </a:lvl7pPr>
            <a:lvl8pPr marL="3200400" indent="0">
              <a:buNone/>
              <a:defRPr lang="es-ES" sz="900"/>
            </a:lvl8pPr>
            <a:lvl9pPr marL="3657600" indent="0">
              <a:buNone/>
              <a:defRPr lang="es-ES"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001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‹#›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47030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D81C884-65B5-4077-A415-CB6AF9CEFAD3}" type="datetime1">
              <a:rPr lang="es-ES" noProof="0" smtClean="0"/>
              <a:t>02/08/2024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6042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9" r:id="rId5"/>
    <p:sldLayoutId id="2147483730" r:id="rId6"/>
    <p:sldLayoutId id="2147483736" r:id="rId7"/>
    <p:sldLayoutId id="2147483737" r:id="rId8"/>
    <p:sldLayoutId id="2147483727" r:id="rId9"/>
    <p:sldLayoutId id="2147483741" r:id="rId10"/>
    <p:sldLayoutId id="2147483740" r:id="rId11"/>
    <p:sldLayoutId id="2147483728" r:id="rId12"/>
    <p:sldLayoutId id="2147483742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lang="es-ES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xhere.com/es/photo/57785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-144431" y="-15939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2631064193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Viernes, 0</a:t>
                      </a:r>
                      <a:r>
                        <a:rPr lang="en-US" sz="2400" dirty="0"/>
                        <a:t>2</a:t>
                      </a:r>
                      <a:r>
                        <a:rPr sz="2400" dirty="0"/>
                        <a:t>/0</a:t>
                      </a:r>
                      <a:r>
                        <a:rPr lang="en-US" sz="2400" dirty="0"/>
                        <a:t>8</a:t>
                      </a:r>
                      <a:r>
                        <a:rPr sz="2400" dirty="0"/>
                        <a:t>/2024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07</a:t>
                      </a:r>
                      <a:r>
                        <a:rPr sz="2400" dirty="0"/>
                        <a:t>:</a:t>
                      </a:r>
                      <a:r>
                        <a:rPr lang="en-US" sz="2400" dirty="0"/>
                        <a:t>1</a:t>
                      </a:r>
                      <a:r>
                        <a:rPr sz="2400" dirty="0"/>
                        <a:t>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dirty="0"/>
              <a:t>Seminario de Sistemas 1 [B]</a:t>
            </a:r>
            <a:endParaRPr sz="3333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Luis Enrique Rivera Najera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ángulo 8">
            <a:extLst>
              <a:ext uri="{FF2B5EF4-FFF2-40B4-BE49-F238E27FC236}">
                <a16:creationId xmlns:a16="http://schemas.microsoft.com/office/drawing/2014/main" id="{6F40FBDA-CEB1-40F0-9AB9-BD9C402D7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A04C7C-FE8B-4C2F-BF2E-CBD501A02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/>
        </p:blipFill>
        <p:spPr>
          <a:xfrm>
            <a:off x="609610" y="0"/>
            <a:ext cx="10972780" cy="6857988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0344D4FE-ABEF-4230-9E4E-AD5782FC7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es-GT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1253F3E-E6E8-4DEE-A6F6-D6A88FD39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9532" y="2091263"/>
            <a:ext cx="8652938" cy="2461504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LAB. SEMINARIO DE SISTEMAS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954176-1A2D-47B9-B195-FB21407C04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9532" y="4623127"/>
            <a:ext cx="8655200" cy="457201"/>
          </a:xfrm>
          <a:solidFill>
            <a:schemeClr val="bg1"/>
          </a:solidFill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>
              <a:spcAft>
                <a:spcPts val="600"/>
              </a:spcAft>
            </a:pPr>
            <a:r>
              <a:rPr lang="es-ES" sz="2400" dirty="0">
                <a:solidFill>
                  <a:schemeClr val="tx2">
                    <a:lumMod val="90000"/>
                  </a:schemeClr>
                </a:solidFill>
              </a:rPr>
              <a:t>Laboratorio #3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325F979-D3F9-4926-81B7-7ACCB31A5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9525" cap="sq" cmpd="sng" algn="ctr">
            <a:solidFill>
              <a:schemeClr val="tx1">
                <a:lumMod val="75000"/>
                <a:lumOff val="25000"/>
                <a:alpha val="80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173535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9689F-1FC0-B631-77FE-D08756E76662}"/>
              </a:ext>
            </a:extLst>
          </p:cNvPr>
          <p:cNvSpPr txBox="1"/>
          <p:nvPr/>
        </p:nvSpPr>
        <p:spPr>
          <a:xfrm>
            <a:off x="2357307" y="3059668"/>
            <a:ext cx="1946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Agenda</a:t>
            </a:r>
            <a:endParaRPr lang="es-GT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8C306-4CB0-E16F-2A8F-1F689FD33D9F}"/>
              </a:ext>
            </a:extLst>
          </p:cNvPr>
          <p:cNvSpPr txBox="1"/>
          <p:nvPr/>
        </p:nvSpPr>
        <p:spPr>
          <a:xfrm>
            <a:off x="6384022" y="1874727"/>
            <a:ext cx="38337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Dudas</a:t>
            </a:r>
            <a:r>
              <a:rPr lang="en-US" dirty="0"/>
              <a:t> y </a:t>
            </a:r>
            <a:r>
              <a:rPr lang="en-US" dirty="0" err="1"/>
              <a:t>comentarios</a:t>
            </a:r>
            <a:r>
              <a:rPr lang="en-US" dirty="0"/>
              <a:t> de la </a:t>
            </a:r>
            <a:r>
              <a:rPr lang="en-US" dirty="0" err="1"/>
              <a:t>clase</a:t>
            </a:r>
            <a:r>
              <a:rPr lang="en-US" dirty="0"/>
              <a:t> anterior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s-GT" dirty="0"/>
              <a:t>Grupos Laboratorio</a:t>
            </a:r>
          </a:p>
          <a:p>
            <a:r>
              <a:rPr lang="es-GT"/>
              <a:t>-</a:t>
            </a:r>
            <a:r>
              <a:rPr lang="en-US"/>
              <a:t>---------------------------------------------</a:t>
            </a:r>
            <a:endParaRPr lang="en-US" dirty="0"/>
          </a:p>
          <a:p>
            <a:r>
              <a:rPr lang="en-US" dirty="0"/>
              <a:t>Virtual Machines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Practico</a:t>
            </a:r>
            <a:endParaRPr lang="en-US" dirty="0"/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Tarea</a:t>
            </a:r>
            <a:r>
              <a:rPr lang="en-US" dirty="0"/>
              <a:t> 1</a:t>
            </a:r>
          </a:p>
          <a:p>
            <a:r>
              <a:rPr lang="en-US" dirty="0"/>
              <a:t>---------------------------------------------</a:t>
            </a:r>
          </a:p>
          <a:p>
            <a:r>
              <a:rPr lang="en-US" dirty="0" err="1"/>
              <a:t>Dudas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941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85041E-59DC-35E3-A8FF-DE178D68EE79}"/>
              </a:ext>
            </a:extLst>
          </p:cNvPr>
          <p:cNvSpPr txBox="1"/>
          <p:nvPr/>
        </p:nvSpPr>
        <p:spPr>
          <a:xfrm>
            <a:off x="2539068" y="2705725"/>
            <a:ext cx="71138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/>
              <a:t>Dudas</a:t>
            </a:r>
            <a:r>
              <a:rPr lang="en-US" sz="4400" dirty="0"/>
              <a:t> o </a:t>
            </a:r>
            <a:r>
              <a:rPr lang="en-US" sz="4400" dirty="0" err="1"/>
              <a:t>comentarios</a:t>
            </a:r>
            <a:r>
              <a:rPr lang="en-US" sz="4400" dirty="0"/>
              <a:t> de la </a:t>
            </a:r>
            <a:r>
              <a:rPr lang="en-US" sz="4400" dirty="0" err="1"/>
              <a:t>clase</a:t>
            </a:r>
            <a:r>
              <a:rPr lang="en-US" sz="4400" dirty="0"/>
              <a:t> anterior?</a:t>
            </a:r>
            <a:endParaRPr lang="es-GT" sz="4400" dirty="0"/>
          </a:p>
        </p:txBody>
      </p:sp>
    </p:spTree>
    <p:extLst>
      <p:ext uri="{BB962C8B-B14F-4D97-AF65-F5344CB8AC3E}">
        <p14:creationId xmlns:p14="http://schemas.microsoft.com/office/powerpoint/2010/main" val="70753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740758" y="3044279"/>
            <a:ext cx="27831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Cloud VMs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026" name="Picture 2" descr="Curso de máquinas virtuales en Microsoft Azure | JGAITPro - Cursos">
            <a:extLst>
              <a:ext uri="{FF2B5EF4-FFF2-40B4-BE49-F238E27FC236}">
                <a16:creationId xmlns:a16="http://schemas.microsoft.com/office/drawing/2014/main" id="{6FCAF6AB-A389-B576-13C4-D3DE0A7EF1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21" t="10287"/>
          <a:stretch/>
        </p:blipFill>
        <p:spPr bwMode="auto">
          <a:xfrm>
            <a:off x="6350466" y="930639"/>
            <a:ext cx="4869483" cy="4996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98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979050" y="509706"/>
            <a:ext cx="82339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VMs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los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distintos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proveedores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Cloud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748EAA-DE8F-C787-88C2-A166C433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5" y="2286480"/>
            <a:ext cx="90487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2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740758" y="3044279"/>
            <a:ext cx="32704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EC2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050" name="Picture 2" descr="Title: Amazon EC2: The Backbone of Cloud Innovation | by Saral | Dec, 2023  | Medium">
            <a:extLst>
              <a:ext uri="{FF2B5EF4-FFF2-40B4-BE49-F238E27FC236}">
                <a16:creationId xmlns:a16="http://schemas.microsoft.com/office/drawing/2014/main" id="{30D93280-BDC2-E04C-E1E2-AFBFF08D9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90732"/>
            <a:ext cx="5726990" cy="2476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1721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3431097" y="1737942"/>
            <a:ext cx="85483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Amazon </a:t>
            </a:r>
            <a:r>
              <a:rPr lang="es-MX" dirty="0" err="1">
                <a:solidFill>
                  <a:schemeClr val="bg1"/>
                </a:solidFill>
                <a:latin typeface="Abadi" panose="020F0502020204030204" pitchFamily="34" charset="0"/>
              </a:rPr>
              <a:t>Elastic</a:t>
            </a:r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 Compute Cloud (Amazon EC2) es un servicio web que proporciona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capacidad informática en la nube segura y de tamaño modificable . Está diseñado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para simplificar el uso de la informática en la nube a escala web para los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desarrolladores .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La sencilla interfaz de servicios web de Amazon EC2 permite obtener y configurar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capacidad con una fricción mínima . Proporciona un control completo sobre los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recursos informáticos y le permite ejecutarse en el entorno informático probado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de Amazon.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3431097" y="502415"/>
            <a:ext cx="327044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EC2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F5A957F-F1F0-2220-CBA8-0F0CEF95A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1420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2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658597" y="2608177"/>
            <a:ext cx="48320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• 7 veces menos horas de inactividad que el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siguiente proveedor de nube más grande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• 31 regiones y 69 zonas de disponibilidad a nivel mundial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•Millones de clientes , desde pequeñas compañías hasta empresas emergentes</a:t>
            </a:r>
          </a:p>
          <a:p>
            <a:endParaRPr lang="es-MX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•750 instancias para prácticamente cualquier</a:t>
            </a:r>
          </a:p>
          <a:p>
            <a:r>
              <a:rPr lang="es-MX" dirty="0">
                <a:solidFill>
                  <a:schemeClr val="bg1"/>
                </a:solidFill>
                <a:latin typeface="Abadi" panose="020F0502020204030204" pitchFamily="34" charset="0"/>
              </a:rPr>
              <a:t>necesidad empresarial</a:t>
            </a:r>
            <a:endParaRPr lang="es-GT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193069" y="494950"/>
            <a:ext cx="57631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Servidores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Virtuales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en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la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Nube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52A8CD3-8121-90D5-E163-7929D9DB4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83" y="2033779"/>
            <a:ext cx="6128798" cy="350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507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599874" y="1961846"/>
            <a:ext cx="67404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Uso general: Ideales para aplicaciones críticas para las empresas, bases de</a:t>
            </a: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datos pequeñas y medianas, aplicaciones de nivel web y más.</a:t>
            </a:r>
          </a:p>
          <a:p>
            <a:endParaRPr lang="es-MX" sz="16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Optimizadas para informática: ideales para informática de alto rendimiento,</a:t>
            </a: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procesamiento por lotes, codificación de videos y más.</a:t>
            </a:r>
          </a:p>
          <a:p>
            <a:endParaRPr lang="es-MX" sz="16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Optimizadas para memoria: ideales para bases de datos de alto</a:t>
            </a: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rendimiento, cachés en memorias distribuidas con escala web, análisis de</a:t>
            </a:r>
          </a:p>
          <a:p>
            <a:r>
              <a:rPr lang="es-MX" sz="1600" dirty="0" err="1">
                <a:solidFill>
                  <a:schemeClr val="bg1"/>
                </a:solidFill>
                <a:latin typeface="Abadi" panose="020F0502020204030204" pitchFamily="34" charset="0"/>
              </a:rPr>
              <a:t>big</a:t>
            </a:r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 data en tiempo real y más.</a:t>
            </a:r>
          </a:p>
          <a:p>
            <a:endParaRPr lang="es-MX" sz="16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Informática acelerada: ideales para aprendizaje automático, aplicaciones</a:t>
            </a: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con uso </a:t>
            </a:r>
            <a:r>
              <a:rPr lang="es-MX" sz="1600" dirty="0" err="1">
                <a:solidFill>
                  <a:schemeClr val="bg1"/>
                </a:solidFill>
                <a:latin typeface="Abadi" panose="020F0502020204030204" pitchFamily="34" charset="0"/>
              </a:rPr>
              <a:t>intesivo</a:t>
            </a:r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 de gráficos, videojuegos y más.</a:t>
            </a:r>
          </a:p>
          <a:p>
            <a:endParaRPr lang="es-MX" sz="16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Optimizadas para almacenamiento: ideales para bases de datos NoSQL,</a:t>
            </a:r>
          </a:p>
          <a:p>
            <a:r>
              <a:rPr lang="es-MX" sz="1600" dirty="0">
                <a:solidFill>
                  <a:schemeClr val="bg1"/>
                </a:solidFill>
                <a:latin typeface="Abadi" panose="020F0502020204030204" pitchFamily="34" charset="0"/>
              </a:rPr>
              <a:t>almacenamiento de datos, sistemas de archivos distribuidos y más.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332886" y="387227"/>
            <a:ext cx="57631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Categorias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las </a:t>
            </a:r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instancias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AA3A4D-C228-BA4A-4F2F-C98DD180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411" y="1941500"/>
            <a:ext cx="3552825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91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423706" y="2426352"/>
            <a:ext cx="6740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Un grupo de seguridad funciona como un firewall virtual que controla el tráfico de una o varias instancias.</a:t>
            </a:r>
          </a:p>
          <a:p>
            <a:endParaRPr lang="es-MX" sz="20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De forma predeterminada, los grupos de seguridad permiten el tráfico de salida.</a:t>
            </a:r>
          </a:p>
          <a:p>
            <a:endParaRPr lang="es-MX" sz="20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Las reglas del grupo de seguridad son siempre permisivas; no puede crear reglas que denieguen el acceso.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332886" y="1033179"/>
            <a:ext cx="5763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Security Groups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614FD4-C3F3-278E-697F-FF96318F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199" y="1162487"/>
            <a:ext cx="47148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134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423706" y="2426352"/>
            <a:ext cx="674049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Un grupo de seguridad funciona como un firewall virtual que controla el tráfico de una o varias instancias.</a:t>
            </a:r>
          </a:p>
          <a:p>
            <a:endParaRPr lang="es-MX" sz="20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De forma predeterminada, los grupos de seguridad permiten el tráfico de salida.</a:t>
            </a:r>
          </a:p>
          <a:p>
            <a:endParaRPr lang="es-MX" sz="2000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Las reglas del grupo de seguridad son siempre permisivas; no puede crear reglas que denieguen el acceso.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332886" y="1033179"/>
            <a:ext cx="5763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Security Groups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614FD4-C3F3-278E-697F-FF96318F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199" y="1162487"/>
            <a:ext cx="471487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50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6426823" y="2220137"/>
            <a:ext cx="54248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Amazon EC2 utiliza la criptografía de clave pública para cifrar y descifrar la información de inicio de sesión. En la criptografía de clave pública, se utiliza una clave pública para cifrar los datos; a continuación, el destinatario utiliza la clave privada para descifrarlos. El conjunto de clave pública y clave privada se denomina par de claves. La criptografía de clave pública le</a:t>
            </a: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permite tener acceso de forma segura a las instancias utilizando la clave privada en lugar de una contraseña.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6163234" y="999623"/>
            <a:ext cx="57631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Key Pairs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A2F992-5F93-DA1E-438F-C78F7F1C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602" y="1945328"/>
            <a:ext cx="4657725" cy="328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39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6418434" y="2782199"/>
            <a:ext cx="54248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Una Imagen de Amazon Machine (AMI) proporciona la</a:t>
            </a: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información necesaria para lanzar una instancia. Se debe especificar una AMI al lanzar una instancia. Cuando necesite varias instancias con la misma configuración, pueden ser lanzadas desde una misma AMI.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6080200" y="800782"/>
            <a:ext cx="57631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Amazon Machine Images (AMI)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D2ADCF-CF49-EA3C-F24A-AEBA6F7D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04" y="1109662"/>
            <a:ext cx="463867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593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6418434" y="2055020"/>
            <a:ext cx="542488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 err="1">
                <a:solidFill>
                  <a:schemeClr val="bg1"/>
                </a:solidFill>
                <a:latin typeface="Abadi" panose="020F0502020204030204" pitchFamily="34" charset="0"/>
              </a:rPr>
              <a:t>Elastic</a:t>
            </a:r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 Load </a:t>
            </a:r>
            <a:r>
              <a:rPr lang="es-MX" sz="2000" dirty="0" err="1">
                <a:solidFill>
                  <a:schemeClr val="bg1"/>
                </a:solidFill>
                <a:latin typeface="Abadi" panose="020F0502020204030204" pitchFamily="34" charset="0"/>
              </a:rPr>
              <a:t>Balancing</a:t>
            </a:r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 distribuye automáticamente el tráfico de aplicaciones entrantes a través de varios destinos, tales como instancias de Amazon EC2, contenedores, direcciones IP y funciones Lambda. Puede controlar la carga variable del tráfico de su</a:t>
            </a:r>
          </a:p>
          <a:p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aplicación en una única zona o en varias zonas de disponibilidad. </a:t>
            </a:r>
            <a:r>
              <a:rPr lang="es-MX" sz="2000" dirty="0" err="1">
                <a:solidFill>
                  <a:schemeClr val="bg1"/>
                </a:solidFill>
                <a:latin typeface="Abadi" panose="020F0502020204030204" pitchFamily="34" charset="0"/>
              </a:rPr>
              <a:t>Elastic</a:t>
            </a:r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 Load </a:t>
            </a:r>
            <a:r>
              <a:rPr lang="es-MX" sz="2000" dirty="0" err="1">
                <a:solidFill>
                  <a:schemeClr val="bg1"/>
                </a:solidFill>
                <a:latin typeface="Abadi" panose="020F0502020204030204" pitchFamily="34" charset="0"/>
              </a:rPr>
              <a:t>Balancing</a:t>
            </a:r>
            <a:r>
              <a:rPr lang="es-MX" sz="2000" dirty="0">
                <a:solidFill>
                  <a:schemeClr val="bg1"/>
                </a:solidFill>
                <a:latin typeface="Abadi" panose="020F0502020204030204" pitchFamily="34" charset="0"/>
              </a:rPr>
              <a:t> ofrece tres tipos de balanceadores de carga que cuentan con el nivel necesario de alta disponibilidad, escalabilidad automática y seguridad para que sus aplicaciones sean tolerantes a errores.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6418434" y="386387"/>
            <a:ext cx="526289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Elastic Load Balancing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94BDB7-25A5-A4A0-3B8D-0C9131D97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895" y="1671637"/>
            <a:ext cx="35623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1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40F77DF7-0968-5890-DD75-8D7067053DFB}"/>
              </a:ext>
            </a:extLst>
          </p:cNvPr>
          <p:cNvSpPr txBox="1"/>
          <p:nvPr/>
        </p:nvSpPr>
        <p:spPr>
          <a:xfrm>
            <a:off x="6096000" y="1828561"/>
            <a:ext cx="5914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Alta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Disponibilidad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Elasticidad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Monitorizacion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y auditoria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solidas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Flexibilidad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Seguridad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---------------------------------------------------------------------------</a:t>
            </a:r>
          </a:p>
          <a:p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Equilibrio</a:t>
            </a:r>
            <a:r>
              <a:rPr lang="en-US" dirty="0">
                <a:solidFill>
                  <a:schemeClr val="bg1"/>
                </a:solidFill>
                <a:latin typeface="Abadi" panose="020F0502020204030204" pitchFamily="34" charset="0"/>
              </a:rPr>
              <a:t> de cargas </a:t>
            </a:r>
            <a:r>
              <a:rPr lang="en-US" dirty="0" err="1">
                <a:solidFill>
                  <a:schemeClr val="bg1"/>
                </a:solidFill>
                <a:latin typeface="Abadi" panose="020F0502020204030204" pitchFamily="34" charset="0"/>
              </a:rPr>
              <a:t>hibrido</a:t>
            </a:r>
            <a:endParaRPr lang="en-US" dirty="0">
              <a:solidFill>
                <a:schemeClr val="bg1"/>
              </a:solidFill>
              <a:latin typeface="Abad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5EC2A3A-0932-FCC6-A64C-F8F9954CC60D}"/>
              </a:ext>
            </a:extLst>
          </p:cNvPr>
          <p:cNvSpPr txBox="1"/>
          <p:nvPr/>
        </p:nvSpPr>
        <p:spPr>
          <a:xfrm>
            <a:off x="822244" y="3044279"/>
            <a:ext cx="4535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Beneficios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de EC2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040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2878822" y="973123"/>
            <a:ext cx="64343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Ejemplo</a:t>
            </a:r>
            <a:r>
              <a:rPr lang="en-US" sz="7200" dirty="0"/>
              <a:t> </a:t>
            </a:r>
            <a:r>
              <a:rPr lang="en-US" sz="7200" dirty="0" err="1"/>
              <a:t>Practico</a:t>
            </a:r>
            <a:endParaRPr lang="es-GT" sz="7200" dirty="0"/>
          </a:p>
        </p:txBody>
      </p:sp>
      <p:pic>
        <p:nvPicPr>
          <p:cNvPr id="3" name="Picture 2" descr="AWS Logo and sign, new logo meaning and history, PNG, SVG">
            <a:extLst>
              <a:ext uri="{FF2B5EF4-FFF2-40B4-BE49-F238E27FC236}">
                <a16:creationId xmlns:a16="http://schemas.microsoft.com/office/drawing/2014/main" id="{D31C251C-9909-6F35-02CA-2205D2E5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029" y="2341605"/>
            <a:ext cx="5745942" cy="363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772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4C2EC48-00C6-F438-F1A4-AB70BD39BEFB}"/>
              </a:ext>
            </a:extLst>
          </p:cNvPr>
          <p:cNvSpPr txBox="1"/>
          <p:nvPr/>
        </p:nvSpPr>
        <p:spPr>
          <a:xfrm>
            <a:off x="5091558" y="736195"/>
            <a:ext cx="2008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Abadi" panose="020B0604020104020204" pitchFamily="34" charset="0"/>
              </a:rPr>
              <a:t>Tarea</a:t>
            </a:r>
            <a:r>
              <a:rPr lang="en-US" sz="4400" dirty="0">
                <a:solidFill>
                  <a:schemeClr val="bg1"/>
                </a:solidFill>
                <a:latin typeface="Abadi" panose="020B0604020104020204" pitchFamily="34" charset="0"/>
              </a:rPr>
              <a:t> 1</a:t>
            </a:r>
            <a:endParaRPr lang="es-GT" sz="4400" dirty="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57D122F-0265-EEAA-B792-53FBF25F2235}"/>
              </a:ext>
            </a:extLst>
          </p:cNvPr>
          <p:cNvSpPr txBox="1"/>
          <p:nvPr/>
        </p:nvSpPr>
        <p:spPr>
          <a:xfrm>
            <a:off x="1904301" y="2256001"/>
            <a:ext cx="838899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Crear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cuenta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AWS y un nuevo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usuario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administrador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el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nombre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Administrador_carne</a:t>
            </a:r>
            <a:endParaRPr lang="en-US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Crear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un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presupuesto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costo</a:t>
            </a:r>
            <a:endParaRPr lang="en-US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Crear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una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Instancia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EC2,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tomar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captura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de las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creaciones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y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acceso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por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SSH,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agregar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un echo que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contenga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Carne-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Nombre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esta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captura</a:t>
            </a:r>
            <a:endParaRPr lang="en-US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Subirlo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todo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en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PDF con las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capturas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de las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instrucciones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antes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mencionadas</a:t>
            </a:r>
            <a:endParaRPr lang="en-US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Nombre</a:t>
            </a: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badi" panose="020B0604020104020204" pitchFamily="34" charset="0"/>
              </a:rPr>
              <a:t>Archivo</a:t>
            </a:r>
            <a:endParaRPr lang="en-US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badi" panose="020B0604020104020204" pitchFamily="34" charset="0"/>
              </a:rPr>
              <a:t>[Semi1]Tarea1_carne</a:t>
            </a:r>
            <a:endParaRPr lang="es-GT" sz="2000" dirty="0">
              <a:solidFill>
                <a:schemeClr val="bg1"/>
              </a:solidFill>
              <a:latin typeface="Abadi" panose="020B06040201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GT" sz="2000" dirty="0">
                <a:solidFill>
                  <a:schemeClr val="bg1"/>
                </a:solidFill>
                <a:latin typeface="Abadi" panose="020B0604020104020204" pitchFamily="34" charset="0"/>
              </a:rPr>
              <a:t>Fecha de Entrega 9 de Agosto</a:t>
            </a:r>
          </a:p>
        </p:txBody>
      </p:sp>
    </p:spTree>
    <p:extLst>
      <p:ext uri="{BB962C8B-B14F-4D97-AF65-F5344CB8AC3E}">
        <p14:creationId xmlns:p14="http://schemas.microsoft.com/office/powerpoint/2010/main" val="2975412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52B95A-DA72-12FF-8433-D200833CCF83}"/>
              </a:ext>
            </a:extLst>
          </p:cNvPr>
          <p:cNvSpPr txBox="1"/>
          <p:nvPr/>
        </p:nvSpPr>
        <p:spPr>
          <a:xfrm>
            <a:off x="3422708" y="2046914"/>
            <a:ext cx="50417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 err="1"/>
              <a:t>Dudas</a:t>
            </a:r>
            <a:r>
              <a:rPr lang="en-US" sz="7200" dirty="0"/>
              <a:t> o </a:t>
            </a:r>
            <a:r>
              <a:rPr lang="en-US" sz="7200" dirty="0" err="1"/>
              <a:t>comentarios</a:t>
            </a:r>
            <a:endParaRPr lang="es-GT" sz="7200" dirty="0"/>
          </a:p>
        </p:txBody>
      </p:sp>
    </p:spTree>
    <p:extLst>
      <p:ext uri="{BB962C8B-B14F-4D97-AF65-F5344CB8AC3E}">
        <p14:creationId xmlns:p14="http://schemas.microsoft.com/office/powerpoint/2010/main" val="21147757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">
      <a:dk1>
        <a:srgbClr val="000000"/>
      </a:dk1>
      <a:lt1>
        <a:srgbClr val="FFFFFF"/>
      </a:lt1>
      <a:dk2>
        <a:srgbClr val="41242D"/>
      </a:dk2>
      <a:lt2>
        <a:srgbClr val="E2E2E8"/>
      </a:lt2>
      <a:accent1>
        <a:srgbClr val="A5A27D"/>
      </a:accent1>
      <a:accent2>
        <a:srgbClr val="B79A7A"/>
      </a:accent2>
      <a:accent3>
        <a:srgbClr val="C2948F"/>
      </a:accent3>
      <a:accent4>
        <a:srgbClr val="BA7F91"/>
      </a:accent4>
      <a:accent5>
        <a:srgbClr val="C390B5"/>
      </a:accent5>
      <a:accent6>
        <a:srgbClr val="B17FBA"/>
      </a:accent6>
      <a:hlink>
        <a:srgbClr val="6D71B0"/>
      </a:hlink>
      <a:folHlink>
        <a:srgbClr val="7F7F7F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02519_TF89747358_Win32" id="{B609F969-5D32-4B95-9F78-8698CAA0F86F}" vid="{861FB8E8-60C1-4B53-B06A-67A7A082AC9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243E30-12F4-4BE3-B27D-23AB115E9D1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F5E4A76-0180-4CD0-B081-82F74A33613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DB96A612-58F4-4E9A-9665-3987CC3AC4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 para enseñar un curso</Template>
  <TotalTime>1834</TotalTime>
  <Words>773</Words>
  <Application>Microsoft Office PowerPoint</Application>
  <PresentationFormat>Widescreen</PresentationFormat>
  <Paragraphs>105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Abadi</vt:lpstr>
      <vt:lpstr>Arial</vt:lpstr>
      <vt:lpstr>Calibri</vt:lpstr>
      <vt:lpstr>Garamond</vt:lpstr>
      <vt:lpstr>SavonVTI</vt:lpstr>
      <vt:lpstr>PowerPoint Presentation</vt:lpstr>
      <vt:lpstr>LAB. SEMINARIO DE SISTEMAS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Enrique Rivera Najera</dc:creator>
  <cp:lastModifiedBy>Luis Enrique Rivera Najera</cp:lastModifiedBy>
  <cp:revision>55</cp:revision>
  <dcterms:created xsi:type="dcterms:W3CDTF">2024-01-19T00:28:28Z</dcterms:created>
  <dcterms:modified xsi:type="dcterms:W3CDTF">2024-08-02T14:55:53Z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