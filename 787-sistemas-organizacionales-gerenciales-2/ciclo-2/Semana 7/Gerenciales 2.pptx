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j8ozzEviyY06re85oEgTMaUbaL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A214CF-B68D-4E9B-88BA-2FDE16661833}">
  <a:tblStyle styleId="{35A214CF-B68D-4E9B-88BA-2FDE1666183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3ef33d4d8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3ef33d4d85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d8fa948c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d8fa948c4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8fa948c4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2d8fa948c4e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d8fa948c4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2d8fa948c4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d8fa948c4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2d8fa948c4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cf99f76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dcf99f76a9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8fa948c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2d8fa948c4e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d8fa948c4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d8fa948c4e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9a09cea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39a09cea5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9a09cea5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39a09cea5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9a09cea5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39a09cea5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156db32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4156db329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156db329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34156db329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156db329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4156db329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156db329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4156db329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156db329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4156db329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4156db329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4156db3297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hyperlink" Target="https://www.youtube.com/watch?v=35mWYziHVh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{35A214CF-B68D-4E9B-88BA-2FDE16661833}</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Lunes, 1</a:t>
                      </a:r>
                      <a:r>
                        <a:rPr lang="es"/>
                        <a:t>7</a:t>
                      </a:r>
                      <a:r>
                        <a:rPr lang="es" sz="1400" u="none" cap="none" strike="noStrike"/>
                        <a:t>/03/2025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992650" y="2132750"/>
            <a:ext cx="51429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SISTEMAS ORGANIZACIONALES Y GERENCIALES 2 Sección P</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33ef33d4d85_0_6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33ef33d4d85_0_64"/>
          <p:cNvSpPr txBox="1"/>
          <p:nvPr/>
        </p:nvSpPr>
        <p:spPr>
          <a:xfrm>
            <a:off x="42300" y="683725"/>
            <a:ext cx="9059400" cy="41724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80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Herramientas Populares para Data Warehousing</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180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Amazon Redshift – </a:t>
            </a:r>
            <a:r>
              <a:rPr b="0" i="0" lang="es" sz="1800" u="none" cap="none" strike="noStrike">
                <a:solidFill>
                  <a:schemeClr val="dk1"/>
                </a:solidFill>
                <a:latin typeface="Arial"/>
                <a:ea typeface="Arial"/>
                <a:cs typeface="Arial"/>
                <a:sym typeface="Arial"/>
              </a:rPr>
              <a:t>Solución escalable en la nube.</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Google BigQuery – </a:t>
            </a:r>
            <a:r>
              <a:rPr b="0" i="0" lang="es" sz="1800" u="none" cap="none" strike="noStrike">
                <a:solidFill>
                  <a:schemeClr val="dk1"/>
                </a:solidFill>
                <a:latin typeface="Arial"/>
                <a:ea typeface="Arial"/>
                <a:cs typeface="Arial"/>
                <a:sym typeface="Arial"/>
              </a:rPr>
              <a:t>Análisis rápido y eficiente con Big Data.</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Microsoft Azure Synapse Analytics – </a:t>
            </a:r>
            <a:r>
              <a:rPr b="0" i="0" lang="es" sz="1800" u="none" cap="none" strike="noStrike">
                <a:solidFill>
                  <a:schemeClr val="dk1"/>
                </a:solidFill>
                <a:latin typeface="Arial"/>
                <a:ea typeface="Arial"/>
                <a:cs typeface="Arial"/>
                <a:sym typeface="Arial"/>
              </a:rPr>
              <a:t>Integración con herramientas de BI.</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Snowflake – </a:t>
            </a:r>
            <a:r>
              <a:rPr b="0" i="0" lang="es" sz="1800" u="none" cap="none" strike="noStrike">
                <a:solidFill>
                  <a:schemeClr val="dk1"/>
                </a:solidFill>
                <a:latin typeface="Arial"/>
                <a:ea typeface="Arial"/>
                <a:cs typeface="Arial"/>
                <a:sym typeface="Arial"/>
              </a:rPr>
              <a:t>Plataforma en la nube con alta disponibilidad.</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g2d8fa948c4e_0_2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9" name="Google Shape;69;g2d8fa948c4e_0_25"/>
          <p:cNvSpPr txBox="1"/>
          <p:nvPr/>
        </p:nvSpPr>
        <p:spPr>
          <a:xfrm>
            <a:off x="2237650" y="240850"/>
            <a:ext cx="4079100" cy="63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Tipos de Datos de Data Warehouse</a:t>
            </a:r>
            <a:endParaRPr b="1" i="0" sz="1800" u="none" cap="none" strike="noStrike">
              <a:solidFill>
                <a:schemeClr val="dk1"/>
              </a:solidFill>
              <a:latin typeface="Arial"/>
              <a:ea typeface="Arial"/>
              <a:cs typeface="Arial"/>
              <a:sym typeface="Arial"/>
            </a:endParaRPr>
          </a:p>
        </p:txBody>
      </p:sp>
      <p:sp>
        <p:nvSpPr>
          <p:cNvPr id="70" name="Google Shape;70;g2d8fa948c4e_0_25"/>
          <p:cNvSpPr txBox="1"/>
          <p:nvPr/>
        </p:nvSpPr>
        <p:spPr>
          <a:xfrm>
            <a:off x="42300" y="683725"/>
            <a:ext cx="9059400" cy="417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Enterprise Data Warehouse</a:t>
            </a:r>
            <a:r>
              <a:rPr b="0" i="0" lang="es"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Es un almacenamiento de datos centralizado, unifica toda la información de una organización para que toda la empresa pueda tener acceso. Ofrece un servicio en el que apoya la toma de decisiones en la empresa. Se enfoca principalmente en organizar y representar los datos, también se obtiene la capacidad de clasificar los datos según el usuario y dar acceso de acuerdo a las restricciones internas.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g2d8fa948c4e_0_2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76" name="Google Shape;76;g2d8fa948c4e_0_29"/>
          <p:cNvPicPr preferRelativeResize="0"/>
          <p:nvPr/>
        </p:nvPicPr>
        <p:blipFill rotWithShape="1">
          <a:blip r:embed="rId4">
            <a:alphaModFix/>
          </a:blip>
          <a:srcRect b="0" l="0" r="0" t="0"/>
          <a:stretch/>
        </p:blipFill>
        <p:spPr>
          <a:xfrm>
            <a:off x="77700" y="745875"/>
            <a:ext cx="8973926" cy="43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g2d8fa948c4e_0_1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2" name="Google Shape;82;g2d8fa948c4e_0_17"/>
          <p:cNvSpPr txBox="1"/>
          <p:nvPr/>
        </p:nvSpPr>
        <p:spPr>
          <a:xfrm>
            <a:off x="46625" y="776975"/>
            <a:ext cx="9012900" cy="376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Operational Data Store (ODS)</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También conocido como ODS, es un almacén de datos, que cuando el almacenamiento de datos y los sistemas OLTP no admiten las necesidades de los informes de las organizaciones. En ODS, todo el almacenamiento de datos se actualiza en tiempo real y/o con baja latencia de actualización, y por eso mismo se utiliza habitualmente para actividades rutinarias, como es el almacenamiento de registros de la operación de la empresa y transacciones de venta. En pocas palabras, es un tipo de base de datos que se utiliza habitualmente como un área lógica provisional para un almacén de datos.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g2d8fa948c4e_0_3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88" name="Google Shape;88;g2d8fa948c4e_0_33"/>
          <p:cNvPicPr preferRelativeResize="0"/>
          <p:nvPr/>
        </p:nvPicPr>
        <p:blipFill rotWithShape="1">
          <a:blip r:embed="rId4">
            <a:alphaModFix/>
          </a:blip>
          <a:srcRect b="0" l="0" r="0" t="0"/>
          <a:stretch/>
        </p:blipFill>
        <p:spPr>
          <a:xfrm>
            <a:off x="8450" y="742925"/>
            <a:ext cx="9127100" cy="4400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g2dcf99f76a9_0_3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4" name="Google Shape;94;g2dcf99f76a9_0_39"/>
          <p:cNvSpPr txBox="1"/>
          <p:nvPr/>
        </p:nvSpPr>
        <p:spPr>
          <a:xfrm>
            <a:off x="7775" y="745875"/>
            <a:ext cx="9082800" cy="418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Data Mart</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Un Data Mart es un subconjunto del almacenamiento de datos orientado a un área específica, también conocido como base de información departamental. Está especialmente diseñado para una línea de negocio particular, como ventas o finanzas. En un Data Mart independiente, los datos pueden recopilarse directamente de las fuentes. Tiene diversas funciones como organizar la información para posteriormente analizarla, realizar indicadores (KPI), evaluar los objetivos del sector que se está analizando, etc. El objetivo es realizar un análisis detallado sobre lo que ocurre en un negocio.</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g2d8fa948c4e_0_4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0" name="Google Shape;100;g2d8fa948c4e_0_41"/>
          <p:cNvSpPr txBox="1"/>
          <p:nvPr/>
        </p:nvSpPr>
        <p:spPr>
          <a:xfrm>
            <a:off x="15550" y="730350"/>
            <a:ext cx="9043800" cy="43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101" name="Google Shape;101;g2d8fa948c4e_0_41"/>
          <p:cNvPicPr preferRelativeResize="0"/>
          <p:nvPr/>
        </p:nvPicPr>
        <p:blipFill rotWithShape="1">
          <a:blip r:embed="rId4">
            <a:alphaModFix/>
          </a:blip>
          <a:srcRect b="0" l="0" r="0" t="0"/>
          <a:stretch/>
        </p:blipFill>
        <p:spPr>
          <a:xfrm>
            <a:off x="62150" y="1133475"/>
            <a:ext cx="8997200" cy="3450600"/>
          </a:xfrm>
          <a:prstGeom prst="rect">
            <a:avLst/>
          </a:prstGeom>
          <a:noFill/>
          <a:ln>
            <a:noFill/>
          </a:ln>
        </p:spPr>
      </p:pic>
      <p:sp>
        <p:nvSpPr>
          <p:cNvPr id="102" name="Google Shape;102;g2d8fa948c4e_0_41"/>
          <p:cNvSpPr txBox="1"/>
          <p:nvPr/>
        </p:nvSpPr>
        <p:spPr>
          <a:xfrm>
            <a:off x="155400" y="4770550"/>
            <a:ext cx="5625300" cy="3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5"/>
              </a:rPr>
              <a:t>https://www.youtube.com/watch?v=35mWYziHVh8</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g2d8fa948c4e_0_3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8" name="Google Shape;108;g2d8fa948c4e_0_37"/>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g2d8fa948c4e_0_37"/>
          <p:cNvSpPr txBox="1"/>
          <p:nvPr/>
        </p:nvSpPr>
        <p:spPr>
          <a:xfrm>
            <a:off x="46625" y="800275"/>
            <a:ext cx="9043800" cy="4117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Data Lake</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Es un repositorio centrado en almacenar gran cantidad de datos estructurados y sin estructurar sin importar su escala. Permite almacenar los datos tal cual vienen sin necesidad de ser estructurados. Ejecuta diferentes tipos de análisis, dashboards y visualizaciones, además de generar procesos de big data, análisis en tiempo real y de Machine Learning que facilitan la toma de decisiones.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339a09cea51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15" name="Google Shape;115;g339a09cea51_0_0"/>
          <p:cNvPicPr preferRelativeResize="0"/>
          <p:nvPr/>
        </p:nvPicPr>
        <p:blipFill rotWithShape="1">
          <a:blip r:embed="rId4">
            <a:alphaModFix/>
          </a:blip>
          <a:srcRect b="0" l="0" r="0" t="0"/>
          <a:stretch/>
        </p:blipFill>
        <p:spPr>
          <a:xfrm>
            <a:off x="8450" y="761425"/>
            <a:ext cx="9127100" cy="425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39a09cea51_0_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1" name="Google Shape;121;g339a09cea51_0_5"/>
          <p:cNvSpPr txBox="1"/>
          <p:nvPr/>
        </p:nvSpPr>
        <p:spPr>
          <a:xfrm>
            <a:off x="2470750" y="178700"/>
            <a:ext cx="3605100" cy="419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Arial"/>
                <a:ea typeface="Arial"/>
                <a:cs typeface="Arial"/>
                <a:sym typeface="Arial"/>
              </a:rPr>
              <a:t>Flujo de Integración Data Warehouse</a:t>
            </a:r>
            <a:endParaRPr b="1" i="0" sz="1800" u="none" cap="none" strike="noStrike">
              <a:solidFill>
                <a:schemeClr val="dk2"/>
              </a:solidFill>
              <a:latin typeface="Arial"/>
              <a:ea typeface="Arial"/>
              <a:cs typeface="Arial"/>
              <a:sym typeface="Arial"/>
            </a:endParaRPr>
          </a:p>
        </p:txBody>
      </p:sp>
      <p:sp>
        <p:nvSpPr>
          <p:cNvPr id="122" name="Google Shape;122;g339a09cea51_0_5"/>
          <p:cNvSpPr txBox="1"/>
          <p:nvPr/>
        </p:nvSpPr>
        <p:spPr>
          <a:xfrm>
            <a:off x="7775" y="901275"/>
            <a:ext cx="9075000" cy="4133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Todas las estructuras de datos son importantes y cuentan con una gran funcionalidad según sus respectivos propósitos y perfiles de usuario. Por lo que es necesario comprender las diferencias y similitudes de cada una, para así poder identificar cual se adapta mejor a las necesidades de cada empresa o bien si se requiere de una estructura de Data Warehouse íntegra para satisfacer los requerimientos.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800" u="none" cap="none" strike="noStrike">
                <a:solidFill>
                  <a:schemeClr val="dk1"/>
                </a:solidFill>
                <a:latin typeface="Arial"/>
                <a:ea typeface="Arial"/>
                <a:cs typeface="Arial"/>
                <a:sym typeface="Arial"/>
              </a:rPr>
              <a:t>La implementación de un Data Warehouse en las empresas es de suma importancia, ya que permite a los usuarios acceder de una manera fácil a una gran cantidad de datos, analizarlos y proporcionar información importante sobre las diversas actividades de la organización.</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g339a09cea51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8" name="Google Shape;128;g339a09cea51_0_10"/>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129" name="Google Shape;129;g339a09cea51_0_10"/>
          <p:cNvPicPr preferRelativeResize="0"/>
          <p:nvPr/>
        </p:nvPicPr>
        <p:blipFill rotWithShape="1">
          <a:blip r:embed="rId4">
            <a:alphaModFix/>
          </a:blip>
          <a:srcRect b="0" l="0" r="0" t="0"/>
          <a:stretch/>
        </p:blipFill>
        <p:spPr>
          <a:xfrm>
            <a:off x="8450" y="411800"/>
            <a:ext cx="9089799" cy="4607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g34156db3297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5" name="Google Shape;135;g34156db3297_0_0"/>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800"/>
              <a:buFont typeface="Arial"/>
              <a:buNone/>
            </a:pPr>
            <a:r>
              <a:t/>
            </a:r>
            <a:endParaRPr sz="1800">
              <a:solidFill>
                <a:schemeClr val="dk1"/>
              </a:solidFill>
            </a:endParaRPr>
          </a:p>
          <a:p>
            <a:pPr indent="0" lvl="0" marL="0" marR="0" rtl="0" algn="just">
              <a:lnSpc>
                <a:spcPct val="115000"/>
              </a:lnSpc>
              <a:spcBef>
                <a:spcPts val="0"/>
              </a:spcBef>
              <a:spcAft>
                <a:spcPts val="0"/>
              </a:spcAft>
              <a:buClr>
                <a:srgbClr val="000000"/>
              </a:buClr>
              <a:buSzPts val="1800"/>
              <a:buFont typeface="Arial"/>
              <a:buNone/>
            </a:pPr>
            <a:r>
              <a:t/>
            </a:r>
            <a:endParaRPr sz="1800">
              <a:solidFill>
                <a:schemeClr val="dk1"/>
              </a:solidFill>
            </a:endParaRPr>
          </a:p>
          <a:p>
            <a:pPr indent="0" lvl="0" marL="0" marR="0" rtl="0" algn="just">
              <a:lnSpc>
                <a:spcPct val="115000"/>
              </a:lnSpc>
              <a:spcBef>
                <a:spcPts val="0"/>
              </a:spcBef>
              <a:spcAft>
                <a:spcPts val="0"/>
              </a:spcAft>
              <a:buClr>
                <a:srgbClr val="000000"/>
              </a:buClr>
              <a:buSzPts val="1800"/>
              <a:buFont typeface="Arial"/>
              <a:buNone/>
            </a:pPr>
            <a:r>
              <a:rPr lang="es" sz="1800">
                <a:solidFill>
                  <a:schemeClr val="dk1"/>
                </a:solidFill>
              </a:rPr>
              <a:t>El </a:t>
            </a:r>
            <a:r>
              <a:rPr b="1" lang="es" sz="1800">
                <a:solidFill>
                  <a:schemeClr val="dk1"/>
                </a:solidFill>
              </a:rPr>
              <a:t>Data Mining</a:t>
            </a:r>
            <a:r>
              <a:rPr lang="es" sz="1800">
                <a:solidFill>
                  <a:schemeClr val="dk1"/>
                </a:solidFill>
              </a:rPr>
              <a:t> o </a:t>
            </a:r>
            <a:r>
              <a:rPr b="1" lang="es" sz="1800">
                <a:solidFill>
                  <a:schemeClr val="dk1"/>
                </a:solidFill>
              </a:rPr>
              <a:t>Minería de Datos</a:t>
            </a:r>
            <a:r>
              <a:rPr lang="es" sz="1800">
                <a:solidFill>
                  <a:schemeClr val="dk1"/>
                </a:solidFill>
              </a:rPr>
              <a:t> es el proceso de </a:t>
            </a:r>
            <a:r>
              <a:rPr b="1" lang="es" sz="1800">
                <a:solidFill>
                  <a:schemeClr val="dk1"/>
                </a:solidFill>
              </a:rPr>
              <a:t>descubrir patrones, relaciones y tendencias ocultas</a:t>
            </a:r>
            <a:r>
              <a:rPr lang="es" sz="1800">
                <a:solidFill>
                  <a:schemeClr val="dk1"/>
                </a:solidFill>
              </a:rPr>
              <a:t> en grandes volúmenes de datos mediante técnicas de estadística, inteligencia artificial y machine learning. Su objetivo es transformar datos en información útil para la </a:t>
            </a:r>
            <a:r>
              <a:rPr b="1" lang="es" sz="1800">
                <a:solidFill>
                  <a:schemeClr val="dk1"/>
                </a:solidFill>
              </a:rPr>
              <a:t>toma de decisiones estratégicas</a:t>
            </a:r>
            <a:r>
              <a:rPr lang="es" sz="1800">
                <a:solidFill>
                  <a:schemeClr val="dk1"/>
                </a:solidFill>
              </a:rPr>
              <a:t> en las empresas.</a:t>
            </a:r>
            <a:endParaRPr b="0" i="0" sz="1800" u="none" cap="none" strike="noStrike">
              <a:solidFill>
                <a:schemeClr val="dk1"/>
              </a:solidFill>
              <a:latin typeface="Arial"/>
              <a:ea typeface="Arial"/>
              <a:cs typeface="Arial"/>
              <a:sym typeface="Arial"/>
            </a:endParaRPr>
          </a:p>
        </p:txBody>
      </p:sp>
      <p:sp>
        <p:nvSpPr>
          <p:cNvPr id="136" name="Google Shape;136;g34156db3297_0_0"/>
          <p:cNvSpPr txBox="1"/>
          <p:nvPr/>
        </p:nvSpPr>
        <p:spPr>
          <a:xfrm>
            <a:off x="2672750" y="279700"/>
            <a:ext cx="2789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Datamining</a:t>
            </a:r>
            <a:endParaRPr b="1"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g34156db3297_0_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2" name="Google Shape;142;g34156db3297_0_6"/>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800"/>
              </a:spcBef>
              <a:spcAft>
                <a:spcPts val="0"/>
              </a:spcAft>
              <a:buClr>
                <a:schemeClr val="dk1"/>
              </a:buClr>
              <a:buSzPts val="1100"/>
              <a:buFont typeface="Arial"/>
              <a:buNone/>
            </a:pPr>
            <a:r>
              <a:rPr b="1" lang="es" sz="1800">
                <a:solidFill>
                  <a:schemeClr val="dk1"/>
                </a:solidFill>
              </a:rPr>
              <a:t>Características Clave de Data Mining.</a:t>
            </a:r>
            <a:endParaRPr b="1" sz="1800">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sz="18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s" sz="1800">
                <a:solidFill>
                  <a:schemeClr val="dk1"/>
                </a:solidFill>
              </a:rPr>
              <a:t>✔ Identificación de patrones y correlaciones en grandes conjuntos de datos.</a:t>
            </a:r>
            <a:br>
              <a:rPr lang="es" sz="1800">
                <a:solidFill>
                  <a:schemeClr val="dk1"/>
                </a:solidFill>
              </a:rPr>
            </a:br>
            <a:r>
              <a:rPr lang="es" sz="1800">
                <a:solidFill>
                  <a:schemeClr val="dk1"/>
                </a:solidFill>
              </a:rPr>
              <a:t> ✔ Predicción de comportamientos y tendencias futuras.</a:t>
            </a:r>
            <a:br>
              <a:rPr lang="es" sz="1800">
                <a:solidFill>
                  <a:schemeClr val="dk1"/>
                </a:solidFill>
              </a:rPr>
            </a:br>
            <a:r>
              <a:rPr lang="es" sz="1800">
                <a:solidFill>
                  <a:schemeClr val="dk1"/>
                </a:solidFill>
              </a:rPr>
              <a:t> ✔ Segmentación y clasificación de clientes o productos.</a:t>
            </a:r>
            <a:br>
              <a:rPr lang="es" sz="1800">
                <a:solidFill>
                  <a:schemeClr val="dk1"/>
                </a:solidFill>
              </a:rPr>
            </a:br>
            <a:r>
              <a:rPr lang="es" sz="1800">
                <a:solidFill>
                  <a:schemeClr val="dk1"/>
                </a:solidFill>
              </a:rPr>
              <a:t> ✔ Detección de anomalías y fraudes.</a:t>
            </a:r>
            <a:br>
              <a:rPr lang="es" sz="1800">
                <a:solidFill>
                  <a:schemeClr val="dk1"/>
                </a:solidFill>
              </a:rPr>
            </a:br>
            <a:r>
              <a:rPr lang="es" sz="1800">
                <a:solidFill>
                  <a:schemeClr val="dk1"/>
                </a:solidFill>
              </a:rPr>
              <a:t> ✔ Automatización del análisis de datos mediante algoritmos de IA.</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34156db3297_0_1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8" name="Google Shape;148;g34156db3297_0_12"/>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Recolección de Datos:</a:t>
            </a:r>
            <a:r>
              <a:rPr lang="es" sz="1800">
                <a:solidFill>
                  <a:schemeClr val="dk1"/>
                </a:solidFill>
              </a:rPr>
              <a:t> Se obtiene información de bases de datos, Data Warehouses, redes sociales, sensores IoT, etc.</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Limpieza y Preparación:</a:t>
            </a:r>
            <a:r>
              <a:rPr lang="es" sz="1800">
                <a:solidFill>
                  <a:schemeClr val="dk1"/>
                </a:solidFill>
              </a:rPr>
              <a:t> Se eliminan datos duplicados, erróneos o inconsistentes.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Selección y Transformación:</a:t>
            </a:r>
            <a:r>
              <a:rPr lang="es" sz="1800">
                <a:solidFill>
                  <a:schemeClr val="dk1"/>
                </a:solidFill>
              </a:rPr>
              <a:t> Se eligen las variables relevantes y se convierten en un formato adecuado.</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Aplicación de Algoritmos:</a:t>
            </a:r>
            <a:r>
              <a:rPr lang="es" sz="1800">
                <a:solidFill>
                  <a:schemeClr val="dk1"/>
                </a:solidFill>
              </a:rPr>
              <a:t> Se utilizan técnicas de Machine Learning y estadísticas para descubrir patrones.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Interpretación de Resultados:</a:t>
            </a:r>
            <a:r>
              <a:rPr lang="es" sz="1800">
                <a:solidFill>
                  <a:schemeClr val="dk1"/>
                </a:solidFill>
              </a:rPr>
              <a:t> Se generan reportes, gráficos y dashboards para la toma de decisiones.</a:t>
            </a:r>
            <a:endParaRPr sz="1800">
              <a:solidFill>
                <a:schemeClr val="dk1"/>
              </a:solidFill>
            </a:endParaRPr>
          </a:p>
        </p:txBody>
      </p:sp>
      <p:sp>
        <p:nvSpPr>
          <p:cNvPr id="149" name="Google Shape;149;g34156db3297_0_12"/>
          <p:cNvSpPr txBox="1"/>
          <p:nvPr/>
        </p:nvSpPr>
        <p:spPr>
          <a:xfrm>
            <a:off x="2548450" y="264175"/>
            <a:ext cx="3138900" cy="47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Etapas del Proceso de Data Mining</a:t>
            </a:r>
            <a:endParaRPr b="1"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g34156db3297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5" name="Google Shape;155;g34156db3297_0_18"/>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b="1" lang="es" sz="1800">
                <a:solidFill>
                  <a:schemeClr val="dk1"/>
                </a:solidFill>
              </a:rPr>
              <a:t>Clasificación:</a:t>
            </a:r>
            <a:r>
              <a:rPr lang="es" sz="1800">
                <a:solidFill>
                  <a:schemeClr val="dk1"/>
                </a:solidFill>
              </a:rPr>
              <a:t> Asigna categorías a los datos (Ej: Clasificación de clientes según riesgo crediticio).</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Regresión:</a:t>
            </a:r>
            <a:r>
              <a:rPr lang="es" sz="1800">
                <a:solidFill>
                  <a:schemeClr val="dk1"/>
                </a:solidFill>
              </a:rPr>
              <a:t> Predice valores futuros con base en datos históricos (Ej: Predicción de ventas).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Agrupamiento (Clustering):</a:t>
            </a:r>
            <a:r>
              <a:rPr lang="es" sz="1800">
                <a:solidFill>
                  <a:schemeClr val="dk1"/>
                </a:solidFill>
              </a:rPr>
              <a:t> Identifica grupos con características similares (Ej: Segmentación de mercado).</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Reglas de Asociación:</a:t>
            </a:r>
            <a:r>
              <a:rPr lang="es" sz="1800">
                <a:solidFill>
                  <a:schemeClr val="dk1"/>
                </a:solidFill>
              </a:rPr>
              <a:t> Encuentra relaciones entre variables (Ej: Análisis de canasta de compras).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s" sz="1800">
                <a:solidFill>
                  <a:schemeClr val="dk1"/>
                </a:solidFill>
              </a:rPr>
              <a:t>Detección de Anomalías:</a:t>
            </a:r>
            <a:r>
              <a:rPr lang="es" sz="1800">
                <a:solidFill>
                  <a:schemeClr val="dk1"/>
                </a:solidFill>
              </a:rPr>
              <a:t> Identifica datos inusuales (Ej: Fraude en transacciones bancarias).</a:t>
            </a:r>
            <a:endParaRPr sz="1800">
              <a:solidFill>
                <a:schemeClr val="dk1"/>
              </a:solidFill>
            </a:endParaRPr>
          </a:p>
        </p:txBody>
      </p:sp>
      <p:sp>
        <p:nvSpPr>
          <p:cNvPr id="156" name="Google Shape;156;g34156db3297_0_18"/>
          <p:cNvSpPr txBox="1"/>
          <p:nvPr/>
        </p:nvSpPr>
        <p:spPr>
          <a:xfrm>
            <a:off x="2455200" y="194250"/>
            <a:ext cx="3589500" cy="49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Técnicas y Algoritmos de Data Mining</a:t>
            </a:r>
            <a:endParaRPr b="1"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g34156db3297_0_2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2" name="Google Shape;162;g34156db3297_0_24"/>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Python (Pandas, Scikit-learn, TensorFlow)</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RapidMiner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IBM SPSS Modeler</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Weka</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Microsoft SQL Server Analysis Services (SSAS)</a:t>
            </a:r>
            <a:endParaRPr sz="1800">
              <a:solidFill>
                <a:schemeClr val="dk1"/>
              </a:solidFill>
            </a:endParaRPr>
          </a:p>
        </p:txBody>
      </p:sp>
      <p:sp>
        <p:nvSpPr>
          <p:cNvPr id="163" name="Google Shape;163;g34156db3297_0_24"/>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Herramientas Populares de Data Mining</a:t>
            </a:r>
            <a:endParaRPr b="1"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4156db3297_0_3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9" name="Google Shape;169;g34156db3297_0_30"/>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s" sz="1800">
                <a:solidFill>
                  <a:schemeClr val="dk1"/>
                </a:solidFill>
              </a:rPr>
              <a:t>Beneficios del Data Mining</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Mejor toma de decisiones basada en datos.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Automatización del análisis de grandes volúmenes de datos.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Optimización de estrategias de marketing y ventas.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Reducción de costos mediante la detección temprana de riesgos.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s" sz="1800">
                <a:solidFill>
                  <a:schemeClr val="dk1"/>
                </a:solidFill>
              </a:rPr>
              <a:t>Mayor personalización en productos y servicios.</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