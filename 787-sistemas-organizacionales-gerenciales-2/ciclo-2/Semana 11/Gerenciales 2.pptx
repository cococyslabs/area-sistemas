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iv/p1ASoGINENXoiMdN9CocVqy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5110B5-8D5F-4006-8181-BA43E3814345}">
  <a:tblStyle styleId="{E75110B5-8D5F-4006-8181-BA43E381434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156db329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4156db329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156db329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4156db329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32684804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432684804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32684804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432684804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326848042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432684804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32684804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432684804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6e8a776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46e8a776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6e8a7765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46e8a7765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6e8a7765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46e8a7765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6e8a7765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46e8a7765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c55b4c64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4c55b4c64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c55b4c64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4c55b4c64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dfc47ed6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4dfc47ed6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dfc47ed6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4dfc47ed6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dfc47ed6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4dfc47ed6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dfc47ed6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4dfc47ed6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dfc47ed6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4dfc47ed6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dfc47ed6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4dfc47ed6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dfc47ed6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4dfc47ed6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{E75110B5-8D5F-4006-8181-BA43E3814345}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Lunes, </a:t>
                      </a:r>
                      <a:r>
                        <a:rPr lang="es"/>
                        <a:t>21</a:t>
                      </a:r>
                      <a:r>
                        <a:rPr lang="es" sz="1400" u="none" cap="none" strike="noStrike"/>
                        <a:t>/04/2025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Erick Eden Sandoval Ramirez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4156db3297_0_1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4156db3297_0_18"/>
          <p:cNvSpPr txBox="1"/>
          <p:nvPr/>
        </p:nvSpPr>
        <p:spPr>
          <a:xfrm>
            <a:off x="2229925" y="77700"/>
            <a:ext cx="39237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Conceptos y Beneficios del Business Process Outsourcing (BPO)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4" name="Google Shape;64;g34156db3297_0_18"/>
          <p:cNvSpPr txBox="1"/>
          <p:nvPr/>
        </p:nvSpPr>
        <p:spPr>
          <a:xfrm>
            <a:off x="85475" y="1196525"/>
            <a:ext cx="8989500" cy="3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BPO (Business Process Outsourcing)</a:t>
            </a:r>
            <a:r>
              <a:rPr lang="es" sz="1800">
                <a:solidFill>
                  <a:schemeClr val="dk1"/>
                </a:solidFill>
              </a:rPr>
              <a:t> es la práctica de </a:t>
            </a:r>
            <a:r>
              <a:rPr b="1" lang="es" sz="1800">
                <a:solidFill>
                  <a:schemeClr val="dk1"/>
                </a:solidFill>
              </a:rPr>
              <a:t>subcontratar procesos de negocio a terceros especializados</a:t>
            </a:r>
            <a:r>
              <a:rPr lang="es" sz="1800">
                <a:solidFill>
                  <a:schemeClr val="dk1"/>
                </a:solidFill>
              </a:rPr>
              <a:t>. Estos procesos pueden ser tanto </a:t>
            </a:r>
            <a:r>
              <a:rPr b="1" lang="es" sz="1800">
                <a:solidFill>
                  <a:schemeClr val="dk1"/>
                </a:solidFill>
              </a:rPr>
              <a:t>operativos</a:t>
            </a:r>
            <a:r>
              <a:rPr lang="es" sz="1800">
                <a:solidFill>
                  <a:schemeClr val="dk1"/>
                </a:solidFill>
              </a:rPr>
              <a:t> como </a:t>
            </a:r>
            <a:r>
              <a:rPr b="1" lang="es" sz="1800">
                <a:solidFill>
                  <a:schemeClr val="dk1"/>
                </a:solidFill>
              </a:rPr>
              <a:t>tecnológicos</a:t>
            </a:r>
            <a:r>
              <a:rPr lang="es" sz="1800">
                <a:solidFill>
                  <a:schemeClr val="dk1"/>
                </a:solidFill>
              </a:rPr>
              <a:t>, y suelen estar fuera del “core” (núcleo) del negocio, aunque en algunos casos también se externalizan funciones clave.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Hay dos grandes tipos: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BPO de back-office:</a:t>
            </a:r>
            <a:r>
              <a:rPr lang="es" sz="1800">
                <a:solidFill>
                  <a:schemeClr val="dk1"/>
                </a:solidFill>
              </a:rPr>
              <a:t> Contabilidad, finanzas, recursos humanos, procesamiento de datos, etc.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BPO de front-office:</a:t>
            </a:r>
            <a:r>
              <a:rPr lang="es" sz="1800">
                <a:solidFill>
                  <a:schemeClr val="dk1"/>
                </a:solidFill>
              </a:rPr>
              <a:t> Atención al cliente, ventas, soporte técnico, entre otros.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34156db3297_0_2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4156db3297_0_24"/>
          <p:cNvSpPr txBox="1"/>
          <p:nvPr/>
        </p:nvSpPr>
        <p:spPr>
          <a:xfrm>
            <a:off x="54375" y="831350"/>
            <a:ext cx="8997300" cy="4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También se clasifica según la ubicación del proveedor: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Onshore:</a:t>
            </a:r>
            <a:r>
              <a:rPr lang="es" sz="1800">
                <a:solidFill>
                  <a:schemeClr val="dk1"/>
                </a:solidFill>
              </a:rPr>
              <a:t> mismo país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Nearshore:</a:t>
            </a:r>
            <a:r>
              <a:rPr lang="es" sz="1800">
                <a:solidFill>
                  <a:schemeClr val="dk1"/>
                </a:solidFill>
              </a:rPr>
              <a:t> países cercanos o con misma zona horaria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Offshore:</a:t>
            </a:r>
            <a:r>
              <a:rPr lang="es" sz="1800">
                <a:solidFill>
                  <a:schemeClr val="dk1"/>
                </a:solidFill>
              </a:rPr>
              <a:t> países lejanos, usualmente con menor costo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g34326848042_0_5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-2699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4326848042_0_52"/>
          <p:cNvSpPr txBox="1"/>
          <p:nvPr/>
        </p:nvSpPr>
        <p:spPr>
          <a:xfrm>
            <a:off x="163150" y="334100"/>
            <a:ext cx="8795400" cy="4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Ventajas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Reducción de gasto en manufactura, sueldos, inversión y equipo o maquinaria.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Respuesta oportuna y efectiva al cambio del entorno.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Fortalecimiento de los procesos de la empresa.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Construcción de relaciones comerciales y corporativas.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Difusión de una nueva y mejor imagen de la organización.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Competencia mano a mano con otras compañías del sector con mejores tecnologías y un mayor alcance.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Familiarización con nuevas tecnologías.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Optimización de tiempos de entrega y calidad, lo que favorece el desarrollo organizacional.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Obtención de datos precisos para optimizar las decisiones.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Acceso a mejores recursos tecnológicos sin la necesidad de capacitar al personal.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Disponibilidad de servicios de información de manera oportuna.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Aplicación de talentos y recursos en sectores estratégicos de la empresa.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Flexibilidad dentro de la organización y reducción en sus gastos fijos.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g34326848042_0_6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4326848042_0_60"/>
          <p:cNvSpPr txBox="1"/>
          <p:nvPr/>
        </p:nvSpPr>
        <p:spPr>
          <a:xfrm>
            <a:off x="31075" y="442875"/>
            <a:ext cx="9067200" cy="45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Desventajas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Dependencia de terceros en cuanto a innovación se refiere.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Pérdida de contacto directo con nuevas tecnologías y métodos disponibles para mejorar los procesos.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Entrega de recetas y técnicas a otras empresas que pueden usarlas para plantar competencia.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La falta de planificación en el proceso de Outsourcing puede provocar que la reducción de costos no sea tan positiva como se espera.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Problemas, costos y retrasos en caso de que el proveedor de servicios no pueda hacerse cargo de algún proceso y haya que buscar otro.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Reducción de control y beneficios en el proceso de entrega de productos y servicios.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34326848042_0_7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4326848042_0_76"/>
          <p:cNvSpPr txBox="1"/>
          <p:nvPr/>
        </p:nvSpPr>
        <p:spPr>
          <a:xfrm>
            <a:off x="2563975" y="186475"/>
            <a:ext cx="33486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4326848042_0_76"/>
          <p:cNvSpPr txBox="1"/>
          <p:nvPr/>
        </p:nvSpPr>
        <p:spPr>
          <a:xfrm>
            <a:off x="2610600" y="132075"/>
            <a:ext cx="3131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Beneficios del BPO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90" name="Google Shape;90;g34326848042_0_76"/>
          <p:cNvSpPr txBox="1"/>
          <p:nvPr/>
        </p:nvSpPr>
        <p:spPr>
          <a:xfrm>
            <a:off x="38850" y="808050"/>
            <a:ext cx="9043800" cy="4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Reducción de costos operativos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Se eliminan gastos en infraestructura, personal y formación interna para procesos no esenciales.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Acceso a experiencia y tecnología especializada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Se trabaja con proveedores expertos en sus áreas, que ya cuentan con herramientas avanzadas.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Enfoque en el core del negocio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La empresa puede concentrarse en lo estratégico y dejar lo operativo en manos de especialistas.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Mayor eficiencia y productividad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Los proveedores suelen tener procesos más optimizados, lo que mejora la calidad y velocidad del servicio.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g34326848042_0_8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4326848042_0_83"/>
          <p:cNvSpPr txBox="1"/>
          <p:nvPr/>
        </p:nvSpPr>
        <p:spPr>
          <a:xfrm>
            <a:off x="23300" y="854650"/>
            <a:ext cx="9067200" cy="4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Escalabilidad y flexibilidad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Permite adaptarse rápidamente a cambios en la demanda sin grandes inversiones internas.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 del tiempo de respuesta al mercado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Al externalizar tareas rutinarias, se acelera la toma de decisiones y el lanzamiento de productos o servicios.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Acceso a talento global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Posibilidad de trabajar con profesionales calificados de todo el mundo.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Innovación continua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Los proveedores suelen estar actualizados con las últimas tendencias, normativas y tecnologías.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346e8a7765d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46e8a7765d_0_0"/>
          <p:cNvSpPr txBox="1"/>
          <p:nvPr/>
        </p:nvSpPr>
        <p:spPr>
          <a:xfrm>
            <a:off x="2377500" y="46600"/>
            <a:ext cx="36672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Impacto de la Subcontratación de Servicios Tecnológicos: Oportunidades y Desafíos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03" name="Google Shape;103;g346e8a7765d_0_0"/>
          <p:cNvSpPr txBox="1"/>
          <p:nvPr/>
        </p:nvSpPr>
        <p:spPr>
          <a:xfrm>
            <a:off x="62150" y="955600"/>
            <a:ext cx="90207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</a:rPr>
              <a:t>Oportunidades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Reducción de costos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Ahorro en infraestructura, licencias, personal interno y mantenimiento tecnológico.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Acceso a tecnología de punta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Permite utilizar herramientas avanzadas y soluciones especializadas sin grandes inversiones iniciales.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Agilidad en la transformación digital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Los proveedores ya cuentan con metodologías y experiencia para acelerar la adopción tecnológica.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Flexibilidad operativa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Posibilidad de escalar servicios según la demanda del negocio sin reorganizar estructuras internas.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Acceso a talento especializado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Permite incorporar expertos en áreas como ciberseguridad, cloud computing, IA, desarrollo web, etc.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Foco en actividades estratégicas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Libera recursos internos para que la organización se concentre en su “core business”.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46e8a7765d_0_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46e8a7765d_0_5"/>
          <p:cNvSpPr txBox="1"/>
          <p:nvPr/>
        </p:nvSpPr>
        <p:spPr>
          <a:xfrm>
            <a:off x="54375" y="139850"/>
            <a:ext cx="9043800" cy="49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1"/>
                </a:solidFill>
              </a:rPr>
              <a:t>Desafíos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Dependencia del proveedor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Riesgo de volverse dependiente de un solo socio tecnológico, dificultando cambios o ajustes rápidos.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Pérdida de control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Menor visibilidad sobre los procesos subcontratados y sobre la toma de decisiones técnicas.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Riesgos de seguridad y privacidad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Exposición de datos sensibles si no se gestionan bien los contratos, accesos y políticas de ciberseguridad.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Desalineación con la cultura empresarial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Dificultad para que el proveedor comprenda el contexto, objetivos y valores del negocio.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Problemas en la gestión de contratos y SLAs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Si no hay claridad en los acuerdos de nivel de servicio, pueden generarse conflictos por calidad o tiempos de respuesta.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Desafíos legales y de cumplimiento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Especialmente al trabajar con proveedores internacionales (por normativas de protección de datos, por ejemplo).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46e8a7765d_0_1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46e8a7765d_0_10"/>
          <p:cNvSpPr txBox="1"/>
          <p:nvPr/>
        </p:nvSpPr>
        <p:spPr>
          <a:xfrm>
            <a:off x="2323100" y="0"/>
            <a:ext cx="37527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Casos de éxito en la subcontratación de servicios tecnológicos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16" name="Google Shape;116;g346e8a7765d_0_10"/>
          <p:cNvSpPr txBox="1"/>
          <p:nvPr/>
        </p:nvSpPr>
        <p:spPr>
          <a:xfrm>
            <a:off x="7775" y="1041125"/>
            <a:ext cx="9090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WhatsApp: infraestructura en la nube con Amazon Web Services (AWS)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Situación:</a:t>
            </a:r>
            <a:r>
              <a:rPr lang="es" sz="1800">
                <a:solidFill>
                  <a:schemeClr val="dk1"/>
                </a:solidFill>
              </a:rPr>
              <a:t> WhatsApp decidió centrarse en el desarrollo de su aplicación y experiencia de usuario, dejando de lado la gestión de infraestructura física.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Subcontratación:</a:t>
            </a:r>
            <a:r>
              <a:rPr lang="es" sz="1800">
                <a:solidFill>
                  <a:schemeClr val="dk1"/>
                </a:solidFill>
              </a:rPr>
              <a:t> Usaron los servicios cloud de AWS para alojar sus servidores y administrar el tráfico masivo de mensajes.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Resultado:</a:t>
            </a:r>
            <a:r>
              <a:rPr lang="es" sz="1800">
                <a:solidFill>
                  <a:schemeClr val="dk1"/>
                </a:solidFill>
              </a:rPr>
              <a:t> Escalaron rápidamente a nivel global con un equipo técnico muy reducido. Ahorro de costos y foco total en el desarrollo del producto.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346e8a7765d_0_1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46e8a7765d_0_15"/>
          <p:cNvSpPr txBox="1"/>
          <p:nvPr/>
        </p:nvSpPr>
        <p:spPr>
          <a:xfrm>
            <a:off x="31075" y="792500"/>
            <a:ext cx="9075000" cy="43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IBM y Lufthansa: alianza para servicios de TI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Situación:</a:t>
            </a:r>
            <a:r>
              <a:rPr lang="es" sz="1800">
                <a:solidFill>
                  <a:schemeClr val="dk1"/>
                </a:solidFill>
              </a:rPr>
              <a:t> Lufthansa necesitaba modernizar y optimizar sus sistemas de TI a nivel global.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Subcontratación:</a:t>
            </a:r>
            <a:r>
              <a:rPr lang="es" sz="1800">
                <a:solidFill>
                  <a:schemeClr val="dk1"/>
                </a:solidFill>
              </a:rPr>
              <a:t> Firmó un contrato de más de 1.000 millones de euros con IBM para la gestión de infraestructura tecnológica, nube y soporte.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Resultado:</a:t>
            </a:r>
            <a:r>
              <a:rPr lang="es" sz="1800">
                <a:solidFill>
                  <a:schemeClr val="dk1"/>
                </a:solidFill>
              </a:rPr>
              <a:t> Reducción de costos operativos, transformación digital acelerada y mejora en la experiencia del cliente.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4c55b4c640_0_3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4c55b4c640_0_32"/>
          <p:cNvSpPr txBox="1"/>
          <p:nvPr/>
        </p:nvSpPr>
        <p:spPr>
          <a:xfrm>
            <a:off x="23300" y="784725"/>
            <a:ext cx="90750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Google y Cognizant: soporte de TI tercerizado.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Situación</a:t>
            </a:r>
            <a:r>
              <a:rPr lang="es" sz="1800">
                <a:solidFill>
                  <a:schemeClr val="dk1"/>
                </a:solidFill>
              </a:rPr>
              <a:t>: Google, a pesar de ser una empresa tecnológica, subcontrata ciertos servicios de soporte y operaciones internas.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Subcontratación</a:t>
            </a:r>
            <a:r>
              <a:rPr lang="es" sz="1800">
                <a:solidFill>
                  <a:schemeClr val="dk1"/>
                </a:solidFill>
              </a:rPr>
              <a:t>: Ha trabajado con empresas como Cognizant para tareas de revisión de contenido, soporte técnico y operaciones internas.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Resultado</a:t>
            </a:r>
            <a:r>
              <a:rPr lang="es" sz="1800">
                <a:solidFill>
                  <a:schemeClr val="dk1"/>
                </a:solidFill>
              </a:rPr>
              <a:t>: Permite a Google enfocarse en innovación mientras mantiene escalabilidad y soporte global eficiente.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34c55b4c640_0_3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4c55b4c640_0_37"/>
          <p:cNvSpPr txBox="1"/>
          <p:nvPr/>
        </p:nvSpPr>
        <p:spPr>
          <a:xfrm>
            <a:off x="2400825" y="0"/>
            <a:ext cx="37140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Automatización de Procesos Empresariales (Business Process Automation - BPA)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35" name="Google Shape;135;g34c55b4c640_0_37"/>
          <p:cNvSpPr txBox="1"/>
          <p:nvPr/>
        </p:nvSpPr>
        <p:spPr>
          <a:xfrm>
            <a:off x="7775" y="940125"/>
            <a:ext cx="9090600" cy="4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La automatización de procesos empresariales consiste en usar tecnología para ejecutar tareas repetitivas y estructuradas que antes eran realizadas manualmente, con el fin de aumentar la eficiencia, reducir errores y ahorrar costos.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Puede aplicarse en áreas como: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Facturación y contabilidad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Recursos humanos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Atención al cliente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Logística y cadena de suministro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Marketing y ventas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Gestión documental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4dfc47ed69_0_1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4dfc47ed69_0_11"/>
          <p:cNvSpPr txBox="1"/>
          <p:nvPr/>
        </p:nvSpPr>
        <p:spPr>
          <a:xfrm>
            <a:off x="62150" y="808050"/>
            <a:ext cx="9028200" cy="4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Tecnologías comunes para automatizar procesos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RPA (Robotic Process Automation): "Bots" que imitan acciones humanas (clics, escritura, navegación).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BPM (Business Process Management): Plataformas para modelar, ejecutar y optimizar flujos de trabajo.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IA y Machine Learning: Para tareas más complejas, como clasificación de documentos o análisis predictivo.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Integración de APIs: Para conectar sistemas y automatizar el intercambio de datos entre ellos.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4dfc47ed69_0_1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4dfc47ed69_0_15"/>
          <p:cNvSpPr txBox="1"/>
          <p:nvPr/>
        </p:nvSpPr>
        <p:spPr>
          <a:xfrm>
            <a:off x="2455200" y="69925"/>
            <a:ext cx="34653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Introducción a la Automatización de Procesos con RPA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48" name="Google Shape;148;g34dfc47ed69_0_15"/>
          <p:cNvSpPr txBox="1"/>
          <p:nvPr/>
        </p:nvSpPr>
        <p:spPr>
          <a:xfrm>
            <a:off x="15550" y="1041125"/>
            <a:ext cx="9075000" cy="4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RPA (Robotic Process Automation) es una tecnología que permite automatizar tareas repetitivas y basadas en reglas, utilizando "robots de software" que imitan las acciones humanas en sistemas informáticos.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Estos bots pueden: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Leer y escribir en bases de datos.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Mover archivos y carpetas.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Rellenar formularios.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Extraer información de correos electrónicos.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Interactuar con sitios web y aplicaciones como lo haría un usuario.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4dfc47ed69_0_1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4dfc47ed69_0_19"/>
          <p:cNvSpPr txBox="1"/>
          <p:nvPr/>
        </p:nvSpPr>
        <p:spPr>
          <a:xfrm>
            <a:off x="2835925" y="132100"/>
            <a:ext cx="27270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¿Cómo funciona?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55" name="Google Shape;155;g34dfc47ed69_0_19"/>
          <p:cNvSpPr txBox="1"/>
          <p:nvPr/>
        </p:nvSpPr>
        <p:spPr>
          <a:xfrm>
            <a:off x="23300" y="800275"/>
            <a:ext cx="91122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Los bots de RPA no reemplazan sistemas, sino que se integran con ellos, imitando clics, escritura y navegación en interfaces gráficas. No requieren cambios en la infraestructura tecnológica.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6" name="Google Shape;156;g34dfc47ed69_0_19"/>
          <p:cNvSpPr txBox="1"/>
          <p:nvPr/>
        </p:nvSpPr>
        <p:spPr>
          <a:xfrm>
            <a:off x="15550" y="1748175"/>
            <a:ext cx="9051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Ventajas de RPA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Ahorro de tiempo y costos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Reducción de errores humanos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 cumplimiento normativo (todo queda registrado)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Mayor productividad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Liberación de recursos humanos para tareas más estratégicas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4dfc47ed69_0_2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4dfc47ed69_0_23"/>
          <p:cNvSpPr txBox="1"/>
          <p:nvPr/>
        </p:nvSpPr>
        <p:spPr>
          <a:xfrm>
            <a:off x="23300" y="800275"/>
            <a:ext cx="9051600" cy="4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Consideraciones importantes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No es inteligencia artificial, pero puede integrarse con IA para hacer procesos más inteligentes.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Funciona mejor con tareas bien definidas y estructuradas.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Requiere una buena planificación previa del proceso a automatizar.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RPA es una </a:t>
            </a:r>
            <a:r>
              <a:rPr b="1" lang="es" sz="1800">
                <a:solidFill>
                  <a:schemeClr val="dk1"/>
                </a:solidFill>
              </a:rPr>
              <a:t>herramienta poderosa para la transformación digital</a:t>
            </a:r>
            <a:r>
              <a:rPr lang="es" sz="1800">
                <a:solidFill>
                  <a:schemeClr val="dk1"/>
                </a:solidFill>
              </a:rPr>
              <a:t>, permitiendo a las organizaciones hacer más con menos, mejorar la precisión y escalar sus operaciones sin aumentar costos humanos.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4dfc47ed69_0_2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4dfc47ed69_0_27"/>
          <p:cNvSpPr txBox="1"/>
          <p:nvPr/>
        </p:nvSpPr>
        <p:spPr>
          <a:xfrm>
            <a:off x="2470750" y="0"/>
            <a:ext cx="3589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Ventajas y desafíos de RPA, (ROI) en proyectos de automatización.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9" name="Google Shape;169;g34dfc47ed69_0_27"/>
          <p:cNvSpPr txBox="1"/>
          <p:nvPr/>
        </p:nvSpPr>
        <p:spPr>
          <a:xfrm>
            <a:off x="31075" y="947900"/>
            <a:ext cx="9075000" cy="41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1"/>
                </a:solidFill>
              </a:rPr>
              <a:t>Ventajas de RPA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Ahorro de tiempo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Los bots trabajan 24/7 sin interrupciones, acelerando procesos rutinarios.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Reducción de errores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Al eliminar la intervención humana en tareas repetitivas, se disminuyen errores por descuido o fatiga.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Aumento de productividad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Los empleados pueden enfocarse en tareas estratégicas mientras los bots hacen lo repetitivo.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Fácil integración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No requiere grandes cambios en los sistemas existentes; los bots pueden operar sobre las aplicaciones actuales.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Escalabilidad rápida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Se pueden agregar más bots según crezca la demanda, sin necesidad de contratar nuevo personal.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Mejora del cumplimiento normativo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" sz="1500">
                <a:solidFill>
                  <a:schemeClr val="dk1"/>
                </a:solidFill>
              </a:rPr>
              <a:t>Las acciones de los bots son rastreables, lo que facilita auditorías y control de calidad.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4dfc47ed69_0_3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4dfc47ed69_0_31"/>
          <p:cNvSpPr txBox="1"/>
          <p:nvPr/>
        </p:nvSpPr>
        <p:spPr>
          <a:xfrm>
            <a:off x="31075" y="419550"/>
            <a:ext cx="9112800" cy="4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Desafíos de RPA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Selección incorrecta de procesos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No todos los procesos son aptos para RPA; si se elige mal, la automatización puede fracasar.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Dependencia de interfaces gráficas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Cambios en la interfaz de usuario pueden afectar el funcionamiento del bot.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Mantenimiento continuo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Los bots necesitan mantenimiento cuando cambian los sistemas con los que interactúan.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Resistencia al cambio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Algunos empleados pueden temer que los bots los reemplacen, lo que genera tensiones internas.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Falsas expectativas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Pensar que RPA resolverá todos los problemas operativos sin una estrategia sólida puede llevar al fracaso.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g34dfc47ed69_0_4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4dfc47ed69_0_48"/>
          <p:cNvSpPr txBox="1"/>
          <p:nvPr/>
        </p:nvSpPr>
        <p:spPr>
          <a:xfrm>
            <a:off x="2439675" y="0"/>
            <a:ext cx="35430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ROI en proyectos de RPA (Retorno de Inversión)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82" name="Google Shape;182;g34dfc47ed69_0_48"/>
          <p:cNvSpPr txBox="1"/>
          <p:nvPr/>
        </p:nvSpPr>
        <p:spPr>
          <a:xfrm>
            <a:off x="23300" y="831350"/>
            <a:ext cx="9075000" cy="4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¿Cómo se mide?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El ROI en RPA se evalúa comparando el costo del proyecto (licencias, desarrollo, implementación y mantenimiento) contra los beneficios obtenidos, como: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Ahorro de horas laborales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Reducción de errores costosos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 en la calidad del servicio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Reducción del tiempo de ciclo de los procesos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Fórmula básica: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ROI (%) = [(Beneficios netos - Costos del proyecto) / Costos del proyecto] x 100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Tiempo promedio de retorno: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Muchas empresas reportan recuperar su inversión en menos de 12 meses, dependiendo del proceso automatizado.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