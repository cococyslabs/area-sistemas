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 roundtripDataSignature="AMtx7mj41JMxMGmeDsxqc15fkI3WLoU7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A8520C-97EC-452D-95DC-932158BADB4B}">
  <a:tblStyle styleId="{1DA8520C-97EC-452D-95DC-932158BADB4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3ef33d4d8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33ef33d4d85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8fa948c4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2d8fa948c4e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d8fa948c4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2d8fa948c4e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d8fa948c4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g2d8fa948c4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d8fa948c4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2d8fa948c4e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cf99f76a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2dcf99f76a9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8fa948c4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2d8fa948c4e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d8fa948c4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2d8fa948c4e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39a09cea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39a09cea5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9a09cea5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39a09cea5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39a09cea5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39a09cea51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156db32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34156db329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156db329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4156db329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156db329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34156db3297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156db329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4156db3297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4156db329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4156db3297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432684804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4326848042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432684804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3432684804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432684804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4326848042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432684804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34326848042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432684804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4326848042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s://www.youtube.com/watch?v=2v6ipqgFk6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{1DA8520C-97EC-452D-95DC-932158BADB4B}</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Lunes, </a:t>
                      </a:r>
                      <a:r>
                        <a:rPr lang="es"/>
                        <a:t>24</a:t>
                      </a:r>
                      <a:r>
                        <a:rPr lang="es" sz="1400" u="none" cap="none" strike="noStrike"/>
                        <a:t>/03/2025</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3992650" y="2132750"/>
            <a:ext cx="51429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SISTEMAS ORGANIZACIONALES Y GERENCIALES 2 Sección P</a:t>
            </a:r>
            <a:endParaRPr b="0" i="0" sz="2500" u="none" cap="none" strike="noStrike">
              <a:solidFill>
                <a:srgbClr val="000000"/>
              </a:solidFill>
              <a:latin typeface="Arial"/>
              <a:ea typeface="Arial"/>
              <a:cs typeface="Arial"/>
              <a:sym typeface="Arial"/>
            </a:endParaRPr>
          </a:p>
        </p:txBody>
      </p:sp>
      <p:sp>
        <p:nvSpPr>
          <p:cNvPr id="57" name="Google Shape;57;p1"/>
          <p:cNvSpPr txBox="1"/>
          <p:nvPr/>
        </p:nvSpPr>
        <p:spPr>
          <a:xfrm>
            <a:off x="107100" y="4595250"/>
            <a:ext cx="4290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Erick Eden Sandoval Ramirez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33ef33d4d85_0_6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33ef33d4d85_0_64"/>
          <p:cNvSpPr txBox="1"/>
          <p:nvPr/>
        </p:nvSpPr>
        <p:spPr>
          <a:xfrm>
            <a:off x="42300" y="683725"/>
            <a:ext cx="9059400" cy="4312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0"/>
              </a:spcAft>
              <a:buClr>
                <a:schemeClr val="dk1"/>
              </a:buClr>
              <a:buSzPts val="1100"/>
              <a:buFont typeface="Arial"/>
              <a:buNone/>
            </a:pPr>
            <a:r>
              <a:rPr b="1" lang="es" sz="1800">
                <a:solidFill>
                  <a:schemeClr val="dk1"/>
                </a:solidFill>
              </a:rPr>
              <a:t>¿Qué es Machine Learning?</a:t>
            </a:r>
            <a:endParaRPr b="1" sz="1800">
              <a:solidFill>
                <a:schemeClr val="dk1"/>
              </a:solidFill>
            </a:endParaRPr>
          </a:p>
          <a:p>
            <a:pPr indent="0" lvl="0" marL="0" rtl="0" algn="just">
              <a:lnSpc>
                <a:spcPct val="115000"/>
              </a:lnSpc>
              <a:spcBef>
                <a:spcPts val="1200"/>
              </a:spcBef>
              <a:spcAft>
                <a:spcPts val="1200"/>
              </a:spcAft>
              <a:buClr>
                <a:schemeClr val="dk1"/>
              </a:buClr>
              <a:buSzPts val="1100"/>
              <a:buFont typeface="Arial"/>
              <a:buNone/>
            </a:pPr>
            <a:r>
              <a:rPr b="1" lang="es" sz="1800">
                <a:solidFill>
                  <a:schemeClr val="dk1"/>
                </a:solidFill>
              </a:rPr>
              <a:t>Machine Learning (ML)</a:t>
            </a:r>
            <a:r>
              <a:rPr lang="es" sz="1800">
                <a:solidFill>
                  <a:schemeClr val="dk1"/>
                </a:solidFill>
              </a:rPr>
              <a:t> o </a:t>
            </a:r>
            <a:r>
              <a:rPr b="1" lang="es" sz="1800">
                <a:solidFill>
                  <a:schemeClr val="dk1"/>
                </a:solidFill>
              </a:rPr>
              <a:t>Aprendizaje Automático</a:t>
            </a:r>
            <a:r>
              <a:rPr lang="es" sz="1800">
                <a:solidFill>
                  <a:schemeClr val="dk1"/>
                </a:solidFill>
              </a:rPr>
              <a:t> es una rama de la inteligencia artificial (IA) que permite a las computadoras aprender de los datos sin necesidad de ser programadas explícitamente. Se basa en algoritmos que </a:t>
            </a:r>
            <a:r>
              <a:rPr b="1" lang="es" sz="1800">
                <a:solidFill>
                  <a:schemeClr val="dk1"/>
                </a:solidFill>
              </a:rPr>
              <a:t>identifican patrones, hacen predicciones y mejoran su desempeño con el tiempo</a:t>
            </a:r>
            <a:r>
              <a:rPr lang="es" sz="1800">
                <a:solidFill>
                  <a:schemeClr val="dk1"/>
                </a:solidFill>
              </a:rPr>
              <a:t>.</a:t>
            </a:r>
            <a:endParaRPr sz="1800">
              <a:solidFill>
                <a:schemeClr val="dk1"/>
              </a:solidFill>
            </a:endParaRPr>
          </a:p>
        </p:txBody>
      </p:sp>
      <p:sp>
        <p:nvSpPr>
          <p:cNvPr id="64" name="Google Shape;64;g33ef33d4d85_0_64"/>
          <p:cNvSpPr txBox="1"/>
          <p:nvPr/>
        </p:nvSpPr>
        <p:spPr>
          <a:xfrm>
            <a:off x="2828150" y="155400"/>
            <a:ext cx="2610600" cy="42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Machine</a:t>
            </a:r>
            <a:endParaRPr b="1"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g2d8fa948c4e_0_2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0" name="Google Shape;70;g2d8fa948c4e_0_25"/>
          <p:cNvSpPr txBox="1"/>
          <p:nvPr/>
        </p:nvSpPr>
        <p:spPr>
          <a:xfrm>
            <a:off x="42300" y="683725"/>
            <a:ext cx="9059400" cy="438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 sz="1800">
                <a:solidFill>
                  <a:schemeClr val="dk1"/>
                </a:solidFill>
              </a:rPr>
              <a:t>¿Cómo funciona el Machine Learning?</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Recolección de datos:</a:t>
            </a:r>
            <a:r>
              <a:rPr lang="es" sz="1800">
                <a:solidFill>
                  <a:schemeClr val="dk1"/>
                </a:solidFill>
              </a:rPr>
              <a:t> Se obtiene información de bases de datos, sensores, imágenes, texto, etc.</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Preprocesamiento:</a:t>
            </a:r>
            <a:r>
              <a:rPr lang="es" sz="1800">
                <a:solidFill>
                  <a:schemeClr val="dk1"/>
                </a:solidFill>
              </a:rPr>
              <a:t> Se limpia y organiza la información para eliminar datos irrelevantes o inconsistentes.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Selección de modelo:</a:t>
            </a:r>
            <a:r>
              <a:rPr lang="es" sz="1800">
                <a:solidFill>
                  <a:schemeClr val="dk1"/>
                </a:solidFill>
              </a:rPr>
              <a:t> Se elige el algoritmo adecuado según el problema.</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Entrenamiento del modelo:</a:t>
            </a:r>
            <a:r>
              <a:rPr lang="es" sz="1800">
                <a:solidFill>
                  <a:schemeClr val="dk1"/>
                </a:solidFill>
              </a:rPr>
              <a:t> Se alimenta con datos históricos para que aprenda.</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Evaluación y ajuste: </a:t>
            </a:r>
            <a:r>
              <a:rPr lang="es" sz="1800">
                <a:solidFill>
                  <a:schemeClr val="dk1"/>
                </a:solidFill>
              </a:rPr>
              <a:t>Se prueban los resultados y se ajustan los parámetros para mejorar la precisión.</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Implementación y uso:</a:t>
            </a:r>
            <a:r>
              <a:rPr lang="es" sz="1800">
                <a:solidFill>
                  <a:schemeClr val="dk1"/>
                </a:solidFill>
              </a:rPr>
              <a:t> El modelo se usa en la vida real para hacer predicciones o automatizar tareas.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g2d8fa948c4e_0_2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6" name="Google Shape;76;g2d8fa948c4e_0_29"/>
          <p:cNvSpPr txBox="1"/>
          <p:nvPr/>
        </p:nvSpPr>
        <p:spPr>
          <a:xfrm>
            <a:off x="46625" y="256400"/>
            <a:ext cx="9043800" cy="477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 sz="1800">
                <a:solidFill>
                  <a:schemeClr val="dk1"/>
                </a:solidFill>
              </a:rPr>
              <a:t>Tipos de Machine Learning</a:t>
            </a:r>
            <a:endParaRPr b="1" sz="1800">
              <a:solidFill>
                <a:schemeClr val="dk1"/>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just">
              <a:spcBef>
                <a:spcPts val="0"/>
              </a:spcBef>
              <a:spcAft>
                <a:spcPts val="0"/>
              </a:spcAft>
              <a:buNone/>
            </a:pPr>
            <a:r>
              <a:rPr b="1" lang="es" sz="1800">
                <a:solidFill>
                  <a:schemeClr val="dk1"/>
                </a:solidFill>
              </a:rPr>
              <a:t>Aprendizaje Supervisado:</a:t>
            </a:r>
            <a:r>
              <a:rPr lang="es" sz="1800">
                <a:solidFill>
                  <a:schemeClr val="dk1"/>
                </a:solidFill>
              </a:rPr>
              <a:t> Se entrena con datos etiquetados (Ejemplo: Predecir si un correo es spam o no).Es decir, el algoritmo recibe ejemplos con entradas y salidas correctas, permitiéndole </a:t>
            </a:r>
            <a:r>
              <a:rPr b="1" lang="es" sz="1800">
                <a:solidFill>
                  <a:schemeClr val="dk1"/>
                </a:solidFill>
              </a:rPr>
              <a:t>aprender patrones y hacer predicciones</a:t>
            </a:r>
            <a:r>
              <a:rPr lang="es" sz="1800">
                <a:solidFill>
                  <a:schemeClr val="dk1"/>
                </a:solidFill>
              </a:rPr>
              <a:t> en nuevos datos. Algoritmos: Regresión Lineal y Logística, Árboles de Decisión y Random Forest..etc.</a:t>
            </a:r>
            <a:endParaRPr sz="1800">
              <a:solidFill>
                <a:schemeClr val="dk1"/>
              </a:solidFill>
            </a:endParaRPr>
          </a:p>
          <a:p>
            <a:pPr indent="0" lvl="0" marL="0" rtl="0" algn="just">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s" sz="1800">
                <a:solidFill>
                  <a:schemeClr val="dk1"/>
                </a:solidFill>
              </a:rPr>
              <a:t>Aprendizaje No Supervisado:</a:t>
            </a:r>
            <a:r>
              <a:rPr lang="es" sz="1800">
                <a:solidFill>
                  <a:schemeClr val="dk1"/>
                </a:solidFill>
              </a:rPr>
              <a:t> Descubre patrones sin etiquetas previas, En </a:t>
            </a:r>
            <a:r>
              <a:rPr lang="es" sz="1100">
                <a:solidFill>
                  <a:schemeClr val="dk1"/>
                </a:solidFill>
              </a:rPr>
              <a:t> </a:t>
            </a:r>
            <a:r>
              <a:rPr lang="es" sz="1800">
                <a:solidFill>
                  <a:schemeClr val="dk1"/>
                </a:solidFill>
              </a:rPr>
              <a:t>este caso, el sistema analiza los datos y </a:t>
            </a:r>
            <a:r>
              <a:rPr b="1" lang="es" sz="1800">
                <a:solidFill>
                  <a:schemeClr val="dk1"/>
                </a:solidFill>
              </a:rPr>
              <a:t>descubre estructuras, agrupaciones o asociaciones por sí mismo</a:t>
            </a:r>
            <a:r>
              <a:rPr lang="es" sz="1800">
                <a:solidFill>
                  <a:schemeClr val="dk1"/>
                </a:solidFill>
              </a:rPr>
              <a:t>. (Ejemplo: Agrupación de clientes por comportamiento).</a:t>
            </a:r>
            <a:endParaRPr sz="1800">
              <a:solidFill>
                <a:schemeClr val="dk1"/>
              </a:solidFill>
            </a:endParaRPr>
          </a:p>
          <a:p>
            <a:pPr indent="0" lvl="0" marL="0" rtl="0" algn="l">
              <a:spcBef>
                <a:spcPts val="0"/>
              </a:spcBef>
              <a:spcAft>
                <a:spcPts val="0"/>
              </a:spcAft>
              <a:buNone/>
            </a:pPr>
            <a:r>
              <a:rPr lang="es" sz="1800">
                <a:solidFill>
                  <a:schemeClr val="dk1"/>
                </a:solidFill>
              </a:rPr>
              <a:t>Algoritmos: K-Means, DBSCAN, Autoencoders.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g2d8fa948c4e_0_1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2" name="Google Shape;82;g2d8fa948c4e_0_17"/>
          <p:cNvSpPr txBox="1"/>
          <p:nvPr/>
        </p:nvSpPr>
        <p:spPr>
          <a:xfrm>
            <a:off x="46625" y="776975"/>
            <a:ext cx="9012900" cy="4296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 sz="1800">
                <a:solidFill>
                  <a:schemeClr val="dk1"/>
                </a:solidFill>
              </a:rPr>
              <a:t>Aprendizaje por Refuerzo:</a:t>
            </a:r>
            <a:r>
              <a:rPr lang="es" sz="1800">
                <a:solidFill>
                  <a:schemeClr val="dk1"/>
                </a:solidFill>
              </a:rPr>
              <a:t> Aprende a tomar decisiones mediante prueba y error, optimizando sus acciones para </a:t>
            </a:r>
            <a:r>
              <a:rPr b="1" lang="es" sz="1800">
                <a:solidFill>
                  <a:schemeClr val="dk1"/>
                </a:solidFill>
              </a:rPr>
              <a:t>maximizar una recompensa acumulada</a:t>
            </a:r>
            <a:r>
              <a:rPr lang="es" sz="1800">
                <a:solidFill>
                  <a:schemeClr val="dk1"/>
                </a:solidFill>
              </a:rPr>
              <a:t> a largo plazo. (Ejemplo: Un robot aprendiendo a caminar).</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b="1" lang="es" sz="1800">
                <a:solidFill>
                  <a:schemeClr val="dk1"/>
                </a:solidFill>
              </a:rPr>
              <a:t>Componentes del Aprendizaje por Refuerzo.</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1. Agente: El sistema que aprende y toma decisiones.</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2. Entorno: El contexto en el que opera el agente.</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3. Acciones: Opciones que el agente puede tomar.</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4. Recompensa: Puntos positivos o negativos según la acción tomada.</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5. Política: Estrategia que el agente usa para elegir acciones.</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6. Valor de Estado: Evaluación del beneficio esperado de cada estado.</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g2d8fa948c4e_0_3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8" name="Google Shape;88;g2d8fa948c4e_0_33"/>
          <p:cNvSpPr txBox="1"/>
          <p:nvPr/>
        </p:nvSpPr>
        <p:spPr>
          <a:xfrm>
            <a:off x="54375" y="909050"/>
            <a:ext cx="8997300" cy="418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chemeClr val="dk1"/>
              </a:solidFill>
            </a:endParaRPr>
          </a:p>
          <a:p>
            <a:pPr indent="457200" lvl="0" marL="0" rtl="0" algn="l">
              <a:spcBef>
                <a:spcPts val="0"/>
              </a:spcBef>
              <a:spcAft>
                <a:spcPts val="0"/>
              </a:spcAft>
              <a:buNone/>
            </a:pPr>
            <a:r>
              <a:rPr b="1" lang="es" sz="1800">
                <a:solidFill>
                  <a:schemeClr val="dk1"/>
                </a:solidFill>
              </a:rPr>
              <a:t>Aplicaciones del Machine Learning</a:t>
            </a:r>
            <a:endParaRPr b="1" sz="1800">
              <a:solidFill>
                <a:schemeClr val="dk1"/>
              </a:solidFill>
            </a:endParaRPr>
          </a:p>
          <a:p>
            <a:pPr indent="0" lvl="0" marL="0" rtl="0" algn="l">
              <a:spcBef>
                <a:spcPts val="0"/>
              </a:spcBef>
              <a:spcAft>
                <a:spcPts val="0"/>
              </a:spcAft>
              <a:buClr>
                <a:schemeClr val="dk1"/>
              </a:buClr>
              <a:buSzPts val="1100"/>
              <a:buFont typeface="Arial"/>
              <a:buNone/>
            </a:pPr>
            <a:r>
              <a:t/>
            </a:r>
            <a:endParaRPr b="1"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Reconocimiento de voz y texto (Siri, Alexa, Chatbots).</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Recomendaciones de productos (Netflix, Amazon, Spotify).</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Detección de fraudes en tarjetas de crédito.</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Vehículos autónomos y visión por computadora.</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Predicción de enfermedades en el sector salud.</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Automatización en procesos industriales.</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g2dcf99f76a9_0_3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4" name="Google Shape;94;g2dcf99f76a9_0_39"/>
          <p:cNvSpPr txBox="1"/>
          <p:nvPr/>
        </p:nvSpPr>
        <p:spPr>
          <a:xfrm>
            <a:off x="7775" y="745875"/>
            <a:ext cx="9082800" cy="4397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es" sz="1800">
                <a:solidFill>
                  <a:schemeClr val="dk1"/>
                </a:solidFill>
              </a:rPr>
              <a:t>Machine Learning con TensorFlow</a:t>
            </a:r>
            <a:endParaRPr b="1" sz="1800">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rPr b="1" lang="es" sz="1800">
                <a:solidFill>
                  <a:schemeClr val="dk1"/>
                </a:solidFill>
              </a:rPr>
              <a:t>TensorFlow</a:t>
            </a:r>
            <a:r>
              <a:rPr lang="es" sz="1800">
                <a:solidFill>
                  <a:schemeClr val="dk1"/>
                </a:solidFill>
              </a:rPr>
              <a:t> es una biblioteca de código abierto desarrollada por </a:t>
            </a:r>
            <a:r>
              <a:rPr b="1" lang="es" sz="1800">
                <a:solidFill>
                  <a:schemeClr val="dk1"/>
                </a:solidFill>
              </a:rPr>
              <a:t>Google</a:t>
            </a:r>
            <a:r>
              <a:rPr lang="es" sz="1800">
                <a:solidFill>
                  <a:schemeClr val="dk1"/>
                </a:solidFill>
              </a:rPr>
              <a:t> para crear modelos de </a:t>
            </a:r>
            <a:r>
              <a:rPr b="1" lang="es" sz="1800">
                <a:solidFill>
                  <a:schemeClr val="dk1"/>
                </a:solidFill>
              </a:rPr>
              <a:t>Machine Learning e Inteligencia Artificial</a:t>
            </a:r>
            <a:r>
              <a:rPr lang="es" sz="1800">
                <a:solidFill>
                  <a:schemeClr val="dk1"/>
                </a:solidFill>
              </a:rPr>
              <a:t>. Es ampliamente utilizada en </a:t>
            </a:r>
            <a:r>
              <a:rPr b="1" lang="es" sz="1800">
                <a:solidFill>
                  <a:schemeClr val="dk1"/>
                </a:solidFill>
              </a:rPr>
              <a:t>aprendizaje automático supervisado, no supervisado y aprendizaje profundo (Deep Learning).</a:t>
            </a:r>
            <a:endParaRPr b="1" sz="18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b="1" sz="1800">
              <a:solidFill>
                <a:schemeClr val="dk1"/>
              </a:solidFill>
            </a:endParaRPr>
          </a:p>
          <a:p>
            <a:pPr indent="0" lvl="0" marL="0" rtl="0" algn="just">
              <a:spcBef>
                <a:spcPts val="0"/>
              </a:spcBef>
              <a:spcAft>
                <a:spcPts val="0"/>
              </a:spcAft>
              <a:buClr>
                <a:schemeClr val="dk1"/>
              </a:buClr>
              <a:buSzPts val="1100"/>
              <a:buFont typeface="Arial"/>
              <a:buNone/>
            </a:pPr>
            <a:r>
              <a:rPr b="1" lang="es" sz="1800">
                <a:solidFill>
                  <a:schemeClr val="dk1"/>
                </a:solidFill>
              </a:rPr>
              <a:t>Aplicaciones de TensorFlow.</a:t>
            </a:r>
            <a:endParaRPr b="1" sz="1800">
              <a:solidFill>
                <a:schemeClr val="dk1"/>
              </a:solidFill>
            </a:endParaRPr>
          </a:p>
          <a:p>
            <a:pPr indent="0" lvl="0" marL="0" rtl="0" algn="just">
              <a:spcBef>
                <a:spcPts val="0"/>
              </a:spcBef>
              <a:spcAft>
                <a:spcPts val="0"/>
              </a:spcAft>
              <a:buClr>
                <a:schemeClr val="dk1"/>
              </a:buClr>
              <a:buSzPts val="1100"/>
              <a:buFont typeface="Arial"/>
              <a:buNone/>
            </a:pPr>
            <a:r>
              <a:t/>
            </a:r>
            <a:endParaRPr b="1"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Clasificación de imágenes: Reconocimiento facial, diagnóstico médico.</a:t>
            </a:r>
            <a:endParaRPr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Procesamiento de lenguaje natural (NLP): Chatbots, análisis de sentimientos.</a:t>
            </a:r>
            <a:endParaRPr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Predicción de series de tiempo: Previsión de ventas, clima, mercados financieros.</a:t>
            </a:r>
            <a:endParaRPr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Robótica e inteligencia artificial: Control autónomo de robots.</a:t>
            </a:r>
            <a:endParaRPr sz="18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b="1"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g2d8fa948c4e_0_4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0" name="Google Shape;100;g2d8fa948c4e_0_41"/>
          <p:cNvSpPr txBox="1"/>
          <p:nvPr/>
        </p:nvSpPr>
        <p:spPr>
          <a:xfrm>
            <a:off x="3160650" y="462175"/>
            <a:ext cx="2452500" cy="43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Sistemas Inteligentes</a:t>
            </a:r>
            <a:endParaRPr b="0" i="0" sz="1800" u="none" cap="none" strike="noStrike">
              <a:solidFill>
                <a:srgbClr val="000000"/>
              </a:solidFill>
              <a:latin typeface="Arial"/>
              <a:ea typeface="Arial"/>
              <a:cs typeface="Arial"/>
              <a:sym typeface="Arial"/>
            </a:endParaRPr>
          </a:p>
        </p:txBody>
      </p:sp>
      <p:sp>
        <p:nvSpPr>
          <p:cNvPr id="101" name="Google Shape;101;g2d8fa948c4e_0_41"/>
          <p:cNvSpPr txBox="1"/>
          <p:nvPr/>
        </p:nvSpPr>
        <p:spPr>
          <a:xfrm>
            <a:off x="123550" y="1375150"/>
            <a:ext cx="9012000" cy="1997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Un agente inteligente (IA) es una entidad autónoma que observa a través de sensores y actúa so-bre un entorno utilizando actuadores y dirige su actividad hacia el logro de objetivos ( es racional). Los agentes inteligentes también pueden aprender o usar el conocimiento para lograr sus objetivos. Los agen-tes inteligentes en inteligencia artificial están estrechamente relacionados con los agentes en economía, y las versiones del paradigma del agente inteligente se estudian en ciencias cognitivas, ética, filosofía de la razón práctica, así como en muchos modelos sociocognitivos interdisciplinarios y simulaciones sociales informáticas. Un sistema de múltiples agentes (MAS) es un sistema compuesto por múltiples agentes inteligentes que interactúan.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g2d8fa948c4e_0_3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7" name="Google Shape;107;g2d8fa948c4e_0_37"/>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 name="Google Shape;108;g2d8fa948c4e_0_37"/>
          <p:cNvSpPr txBox="1"/>
          <p:nvPr/>
        </p:nvSpPr>
        <p:spPr>
          <a:xfrm>
            <a:off x="123250" y="893500"/>
            <a:ext cx="9012300" cy="3783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rgbClr val="000000"/>
                </a:solidFill>
                <a:latin typeface="Arial"/>
                <a:ea typeface="Arial"/>
                <a:cs typeface="Arial"/>
                <a:sym typeface="Arial"/>
              </a:rPr>
              <a:t>Los sistemas de múltiples agentes se pueden usar para resolver problemas que son difíciles o imposibles de resolver para un agente individual o un sistema monolítico. Los sistemas de múltiples agentes consisten en agentes y su entorno. Sin embargo, los agentes en un sistema de múltiples agentes también podrían ser robots, humanos o equipos humanos.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rgbClr val="000000"/>
                </a:solidFill>
                <a:latin typeface="Arial"/>
                <a:ea typeface="Arial"/>
                <a:cs typeface="Arial"/>
                <a:sym typeface="Arial"/>
              </a:rPr>
              <a:t>Los agentes de IA pueden ser desde sistemas sencillos que siguen reglas predefinidas hasta entidades complejas y autónomas que aprenden y se adaptan en función de su experiencia. Se utilizan en diversos campos, como la robótica, los juegos, los asistentes virtuales y los vehículos autónomos, entre otros. Estos agentes pueden ser reactivos (responden estímulos), deliberativos (planifican y toman decisiones) o incluso tener capacidad de aprendizaje (adaptan su comportamiento en función de datos y experiencias).</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g339a09cea51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4" name="Google Shape;114;g339a09cea51_0_0"/>
          <p:cNvSpPr txBox="1"/>
          <p:nvPr/>
        </p:nvSpPr>
        <p:spPr>
          <a:xfrm>
            <a:off x="3264975" y="402500"/>
            <a:ext cx="2288400" cy="34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Función de agente</a:t>
            </a:r>
            <a:endParaRPr b="0" i="0" sz="1800" u="none" cap="none" strike="noStrike">
              <a:solidFill>
                <a:srgbClr val="000000"/>
              </a:solidFill>
              <a:latin typeface="Arial"/>
              <a:ea typeface="Arial"/>
              <a:cs typeface="Arial"/>
              <a:sym typeface="Arial"/>
            </a:endParaRPr>
          </a:p>
        </p:txBody>
      </p:sp>
      <p:sp>
        <p:nvSpPr>
          <p:cNvPr id="115" name="Google Shape;115;g339a09cea51_0_0"/>
          <p:cNvSpPr txBox="1"/>
          <p:nvPr/>
        </p:nvSpPr>
        <p:spPr>
          <a:xfrm>
            <a:off x="8525" y="1833775"/>
            <a:ext cx="9127200" cy="2711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rgbClr val="000000"/>
                </a:solidFill>
                <a:latin typeface="Arial"/>
                <a:ea typeface="Arial"/>
                <a:cs typeface="Arial"/>
                <a:sym typeface="Arial"/>
              </a:rPr>
              <a:t>La función del agente es el núcleo de un agente de IA. Define cómo el agente traduce los datos que ha recopilado en acciones. En otras palabras, la función de agente permite a la IA determinar qué acciones debe emprender basándose en la información que ha recopilado. Aquí es donde reside la "inteligencia" del agente, ya que implica razonar y seleccionar acciones para alcanzar sus objetivos.Esto según el mapeo de cada secuencia posible de percepciones a una acción posible que el agente puede realizar a un coeficiente, elemento de retroalimentación, función o constante que afecta las acciones eventuales:</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g339a09cea51_0_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1" name="Google Shape;121;g339a09cea51_0_5"/>
          <p:cNvSpPr txBox="1"/>
          <p:nvPr/>
        </p:nvSpPr>
        <p:spPr>
          <a:xfrm>
            <a:off x="3525875" y="387625"/>
            <a:ext cx="1610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000000"/>
                </a:solidFill>
              </a:rPr>
              <a:t>Percep</a:t>
            </a:r>
            <a:r>
              <a:rPr b="1" lang="es" sz="1800">
                <a:solidFill>
                  <a:srgbClr val="000000"/>
                </a:solidFill>
              </a:rPr>
              <a:t>tos</a:t>
            </a:r>
            <a:endParaRPr b="1" i="0" sz="1800" u="none" cap="none" strike="noStrike">
              <a:solidFill>
                <a:srgbClr val="000000"/>
              </a:solidFill>
            </a:endParaRPr>
          </a:p>
        </p:txBody>
      </p:sp>
      <p:sp>
        <p:nvSpPr>
          <p:cNvPr id="122" name="Google Shape;122;g339a09cea51_0_5"/>
          <p:cNvSpPr txBox="1"/>
          <p:nvPr/>
        </p:nvSpPr>
        <p:spPr>
          <a:xfrm>
            <a:off x="29825" y="1036150"/>
            <a:ext cx="9034800" cy="4032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Los perceptos son las entradas sensoriales que el agente de IA recibe de su entorno. Proporcionan información sobre el estado actual del entorno observable en el que opera el agente. Por ejemplo, si el agente de IA es un chatbot de atención al cliente, los perceptos pueden incluir: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Mensajes de usuario</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Información sobre el perfil del usuario</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Ubicación del usuario</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Historia del chat</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Preferencias lingüísticas</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Fecha y hora</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Preferencias del usuario</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Reconocimiento de las emociones del usuario</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g339a09cea51_0_1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8" name="Google Shape;128;g339a09cea51_0_10"/>
          <p:cNvSpPr txBox="1"/>
          <p:nvPr/>
        </p:nvSpPr>
        <p:spPr>
          <a:xfrm>
            <a:off x="2698475" y="275800"/>
            <a:ext cx="2840100" cy="54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595959"/>
                </a:solidFill>
                <a:latin typeface="Arial"/>
                <a:ea typeface="Arial"/>
                <a:cs typeface="Arial"/>
                <a:sym typeface="Arial"/>
              </a:rPr>
              <a:t>Base de conocimientos</a:t>
            </a:r>
            <a:endParaRPr b="1" i="0" sz="1800" u="none" cap="none" strike="noStrike">
              <a:solidFill>
                <a:srgbClr val="595959"/>
              </a:solidFill>
              <a:latin typeface="Arial"/>
              <a:ea typeface="Arial"/>
              <a:cs typeface="Arial"/>
              <a:sym typeface="Arial"/>
            </a:endParaRPr>
          </a:p>
        </p:txBody>
      </p:sp>
      <p:sp>
        <p:nvSpPr>
          <p:cNvPr id="129" name="Google Shape;129;g339a09cea51_0_10"/>
          <p:cNvSpPr txBox="1"/>
          <p:nvPr/>
        </p:nvSpPr>
        <p:spPr>
          <a:xfrm>
            <a:off x="151500" y="1848675"/>
            <a:ext cx="8841000" cy="2385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rgbClr val="000000"/>
                </a:solidFill>
                <a:latin typeface="Arial"/>
                <a:ea typeface="Arial"/>
                <a:cs typeface="Arial"/>
                <a:sym typeface="Arial"/>
              </a:rPr>
              <a:t>La base de conocimientos es donde el agente de IA almacena sus conocimientos iniciales sobre el entorno. Este conocimiento suele estar predefinido o se aprende durante el entrenamiento. Sirve de base para el proceso de toma de decisiones del agente. Por ejemplo, un vehículo auto conducido puede tener una base de conocimientos con información sobre las normas de circulación, mientras que un agente autónomo de atención al cliente tiene acceso a información detallada sobre los productos de una empresa.</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g34156db3297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5" name="Google Shape;135;g34156db3297_0_0"/>
          <p:cNvSpPr txBox="1"/>
          <p:nvPr/>
        </p:nvSpPr>
        <p:spPr>
          <a:xfrm>
            <a:off x="2571750" y="268350"/>
            <a:ext cx="3504000" cy="4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000000"/>
                </a:solidFill>
              </a:rPr>
              <a:t>Tipos de agentes inteligentes</a:t>
            </a:r>
            <a:endParaRPr b="1" i="0" sz="1800" u="none" cap="none" strike="noStrike">
              <a:solidFill>
                <a:srgbClr val="000000"/>
              </a:solidFill>
            </a:endParaRPr>
          </a:p>
        </p:txBody>
      </p:sp>
      <p:sp>
        <p:nvSpPr>
          <p:cNvPr id="136" name="Google Shape;136;g34156db3297_0_0"/>
          <p:cNvSpPr txBox="1"/>
          <p:nvPr/>
        </p:nvSpPr>
        <p:spPr>
          <a:xfrm>
            <a:off x="8450" y="1359675"/>
            <a:ext cx="8945400" cy="3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s" sz="1800" u="none" cap="none" strike="noStrike">
                <a:solidFill>
                  <a:srgbClr val="000000"/>
                </a:solidFill>
                <a:latin typeface="Arial"/>
                <a:ea typeface="Arial"/>
                <a:cs typeface="Arial"/>
                <a:sym typeface="Arial"/>
              </a:rPr>
              <a:t>Agentes reflejos simples</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Trabajan únicamente sobre la percepción actual, sin considerar el histórico de sensaciones. Por ello, solamente tienen éxito cuándo están ante un entorno que puede percibirse en su totalidad.</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s" sz="1800" u="none" cap="none" strike="noStrike">
                <a:solidFill>
                  <a:srgbClr val="000000"/>
                </a:solidFill>
                <a:latin typeface="Arial"/>
                <a:ea typeface="Arial"/>
                <a:cs typeface="Arial"/>
                <a:sym typeface="Arial"/>
              </a:rPr>
              <a:t>Agentes reflejos basados en modelos</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Este tipo de agentes sí consideran el historial y, por lo tanto, pueden actuar en un escenario que no se observa por completo, teniendo así una visión más completa del mismo.</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g34156db3297_0_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2" name="Google Shape;142;g34156db3297_0_6"/>
          <p:cNvSpPr txBox="1"/>
          <p:nvPr/>
        </p:nvSpPr>
        <p:spPr>
          <a:xfrm>
            <a:off x="8450" y="567175"/>
            <a:ext cx="9042000" cy="4576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s" sz="1800" u="none" cap="none" strike="noStrike">
                <a:solidFill>
                  <a:srgbClr val="000000"/>
                </a:solidFill>
                <a:latin typeface="Arial"/>
                <a:ea typeface="Arial"/>
                <a:cs typeface="Arial"/>
                <a:sym typeface="Arial"/>
              </a:rPr>
              <a:t>Agentes basados en metas</a:t>
            </a:r>
            <a:endParaRPr b="1"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Como su nombre indica, este agente tiene un objetivo fijado, lo que hará que elija la mejor opción entre las que estén disponibles para alcanzar su propósito.</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s" sz="1800" u="none" cap="none" strike="noStrike">
                <a:solidFill>
                  <a:srgbClr val="000000"/>
                </a:solidFill>
                <a:latin typeface="Arial"/>
                <a:ea typeface="Arial"/>
                <a:cs typeface="Arial"/>
                <a:sym typeface="Arial"/>
              </a:rPr>
              <a:t>Agentes basados en la utilidad</a:t>
            </a:r>
            <a:endParaRPr b="1"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Son parecidos a los agentes orientados a metas, pero cuentan con la ventaja de proporcionar una medida sobre la utilidad de la acción. De esta forma, el agente estudia también el beneficio de la operación a la hora de tomar su decisión, permitiendo así compensar diferentes factores.</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Por ejemplo, el objetivo de una tienda puede ser la obtención de beneficios sobre las ventas, pero la función de utilidad reconoce que la satisfacción al cliente también debe tenerse en cuenta al buscar esa ganancia. El hecho de establecer la utilidad como un número real (satisfacción del cliente en una escala de uno al diez), el agente inteligente es capaz de definir los escenarios del mundo real en función de esa conveniencia.</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g34156db3297_0_1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8" name="Google Shape;148;g34156db3297_0_12"/>
          <p:cNvSpPr txBox="1"/>
          <p:nvPr/>
        </p:nvSpPr>
        <p:spPr>
          <a:xfrm>
            <a:off x="54600" y="707050"/>
            <a:ext cx="9034800" cy="4187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s" sz="1800" u="none" cap="none" strike="noStrike">
                <a:solidFill>
                  <a:srgbClr val="000000"/>
                </a:solidFill>
                <a:latin typeface="Arial"/>
                <a:ea typeface="Arial"/>
                <a:cs typeface="Arial"/>
                <a:sym typeface="Arial"/>
              </a:rPr>
              <a:t>Agentes que aprenden</a:t>
            </a:r>
            <a:endParaRPr b="1"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rgbClr val="000000"/>
                </a:solidFill>
                <a:latin typeface="Arial"/>
                <a:ea typeface="Arial"/>
                <a:cs typeface="Arial"/>
                <a:sym typeface="Arial"/>
              </a:rPr>
              <a:t>El elemento adicional del aprendizaje implica que estos agentes pueden mejorar gradualmente y adquirir más conocimientos de un entorno con el tiempo. Se trata de un sistema altamente complejo que está programado para interactuar con el mundo real y cumplir determinados objetivos, relacionándose con ambientes que no conoce.El aprendizaje profundo y las redes neuronales se utilizan a menudo en el desarrollo de agentes de aprendizaje.</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1" i="0" lang="es" sz="1800" u="none" cap="none" strike="noStrike">
                <a:solidFill>
                  <a:srgbClr val="000000"/>
                </a:solidFill>
                <a:latin typeface="Arial"/>
                <a:ea typeface="Arial"/>
                <a:cs typeface="Arial"/>
                <a:sym typeface="Arial"/>
              </a:rPr>
              <a:t>Agentes de creencia-deseo-intención</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Estos agentes modelan un comportamiento similar al humano manteniendo creencias sobre el entorno, deseos e intenciones. Pueden razonar y planificar sus acciones en consecuencia, lo que los hace adecuados para sistemas complejos.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g34156db3297_0_1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4" name="Google Shape;154;g34156db3297_0_18"/>
          <p:cNvSpPr txBox="1"/>
          <p:nvPr/>
        </p:nvSpPr>
        <p:spPr>
          <a:xfrm>
            <a:off x="2455200" y="194250"/>
            <a:ext cx="3589500" cy="49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55" name="Google Shape;155;g34156db3297_0_18"/>
          <p:cNvSpPr txBox="1"/>
          <p:nvPr/>
        </p:nvSpPr>
        <p:spPr>
          <a:xfrm>
            <a:off x="2400825" y="223625"/>
            <a:ext cx="36522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000000"/>
                </a:solidFill>
              </a:rPr>
              <a:t>Beneficios de los agentes de IA</a:t>
            </a:r>
            <a:endParaRPr b="1" i="0" sz="1800" u="none" cap="none" strike="noStrike">
              <a:solidFill>
                <a:srgbClr val="000000"/>
              </a:solidFill>
            </a:endParaRPr>
          </a:p>
        </p:txBody>
      </p:sp>
      <p:sp>
        <p:nvSpPr>
          <p:cNvPr id="156" name="Google Shape;156;g34156db3297_0_18"/>
          <p:cNvSpPr txBox="1"/>
          <p:nvPr/>
        </p:nvSpPr>
        <p:spPr>
          <a:xfrm>
            <a:off x="29825" y="991425"/>
            <a:ext cx="9042000" cy="2609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Asistencia personal y chatbots: Los agentes de IA pueden ayudar a las personas a realizar tareas cotidianas, como programar citas, responder preguntas y ofrecer recomendaciones personalizadas.</a:t>
            </a:r>
            <a:endParaRPr b="0" i="0" sz="1800" u="none" cap="none" strike="noStrike">
              <a:solidFill>
                <a:srgbClr val="000000"/>
              </a:solidFill>
              <a:latin typeface="Arial"/>
              <a:ea typeface="Arial"/>
              <a:cs typeface="Arial"/>
              <a:sym typeface="Arial"/>
            </a:endParaRPr>
          </a:p>
          <a:p>
            <a:pPr indent="-342900" lvl="1" marL="914400" marR="0" rtl="0" algn="l">
              <a:lnSpc>
                <a:spcPct val="100000"/>
              </a:lnSpc>
              <a:spcBef>
                <a:spcPts val="0"/>
              </a:spcBef>
              <a:spcAft>
                <a:spcPts val="0"/>
              </a:spcAft>
              <a:buClr>
                <a:srgbClr val="000000"/>
              </a:buClr>
              <a:buSzPts val="1800"/>
              <a:buFont typeface="Arial"/>
              <a:buChar char="○"/>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Automatización y optimización de procesos empresariales: Los agentes de IA pueden mejorar la eficiencia en los negocios al automatizar tareas repetitivas y optimizar el uso de recursos.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 name="Google Shape;157;g34156db3297_0_18"/>
          <p:cNvSpPr txBox="1"/>
          <p:nvPr/>
        </p:nvSpPr>
        <p:spPr>
          <a:xfrm>
            <a:off x="178700" y="4584075"/>
            <a:ext cx="53223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chemeClr val="hlink"/>
                </a:solidFill>
                <a:hlinkClick r:id="rId4"/>
              </a:rPr>
              <a:t>https://www.youtube.com/watch?v=2v6ipqgFk6s</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g34156db3297_0_2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3" name="Google Shape;163;g34156db3297_0_24"/>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es" sz="1800">
                <a:solidFill>
                  <a:schemeClr val="dk1"/>
                </a:solidFill>
              </a:rPr>
              <a:t>Herramientas de Visualización de Datos</a:t>
            </a:r>
            <a:endParaRPr b="1" i="0" sz="1800" u="none" cap="none" strike="noStrike">
              <a:solidFill>
                <a:schemeClr val="dk1"/>
              </a:solidFill>
              <a:latin typeface="Arial"/>
              <a:ea typeface="Arial"/>
              <a:cs typeface="Arial"/>
              <a:sym typeface="Arial"/>
            </a:endParaRPr>
          </a:p>
        </p:txBody>
      </p:sp>
      <p:sp>
        <p:nvSpPr>
          <p:cNvPr id="164" name="Google Shape;164;g34156db3297_0_24"/>
          <p:cNvSpPr txBox="1"/>
          <p:nvPr/>
        </p:nvSpPr>
        <p:spPr>
          <a:xfrm>
            <a:off x="8450" y="1111050"/>
            <a:ext cx="9089700" cy="2400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Las plataformas de visualización de datos proporcionan integración de datos, diseño de visualizaciones, interactividad y exploración, creación de paneles y generación de informes, colaboración y uso compartido, conectividad, rendimiento y escalabilidad, seguridad y gobernanza de datos, exploración, análisis y presentación de datos.</a:t>
            </a:r>
            <a:endParaRPr sz="1800">
              <a:solidFill>
                <a:schemeClr val="dk1"/>
              </a:solidFill>
            </a:endParaRPr>
          </a:p>
          <a:p>
            <a:pPr indent="0" lvl="0" marL="0" rtl="0" algn="just">
              <a:spcBef>
                <a:spcPts val="0"/>
              </a:spcBef>
              <a:spcAft>
                <a:spcPts val="0"/>
              </a:spcAft>
              <a:buNone/>
            </a:pPr>
            <a:r>
              <a:rPr lang="es" sz="1800">
                <a:solidFill>
                  <a:schemeClr val="dk1"/>
                </a:solidFill>
              </a:rPr>
              <a:t>Estas herramientas son esenciales para ayudar a los usuarios a comprender los datos, tomar decisiones inteligentes y comunicar eficazmente sus hallazgos.</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g34326848042_0_5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0" name="Google Shape;170;g34326848042_0_52"/>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71" name="Google Shape;171;g34326848042_0_52"/>
          <p:cNvSpPr txBox="1"/>
          <p:nvPr/>
        </p:nvSpPr>
        <p:spPr>
          <a:xfrm>
            <a:off x="2439675" y="93225"/>
            <a:ext cx="3675000" cy="89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2"/>
                </a:solidFill>
              </a:rPr>
              <a:t>Importancia de las herramientas de visualización de datos </a:t>
            </a:r>
            <a:endParaRPr b="1" sz="1800">
              <a:solidFill>
                <a:schemeClr val="dk2"/>
              </a:solidFill>
            </a:endParaRPr>
          </a:p>
        </p:txBody>
      </p:sp>
      <p:sp>
        <p:nvSpPr>
          <p:cNvPr id="172" name="Google Shape;172;g34326848042_0_52"/>
          <p:cNvSpPr txBox="1"/>
          <p:nvPr/>
        </p:nvSpPr>
        <p:spPr>
          <a:xfrm>
            <a:off x="7775" y="986625"/>
            <a:ext cx="9075000" cy="40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Mejorar la comprensión de los datos.</a:t>
            </a:r>
            <a:endParaRPr b="1" sz="1800">
              <a:solidFill>
                <a:schemeClr val="dk1"/>
              </a:solidFill>
            </a:endParaRPr>
          </a:p>
          <a:p>
            <a:pPr indent="0" lvl="0" marL="0" rtl="0" algn="just">
              <a:spcBef>
                <a:spcPts val="0"/>
              </a:spcBef>
              <a:spcAft>
                <a:spcPts val="0"/>
              </a:spcAft>
              <a:buNone/>
            </a:pPr>
            <a:r>
              <a:rPr lang="es" sz="1800">
                <a:solidFill>
                  <a:schemeClr val="dk1"/>
                </a:solidFill>
              </a:rPr>
              <a:t>Simplifican datos complejos, lo que facilita a las personas identificar patrones, tendencias y relaciones. Las visualizaciones simplifican el análisis de datos.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s" sz="1800">
                <a:solidFill>
                  <a:schemeClr val="dk1"/>
                </a:solidFill>
              </a:rPr>
              <a:t>Mejorar el análisis de datos.</a:t>
            </a:r>
            <a:endParaRPr b="1" sz="1800">
              <a:solidFill>
                <a:schemeClr val="dk1"/>
              </a:solidFill>
            </a:endParaRPr>
          </a:p>
          <a:p>
            <a:pPr indent="0" lvl="0" marL="0" rtl="0" algn="just">
              <a:spcBef>
                <a:spcPts val="0"/>
              </a:spcBef>
              <a:spcAft>
                <a:spcPts val="0"/>
              </a:spcAft>
              <a:buNone/>
            </a:pPr>
            <a:r>
              <a:rPr lang="es" sz="1800">
                <a:solidFill>
                  <a:schemeClr val="dk1"/>
                </a:solidFill>
              </a:rPr>
              <a:t>Estas plataformas cuentan con herramientas interactivas que facilitan a los usuarios analizar y comprender los datos. Los usuarios pueden interactuar con las visualizaciones, filtrar y profundizar en puntos de datos específicos y analizar datos en tiempo real. Facilitan la exploración de datos y la identificación de valores atípicos, correlaciones y otros conocimientos útiles.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g34326848042_0_6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8" name="Google Shape;178;g34326848042_0_60"/>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79" name="Google Shape;179;g34326848042_0_60"/>
          <p:cNvSpPr txBox="1"/>
          <p:nvPr/>
        </p:nvSpPr>
        <p:spPr>
          <a:xfrm>
            <a:off x="7775" y="714775"/>
            <a:ext cx="9075000" cy="43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Mejorar la comunicación y la colaboración.</a:t>
            </a:r>
            <a:endParaRPr b="1" sz="1800">
              <a:solidFill>
                <a:schemeClr val="dk1"/>
              </a:solidFill>
            </a:endParaRPr>
          </a:p>
          <a:p>
            <a:pPr indent="0" lvl="0" marL="0" rtl="0" algn="l">
              <a:spcBef>
                <a:spcPts val="0"/>
              </a:spcBef>
              <a:spcAft>
                <a:spcPts val="0"/>
              </a:spcAft>
              <a:buNone/>
            </a:pPr>
            <a:r>
              <a:rPr lang="es" sz="1800">
                <a:solidFill>
                  <a:schemeClr val="dk1"/>
                </a:solidFill>
              </a:rPr>
              <a:t>Facilitan la compartición de hallazgos de datos entre equipos y departamentos. Las representaciones visuales ayudan a explicar datos complicados, lo que facilita su comprensión y uso por parte de los usuarios. También permiten a múltiples usuarios trabajar juntos en visualizaciones, compartir conocimientos y fomentar una cultura de toma de decisiones basada en datos.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s" sz="1800">
                <a:solidFill>
                  <a:schemeClr val="dk1"/>
                </a:solidFill>
              </a:rPr>
              <a:t>Apoyar conocimientos accionables.</a:t>
            </a:r>
            <a:endParaRPr b="1" sz="1800">
              <a:solidFill>
                <a:schemeClr val="dk1"/>
              </a:solidFill>
            </a:endParaRPr>
          </a:p>
          <a:p>
            <a:pPr indent="0" lvl="0" marL="0" rtl="0" algn="l">
              <a:spcBef>
                <a:spcPts val="0"/>
              </a:spcBef>
              <a:spcAft>
                <a:spcPts val="0"/>
              </a:spcAft>
              <a:buNone/>
            </a:pPr>
            <a:r>
              <a:rPr lang="es" sz="1800">
                <a:solidFill>
                  <a:schemeClr val="dk1"/>
                </a:solidFill>
              </a:rPr>
              <a:t>Ayudan a identificar conocimientos accionables. Estas plataformas permiten a los usuarios supervisar el rendimiento, seguir objetivos y tomar medidas inmediatas basadas en datos en tiempo real mediante funciones interactivas y actualizaciones de datos en tiempo real. Las visualizaciones resaltan áreas que necesitan mejoras, lo que ayuda a las organizaciones a mejorar su estrategia y acciones.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g34326848042_0_6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85" name="Google Shape;185;g34326848042_0_68"/>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86" name="Google Shape;186;g34326848042_0_68"/>
          <p:cNvSpPr txBox="1"/>
          <p:nvPr/>
        </p:nvSpPr>
        <p:spPr>
          <a:xfrm>
            <a:off x="7775" y="714775"/>
            <a:ext cx="9075000" cy="43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Tableau </a:t>
            </a:r>
            <a:endParaRPr b="1" sz="1800">
              <a:solidFill>
                <a:schemeClr val="dk1"/>
              </a:solidFill>
            </a:endParaRPr>
          </a:p>
          <a:p>
            <a:pPr indent="0" lvl="0" marL="0" rtl="0" algn="just">
              <a:spcBef>
                <a:spcPts val="0"/>
              </a:spcBef>
              <a:spcAft>
                <a:spcPts val="0"/>
              </a:spcAft>
              <a:buNone/>
            </a:pPr>
            <a:r>
              <a:rPr lang="es" sz="1800">
                <a:solidFill>
                  <a:schemeClr val="dk1"/>
                </a:solidFill>
              </a:rPr>
              <a:t>Tableau es un famoso software de visualización de datos conocido por su interfaz fácil de usar y su amplia gama de opciones de visualización. Ofrece un entorno de arrastrar y soltar fácil de usar que permite a los usuarios crear visualizaciones interactivas. Además, cuenta con una amplia selección de estilos de gráficos y opciones de personalización para satisfacer diferentes objetivos analíticos.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s" sz="1800">
                <a:solidFill>
                  <a:schemeClr val="dk1"/>
                </a:solidFill>
              </a:rPr>
              <a:t>Ventajas:</a:t>
            </a:r>
            <a:endParaRPr b="1" sz="1800">
              <a:solidFill>
                <a:schemeClr val="dk1"/>
              </a:solidFill>
            </a:endParaRPr>
          </a:p>
          <a:p>
            <a:pPr indent="0" lvl="0" marL="0" rtl="0" algn="l">
              <a:spcBef>
                <a:spcPts val="0"/>
              </a:spcBef>
              <a:spcAft>
                <a:spcPts val="0"/>
              </a:spcAft>
              <a:buNone/>
            </a:pPr>
            <a:r>
              <a:rPr lang="es" sz="1800">
                <a:solidFill>
                  <a:schemeClr val="dk1"/>
                </a:solidFill>
              </a:rPr>
              <a:t>Interfaz sencilla de arrastrar y soltar.</a:t>
            </a:r>
            <a:endParaRPr sz="1800">
              <a:solidFill>
                <a:schemeClr val="dk1"/>
              </a:solidFill>
            </a:endParaRPr>
          </a:p>
          <a:p>
            <a:pPr indent="0" lvl="0" marL="0" rtl="0" algn="l">
              <a:spcBef>
                <a:spcPts val="0"/>
              </a:spcBef>
              <a:spcAft>
                <a:spcPts val="0"/>
              </a:spcAft>
              <a:buNone/>
            </a:pPr>
            <a:r>
              <a:rPr lang="es" sz="1800">
                <a:solidFill>
                  <a:schemeClr val="dk1"/>
                </a:solidFill>
              </a:rPr>
              <a:t>Amplio apoyo y recursos de la comunidad.</a:t>
            </a:r>
            <a:endParaRPr sz="1800">
              <a:solidFill>
                <a:schemeClr val="dk1"/>
              </a:solidFill>
            </a:endParaRPr>
          </a:p>
          <a:p>
            <a:pPr indent="0" lvl="0" marL="0" rtl="0" algn="l">
              <a:spcBef>
                <a:spcPts val="0"/>
              </a:spcBef>
              <a:spcAft>
                <a:spcPts val="0"/>
              </a:spcAft>
              <a:buNone/>
            </a:pPr>
            <a:r>
              <a:rPr lang="es" sz="1800">
                <a:solidFill>
                  <a:schemeClr val="dk1"/>
                </a:solidFill>
              </a:rPr>
              <a:t>Variedad de opciones de personalización.</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s" sz="1800">
                <a:solidFill>
                  <a:schemeClr val="dk1"/>
                </a:solidFill>
              </a:rPr>
              <a:t>Desventajas:</a:t>
            </a:r>
            <a:endParaRPr b="1" sz="1800">
              <a:solidFill>
                <a:schemeClr val="dk1"/>
              </a:solidFill>
            </a:endParaRPr>
          </a:p>
          <a:p>
            <a:pPr indent="0" lvl="0" marL="0" rtl="0" algn="l">
              <a:spcBef>
                <a:spcPts val="0"/>
              </a:spcBef>
              <a:spcAft>
                <a:spcPts val="0"/>
              </a:spcAft>
              <a:buNone/>
            </a:pPr>
            <a:r>
              <a:rPr lang="es" sz="1800">
                <a:solidFill>
                  <a:schemeClr val="dk1"/>
                </a:solidFill>
              </a:rPr>
              <a:t>Costoso, especialmente para características a nivel empresarial.</a:t>
            </a:r>
            <a:endParaRPr sz="1800">
              <a:solidFill>
                <a:schemeClr val="dk1"/>
              </a:solidFill>
            </a:endParaRPr>
          </a:p>
          <a:p>
            <a:pPr indent="0" lvl="0" marL="0" rtl="0" algn="l">
              <a:spcBef>
                <a:spcPts val="0"/>
              </a:spcBef>
              <a:spcAft>
                <a:spcPts val="0"/>
              </a:spcAft>
              <a:buNone/>
            </a:pPr>
            <a:r>
              <a:rPr lang="es" sz="1800">
                <a:solidFill>
                  <a:schemeClr val="dk1"/>
                </a:solidFill>
              </a:rPr>
              <a:t>Capacidades avanzadas con una curva de aprendizaje más pronunciada.</a:t>
            </a:r>
            <a:endParaRPr sz="1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g34326848042_0_7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92" name="Google Shape;192;g34326848042_0_76"/>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93" name="Google Shape;193;g34326848042_0_76"/>
          <p:cNvSpPr txBox="1"/>
          <p:nvPr/>
        </p:nvSpPr>
        <p:spPr>
          <a:xfrm>
            <a:off x="7775" y="714775"/>
            <a:ext cx="9075000" cy="43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Power BI </a:t>
            </a:r>
            <a:endParaRPr b="1" sz="1800">
              <a:solidFill>
                <a:schemeClr val="dk1"/>
              </a:solidFill>
            </a:endParaRPr>
          </a:p>
          <a:p>
            <a:pPr indent="0" lvl="0" marL="0" rtl="0" algn="just">
              <a:spcBef>
                <a:spcPts val="0"/>
              </a:spcBef>
              <a:spcAft>
                <a:spcPts val="0"/>
              </a:spcAft>
              <a:buNone/>
            </a:pPr>
            <a:r>
              <a:rPr lang="es" sz="1800">
                <a:solidFill>
                  <a:schemeClr val="dk1"/>
                </a:solidFill>
              </a:rPr>
              <a:t>Power BI, una herramienta de Microsoft, se integra con otros servicios de Microsoft y cuenta con una interfaz fácil de usar. Ofrece funciones de arrastrar y soltar que simplifican la creación de visualizaciones atractivas. Incluye características avanzadas de creación de paneles e informes que permiten a los usuarios supervisar y analizar datos de manera efectiva.</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s" sz="1800">
                <a:solidFill>
                  <a:schemeClr val="dk1"/>
                </a:solidFill>
              </a:rPr>
              <a:t>Ventajas:</a:t>
            </a:r>
            <a:endParaRPr b="1" sz="1800">
              <a:solidFill>
                <a:schemeClr val="dk1"/>
              </a:solidFill>
            </a:endParaRPr>
          </a:p>
          <a:p>
            <a:pPr indent="0" lvl="0" marL="0" rtl="0" algn="l">
              <a:spcBef>
                <a:spcPts val="0"/>
              </a:spcBef>
              <a:spcAft>
                <a:spcPts val="0"/>
              </a:spcAft>
              <a:buNone/>
            </a:pPr>
            <a:r>
              <a:rPr lang="es" sz="1800">
                <a:solidFill>
                  <a:schemeClr val="dk1"/>
                </a:solidFill>
              </a:rPr>
              <a:t>Integración con el ecosistema de Microsoft.</a:t>
            </a:r>
            <a:endParaRPr sz="1800">
              <a:solidFill>
                <a:schemeClr val="dk1"/>
              </a:solidFill>
            </a:endParaRPr>
          </a:p>
          <a:p>
            <a:pPr indent="0" lvl="0" marL="0" rtl="0" algn="l">
              <a:spcBef>
                <a:spcPts val="0"/>
              </a:spcBef>
              <a:spcAft>
                <a:spcPts val="0"/>
              </a:spcAft>
              <a:buNone/>
            </a:pPr>
            <a:r>
              <a:rPr lang="es" sz="1800">
                <a:solidFill>
                  <a:schemeClr val="dk1"/>
                </a:solidFill>
              </a:rPr>
              <a:t>Paneles e informes con muchas características.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s" sz="1800">
                <a:solidFill>
                  <a:schemeClr val="dk1"/>
                </a:solidFill>
              </a:rPr>
              <a:t>Desventajas:</a:t>
            </a:r>
            <a:endParaRPr b="1" sz="1800">
              <a:solidFill>
                <a:schemeClr val="dk1"/>
              </a:solidFill>
            </a:endParaRPr>
          </a:p>
          <a:p>
            <a:pPr indent="0" lvl="0" marL="0" rtl="0" algn="l">
              <a:spcBef>
                <a:spcPts val="0"/>
              </a:spcBef>
              <a:spcAft>
                <a:spcPts val="0"/>
              </a:spcAft>
              <a:buNone/>
            </a:pPr>
            <a:r>
              <a:rPr lang="es" sz="1800">
                <a:solidFill>
                  <a:schemeClr val="dk1"/>
                </a:solidFill>
              </a:rPr>
              <a:t>Relativamente pocos tipos de gráficos..</a:t>
            </a:r>
            <a:endParaRPr sz="1800">
              <a:solidFill>
                <a:schemeClr val="dk1"/>
              </a:solidFill>
            </a:endParaRPr>
          </a:p>
          <a:p>
            <a:pPr indent="0" lvl="0" marL="0" rtl="0" algn="l">
              <a:spcBef>
                <a:spcPts val="0"/>
              </a:spcBef>
              <a:spcAft>
                <a:spcPts val="0"/>
              </a:spcAft>
              <a:buNone/>
            </a:pPr>
            <a:r>
              <a:rPr lang="es" sz="1800">
                <a:solidFill>
                  <a:schemeClr val="dk1"/>
                </a:solidFill>
              </a:rPr>
              <a:t>Se necesita conocimiento de Power Query y DAX para funcionalidad avanzada.</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g34326848042_0_8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99" name="Google Shape;199;g34326848042_0_83"/>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200" name="Google Shape;200;g34326848042_0_83"/>
          <p:cNvSpPr txBox="1"/>
          <p:nvPr/>
        </p:nvSpPr>
        <p:spPr>
          <a:xfrm>
            <a:off x="7775" y="714775"/>
            <a:ext cx="9075000" cy="43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QlikView</a:t>
            </a:r>
            <a:endParaRPr b="1" sz="1800">
              <a:solidFill>
                <a:schemeClr val="dk1"/>
              </a:solidFill>
            </a:endParaRPr>
          </a:p>
          <a:p>
            <a:pPr indent="0" lvl="0" marL="0" rtl="0" algn="just">
              <a:spcBef>
                <a:spcPts val="0"/>
              </a:spcBef>
              <a:spcAft>
                <a:spcPts val="0"/>
              </a:spcAft>
              <a:buNone/>
            </a:pPr>
            <a:r>
              <a:rPr lang="es" sz="1800">
                <a:solidFill>
                  <a:schemeClr val="dk1"/>
                </a:solidFill>
              </a:rPr>
              <a:t>Con su sólido modelo de datos asociativos y un rendimiento excepcional, QlikView destaca en la exploración de datos. El modelo de datos asociativos en QlikView permite a los usuarios explorar dinámicamente los datos y revelar conocimientos ocultos. Proporciona una experiencia de usuario fluida y ofrece un excelente rendimiento incluso con conjuntos de datos enormes.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s" sz="1800">
                <a:solidFill>
                  <a:schemeClr val="dk1"/>
                </a:solidFill>
              </a:rPr>
              <a:t>Ventajas:</a:t>
            </a:r>
            <a:endParaRPr b="1" sz="1800">
              <a:solidFill>
                <a:schemeClr val="dk1"/>
              </a:solidFill>
            </a:endParaRPr>
          </a:p>
          <a:p>
            <a:pPr indent="0" lvl="0" marL="0" rtl="0" algn="l">
              <a:spcBef>
                <a:spcPts val="0"/>
              </a:spcBef>
              <a:spcAft>
                <a:spcPts val="0"/>
              </a:spcAft>
              <a:buNone/>
            </a:pPr>
            <a:r>
              <a:rPr lang="es" sz="1800">
                <a:solidFill>
                  <a:schemeClr val="dk1"/>
                </a:solidFill>
              </a:rPr>
              <a:t>Fuertes habilidades de exploración de datos.</a:t>
            </a:r>
            <a:endParaRPr sz="1800">
              <a:solidFill>
                <a:schemeClr val="dk1"/>
              </a:solidFill>
            </a:endParaRPr>
          </a:p>
          <a:p>
            <a:pPr indent="0" lvl="0" marL="0" rtl="0" algn="l">
              <a:spcBef>
                <a:spcPts val="0"/>
              </a:spcBef>
              <a:spcAft>
                <a:spcPts val="0"/>
              </a:spcAft>
              <a:buNone/>
            </a:pPr>
            <a:r>
              <a:rPr lang="es" sz="1800">
                <a:solidFill>
                  <a:schemeClr val="dk1"/>
                </a:solidFill>
              </a:rPr>
              <a:t>Amplia gama de visualizaciones disponibles.</a:t>
            </a:r>
            <a:endParaRPr sz="1800">
              <a:solidFill>
                <a:schemeClr val="dk1"/>
              </a:solidFill>
            </a:endParaRPr>
          </a:p>
          <a:p>
            <a:pPr indent="0" lvl="0" marL="0" rtl="0" algn="l">
              <a:spcBef>
                <a:spcPts val="0"/>
              </a:spcBef>
              <a:spcAft>
                <a:spcPts val="0"/>
              </a:spcAft>
              <a:buNone/>
            </a:pPr>
            <a:r>
              <a:rPr lang="es" sz="1800">
                <a:solidFill>
                  <a:schemeClr val="dk1"/>
                </a:solidFill>
              </a:rPr>
              <a:t>Rendimiento eficiente incluso con conjuntos de datos grandes.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s" sz="1800">
                <a:solidFill>
                  <a:schemeClr val="dk1"/>
                </a:solidFill>
              </a:rPr>
              <a:t>Desventajas:</a:t>
            </a:r>
            <a:endParaRPr b="1" sz="1800">
              <a:solidFill>
                <a:schemeClr val="dk1"/>
              </a:solidFill>
            </a:endParaRPr>
          </a:p>
          <a:p>
            <a:pPr indent="0" lvl="0" marL="0" rtl="0" algn="l">
              <a:spcBef>
                <a:spcPts val="0"/>
              </a:spcBef>
              <a:spcAft>
                <a:spcPts val="0"/>
              </a:spcAft>
              <a:buNone/>
            </a:pPr>
            <a:r>
              <a:rPr lang="es" sz="1800">
                <a:solidFill>
                  <a:schemeClr val="dk1"/>
                </a:solidFill>
              </a:rPr>
              <a:t>Mayor curva de aprendizaje para principiantes.</a:t>
            </a:r>
            <a:endParaRPr sz="1800">
              <a:solidFill>
                <a:schemeClr val="dk1"/>
              </a:solidFill>
            </a:endParaRPr>
          </a:p>
          <a:p>
            <a:pPr indent="0" lvl="0" marL="0" rtl="0" algn="l">
              <a:spcBef>
                <a:spcPts val="0"/>
              </a:spcBef>
              <a:spcAft>
                <a:spcPts val="0"/>
              </a:spcAft>
              <a:buNone/>
            </a:pPr>
            <a:r>
              <a:rPr lang="es" sz="1800">
                <a:solidFill>
                  <a:schemeClr val="dk1"/>
                </a:solidFill>
              </a:rPr>
              <a:t>Soporte limitado de la comunidad.</a:t>
            </a:r>
            <a:endParaRPr sz="1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