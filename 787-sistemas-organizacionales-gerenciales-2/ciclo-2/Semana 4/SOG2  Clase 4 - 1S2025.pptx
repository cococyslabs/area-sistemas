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IBM Plex Sans" charset="1" panose="020B0503050203000203"/>
      <p:regular r:id="rId40"/>
    </p:embeddedFont>
    <p:embeddedFont>
      <p:font typeface="Fira Sans Bold" charset="1" panose="020B0803050000020004"/>
      <p:regular r:id="rId41"/>
    </p:embeddedFont>
    <p:embeddedFont>
      <p:font typeface="Fira Sans Medium" charset="1" panose="020B0603050000020004"/>
      <p:regular r:id="rId42"/>
    </p:embeddedFont>
    <p:embeddedFont>
      <p:font typeface="Antonio Bold" charset="1" panose="02000803000000000000"/>
      <p:regular r:id="rId43"/>
    </p:embeddedFont>
    <p:embeddedFont>
      <p:font typeface="Open Sans Bold" charset="1" panose="020B0806030504020204"/>
      <p:regular r:id="rId44"/>
    </p:embeddedFont>
    <p:embeddedFont>
      <p:font typeface="Open Sans" charset="1" panose="020B0606030504020204"/>
      <p:regular r:id="rId45"/>
    </p:embeddedFont>
    <p:embeddedFont>
      <p:font typeface="Fira Sans" charset="1" panose="020B05030500000200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https://youtu.be/aIkTMkP1eto?si=vRWf0ZEuCsax-pX7" TargetMode="External" Type="http://schemas.openxmlformats.org/officeDocument/2006/relationships/video"/></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https://www.youtube.com/watch?v=hI7xfrires4" TargetMode="External" Type="http://schemas.openxmlformats.org/officeDocument/2006/relationships/video"/></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49" y="0"/>
            <a:ext cx="18279551" cy="10301273"/>
          </a:xfrm>
          <a:custGeom>
            <a:avLst/>
            <a:gdLst/>
            <a:ahLst/>
            <a:cxnLst/>
            <a:rect r="r" b="b" t="t" l="l"/>
            <a:pathLst>
              <a:path h="10301273" w="18279551">
                <a:moveTo>
                  <a:pt x="0" y="0"/>
                </a:moveTo>
                <a:lnTo>
                  <a:pt x="18279551" y="0"/>
                </a:lnTo>
                <a:lnTo>
                  <a:pt x="18279551" y="10301273"/>
                </a:lnTo>
                <a:lnTo>
                  <a:pt x="0" y="10301273"/>
                </a:lnTo>
                <a:lnTo>
                  <a:pt x="0" y="0"/>
                </a:lnTo>
                <a:close/>
              </a:path>
            </a:pathLst>
          </a:custGeom>
          <a:blipFill>
            <a:blip r:embed="rId2"/>
            <a:stretch>
              <a:fillRect l="0" t="0" r="0" b="-46"/>
            </a:stretch>
          </a:blipFill>
        </p:spPr>
      </p:sp>
      <p:sp>
        <p:nvSpPr>
          <p:cNvPr name="Freeform 3" id="3"/>
          <p:cNvSpPr/>
          <p:nvPr/>
        </p:nvSpPr>
        <p:spPr>
          <a:xfrm flipH="false" flipV="false" rot="0">
            <a:off x="10525915" y="1805909"/>
            <a:ext cx="7664910" cy="1872924"/>
          </a:xfrm>
          <a:custGeom>
            <a:avLst/>
            <a:gdLst/>
            <a:ahLst/>
            <a:cxnLst/>
            <a:rect r="r" b="b" t="t" l="l"/>
            <a:pathLst>
              <a:path h="1872924" w="7664910">
                <a:moveTo>
                  <a:pt x="0" y="0"/>
                </a:moveTo>
                <a:lnTo>
                  <a:pt x="7664910" y="0"/>
                </a:lnTo>
                <a:lnTo>
                  <a:pt x="7664910" y="1872924"/>
                </a:lnTo>
                <a:lnTo>
                  <a:pt x="0" y="18729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847791" y="1873275"/>
            <a:ext cx="2555402" cy="1491121"/>
          </a:xfrm>
          <a:prstGeom prst="rect">
            <a:avLst/>
          </a:prstGeom>
        </p:spPr>
        <p:txBody>
          <a:bodyPr anchor="t" rtlCol="false" tIns="0" lIns="0" bIns="0" rIns="0">
            <a:spAutoFit/>
          </a:bodyPr>
          <a:lstStyle/>
          <a:p>
            <a:pPr algn="l">
              <a:lnSpc>
                <a:spcPts val="6295"/>
              </a:lnSpc>
            </a:pPr>
            <a:r>
              <a:rPr lang="en-US" sz="2835" spc="8">
                <a:solidFill>
                  <a:srgbClr val="000000"/>
                </a:solidFill>
                <a:latin typeface="IBM Plex Sans"/>
                <a:ea typeface="IBM Plex Sans"/>
                <a:cs typeface="IBM Plex Sans"/>
                <a:sym typeface="IBM Plex Sans"/>
              </a:rPr>
              <a:t>Día, Fecha: Hora de inicio:</a:t>
            </a:r>
          </a:p>
        </p:txBody>
      </p:sp>
      <p:sp>
        <p:nvSpPr>
          <p:cNvPr name="TextBox 5" id="5"/>
          <p:cNvSpPr txBox="true"/>
          <p:nvPr/>
        </p:nvSpPr>
        <p:spPr>
          <a:xfrm rot="0">
            <a:off x="13888326" y="1860507"/>
            <a:ext cx="3477280" cy="1469454"/>
          </a:xfrm>
          <a:prstGeom prst="rect">
            <a:avLst/>
          </a:prstGeom>
        </p:spPr>
        <p:txBody>
          <a:bodyPr anchor="t" rtlCol="false" tIns="0" lIns="0" bIns="0" rIns="0">
            <a:spAutoFit/>
          </a:bodyPr>
          <a:lstStyle/>
          <a:p>
            <a:pPr algn="l">
              <a:lnSpc>
                <a:spcPts val="6295"/>
              </a:lnSpc>
            </a:pPr>
            <a:r>
              <a:rPr lang="en-US" sz="2811" spc="-19">
                <a:solidFill>
                  <a:srgbClr val="000000"/>
                </a:solidFill>
                <a:latin typeface="IBM Plex Sans"/>
                <a:ea typeface="IBM Plex Sans"/>
                <a:cs typeface="IBM Plex Sans"/>
                <a:sym typeface="IBM Plex Sans"/>
              </a:rPr>
              <a:t>Sábado, 22/02/2025 08:00AM</a:t>
            </a:r>
          </a:p>
        </p:txBody>
      </p:sp>
      <p:sp>
        <p:nvSpPr>
          <p:cNvPr name="TextBox 6" id="6"/>
          <p:cNvSpPr txBox="true"/>
          <p:nvPr/>
        </p:nvSpPr>
        <p:spPr>
          <a:xfrm rot="0">
            <a:off x="2648741" y="4457130"/>
            <a:ext cx="13257757" cy="2059874"/>
          </a:xfrm>
          <a:prstGeom prst="rect">
            <a:avLst/>
          </a:prstGeom>
        </p:spPr>
        <p:txBody>
          <a:bodyPr anchor="t" rtlCol="false" tIns="0" lIns="0" bIns="0" rIns="0">
            <a:spAutoFit/>
          </a:bodyPr>
          <a:lstStyle/>
          <a:p>
            <a:pPr algn="ctr">
              <a:lnSpc>
                <a:spcPts val="7005"/>
              </a:lnSpc>
            </a:pPr>
            <a:r>
              <a:rPr lang="en-US" sz="5003" spc="-35">
                <a:solidFill>
                  <a:srgbClr val="000000"/>
                </a:solidFill>
                <a:latin typeface="IBM Plex Sans"/>
                <a:ea typeface="IBM Plex Sans"/>
                <a:cs typeface="IBM Plex Sans"/>
                <a:sym typeface="IBM Plex Sans"/>
              </a:rPr>
              <a:t>Sistemas organizacionales y gerenciales 2[N]</a:t>
            </a:r>
          </a:p>
          <a:p>
            <a:pPr algn="ctr">
              <a:lnSpc>
                <a:spcPts val="5625"/>
              </a:lnSpc>
            </a:pPr>
            <a:r>
              <a:rPr lang="en-US" sz="4018" spc="-28">
                <a:solidFill>
                  <a:srgbClr val="000000"/>
                </a:solidFill>
                <a:latin typeface="IBM Plex Sans"/>
                <a:ea typeface="IBM Plex Sans"/>
                <a:cs typeface="IBM Plex Sans"/>
                <a:sym typeface="IBM Plex Sans"/>
              </a:rPr>
              <a:t>José Luis Reynoso Tiú</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431803"/>
            <a:ext cx="10202605" cy="1266825"/>
          </a:xfrm>
          <a:prstGeom prst="rect">
            <a:avLst/>
          </a:prstGeom>
        </p:spPr>
        <p:txBody>
          <a:bodyPr anchor="t" rtlCol="false" tIns="0" lIns="0" bIns="0" rIns="0">
            <a:spAutoFit/>
          </a:bodyPr>
          <a:lstStyle/>
          <a:p>
            <a:pPr algn="l">
              <a:lnSpc>
                <a:spcPts val="9989"/>
              </a:lnSpc>
            </a:pPr>
            <a:r>
              <a:rPr lang="en-US" sz="8324" b="true">
                <a:solidFill>
                  <a:srgbClr val="000000"/>
                </a:solidFill>
                <a:latin typeface="Fira Sans Bold"/>
                <a:ea typeface="Fira Sans Bold"/>
                <a:cs typeface="Fira Sans Bold"/>
                <a:sym typeface="Fira Sans Bold"/>
              </a:rPr>
              <a:t>Clase 4</a:t>
            </a:r>
          </a:p>
        </p:txBody>
      </p:sp>
      <p:grpSp>
        <p:nvGrpSpPr>
          <p:cNvPr name="Group 3" id="3"/>
          <p:cNvGrpSpPr/>
          <p:nvPr/>
        </p:nvGrpSpPr>
        <p:grpSpPr>
          <a:xfrm rot="0">
            <a:off x="14328902" y="2317173"/>
            <a:ext cx="7321033" cy="6340049"/>
            <a:chOff x="0" y="0"/>
            <a:chExt cx="3619627" cy="3134614"/>
          </a:xfrm>
        </p:grpSpPr>
        <p:sp>
          <p:nvSpPr>
            <p:cNvPr name="Freeform 4" id="4"/>
            <p:cNvSpPr/>
            <p:nvPr/>
          </p:nvSpPr>
          <p:spPr>
            <a:xfrm flipH="false" flipV="false" rot="0">
              <a:off x="0" y="0"/>
              <a:ext cx="3619627" cy="3134614"/>
            </a:xfrm>
            <a:custGeom>
              <a:avLst/>
              <a:gdLst/>
              <a:ahLst/>
              <a:cxnLst/>
              <a:rect r="r" b="b" t="t" l="l"/>
              <a:pathLst>
                <a:path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sp>
      </p:grpSp>
      <p:grpSp>
        <p:nvGrpSpPr>
          <p:cNvPr name="Group 5" id="5"/>
          <p:cNvGrpSpPr/>
          <p:nvPr/>
        </p:nvGrpSpPr>
        <p:grpSpPr>
          <a:xfrm rot="0">
            <a:off x="12122944" y="7035126"/>
            <a:ext cx="4970154" cy="4304177"/>
            <a:chOff x="0" y="0"/>
            <a:chExt cx="3619627" cy="3134614"/>
          </a:xfrm>
        </p:grpSpPr>
        <p:sp>
          <p:nvSpPr>
            <p:cNvPr name="Freeform 6" id="6"/>
            <p:cNvSpPr/>
            <p:nvPr/>
          </p:nvSpPr>
          <p:spPr>
            <a:xfrm flipH="false" flipV="false" rot="0">
              <a:off x="0" y="0"/>
              <a:ext cx="3619627" cy="3134614"/>
            </a:xfrm>
            <a:custGeom>
              <a:avLst/>
              <a:gdLst/>
              <a:ahLst/>
              <a:cxnLst/>
              <a:rect r="r" b="b" t="t" l="l"/>
              <a:pathLst>
                <a:path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name="Group 7" id="7"/>
          <p:cNvGrpSpPr/>
          <p:nvPr/>
        </p:nvGrpSpPr>
        <p:grpSpPr>
          <a:xfrm rot="0">
            <a:off x="12336342" y="5954842"/>
            <a:ext cx="2271679" cy="1967285"/>
            <a:chOff x="0" y="0"/>
            <a:chExt cx="3619627" cy="3134614"/>
          </a:xfrm>
        </p:grpSpPr>
        <p:sp>
          <p:nvSpPr>
            <p:cNvPr name="Freeform 8" id="8"/>
            <p:cNvSpPr/>
            <p:nvPr/>
          </p:nvSpPr>
          <p:spPr>
            <a:xfrm flipH="false" flipV="false" rot="0">
              <a:off x="0" y="0"/>
              <a:ext cx="3619627" cy="3134614"/>
            </a:xfrm>
            <a:custGeom>
              <a:avLst/>
              <a:gdLst/>
              <a:ahLst/>
              <a:cxnLst/>
              <a:rect r="r" b="b" t="t" l="l"/>
              <a:pathLst>
                <a:path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sp>
      </p:grpSp>
      <p:grpSp>
        <p:nvGrpSpPr>
          <p:cNvPr name="Group 9" id="9"/>
          <p:cNvGrpSpPr/>
          <p:nvPr/>
        </p:nvGrpSpPr>
        <p:grpSpPr>
          <a:xfrm rot="0">
            <a:off x="13737770" y="373605"/>
            <a:ext cx="3799619" cy="3290488"/>
            <a:chOff x="0" y="0"/>
            <a:chExt cx="3619627" cy="3134614"/>
          </a:xfrm>
        </p:grpSpPr>
        <p:sp>
          <p:nvSpPr>
            <p:cNvPr name="Freeform 10" id="10"/>
            <p:cNvSpPr/>
            <p:nvPr/>
          </p:nvSpPr>
          <p:spPr>
            <a:xfrm flipH="false" flipV="false" rot="0">
              <a:off x="0" y="0"/>
              <a:ext cx="3619627" cy="3134614"/>
            </a:xfrm>
            <a:custGeom>
              <a:avLst/>
              <a:gdLst/>
              <a:ahLst/>
              <a:cxnLst/>
              <a:rect r="r" b="b" t="t" l="l"/>
              <a:pathLst>
                <a:path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sp>
        <p:nvSpPr>
          <p:cNvPr name="TextBox 11" id="11"/>
          <p:cNvSpPr txBox="true"/>
          <p:nvPr/>
        </p:nvSpPr>
        <p:spPr>
          <a:xfrm rot="0">
            <a:off x="2887626" y="1095105"/>
            <a:ext cx="6453242" cy="405765"/>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Fira Sans Medium"/>
                <a:ea typeface="Fira Sans Medium"/>
                <a:cs typeface="Fira Sans Medium"/>
                <a:sym typeface="Fira Sans Medium"/>
              </a:rPr>
              <a:t>UNIVERSIDAD DE SAN CARLOS DE GUATEMALA</a:t>
            </a:r>
          </a:p>
        </p:txBody>
      </p:sp>
      <p:sp>
        <p:nvSpPr>
          <p:cNvPr name="Freeform 12" id="12"/>
          <p:cNvSpPr/>
          <p:nvPr/>
        </p:nvSpPr>
        <p:spPr>
          <a:xfrm flipH="false" flipV="false" rot="0">
            <a:off x="1028700" y="576515"/>
            <a:ext cx="1490570" cy="1490570"/>
          </a:xfrm>
          <a:custGeom>
            <a:avLst/>
            <a:gdLst/>
            <a:ahLst/>
            <a:cxnLst/>
            <a:rect r="r" b="b" t="t" l="l"/>
            <a:pathLst>
              <a:path h="1490570" w="1490570">
                <a:moveTo>
                  <a:pt x="0" y="0"/>
                </a:moveTo>
                <a:lnTo>
                  <a:pt x="1490570" y="0"/>
                </a:lnTo>
                <a:lnTo>
                  <a:pt x="1490570" y="1490570"/>
                </a:lnTo>
                <a:lnTo>
                  <a:pt x="0" y="149057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148119"/>
            <a:ext cx="6207294" cy="10740083"/>
            <a:chOff x="0" y="0"/>
            <a:chExt cx="1634843" cy="2828664"/>
          </a:xfrm>
        </p:grpSpPr>
        <p:sp>
          <p:nvSpPr>
            <p:cNvPr name="Freeform 3" id="3"/>
            <p:cNvSpPr/>
            <p:nvPr/>
          </p:nvSpPr>
          <p:spPr>
            <a:xfrm flipH="false" flipV="false" rot="0">
              <a:off x="0" y="0"/>
              <a:ext cx="1634843" cy="2828664"/>
            </a:xfrm>
            <a:custGeom>
              <a:avLst/>
              <a:gdLst/>
              <a:ahLst/>
              <a:cxnLst/>
              <a:rect r="r" b="b" t="t" l="l"/>
              <a:pathLst>
                <a:path h="2828664" w="1634843">
                  <a:moveTo>
                    <a:pt x="0" y="0"/>
                  </a:moveTo>
                  <a:lnTo>
                    <a:pt x="1634843" y="0"/>
                  </a:lnTo>
                  <a:lnTo>
                    <a:pt x="1634843" y="2828664"/>
                  </a:lnTo>
                  <a:lnTo>
                    <a:pt x="0" y="2828664"/>
                  </a:lnTo>
                  <a:close/>
                </a:path>
              </a:pathLst>
            </a:custGeom>
            <a:solidFill>
              <a:srgbClr val="000000"/>
            </a:solidFill>
          </p:spPr>
        </p:sp>
        <p:sp>
          <p:nvSpPr>
            <p:cNvPr name="TextBox 4" id="4"/>
            <p:cNvSpPr txBox="true"/>
            <p:nvPr/>
          </p:nvSpPr>
          <p:spPr>
            <a:xfrm>
              <a:off x="0" y="-47625"/>
              <a:ext cx="1634843" cy="2876289"/>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6428770" y="2525192"/>
            <a:ext cx="3622306" cy="1324890"/>
          </a:xfrm>
          <a:custGeom>
            <a:avLst/>
            <a:gdLst/>
            <a:ahLst/>
            <a:cxnLst/>
            <a:rect r="r" b="b" t="t" l="l"/>
            <a:pathLst>
              <a:path h="1324890" w="3622306">
                <a:moveTo>
                  <a:pt x="0" y="0"/>
                </a:moveTo>
                <a:lnTo>
                  <a:pt x="3622307" y="0"/>
                </a:lnTo>
                <a:lnTo>
                  <a:pt x="3622307" y="1324890"/>
                </a:lnTo>
                <a:lnTo>
                  <a:pt x="0" y="1324890"/>
                </a:lnTo>
                <a:lnTo>
                  <a:pt x="0" y="0"/>
                </a:lnTo>
                <a:close/>
              </a:path>
            </a:pathLst>
          </a:custGeom>
          <a:blipFill>
            <a:blip r:embed="rId2"/>
            <a:stretch>
              <a:fillRect l="0" t="0" r="0" b="0"/>
            </a:stretch>
          </a:blipFill>
        </p:spPr>
      </p:sp>
      <p:sp>
        <p:nvSpPr>
          <p:cNvPr name="Freeform 6" id="6"/>
          <p:cNvSpPr/>
          <p:nvPr/>
        </p:nvSpPr>
        <p:spPr>
          <a:xfrm flipH="false" flipV="false" rot="0">
            <a:off x="6630811" y="5204565"/>
            <a:ext cx="2119013" cy="1740618"/>
          </a:xfrm>
          <a:custGeom>
            <a:avLst/>
            <a:gdLst/>
            <a:ahLst/>
            <a:cxnLst/>
            <a:rect r="r" b="b" t="t" l="l"/>
            <a:pathLst>
              <a:path h="1740618" w="2119013">
                <a:moveTo>
                  <a:pt x="0" y="0"/>
                </a:moveTo>
                <a:lnTo>
                  <a:pt x="2119012" y="0"/>
                </a:lnTo>
                <a:lnTo>
                  <a:pt x="2119012" y="1740617"/>
                </a:lnTo>
                <a:lnTo>
                  <a:pt x="0" y="1740617"/>
                </a:lnTo>
                <a:lnTo>
                  <a:pt x="0" y="0"/>
                </a:lnTo>
                <a:close/>
              </a:path>
            </a:pathLst>
          </a:custGeom>
          <a:blipFill>
            <a:blip r:embed="rId3"/>
            <a:stretch>
              <a:fillRect l="0" t="0" r="0" b="0"/>
            </a:stretch>
          </a:blipFill>
        </p:spPr>
      </p:sp>
      <p:sp>
        <p:nvSpPr>
          <p:cNvPr name="TextBox 7" id="7"/>
          <p:cNvSpPr txBox="true"/>
          <p:nvPr/>
        </p:nvSpPr>
        <p:spPr>
          <a:xfrm rot="0">
            <a:off x="1028700" y="4171950"/>
            <a:ext cx="4431539" cy="1952625"/>
          </a:xfrm>
          <a:prstGeom prst="rect">
            <a:avLst/>
          </a:prstGeom>
        </p:spPr>
        <p:txBody>
          <a:bodyPr anchor="t" rtlCol="false" tIns="0" lIns="0" bIns="0" rIns="0">
            <a:spAutoFit/>
          </a:bodyPr>
          <a:lstStyle/>
          <a:p>
            <a:pPr algn="l" marL="0" indent="0" lvl="0">
              <a:lnSpc>
                <a:spcPts val="7769"/>
              </a:lnSpc>
            </a:pPr>
            <a:r>
              <a:rPr lang="en-US" b="true" sz="6474" spc="-129">
                <a:solidFill>
                  <a:srgbClr val="FFFFFF"/>
                </a:solidFill>
                <a:latin typeface="Antonio Bold"/>
                <a:ea typeface="Antonio Bold"/>
                <a:cs typeface="Antonio Bold"/>
                <a:sym typeface="Antonio Bold"/>
              </a:rPr>
              <a:t>Información de contacto</a:t>
            </a:r>
          </a:p>
        </p:txBody>
      </p:sp>
      <p:sp>
        <p:nvSpPr>
          <p:cNvPr name="TextBox 8" id="8"/>
          <p:cNvSpPr txBox="true"/>
          <p:nvPr/>
        </p:nvSpPr>
        <p:spPr>
          <a:xfrm rot="0">
            <a:off x="11136935" y="2174948"/>
            <a:ext cx="3524907" cy="633813"/>
          </a:xfrm>
          <a:prstGeom prst="rect">
            <a:avLst/>
          </a:prstGeom>
        </p:spPr>
        <p:txBody>
          <a:bodyPr anchor="t" rtlCol="false" tIns="0" lIns="0" bIns="0" rIns="0">
            <a:spAutoFit/>
          </a:bodyPr>
          <a:lstStyle/>
          <a:p>
            <a:pPr algn="l">
              <a:lnSpc>
                <a:spcPts val="5040"/>
              </a:lnSpc>
            </a:pPr>
            <a:r>
              <a:rPr lang="en-US" b="true" sz="3600">
                <a:solidFill>
                  <a:srgbClr val="000000"/>
                </a:solidFill>
                <a:latin typeface="Open Sans Bold"/>
                <a:ea typeface="Open Sans Bold"/>
                <a:cs typeface="Open Sans Bold"/>
                <a:sym typeface="Open Sans Bold"/>
              </a:rPr>
              <a:t>FOROS DE UEDI</a:t>
            </a:r>
          </a:p>
        </p:txBody>
      </p:sp>
      <p:sp>
        <p:nvSpPr>
          <p:cNvPr name="TextBox 9" id="9"/>
          <p:cNvSpPr txBox="true"/>
          <p:nvPr/>
        </p:nvSpPr>
        <p:spPr>
          <a:xfrm rot="0">
            <a:off x="12045172" y="6594939"/>
            <a:ext cx="3068584" cy="613410"/>
          </a:xfrm>
          <a:prstGeom prst="rect">
            <a:avLst/>
          </a:prstGeom>
        </p:spPr>
        <p:txBody>
          <a:bodyPr anchor="t" rtlCol="false" tIns="0" lIns="0" bIns="0" rIns="0">
            <a:spAutoFit/>
          </a:bodyPr>
          <a:lstStyle/>
          <a:p>
            <a:pPr algn="l">
              <a:lnSpc>
                <a:spcPts val="5040"/>
              </a:lnSpc>
            </a:pPr>
            <a:r>
              <a:rPr lang="en-US" sz="3600">
                <a:solidFill>
                  <a:srgbClr val="000000"/>
                </a:solidFill>
                <a:latin typeface="Open Sans"/>
                <a:ea typeface="Open Sans"/>
                <a:cs typeface="Open Sans"/>
                <a:sym typeface="Open Sans"/>
              </a:rPr>
              <a:t>[SOG2]Asunto</a:t>
            </a:r>
          </a:p>
        </p:txBody>
      </p:sp>
      <p:sp>
        <p:nvSpPr>
          <p:cNvPr name="TextBox 10" id="10"/>
          <p:cNvSpPr txBox="true"/>
          <p:nvPr/>
        </p:nvSpPr>
        <p:spPr>
          <a:xfrm rot="0">
            <a:off x="10519381" y="2987897"/>
            <a:ext cx="7135701" cy="1157935"/>
          </a:xfrm>
          <a:prstGeom prst="rect">
            <a:avLst/>
          </a:prstGeom>
        </p:spPr>
        <p:txBody>
          <a:bodyPr anchor="t" rtlCol="false" tIns="0" lIns="0" bIns="0" rIns="0">
            <a:spAutoFit/>
          </a:bodyPr>
          <a:lstStyle/>
          <a:p>
            <a:pPr algn="ctr">
              <a:lnSpc>
                <a:spcPts val="4576"/>
              </a:lnSpc>
            </a:pPr>
            <a:r>
              <a:rPr lang="en-US" sz="3299">
                <a:solidFill>
                  <a:srgbClr val="000000"/>
                </a:solidFill>
                <a:latin typeface="Open Sans"/>
                <a:ea typeface="Open Sans"/>
                <a:cs typeface="Open Sans"/>
                <a:sym typeface="Open Sans"/>
              </a:rPr>
              <a:t>Semanalmente se creará un foro en UEDI para resolver dudas.</a:t>
            </a:r>
          </a:p>
        </p:txBody>
      </p:sp>
      <p:sp>
        <p:nvSpPr>
          <p:cNvPr name="TextBox 11" id="11"/>
          <p:cNvSpPr txBox="true"/>
          <p:nvPr/>
        </p:nvSpPr>
        <p:spPr>
          <a:xfrm rot="0">
            <a:off x="9354217" y="5832234"/>
            <a:ext cx="8558127" cy="580072"/>
          </a:xfrm>
          <a:prstGeom prst="rect">
            <a:avLst/>
          </a:prstGeom>
        </p:spPr>
        <p:txBody>
          <a:bodyPr anchor="t" rtlCol="false" tIns="0" lIns="0" bIns="0" rIns="0">
            <a:spAutoFit/>
          </a:bodyPr>
          <a:lstStyle/>
          <a:p>
            <a:pPr algn="ctr">
              <a:lnSpc>
                <a:spcPts val="4777"/>
              </a:lnSpc>
            </a:pPr>
            <a:r>
              <a:rPr lang="en-US" b="true" sz="3412">
                <a:solidFill>
                  <a:srgbClr val="000000"/>
                </a:solidFill>
                <a:latin typeface="Open Sans Bold"/>
                <a:ea typeface="Open Sans Bold"/>
                <a:cs typeface="Open Sans Bold"/>
                <a:sym typeface="Open Sans Bold"/>
              </a:rPr>
              <a:t>2655896221401@ingenieria.usac.edu.gt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217610"/>
            <a:ext cx="16230600" cy="58769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000000"/>
                </a:solidFill>
                <a:latin typeface="Fira Sans"/>
                <a:ea typeface="Fira Sans"/>
                <a:cs typeface="Fira Sans"/>
                <a:sym typeface="Fira Sans"/>
              </a:rPr>
              <a:t>Tienen un formato estandarizado</a:t>
            </a: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 Por lo general, se trata de datos tabulares con filas y columnas que definen claramente sus atributos. Las computadoras pueden procesar eficazmente los datos estructurados en busca de información dado que se trata de información cuantitativa. </a:t>
            </a:r>
          </a:p>
          <a:p>
            <a:pPr algn="l" marL="755651" indent="-377825" lvl="1">
              <a:lnSpc>
                <a:spcPts val="4200"/>
              </a:lnSpc>
              <a:spcBef>
                <a:spcPct val="0"/>
              </a:spcBef>
              <a:buFont typeface="Arial"/>
              <a:buChar char="•"/>
            </a:pPr>
            <a:r>
              <a:rPr lang="en-US" b="true" sz="3500">
                <a:solidFill>
                  <a:srgbClr val="000000"/>
                </a:solidFill>
                <a:latin typeface="Fira Sans Bold"/>
                <a:ea typeface="Fira Sans Bold"/>
                <a:cs typeface="Fira Sans Bold"/>
                <a:sym typeface="Fira Sans Bold"/>
              </a:rPr>
              <a:t>Ejemplo</a:t>
            </a:r>
            <a:r>
              <a:rPr lang="en-US" sz="3500">
                <a:solidFill>
                  <a:srgbClr val="000000"/>
                </a:solidFill>
                <a:latin typeface="Fira Sans"/>
                <a:ea typeface="Fira Sans"/>
                <a:cs typeface="Fira Sans"/>
                <a:sym typeface="Fira Sans"/>
              </a:rPr>
              <a:t>: una tabla estructurada de datos de clientes que contenga columnas (nombre, dirección y número de teléfono) puede proporcionar información, como la cantidad total de clientes, así como el lugar con el mayor número de clientes. Por el contrario, los datos no estructurados, como una lista de publicaciones en redes sociales, resultan más difíciles de analizar.</a:t>
            </a: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A181"/>
                </a:solidFill>
                <a:latin typeface="Fira Sans Medium"/>
                <a:ea typeface="Fira Sans Medium"/>
                <a:cs typeface="Fira Sans Medium"/>
                <a:sym typeface="Fira Sans Medium"/>
              </a:rPr>
              <a:t>Datos estructurados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2114550"/>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Características de los datos estructurados</a:t>
            </a:r>
          </a:p>
        </p:txBody>
      </p:sp>
      <p:sp>
        <p:nvSpPr>
          <p:cNvPr name="TextBox 3" id="3"/>
          <p:cNvSpPr txBox="true"/>
          <p:nvPr/>
        </p:nvSpPr>
        <p:spPr>
          <a:xfrm rot="0">
            <a:off x="1028700" y="3687588"/>
            <a:ext cx="15200847" cy="53435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000000"/>
                </a:solidFill>
                <a:latin typeface="Fira Sans"/>
                <a:ea typeface="Fira Sans"/>
                <a:cs typeface="Fira Sans"/>
                <a:sym typeface="Fira Sans"/>
              </a:rPr>
              <a:t>Atributos definibles: Los datos estructurados tienen los mismos atributos para todos los valores de datos.</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Atributos relacionales: Tienen valores comunes que vinculan entre sí diferentes conjuntos de datos.</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Datos cuantitativos: Son apropiados para el análisis matemático. </a:t>
            </a:r>
          </a:p>
          <a:p>
            <a:pPr algn="l">
              <a:lnSpc>
                <a:spcPts val="4200"/>
              </a:lnSpc>
            </a:pPr>
          </a:p>
          <a:p>
            <a:pPr algn="l" marL="755651" indent="-377825" lvl="1">
              <a:lnSpc>
                <a:spcPts val="4200"/>
              </a:lnSpc>
              <a:spcBef>
                <a:spcPct val="0"/>
              </a:spcBef>
              <a:buFont typeface="Arial"/>
              <a:buChar char="•"/>
            </a:pPr>
            <a:r>
              <a:rPr lang="en-US" sz="3500">
                <a:solidFill>
                  <a:srgbClr val="000000"/>
                </a:solidFill>
                <a:latin typeface="Fira Sans"/>
                <a:ea typeface="Fira Sans"/>
                <a:cs typeface="Fira Sans"/>
                <a:sym typeface="Fira Sans"/>
              </a:rPr>
              <a:t>Almacenamiento: Se pueden guardar datos estructurados en bases de datos relacionales.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31538" y="2085975"/>
            <a:ext cx="7641737" cy="4296379"/>
          </a:xfrm>
          <a:custGeom>
            <a:avLst/>
            <a:gdLst/>
            <a:ahLst/>
            <a:cxnLst/>
            <a:rect r="r" b="b" t="t" l="l"/>
            <a:pathLst>
              <a:path h="4296379" w="7641737">
                <a:moveTo>
                  <a:pt x="0" y="0"/>
                </a:moveTo>
                <a:lnTo>
                  <a:pt x="7641737" y="0"/>
                </a:lnTo>
                <a:lnTo>
                  <a:pt x="7641737" y="4296379"/>
                </a:lnTo>
                <a:lnTo>
                  <a:pt x="0" y="4296379"/>
                </a:lnTo>
                <a:lnTo>
                  <a:pt x="0" y="0"/>
                </a:lnTo>
                <a:close/>
              </a:path>
            </a:pathLst>
          </a:custGeom>
          <a:blipFill>
            <a:blip r:embed="rId2"/>
            <a:stretch>
              <a:fillRect l="0" t="0" r="0" b="0"/>
            </a:stretch>
          </a:blipFill>
        </p:spPr>
      </p:sp>
      <p:sp>
        <p:nvSpPr>
          <p:cNvPr name="Freeform 3" id="3"/>
          <p:cNvSpPr/>
          <p:nvPr/>
        </p:nvSpPr>
        <p:spPr>
          <a:xfrm flipH="false" flipV="false" rot="0">
            <a:off x="10295971" y="5107710"/>
            <a:ext cx="7291376" cy="4329255"/>
          </a:xfrm>
          <a:custGeom>
            <a:avLst/>
            <a:gdLst/>
            <a:ahLst/>
            <a:cxnLst/>
            <a:rect r="r" b="b" t="t" l="l"/>
            <a:pathLst>
              <a:path h="4329255" w="7291376">
                <a:moveTo>
                  <a:pt x="0" y="0"/>
                </a:moveTo>
                <a:lnTo>
                  <a:pt x="7291376" y="0"/>
                </a:lnTo>
                <a:lnTo>
                  <a:pt x="7291376" y="4329255"/>
                </a:lnTo>
                <a:lnTo>
                  <a:pt x="0" y="4329255"/>
                </a:lnTo>
                <a:lnTo>
                  <a:pt x="0" y="0"/>
                </a:lnTo>
                <a:close/>
              </a:path>
            </a:pathLst>
          </a:custGeom>
          <a:blipFill>
            <a:blip r:embed="rId3"/>
            <a:stretch>
              <a:fillRect l="-20487" t="-7319" r="-3725" b="-10355"/>
            </a:stretch>
          </a:blipFill>
        </p:spPr>
      </p:sp>
      <p:sp>
        <p:nvSpPr>
          <p:cNvPr name="TextBox 4" id="4"/>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Ejemplos de datos estructurados</a:t>
            </a:r>
          </a:p>
        </p:txBody>
      </p:sp>
      <p:sp>
        <p:nvSpPr>
          <p:cNvPr name="TextBox 5" id="5"/>
          <p:cNvSpPr txBox="true"/>
          <p:nvPr/>
        </p:nvSpPr>
        <p:spPr>
          <a:xfrm rot="0">
            <a:off x="1028700" y="2462213"/>
            <a:ext cx="15200847" cy="37433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000000"/>
                </a:solidFill>
                <a:latin typeface="Fira Sans"/>
                <a:ea typeface="Fira Sans"/>
                <a:cs typeface="Fira Sans"/>
                <a:sym typeface="Fira Sans"/>
              </a:rPr>
              <a:t>Archivos de Excel </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Bases de datos SQL</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Resultados de formularios web</a:t>
            </a:r>
          </a:p>
          <a:p>
            <a:pPr algn="l">
              <a:lnSpc>
                <a:spcPts val="4200"/>
              </a:lnSpc>
            </a:pPr>
          </a:p>
          <a:p>
            <a:pPr algn="l" marL="755651" indent="-377825" lvl="1">
              <a:lnSpc>
                <a:spcPts val="4200"/>
              </a:lnSpc>
              <a:spcBef>
                <a:spcPct val="0"/>
              </a:spcBef>
              <a:buFont typeface="Arial"/>
              <a:buChar char="•"/>
            </a:pPr>
            <a:r>
              <a:rPr lang="en-US" sz="3500">
                <a:solidFill>
                  <a:srgbClr val="000000"/>
                </a:solidFill>
                <a:latin typeface="Fira Sans"/>
                <a:ea typeface="Fira Sans"/>
                <a:cs typeface="Fira Sans"/>
                <a:sym typeface="Fira Sans"/>
              </a:rPr>
              <a:t>Control de inventario</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217610"/>
            <a:ext cx="16230600" cy="58769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Los datos no estructurados son información sin un modelo de datos establecido o son datos que no están ordenados de manera predefinida, por lo regular son datos cualitativos.</a:t>
            </a:r>
          </a:p>
          <a:p>
            <a:pPr algn="l">
              <a:lnSpc>
                <a:spcPts val="4200"/>
              </a:lnSpc>
            </a:pPr>
          </a:p>
          <a:p>
            <a:pPr algn="l">
              <a:lnSpc>
                <a:spcPts val="4200"/>
              </a:lnSpc>
            </a:pPr>
            <a:r>
              <a:rPr lang="en-US" sz="3500">
                <a:solidFill>
                  <a:srgbClr val="000000"/>
                </a:solidFill>
                <a:latin typeface="Fira Sans"/>
                <a:ea typeface="Fira Sans"/>
                <a:cs typeface="Fira Sans"/>
                <a:sym typeface="Fira Sans"/>
              </a:rPr>
              <a:t>Ejemplos de datos no estructurados:</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Archivos de texto</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Archivos de video</a:t>
            </a:r>
          </a:p>
          <a:p>
            <a:pPr algn="l">
              <a:lnSpc>
                <a:spcPts val="4200"/>
              </a:lnSpc>
            </a:pPr>
            <a:r>
              <a:rPr lang="en-US" sz="3500">
                <a:solidFill>
                  <a:srgbClr val="000000"/>
                </a:solidFill>
                <a:latin typeface="Fira Sans"/>
                <a:ea typeface="Fira Sans"/>
                <a:cs typeface="Fira Sans"/>
                <a:sym typeface="Fira Sans"/>
              </a:rPr>
              <a:t>?</a:t>
            </a:r>
          </a:p>
          <a:p>
            <a:pPr algn="l" marL="755651" indent="-377825" lvl="1">
              <a:lnSpc>
                <a:spcPts val="4200"/>
              </a:lnSpc>
              <a:spcBef>
                <a:spcPct val="0"/>
              </a:spcBef>
              <a:buFont typeface="Arial"/>
              <a:buChar char="•"/>
            </a:pPr>
            <a:r>
              <a:rPr lang="en-US" sz="3500">
                <a:solidFill>
                  <a:srgbClr val="000000"/>
                </a:solidFill>
                <a:latin typeface="Fira Sans"/>
                <a:ea typeface="Fira Sans"/>
                <a:cs typeface="Fira Sans"/>
                <a:sym typeface="Fira Sans"/>
              </a:rPr>
              <a:t>Imágenes </a:t>
            </a: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A181"/>
                </a:solidFill>
                <a:latin typeface="Fira Sans Medium"/>
                <a:ea typeface="Fira Sans Medium"/>
                <a:cs typeface="Fira Sans Medium"/>
                <a:sym typeface="Fira Sans Medium"/>
              </a:rPr>
              <a:t>Datos no estructurados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50032" y="4264954"/>
            <a:ext cx="9387936" cy="5374659"/>
          </a:xfrm>
          <a:custGeom>
            <a:avLst/>
            <a:gdLst/>
            <a:ahLst/>
            <a:cxnLst/>
            <a:rect r="r" b="b" t="t" l="l"/>
            <a:pathLst>
              <a:path h="5374659" w="9387936">
                <a:moveTo>
                  <a:pt x="0" y="0"/>
                </a:moveTo>
                <a:lnTo>
                  <a:pt x="9387936" y="0"/>
                </a:lnTo>
                <a:lnTo>
                  <a:pt x="9387936" y="5374659"/>
                </a:lnTo>
                <a:lnTo>
                  <a:pt x="0" y="5374659"/>
                </a:lnTo>
                <a:lnTo>
                  <a:pt x="0" y="0"/>
                </a:lnTo>
                <a:close/>
              </a:path>
            </a:pathLst>
          </a:custGeom>
          <a:blipFill>
            <a:blip r:embed="rId2"/>
            <a:stretch>
              <a:fillRect l="-8227" t="-5826" r="-7783" b="-8157"/>
            </a:stretch>
          </a:blipFill>
        </p:spPr>
      </p:sp>
      <p:sp>
        <p:nvSpPr>
          <p:cNvPr name="TextBox 3" id="3"/>
          <p:cNvSpPr txBox="true"/>
          <p:nvPr/>
        </p:nvSpPr>
        <p:spPr>
          <a:xfrm rot="0">
            <a:off x="1028700" y="1019175"/>
            <a:ext cx="16230600" cy="26765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000000"/>
                </a:solidFill>
                <a:latin typeface="Fira Sans"/>
                <a:ea typeface="Fira Sans"/>
                <a:cs typeface="Fira Sans"/>
                <a:sym typeface="Fira Sans"/>
              </a:rPr>
              <a:t>Las empresas están creando datos a un ritmo exponencial y entre un </a:t>
            </a:r>
            <a:r>
              <a:rPr lang="en-US" b="true" sz="3500">
                <a:solidFill>
                  <a:srgbClr val="000000"/>
                </a:solidFill>
                <a:latin typeface="Fira Sans Bold"/>
                <a:ea typeface="Fira Sans Bold"/>
                <a:cs typeface="Fira Sans Bold"/>
                <a:sym typeface="Fira Sans Bold"/>
              </a:rPr>
              <a:t>80% </a:t>
            </a:r>
            <a:r>
              <a:rPr lang="en-US" sz="3500">
                <a:solidFill>
                  <a:srgbClr val="000000"/>
                </a:solidFill>
                <a:latin typeface="Fira Sans"/>
                <a:ea typeface="Fira Sans"/>
                <a:cs typeface="Fira Sans"/>
                <a:sym typeface="Fira Sans"/>
              </a:rPr>
              <a:t>y </a:t>
            </a:r>
            <a:r>
              <a:rPr lang="en-US" b="true" sz="3500">
                <a:solidFill>
                  <a:srgbClr val="000000"/>
                </a:solidFill>
                <a:latin typeface="Fira Sans Bold"/>
                <a:ea typeface="Fira Sans Bold"/>
                <a:cs typeface="Fira Sans Bold"/>
                <a:sym typeface="Fira Sans Bold"/>
              </a:rPr>
              <a:t>90% </a:t>
            </a:r>
            <a:r>
              <a:rPr lang="en-US" sz="3500">
                <a:solidFill>
                  <a:srgbClr val="000000"/>
                </a:solidFill>
                <a:latin typeface="Fira Sans"/>
                <a:ea typeface="Fira Sans"/>
                <a:cs typeface="Fira Sans"/>
                <a:sym typeface="Fira Sans"/>
              </a:rPr>
              <a:t>son datos no estructurados.</a:t>
            </a:r>
          </a:p>
          <a:p>
            <a:pPr algn="l">
              <a:lnSpc>
                <a:spcPts val="4200"/>
              </a:lnSpc>
            </a:pPr>
          </a:p>
          <a:p>
            <a:pPr algn="l" marL="755651" indent="-377825" lvl="1">
              <a:lnSpc>
                <a:spcPts val="4200"/>
              </a:lnSpc>
              <a:spcBef>
                <a:spcPct val="0"/>
              </a:spcBef>
              <a:buFont typeface="Arial"/>
              <a:buChar char="•"/>
            </a:pPr>
            <a:r>
              <a:rPr lang="en-US" sz="3500">
                <a:solidFill>
                  <a:srgbClr val="000000"/>
                </a:solidFill>
                <a:latin typeface="Fira Sans"/>
                <a:ea typeface="Fira Sans"/>
                <a:cs typeface="Fira Sans"/>
                <a:sym typeface="Fira Sans"/>
              </a:rPr>
              <a:t>Para los datos no estructurados se necesitan diferentes tecnologías y estrategias para llevar a cabo un análisis eficiente de los mismos.</a:t>
            </a:r>
            <a:r>
              <a:rPr lang="en-US" sz="3500">
                <a:solidFill>
                  <a:srgbClr val="000000"/>
                </a:solidFill>
                <a:latin typeface="Fira Sans"/>
                <a:ea typeface="Fira Sans"/>
                <a:cs typeface="Fira Sans"/>
                <a:sym typeface="Fira Sans"/>
              </a:rPr>
              <a:t> </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72979" y="2232037"/>
            <a:ext cx="16230600" cy="64103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000000"/>
                </a:solidFill>
                <a:latin typeface="Fira Sans"/>
                <a:ea typeface="Fira Sans"/>
                <a:cs typeface="Fira Sans"/>
                <a:sym typeface="Fira Sans"/>
              </a:rPr>
              <a:t>Son una categoría intermedia entre los datos estructurados y los no estructurados. </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No pueden considerarse datos totalmente estructurados porque carecen de un modelo de datos relacional o tabular específico. No obstante incluyen metadatos que se pueden analizar, como etiquetas y otros marcadores.</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Es más fácil obtener información de los datos semiestructurados que de los no estructurados.</a:t>
            </a:r>
          </a:p>
          <a:p>
            <a:pPr algn="l">
              <a:lnSpc>
                <a:spcPts val="4200"/>
              </a:lnSpc>
            </a:pPr>
          </a:p>
          <a:p>
            <a:pPr algn="l" marL="755651" indent="-377825" lvl="1">
              <a:lnSpc>
                <a:spcPts val="4200"/>
              </a:lnSpc>
              <a:spcBef>
                <a:spcPct val="0"/>
              </a:spcBef>
              <a:buFont typeface="Arial"/>
              <a:buChar char="•"/>
            </a:pPr>
            <a:r>
              <a:rPr lang="en-US" sz="3500">
                <a:solidFill>
                  <a:srgbClr val="000000"/>
                </a:solidFill>
                <a:latin typeface="Fira Sans"/>
                <a:ea typeface="Fira Sans"/>
                <a:cs typeface="Fira Sans"/>
                <a:sym typeface="Fira Sans"/>
              </a:rPr>
              <a:t>No se adhieren a un modelo de datos predefinido del modo en que lo hacen los datos estructurados.</a:t>
            </a: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A181"/>
                </a:solidFill>
                <a:latin typeface="Fira Sans Medium"/>
                <a:ea typeface="Fira Sans Medium"/>
                <a:cs typeface="Fira Sans Medium"/>
                <a:sym typeface="Fira Sans Medium"/>
              </a:rPr>
              <a:t>Datos semiestructurados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018355" y="6071643"/>
            <a:ext cx="8037282" cy="3186657"/>
          </a:xfrm>
          <a:custGeom>
            <a:avLst/>
            <a:gdLst/>
            <a:ahLst/>
            <a:cxnLst/>
            <a:rect r="r" b="b" t="t" l="l"/>
            <a:pathLst>
              <a:path h="3186657" w="8037282">
                <a:moveTo>
                  <a:pt x="0" y="0"/>
                </a:moveTo>
                <a:lnTo>
                  <a:pt x="8037283" y="0"/>
                </a:lnTo>
                <a:lnTo>
                  <a:pt x="8037283" y="3186657"/>
                </a:lnTo>
                <a:lnTo>
                  <a:pt x="0" y="3186657"/>
                </a:lnTo>
                <a:lnTo>
                  <a:pt x="0" y="0"/>
                </a:lnTo>
                <a:close/>
              </a:path>
            </a:pathLst>
          </a:custGeom>
          <a:blipFill>
            <a:blip r:embed="rId2"/>
            <a:stretch>
              <a:fillRect l="0" t="0" r="0" b="0"/>
            </a:stretch>
          </a:blipFill>
        </p:spPr>
      </p:sp>
      <p:sp>
        <p:nvSpPr>
          <p:cNvPr name="Freeform 3" id="3"/>
          <p:cNvSpPr/>
          <p:nvPr/>
        </p:nvSpPr>
        <p:spPr>
          <a:xfrm flipH="false" flipV="false" rot="0">
            <a:off x="4312431" y="2471738"/>
            <a:ext cx="4316693" cy="4316693"/>
          </a:xfrm>
          <a:custGeom>
            <a:avLst/>
            <a:gdLst/>
            <a:ahLst/>
            <a:cxnLst/>
            <a:rect r="r" b="b" t="t" l="l"/>
            <a:pathLst>
              <a:path h="4316693" w="4316693">
                <a:moveTo>
                  <a:pt x="0" y="0"/>
                </a:moveTo>
                <a:lnTo>
                  <a:pt x="4316692" y="0"/>
                </a:lnTo>
                <a:lnTo>
                  <a:pt x="4316692" y="4316692"/>
                </a:lnTo>
                <a:lnTo>
                  <a:pt x="0" y="4316692"/>
                </a:lnTo>
                <a:lnTo>
                  <a:pt x="0" y="0"/>
                </a:lnTo>
                <a:close/>
              </a:path>
            </a:pathLst>
          </a:custGeom>
          <a:blipFill>
            <a:blip r:embed="rId3"/>
            <a:stretch>
              <a:fillRect l="0" t="0" r="0" b="0"/>
            </a:stretch>
          </a:blipFill>
        </p:spPr>
      </p:sp>
      <p:sp>
        <p:nvSpPr>
          <p:cNvPr name="TextBox 4" id="4"/>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Ejemplos de datos semiestructurados</a:t>
            </a:r>
          </a:p>
        </p:txBody>
      </p:sp>
      <p:sp>
        <p:nvSpPr>
          <p:cNvPr name="TextBox 5" id="5"/>
          <p:cNvSpPr txBox="true"/>
          <p:nvPr/>
        </p:nvSpPr>
        <p:spPr>
          <a:xfrm rot="0">
            <a:off x="1028700" y="2462213"/>
            <a:ext cx="15200847" cy="26765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000000"/>
                </a:solidFill>
                <a:latin typeface="Fira Sans"/>
                <a:ea typeface="Fira Sans"/>
                <a:cs typeface="Fira Sans"/>
                <a:sym typeface="Fira Sans"/>
              </a:rPr>
              <a:t>XML </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JSON</a:t>
            </a:r>
          </a:p>
          <a:p>
            <a:pPr algn="l">
              <a:lnSpc>
                <a:spcPts val="4200"/>
              </a:lnSpc>
            </a:pPr>
          </a:p>
          <a:p>
            <a:pPr algn="l">
              <a:lnSpc>
                <a:spcPts val="42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19670" y="1869675"/>
            <a:ext cx="12048660" cy="7859700"/>
          </a:xfrm>
          <a:custGeom>
            <a:avLst/>
            <a:gdLst/>
            <a:ahLst/>
            <a:cxnLst/>
            <a:rect r="r" b="b" t="t" l="l"/>
            <a:pathLst>
              <a:path h="7859700" w="12048660">
                <a:moveTo>
                  <a:pt x="0" y="0"/>
                </a:moveTo>
                <a:lnTo>
                  <a:pt x="12048660" y="0"/>
                </a:lnTo>
                <a:lnTo>
                  <a:pt x="12048660" y="7859700"/>
                </a:lnTo>
                <a:lnTo>
                  <a:pt x="0" y="7859700"/>
                </a:lnTo>
                <a:lnTo>
                  <a:pt x="0" y="0"/>
                </a:lnTo>
                <a:close/>
              </a:path>
            </a:pathLst>
          </a:custGeom>
          <a:blipFill>
            <a:blip r:embed="rId2"/>
            <a:stretch>
              <a:fillRect l="0" t="0" r="0" b="0"/>
            </a:stretch>
          </a:blipFill>
        </p:spPr>
      </p:sp>
      <p:sp>
        <p:nvSpPr>
          <p:cNvPr name="TextBox 3" id="3"/>
          <p:cNvSpPr txBox="true"/>
          <p:nvPr/>
        </p:nvSpPr>
        <p:spPr>
          <a:xfrm rot="0">
            <a:off x="1028700" y="673796"/>
            <a:ext cx="16230600" cy="1028700"/>
          </a:xfrm>
          <a:prstGeom prst="rect">
            <a:avLst/>
          </a:prstGeom>
        </p:spPr>
        <p:txBody>
          <a:bodyPr anchor="t" rtlCol="false" tIns="0" lIns="0" bIns="0" rIns="0">
            <a:spAutoFit/>
          </a:bodyPr>
          <a:lstStyle/>
          <a:p>
            <a:pPr algn="l">
              <a:lnSpc>
                <a:spcPts val="8160"/>
              </a:lnSpc>
            </a:pPr>
            <a:r>
              <a:rPr lang="en-US" sz="6800" b="true">
                <a:solidFill>
                  <a:srgbClr val="004651"/>
                </a:solidFill>
                <a:latin typeface="Fira Sans Medium"/>
                <a:ea typeface="Fira Sans Medium"/>
                <a:cs typeface="Fira Sans Medium"/>
                <a:sym typeface="Fira Sans Medium"/>
              </a:rPr>
              <a:t>Datos estructurados vs no estructurados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1381896" y="780725"/>
            <a:ext cx="15524208" cy="872555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217610"/>
            <a:ext cx="16369943" cy="74771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Se refiere a un conjuntos de datos o combinaciones de conjuntos de datos cuyo tamaño (volumen), complejidad (variabilidad) y velocidad de crecimiento (velocidad) dificultan su captura, gestión, procesamiento o análisis mediante tecnologías o herramientas convencionales.</a:t>
            </a:r>
          </a:p>
          <a:p>
            <a:pPr algn="l">
              <a:lnSpc>
                <a:spcPts val="4200"/>
              </a:lnSpc>
            </a:pPr>
          </a:p>
          <a:p>
            <a:pPr algn="l">
              <a:lnSpc>
                <a:spcPts val="4200"/>
              </a:lnSpc>
            </a:pPr>
            <a:r>
              <a:rPr lang="en-US" sz="3500">
                <a:solidFill>
                  <a:srgbClr val="000000"/>
                </a:solidFill>
                <a:latin typeface="Fira Sans"/>
                <a:ea typeface="Fira Sans"/>
                <a:cs typeface="Fira Sans"/>
                <a:sym typeface="Fira Sans"/>
              </a:rPr>
              <a:t>La naturaleza compleja del Big Data se debe principalmente a la naturaleza no estructurada de gran parte de los datos generados por las tecnologías modernas.</a:t>
            </a:r>
          </a:p>
          <a:p>
            <a:pPr algn="l">
              <a:lnSpc>
                <a:spcPts val="4200"/>
              </a:lnSpc>
            </a:pPr>
          </a:p>
          <a:p>
            <a:pPr algn="l">
              <a:lnSpc>
                <a:spcPts val="4200"/>
              </a:lnSpc>
            </a:pPr>
            <a:r>
              <a:rPr lang="en-US" sz="3500">
                <a:solidFill>
                  <a:srgbClr val="000000"/>
                </a:solidFill>
                <a:latin typeface="Fira Sans"/>
                <a:ea typeface="Fira Sans"/>
                <a:cs typeface="Fira Sans"/>
                <a:sym typeface="Fira Sans"/>
              </a:rPr>
              <a:t>En la mayoría de los casos, con el fin de utilizar eficazmente el Big Data, debe combinarse con datos estructurados (normalmente de una base de datos relacional) de una aplicación comercial más convencional, como un ERP (Enterprise Resource Planning) o un CRM (Customer Relationship Management).</a:t>
            </a:r>
          </a:p>
          <a:p>
            <a:pPr algn="l">
              <a:lnSpc>
                <a:spcPts val="4200"/>
              </a:lnSpc>
              <a:spcBef>
                <a:spcPct val="0"/>
              </a:spcBef>
            </a:pP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A181"/>
                </a:solidFill>
                <a:latin typeface="Fira Sans Medium"/>
                <a:ea typeface="Fira Sans Medium"/>
                <a:cs typeface="Fira Sans Medium"/>
                <a:sym typeface="Fira Sans Medium"/>
              </a:rPr>
              <a:t>Big data</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Las 3 Vs del Big data</a:t>
            </a:r>
          </a:p>
        </p:txBody>
      </p:sp>
      <p:sp>
        <p:nvSpPr>
          <p:cNvPr name="TextBox 3" id="3"/>
          <p:cNvSpPr txBox="true"/>
          <p:nvPr/>
        </p:nvSpPr>
        <p:spPr>
          <a:xfrm rot="0">
            <a:off x="1028700" y="2205342"/>
            <a:ext cx="16411696" cy="6410325"/>
          </a:xfrm>
          <a:prstGeom prst="rect">
            <a:avLst/>
          </a:prstGeom>
        </p:spPr>
        <p:txBody>
          <a:bodyPr anchor="t" rtlCol="false" tIns="0" lIns="0" bIns="0" rIns="0">
            <a:spAutoFit/>
          </a:bodyPr>
          <a:lstStyle/>
          <a:p>
            <a:pPr algn="l" marL="755651" indent="-377825" lvl="1">
              <a:lnSpc>
                <a:spcPts val="4200"/>
              </a:lnSpc>
              <a:buFont typeface="Arial"/>
              <a:buChar char="•"/>
            </a:pPr>
            <a:r>
              <a:rPr lang="en-US" b="true" sz="3500">
                <a:solidFill>
                  <a:srgbClr val="000000"/>
                </a:solidFill>
                <a:latin typeface="Fira Sans Bold"/>
                <a:ea typeface="Fira Sans Bold"/>
                <a:cs typeface="Fira Sans Bold"/>
                <a:sym typeface="Fira Sans Bold"/>
              </a:rPr>
              <a:t>Volumen: </a:t>
            </a:r>
            <a:r>
              <a:rPr lang="en-US" sz="3500">
                <a:solidFill>
                  <a:srgbClr val="000000"/>
                </a:solidFill>
                <a:latin typeface="Fira Sans"/>
                <a:ea typeface="Fira Sans"/>
                <a:cs typeface="Fira Sans"/>
                <a:sym typeface="Fira Sans"/>
              </a:rPr>
              <a:t>Se refiere a la cantidad de datos recopilados, va desde terabytes hasta petabytes.</a:t>
            </a:r>
          </a:p>
          <a:p>
            <a:pPr algn="l">
              <a:lnSpc>
                <a:spcPts val="4200"/>
              </a:lnSpc>
            </a:pPr>
          </a:p>
          <a:p>
            <a:pPr algn="l" marL="755651" indent="-377825" lvl="1">
              <a:lnSpc>
                <a:spcPts val="4200"/>
              </a:lnSpc>
              <a:buFont typeface="Arial"/>
              <a:buChar char="•"/>
            </a:pPr>
            <a:r>
              <a:rPr lang="en-US" b="true" sz="3500">
                <a:solidFill>
                  <a:srgbClr val="000000"/>
                </a:solidFill>
                <a:latin typeface="Fira Sans Bold"/>
                <a:ea typeface="Fira Sans Bold"/>
                <a:cs typeface="Fira Sans Bold"/>
                <a:sym typeface="Fira Sans Bold"/>
              </a:rPr>
              <a:t>Variedad: </a:t>
            </a:r>
            <a:r>
              <a:rPr lang="en-US" sz="3500">
                <a:solidFill>
                  <a:srgbClr val="000000"/>
                </a:solidFill>
                <a:latin typeface="Fira Sans"/>
                <a:ea typeface="Fira Sans"/>
                <a:cs typeface="Fira Sans"/>
                <a:sym typeface="Fira Sans"/>
              </a:rPr>
              <a:t>Los datos provienen de diferentes fuentes y en diferentes formatos. Los datos pueden ser estructurados, semiestructurados o no estructurados.</a:t>
            </a:r>
          </a:p>
          <a:p>
            <a:pPr algn="l">
              <a:lnSpc>
                <a:spcPts val="4200"/>
              </a:lnSpc>
            </a:pPr>
          </a:p>
          <a:p>
            <a:pPr algn="l" marL="755651" indent="-377825" lvl="1">
              <a:lnSpc>
                <a:spcPts val="4200"/>
              </a:lnSpc>
              <a:spcBef>
                <a:spcPct val="0"/>
              </a:spcBef>
              <a:buFont typeface="Arial"/>
              <a:buChar char="•"/>
            </a:pPr>
            <a:r>
              <a:rPr lang="en-US" b="true" sz="3500">
                <a:solidFill>
                  <a:srgbClr val="000000"/>
                </a:solidFill>
                <a:latin typeface="Fira Sans Bold"/>
                <a:ea typeface="Fira Sans Bold"/>
                <a:cs typeface="Fira Sans Bold"/>
                <a:sym typeface="Fira Sans Bold"/>
              </a:rPr>
              <a:t>Velocidad: </a:t>
            </a:r>
            <a:r>
              <a:rPr lang="en-US" sz="3500">
                <a:solidFill>
                  <a:srgbClr val="000000"/>
                </a:solidFill>
                <a:latin typeface="Fira Sans"/>
                <a:ea typeface="Fira Sans"/>
                <a:cs typeface="Fira Sans"/>
                <a:sym typeface="Fira Sans"/>
              </a:rPr>
              <a:t>Cada vez más las empresas tienen requisitos exigentes desde el momento en que se generan lo datos al momento que se entrega información procesable a los usuario. Por lo tango, es necesario recopilar, almacenar, procesar y analizar los datos en periodos relativamente cortos de tiempo.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1436427" y="811375"/>
            <a:ext cx="15415147" cy="8664251"/>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217610"/>
            <a:ext cx="15200847" cy="74771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La ciencia de datos es el estudio de la extracción de conocimientos útiles a partir de datos utilizando métodos científicos, técnicas estadísticas y algoritmos computacionales.</a:t>
            </a:r>
          </a:p>
          <a:p>
            <a:pPr algn="l">
              <a:lnSpc>
                <a:spcPts val="4200"/>
              </a:lnSpc>
            </a:pPr>
          </a:p>
          <a:p>
            <a:pPr algn="l">
              <a:lnSpc>
                <a:spcPts val="4200"/>
              </a:lnSpc>
            </a:pPr>
            <a:r>
              <a:rPr lang="en-US" sz="3500">
                <a:solidFill>
                  <a:srgbClr val="000000"/>
                </a:solidFill>
                <a:latin typeface="Fira Sans"/>
                <a:ea typeface="Fira Sans"/>
                <a:cs typeface="Fira Sans"/>
                <a:sym typeface="Fira Sans"/>
              </a:rPr>
              <a:t>La ciencia de datos implica el proceso de recopilar, analizar e interpretar grandes cantidades de datos para encontrar patrones, conocimientos y tendencias. Luego, los conocimientos se utilizan para tomar decisiones basadas en datos.</a:t>
            </a:r>
          </a:p>
          <a:p>
            <a:pPr algn="l">
              <a:lnSpc>
                <a:spcPts val="4200"/>
              </a:lnSpc>
            </a:pPr>
          </a:p>
          <a:p>
            <a:pPr algn="l">
              <a:lnSpc>
                <a:spcPts val="4200"/>
              </a:lnSpc>
            </a:pPr>
            <a:r>
              <a:rPr lang="en-US" sz="3500">
                <a:solidFill>
                  <a:srgbClr val="000000"/>
                </a:solidFill>
                <a:latin typeface="Fira Sans"/>
                <a:ea typeface="Fira Sans"/>
                <a:cs typeface="Fira Sans"/>
                <a:sym typeface="Fira Sans"/>
              </a:rPr>
              <a:t>Combina principios y prácticas de:</a:t>
            </a: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Matemáticas</a:t>
            </a: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Estadística</a:t>
            </a: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Programación</a:t>
            </a:r>
          </a:p>
          <a:p>
            <a:pPr algn="l" marL="755651" indent="-377825" lvl="1">
              <a:lnSpc>
                <a:spcPts val="4200"/>
              </a:lnSpc>
              <a:spcBef>
                <a:spcPct val="0"/>
              </a:spcBef>
              <a:buFont typeface="Arial"/>
              <a:buChar char="•"/>
            </a:pPr>
            <a:r>
              <a:rPr lang="en-US" sz="3500">
                <a:solidFill>
                  <a:srgbClr val="000000"/>
                </a:solidFill>
                <a:latin typeface="Fira Sans"/>
                <a:ea typeface="Fira Sans"/>
                <a:cs typeface="Fira Sans"/>
                <a:sym typeface="Fira Sans"/>
              </a:rPr>
              <a:t>Inteligencia artificial</a:t>
            </a: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A181"/>
                </a:solidFill>
                <a:latin typeface="Fira Sans Medium"/>
                <a:ea typeface="Fira Sans Medium"/>
                <a:cs typeface="Fira Sans Medium"/>
                <a:sym typeface="Fira Sans Medium"/>
              </a:rPr>
              <a:t>Ciencia de datos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217610"/>
            <a:ext cx="15200847" cy="48101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Este análisis permite extraer información significativa para una empresa u organización. Además permite que los científicos de datos planteen y respondan a preguntas como:</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¿Qué paso?</a:t>
            </a: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¿Por que paso?</a:t>
            </a: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¿Qué pasará?</a:t>
            </a: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¿Qué se puede hacer con los resultados </a:t>
            </a:r>
          </a:p>
          <a:p>
            <a:pPr algn="l">
              <a:lnSpc>
                <a:spcPts val="4200"/>
              </a:lnSpc>
              <a:spcBef>
                <a:spcPct val="0"/>
              </a:spcBef>
            </a:pPr>
          </a:p>
        </p:txBody>
      </p:sp>
      <p:sp>
        <p:nvSpPr>
          <p:cNvPr name="Freeform 3" id="3"/>
          <p:cNvSpPr/>
          <p:nvPr/>
        </p:nvSpPr>
        <p:spPr>
          <a:xfrm flipH="false" flipV="false" rot="0">
            <a:off x="7174794" y="7254328"/>
            <a:ext cx="10084506" cy="2003972"/>
          </a:xfrm>
          <a:custGeom>
            <a:avLst/>
            <a:gdLst/>
            <a:ahLst/>
            <a:cxnLst/>
            <a:rect r="r" b="b" t="t" l="l"/>
            <a:pathLst>
              <a:path h="2003972" w="10084506">
                <a:moveTo>
                  <a:pt x="0" y="0"/>
                </a:moveTo>
                <a:lnTo>
                  <a:pt x="10084506" y="0"/>
                </a:lnTo>
                <a:lnTo>
                  <a:pt x="10084506" y="2003972"/>
                </a:lnTo>
                <a:lnTo>
                  <a:pt x="0" y="2003972"/>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2114550"/>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¿Por qué es importante la ciencia de datos?</a:t>
            </a:r>
          </a:p>
        </p:txBody>
      </p:sp>
      <p:sp>
        <p:nvSpPr>
          <p:cNvPr name="TextBox 3" id="3"/>
          <p:cNvSpPr txBox="true"/>
          <p:nvPr/>
        </p:nvSpPr>
        <p:spPr>
          <a:xfrm rot="0">
            <a:off x="1028700" y="3687588"/>
            <a:ext cx="15200847" cy="48101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Es importante porque combina herramientas, métodos y tecnología para generar significado a partir de los datos. Las organizaciones modernas están inundadas de datos; hay una proliferación de dispositivos que pueden recopilar y almacenar información de manera automática. Los sistemas en línea y los portales de pago capturan más datos en los campos del comercio electrónico, la medicina, las finanzas y cualquier otro aspecto de la vida humana. Disponemos de grandes cantidades de datos de texto, audio, video e imágenes. </a:t>
            </a:r>
          </a:p>
          <a:p>
            <a:pPr algn="l">
              <a:lnSpc>
                <a:spcPts val="420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¿Para qué se utiliza la ciencia de datos?</a:t>
            </a:r>
          </a:p>
        </p:txBody>
      </p:sp>
      <p:sp>
        <p:nvSpPr>
          <p:cNvPr name="TextBox 3" id="3"/>
          <p:cNvSpPr txBox="true"/>
          <p:nvPr/>
        </p:nvSpPr>
        <p:spPr>
          <a:xfrm rot="0">
            <a:off x="1028700" y="2605365"/>
            <a:ext cx="15200847" cy="53435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Utiliza los datos de cuatro maneras principales:</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Análisis descriptivo</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Análisis de diagnóstico</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Análisis predictivo</a:t>
            </a:r>
          </a:p>
          <a:p>
            <a:pPr algn="l">
              <a:lnSpc>
                <a:spcPts val="4200"/>
              </a:lnSpc>
            </a:pPr>
          </a:p>
          <a:p>
            <a:pPr algn="l" marL="755651" indent="-377825" lvl="1">
              <a:lnSpc>
                <a:spcPts val="4200"/>
              </a:lnSpc>
              <a:buFont typeface="Arial"/>
              <a:buChar char="•"/>
            </a:pPr>
            <a:r>
              <a:rPr lang="en-US" sz="3500">
                <a:solidFill>
                  <a:srgbClr val="000000"/>
                </a:solidFill>
                <a:latin typeface="Fira Sans"/>
                <a:ea typeface="Fira Sans"/>
                <a:cs typeface="Fira Sans"/>
                <a:sym typeface="Fira Sans"/>
              </a:rPr>
              <a:t>Análisis prescriptivo</a:t>
            </a:r>
          </a:p>
          <a:p>
            <a:pPr algn="l">
              <a:lnSpc>
                <a:spcPts val="420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Análisis descriptivo</a:t>
            </a:r>
          </a:p>
        </p:txBody>
      </p:sp>
      <p:sp>
        <p:nvSpPr>
          <p:cNvPr name="TextBox 3" id="3"/>
          <p:cNvSpPr txBox="true"/>
          <p:nvPr/>
        </p:nvSpPr>
        <p:spPr>
          <a:xfrm rot="0">
            <a:off x="1028700" y="2605365"/>
            <a:ext cx="15200847" cy="53435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El análisis descriptivo examina los datos para obtener información sobre lo que ha ocurrido u ocurre en el entorno de datos. Se caracteriza por las visualizaciones de datos, como los gráficos circulares, de barras o líneas, las tablas o las narraciones generadas. </a:t>
            </a:r>
          </a:p>
          <a:p>
            <a:pPr algn="l">
              <a:lnSpc>
                <a:spcPts val="4200"/>
              </a:lnSpc>
            </a:pPr>
          </a:p>
          <a:p>
            <a:pPr algn="l">
              <a:lnSpc>
                <a:spcPts val="4200"/>
              </a:lnSpc>
            </a:pPr>
            <a:r>
              <a:rPr lang="en-US" sz="3500" b="true">
                <a:solidFill>
                  <a:srgbClr val="000000"/>
                </a:solidFill>
                <a:latin typeface="Fira Sans Bold"/>
                <a:ea typeface="Fira Sans Bold"/>
                <a:cs typeface="Fira Sans Bold"/>
                <a:sym typeface="Fira Sans Bold"/>
              </a:rPr>
              <a:t>Ejemplo</a:t>
            </a:r>
          </a:p>
          <a:p>
            <a:pPr algn="l">
              <a:lnSpc>
                <a:spcPts val="4200"/>
              </a:lnSpc>
            </a:pPr>
            <a:r>
              <a:rPr lang="en-US" sz="3500">
                <a:solidFill>
                  <a:srgbClr val="000000"/>
                </a:solidFill>
                <a:latin typeface="Fira Sans"/>
                <a:ea typeface="Fira Sans"/>
                <a:cs typeface="Fira Sans"/>
                <a:sym typeface="Fira Sans"/>
              </a:rPr>
              <a:t>Un servicio de reserva de vuelos registra datos como el número de billetes reservados cada día. El análisis descriptivo revelará los picos y las caídas de las reservas, así como los meses de alto rendimiento del servicio.</a:t>
            </a:r>
          </a:p>
          <a:p>
            <a:pPr algn="l">
              <a:lnSpc>
                <a:spcPts val="4200"/>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Análisis de diagnóstico</a:t>
            </a:r>
          </a:p>
        </p:txBody>
      </p:sp>
      <p:sp>
        <p:nvSpPr>
          <p:cNvPr name="TextBox 3" id="3"/>
          <p:cNvSpPr txBox="true"/>
          <p:nvPr/>
        </p:nvSpPr>
        <p:spPr>
          <a:xfrm rot="0">
            <a:off x="1028700" y="2605365"/>
            <a:ext cx="15200847" cy="64103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El análisis de diagnóstico es un examen profundo o detallado de datos para entender por qué ha ocurrido algo. Se caracteriza por técnicas como el análisis detallado, el descubrimiento y la minería de datos o las correlaciones. Se pueden llevar a cabo varias operaciones y transformaciones de datos en un determinado conjunto con el fin de descubrir patrones únicos en cada una de estas técnicas. </a:t>
            </a:r>
          </a:p>
          <a:p>
            <a:pPr algn="l">
              <a:lnSpc>
                <a:spcPts val="4200"/>
              </a:lnSpc>
            </a:pPr>
          </a:p>
          <a:p>
            <a:pPr algn="l">
              <a:lnSpc>
                <a:spcPts val="4200"/>
              </a:lnSpc>
            </a:pPr>
            <a:r>
              <a:rPr lang="en-US" sz="3500" b="true">
                <a:solidFill>
                  <a:srgbClr val="000000"/>
                </a:solidFill>
                <a:latin typeface="Fira Sans Bold"/>
                <a:ea typeface="Fira Sans Bold"/>
                <a:cs typeface="Fira Sans Bold"/>
                <a:sym typeface="Fira Sans Bold"/>
              </a:rPr>
              <a:t>Ejemplo</a:t>
            </a:r>
          </a:p>
          <a:p>
            <a:pPr algn="l">
              <a:lnSpc>
                <a:spcPts val="4200"/>
              </a:lnSpc>
              <a:spcBef>
                <a:spcPct val="0"/>
              </a:spcBef>
            </a:pPr>
            <a:r>
              <a:rPr lang="en-US" sz="3500">
                <a:solidFill>
                  <a:srgbClr val="000000"/>
                </a:solidFill>
                <a:latin typeface="Fira Sans"/>
                <a:ea typeface="Fira Sans"/>
                <a:cs typeface="Fira Sans"/>
                <a:sym typeface="Fira Sans"/>
              </a:rPr>
              <a:t>El servicio de vuelos podría hacer el análisis detallado de un mes con un rendimiento particularmente alto para entender mejor el pico de reservas. Esto puede revelar que muchos clientes visitan una determinada ciudad para asistir a un evento deportivo mensual.</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Análisis predictivo</a:t>
            </a:r>
          </a:p>
        </p:txBody>
      </p:sp>
      <p:sp>
        <p:nvSpPr>
          <p:cNvPr name="TextBox 3" id="3"/>
          <p:cNvSpPr txBox="true"/>
          <p:nvPr/>
        </p:nvSpPr>
        <p:spPr>
          <a:xfrm rot="0">
            <a:off x="1028700" y="2076450"/>
            <a:ext cx="16424229" cy="74771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El análisis predictivo utiliza los datos históricos para hacer previsiones precisas sobre los patrones de datos que pueden producirse en el futuro. Se caracteriza por técnicas como el machine learning, la previsión, la coincidencia de patrones y el modelado predictivo. En cada una de estas técnicas, se entrena a las computadoras para aplicar ingeniería inversa a las conexiones de causalidad en los datos. </a:t>
            </a:r>
          </a:p>
          <a:p>
            <a:pPr algn="l">
              <a:lnSpc>
                <a:spcPts val="4200"/>
              </a:lnSpc>
            </a:pPr>
          </a:p>
          <a:p>
            <a:pPr algn="l">
              <a:lnSpc>
                <a:spcPts val="4200"/>
              </a:lnSpc>
            </a:pPr>
            <a:r>
              <a:rPr lang="en-US" sz="3500" b="true">
                <a:solidFill>
                  <a:srgbClr val="000000"/>
                </a:solidFill>
                <a:latin typeface="Fira Sans Bold"/>
                <a:ea typeface="Fira Sans Bold"/>
                <a:cs typeface="Fira Sans Bold"/>
                <a:sym typeface="Fira Sans Bold"/>
              </a:rPr>
              <a:t>Ejemplo:</a:t>
            </a:r>
            <a:r>
              <a:rPr lang="en-US" sz="3500">
                <a:solidFill>
                  <a:srgbClr val="000000"/>
                </a:solidFill>
                <a:latin typeface="Fira Sans"/>
                <a:ea typeface="Fira Sans"/>
                <a:cs typeface="Fira Sans"/>
                <a:sym typeface="Fira Sans"/>
              </a:rPr>
              <a:t> </a:t>
            </a:r>
          </a:p>
          <a:p>
            <a:pPr algn="l">
              <a:lnSpc>
                <a:spcPts val="4200"/>
              </a:lnSpc>
              <a:spcBef>
                <a:spcPct val="0"/>
              </a:spcBef>
            </a:pPr>
            <a:r>
              <a:rPr lang="en-US" sz="3500">
                <a:solidFill>
                  <a:srgbClr val="000000"/>
                </a:solidFill>
                <a:latin typeface="Fira Sans"/>
                <a:ea typeface="Fira Sans"/>
                <a:cs typeface="Fira Sans"/>
                <a:sym typeface="Fira Sans"/>
              </a:rPr>
              <a:t>El equipo de servicios de vuelo podría utilizar la ciencia de datos para predecir los patrones de reserva de vuelos del año siguiente al inicio de cada año. El programa o algoritmo de la computadora pueden examinar datos anteriores y predecir picos de reservas de determinados destinos en mayo. Al anticiparse a las futuras necesidades de viaje de los clientes, la empresa podría empezar desde febrero a hacer publicidad específica para esas ciudades.</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Análisis prescriptivo</a:t>
            </a:r>
          </a:p>
        </p:txBody>
      </p:sp>
      <p:sp>
        <p:nvSpPr>
          <p:cNvPr name="TextBox 3" id="3"/>
          <p:cNvSpPr txBox="true"/>
          <p:nvPr/>
        </p:nvSpPr>
        <p:spPr>
          <a:xfrm rot="0">
            <a:off x="1028700" y="2076450"/>
            <a:ext cx="16568179" cy="8010525"/>
          </a:xfrm>
          <a:prstGeom prst="rect">
            <a:avLst/>
          </a:prstGeom>
        </p:spPr>
        <p:txBody>
          <a:bodyPr anchor="t" rtlCol="false" tIns="0" lIns="0" bIns="0" rIns="0">
            <a:spAutoFit/>
          </a:bodyPr>
          <a:lstStyle/>
          <a:p>
            <a:pPr algn="l">
              <a:lnSpc>
                <a:spcPts val="4200"/>
              </a:lnSpc>
            </a:pPr>
            <a:r>
              <a:rPr lang="en-US" sz="3500">
                <a:solidFill>
                  <a:srgbClr val="000000"/>
                </a:solidFill>
                <a:latin typeface="Fira Sans"/>
                <a:ea typeface="Fira Sans"/>
                <a:cs typeface="Fira Sans"/>
                <a:sym typeface="Fira Sans"/>
              </a:rPr>
              <a:t>El análisis prescriptivo lleva los datos predictivos al siguiente nivel. No solo predice lo que es probable que ocurra, sino que sugiere una respuesta óptima para ese resultado. Puede analizar las posibles implicaciones de las diferentes alternativas y recomendar el mejor curso de acción. Utiliza el análisis de gráficos, la simulación, el procesamiento de eventos complejos, las redes neuronales y los motores de recomendación del machine learning.     </a:t>
            </a:r>
          </a:p>
          <a:p>
            <a:pPr algn="l">
              <a:lnSpc>
                <a:spcPts val="4200"/>
              </a:lnSpc>
            </a:pPr>
            <a:r>
              <a:rPr lang="en-US" sz="3500">
                <a:solidFill>
                  <a:srgbClr val="000000"/>
                </a:solidFill>
                <a:latin typeface="Fira Sans"/>
                <a:ea typeface="Fira Sans"/>
                <a:cs typeface="Fira Sans"/>
                <a:sym typeface="Fira Sans"/>
              </a:rPr>
              <a:t>    </a:t>
            </a:r>
          </a:p>
          <a:p>
            <a:pPr algn="l">
              <a:lnSpc>
                <a:spcPts val="4200"/>
              </a:lnSpc>
            </a:pPr>
            <a:r>
              <a:rPr lang="en-US" sz="3500" b="true">
                <a:solidFill>
                  <a:srgbClr val="000000"/>
                </a:solidFill>
                <a:latin typeface="Fira Sans Bold"/>
                <a:ea typeface="Fira Sans Bold"/>
                <a:cs typeface="Fira Sans Bold"/>
                <a:sym typeface="Fira Sans Bold"/>
              </a:rPr>
              <a:t>E</a:t>
            </a:r>
            <a:r>
              <a:rPr lang="en-US" sz="3500" b="true">
                <a:solidFill>
                  <a:srgbClr val="000000"/>
                </a:solidFill>
                <a:latin typeface="Fira Sans Bold"/>
                <a:ea typeface="Fira Sans Bold"/>
                <a:cs typeface="Fira Sans Bold"/>
                <a:sym typeface="Fira Sans Bold"/>
              </a:rPr>
              <a:t>jemplo: </a:t>
            </a:r>
          </a:p>
          <a:p>
            <a:pPr algn="l">
              <a:lnSpc>
                <a:spcPts val="4200"/>
              </a:lnSpc>
            </a:pPr>
            <a:r>
              <a:rPr lang="en-US" sz="3500">
                <a:solidFill>
                  <a:srgbClr val="000000"/>
                </a:solidFill>
                <a:latin typeface="Fira Sans"/>
                <a:ea typeface="Fira Sans"/>
                <a:cs typeface="Fira Sans"/>
                <a:sym typeface="Fira Sans"/>
              </a:rPr>
              <a:t>De la reserva de vuelos, el análisis prescriptivo podría examinar las campañas de marketing históricas para maximizar la ventaja del próximo pico de reservas. Un científico de datos podría proyectar los resultados de las reservas de diferentes niveles de gasto en varios canales de marketing. Estas previsiones de datos dan a la empresa de reserva de vuelos una mayor confianza en sus decisiones de marketing.</a:t>
            </a:r>
          </a:p>
          <a:p>
            <a:pPr algn="l">
              <a:lnSpc>
                <a:spcPts val="4200"/>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2114550"/>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Beneficios de la ciencia de datos para las empresas</a:t>
            </a:r>
          </a:p>
        </p:txBody>
      </p:sp>
      <p:sp>
        <p:nvSpPr>
          <p:cNvPr name="TextBox 3" id="3"/>
          <p:cNvSpPr txBox="true"/>
          <p:nvPr/>
        </p:nvSpPr>
        <p:spPr>
          <a:xfrm rot="0">
            <a:off x="1028700" y="3375830"/>
            <a:ext cx="16568179" cy="5876925"/>
          </a:xfrm>
          <a:prstGeom prst="rect">
            <a:avLst/>
          </a:prstGeom>
        </p:spPr>
        <p:txBody>
          <a:bodyPr anchor="t" rtlCol="false" tIns="0" lIns="0" bIns="0" rIns="0">
            <a:spAutoFit/>
          </a:bodyPr>
          <a:lstStyle/>
          <a:p>
            <a:pPr algn="l" marL="755778" indent="-377889" lvl="1">
              <a:lnSpc>
                <a:spcPts val="4200"/>
              </a:lnSpc>
              <a:buFont typeface="Arial"/>
              <a:buChar char="•"/>
            </a:pPr>
            <a:r>
              <a:rPr lang="en-US" b="true" sz="3500">
                <a:solidFill>
                  <a:srgbClr val="000000"/>
                </a:solidFill>
                <a:latin typeface="Fira Sans Bold"/>
                <a:ea typeface="Fira Sans Bold"/>
                <a:cs typeface="Fira Sans Bold"/>
                <a:sym typeface="Fira Sans Bold"/>
              </a:rPr>
              <a:t>Descubrir patrones desconocidos de transformación</a:t>
            </a:r>
            <a:r>
              <a:rPr lang="en-US" sz="3500">
                <a:solidFill>
                  <a:srgbClr val="000000"/>
                </a:solidFill>
                <a:latin typeface="Fira Sans"/>
                <a:ea typeface="Fira Sans"/>
                <a:cs typeface="Fira Sans"/>
                <a:sym typeface="Fira Sans"/>
              </a:rPr>
              <a:t>: La ciencia de datos permite a las empresas descubrir nuevos patrones y relaciones con el potencial de transformar la organización. Puede revelar cambios de bajo coste en la administración de recursos para obtener el máximo impacto en los márgenes de beneficio. </a:t>
            </a:r>
          </a:p>
          <a:p>
            <a:pPr algn="l">
              <a:lnSpc>
                <a:spcPts val="4200"/>
              </a:lnSpc>
            </a:pPr>
          </a:p>
          <a:p>
            <a:pPr algn="l" marL="755778" indent="-377889" lvl="1">
              <a:lnSpc>
                <a:spcPts val="4200"/>
              </a:lnSpc>
              <a:spcBef>
                <a:spcPct val="0"/>
              </a:spcBef>
              <a:buFont typeface="Arial"/>
              <a:buChar char="•"/>
            </a:pPr>
            <a:r>
              <a:rPr lang="en-US" b="true" sz="3500">
                <a:solidFill>
                  <a:srgbClr val="000000"/>
                </a:solidFill>
                <a:latin typeface="Fira Sans Bold"/>
                <a:ea typeface="Fira Sans Bold"/>
                <a:cs typeface="Fira Sans Bold"/>
                <a:sym typeface="Fira Sans Bold"/>
              </a:rPr>
              <a:t>Innovar con nuevos productos y soluciones: </a:t>
            </a:r>
            <a:r>
              <a:rPr lang="en-US" sz="3500">
                <a:solidFill>
                  <a:srgbClr val="000000"/>
                </a:solidFill>
                <a:latin typeface="Fira Sans"/>
                <a:ea typeface="Fira Sans"/>
                <a:cs typeface="Fira Sans"/>
                <a:sym typeface="Fira Sans"/>
              </a:rPr>
              <a:t>La ciencia de datos puede revelar lagunas y problemas que de otro modo pasarían desapercibidos. Mejor información sobre las decisiones de compra, los comentarios de los clientes y los procesos empresariales puede impulsar la innovación en las operaciones internas y las soluciones externas. </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2114550"/>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Beneficios de la ciencia de datos para las empresas</a:t>
            </a:r>
          </a:p>
        </p:txBody>
      </p:sp>
      <p:sp>
        <p:nvSpPr>
          <p:cNvPr name="TextBox 3" id="3"/>
          <p:cNvSpPr txBox="true"/>
          <p:nvPr/>
        </p:nvSpPr>
        <p:spPr>
          <a:xfrm rot="0">
            <a:off x="1028700" y="3375830"/>
            <a:ext cx="16568179" cy="2676525"/>
          </a:xfrm>
          <a:prstGeom prst="rect">
            <a:avLst/>
          </a:prstGeom>
        </p:spPr>
        <p:txBody>
          <a:bodyPr anchor="t" rtlCol="false" tIns="0" lIns="0" bIns="0" rIns="0">
            <a:spAutoFit/>
          </a:bodyPr>
          <a:lstStyle/>
          <a:p>
            <a:pPr algn="l" marL="755778" indent="-377889" lvl="1">
              <a:lnSpc>
                <a:spcPts val="4200"/>
              </a:lnSpc>
              <a:spcBef>
                <a:spcPct val="0"/>
              </a:spcBef>
              <a:buFont typeface="Arial"/>
              <a:buChar char="•"/>
            </a:pPr>
            <a:r>
              <a:rPr lang="en-US" b="true" sz="3500">
                <a:solidFill>
                  <a:srgbClr val="000000"/>
                </a:solidFill>
                <a:latin typeface="Fira Sans Bold"/>
                <a:ea typeface="Fira Sans Bold"/>
                <a:cs typeface="Fira Sans Bold"/>
                <a:sym typeface="Fira Sans Bold"/>
              </a:rPr>
              <a:t>Optimización en tiempo real: </a:t>
            </a:r>
            <a:r>
              <a:rPr lang="en-US" sz="3500">
                <a:solidFill>
                  <a:srgbClr val="000000"/>
                </a:solidFill>
                <a:latin typeface="Fira Sans"/>
                <a:ea typeface="Fira Sans"/>
                <a:cs typeface="Fira Sans"/>
                <a:sym typeface="Fira Sans"/>
              </a:rPr>
              <a:t>Para las empresas, en especial las grandes, es un gran reto responder en tiempo real a las condiciones cambiantes. Esto puede causar importantes pérdidas o interrupciones en la actividad empresarial. La ciencia de datos puede ayudar a las empresas a predecir los cambios y reaccionar de forma óptima ante las distintas circunstancias.</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2114550"/>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Diferencia entre ciencia de datos y análisis de datos</a:t>
            </a:r>
          </a:p>
        </p:txBody>
      </p:sp>
      <p:sp>
        <p:nvSpPr>
          <p:cNvPr name="TextBox 3" id="3"/>
          <p:cNvSpPr txBox="true"/>
          <p:nvPr/>
        </p:nvSpPr>
        <p:spPr>
          <a:xfrm rot="0">
            <a:off x="1028700" y="3375830"/>
            <a:ext cx="16568179" cy="4810125"/>
          </a:xfrm>
          <a:prstGeom prst="rect">
            <a:avLst/>
          </a:prstGeom>
        </p:spPr>
        <p:txBody>
          <a:bodyPr anchor="t" rtlCol="false" tIns="0" lIns="0" bIns="0" rIns="0">
            <a:spAutoFit/>
          </a:bodyPr>
          <a:lstStyle/>
          <a:p>
            <a:pPr algn="l" marL="755778" indent="-377889" lvl="1">
              <a:lnSpc>
                <a:spcPts val="4200"/>
              </a:lnSpc>
              <a:buFont typeface="Arial"/>
              <a:buChar char="•"/>
            </a:pPr>
            <a:r>
              <a:rPr lang="en-US" sz="3500">
                <a:solidFill>
                  <a:srgbClr val="000000"/>
                </a:solidFill>
                <a:latin typeface="Fira Sans"/>
                <a:ea typeface="Fira Sans"/>
                <a:cs typeface="Fira Sans"/>
                <a:sym typeface="Fira Sans"/>
              </a:rPr>
              <a:t>Aunque los términos se pueden usar de manera indistinta, el análisis de datos es un subconjunto de la ciencia de datos.</a:t>
            </a:r>
          </a:p>
          <a:p>
            <a:pPr algn="l" marL="755778" indent="-377889" lvl="1">
              <a:lnSpc>
                <a:spcPts val="4200"/>
              </a:lnSpc>
              <a:buFont typeface="Arial"/>
              <a:buChar char="•"/>
            </a:pPr>
            <a:r>
              <a:rPr lang="en-US" sz="3500">
                <a:solidFill>
                  <a:srgbClr val="000000"/>
                </a:solidFill>
                <a:latin typeface="Fira Sans"/>
                <a:ea typeface="Fira Sans"/>
                <a:cs typeface="Fira Sans"/>
                <a:sym typeface="Fira Sans"/>
              </a:rPr>
              <a:t>La ciencia de datos es un término que engloba todos los aspectos del procesamiento de datos, desde la recopilación hasta el modelado y la información.</a:t>
            </a:r>
          </a:p>
          <a:p>
            <a:pPr algn="l" marL="755778" indent="-377889" lvl="1">
              <a:lnSpc>
                <a:spcPts val="4200"/>
              </a:lnSpc>
              <a:spcBef>
                <a:spcPct val="0"/>
              </a:spcBef>
              <a:buFont typeface="Arial"/>
              <a:buChar char="•"/>
            </a:pPr>
            <a:r>
              <a:rPr lang="en-US" sz="3500">
                <a:solidFill>
                  <a:srgbClr val="000000"/>
                </a:solidFill>
                <a:latin typeface="Fira Sans"/>
                <a:ea typeface="Fira Sans"/>
                <a:cs typeface="Fira Sans"/>
                <a:sym typeface="Fira Sans"/>
              </a:rPr>
              <a:t>El análisis de datos se ocupa principalmente la estadística, las matemáticas y el análisis estadístico. Solo se centra en el análisis de datos, mientras que la ciencia de datos está relacionada con el panorama general de los datos de la organización. </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Coeficiente de correlación</a:t>
            </a:r>
          </a:p>
        </p:txBody>
      </p:sp>
      <p:sp>
        <p:nvSpPr>
          <p:cNvPr name="TextBox 3" id="3"/>
          <p:cNvSpPr txBox="true"/>
          <p:nvPr/>
        </p:nvSpPr>
        <p:spPr>
          <a:xfrm rot="0">
            <a:off x="1028700" y="3375830"/>
            <a:ext cx="16568179" cy="4276725"/>
          </a:xfrm>
          <a:prstGeom prst="rect">
            <a:avLst/>
          </a:prstGeom>
        </p:spPr>
        <p:txBody>
          <a:bodyPr anchor="t" rtlCol="false" tIns="0" lIns="0" bIns="0" rIns="0">
            <a:spAutoFit/>
          </a:bodyPr>
          <a:lstStyle/>
          <a:p>
            <a:pPr algn="l" marL="755778" indent="-377889" lvl="1">
              <a:lnSpc>
                <a:spcPts val="4200"/>
              </a:lnSpc>
              <a:buFont typeface="Arial"/>
              <a:buChar char="•"/>
            </a:pPr>
            <a:r>
              <a:rPr lang="en-US" sz="3500">
                <a:solidFill>
                  <a:srgbClr val="000000"/>
                </a:solidFill>
                <a:latin typeface="Fira Sans"/>
                <a:ea typeface="Fira Sans"/>
                <a:cs typeface="Fira Sans"/>
                <a:sym typeface="Fira Sans"/>
              </a:rPr>
              <a:t>Coeficiente de correlación positivo: indica que si una variable aumenta la otra también lo hace</a:t>
            </a:r>
          </a:p>
          <a:p>
            <a:pPr algn="l">
              <a:lnSpc>
                <a:spcPts val="4200"/>
              </a:lnSpc>
            </a:pPr>
          </a:p>
          <a:p>
            <a:pPr algn="l" marL="755778" indent="-377889" lvl="1">
              <a:lnSpc>
                <a:spcPts val="4200"/>
              </a:lnSpc>
              <a:buFont typeface="Arial"/>
              <a:buChar char="•"/>
            </a:pPr>
            <a:r>
              <a:rPr lang="en-US" sz="3500">
                <a:solidFill>
                  <a:srgbClr val="000000"/>
                </a:solidFill>
                <a:latin typeface="Fira Sans"/>
                <a:ea typeface="Fira Sans"/>
                <a:cs typeface="Fira Sans"/>
                <a:sym typeface="Fira Sans"/>
              </a:rPr>
              <a:t>Coeficiente de correlación negativo: si una variable aumenta la otra disminuye y viceversa</a:t>
            </a:r>
          </a:p>
          <a:p>
            <a:pPr algn="l">
              <a:lnSpc>
                <a:spcPts val="4200"/>
              </a:lnSpc>
            </a:pPr>
          </a:p>
          <a:p>
            <a:pPr algn="l" marL="755778" indent="-377889" lvl="1">
              <a:lnSpc>
                <a:spcPts val="4200"/>
              </a:lnSpc>
              <a:spcBef>
                <a:spcPct val="0"/>
              </a:spcBef>
              <a:buFont typeface="Arial"/>
              <a:buChar char="•"/>
            </a:pPr>
            <a:r>
              <a:rPr lang="en-US" sz="3500">
                <a:solidFill>
                  <a:srgbClr val="000000"/>
                </a:solidFill>
                <a:latin typeface="Fira Sans"/>
                <a:ea typeface="Fira Sans"/>
                <a:cs typeface="Fira Sans"/>
                <a:sym typeface="Fira Sans"/>
              </a:rPr>
              <a:t>Coeficiente de correlación 0: indica que no hay correlación lineal entre las dos variables</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026438" y="4614862"/>
            <a:ext cx="14235124" cy="1057275"/>
          </a:xfrm>
          <a:prstGeom prst="rect">
            <a:avLst/>
          </a:prstGeom>
        </p:spPr>
        <p:txBody>
          <a:bodyPr anchor="t" rtlCol="false" tIns="0" lIns="0" bIns="0" rIns="0">
            <a:spAutoFit/>
          </a:bodyPr>
          <a:lstStyle/>
          <a:p>
            <a:pPr algn="l">
              <a:lnSpc>
                <a:spcPts val="8399"/>
              </a:lnSpc>
            </a:pPr>
            <a:r>
              <a:rPr lang="en-US" sz="6999" b="true">
                <a:solidFill>
                  <a:srgbClr val="00A181"/>
                </a:solidFill>
                <a:latin typeface="Fira Sans Medium"/>
                <a:ea typeface="Fira Sans Medium"/>
                <a:cs typeface="Fira Sans Medium"/>
                <a:sym typeface="Fira Sans Medium"/>
              </a:rPr>
              <a:t>Ciclo de vida de la ciencia de datos</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165259"/>
            <a:ext cx="16230600" cy="7944739"/>
          </a:xfrm>
          <a:prstGeom prst="rect">
            <a:avLst/>
          </a:prstGeom>
        </p:spPr>
        <p:txBody>
          <a:bodyPr anchor="t" rtlCol="false" tIns="0" lIns="0" bIns="0" rIns="0">
            <a:spAutoFit/>
          </a:bodyPr>
          <a:lstStyle/>
          <a:p>
            <a:pPr algn="l">
              <a:lnSpc>
                <a:spcPts val="4170"/>
              </a:lnSpc>
            </a:pPr>
            <a:r>
              <a:rPr lang="en-US" sz="3475">
                <a:solidFill>
                  <a:srgbClr val="000000"/>
                </a:solidFill>
                <a:latin typeface="Fira Sans"/>
                <a:ea typeface="Fira Sans"/>
                <a:cs typeface="Fira Sans"/>
                <a:sym typeface="Fira Sans"/>
              </a:rPr>
              <a:t>El primer paso en el proceso de análisis de datos es la ingestión de datos. Este término se refiere a la recolección de datos de diversas fuentes disponibles. Estas fuentes pueden incluir web scraping, Internet de las cosas, transmisión de datos en tiempo real de aplicaciones propias o de terceros, dispositivos, archivos CSV, recolección manual, redes sociales, entre otros. Los datos recopilados pueden ser estructurados o no estructurados.</a:t>
            </a:r>
          </a:p>
          <a:p>
            <a:pPr algn="l">
              <a:lnSpc>
                <a:spcPts val="4170"/>
              </a:lnSpc>
            </a:pPr>
          </a:p>
          <a:p>
            <a:pPr algn="l">
              <a:lnSpc>
                <a:spcPts val="4170"/>
              </a:lnSpc>
            </a:pPr>
            <a:r>
              <a:rPr lang="en-US" sz="3475">
                <a:solidFill>
                  <a:srgbClr val="000000"/>
                </a:solidFill>
                <a:latin typeface="Fira Sans"/>
                <a:ea typeface="Fira Sans"/>
                <a:cs typeface="Fira Sans"/>
                <a:sym typeface="Fira Sans"/>
              </a:rPr>
              <a:t>Algunas herramientas utilizadas en este etapa son:</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Apache Kafka</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Apacha Flume</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Amazon Kinesis</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Azure Data Factory</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Cloud Data Fusion</a:t>
            </a:r>
          </a:p>
          <a:p>
            <a:pPr algn="l">
              <a:lnSpc>
                <a:spcPts val="4170"/>
              </a:lnSpc>
            </a:pPr>
          </a:p>
          <a:p>
            <a:pPr algn="l">
              <a:lnSpc>
                <a:spcPts val="4170"/>
              </a:lnSpc>
              <a:spcBef>
                <a:spcPct val="0"/>
              </a:spcBef>
            </a:pP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Ingestión</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572191"/>
            <a:ext cx="16230600" cy="7415089"/>
          </a:xfrm>
          <a:prstGeom prst="rect">
            <a:avLst/>
          </a:prstGeom>
        </p:spPr>
        <p:txBody>
          <a:bodyPr anchor="t" rtlCol="false" tIns="0" lIns="0" bIns="0" rIns="0">
            <a:spAutoFit/>
          </a:bodyPr>
          <a:lstStyle/>
          <a:p>
            <a:pPr algn="l">
              <a:lnSpc>
                <a:spcPts val="4170"/>
              </a:lnSpc>
            </a:pPr>
            <a:r>
              <a:rPr lang="en-US" sz="3475">
                <a:solidFill>
                  <a:srgbClr val="000000"/>
                </a:solidFill>
                <a:latin typeface="Fira Sans"/>
                <a:ea typeface="Fira Sans"/>
                <a:cs typeface="Fira Sans"/>
                <a:sym typeface="Fira Sans"/>
              </a:rPr>
              <a:t>Los datos pueden provenir de diversas fuentes y presentarse en formas estructuradas o no estructuradas. Esta variedad de datos requiere de sistemas de almacenamiento especializados que puedan manejar eficientemente sus características únicas.</a:t>
            </a:r>
          </a:p>
          <a:p>
            <a:pPr algn="l">
              <a:lnSpc>
                <a:spcPts val="4170"/>
              </a:lnSpc>
            </a:pPr>
          </a:p>
          <a:p>
            <a:pPr algn="l">
              <a:lnSpc>
                <a:spcPts val="4170"/>
              </a:lnSpc>
            </a:pPr>
            <a:r>
              <a:rPr lang="en-US" sz="3475">
                <a:solidFill>
                  <a:srgbClr val="000000"/>
                </a:solidFill>
                <a:latin typeface="Fira Sans"/>
                <a:ea typeface="Fira Sans"/>
                <a:cs typeface="Fira Sans"/>
                <a:sym typeface="Fira Sans"/>
              </a:rPr>
              <a:t>En el proceso de preparación de los datos, se llevan a cabo varias operaciones críticas. Estas incluyen la limpieza de los datos, la eliminación de duplicados, la transformación de los datos a formatos más útiles, y la combinación de diferentes conjuntos de datos. Para realizar estas tareas, se utilizan sistemas de ETL (Extracción, Transformación y Carga) u otras tecnologías de integración de datos.</a:t>
            </a:r>
          </a:p>
          <a:p>
            <a:pPr algn="l">
              <a:lnSpc>
                <a:spcPts val="4170"/>
              </a:lnSpc>
            </a:pPr>
          </a:p>
          <a:p>
            <a:pPr algn="l">
              <a:lnSpc>
                <a:spcPts val="4170"/>
              </a:lnSpc>
            </a:pPr>
          </a:p>
          <a:p>
            <a:pPr algn="l">
              <a:lnSpc>
                <a:spcPts val="4170"/>
              </a:lnSpc>
              <a:spcBef>
                <a:spcPct val="0"/>
              </a:spcBef>
            </a:pP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Almacenamiento y procesamiento</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572191"/>
            <a:ext cx="16230600" cy="5296492"/>
          </a:xfrm>
          <a:prstGeom prst="rect">
            <a:avLst/>
          </a:prstGeom>
        </p:spPr>
        <p:txBody>
          <a:bodyPr anchor="t" rtlCol="false" tIns="0" lIns="0" bIns="0" rIns="0">
            <a:spAutoFit/>
          </a:bodyPr>
          <a:lstStyle/>
          <a:p>
            <a:pPr algn="l">
              <a:lnSpc>
                <a:spcPts val="4170"/>
              </a:lnSpc>
            </a:pPr>
            <a:r>
              <a:rPr lang="en-US" sz="3475">
                <a:solidFill>
                  <a:srgbClr val="000000"/>
                </a:solidFill>
                <a:latin typeface="Fira Sans"/>
                <a:ea typeface="Fira Sans"/>
                <a:cs typeface="Fira Sans"/>
                <a:sym typeface="Fira Sans"/>
              </a:rPr>
              <a:t>Herramientas de ETL:</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Amazon Glue</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a:t>
            </a:r>
            <a:r>
              <a:rPr lang="en-US" sz="3475">
                <a:solidFill>
                  <a:srgbClr val="000000"/>
                </a:solidFill>
                <a:latin typeface="Fira Sans"/>
                <a:ea typeface="Fira Sans"/>
                <a:cs typeface="Fira Sans"/>
                <a:sym typeface="Fira Sans"/>
              </a:rPr>
              <a:t>pache Spark</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Azure Data Factory</a:t>
            </a:r>
          </a:p>
          <a:p>
            <a:pPr algn="l">
              <a:lnSpc>
                <a:spcPts val="4170"/>
              </a:lnSpc>
            </a:pPr>
          </a:p>
          <a:p>
            <a:pPr algn="l">
              <a:lnSpc>
                <a:spcPts val="4170"/>
              </a:lnSpc>
            </a:pPr>
            <a:r>
              <a:rPr lang="en-US" sz="3475">
                <a:solidFill>
                  <a:srgbClr val="000000"/>
                </a:solidFill>
                <a:latin typeface="Fira Sans"/>
                <a:ea typeface="Fira Sans"/>
                <a:cs typeface="Fira Sans"/>
                <a:sym typeface="Fira Sans"/>
              </a:rPr>
              <a:t>Herramientas de almacenamiento</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Amazon Redshift</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Azure Synapse Analytics</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Snowflake</a:t>
            </a:r>
          </a:p>
          <a:p>
            <a:pPr algn="l">
              <a:lnSpc>
                <a:spcPts val="4170"/>
              </a:lnSpc>
              <a:spcBef>
                <a:spcPct val="0"/>
              </a:spcBef>
            </a:pP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Almacenamiento y procesamiento</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165259"/>
            <a:ext cx="16230600" cy="6885440"/>
          </a:xfrm>
          <a:prstGeom prst="rect">
            <a:avLst/>
          </a:prstGeom>
        </p:spPr>
        <p:txBody>
          <a:bodyPr anchor="t" rtlCol="false" tIns="0" lIns="0" bIns="0" rIns="0">
            <a:spAutoFit/>
          </a:bodyPr>
          <a:lstStyle/>
          <a:p>
            <a:pPr algn="l">
              <a:lnSpc>
                <a:spcPts val="4170"/>
              </a:lnSpc>
            </a:pPr>
            <a:r>
              <a:rPr lang="en-US" sz="3475">
                <a:solidFill>
                  <a:srgbClr val="000000"/>
                </a:solidFill>
                <a:latin typeface="Fira Sans"/>
                <a:ea typeface="Fira Sans"/>
                <a:cs typeface="Fira Sans"/>
                <a:sym typeface="Fira Sans"/>
              </a:rPr>
              <a:t>En esta etapa el científico de datos conduce diferentes tipos de análisis, como puede ser un análisis exploratorio de datos (EDA), para obtener patrones, sesgos, rangos y distribuciones que sean útiles. Este análisis permite obtener</a:t>
            </a:r>
            <a:r>
              <a:rPr lang="en-US" sz="3475">
                <a:solidFill>
                  <a:srgbClr val="000000"/>
                </a:solidFill>
                <a:latin typeface="Fira Sans"/>
                <a:ea typeface="Fira Sans"/>
                <a:cs typeface="Fira Sans"/>
                <a:sym typeface="Fira Sans"/>
              </a:rPr>
              <a:t> hipótesis para poder realizar pruebas de concepto en el futuro. También permite verificar la relevancia que estos datos tienen para su uso en modelos predictivos o análisis futuros.</a:t>
            </a:r>
          </a:p>
          <a:p>
            <a:pPr algn="l">
              <a:lnSpc>
                <a:spcPts val="4170"/>
              </a:lnSpc>
            </a:pPr>
          </a:p>
          <a:p>
            <a:pPr algn="l">
              <a:lnSpc>
                <a:spcPts val="4170"/>
              </a:lnSpc>
            </a:pPr>
            <a:r>
              <a:rPr lang="en-US" sz="3475">
                <a:solidFill>
                  <a:srgbClr val="000000"/>
                </a:solidFill>
                <a:latin typeface="Fira Sans"/>
                <a:ea typeface="Fira Sans"/>
                <a:cs typeface="Fira Sans"/>
                <a:sym typeface="Fira Sans"/>
              </a:rPr>
              <a:t>Herramientas de análisis de datos:</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Excel</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Pyth</a:t>
            </a:r>
            <a:r>
              <a:rPr lang="en-US" sz="3475">
                <a:solidFill>
                  <a:srgbClr val="000000"/>
                </a:solidFill>
                <a:latin typeface="Fira Sans"/>
                <a:ea typeface="Fira Sans"/>
                <a:cs typeface="Fira Sans"/>
                <a:sym typeface="Fira Sans"/>
              </a:rPr>
              <a:t>on</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R</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Apache Spark</a:t>
            </a:r>
          </a:p>
          <a:p>
            <a:pPr algn="l">
              <a:lnSpc>
                <a:spcPts val="4170"/>
              </a:lnSpc>
              <a:spcBef>
                <a:spcPct val="0"/>
              </a:spcBef>
            </a:pP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Análisis de datos</a:t>
            </a: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165259"/>
            <a:ext cx="16230600" cy="7944739"/>
          </a:xfrm>
          <a:prstGeom prst="rect">
            <a:avLst/>
          </a:prstGeom>
        </p:spPr>
        <p:txBody>
          <a:bodyPr anchor="t" rtlCol="false" tIns="0" lIns="0" bIns="0" rIns="0">
            <a:spAutoFit/>
          </a:bodyPr>
          <a:lstStyle/>
          <a:p>
            <a:pPr algn="l">
              <a:lnSpc>
                <a:spcPts val="4170"/>
              </a:lnSpc>
            </a:pPr>
            <a:r>
              <a:rPr lang="en-US" sz="3475">
                <a:solidFill>
                  <a:srgbClr val="000000"/>
                </a:solidFill>
                <a:latin typeface="Fira Sans"/>
                <a:ea typeface="Fira Sans"/>
                <a:cs typeface="Fira Sans"/>
                <a:sym typeface="Fira Sans"/>
              </a:rPr>
              <a:t>Los insights, o conocimientos obtenidos a partir de los datos, deben ser comunicados de manera efectiva para que puedan tener un impacto real en el negocio. Esto se logra a través de reportes y visualizaciones de datos que no solo presentan la información de manera clara y comprensible, sino que también destacan cómo estos datos pueden afectar al negocio. Al hacerlo, se facilita la toma de decisiones basadas en datos y se permite una comprensión más sencilla de la información.</a:t>
            </a:r>
          </a:p>
          <a:p>
            <a:pPr algn="l">
              <a:lnSpc>
                <a:spcPts val="4170"/>
              </a:lnSpc>
            </a:pPr>
          </a:p>
          <a:p>
            <a:pPr algn="l">
              <a:lnSpc>
                <a:spcPts val="4170"/>
              </a:lnSpc>
            </a:pPr>
            <a:r>
              <a:rPr lang="en-US" sz="3475">
                <a:solidFill>
                  <a:srgbClr val="000000"/>
                </a:solidFill>
                <a:latin typeface="Fira Sans"/>
                <a:ea typeface="Fira Sans"/>
                <a:cs typeface="Fira Sans"/>
                <a:sym typeface="Fira Sans"/>
              </a:rPr>
              <a:t>Herramientas de visualización de datos:</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Tableu</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P</a:t>
            </a:r>
            <a:r>
              <a:rPr lang="en-US" sz="3475">
                <a:solidFill>
                  <a:srgbClr val="000000"/>
                </a:solidFill>
                <a:latin typeface="Fira Sans"/>
                <a:ea typeface="Fira Sans"/>
                <a:cs typeface="Fira Sans"/>
                <a:sym typeface="Fira Sans"/>
              </a:rPr>
              <a:t>ower Bi</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Google Looker</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Amazon QuickSight</a:t>
            </a:r>
          </a:p>
          <a:p>
            <a:pPr algn="l" marL="750337" indent="-375168" lvl="1">
              <a:lnSpc>
                <a:spcPts val="4170"/>
              </a:lnSpc>
              <a:buFont typeface="Arial"/>
              <a:buChar char="•"/>
            </a:pPr>
            <a:r>
              <a:rPr lang="en-US" sz="3475">
                <a:solidFill>
                  <a:srgbClr val="000000"/>
                </a:solidFill>
                <a:latin typeface="Fira Sans"/>
                <a:ea typeface="Fira Sans"/>
                <a:cs typeface="Fira Sans"/>
                <a:sym typeface="Fira Sans"/>
              </a:rPr>
              <a:t>SQL Server Reporting Services (SSRS)</a:t>
            </a:r>
          </a:p>
          <a:p>
            <a:pPr algn="l">
              <a:lnSpc>
                <a:spcPts val="4170"/>
              </a:lnSpc>
              <a:spcBef>
                <a:spcPct val="0"/>
              </a:spcBef>
            </a:pPr>
          </a:p>
        </p:txBody>
      </p:sp>
      <p:sp>
        <p:nvSpPr>
          <p:cNvPr name="TextBox 3" id="3"/>
          <p:cNvSpPr txBox="true"/>
          <p:nvPr/>
        </p:nvSpPr>
        <p:spPr>
          <a:xfrm rot="0">
            <a:off x="1028700" y="1028700"/>
            <a:ext cx="16230600" cy="1057275"/>
          </a:xfrm>
          <a:prstGeom prst="rect">
            <a:avLst/>
          </a:prstGeom>
        </p:spPr>
        <p:txBody>
          <a:bodyPr anchor="t" rtlCol="false" tIns="0" lIns="0" bIns="0" rIns="0">
            <a:spAutoFit/>
          </a:bodyPr>
          <a:lstStyle/>
          <a:p>
            <a:pPr algn="l">
              <a:lnSpc>
                <a:spcPts val="8399"/>
              </a:lnSpc>
            </a:pPr>
            <a:r>
              <a:rPr lang="en-US" sz="6999" b="true">
                <a:solidFill>
                  <a:srgbClr val="004651"/>
                </a:solidFill>
                <a:latin typeface="Fira Sans Medium"/>
                <a:ea typeface="Fira Sans Medium"/>
                <a:cs typeface="Fira Sans Medium"/>
                <a:sym typeface="Fira Sans Medium"/>
              </a:rPr>
              <a:t>Visualización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52364"/>
          </a:xfrm>
          <a:custGeom>
            <a:avLst/>
            <a:gdLst/>
            <a:ahLst/>
            <a:cxnLst/>
            <a:rect r="r" b="b" t="t" l="l"/>
            <a:pathLst>
              <a:path h="10252364" w="18288000">
                <a:moveTo>
                  <a:pt x="0" y="0"/>
                </a:moveTo>
                <a:lnTo>
                  <a:pt x="18288000" y="0"/>
                </a:lnTo>
                <a:lnTo>
                  <a:pt x="18288000" y="10252364"/>
                </a:lnTo>
                <a:lnTo>
                  <a:pt x="0" y="10252364"/>
                </a:lnTo>
                <a:lnTo>
                  <a:pt x="0" y="0"/>
                </a:lnTo>
                <a:close/>
              </a:path>
            </a:pathLst>
          </a:custGeom>
          <a:blipFill>
            <a:blip r:embed="rId2"/>
            <a:stretch>
              <a:fillRect l="0" t="0" r="0" b="0"/>
            </a:stretch>
          </a:blipFill>
        </p:spPr>
      </p:sp>
      <p:sp>
        <p:nvSpPr>
          <p:cNvPr name="TextBox 3" id="3"/>
          <p:cNvSpPr txBox="true"/>
          <p:nvPr/>
        </p:nvSpPr>
        <p:spPr>
          <a:xfrm rot="0">
            <a:off x="7236341" y="1561693"/>
            <a:ext cx="1481882"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Open Sans"/>
                <a:ea typeface="Open Sans"/>
                <a:cs typeface="Open Sans"/>
                <a:sym typeface="Open Sans"/>
              </a:rPr>
              <a:t>Corto 2</a:t>
            </a:r>
          </a:p>
        </p:txBody>
      </p:sp>
      <p:sp>
        <p:nvSpPr>
          <p:cNvPr name="TextBox 4" id="4"/>
          <p:cNvSpPr txBox="true"/>
          <p:nvPr/>
        </p:nvSpPr>
        <p:spPr>
          <a:xfrm rot="0">
            <a:off x="7730376" y="2382822"/>
            <a:ext cx="493812"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Open Sans"/>
                <a:ea typeface="Open Sans"/>
                <a:cs typeface="Open Sans"/>
                <a:sym typeface="Open Sans"/>
              </a:rPr>
              <a:t>44</a:t>
            </a:r>
          </a:p>
        </p:txBody>
      </p:sp>
      <p:sp>
        <p:nvSpPr>
          <p:cNvPr name="TextBox 5" id="5"/>
          <p:cNvSpPr txBox="true"/>
          <p:nvPr/>
        </p:nvSpPr>
        <p:spPr>
          <a:xfrm rot="0">
            <a:off x="7819673" y="3388918"/>
            <a:ext cx="315218"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Open Sans"/>
                <a:ea typeface="Open Sans"/>
                <a:cs typeface="Open Sans"/>
                <a:sym typeface="Open Sans"/>
              </a:rPr>
              <a:t>sí</a:t>
            </a:r>
          </a:p>
        </p:txBody>
      </p:sp>
      <p:sp>
        <p:nvSpPr>
          <p:cNvPr name="TextBox 6" id="6"/>
          <p:cNvSpPr txBox="true"/>
          <p:nvPr/>
        </p:nvSpPr>
        <p:spPr>
          <a:xfrm rot="0">
            <a:off x="15594500" y="3541318"/>
            <a:ext cx="493812"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Open Sans"/>
                <a:ea typeface="Open Sans"/>
                <a:cs typeface="Open Sans"/>
                <a:sym typeface="Open Sans"/>
              </a:rPr>
              <a:t>25</a:t>
            </a:r>
          </a:p>
        </p:txBody>
      </p:sp>
      <p:sp>
        <p:nvSpPr>
          <p:cNvPr name="TextBox 7" id="7"/>
          <p:cNvSpPr txBox="true"/>
          <p:nvPr/>
        </p:nvSpPr>
        <p:spPr>
          <a:xfrm rot="0">
            <a:off x="15290146" y="2775605"/>
            <a:ext cx="1102519"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Open Sans"/>
                <a:ea typeface="Open Sans"/>
                <a:cs typeface="Open Sans"/>
                <a:sym typeface="Open Sans"/>
              </a:rPr>
              <a:t>09:40</a:t>
            </a:r>
          </a:p>
        </p:txBody>
      </p:sp>
      <p:sp>
        <p:nvSpPr>
          <p:cNvPr name="TextBox 8" id="8"/>
          <p:cNvSpPr txBox="true"/>
          <p:nvPr/>
        </p:nvSpPr>
        <p:spPr>
          <a:xfrm rot="0">
            <a:off x="15290146" y="2014240"/>
            <a:ext cx="1102519"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Open Sans"/>
                <a:ea typeface="Open Sans"/>
                <a:cs typeface="Open Sans"/>
                <a:sym typeface="Open Sans"/>
              </a:rPr>
              <a:t>09:15</a:t>
            </a:r>
          </a:p>
        </p:txBody>
      </p:sp>
      <p:sp>
        <p:nvSpPr>
          <p:cNvPr name="TextBox 9" id="9"/>
          <p:cNvSpPr txBox="true"/>
          <p:nvPr/>
        </p:nvSpPr>
        <p:spPr>
          <a:xfrm rot="0">
            <a:off x="118066" y="4968967"/>
            <a:ext cx="5835788" cy="528320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201906444 - Saúl Menchú</a:t>
            </a:r>
          </a:p>
          <a:p>
            <a:pPr algn="ctr">
              <a:lnSpc>
                <a:spcPts val="2800"/>
              </a:lnSpc>
            </a:pPr>
            <a:r>
              <a:rPr lang="en-US" sz="2000">
                <a:solidFill>
                  <a:srgbClr val="000000"/>
                </a:solidFill>
                <a:latin typeface="Open Sans"/>
                <a:ea typeface="Open Sans"/>
                <a:cs typeface="Open Sans"/>
                <a:sym typeface="Open Sans"/>
              </a:rPr>
              <a:t>202002364 - Dayana Reyes</a:t>
            </a:r>
          </a:p>
          <a:p>
            <a:pPr algn="ctr">
              <a:lnSpc>
                <a:spcPts val="2800"/>
              </a:lnSpc>
            </a:pPr>
            <a:r>
              <a:rPr lang="en-US" sz="2000">
                <a:solidFill>
                  <a:srgbClr val="000000"/>
                </a:solidFill>
                <a:latin typeface="Open Sans"/>
                <a:ea typeface="Open Sans"/>
                <a:cs typeface="Open Sans"/>
                <a:sym typeface="Open Sans"/>
              </a:rPr>
              <a:t>202105561 - Jeser Rodas</a:t>
            </a:r>
          </a:p>
          <a:p>
            <a:pPr algn="ctr">
              <a:lnSpc>
                <a:spcPts val="2800"/>
              </a:lnSpc>
            </a:pPr>
            <a:r>
              <a:rPr lang="en-US" sz="2000">
                <a:solidFill>
                  <a:srgbClr val="000000"/>
                </a:solidFill>
                <a:latin typeface="Open Sans"/>
                <a:ea typeface="Open Sans"/>
                <a:cs typeface="Open Sans"/>
                <a:sym typeface="Open Sans"/>
              </a:rPr>
              <a:t>202001800 - José Ibarra</a:t>
            </a:r>
          </a:p>
          <a:p>
            <a:pPr algn="ctr">
              <a:lnSpc>
                <a:spcPts val="2800"/>
              </a:lnSpc>
            </a:pPr>
            <a:r>
              <a:rPr lang="en-US" sz="2000">
                <a:solidFill>
                  <a:srgbClr val="000000"/>
                </a:solidFill>
                <a:latin typeface="Open Sans"/>
                <a:ea typeface="Open Sans"/>
                <a:cs typeface="Open Sans"/>
                <a:sym typeface="Open Sans"/>
              </a:rPr>
              <a:t>202004763 - Cristian Axpuac</a:t>
            </a:r>
          </a:p>
          <a:p>
            <a:pPr algn="ctr">
              <a:lnSpc>
                <a:spcPts val="2800"/>
              </a:lnSpc>
            </a:pPr>
            <a:r>
              <a:rPr lang="en-US" sz="2000">
                <a:solidFill>
                  <a:srgbClr val="000000"/>
                </a:solidFill>
                <a:latin typeface="Open Sans"/>
                <a:ea typeface="Open Sans"/>
                <a:cs typeface="Open Sans"/>
                <a:sym typeface="Open Sans"/>
              </a:rPr>
              <a:t>202003959 - Angel Marroquín</a:t>
            </a:r>
          </a:p>
          <a:p>
            <a:pPr algn="ctr">
              <a:lnSpc>
                <a:spcPts val="2800"/>
              </a:lnSpc>
            </a:pPr>
            <a:r>
              <a:rPr lang="en-US" sz="2000">
                <a:solidFill>
                  <a:srgbClr val="000000"/>
                </a:solidFill>
                <a:latin typeface="Open Sans"/>
                <a:ea typeface="Open Sans"/>
                <a:cs typeface="Open Sans"/>
                <a:sym typeface="Open Sans"/>
              </a:rPr>
              <a:t>201020697 Esteban Palacios</a:t>
            </a:r>
          </a:p>
          <a:p>
            <a:pPr algn="ctr">
              <a:lnSpc>
                <a:spcPts val="2800"/>
              </a:lnSpc>
            </a:pPr>
            <a:r>
              <a:rPr lang="en-US" sz="2000">
                <a:solidFill>
                  <a:srgbClr val="000000"/>
                </a:solidFill>
                <a:latin typeface="Open Sans"/>
                <a:ea typeface="Open Sans"/>
                <a:cs typeface="Open Sans"/>
                <a:sym typeface="Open Sans"/>
              </a:rPr>
              <a:t>202104782 - Anthony Zea</a:t>
            </a:r>
          </a:p>
          <a:p>
            <a:pPr algn="ctr">
              <a:lnSpc>
                <a:spcPts val="2800"/>
              </a:lnSpc>
            </a:pPr>
            <a:r>
              <a:rPr lang="en-US" sz="2000">
                <a:solidFill>
                  <a:srgbClr val="000000"/>
                </a:solidFill>
                <a:latin typeface="Open Sans"/>
                <a:ea typeface="Open Sans"/>
                <a:cs typeface="Open Sans"/>
                <a:sym typeface="Open Sans"/>
              </a:rPr>
              <a:t>201700700 - Luis Falla</a:t>
            </a:r>
          </a:p>
          <a:p>
            <a:pPr algn="ctr">
              <a:lnSpc>
                <a:spcPts val="2800"/>
              </a:lnSpc>
            </a:pPr>
            <a:r>
              <a:rPr lang="en-US" sz="2000">
                <a:solidFill>
                  <a:srgbClr val="000000"/>
                </a:solidFill>
                <a:latin typeface="Open Sans"/>
                <a:ea typeface="Open Sans"/>
                <a:cs typeface="Open Sans"/>
                <a:sym typeface="Open Sans"/>
              </a:rPr>
              <a:t>201902714 - Kevin Calderón Peraza</a:t>
            </a:r>
          </a:p>
          <a:p>
            <a:pPr algn="ctr">
              <a:lnSpc>
                <a:spcPts val="2800"/>
              </a:lnSpc>
            </a:pPr>
            <a:r>
              <a:rPr lang="en-US" sz="2000">
                <a:solidFill>
                  <a:srgbClr val="000000"/>
                </a:solidFill>
                <a:latin typeface="Open Sans"/>
                <a:ea typeface="Open Sans"/>
                <a:cs typeface="Open Sans"/>
                <a:sym typeface="Open Sans"/>
              </a:rPr>
              <a:t>202113553 - Kevin García</a:t>
            </a:r>
          </a:p>
          <a:p>
            <a:pPr algn="ctr">
              <a:lnSpc>
                <a:spcPts val="2800"/>
              </a:lnSpc>
            </a:pPr>
            <a:r>
              <a:rPr lang="en-US" sz="2000">
                <a:solidFill>
                  <a:srgbClr val="000000"/>
                </a:solidFill>
                <a:latin typeface="Open Sans"/>
                <a:ea typeface="Open Sans"/>
                <a:cs typeface="Open Sans"/>
                <a:sym typeface="Open Sans"/>
              </a:rPr>
              <a:t>201801719 - Eliezer Zapeta</a:t>
            </a:r>
          </a:p>
          <a:p>
            <a:pPr algn="ctr">
              <a:lnSpc>
                <a:spcPts val="2800"/>
              </a:lnSpc>
            </a:pPr>
            <a:r>
              <a:rPr lang="en-US" sz="2000">
                <a:solidFill>
                  <a:srgbClr val="000000"/>
                </a:solidFill>
                <a:latin typeface="Open Sans"/>
                <a:ea typeface="Open Sans"/>
                <a:cs typeface="Open Sans"/>
                <a:sym typeface="Open Sans"/>
              </a:rPr>
              <a:t>201807169 - Abdul Chacon</a:t>
            </a:r>
          </a:p>
          <a:p>
            <a:pPr algn="ctr">
              <a:lnSpc>
                <a:spcPts val="2800"/>
              </a:lnSpc>
            </a:pPr>
            <a:r>
              <a:rPr lang="en-US" sz="2000">
                <a:solidFill>
                  <a:srgbClr val="000000"/>
                </a:solidFill>
                <a:latin typeface="Open Sans"/>
                <a:ea typeface="Open Sans"/>
                <a:cs typeface="Open Sans"/>
                <a:sym typeface="Open Sans"/>
              </a:rPr>
              <a:t>201904042 - Cristian Lopez</a:t>
            </a:r>
          </a:p>
          <a:p>
            <a:pPr algn="ctr">
              <a:lnSpc>
                <a:spcPts val="2800"/>
              </a:lnSpc>
              <a:spcBef>
                <a:spcPct val="0"/>
              </a:spcBef>
            </a:pPr>
            <a:r>
              <a:rPr lang="en-US" sz="2000">
                <a:solidFill>
                  <a:srgbClr val="000000"/>
                </a:solidFill>
                <a:latin typeface="Open Sans"/>
                <a:ea typeface="Open Sans"/>
                <a:cs typeface="Open Sans"/>
                <a:sym typeface="Open Sans"/>
              </a:rPr>
              <a:t>201900716- Kelly Herrera</a:t>
            </a:r>
          </a:p>
        </p:txBody>
      </p:sp>
      <p:sp>
        <p:nvSpPr>
          <p:cNvPr name="TextBox 10" id="10"/>
          <p:cNvSpPr txBox="true"/>
          <p:nvPr/>
        </p:nvSpPr>
        <p:spPr>
          <a:xfrm rot="0">
            <a:off x="6417080" y="4968967"/>
            <a:ext cx="5835788" cy="5283199"/>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202002042 - Paulo Mérida</a:t>
            </a:r>
          </a:p>
          <a:p>
            <a:pPr algn="ctr">
              <a:lnSpc>
                <a:spcPts val="2800"/>
              </a:lnSpc>
            </a:pPr>
            <a:r>
              <a:rPr lang="en-US" sz="2000">
                <a:solidFill>
                  <a:srgbClr val="000000"/>
                </a:solidFill>
                <a:latin typeface="Open Sans"/>
                <a:ea typeface="Open Sans"/>
                <a:cs typeface="Open Sans"/>
                <a:sym typeface="Open Sans"/>
              </a:rPr>
              <a:t>202003892 - Diego Arriaga</a:t>
            </a:r>
          </a:p>
          <a:p>
            <a:pPr algn="ctr">
              <a:lnSpc>
                <a:spcPts val="2800"/>
              </a:lnSpc>
            </a:pPr>
            <a:r>
              <a:rPr lang="en-US" sz="2000">
                <a:solidFill>
                  <a:srgbClr val="000000"/>
                </a:solidFill>
                <a:latin typeface="Open Sans"/>
                <a:ea typeface="Open Sans"/>
                <a:cs typeface="Open Sans"/>
                <a:sym typeface="Open Sans"/>
              </a:rPr>
              <a:t>201900619 - Yonathan Hernández</a:t>
            </a:r>
          </a:p>
          <a:p>
            <a:pPr algn="ctr">
              <a:lnSpc>
                <a:spcPts val="2800"/>
              </a:lnSpc>
            </a:pPr>
            <a:r>
              <a:rPr lang="en-US" sz="2000">
                <a:solidFill>
                  <a:srgbClr val="000000"/>
                </a:solidFill>
                <a:latin typeface="Open Sans"/>
                <a:ea typeface="Open Sans"/>
                <a:cs typeface="Open Sans"/>
                <a:sym typeface="Open Sans"/>
              </a:rPr>
              <a:t>201602659 - Cecilia Cotzajay</a:t>
            </a:r>
          </a:p>
          <a:p>
            <a:pPr algn="ctr">
              <a:lnSpc>
                <a:spcPts val="2800"/>
              </a:lnSpc>
            </a:pPr>
            <a:r>
              <a:rPr lang="en-US" sz="2000">
                <a:solidFill>
                  <a:srgbClr val="000000"/>
                </a:solidFill>
                <a:latin typeface="Open Sans"/>
                <a:ea typeface="Open Sans"/>
                <a:cs typeface="Open Sans"/>
                <a:sym typeface="Open Sans"/>
              </a:rPr>
              <a:t>201904016 - Cesar Martínez</a:t>
            </a:r>
          </a:p>
          <a:p>
            <a:pPr algn="ctr">
              <a:lnSpc>
                <a:spcPts val="2800"/>
              </a:lnSpc>
            </a:pPr>
            <a:r>
              <a:rPr lang="en-US" sz="2000">
                <a:solidFill>
                  <a:srgbClr val="000000"/>
                </a:solidFill>
                <a:latin typeface="Open Sans"/>
                <a:ea typeface="Open Sans"/>
                <a:cs typeface="Open Sans"/>
                <a:sym typeface="Open Sans"/>
              </a:rPr>
              <a:t>201902502 - Carlos Soto</a:t>
            </a:r>
          </a:p>
          <a:p>
            <a:pPr algn="ctr">
              <a:lnSpc>
                <a:spcPts val="2800"/>
              </a:lnSpc>
            </a:pPr>
            <a:r>
              <a:rPr lang="en-US" sz="2000">
                <a:solidFill>
                  <a:srgbClr val="000000"/>
                </a:solidFill>
                <a:latin typeface="Open Sans"/>
                <a:ea typeface="Open Sans"/>
                <a:cs typeface="Open Sans"/>
                <a:sym typeface="Open Sans"/>
              </a:rPr>
              <a:t>201314564 - Ronald Ordóñez</a:t>
            </a:r>
          </a:p>
          <a:p>
            <a:pPr algn="ctr">
              <a:lnSpc>
                <a:spcPts val="2800"/>
              </a:lnSpc>
            </a:pPr>
            <a:r>
              <a:rPr lang="en-US" sz="2000">
                <a:solidFill>
                  <a:srgbClr val="000000"/>
                </a:solidFill>
                <a:latin typeface="Open Sans"/>
                <a:ea typeface="Open Sans"/>
                <a:cs typeface="Open Sans"/>
                <a:sym typeface="Open Sans"/>
              </a:rPr>
              <a:t>201900597 - André Ortega</a:t>
            </a:r>
          </a:p>
          <a:p>
            <a:pPr algn="ctr">
              <a:lnSpc>
                <a:spcPts val="2800"/>
              </a:lnSpc>
            </a:pPr>
            <a:r>
              <a:rPr lang="en-US" sz="2000">
                <a:solidFill>
                  <a:srgbClr val="000000"/>
                </a:solidFill>
                <a:latin typeface="Open Sans"/>
                <a:ea typeface="Open Sans"/>
                <a:cs typeface="Open Sans"/>
                <a:sym typeface="Open Sans"/>
              </a:rPr>
              <a:t>201900956-Rivaldo Tojín</a:t>
            </a:r>
          </a:p>
          <a:p>
            <a:pPr algn="ctr">
              <a:lnSpc>
                <a:spcPts val="2800"/>
              </a:lnSpc>
            </a:pPr>
            <a:r>
              <a:rPr lang="en-US" sz="2000">
                <a:solidFill>
                  <a:srgbClr val="000000"/>
                </a:solidFill>
                <a:latin typeface="Open Sans"/>
                <a:ea typeface="Open Sans"/>
                <a:cs typeface="Open Sans"/>
                <a:sym typeface="Open Sans"/>
              </a:rPr>
              <a:t>201901604 - Belén Contreras</a:t>
            </a:r>
          </a:p>
          <a:p>
            <a:pPr algn="ctr">
              <a:lnSpc>
                <a:spcPts val="2800"/>
              </a:lnSpc>
            </a:pPr>
            <a:r>
              <a:rPr lang="en-US" sz="2000">
                <a:solidFill>
                  <a:srgbClr val="000000"/>
                </a:solidFill>
                <a:latin typeface="Open Sans"/>
                <a:ea typeface="Open Sans"/>
                <a:cs typeface="Open Sans"/>
                <a:sym typeface="Open Sans"/>
              </a:rPr>
              <a:t>202000424 - Jonatan Garcia</a:t>
            </a:r>
          </a:p>
          <a:p>
            <a:pPr algn="ctr">
              <a:lnSpc>
                <a:spcPts val="2800"/>
              </a:lnSpc>
            </a:pPr>
            <a:r>
              <a:rPr lang="en-US" sz="2000">
                <a:solidFill>
                  <a:srgbClr val="000000"/>
                </a:solidFill>
                <a:latin typeface="Open Sans"/>
                <a:ea typeface="Open Sans"/>
                <a:cs typeface="Open Sans"/>
                <a:sym typeface="Open Sans"/>
              </a:rPr>
              <a:t>202103718 - Harry Gomez</a:t>
            </a:r>
          </a:p>
          <a:p>
            <a:pPr algn="ctr">
              <a:lnSpc>
                <a:spcPts val="2800"/>
              </a:lnSpc>
            </a:pPr>
            <a:r>
              <a:rPr lang="en-US" sz="2000">
                <a:solidFill>
                  <a:srgbClr val="000000"/>
                </a:solidFill>
                <a:latin typeface="Open Sans"/>
                <a:ea typeface="Open Sans"/>
                <a:cs typeface="Open Sans"/>
                <a:sym typeface="Open Sans"/>
              </a:rPr>
              <a:t>201807032 - Douglas Soch</a:t>
            </a:r>
          </a:p>
          <a:p>
            <a:pPr algn="ctr">
              <a:lnSpc>
                <a:spcPts val="2800"/>
              </a:lnSpc>
            </a:pPr>
            <a:r>
              <a:rPr lang="en-US" sz="2000">
                <a:solidFill>
                  <a:srgbClr val="000000"/>
                </a:solidFill>
                <a:latin typeface="Open Sans"/>
                <a:ea typeface="Open Sans"/>
                <a:cs typeface="Open Sans"/>
                <a:sym typeface="Open Sans"/>
              </a:rPr>
              <a:t>201807389 - Gladys Ajuchán</a:t>
            </a:r>
          </a:p>
          <a:p>
            <a:pPr algn="ctr">
              <a:lnSpc>
                <a:spcPts val="2800"/>
              </a:lnSpc>
              <a:spcBef>
                <a:spcPct val="0"/>
              </a:spcBef>
            </a:pPr>
            <a:r>
              <a:rPr lang="en-US" sz="2000">
                <a:solidFill>
                  <a:srgbClr val="000000"/>
                </a:solidFill>
                <a:latin typeface="Open Sans"/>
                <a:ea typeface="Open Sans"/>
                <a:cs typeface="Open Sans"/>
                <a:sym typeface="Open Sans"/>
              </a:rPr>
              <a:t>201902363 - Christopher Monterroso</a:t>
            </a:r>
          </a:p>
        </p:txBody>
      </p:sp>
      <p:sp>
        <p:nvSpPr>
          <p:cNvPr name="TextBox 11" id="11"/>
          <p:cNvSpPr txBox="true"/>
          <p:nvPr/>
        </p:nvSpPr>
        <p:spPr>
          <a:xfrm rot="0">
            <a:off x="12719593" y="4968967"/>
            <a:ext cx="5693505" cy="4930774"/>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202003894 - Estuardo Son</a:t>
            </a:r>
          </a:p>
          <a:p>
            <a:pPr algn="ctr">
              <a:lnSpc>
                <a:spcPts val="2800"/>
              </a:lnSpc>
            </a:pPr>
            <a:r>
              <a:rPr lang="en-US" sz="2000">
                <a:solidFill>
                  <a:srgbClr val="000000"/>
                </a:solidFill>
                <a:latin typeface="Open Sans"/>
                <a:ea typeface="Open Sans"/>
                <a:cs typeface="Open Sans"/>
                <a:sym typeface="Open Sans"/>
              </a:rPr>
              <a:t>202002793 - Hugo Martínez</a:t>
            </a:r>
          </a:p>
          <a:p>
            <a:pPr algn="ctr">
              <a:lnSpc>
                <a:spcPts val="2800"/>
              </a:lnSpc>
            </a:pPr>
            <a:r>
              <a:rPr lang="en-US" sz="2000">
                <a:solidFill>
                  <a:srgbClr val="000000"/>
                </a:solidFill>
                <a:latin typeface="Open Sans"/>
                <a:ea typeface="Open Sans"/>
                <a:cs typeface="Open Sans"/>
                <a:sym typeface="Open Sans"/>
              </a:rPr>
              <a:t>201612511 - Luis David García Alay</a:t>
            </a:r>
          </a:p>
          <a:p>
            <a:pPr algn="ctr">
              <a:lnSpc>
                <a:spcPts val="2800"/>
              </a:lnSpc>
            </a:pPr>
            <a:r>
              <a:rPr lang="en-US" sz="2000">
                <a:solidFill>
                  <a:srgbClr val="000000"/>
                </a:solidFill>
                <a:latin typeface="Open Sans"/>
                <a:ea typeface="Open Sans"/>
                <a:cs typeface="Open Sans"/>
                <a:sym typeface="Open Sans"/>
              </a:rPr>
              <a:t>201404202 - Khristian Garcia</a:t>
            </a:r>
          </a:p>
          <a:p>
            <a:pPr algn="ctr">
              <a:lnSpc>
                <a:spcPts val="2800"/>
              </a:lnSpc>
            </a:pPr>
            <a:r>
              <a:rPr lang="en-US" sz="2000">
                <a:solidFill>
                  <a:srgbClr val="000000"/>
                </a:solidFill>
                <a:latin typeface="Open Sans"/>
                <a:ea typeface="Open Sans"/>
                <a:cs typeface="Open Sans"/>
                <a:sym typeface="Open Sans"/>
              </a:rPr>
              <a:t>201709282 - Carlos Martinez</a:t>
            </a:r>
          </a:p>
          <a:p>
            <a:pPr algn="ctr">
              <a:lnSpc>
                <a:spcPts val="2800"/>
              </a:lnSpc>
            </a:pPr>
            <a:r>
              <a:rPr lang="en-US" sz="2000">
                <a:solidFill>
                  <a:srgbClr val="000000"/>
                </a:solidFill>
                <a:latin typeface="Open Sans"/>
                <a:ea typeface="Open Sans"/>
                <a:cs typeface="Open Sans"/>
                <a:sym typeface="Open Sans"/>
              </a:rPr>
              <a:t>201902698- Pablo Javier Batz Contreras</a:t>
            </a:r>
          </a:p>
          <a:p>
            <a:pPr algn="ctr">
              <a:lnSpc>
                <a:spcPts val="2800"/>
              </a:lnSpc>
            </a:pPr>
            <a:r>
              <a:rPr lang="en-US" sz="2000">
                <a:solidFill>
                  <a:srgbClr val="000000"/>
                </a:solidFill>
                <a:latin typeface="Open Sans"/>
                <a:ea typeface="Open Sans"/>
                <a:cs typeface="Open Sans"/>
                <a:sym typeface="Open Sans"/>
              </a:rPr>
              <a:t>201602869 - Randall Ramos</a:t>
            </a:r>
          </a:p>
          <a:p>
            <a:pPr algn="ctr">
              <a:lnSpc>
                <a:spcPts val="2800"/>
              </a:lnSpc>
            </a:pPr>
            <a:r>
              <a:rPr lang="en-US" sz="2000">
                <a:solidFill>
                  <a:srgbClr val="000000"/>
                </a:solidFill>
                <a:latin typeface="Open Sans"/>
                <a:ea typeface="Open Sans"/>
                <a:cs typeface="Open Sans"/>
                <a:sym typeface="Open Sans"/>
              </a:rPr>
              <a:t>202000173 - Christian Blanco</a:t>
            </a:r>
          </a:p>
          <a:p>
            <a:pPr algn="ctr">
              <a:lnSpc>
                <a:spcPts val="2800"/>
              </a:lnSpc>
            </a:pPr>
            <a:r>
              <a:rPr lang="en-US" sz="2000">
                <a:solidFill>
                  <a:srgbClr val="000000"/>
                </a:solidFill>
                <a:latin typeface="Open Sans"/>
                <a:ea typeface="Open Sans"/>
                <a:cs typeface="Open Sans"/>
                <a:sym typeface="Open Sans"/>
              </a:rPr>
              <a:t>202006353 - Josue Zuleta</a:t>
            </a:r>
          </a:p>
          <a:p>
            <a:pPr algn="ctr">
              <a:lnSpc>
                <a:spcPts val="2800"/>
              </a:lnSpc>
            </a:pPr>
            <a:r>
              <a:rPr lang="en-US" sz="2000">
                <a:solidFill>
                  <a:srgbClr val="000000"/>
                </a:solidFill>
                <a:latin typeface="Open Sans"/>
                <a:ea typeface="Open Sans"/>
                <a:cs typeface="Open Sans"/>
                <a:sym typeface="Open Sans"/>
              </a:rPr>
              <a:t>201800992-Kevin Pozuelos</a:t>
            </a:r>
          </a:p>
          <a:p>
            <a:pPr algn="ctr">
              <a:lnSpc>
                <a:spcPts val="2800"/>
              </a:lnSpc>
            </a:pPr>
            <a:r>
              <a:rPr lang="en-US" sz="2000">
                <a:solidFill>
                  <a:srgbClr val="000000"/>
                </a:solidFill>
                <a:latin typeface="Open Sans"/>
                <a:ea typeface="Open Sans"/>
                <a:cs typeface="Open Sans"/>
                <a:sym typeface="Open Sans"/>
              </a:rPr>
              <a:t>201901756 - Andrés López</a:t>
            </a:r>
          </a:p>
          <a:p>
            <a:pPr algn="ctr">
              <a:lnSpc>
                <a:spcPts val="2800"/>
              </a:lnSpc>
            </a:pPr>
            <a:r>
              <a:rPr lang="en-US" sz="2000">
                <a:solidFill>
                  <a:srgbClr val="000000"/>
                </a:solidFill>
                <a:latin typeface="Open Sans"/>
                <a:ea typeface="Open Sans"/>
                <a:cs typeface="Open Sans"/>
                <a:sym typeface="Open Sans"/>
              </a:rPr>
              <a:t>202006629 - Wilber Zúñiga</a:t>
            </a:r>
          </a:p>
          <a:p>
            <a:pPr algn="ctr">
              <a:lnSpc>
                <a:spcPts val="2800"/>
              </a:lnSpc>
            </a:pPr>
            <a:r>
              <a:rPr lang="en-US" sz="2000">
                <a:solidFill>
                  <a:srgbClr val="000000"/>
                </a:solidFill>
                <a:latin typeface="Open Sans"/>
                <a:ea typeface="Open Sans"/>
                <a:cs typeface="Open Sans"/>
                <a:sym typeface="Open Sans"/>
              </a:rPr>
              <a:t>202012039 - Angel Sique</a:t>
            </a:r>
          </a:p>
          <a:p>
            <a:pPr algn="ctr">
              <a:lnSpc>
                <a:spcPts val="2800"/>
              </a:lnSpc>
              <a:spcBef>
                <a:spcPct val="0"/>
              </a:spcBef>
            </a:pPr>
            <a:r>
              <a:rPr lang="en-US" sz="2000">
                <a:solidFill>
                  <a:srgbClr val="000000"/>
                </a:solidFill>
                <a:latin typeface="Open Sans"/>
                <a:ea typeface="Open Sans"/>
                <a:cs typeface="Open Sans"/>
                <a:sym typeface="Open Sans"/>
              </a:rPr>
              <a:t>201807253 - Brian Erazo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DAGfx85vJhc</dc:identifier>
  <dcterms:modified xsi:type="dcterms:W3CDTF">2011-08-01T06:04:30Z</dcterms:modified>
  <cp:revision>1</cp:revision>
  <dc:title>SOG2 | Clase 4 - 1S2025</dc:title>
</cp:coreProperties>
</file>