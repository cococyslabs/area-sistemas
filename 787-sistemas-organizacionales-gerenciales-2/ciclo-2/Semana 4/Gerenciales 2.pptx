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fa948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d8fa948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8fa948c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8fa948c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d8fa948c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8fa948c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d8fa948c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8fa948c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d8fa948c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8fa948c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d8fa948c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8fa948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d8fa948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8fa948c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d8fa948c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8fa948c4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d8fa948c4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8fa948c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d8fa948c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9a09ce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39a09ce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9a09cea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39a09cea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a09cea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39a09cea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9a09cea5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39a09cea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OeFeok-vBbk" TargetMode="External"/><Relationship Id="rId5" Type="http://schemas.openxmlformats.org/officeDocument/2006/relationships/hyperlink" Target="https://www.youtube.com/watch?v=Ztr24-JBL2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</a:t>
                      </a:r>
                      <a:r>
                        <a:rPr lang="es"/>
                        <a:t>24</a:t>
                      </a:r>
                      <a:r>
                        <a:rPr lang="es" sz="1400" u="none" cap="none" strike="noStrike"/>
                        <a:t>/02/2025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</a:t>
            </a:r>
            <a:r>
              <a:rPr b="1" lang="es" sz="1800">
                <a:solidFill>
                  <a:schemeClr val="dk1"/>
                </a:solidFill>
              </a:rPr>
              <a:t>CRM (Customer Relationship Management)</a:t>
            </a:r>
            <a:r>
              <a:rPr lang="es" sz="1800">
                <a:solidFill>
                  <a:schemeClr val="dk1"/>
                </a:solidFill>
              </a:rPr>
              <a:t> es un sistema o estrategia utilizada por las empresas para gestionar y optimizar las relaciones con sus clientes. Su objetivo principal es mejorar la interacción con los clientes, aumentar la fidelización y potenciar las ventas mediante la centralización de datos y la automatización de procesos.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Funciones principales de un CRM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Contactos y Clientes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Almacena información detallada de clientes (nombre, historial de compras, interacciones, etc.).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el seguimiento de cada cliente en su ciclo de vida.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de Ventas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gestionar oportunidades de negocio y embudos de ventas.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Asigna tareas a vendedores y automatiza recordatorios.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Atención al Cliente y Soporte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Centraliza solicitudes de clientes para mejorar la respuesta.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Registra incidencias y facilita soluciones rápidas.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d853e9ab94_0_41"/>
          <p:cNvSpPr txBox="1"/>
          <p:nvPr/>
        </p:nvSpPr>
        <p:spPr>
          <a:xfrm>
            <a:off x="62150" y="854650"/>
            <a:ext cx="9005100" cy="4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de Marketing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campañas de email marketing, segmentación de clientes y personalización de ofertas.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Analiza métricas de conversión y comportamiento del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Análisis y Reportes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Ofrece estadísticas sobre ventas, clientes potenciales y rendimiento de campañas.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Ayuda en la toma de decisiones basada en datos.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d8fa948c4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d8fa948c4e_0_0"/>
          <p:cNvSpPr txBox="1"/>
          <p:nvPr/>
        </p:nvSpPr>
        <p:spPr>
          <a:xfrm>
            <a:off x="31075" y="862425"/>
            <a:ext cx="90672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Beneficios de un CRM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experiencia del cliente.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Aumenta la eficiencia de los equipos de ventas y marketing.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fidelización de clientes.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comunicación interna y la colaboración.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8fa948c4e_0_9"/>
          <p:cNvSpPr txBox="1"/>
          <p:nvPr/>
        </p:nvSpPr>
        <p:spPr>
          <a:xfrm>
            <a:off x="2719375" y="256400"/>
            <a:ext cx="2610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Tipos de 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g2d8fa948c4e_0_9"/>
          <p:cNvSpPr txBox="1"/>
          <p:nvPr/>
        </p:nvSpPr>
        <p:spPr>
          <a:xfrm>
            <a:off x="69925" y="877975"/>
            <a:ext cx="9020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Existen tres tipos principales de </a:t>
            </a:r>
            <a:r>
              <a:rPr b="1" lang="es" sz="1800">
                <a:solidFill>
                  <a:schemeClr val="dk1"/>
                </a:solidFill>
              </a:rPr>
              <a:t>CRM (Customer Relationship Management)</a:t>
            </a:r>
            <a:r>
              <a:rPr lang="es" sz="1800">
                <a:solidFill>
                  <a:schemeClr val="dk1"/>
                </a:solidFill>
              </a:rPr>
              <a:t>, cada uno enfocado en diferentes necesidades empresariales.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g2d8fa948c4e_0_9"/>
          <p:cNvSpPr txBox="1"/>
          <p:nvPr/>
        </p:nvSpPr>
        <p:spPr>
          <a:xfrm>
            <a:off x="54375" y="1623850"/>
            <a:ext cx="89118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CRM Operativo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Función:</a:t>
            </a:r>
            <a:r>
              <a:rPr lang="es" sz="1600">
                <a:solidFill>
                  <a:schemeClr val="dk1"/>
                </a:solidFill>
              </a:rPr>
              <a:t> Automatiza y optimiza los procesos de ventas, marketing y servicio al cliente.</a:t>
            </a:r>
            <a:br>
              <a:rPr lang="es" sz="1600">
                <a:solidFill>
                  <a:schemeClr val="dk1"/>
                </a:solidFill>
              </a:rPr>
            </a:br>
            <a:r>
              <a:rPr b="1" lang="es" sz="1600">
                <a:solidFill>
                  <a:schemeClr val="dk1"/>
                </a:solidFill>
              </a:rPr>
              <a:t>Características: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Gestión de contactos y clientes.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Automatización del proceso de ventas y marketing.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Servicio al cliente centralizado.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Integración con chatbots, emails y call centers.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  </a:t>
            </a:r>
            <a:r>
              <a:rPr b="1" lang="es" sz="1600">
                <a:solidFill>
                  <a:schemeClr val="dk1"/>
                </a:solidFill>
              </a:rPr>
              <a:t>Ejemplo:</a:t>
            </a:r>
            <a:r>
              <a:rPr lang="es" sz="1600">
                <a:solidFill>
                  <a:schemeClr val="dk1"/>
                </a:solidFill>
              </a:rPr>
              <a:t> Un sistema que asigna automáticamente un cliente a un vendedor y le envía recordatorios para hacer seguimiento.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</a:t>
            </a:r>
            <a:r>
              <a:rPr b="1" lang="es" sz="1600">
                <a:solidFill>
                  <a:schemeClr val="dk1"/>
                </a:solidFill>
              </a:rPr>
              <a:t>Ejemplo de software:</a:t>
            </a:r>
            <a:r>
              <a:rPr lang="es" sz="1600">
                <a:solidFill>
                  <a:schemeClr val="dk1"/>
                </a:solidFill>
              </a:rPr>
              <a:t> </a:t>
            </a:r>
            <a:r>
              <a:rPr b="1" lang="es" sz="1600">
                <a:solidFill>
                  <a:schemeClr val="dk1"/>
                </a:solidFill>
              </a:rPr>
              <a:t>Salesforce, HubSpot CRM, Zoho CRM.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2d8fa948c4e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2d8fa948c4e_0_13"/>
          <p:cNvSpPr txBox="1"/>
          <p:nvPr/>
        </p:nvSpPr>
        <p:spPr>
          <a:xfrm>
            <a:off x="15550" y="769200"/>
            <a:ext cx="90906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CRM Analítico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Función:</a:t>
            </a:r>
            <a:r>
              <a:rPr lang="es" sz="1800">
                <a:solidFill>
                  <a:schemeClr val="dk1"/>
                </a:solidFill>
              </a:rPr>
              <a:t> Se centra en el análisis de datos para mejorar la toma de decisiones y la personalización de estrategias.</a:t>
            </a:r>
            <a:br>
              <a:rPr lang="es" sz="1800">
                <a:solidFill>
                  <a:schemeClr val="dk1"/>
                </a:solidFill>
              </a:rPr>
            </a:br>
            <a:r>
              <a:rPr b="1" lang="es" sz="1800">
                <a:solidFill>
                  <a:schemeClr val="dk1"/>
                </a:solidFill>
              </a:rPr>
              <a:t>Características: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Recopila datos de clientes desde múltiples fuentes.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Segmentación de clientes según su comportamiento.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tendencias de compra.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Creación de reportes y dashboards.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</a:t>
            </a:r>
            <a:r>
              <a:rPr b="1" lang="es" sz="1800">
                <a:solidFill>
                  <a:schemeClr val="dk1"/>
                </a:solidFill>
              </a:rPr>
              <a:t>Ejemplo:</a:t>
            </a:r>
            <a:r>
              <a:rPr lang="es" sz="1800">
                <a:solidFill>
                  <a:schemeClr val="dk1"/>
                </a:solidFill>
              </a:rPr>
              <a:t> Un sistema que analiza el historial de compras de los clientes y recomienda productos específicos para campañas de marketing.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</a:t>
            </a:r>
            <a:r>
              <a:rPr b="1" lang="es" sz="1800">
                <a:solidFill>
                  <a:schemeClr val="dk1"/>
                </a:solidFill>
              </a:rPr>
              <a:t>Ejemplo de software: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b="1" lang="es" sz="1800">
                <a:solidFill>
                  <a:schemeClr val="dk1"/>
                </a:solidFill>
              </a:rPr>
              <a:t>Microsoft Dynamics 365, SAP CRM, Google Analytics (integrado con CRM).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d8fa948c4e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d8fa948c4e_0_21"/>
          <p:cNvSpPr txBox="1"/>
          <p:nvPr/>
        </p:nvSpPr>
        <p:spPr>
          <a:xfrm>
            <a:off x="31075" y="854650"/>
            <a:ext cx="9112800" cy="4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 CRM Colaborativo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Función:</a:t>
            </a:r>
            <a:r>
              <a:rPr lang="es" sz="1800">
                <a:solidFill>
                  <a:schemeClr val="dk1"/>
                </a:solidFill>
              </a:rPr>
              <a:t> Facilita la comunicación entre diferentes departamentos (ventas, marketing y servicio al cliente) para mejorar la experiencia del cliente.</a:t>
            </a:r>
            <a:br>
              <a:rPr lang="es" sz="1800">
                <a:solidFill>
                  <a:schemeClr val="dk1"/>
                </a:solidFill>
              </a:rPr>
            </a:br>
            <a:r>
              <a:rPr b="1" lang="es" sz="1800">
                <a:solidFill>
                  <a:schemeClr val="dk1"/>
                </a:solidFill>
              </a:rPr>
              <a:t>Características: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Compartición de datos en tiempo real entre equipos.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Historial de interacciones accesible para todos.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Coordinación entre canales de comunicación (email, redes sociales, chat en vivo).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 </a:t>
            </a:r>
            <a:r>
              <a:rPr b="1" lang="es" sz="1800">
                <a:solidFill>
                  <a:schemeClr val="dk1"/>
                </a:solidFill>
              </a:rPr>
              <a:t>Ejemplo:</a:t>
            </a:r>
            <a:r>
              <a:rPr lang="es" sz="1800">
                <a:solidFill>
                  <a:schemeClr val="dk1"/>
                </a:solidFill>
              </a:rPr>
              <a:t> Un sistema donde el equipo de soporte accede al historial de compras y reclamaciones de un cliente para brindar una mejor solución.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 </a:t>
            </a:r>
            <a:r>
              <a:rPr b="1" lang="es" sz="1800">
                <a:solidFill>
                  <a:schemeClr val="dk1"/>
                </a:solidFill>
              </a:rPr>
              <a:t>Ejemplo de software: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b="1" lang="es" sz="1800">
                <a:solidFill>
                  <a:schemeClr val="dk1"/>
                </a:solidFill>
              </a:rPr>
              <a:t>Zendesk, Freshsales, Pipedrive.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2d8fa948c4e_0_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d8fa948c4e_0_25"/>
          <p:cNvSpPr txBox="1"/>
          <p:nvPr/>
        </p:nvSpPr>
        <p:spPr>
          <a:xfrm>
            <a:off x="23300" y="839125"/>
            <a:ext cx="90828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¿Cuál es el mejor para tu empresa?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Pequeñas empresas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b="1" lang="es" sz="1800">
                <a:solidFill>
                  <a:schemeClr val="dk1"/>
                </a:solidFill>
              </a:rPr>
              <a:t>CRM Operativo</a:t>
            </a:r>
            <a:r>
              <a:rPr lang="es" sz="1800">
                <a:solidFill>
                  <a:schemeClr val="dk1"/>
                </a:solidFill>
              </a:rPr>
              <a:t> para gestionar clientes y automatizar tareas.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Empresas en crecimiento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b="1" lang="es" sz="1800">
                <a:solidFill>
                  <a:schemeClr val="dk1"/>
                </a:solidFill>
              </a:rPr>
              <a:t>CRM Analítico</a:t>
            </a:r>
            <a:r>
              <a:rPr lang="es" sz="1800">
                <a:solidFill>
                  <a:schemeClr val="dk1"/>
                </a:solidFill>
              </a:rPr>
              <a:t> para mejorar la estrategia con 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Empresas con múltiples departamentos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b="1" lang="es" sz="1800">
                <a:solidFill>
                  <a:schemeClr val="dk1"/>
                </a:solidFill>
              </a:rPr>
              <a:t>CRM Colaborativo</a:t>
            </a:r>
            <a:r>
              <a:rPr lang="es" sz="1800">
                <a:solidFill>
                  <a:schemeClr val="dk1"/>
                </a:solidFill>
              </a:rPr>
              <a:t> para unificar esfuerzos.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g2d8fa948c4e_0_25"/>
          <p:cNvSpPr txBox="1"/>
          <p:nvPr/>
        </p:nvSpPr>
        <p:spPr>
          <a:xfrm>
            <a:off x="233075" y="3286550"/>
            <a:ext cx="5578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4"/>
              </a:rPr>
              <a:t>https://www.youtube.com/watch?v=OeFeok-vBbk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g2d8fa948c4e_0_25"/>
          <p:cNvSpPr txBox="1"/>
          <p:nvPr/>
        </p:nvSpPr>
        <p:spPr>
          <a:xfrm>
            <a:off x="155375" y="4607400"/>
            <a:ext cx="5260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5"/>
              </a:rPr>
              <a:t>https://www.youtube.com/watch?v=Ztr24-JBL2s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d8fa948c4e_0_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d8fa948c4e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25" y="745875"/>
            <a:ext cx="8686450" cy="43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2d8fa948c4e_0_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d8fa948c4e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732025"/>
            <a:ext cx="90361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d8fa948c4e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0" y="1894075"/>
            <a:ext cx="9036101" cy="32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d8fa948c4e_0_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2d8fa948c4e_0_33"/>
          <p:cNvSpPr txBox="1"/>
          <p:nvPr/>
        </p:nvSpPr>
        <p:spPr>
          <a:xfrm>
            <a:off x="2532900" y="264175"/>
            <a:ext cx="3208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Tendencias en los 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g2d8fa948c4e_0_33"/>
          <p:cNvSpPr txBox="1"/>
          <p:nvPr/>
        </p:nvSpPr>
        <p:spPr>
          <a:xfrm>
            <a:off x="23300" y="839125"/>
            <a:ext cx="90516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Inteligencia Artificial (IA) y Machine Learning 🤖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Predicción de comportamientos y necesidades de los clientes.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Automatización de tareas repetitivas.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Chatbots inteligentes para atención al cliente 24/7.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CRM basado en la Nube ☁️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Mayor accesibilidad desde cualquier dispositivo.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Reducción de costos en infraestructura.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Integración con otras herramientas empresariales.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Experiencia Omnicanal 📱💻📧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Unificación de interacciones en múltiples canales (redes sociales, email, chat en vivo, WhatsApp, etc.).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Seguimiento en tiempo real del cliente sin importar el canal que use.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d8fa948c4e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d8fa948c4e_0_41"/>
          <p:cNvSpPr txBox="1"/>
          <p:nvPr/>
        </p:nvSpPr>
        <p:spPr>
          <a:xfrm>
            <a:off x="38850" y="815800"/>
            <a:ext cx="9105300" cy="4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Personalización en Tiempo Real 🎯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CRM adaptado a las preferencias y comportamiento de cada usuario.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Ofertas y recomendaciones automatizadas basadas en datos.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Integración con ERP y Otras Plataformas 🔗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Mayor conectividad con sistemas de gestión empresarial (ERP, e-commerce, marketing automation).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Flujo de información unificado en toda la empresa.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Mayor Enfoque en Seguridad y Privacidad 🔐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Protección avanzada de datos con cifrado y autenticación de dos factores.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Cumplimiento de normativas como GDPR y CCPA.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d8fa948c4e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d8fa948c4e_0_37"/>
          <p:cNvSpPr txBox="1"/>
          <p:nvPr/>
        </p:nvSpPr>
        <p:spPr>
          <a:xfrm>
            <a:off x="15550" y="823575"/>
            <a:ext cx="90672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CRM con Funcionalidad de Voz 🎙️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Uso de asistentes virtuales para búsqueda de datos y gestión de tareas.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Integración con dispositivos como Alexa, Google Assistant o Siri.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Análisis de Datos y Big Data 📊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Uso de herramientas avanzadas de Business Intelligence (BI).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Creación de informes predictivos para mejorar estrategias comerciales.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CRM Low-Code/No-Code 🛠️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Sistemas personalizables sin necesidad de conocimientos de programación.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Empresas pueden adaptar el CRM a sus necesidades sin contratar desarrolladores.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39a09cea51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39a09cea51_0_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automatización inteligente</a:t>
            </a:r>
            <a:r>
              <a:rPr lang="es" sz="1800">
                <a:solidFill>
                  <a:schemeClr val="dk1"/>
                </a:solidFill>
              </a:rPr>
              <a:t> combina tecnologías como </a:t>
            </a:r>
            <a:r>
              <a:rPr b="1" lang="es" sz="1800">
                <a:solidFill>
                  <a:schemeClr val="dk1"/>
                </a:solidFill>
              </a:rPr>
              <a:t>Inteligencia Artificial (IA), Machine Learning (ML) y Robotic Process Automation (RPA)</a:t>
            </a:r>
            <a:r>
              <a:rPr lang="es" sz="1800">
                <a:solidFill>
                  <a:schemeClr val="dk1"/>
                </a:solidFill>
              </a:rPr>
              <a:t> para optimizar tareas repetitivas y mejorar la eficiencia operativa. Esto permite a las empresas ahorrar tiempo, reducir errores y centrarse en actividades estratégicas.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Beneficios de la Automatización Inteligente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Ahorro de tiempo:</a:t>
            </a:r>
            <a:r>
              <a:rPr lang="es" sz="1800">
                <a:solidFill>
                  <a:schemeClr val="dk1"/>
                </a:solidFill>
              </a:rPr>
              <a:t> Reducción de procesos manuales y repetitivos.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Mayor precisión:</a:t>
            </a:r>
            <a:r>
              <a:rPr lang="es" sz="1800">
                <a:solidFill>
                  <a:schemeClr val="dk1"/>
                </a:solidFill>
              </a:rPr>
              <a:t> Menos errores humanos en tareas operativas.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Mejor experiencia del cliente:</a:t>
            </a:r>
            <a:r>
              <a:rPr lang="es" sz="1800">
                <a:solidFill>
                  <a:schemeClr val="dk1"/>
                </a:solidFill>
              </a:rPr>
              <a:t> Respuestas más rápidas y personalizadas.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Optimización de costos:</a:t>
            </a:r>
            <a:r>
              <a:rPr lang="es" sz="1800">
                <a:solidFill>
                  <a:schemeClr val="dk1"/>
                </a:solidFill>
              </a:rPr>
              <a:t> Reducción de recursos en tareas administrativas.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1" name="Google Shape;151;g339a09cea51_0_0"/>
          <p:cNvSpPr txBox="1"/>
          <p:nvPr/>
        </p:nvSpPr>
        <p:spPr>
          <a:xfrm>
            <a:off x="2276525" y="233100"/>
            <a:ext cx="4055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Automatización Inteligente en Tareas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39a09cea51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39a09cea51_0_5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CRM y Automatización de Ventas 📊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Seguimiento automático de clientes potenciales.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Envío de recordatorios y propuestas personalizadas.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Priorización de oportunidades de negocio mediante IA.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Atención al Cliente con IA 🤖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Chatbots y asistentes virtuales que responden consultas 24/7.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sentimientos en correos y redes sociales.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Respuesta automática basada en el historial del cliente.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g339a09cea51_0_5"/>
          <p:cNvSpPr txBox="1"/>
          <p:nvPr/>
        </p:nvSpPr>
        <p:spPr>
          <a:xfrm>
            <a:off x="2159975" y="567200"/>
            <a:ext cx="42192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Ejemplos de Automatización Inteligente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39a09cea51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39a09cea51_0_1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39a09cea51_0_10"/>
          <p:cNvSpPr txBox="1"/>
          <p:nvPr/>
        </p:nvSpPr>
        <p:spPr>
          <a:xfrm>
            <a:off x="23300" y="831350"/>
            <a:ext cx="90438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en Marketing 🎯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Envío de campañas personalizadas según el comportamiento del cliente.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Segmentación de clientes con IA para mejorar conversiones.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datos para prever tendencias de compra.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Procesos Administrativos y Gestión de Datos 🏢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Facturación automática y seguimiento de pagos.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Generación de reportes inteligentes con análisis predictivo.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Integración de ERP y CRM para optimizar la toma de decisiones.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39a09cea51_0_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39a09cea51_0_15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39a09cea51_0_15"/>
          <p:cNvSpPr txBox="1"/>
          <p:nvPr/>
        </p:nvSpPr>
        <p:spPr>
          <a:xfrm>
            <a:off x="15550" y="831350"/>
            <a:ext cx="90585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Tendencias Futuras en Automatización Inteligente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con voz:</a:t>
            </a:r>
            <a:r>
              <a:rPr lang="es" sz="1800">
                <a:solidFill>
                  <a:schemeClr val="dk1"/>
                </a:solidFill>
              </a:rPr>
              <a:t> CRM y sistemas de gestión controlados por comandos de voz.</a:t>
            </a:r>
            <a:br>
              <a:rPr lang="es" sz="1800">
                <a:solidFill>
                  <a:schemeClr val="dk1"/>
                </a:solidFill>
              </a:rPr>
            </a:br>
            <a:r>
              <a:rPr b="1" lang="es" sz="1800">
                <a:solidFill>
                  <a:schemeClr val="dk1"/>
                </a:solidFill>
              </a:rPr>
              <a:t>IA conversacional avanzada:</a:t>
            </a:r>
            <a:r>
              <a:rPr lang="es" sz="1800">
                <a:solidFill>
                  <a:schemeClr val="dk1"/>
                </a:solidFill>
              </a:rPr>
              <a:t> Chatbots con mayor capacidad de comprensión y personalización.</a:t>
            </a:r>
            <a:br>
              <a:rPr lang="es" sz="1800">
                <a:solidFill>
                  <a:schemeClr val="dk1"/>
                </a:solidFill>
              </a:rPr>
            </a:br>
            <a:r>
              <a:rPr b="1" lang="es" sz="1800">
                <a:solidFill>
                  <a:schemeClr val="dk1"/>
                </a:solidFill>
              </a:rPr>
              <a:t>Automatización predictiva:</a:t>
            </a:r>
            <a:r>
              <a:rPr lang="es" sz="1800">
                <a:solidFill>
                  <a:schemeClr val="dk1"/>
                </a:solidFill>
              </a:rPr>
              <a:t> Sistemas que anticipan necesidades y acciones de los clientes.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