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glwTsLKcRK03Z4gW8aNtKAST9k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1118CD-51ED-4F3A-AA6B-27D2FAB7BC68}">
  <a:tblStyle styleId="{C11118CD-51ED-4F3A-AA6B-27D2FAB7BC6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d853e9ab9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2d853e9ab9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d853e9ab9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2d853e9ab9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d853e9ab9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2d853e9ab9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d8fa948c4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2d8fa948c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d8fa948c4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2d8fa948c4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d8fa948c4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2d8fa948c4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d8fa948c4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2d8fa948c4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d8fa948c4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2d8fa948c4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d8fa948c4e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2d8fa948c4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d8fa948c4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2d8fa948c4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d8fa948c4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2d8fa948c4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dcf99f76a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2dcf99f76a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d8fa948c4e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2d8fa948c4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d8fa948c4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2d8fa948c4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39a09cea5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39a09cea5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39a09cea5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39a09cea5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39a09cea5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39a09cea5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" name="Google Shape;55;p1"/>
          <p:cNvGraphicFramePr/>
          <p:nvPr/>
        </p:nvGraphicFramePr>
        <p:xfrm>
          <a:off x="5328200" y="9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{C11118CD-51ED-4F3A-AA6B-27D2FAB7BC68}</a:tableStyleId>
              </a:tblPr>
              <a:tblGrid>
                <a:gridCol w="1518200"/>
                <a:gridCol w="2172375"/>
              </a:tblGrid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" sz="142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Lunes, </a:t>
                      </a:r>
                      <a:r>
                        <a:rPr lang="es"/>
                        <a:t>03</a:t>
                      </a:r>
                      <a:r>
                        <a:rPr lang="es" sz="1400" u="none" cap="none" strike="noStrike"/>
                        <a:t>/0</a:t>
                      </a:r>
                      <a:r>
                        <a:rPr lang="es"/>
                        <a:t>3</a:t>
                      </a:r>
                      <a:r>
                        <a:rPr lang="es" sz="1400" u="none" cap="none" strike="noStrike"/>
                        <a:t>/2025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6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" sz="142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17:20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6" name="Google Shape;56;p1"/>
          <p:cNvSpPr txBox="1"/>
          <p:nvPr/>
        </p:nvSpPr>
        <p:spPr>
          <a:xfrm>
            <a:off x="3992650" y="2132750"/>
            <a:ext cx="5142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ORGANIZACIONALES Y GERENCIALES 2 Sección P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107100" y="4595250"/>
            <a:ext cx="429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Erick Eden Sandoval Ramirez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2d853e9ab94_0_26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2d853e9ab94_0_26"/>
          <p:cNvSpPr txBox="1"/>
          <p:nvPr/>
        </p:nvSpPr>
        <p:spPr>
          <a:xfrm>
            <a:off x="2307575" y="240850"/>
            <a:ext cx="39315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Sistemas Empresariales (ERP-CRM)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4" name="Google Shape;64;g2d853e9ab94_0_26"/>
          <p:cNvSpPr txBox="1"/>
          <p:nvPr/>
        </p:nvSpPr>
        <p:spPr>
          <a:xfrm>
            <a:off x="23300" y="854650"/>
            <a:ext cx="9120600" cy="8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Los </a:t>
            </a:r>
            <a:r>
              <a:rPr b="1" lang="es" sz="1800">
                <a:solidFill>
                  <a:schemeClr val="dk1"/>
                </a:solidFill>
              </a:rPr>
              <a:t>sistemas empresariales</a:t>
            </a:r>
            <a:r>
              <a:rPr lang="es" sz="1800">
                <a:solidFill>
                  <a:schemeClr val="dk1"/>
                </a:solidFill>
              </a:rPr>
              <a:t> como el </a:t>
            </a:r>
            <a:r>
              <a:rPr b="1" lang="es" sz="1800">
                <a:solidFill>
                  <a:schemeClr val="dk1"/>
                </a:solidFill>
              </a:rPr>
              <a:t>ERP (Enterprise Resource Planning)</a:t>
            </a:r>
            <a:r>
              <a:rPr lang="es" sz="1800">
                <a:solidFill>
                  <a:schemeClr val="dk1"/>
                </a:solidFill>
              </a:rPr>
              <a:t> y el </a:t>
            </a:r>
            <a:r>
              <a:rPr b="1" lang="es" sz="1800">
                <a:solidFill>
                  <a:schemeClr val="dk1"/>
                </a:solidFill>
              </a:rPr>
              <a:t>CRM (Customer Relationship Management)</a:t>
            </a:r>
            <a:r>
              <a:rPr lang="es" sz="1800">
                <a:solidFill>
                  <a:schemeClr val="dk1"/>
                </a:solidFill>
              </a:rPr>
              <a:t> son herramientas clave para la gestión eficiente de una empresa.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g2d853e9ab94_0_26"/>
          <p:cNvSpPr txBox="1"/>
          <p:nvPr/>
        </p:nvSpPr>
        <p:spPr>
          <a:xfrm>
            <a:off x="0" y="2462975"/>
            <a:ext cx="9104400" cy="15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ERP (Enterprise Resource Planning) – Planificación de Recursos Empresariales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Un ERP es un software que integra y automatiza los procesos centrales de una empresa, como finanzas, producción, inventario y recursos humanos.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g2d853e9ab94_0_3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g2d853e9ab94_0_31"/>
          <p:cNvSpPr txBox="1"/>
          <p:nvPr/>
        </p:nvSpPr>
        <p:spPr>
          <a:xfrm>
            <a:off x="38850" y="823575"/>
            <a:ext cx="9105300" cy="42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Principales módulos de un ERP: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✔ </a:t>
            </a:r>
            <a:r>
              <a:rPr b="1" lang="es" sz="1800">
                <a:solidFill>
                  <a:schemeClr val="dk1"/>
                </a:solidFill>
              </a:rPr>
              <a:t>Finanzas y contabilidad</a:t>
            </a:r>
            <a:r>
              <a:rPr lang="es" sz="1800">
                <a:solidFill>
                  <a:schemeClr val="dk1"/>
                </a:solidFill>
              </a:rPr>
              <a:t> – Control de gastos, ingresos y presupuestos.</a:t>
            </a:r>
            <a:br>
              <a:rPr lang="es" sz="1800">
                <a:solidFill>
                  <a:schemeClr val="dk1"/>
                </a:solidFill>
              </a:rPr>
            </a:br>
            <a:r>
              <a:rPr lang="es" sz="1800">
                <a:solidFill>
                  <a:schemeClr val="dk1"/>
                </a:solidFill>
              </a:rPr>
              <a:t>✔ </a:t>
            </a:r>
            <a:r>
              <a:rPr b="1" lang="es" sz="1800">
                <a:solidFill>
                  <a:schemeClr val="dk1"/>
                </a:solidFill>
              </a:rPr>
              <a:t>Gestión de inventarios y compras</a:t>
            </a:r>
            <a:r>
              <a:rPr lang="es" sz="1800">
                <a:solidFill>
                  <a:schemeClr val="dk1"/>
                </a:solidFill>
              </a:rPr>
              <a:t> – Seguimiento de stock y proveedores.</a:t>
            </a:r>
            <a:br>
              <a:rPr lang="es" sz="1800">
                <a:solidFill>
                  <a:schemeClr val="dk1"/>
                </a:solidFill>
              </a:rPr>
            </a:br>
            <a:r>
              <a:rPr lang="es" sz="1800">
                <a:solidFill>
                  <a:schemeClr val="dk1"/>
                </a:solidFill>
              </a:rPr>
              <a:t>✔ </a:t>
            </a:r>
            <a:r>
              <a:rPr b="1" lang="es" sz="1800">
                <a:solidFill>
                  <a:schemeClr val="dk1"/>
                </a:solidFill>
              </a:rPr>
              <a:t>Recursos humanos</a:t>
            </a:r>
            <a:r>
              <a:rPr lang="es" sz="1800">
                <a:solidFill>
                  <a:schemeClr val="dk1"/>
                </a:solidFill>
              </a:rPr>
              <a:t> – Nómina, gestión de empleados y reclutamiento.</a:t>
            </a:r>
            <a:br>
              <a:rPr lang="es" sz="1800">
                <a:solidFill>
                  <a:schemeClr val="dk1"/>
                </a:solidFill>
              </a:rPr>
            </a:br>
            <a:r>
              <a:rPr lang="es" sz="1800">
                <a:solidFill>
                  <a:schemeClr val="dk1"/>
                </a:solidFill>
              </a:rPr>
              <a:t>✔ </a:t>
            </a:r>
            <a:r>
              <a:rPr b="1" lang="es" sz="1800">
                <a:solidFill>
                  <a:schemeClr val="dk1"/>
                </a:solidFill>
              </a:rPr>
              <a:t>Producción</a:t>
            </a:r>
            <a:r>
              <a:rPr lang="es" sz="1800">
                <a:solidFill>
                  <a:schemeClr val="dk1"/>
                </a:solidFill>
              </a:rPr>
              <a:t> – Planificación y control de la manufactura.</a:t>
            </a:r>
            <a:br>
              <a:rPr lang="es" sz="1800">
                <a:solidFill>
                  <a:schemeClr val="dk1"/>
                </a:solidFill>
              </a:rPr>
            </a:br>
            <a:r>
              <a:rPr lang="es" sz="1800">
                <a:solidFill>
                  <a:schemeClr val="dk1"/>
                </a:solidFill>
              </a:rPr>
              <a:t>✔ </a:t>
            </a:r>
            <a:r>
              <a:rPr b="1" lang="es" sz="1800">
                <a:solidFill>
                  <a:schemeClr val="dk1"/>
                </a:solidFill>
              </a:rPr>
              <a:t>Logística</a:t>
            </a:r>
            <a:r>
              <a:rPr lang="es" sz="1800">
                <a:solidFill>
                  <a:schemeClr val="dk1"/>
                </a:solidFill>
              </a:rPr>
              <a:t> – Control de envíos y distribución.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Beneficios de un ERP: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Automatización y optimización de procesos.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Mejora la eficiencia y reduce costos operativos.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Centraliza la información en un solo sistema.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g2d853e9ab94_0_4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g2d853e9ab94_0_41"/>
          <p:cNvSpPr txBox="1"/>
          <p:nvPr/>
        </p:nvSpPr>
        <p:spPr>
          <a:xfrm>
            <a:off x="31075" y="792500"/>
            <a:ext cx="9075000" cy="5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CRM (Customer Relationship Management) – Gestión de Relaciones con Clientes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78" name="Google Shape;78;g2d853e9ab94_0_41"/>
          <p:cNvSpPr txBox="1"/>
          <p:nvPr/>
        </p:nvSpPr>
        <p:spPr>
          <a:xfrm>
            <a:off x="46675" y="1569500"/>
            <a:ext cx="9043800" cy="29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Funciones principales de un CRM: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✔ </a:t>
            </a:r>
            <a:r>
              <a:rPr b="1" lang="es" sz="1800">
                <a:solidFill>
                  <a:schemeClr val="dk1"/>
                </a:solidFill>
              </a:rPr>
              <a:t>Gestión de contactos</a:t>
            </a:r>
            <a:r>
              <a:rPr lang="es" sz="1800">
                <a:solidFill>
                  <a:schemeClr val="dk1"/>
                </a:solidFill>
              </a:rPr>
              <a:t> – Base de datos de clientes y prospectos.</a:t>
            </a:r>
            <a:br>
              <a:rPr lang="es" sz="1800">
                <a:solidFill>
                  <a:schemeClr val="dk1"/>
                </a:solidFill>
              </a:rPr>
            </a:br>
            <a:r>
              <a:rPr lang="es" sz="1800">
                <a:solidFill>
                  <a:schemeClr val="dk1"/>
                </a:solidFill>
              </a:rPr>
              <a:t>✔ </a:t>
            </a:r>
            <a:r>
              <a:rPr b="1" lang="es" sz="1800">
                <a:solidFill>
                  <a:schemeClr val="dk1"/>
                </a:solidFill>
              </a:rPr>
              <a:t>Automatización de ventas</a:t>
            </a:r>
            <a:r>
              <a:rPr lang="es" sz="1800">
                <a:solidFill>
                  <a:schemeClr val="dk1"/>
                </a:solidFill>
              </a:rPr>
              <a:t> – Seguimiento de oportunidades y embudo de ventas.</a:t>
            </a:r>
            <a:br>
              <a:rPr lang="es" sz="1800">
                <a:solidFill>
                  <a:schemeClr val="dk1"/>
                </a:solidFill>
              </a:rPr>
            </a:br>
            <a:r>
              <a:rPr lang="es" sz="1800">
                <a:solidFill>
                  <a:schemeClr val="dk1"/>
                </a:solidFill>
              </a:rPr>
              <a:t>✔ </a:t>
            </a:r>
            <a:r>
              <a:rPr b="1" lang="es" sz="1800">
                <a:solidFill>
                  <a:schemeClr val="dk1"/>
                </a:solidFill>
              </a:rPr>
              <a:t>Atención al cliente</a:t>
            </a:r>
            <a:r>
              <a:rPr lang="es" sz="1800">
                <a:solidFill>
                  <a:schemeClr val="dk1"/>
                </a:solidFill>
              </a:rPr>
              <a:t> – Gestión de tickets, soporte y satisfacción.</a:t>
            </a:r>
            <a:br>
              <a:rPr lang="es" sz="1800">
                <a:solidFill>
                  <a:schemeClr val="dk1"/>
                </a:solidFill>
              </a:rPr>
            </a:br>
            <a:r>
              <a:rPr lang="es" sz="1800">
                <a:solidFill>
                  <a:schemeClr val="dk1"/>
                </a:solidFill>
              </a:rPr>
              <a:t>✔ </a:t>
            </a:r>
            <a:r>
              <a:rPr b="1" lang="es" sz="1800">
                <a:solidFill>
                  <a:schemeClr val="dk1"/>
                </a:solidFill>
              </a:rPr>
              <a:t>Marketing</a:t>
            </a:r>
            <a:r>
              <a:rPr lang="es" sz="1800">
                <a:solidFill>
                  <a:schemeClr val="dk1"/>
                </a:solidFill>
              </a:rPr>
              <a:t> – Campañas personalizadas y análisis de comportamiento.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g2d8fa948c4e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g2d8fa948c4e_0_0"/>
          <p:cNvSpPr txBox="1"/>
          <p:nvPr/>
        </p:nvSpPr>
        <p:spPr>
          <a:xfrm>
            <a:off x="54375" y="877975"/>
            <a:ext cx="9036000" cy="38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Beneficios de un CRM: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Mejora la retención y satisfacción del cliente.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Aumenta la eficiencia en ventas y marketing.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Proporciona datos para tomar decisiones estratégicas.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Un CRM está enfocado en la gestión de clientes y ventas, ayudando a las empresas a mejorar la experiencia del cliente y aumentar la fidelización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2d8fa948c4e_0_9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2d8fa948c4e_0_9"/>
          <p:cNvSpPr txBox="1"/>
          <p:nvPr/>
        </p:nvSpPr>
        <p:spPr>
          <a:xfrm>
            <a:off x="31075" y="940125"/>
            <a:ext cx="9051600" cy="40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1" name="Google Shape;91;g2d8fa948c4e_0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75" y="885750"/>
            <a:ext cx="9104475" cy="400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g2d8fa948c4e_0_13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2d8fa948c4e_0_13"/>
          <p:cNvSpPr txBox="1"/>
          <p:nvPr/>
        </p:nvSpPr>
        <p:spPr>
          <a:xfrm>
            <a:off x="38400" y="893500"/>
            <a:ext cx="9067200" cy="3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Integración ERP + CRM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Muchas empresas integran </a:t>
            </a:r>
            <a:r>
              <a:rPr b="1" lang="es" sz="1800">
                <a:solidFill>
                  <a:schemeClr val="dk1"/>
                </a:solidFill>
              </a:rPr>
              <a:t>ERP y CRM</a:t>
            </a:r>
            <a:r>
              <a:rPr lang="es" sz="1800">
                <a:solidFill>
                  <a:schemeClr val="dk1"/>
                </a:solidFill>
              </a:rPr>
              <a:t> para un mejor control del negocio, permitiendo: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Tener </a:t>
            </a:r>
            <a:r>
              <a:rPr b="1" lang="es" sz="1800">
                <a:solidFill>
                  <a:schemeClr val="dk1"/>
                </a:solidFill>
              </a:rPr>
              <a:t>información unificada</a:t>
            </a:r>
            <a:r>
              <a:rPr lang="es" sz="1800">
                <a:solidFill>
                  <a:schemeClr val="dk1"/>
                </a:solidFill>
              </a:rPr>
              <a:t> de clientes y operaciones.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Mejorar la </a:t>
            </a:r>
            <a:r>
              <a:rPr b="1" lang="es" sz="1800">
                <a:solidFill>
                  <a:schemeClr val="dk1"/>
                </a:solidFill>
              </a:rPr>
              <a:t>toma de decisiones</a:t>
            </a:r>
            <a:r>
              <a:rPr lang="es" sz="1800">
                <a:solidFill>
                  <a:schemeClr val="dk1"/>
                </a:solidFill>
              </a:rPr>
              <a:t> con datos precisos.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Automatizar todo el proceso, desde la venta hasta la entrega del producto o servicio.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g2d8fa948c4e_0_2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g2d8fa948c4e_0_21"/>
          <p:cNvSpPr txBox="1"/>
          <p:nvPr/>
        </p:nvSpPr>
        <p:spPr>
          <a:xfrm>
            <a:off x="1274225" y="854650"/>
            <a:ext cx="63168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Análisis Predictivo y Toma de Decisiones en Empresas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04" name="Google Shape;104;g2d8fa948c4e_0_21"/>
          <p:cNvSpPr txBox="1"/>
          <p:nvPr/>
        </p:nvSpPr>
        <p:spPr>
          <a:xfrm>
            <a:off x="54375" y="1724850"/>
            <a:ext cx="89430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El </a:t>
            </a:r>
            <a:r>
              <a:rPr b="1" lang="es" sz="1800">
                <a:solidFill>
                  <a:schemeClr val="dk1"/>
                </a:solidFill>
              </a:rPr>
              <a:t>análisis predictivo</a:t>
            </a:r>
            <a:r>
              <a:rPr lang="es" sz="1800">
                <a:solidFill>
                  <a:schemeClr val="dk1"/>
                </a:solidFill>
              </a:rPr>
              <a:t> es una técnica basada en </a:t>
            </a:r>
            <a:r>
              <a:rPr b="1" lang="es" sz="1800">
                <a:solidFill>
                  <a:schemeClr val="dk1"/>
                </a:solidFill>
              </a:rPr>
              <a:t>inteligencia artificial (IA), machine learning (ML) y big data</a:t>
            </a:r>
            <a:r>
              <a:rPr lang="es" sz="1800">
                <a:solidFill>
                  <a:schemeClr val="dk1"/>
                </a:solidFill>
              </a:rPr>
              <a:t> que permite a las empresas prever tendencias, comportamientos y posibles escenarios futuros. Su principal objetivo es mejorar la </a:t>
            </a:r>
            <a:r>
              <a:rPr b="1" lang="es" sz="1800">
                <a:solidFill>
                  <a:schemeClr val="dk1"/>
                </a:solidFill>
              </a:rPr>
              <a:t>toma de decisiones</a:t>
            </a:r>
            <a:r>
              <a:rPr lang="es" sz="1800">
                <a:solidFill>
                  <a:schemeClr val="dk1"/>
                </a:solidFill>
              </a:rPr>
              <a:t> estratégicas y operativas.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2d8fa948c4e_0_25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2d8fa948c4e_0_25"/>
          <p:cNvSpPr txBox="1"/>
          <p:nvPr/>
        </p:nvSpPr>
        <p:spPr>
          <a:xfrm>
            <a:off x="0" y="854650"/>
            <a:ext cx="9051600" cy="39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Es un proceso que utiliza </a:t>
            </a:r>
            <a:r>
              <a:rPr b="1" lang="es" sz="1800">
                <a:solidFill>
                  <a:schemeClr val="dk1"/>
                </a:solidFill>
              </a:rPr>
              <a:t>datos históricos</a:t>
            </a:r>
            <a:r>
              <a:rPr lang="es" sz="1800">
                <a:solidFill>
                  <a:schemeClr val="dk1"/>
                </a:solidFill>
              </a:rPr>
              <a:t> para identificar patrones y realizar </a:t>
            </a:r>
            <a:r>
              <a:rPr b="1" lang="es" sz="1800">
                <a:solidFill>
                  <a:schemeClr val="dk1"/>
                </a:solidFill>
              </a:rPr>
              <a:t>predicciones</a:t>
            </a:r>
            <a:r>
              <a:rPr lang="es" sz="1800">
                <a:solidFill>
                  <a:schemeClr val="dk1"/>
                </a:solidFill>
              </a:rPr>
              <a:t> sobre eventos futuros.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 Tecnologías clave en el análisis predictivo: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Machine Learning (ML):</a:t>
            </a:r>
            <a:r>
              <a:rPr lang="es" sz="1800">
                <a:solidFill>
                  <a:schemeClr val="dk1"/>
                </a:solidFill>
              </a:rPr>
              <a:t> Modelos que aprenden automáticamente de los datos.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Big Data:</a:t>
            </a:r>
            <a:r>
              <a:rPr lang="es" sz="1800">
                <a:solidFill>
                  <a:schemeClr val="dk1"/>
                </a:solidFill>
              </a:rPr>
              <a:t> Manejo de grandes volúmenes de información en tiempo real.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Minería de datos (Data Mining):</a:t>
            </a:r>
            <a:r>
              <a:rPr lang="es" sz="1800">
                <a:solidFill>
                  <a:schemeClr val="dk1"/>
                </a:solidFill>
              </a:rPr>
              <a:t> Descubrimiento de patrones ocultos en bases de datos.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Estadística Avanzada:</a:t>
            </a:r>
            <a:r>
              <a:rPr lang="es" sz="1800">
                <a:solidFill>
                  <a:schemeClr val="dk1"/>
                </a:solidFill>
              </a:rPr>
              <a:t> Modelos de regresión, análisis de correlación y simulaciones.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1" name="Google Shape;111;g2d8fa948c4e_0_25"/>
          <p:cNvSpPr txBox="1"/>
          <p:nvPr/>
        </p:nvSpPr>
        <p:spPr>
          <a:xfrm>
            <a:off x="2323125" y="334100"/>
            <a:ext cx="35976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¿Qué es el Análisis Predictivo?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g2d8fa948c4e_0_29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2d8fa948c4e_0_29"/>
          <p:cNvSpPr txBox="1"/>
          <p:nvPr/>
        </p:nvSpPr>
        <p:spPr>
          <a:xfrm>
            <a:off x="15550" y="792500"/>
            <a:ext cx="9075000" cy="4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Aplicaciones del Análisis Predictivo en la Toma de Decisiones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En Finanzas y Gestión Empresarial 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Predicción de ingresos y gastos.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Identificación de riesgos financieros.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Optimización de presupuestos y reducción de costos.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En Ventas y Marketing 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Predicción de tendencias de compra y comportamiento del cliente.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Segmentación de clientes para personalizar estrategias de marketing.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Optimización de campañas publicitarias según la respuesta del mercado.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g2d8fa948c4e_0_17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2d8fa948c4e_0_17"/>
          <p:cNvSpPr txBox="1"/>
          <p:nvPr/>
        </p:nvSpPr>
        <p:spPr>
          <a:xfrm>
            <a:off x="15550" y="893500"/>
            <a:ext cx="9090600" cy="41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En Gestión de Recursos Humanos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Análisis de rotación y retención de empleados.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Predicción de necesidades de contratación.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Evaluación del desempeño y planificación de ascensos.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En Logística y Cadena de Suministro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Predicción de demanda de productos para optimizar inventarios.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Optimización de rutas de distribución para reducir costos.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Detección de fallas en maquinaria con mantenimiento predictivo.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g2d8fa948c4e_0_33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2d8fa948c4e_0_33"/>
          <p:cNvSpPr txBox="1"/>
          <p:nvPr/>
        </p:nvSpPr>
        <p:spPr>
          <a:xfrm>
            <a:off x="38850" y="831350"/>
            <a:ext cx="9036000" cy="42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Beneficios del Análisis Predictivo en la Toma de Decisiones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Mayor precisión:</a:t>
            </a:r>
            <a:r>
              <a:rPr lang="es" sz="1800">
                <a:solidFill>
                  <a:schemeClr val="dk1"/>
                </a:solidFill>
              </a:rPr>
              <a:t> Reducción de incertidumbre en decisiones estratégicas.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Optimización de recursos:</a:t>
            </a:r>
            <a:r>
              <a:rPr lang="es" sz="1800">
                <a:solidFill>
                  <a:schemeClr val="dk1"/>
                </a:solidFill>
              </a:rPr>
              <a:t> Uso eficiente del tiempo, dinero y personal.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Automatización inteligente:</a:t>
            </a:r>
            <a:r>
              <a:rPr lang="es" sz="1800">
                <a:solidFill>
                  <a:schemeClr val="dk1"/>
                </a:solidFill>
              </a:rPr>
              <a:t> Procesos más rápidos y eficientes.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Mejor experiencia del cliente:</a:t>
            </a:r>
            <a:r>
              <a:rPr lang="es" sz="1800">
                <a:solidFill>
                  <a:schemeClr val="dk1"/>
                </a:solidFill>
              </a:rPr>
              <a:t> Personalización de productos y servicios.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g2dcf99f76a9_0_39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2dcf99f76a9_0_39"/>
          <p:cNvSpPr txBox="1"/>
          <p:nvPr/>
        </p:nvSpPr>
        <p:spPr>
          <a:xfrm>
            <a:off x="38850" y="831350"/>
            <a:ext cx="9036000" cy="42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Herramientas para el análisis y</a:t>
            </a:r>
            <a:r>
              <a:rPr b="1" lang="es" sz="1800">
                <a:solidFill>
                  <a:schemeClr val="dk1"/>
                </a:solidFill>
              </a:rPr>
              <a:t> Modelados</a:t>
            </a:r>
            <a:r>
              <a:rPr b="1" lang="es" sz="1800">
                <a:solidFill>
                  <a:schemeClr val="dk1"/>
                </a:solidFill>
              </a:rPr>
              <a:t> Predictivo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Se usa </a:t>
            </a:r>
            <a:r>
              <a:rPr b="1" lang="es" sz="1800">
                <a:solidFill>
                  <a:schemeClr val="dk1"/>
                </a:solidFill>
              </a:rPr>
              <a:t>Machine Learning</a:t>
            </a:r>
            <a:r>
              <a:rPr lang="es" sz="1800">
                <a:solidFill>
                  <a:schemeClr val="dk1"/>
                </a:solidFill>
              </a:rPr>
              <a:t> para entrenar un modelo que prediga la demanda futura de cada producto.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Herramientas recomendadas:</a:t>
            </a:r>
            <a:br>
              <a:rPr b="1" lang="es" sz="1800">
                <a:solidFill>
                  <a:schemeClr val="dk1"/>
                </a:solidFill>
              </a:rPr>
            </a:br>
            <a:r>
              <a:rPr lang="es" sz="1800">
                <a:solidFill>
                  <a:schemeClr val="dk1"/>
                </a:solidFill>
              </a:rPr>
              <a:t>✔ </a:t>
            </a:r>
            <a:r>
              <a:rPr b="1" lang="es" sz="1800">
                <a:solidFill>
                  <a:schemeClr val="dk1"/>
                </a:solidFill>
              </a:rPr>
              <a:t>Python + Pandas + Scikit-Learn</a:t>
            </a:r>
            <a:r>
              <a:rPr lang="es" sz="1800">
                <a:solidFill>
                  <a:schemeClr val="dk1"/>
                </a:solidFill>
              </a:rPr>
              <a:t> → Para análisis de datos y modelado.</a:t>
            </a:r>
            <a:br>
              <a:rPr lang="es" sz="1800">
                <a:solidFill>
                  <a:schemeClr val="dk1"/>
                </a:solidFill>
              </a:rPr>
            </a:br>
            <a:r>
              <a:rPr lang="es" sz="1800">
                <a:solidFill>
                  <a:schemeClr val="dk1"/>
                </a:solidFill>
              </a:rPr>
              <a:t>✔ </a:t>
            </a:r>
            <a:r>
              <a:rPr b="1" lang="es" sz="1800">
                <a:solidFill>
                  <a:schemeClr val="dk1"/>
                </a:solidFill>
              </a:rPr>
              <a:t>Power BI o Tableau</a:t>
            </a:r>
            <a:r>
              <a:rPr lang="es" sz="1800">
                <a:solidFill>
                  <a:schemeClr val="dk1"/>
                </a:solidFill>
              </a:rPr>
              <a:t> → Para visualizar tendencias y predicciones.</a:t>
            </a:r>
            <a:br>
              <a:rPr lang="es" sz="1800">
                <a:solidFill>
                  <a:schemeClr val="dk1"/>
                </a:solidFill>
              </a:rPr>
            </a:br>
            <a:r>
              <a:rPr lang="es" sz="1800">
                <a:solidFill>
                  <a:schemeClr val="dk1"/>
                </a:solidFill>
              </a:rPr>
              <a:t>✔ </a:t>
            </a:r>
            <a:r>
              <a:rPr b="1" lang="es" sz="1800">
                <a:solidFill>
                  <a:schemeClr val="dk1"/>
                </a:solidFill>
              </a:rPr>
              <a:t>Google BigQuery</a:t>
            </a:r>
            <a:r>
              <a:rPr lang="es" sz="1800">
                <a:solidFill>
                  <a:schemeClr val="dk1"/>
                </a:solidFill>
              </a:rPr>
              <a:t> → Para procesar grandes volúmenes de datos.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g2d8fa948c4e_0_4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2d8fa948c4e_0_41"/>
          <p:cNvSpPr txBox="1"/>
          <p:nvPr/>
        </p:nvSpPr>
        <p:spPr>
          <a:xfrm>
            <a:off x="15550" y="730350"/>
            <a:ext cx="9043800" cy="43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2d8fa948c4e_0_41"/>
          <p:cNvSpPr txBox="1"/>
          <p:nvPr/>
        </p:nvSpPr>
        <p:spPr>
          <a:xfrm>
            <a:off x="31075" y="815800"/>
            <a:ext cx="9112800" cy="40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Integración del Análisis Predictivo en un ERP o CRM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ERP:</a:t>
            </a:r>
            <a:r>
              <a:rPr lang="es" sz="1800">
                <a:solidFill>
                  <a:schemeClr val="dk1"/>
                </a:solidFill>
              </a:rPr>
              <a:t> Predicción de demanda, optimización de costos y gestión de inventarios.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CRM:</a:t>
            </a:r>
            <a:r>
              <a:rPr lang="es" sz="1800">
                <a:solidFill>
                  <a:schemeClr val="dk1"/>
                </a:solidFill>
              </a:rPr>
              <a:t> Análisis de comportamiento del cliente y personalización de ofertas.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El análisis predictivo transforma los datos en </a:t>
            </a:r>
            <a:r>
              <a:rPr b="1" lang="es" sz="1800">
                <a:solidFill>
                  <a:schemeClr val="dk1"/>
                </a:solidFill>
              </a:rPr>
              <a:t>conocimiento útil</a:t>
            </a:r>
            <a:r>
              <a:rPr lang="es" sz="1800">
                <a:solidFill>
                  <a:schemeClr val="dk1"/>
                </a:solidFill>
              </a:rPr>
              <a:t>, permitiendo que las empresas sean más competitivas.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ERP (Ejemplo: SAP, Odoo, Oracle ERP): Para integrar la predicción con la gestión de inventarios y compras.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CRM (Ejemplo: Salesforce, HubSpot, Zoho CRM): Para personalizar recomendaciones según el comportamiento del cliente.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2d8fa948c4e_0_37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2d8fa948c4e_0_37"/>
          <p:cNvSpPr txBox="1"/>
          <p:nvPr/>
        </p:nvSpPr>
        <p:spPr>
          <a:xfrm>
            <a:off x="8450" y="893500"/>
            <a:ext cx="9058500" cy="41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2d8fa948c4e_0_37"/>
          <p:cNvSpPr txBox="1"/>
          <p:nvPr/>
        </p:nvSpPr>
        <p:spPr>
          <a:xfrm>
            <a:off x="1437375" y="652650"/>
            <a:ext cx="5974800" cy="5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Personalización y Automatización en sistemas CRM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50" name="Google Shape;150;g2d8fa948c4e_0_37"/>
          <p:cNvSpPr txBox="1"/>
          <p:nvPr/>
        </p:nvSpPr>
        <p:spPr>
          <a:xfrm>
            <a:off x="81300" y="1219950"/>
            <a:ext cx="8981400" cy="37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La personalización en un CRM permite adaptar la comunicación, productos y servicios a las necesidades específicas de cada cliente.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Estrategias de Personalización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✔ </a:t>
            </a:r>
            <a:r>
              <a:rPr b="1" lang="es" sz="1800">
                <a:solidFill>
                  <a:schemeClr val="dk1"/>
                </a:solidFill>
              </a:rPr>
              <a:t>Segmentación de clientes:</a:t>
            </a:r>
            <a:r>
              <a:rPr lang="es" sz="1800">
                <a:solidFill>
                  <a:schemeClr val="dk1"/>
                </a:solidFill>
              </a:rPr>
              <a:t> Agrupar clientes según su comportamiento, intereses o historial de compras.</a:t>
            </a:r>
            <a:br>
              <a:rPr lang="es" sz="1800">
                <a:solidFill>
                  <a:schemeClr val="dk1"/>
                </a:solidFill>
              </a:rPr>
            </a:br>
            <a:r>
              <a:rPr lang="es" sz="1800">
                <a:solidFill>
                  <a:schemeClr val="dk1"/>
                </a:solidFill>
              </a:rPr>
              <a:t>✔ </a:t>
            </a:r>
            <a:r>
              <a:rPr b="1" lang="es" sz="1800">
                <a:solidFill>
                  <a:schemeClr val="dk1"/>
                </a:solidFill>
              </a:rPr>
              <a:t>Recomendaciones personalizadas:</a:t>
            </a:r>
            <a:r>
              <a:rPr lang="es" sz="1800">
                <a:solidFill>
                  <a:schemeClr val="dk1"/>
                </a:solidFill>
              </a:rPr>
              <a:t> Ofrecer productos o servicios según las preferencias del cliente (ej. Amazon, Netflix).</a:t>
            </a:r>
            <a:br>
              <a:rPr lang="es" sz="1800">
                <a:solidFill>
                  <a:schemeClr val="dk1"/>
                </a:solidFill>
              </a:rPr>
            </a:br>
            <a:r>
              <a:rPr lang="es" sz="1800">
                <a:solidFill>
                  <a:schemeClr val="dk1"/>
                </a:solidFill>
              </a:rPr>
              <a:t>✔ </a:t>
            </a:r>
            <a:r>
              <a:rPr b="1" lang="es" sz="1800">
                <a:solidFill>
                  <a:schemeClr val="dk1"/>
                </a:solidFill>
              </a:rPr>
              <a:t>Automatización de emails personalizados:</a:t>
            </a:r>
            <a:r>
              <a:rPr lang="es" sz="1800">
                <a:solidFill>
                  <a:schemeClr val="dk1"/>
                </a:solidFill>
              </a:rPr>
              <a:t> Correos con el nombre del cliente, recomendaciones específicas y ofertas basadas en su historial.</a:t>
            </a:r>
            <a:br>
              <a:rPr lang="es" sz="1800">
                <a:solidFill>
                  <a:schemeClr val="dk1"/>
                </a:solidFill>
              </a:rPr>
            </a:br>
            <a:r>
              <a:rPr lang="es" sz="1800">
                <a:solidFill>
                  <a:schemeClr val="dk1"/>
                </a:solidFill>
              </a:rPr>
              <a:t>✔ </a:t>
            </a:r>
            <a:r>
              <a:rPr b="1" lang="es" sz="1800">
                <a:solidFill>
                  <a:schemeClr val="dk1"/>
                </a:solidFill>
              </a:rPr>
              <a:t>Interacción omnicanal:</a:t>
            </a:r>
            <a:r>
              <a:rPr lang="es" sz="1800">
                <a:solidFill>
                  <a:schemeClr val="dk1"/>
                </a:solidFill>
              </a:rPr>
              <a:t> Personalizar la experiencia en todos los puntos de contacto (email, redes sociales, chatbots, llamadas).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g339a09cea51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339a09cea51_0_0"/>
          <p:cNvSpPr txBox="1"/>
          <p:nvPr/>
        </p:nvSpPr>
        <p:spPr>
          <a:xfrm>
            <a:off x="38850" y="776975"/>
            <a:ext cx="91053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La automatización en un CRM permite gestionar tareas repetitivas sin intervención humana, optimizando procesos y mejorando la productividad.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7" name="Google Shape;157;g339a09cea51_0_0"/>
          <p:cNvSpPr txBox="1"/>
          <p:nvPr/>
        </p:nvSpPr>
        <p:spPr>
          <a:xfrm>
            <a:off x="2525125" y="147625"/>
            <a:ext cx="3411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Automatización en CRM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8" name="Google Shape;158;g339a09cea51_0_0"/>
          <p:cNvSpPr txBox="1"/>
          <p:nvPr/>
        </p:nvSpPr>
        <p:spPr>
          <a:xfrm>
            <a:off x="57900" y="1484075"/>
            <a:ext cx="9028200" cy="3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Funciones Clave de Automatización en CRM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✔ </a:t>
            </a:r>
            <a:r>
              <a:rPr b="1" lang="es" sz="1800">
                <a:solidFill>
                  <a:schemeClr val="dk1"/>
                </a:solidFill>
              </a:rPr>
              <a:t>Automatización de ventas:</a:t>
            </a:r>
            <a:r>
              <a:rPr lang="es" sz="1800">
                <a:solidFill>
                  <a:schemeClr val="dk1"/>
                </a:solidFill>
              </a:rPr>
              <a:t> Seguimiento de clientes potenciales, recordatorios de reuniones y propuestas automáticas.</a:t>
            </a:r>
            <a:br>
              <a:rPr lang="es" sz="1800">
                <a:solidFill>
                  <a:schemeClr val="dk1"/>
                </a:solidFill>
              </a:rPr>
            </a:br>
            <a:r>
              <a:rPr lang="es" sz="1800">
                <a:solidFill>
                  <a:schemeClr val="dk1"/>
                </a:solidFill>
              </a:rPr>
              <a:t>✔ </a:t>
            </a:r>
            <a:r>
              <a:rPr b="1" lang="es" sz="1800">
                <a:solidFill>
                  <a:schemeClr val="dk1"/>
                </a:solidFill>
              </a:rPr>
              <a:t>Flujos de trabajo automatizados:</a:t>
            </a:r>
            <a:r>
              <a:rPr lang="es" sz="1800">
                <a:solidFill>
                  <a:schemeClr val="dk1"/>
                </a:solidFill>
              </a:rPr>
              <a:t> Asignación de tareas a vendedores según la etapa del cliente en el embudo de ventas.</a:t>
            </a:r>
            <a:br>
              <a:rPr lang="es" sz="1800">
                <a:solidFill>
                  <a:schemeClr val="dk1"/>
                </a:solidFill>
              </a:rPr>
            </a:br>
            <a:r>
              <a:rPr lang="es" sz="1800">
                <a:solidFill>
                  <a:schemeClr val="dk1"/>
                </a:solidFill>
              </a:rPr>
              <a:t>✔ </a:t>
            </a:r>
            <a:r>
              <a:rPr b="1" lang="es" sz="1800">
                <a:solidFill>
                  <a:schemeClr val="dk1"/>
                </a:solidFill>
              </a:rPr>
              <a:t>Chatbots y asistencia virtual:</a:t>
            </a:r>
            <a:r>
              <a:rPr lang="es" sz="1800">
                <a:solidFill>
                  <a:schemeClr val="dk1"/>
                </a:solidFill>
              </a:rPr>
              <a:t> Respuestas automáticas a preguntas frecuentes y soporte 24/7.</a:t>
            </a:r>
            <a:br>
              <a:rPr lang="es" sz="1800">
                <a:solidFill>
                  <a:schemeClr val="dk1"/>
                </a:solidFill>
              </a:rPr>
            </a:br>
            <a:r>
              <a:rPr lang="es" sz="1800">
                <a:solidFill>
                  <a:schemeClr val="dk1"/>
                </a:solidFill>
              </a:rPr>
              <a:t>✔ </a:t>
            </a:r>
            <a:r>
              <a:rPr b="1" lang="es" sz="1800">
                <a:solidFill>
                  <a:schemeClr val="dk1"/>
                </a:solidFill>
              </a:rPr>
              <a:t>Automatización de marketing:</a:t>
            </a:r>
            <a:r>
              <a:rPr lang="es" sz="1800">
                <a:solidFill>
                  <a:schemeClr val="dk1"/>
                </a:solidFill>
              </a:rPr>
              <a:t> Programación de campañas de email, segmentación de anuncios y gestión de redes sociales.</a:t>
            </a:r>
            <a:br>
              <a:rPr lang="es" sz="1800">
                <a:solidFill>
                  <a:schemeClr val="dk1"/>
                </a:solidFill>
              </a:rPr>
            </a:br>
            <a:r>
              <a:rPr lang="es" sz="1800">
                <a:solidFill>
                  <a:schemeClr val="dk1"/>
                </a:solidFill>
              </a:rPr>
              <a:t>✔ </a:t>
            </a:r>
            <a:r>
              <a:rPr b="1" lang="es" sz="1800">
                <a:solidFill>
                  <a:schemeClr val="dk1"/>
                </a:solidFill>
              </a:rPr>
              <a:t>Reportes y análisis en tiempo real:</a:t>
            </a:r>
            <a:r>
              <a:rPr lang="es" sz="1800">
                <a:solidFill>
                  <a:schemeClr val="dk1"/>
                </a:solidFill>
              </a:rPr>
              <a:t> Generación de informes automáticos sobre clientes, ventas y tendencias.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g339a09cea51_0_5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339a09cea51_0_5"/>
          <p:cNvSpPr txBox="1"/>
          <p:nvPr/>
        </p:nvSpPr>
        <p:spPr>
          <a:xfrm>
            <a:off x="15550" y="784725"/>
            <a:ext cx="9128400" cy="26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Ejemplo.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Una empresa de software usa un </a:t>
            </a:r>
            <a:r>
              <a:rPr b="1" lang="es" sz="1800">
                <a:solidFill>
                  <a:schemeClr val="dk1"/>
                </a:solidFill>
              </a:rPr>
              <a:t>CRM con automatización</a:t>
            </a:r>
            <a:r>
              <a:rPr lang="es" sz="1800">
                <a:solidFill>
                  <a:schemeClr val="dk1"/>
                </a:solidFill>
              </a:rPr>
              <a:t> para: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Capturar leads desde su página web y asignarlos automáticamente a un vendedor.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Enviar correos automáticos con información del producto según el interés del usuario.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Notificar al equipo de ventas cuando un cliente potencial interactúa con los correos o la web.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g339a09cea51_0_1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39a09cea51_0_10"/>
          <p:cNvSpPr txBox="1"/>
          <p:nvPr/>
        </p:nvSpPr>
        <p:spPr>
          <a:xfrm>
            <a:off x="8450" y="893500"/>
            <a:ext cx="9058500" cy="41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39a09cea51_0_10"/>
          <p:cNvSpPr txBox="1"/>
          <p:nvPr/>
        </p:nvSpPr>
        <p:spPr>
          <a:xfrm>
            <a:off x="23300" y="800275"/>
            <a:ext cx="9051600" cy="41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700">
                <a:solidFill>
                  <a:schemeClr val="dk1"/>
                </a:solidFill>
              </a:rPr>
              <a:t>Beneficios de la Personalización y Automatización en CRM</a:t>
            </a:r>
            <a:endParaRPr b="1" sz="17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Ahorro de tiempo: Reducción de tareas manuales y repetitivas.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Mejor experiencia del cliente: Comunicación más relevante y adaptada a sus necesidades.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Mayor eficiencia en ventas y marketing: Seguimiento automatizado y segmentación inteligente.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Toma de decisiones basada en datos: Análisis predictivo para entender el comportamiento del cliente.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