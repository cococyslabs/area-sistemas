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j+yStPqI34igz0+AmTIwNnC3pU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67240E-B216-45E1-BCEC-A6E4B0D8CF25}">
  <a:tblStyle styleId="{C867240E-B216-45E1-BCEC-A6E4B0D8CF2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2d4a7724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2d2d4a7724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01c3c48f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01c3c48f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01c3c48f2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01c3c48f2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01c3c48f2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01c3c48f2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01c3c48f2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01c3c48f2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01c3c48f2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01c3c48f2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01c3c48f2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01c3c48f2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1c3c48f2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01c3c48f2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01c3c48f2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01c3c48f2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d853e9ab9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2d853e9ab9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d853e9ab9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2d853e9ab9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d853e9ab9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2d853e9ab9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hyperlink" Target="mailto:1920041821223@ingenieria.usac.edu.g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{C867240E-B216-45E1-BCEC-A6E4B0D8CF25}</a:tableStyleId>
              </a:tblPr>
              <a:tblGrid>
                <a:gridCol w="1518200"/>
                <a:gridCol w="217237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/>
                        <a:t>Lunes</a:t>
                      </a:r>
                      <a:r>
                        <a:rPr lang="es" sz="1400" u="none" cap="none" strike="noStrike"/>
                        <a:t>, </a:t>
                      </a:r>
                      <a:r>
                        <a:rPr lang="es"/>
                        <a:t>27</a:t>
                      </a:r>
                      <a:r>
                        <a:rPr lang="es" sz="1400" u="none" cap="none" strike="noStrike"/>
                        <a:t>/</a:t>
                      </a:r>
                      <a:r>
                        <a:rPr lang="es"/>
                        <a:t>01</a:t>
                      </a:r>
                      <a:r>
                        <a:rPr lang="es" sz="1400" u="none" cap="none" strike="noStrike"/>
                        <a:t>/202</a:t>
                      </a:r>
                      <a:r>
                        <a:rPr lang="es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17:20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6" name="Google Shape;56;p1"/>
          <p:cNvSpPr txBox="1"/>
          <p:nvPr/>
        </p:nvSpPr>
        <p:spPr>
          <a:xfrm>
            <a:off x="3992650" y="2132750"/>
            <a:ext cx="5142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/>
              <a:t>SISTEMAS ORGANIZACIONALES Y GERENCIALES 2</a:t>
            </a:r>
            <a:r>
              <a:rPr b="0" i="0" lang="e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Sección </a:t>
            </a:r>
            <a:r>
              <a:rPr lang="es" sz="2500"/>
              <a:t>P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07100" y="4595250"/>
            <a:ext cx="429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Erick Eden Sandoval Ramirez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2d2d4a77240_0_44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2d2d4a77240_0_44"/>
          <p:cNvSpPr txBox="1"/>
          <p:nvPr/>
        </p:nvSpPr>
        <p:spPr>
          <a:xfrm>
            <a:off x="2991325" y="450625"/>
            <a:ext cx="24240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595959"/>
                </a:solidFill>
              </a:rPr>
              <a:t>Datos de contacto</a:t>
            </a:r>
            <a:endParaRPr b="1" sz="1800">
              <a:solidFill>
                <a:srgbClr val="595959"/>
              </a:solidFill>
            </a:endParaRPr>
          </a:p>
        </p:txBody>
      </p:sp>
      <p:sp>
        <p:nvSpPr>
          <p:cNvPr id="64" name="Google Shape;64;g2d2d4a77240_0_44"/>
          <p:cNvSpPr txBox="1"/>
          <p:nvPr/>
        </p:nvSpPr>
        <p:spPr>
          <a:xfrm>
            <a:off x="1227600" y="1787025"/>
            <a:ext cx="5469900" cy="15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0000"/>
                </a:solidFill>
              </a:rPr>
              <a:t>Correo:</a:t>
            </a:r>
            <a:r>
              <a:rPr lang="es" sz="1800">
                <a:solidFill>
                  <a:srgbClr val="595959"/>
                </a:solidFill>
              </a:rPr>
              <a:t> </a:t>
            </a:r>
            <a:r>
              <a:rPr lang="es" sz="1800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1920041821223@ingenieria.usac.edu.gt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0000"/>
                </a:solidFill>
              </a:rPr>
              <a:t>Foro de UEDI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/>
              <a:t>Foro Classroom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g301c3c48f2b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01c3c48f2b_0_0"/>
          <p:cNvSpPr txBox="1"/>
          <p:nvPr/>
        </p:nvSpPr>
        <p:spPr>
          <a:xfrm>
            <a:off x="3589550" y="388475"/>
            <a:ext cx="14763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Planeación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71" name="Google Shape;71;g301c3c48f2b_0_0"/>
          <p:cNvSpPr txBox="1"/>
          <p:nvPr/>
        </p:nvSpPr>
        <p:spPr>
          <a:xfrm>
            <a:off x="85475" y="1079975"/>
            <a:ext cx="86553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La </a:t>
            </a:r>
            <a:r>
              <a:rPr b="1" lang="es" sz="1800">
                <a:solidFill>
                  <a:schemeClr val="dk1"/>
                </a:solidFill>
              </a:rPr>
              <a:t>planeación</a:t>
            </a:r>
            <a:r>
              <a:rPr lang="es" sz="1800">
                <a:solidFill>
                  <a:schemeClr val="dk1"/>
                </a:solidFill>
              </a:rPr>
              <a:t> es un proceso fundamental dentro de la administración y la toma de decisiones, que se utiliza para determinar las metas y objetivos de una organización, definir estrategias y establecer un plan para alcanzarlos.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g301c3c48f2b_0_0"/>
          <p:cNvSpPr txBox="1"/>
          <p:nvPr/>
        </p:nvSpPr>
        <p:spPr>
          <a:xfrm>
            <a:off x="155400" y="2237650"/>
            <a:ext cx="8585400" cy="12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Definición de planeación: </a:t>
            </a:r>
            <a:r>
              <a:rPr lang="es" sz="1800">
                <a:solidFill>
                  <a:schemeClr val="dk1"/>
                </a:solidFill>
              </a:rPr>
              <a:t>La planeación es un proceso que implica </a:t>
            </a:r>
            <a:r>
              <a:rPr b="1" lang="es" sz="1800">
                <a:solidFill>
                  <a:schemeClr val="dk1"/>
                </a:solidFill>
              </a:rPr>
              <a:t>establecer objetivos</a:t>
            </a:r>
            <a:r>
              <a:rPr lang="es" sz="1800">
                <a:solidFill>
                  <a:schemeClr val="dk1"/>
                </a:solidFill>
              </a:rPr>
              <a:t>, determinar los recursos necesarios y diseñar las estrategias, políticas y acciones que se llevarán a cabo para lograrlos dentro de un período definido.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g301c3c48f2b_0_7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01c3c48f2b_0_7"/>
          <p:cNvSpPr txBox="1"/>
          <p:nvPr/>
        </p:nvSpPr>
        <p:spPr>
          <a:xfrm>
            <a:off x="124325" y="1025600"/>
            <a:ext cx="8608800" cy="37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Características principales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Orientada al futuro</a:t>
            </a:r>
            <a:r>
              <a:rPr lang="es" sz="1800">
                <a:solidFill>
                  <a:schemeClr val="dk1"/>
                </a:solidFill>
              </a:rPr>
              <a:t>: Se centra en anticipar necesidades, oportunidades y problemas.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Proceso sistemático</a:t>
            </a:r>
            <a:r>
              <a:rPr lang="es" sz="1800">
                <a:solidFill>
                  <a:schemeClr val="dk1"/>
                </a:solidFill>
              </a:rPr>
              <a:t>: Implica seguir un orden lógico y estructurado.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Flexibilidad</a:t>
            </a:r>
            <a:r>
              <a:rPr lang="es" sz="1800">
                <a:solidFill>
                  <a:schemeClr val="dk1"/>
                </a:solidFill>
              </a:rPr>
              <a:t>: Debe adaptarse a los cambios del entorno.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Toma de decisiones</a:t>
            </a:r>
            <a:r>
              <a:rPr lang="es" sz="1800">
                <a:solidFill>
                  <a:schemeClr val="dk1"/>
                </a:solidFill>
              </a:rPr>
              <a:t>: Requiere elegir entre varias alternativas disponibles.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Continuidad</a:t>
            </a:r>
            <a:r>
              <a:rPr lang="es" sz="1800">
                <a:solidFill>
                  <a:schemeClr val="dk1"/>
                </a:solidFill>
              </a:rPr>
              <a:t>: Es un proceso continuo y no un evento único.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g301c3c48f2b_0_14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01c3c48f2b_0_14"/>
          <p:cNvSpPr txBox="1"/>
          <p:nvPr/>
        </p:nvSpPr>
        <p:spPr>
          <a:xfrm>
            <a:off x="77700" y="877975"/>
            <a:ext cx="8795100" cy="3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Elementos clave de la planeación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Objetivos</a:t>
            </a:r>
            <a:r>
              <a:rPr lang="es" sz="1800">
                <a:solidFill>
                  <a:schemeClr val="dk1"/>
                </a:solidFill>
              </a:rPr>
              <a:t>: Lo que se desea lograr en un tiempo determinado. Deben ser específicos, medibles, alcanzables, relevantes y temporales (SMART).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Estrategias</a:t>
            </a:r>
            <a:r>
              <a:rPr lang="es" sz="1800">
                <a:solidFill>
                  <a:schemeClr val="dk1"/>
                </a:solidFill>
              </a:rPr>
              <a:t>: Acciones generales que indican cómo se alcanzarán los objetivos.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Tácticas</a:t>
            </a:r>
            <a:r>
              <a:rPr lang="es" sz="1800">
                <a:solidFill>
                  <a:schemeClr val="dk1"/>
                </a:solidFill>
              </a:rPr>
              <a:t>: Planes más detallados y específicos que apoyan a las estrategias.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Recursos</a:t>
            </a:r>
            <a:r>
              <a:rPr lang="es" sz="1800">
                <a:solidFill>
                  <a:schemeClr val="dk1"/>
                </a:solidFill>
              </a:rPr>
              <a:t>: Elementos disponibles (humanos, financieros, materiales, tecnológicos) para implementar los planes.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Control y evaluación</a:t>
            </a:r>
            <a:r>
              <a:rPr lang="es" sz="1800">
                <a:solidFill>
                  <a:schemeClr val="dk1"/>
                </a:solidFill>
              </a:rPr>
              <a:t>: Seguimiento constante para verificar que las acciones se </a:t>
            </a:r>
            <a:r>
              <a:rPr lang="es" sz="1800">
                <a:solidFill>
                  <a:schemeClr val="dk1"/>
                </a:solidFill>
              </a:rPr>
              <a:t>alinean</a:t>
            </a:r>
            <a:r>
              <a:rPr lang="es" sz="1800">
                <a:solidFill>
                  <a:schemeClr val="dk1"/>
                </a:solidFill>
              </a:rPr>
              <a:t> con los objetivos.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01c3c48f2b_0_2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01c3c48f2b_0_21"/>
          <p:cNvSpPr txBox="1"/>
          <p:nvPr/>
        </p:nvSpPr>
        <p:spPr>
          <a:xfrm>
            <a:off x="92850" y="637125"/>
            <a:ext cx="8958300" cy="18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Tipos de planeación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Estratégica</a:t>
            </a:r>
            <a:r>
              <a:rPr lang="es" sz="1800">
                <a:solidFill>
                  <a:schemeClr val="dk1"/>
                </a:solidFill>
              </a:rPr>
              <a:t>: A largo plazo, centrada en metas globales y en la misión de la organización.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Táctica</a:t>
            </a:r>
            <a:r>
              <a:rPr lang="es" sz="1800">
                <a:solidFill>
                  <a:schemeClr val="dk1"/>
                </a:solidFill>
              </a:rPr>
              <a:t>: A mediano plazo, enfocada en áreas específicas o departamentos.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Operativa</a:t>
            </a:r>
            <a:r>
              <a:rPr lang="es" sz="1800">
                <a:solidFill>
                  <a:schemeClr val="dk1"/>
                </a:solidFill>
              </a:rPr>
              <a:t>: A corto plazo, detallada y orientada a las actividades diarias.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g301c3c48f2b_0_28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301c3c48f2b_0_28"/>
          <p:cNvSpPr txBox="1"/>
          <p:nvPr/>
        </p:nvSpPr>
        <p:spPr>
          <a:xfrm>
            <a:off x="77700" y="901275"/>
            <a:ext cx="8717400" cy="40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Importancia de la planeación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Define un rumbo claro</a:t>
            </a:r>
            <a:r>
              <a:rPr lang="es" sz="1800">
                <a:solidFill>
                  <a:schemeClr val="dk1"/>
                </a:solidFill>
              </a:rPr>
              <a:t> para las acciones organizacionales.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Optimiza el uso de recursos</a:t>
            </a:r>
            <a:r>
              <a:rPr lang="e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Reduce incertidumbre</a:t>
            </a:r>
            <a:r>
              <a:rPr lang="es" sz="1800">
                <a:solidFill>
                  <a:schemeClr val="dk1"/>
                </a:solidFill>
              </a:rPr>
              <a:t> al anticipar problemas y preparar soluciones.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Facilita la coordinación</a:t>
            </a:r>
            <a:r>
              <a:rPr lang="es" sz="1800">
                <a:solidFill>
                  <a:schemeClr val="dk1"/>
                </a:solidFill>
              </a:rPr>
              <a:t> entre las diferentes áreas de la organización.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Incrementa la efectividad</a:t>
            </a:r>
            <a:r>
              <a:rPr lang="es" sz="1800">
                <a:solidFill>
                  <a:schemeClr val="dk1"/>
                </a:solidFill>
              </a:rPr>
              <a:t> en la consecución de metas.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g301c3c48f2b_0_35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01c3c48f2b_0_35"/>
          <p:cNvSpPr txBox="1"/>
          <p:nvPr/>
        </p:nvSpPr>
        <p:spPr>
          <a:xfrm>
            <a:off x="62150" y="800275"/>
            <a:ext cx="8896200" cy="41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Proceso de planeación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s" sz="1800">
                <a:solidFill>
                  <a:schemeClr val="dk1"/>
                </a:solidFill>
              </a:rPr>
              <a:t>Definición de metas y objetivos</a:t>
            </a:r>
            <a:r>
              <a:rPr lang="e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s" sz="1800">
                <a:solidFill>
                  <a:schemeClr val="dk1"/>
                </a:solidFill>
              </a:rPr>
              <a:t>Análisis de la situación actual</a:t>
            </a:r>
            <a:r>
              <a:rPr lang="es" sz="1800">
                <a:solidFill>
                  <a:schemeClr val="dk1"/>
                </a:solidFill>
              </a:rPr>
              <a:t> (evaluación interna y externa).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s" sz="1800">
                <a:solidFill>
                  <a:schemeClr val="dk1"/>
                </a:solidFill>
              </a:rPr>
              <a:t>Identificación de alternativas y estrategias posibles</a:t>
            </a:r>
            <a:r>
              <a:rPr lang="e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s" sz="1800">
                <a:solidFill>
                  <a:schemeClr val="dk1"/>
                </a:solidFill>
              </a:rPr>
              <a:t>Evaluación y selección de estrategias</a:t>
            </a:r>
            <a:r>
              <a:rPr lang="e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s" sz="1800">
                <a:solidFill>
                  <a:schemeClr val="dk1"/>
                </a:solidFill>
              </a:rPr>
              <a:t>Elaboración del plan detallado</a:t>
            </a:r>
            <a:r>
              <a:rPr lang="e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s" sz="1800">
                <a:solidFill>
                  <a:schemeClr val="dk1"/>
                </a:solidFill>
              </a:rPr>
              <a:t>Implementación</a:t>
            </a:r>
            <a:r>
              <a:rPr lang="e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s" sz="1800">
                <a:solidFill>
                  <a:schemeClr val="dk1"/>
                </a:solidFill>
              </a:rPr>
              <a:t>Control y retroalimentación</a:t>
            </a:r>
            <a:r>
              <a:rPr lang="es" sz="1800">
                <a:solidFill>
                  <a:schemeClr val="dk1"/>
                </a:solidFill>
              </a:rPr>
              <a:t> para ajustes futuros.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La planeación es un pilar fundamental para el éxito en cualquier ámbito, desde proyectos individuales hasta grandes organizaciones.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g301c3c48f2b_0_42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01c3c48f2b_0_42"/>
          <p:cNvSpPr txBox="1"/>
          <p:nvPr/>
        </p:nvSpPr>
        <p:spPr>
          <a:xfrm>
            <a:off x="3542950" y="225300"/>
            <a:ext cx="12198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Control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09" name="Google Shape;109;g301c3c48f2b_0_42"/>
          <p:cNvSpPr txBox="1"/>
          <p:nvPr/>
        </p:nvSpPr>
        <p:spPr>
          <a:xfrm>
            <a:off x="23700" y="730350"/>
            <a:ext cx="9096600" cy="4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El control es el </a:t>
            </a:r>
            <a:r>
              <a:rPr b="1" lang="es" sz="1800">
                <a:solidFill>
                  <a:schemeClr val="dk1"/>
                </a:solidFill>
              </a:rPr>
              <a:t>proceso de supervisión y evaluación</a:t>
            </a:r>
            <a:r>
              <a:rPr lang="es" sz="1800">
                <a:solidFill>
                  <a:schemeClr val="dk1"/>
                </a:solidFill>
              </a:rPr>
              <a:t> que asegura que las actividades planeadas se ejecuten conforme a lo establecido. Ayuda a identificar y corregir desviaciones.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Características del control: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Comparación de resultados:</a:t>
            </a:r>
            <a:r>
              <a:rPr lang="es" sz="1800">
                <a:solidFill>
                  <a:schemeClr val="dk1"/>
                </a:solidFill>
              </a:rPr>
              <a:t> Evalúa las metas planificadas contra los resultados obtenidos.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Identificación de desviaciones:</a:t>
            </a:r>
            <a:r>
              <a:rPr lang="es" sz="1800">
                <a:solidFill>
                  <a:schemeClr val="dk1"/>
                </a:solidFill>
              </a:rPr>
              <a:t> Detecta problemas o áreas en las que el desempeño no cumple con lo esperado.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Acción correctiva:</a:t>
            </a:r>
            <a:r>
              <a:rPr lang="es" sz="1800">
                <a:solidFill>
                  <a:schemeClr val="dk1"/>
                </a:solidFill>
              </a:rPr>
              <a:t> Propone ajustes o medidas para corregir errores.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Proceso continuo:</a:t>
            </a:r>
            <a:r>
              <a:rPr lang="es" sz="1800">
                <a:solidFill>
                  <a:schemeClr val="dk1"/>
                </a:solidFill>
              </a:rPr>
              <a:t> El control se lleva a cabo a lo largo de toda la ejecución de las actividades.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Indicadores clave:</a:t>
            </a:r>
            <a:r>
              <a:rPr lang="es" sz="1800">
                <a:solidFill>
                  <a:schemeClr val="dk1"/>
                </a:solidFill>
              </a:rPr>
              <a:t> Utiliza métricas específicas para medir el desempeño.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g301c3c48f2b_0_49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01c3c48f2b_0_49"/>
          <p:cNvSpPr txBox="1"/>
          <p:nvPr/>
        </p:nvSpPr>
        <p:spPr>
          <a:xfrm>
            <a:off x="15550" y="846900"/>
            <a:ext cx="9005100" cy="41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Pasos en el proceso de control: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s" sz="1800">
                <a:solidFill>
                  <a:schemeClr val="dk1"/>
                </a:solidFill>
              </a:rPr>
              <a:t>Establecer estándares de desempeño.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s" sz="1800">
                <a:solidFill>
                  <a:schemeClr val="dk1"/>
                </a:solidFill>
              </a:rPr>
              <a:t>Medir resultados reales.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s" sz="1800">
                <a:solidFill>
                  <a:schemeClr val="dk1"/>
                </a:solidFill>
              </a:rPr>
              <a:t>Comparar los resultados con los estándares establecidos.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s" sz="1800">
                <a:solidFill>
                  <a:schemeClr val="dk1"/>
                </a:solidFill>
              </a:rPr>
              <a:t>Tomar acciones correctivas si es necesario.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g2d853e9ab94_0_26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2d853e9ab94_0_26"/>
          <p:cNvSpPr txBox="1"/>
          <p:nvPr/>
        </p:nvSpPr>
        <p:spPr>
          <a:xfrm>
            <a:off x="3410850" y="178700"/>
            <a:ext cx="12588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Dirección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22" name="Google Shape;122;g2d853e9ab94_0_26"/>
          <p:cNvSpPr txBox="1"/>
          <p:nvPr/>
        </p:nvSpPr>
        <p:spPr>
          <a:xfrm>
            <a:off x="73350" y="699250"/>
            <a:ext cx="8997300" cy="41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La dirección es el proceso de </a:t>
            </a:r>
            <a:r>
              <a:rPr b="1" lang="es" sz="1800">
                <a:solidFill>
                  <a:schemeClr val="dk1"/>
                </a:solidFill>
              </a:rPr>
              <a:t>liderar, motivar y coordinar</a:t>
            </a:r>
            <a:r>
              <a:rPr lang="es" sz="1800">
                <a:solidFill>
                  <a:schemeClr val="dk1"/>
                </a:solidFill>
              </a:rPr>
              <a:t> a las personas dentro de una organización para lograr los objetivos establecidos. Se centra en guiar al personal hacia el cumplimiento de las metas planeadas.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Características de la dirección: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Liderazgo:</a:t>
            </a:r>
            <a:r>
              <a:rPr lang="es" sz="1800">
                <a:solidFill>
                  <a:schemeClr val="dk1"/>
                </a:solidFill>
              </a:rPr>
              <a:t> Es fundamental para influir en las personas y orientarlas hacia los objetivos.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Comunicación:</a:t>
            </a:r>
            <a:r>
              <a:rPr lang="es" sz="1800">
                <a:solidFill>
                  <a:schemeClr val="dk1"/>
                </a:solidFill>
              </a:rPr>
              <a:t> La transmisión efectiva de información y directrices es clave.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Motivación:</a:t>
            </a:r>
            <a:r>
              <a:rPr lang="es" sz="1800">
                <a:solidFill>
                  <a:schemeClr val="dk1"/>
                </a:solidFill>
              </a:rPr>
              <a:t> Fomenta la participación activa y el compromiso del equipo de trabajo.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Toma de decisiones:</a:t>
            </a:r>
            <a:r>
              <a:rPr lang="es" sz="1800">
                <a:solidFill>
                  <a:schemeClr val="dk1"/>
                </a:solidFill>
              </a:rPr>
              <a:t> Implica elegir la mejor alternativa en diferentes situaciones.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Coordinación:</a:t>
            </a:r>
            <a:r>
              <a:rPr lang="es" sz="1800">
                <a:solidFill>
                  <a:schemeClr val="dk1"/>
                </a:solidFill>
              </a:rPr>
              <a:t> Integra las acciones de las personas y áreas para garantizar coherencia en el cumplimiento de metas.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g2d853e9ab94_0_3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2d853e9ab94_0_31"/>
          <p:cNvSpPr txBox="1"/>
          <p:nvPr/>
        </p:nvSpPr>
        <p:spPr>
          <a:xfrm>
            <a:off x="15550" y="846900"/>
            <a:ext cx="9005100" cy="41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Relación entre planeación, control y dirección: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La </a:t>
            </a:r>
            <a:r>
              <a:rPr b="1" lang="es" sz="1800">
                <a:solidFill>
                  <a:schemeClr val="dk1"/>
                </a:solidFill>
              </a:rPr>
              <a:t>planeación</a:t>
            </a:r>
            <a:r>
              <a:rPr lang="es" sz="1800">
                <a:solidFill>
                  <a:schemeClr val="dk1"/>
                </a:solidFill>
              </a:rPr>
              <a:t> establece el "qué" y el "cómo" de las acciones a realizar.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La </a:t>
            </a:r>
            <a:r>
              <a:rPr b="1" lang="es" sz="1800">
                <a:solidFill>
                  <a:schemeClr val="dk1"/>
                </a:solidFill>
              </a:rPr>
              <a:t>dirección</a:t>
            </a:r>
            <a:r>
              <a:rPr lang="es" sz="1800">
                <a:solidFill>
                  <a:schemeClr val="dk1"/>
                </a:solidFill>
              </a:rPr>
              <a:t> convierte esas acciones en realidad al coordinar y motivar a las personas.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El </a:t>
            </a:r>
            <a:r>
              <a:rPr b="1" lang="es" sz="1800">
                <a:solidFill>
                  <a:schemeClr val="dk1"/>
                </a:solidFill>
              </a:rPr>
              <a:t>control</a:t>
            </a:r>
            <a:r>
              <a:rPr lang="es" sz="1800">
                <a:solidFill>
                  <a:schemeClr val="dk1"/>
                </a:solidFill>
              </a:rPr>
              <a:t> supervisa que se estén cumpliendo los objetivos planificados, proponiendo ajustes cuando sea necesario.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Estos conceptos no solo son secuenciales sino también cíclicos: las lecciones aprendidas en el proceso de control retroalimentan la planeación y la dirección. Esto crea un ciclo de mejora continua.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g2d853e9ab94_0_4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2d853e9ab94_0_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425" y="753650"/>
            <a:ext cx="7388925" cy="432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