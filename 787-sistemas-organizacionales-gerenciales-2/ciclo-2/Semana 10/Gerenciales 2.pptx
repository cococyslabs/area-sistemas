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ydjnr9KWwWnr67y96TQ0VefI2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6F9F64-B849-497F-9CB1-DA3A71DE76A5}">
  <a:tblStyle styleId="{A56F9F64-B849-497F-9CB1-DA3A71DE76A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156db329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4156db329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156db329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4156db329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32684804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432684804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32684804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432684804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32684804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432684804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326848042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432684804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32684804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432684804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6e8a776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46e8a776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6e8a7765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46e8a7765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6e8a7765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46e8a7765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6e8a7765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46e8a7765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c55b4c64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4c55b4c64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c55b4c64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4c55b4c64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{A56F9F64-B849-497F-9CB1-DA3A71DE76A5}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Lunes, </a:t>
                      </a:r>
                      <a:r>
                        <a:rPr lang="es"/>
                        <a:t>07</a:t>
                      </a:r>
                      <a:r>
                        <a:rPr lang="es" sz="1400" u="none" cap="none" strike="noStrike"/>
                        <a:t>/0</a:t>
                      </a:r>
                      <a:r>
                        <a:rPr lang="es"/>
                        <a:t>4</a:t>
                      </a:r>
                      <a:r>
                        <a:rPr lang="es" sz="1400" u="none" cap="none" strike="noStrike"/>
                        <a:t>/2025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Erick Eden Sandoval Ramirez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4156db3297_0_1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4156db3297_0_18"/>
          <p:cNvSpPr txBox="1"/>
          <p:nvPr/>
        </p:nvSpPr>
        <p:spPr>
          <a:xfrm>
            <a:off x="613800" y="815800"/>
            <a:ext cx="7365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Diseño y Herramientas Tecnológicas para la Gestión Documental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4" name="Google Shape;64;g34156db3297_0_18"/>
          <p:cNvSpPr txBox="1"/>
          <p:nvPr/>
        </p:nvSpPr>
        <p:spPr>
          <a:xfrm>
            <a:off x="38850" y="1266450"/>
            <a:ext cx="9043800" cy="3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La gestión documental es un proceso clave dentro de las organizaciones modernas, ya que permite almacenar, organizar y acceder de manera eficiente a la información. Un diseño adecuado, combinado con herramientas tecnológicas, optimiza el flujo de trabajo, garantiza la seguridad de los datos y mejora la toma de decisiones.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34156db3297_0_2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4156db3297_0_24"/>
          <p:cNvSpPr txBox="1"/>
          <p:nvPr/>
        </p:nvSpPr>
        <p:spPr>
          <a:xfrm>
            <a:off x="1802575" y="722575"/>
            <a:ext cx="51591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Diseño de un sistema de gestión documental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1" name="Google Shape;71;g34156db3297_0_24"/>
          <p:cNvSpPr txBox="1"/>
          <p:nvPr/>
        </p:nvSpPr>
        <p:spPr>
          <a:xfrm>
            <a:off x="31075" y="1212075"/>
            <a:ext cx="8997300" cy="3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Un diseño efectivo debe contemplar: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Clasificación estructurada:</a:t>
            </a:r>
            <a:r>
              <a:rPr lang="es" sz="1800">
                <a:solidFill>
                  <a:schemeClr val="dk1"/>
                </a:solidFill>
              </a:rPr>
              <a:t> Organización por áreas, tipos de documentos, fechas o procesos.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Metadatos: </a:t>
            </a:r>
            <a:r>
              <a:rPr lang="es" sz="1800">
                <a:solidFill>
                  <a:schemeClr val="dk1"/>
                </a:solidFill>
              </a:rPr>
              <a:t>Atributos que facilitan la búsqueda y recuperación de archivos.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Control de versiones:</a:t>
            </a:r>
            <a:r>
              <a:rPr lang="es" sz="1800">
                <a:solidFill>
                  <a:schemeClr val="dk1"/>
                </a:solidFill>
              </a:rPr>
              <a:t> Para rastrear cambios y mantener un historial actualizado.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Permisos de acceso:</a:t>
            </a:r>
            <a:r>
              <a:rPr lang="es" sz="1800">
                <a:solidFill>
                  <a:schemeClr val="dk1"/>
                </a:solidFill>
              </a:rPr>
              <a:t> Niveles jerárquicos que controlan quién puede ver, editar o eliminar documentos.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Flujos de aprobación</a:t>
            </a:r>
            <a:r>
              <a:rPr lang="es" sz="1800">
                <a:solidFill>
                  <a:schemeClr val="dk1"/>
                </a:solidFill>
              </a:rPr>
              <a:t>: Rutas automatizadas para validar documentos en procesos administrativos.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4326848042_0_5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4326848042_0_52"/>
          <p:cNvSpPr txBox="1"/>
          <p:nvPr/>
        </p:nvSpPr>
        <p:spPr>
          <a:xfrm>
            <a:off x="2400825" y="0"/>
            <a:ext cx="36984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Herramientas tecnológicas más utilizadas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8" name="Google Shape;78;g34326848042_0_52"/>
          <p:cNvSpPr txBox="1"/>
          <p:nvPr/>
        </p:nvSpPr>
        <p:spPr>
          <a:xfrm>
            <a:off x="23300" y="823575"/>
            <a:ext cx="9120600" cy="4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Microsoft SharePoint</a:t>
            </a:r>
            <a:br>
              <a:rPr b="1"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Ofrece una plataforma robusta para colaboración y almacenamiento de documentos, con integración en el ecosistema Microsoft 365.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Google Workspace (Drive)</a:t>
            </a:r>
            <a:br>
              <a:rPr b="1"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Permite almacenar, compartir y editar documentos en línea, fomentando el trabajo colaborativo en tiempo real.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DocuWare</a:t>
            </a:r>
            <a:br>
              <a:rPr b="1"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Especializado en la automatización de procesos documentales, con enfoque en seguridad y cumplimiento normativo.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g34326848042_0_6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4326848042_0_60"/>
          <p:cNvSpPr txBox="1"/>
          <p:nvPr/>
        </p:nvSpPr>
        <p:spPr>
          <a:xfrm>
            <a:off x="38850" y="854650"/>
            <a:ext cx="8989500" cy="4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Alfresco</a:t>
            </a:r>
            <a:br>
              <a:rPr b="1"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Plataforma de código abierto que combina gestión documental con automatización de procesos empresariales.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M-Files</a:t>
            </a:r>
            <a:br>
              <a:rPr b="1"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Organiza la información basada en su contenido y contexto, facilitando búsquedas inteligentes.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Everteam y OpenText</a:t>
            </a:r>
            <a:br>
              <a:rPr b="1"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Utilizadas especialmente por grandes corporaciones por su capacidad de integración con otros sistemas empresariales (ERP, CRM, etc.).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4326848042_0_6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4326848042_0_68"/>
          <p:cNvSpPr txBox="1"/>
          <p:nvPr/>
        </p:nvSpPr>
        <p:spPr>
          <a:xfrm>
            <a:off x="2408600" y="0"/>
            <a:ext cx="35586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Beneficios del uso de estas herramientas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1" name="Google Shape;91;g34326848042_0_68"/>
          <p:cNvSpPr txBox="1"/>
          <p:nvPr/>
        </p:nvSpPr>
        <p:spPr>
          <a:xfrm>
            <a:off x="54375" y="986750"/>
            <a:ext cx="9005100" cy="3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Ahorro de espacio físico y digital.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Reducción del tiempo de búsqueda de documentos.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Mejora en la seguridad de la información.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Mayor eficiencia en auditorías internas y externas.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Acceso remoto y colaboración en tiempo real.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34326848042_0_7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4326848042_0_76"/>
          <p:cNvSpPr txBox="1"/>
          <p:nvPr/>
        </p:nvSpPr>
        <p:spPr>
          <a:xfrm>
            <a:off x="2563975" y="186475"/>
            <a:ext cx="33486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g34326848042_0_76" title="Plantilla_Conferencia_Abr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34326848042_0_8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4326848042_0_83"/>
          <p:cNvSpPr txBox="1"/>
          <p:nvPr/>
        </p:nvSpPr>
        <p:spPr>
          <a:xfrm>
            <a:off x="2455200" y="62150"/>
            <a:ext cx="35430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Integración de gestión documental y workflow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5" name="Google Shape;105;g34326848042_0_83"/>
          <p:cNvSpPr txBox="1"/>
          <p:nvPr/>
        </p:nvSpPr>
        <p:spPr>
          <a:xfrm>
            <a:off x="69925" y="862425"/>
            <a:ext cx="8997300" cy="4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La </a:t>
            </a:r>
            <a:r>
              <a:rPr b="1" lang="es" sz="1800">
                <a:solidFill>
                  <a:schemeClr val="dk1"/>
                </a:solidFill>
              </a:rPr>
              <a:t>integración de gestión documental y workflow</a:t>
            </a:r>
            <a:r>
              <a:rPr lang="es" sz="1800">
                <a:solidFill>
                  <a:schemeClr val="dk1"/>
                </a:solidFill>
              </a:rPr>
              <a:t> es un enfoque estratégico que combina dos componentes clave en la automatización y optimización de procesos empresariales: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¿Qué es la gestión documental?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Es el </a:t>
            </a:r>
            <a:r>
              <a:rPr b="1" lang="es" sz="1800">
                <a:solidFill>
                  <a:schemeClr val="dk1"/>
                </a:solidFill>
              </a:rPr>
              <a:t>conjunto de procesos y tecnologías</a:t>
            </a:r>
            <a:r>
              <a:rPr lang="es" sz="1800">
                <a:solidFill>
                  <a:schemeClr val="dk1"/>
                </a:solidFill>
              </a:rPr>
              <a:t> que permiten capturar, almacenar, organizar, recuperar y archivar documentos de forma eficiente. Incluye: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Digitalización de documentos físicos.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Clasificación y metadatos.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Control de versiones.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Seguridad y acceso.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Archivado y cumplimiento normativo.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46e8a7765d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46e8a7765d_0_0"/>
          <p:cNvSpPr txBox="1"/>
          <p:nvPr/>
        </p:nvSpPr>
        <p:spPr>
          <a:xfrm>
            <a:off x="31075" y="839125"/>
            <a:ext cx="9059400" cy="42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¿Qué es un workflow?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Un </a:t>
            </a:r>
            <a:r>
              <a:rPr b="1" lang="es" sz="1800">
                <a:solidFill>
                  <a:schemeClr val="dk1"/>
                </a:solidFill>
              </a:rPr>
              <a:t>workflow</a:t>
            </a:r>
            <a:r>
              <a:rPr lang="es" sz="1800">
                <a:solidFill>
                  <a:schemeClr val="dk1"/>
                </a:solidFill>
              </a:rPr>
              <a:t> o flujo de trabajo es la </a:t>
            </a:r>
            <a:r>
              <a:rPr b="1" lang="es" sz="1800">
                <a:solidFill>
                  <a:schemeClr val="dk1"/>
                </a:solidFill>
              </a:rPr>
              <a:t>secuencia de tareas y decisiones</a:t>
            </a:r>
            <a:r>
              <a:rPr lang="es" sz="1800">
                <a:solidFill>
                  <a:schemeClr val="dk1"/>
                </a:solidFill>
              </a:rPr>
              <a:t> que se siguen para completar un proceso. Los workflows pueden ser: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Manuales o automatizados.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Lineales o con múltiples caminos condicionales.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Integrados con sistemas (ERP, CRM, etc.).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46e8a7765d_0_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46e8a7765d_0_5"/>
          <p:cNvSpPr txBox="1"/>
          <p:nvPr/>
        </p:nvSpPr>
        <p:spPr>
          <a:xfrm>
            <a:off x="54000" y="341850"/>
            <a:ext cx="9036000" cy="4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¿Por qué integrarlos?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La </a:t>
            </a:r>
            <a:r>
              <a:rPr b="1" lang="es" sz="1800">
                <a:solidFill>
                  <a:schemeClr val="dk1"/>
                </a:solidFill>
              </a:rPr>
              <a:t>integración</a:t>
            </a:r>
            <a:r>
              <a:rPr lang="es" sz="1800">
                <a:solidFill>
                  <a:schemeClr val="dk1"/>
                </a:solidFill>
              </a:rPr>
              <a:t> permite que los documentos </a:t>
            </a:r>
            <a:r>
              <a:rPr b="1" lang="es" sz="1800">
                <a:solidFill>
                  <a:schemeClr val="dk1"/>
                </a:solidFill>
              </a:rPr>
              <a:t>formen parte activa</a:t>
            </a:r>
            <a:r>
              <a:rPr lang="es" sz="1800">
                <a:solidFill>
                  <a:schemeClr val="dk1"/>
                </a:solidFill>
              </a:rPr>
              <a:t> de los procesos de negocio. Ejemplo: una factura recibida inicia automáticamente un flujo de aprobación.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 Beneficios: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Reducción de tiempos</a:t>
            </a:r>
            <a:r>
              <a:rPr lang="es" sz="1800">
                <a:solidFill>
                  <a:schemeClr val="dk1"/>
                </a:solidFill>
              </a:rPr>
              <a:t>: Menos tareas manuales.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Trazabilidad y control</a:t>
            </a:r>
            <a:r>
              <a:rPr lang="es" sz="1800">
                <a:solidFill>
                  <a:schemeClr val="dk1"/>
                </a:solidFill>
              </a:rPr>
              <a:t>: Seguimiento de cada paso del proceso.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Menor error humano</a:t>
            </a:r>
            <a:r>
              <a:rPr lang="es" sz="1800">
                <a:solidFill>
                  <a:schemeClr val="dk1"/>
                </a:solidFill>
              </a:rPr>
              <a:t>: Automatización de decisiones repetitivas.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Cumplimiento normativo</a:t>
            </a:r>
            <a:r>
              <a:rPr lang="es" sz="1800">
                <a:solidFill>
                  <a:schemeClr val="dk1"/>
                </a:solidFill>
              </a:rPr>
              <a:t>: Auditorías más sencillas.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Colaboración efectiva</a:t>
            </a:r>
            <a:r>
              <a:rPr lang="es" sz="1800">
                <a:solidFill>
                  <a:schemeClr val="dk1"/>
                </a:solidFill>
              </a:rPr>
              <a:t>: Usuarios acceden a documentos actualizados en tiempo real.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346e8a7765d_0_1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46e8a7765d_0_10"/>
          <p:cNvSpPr txBox="1"/>
          <p:nvPr/>
        </p:nvSpPr>
        <p:spPr>
          <a:xfrm>
            <a:off x="93225" y="862425"/>
            <a:ext cx="88575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herramientas que permiten esta integración: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DocuWare</a:t>
            </a:r>
            <a:r>
              <a:rPr lang="es" sz="1800">
                <a:solidFill>
                  <a:schemeClr val="dk1"/>
                </a:solidFill>
              </a:rPr>
              <a:t>, </a:t>
            </a:r>
            <a:r>
              <a:rPr b="1" lang="es" sz="1800">
                <a:solidFill>
                  <a:schemeClr val="dk1"/>
                </a:solidFill>
              </a:rPr>
              <a:t>M-Files</a:t>
            </a:r>
            <a:r>
              <a:rPr lang="es" sz="1800">
                <a:solidFill>
                  <a:schemeClr val="dk1"/>
                </a:solidFill>
              </a:rPr>
              <a:t>, </a:t>
            </a:r>
            <a:r>
              <a:rPr b="1" lang="es" sz="1800">
                <a:solidFill>
                  <a:schemeClr val="dk1"/>
                </a:solidFill>
              </a:rPr>
              <a:t>SharePoint</a:t>
            </a:r>
            <a:r>
              <a:rPr lang="es" sz="1800">
                <a:solidFill>
                  <a:schemeClr val="dk1"/>
                </a:solidFill>
              </a:rPr>
              <a:t>, </a:t>
            </a:r>
            <a:r>
              <a:rPr b="1" lang="es" sz="1800">
                <a:solidFill>
                  <a:schemeClr val="dk1"/>
                </a:solidFill>
              </a:rPr>
              <a:t>Alfresco</a:t>
            </a:r>
            <a:r>
              <a:rPr lang="es" sz="1800">
                <a:solidFill>
                  <a:schemeClr val="dk1"/>
                </a:solidFill>
              </a:rPr>
              <a:t>: gestión documental con flujos de trabajo integrados.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Nintex</a:t>
            </a:r>
            <a:r>
              <a:rPr lang="es" sz="1800">
                <a:solidFill>
                  <a:schemeClr val="dk1"/>
                </a:solidFill>
              </a:rPr>
              <a:t>, </a:t>
            </a:r>
            <a:r>
              <a:rPr b="1" lang="es" sz="1800">
                <a:solidFill>
                  <a:schemeClr val="dk1"/>
                </a:solidFill>
              </a:rPr>
              <a:t>Kissflow</a:t>
            </a:r>
            <a:r>
              <a:rPr lang="es" sz="1800">
                <a:solidFill>
                  <a:schemeClr val="dk1"/>
                </a:solidFill>
              </a:rPr>
              <a:t>, </a:t>
            </a:r>
            <a:r>
              <a:rPr b="1" lang="es" sz="1800">
                <a:solidFill>
                  <a:schemeClr val="dk1"/>
                </a:solidFill>
              </a:rPr>
              <a:t>Power Automate</a:t>
            </a:r>
            <a:r>
              <a:rPr lang="es" sz="1800">
                <a:solidFill>
                  <a:schemeClr val="dk1"/>
                </a:solidFill>
              </a:rPr>
              <a:t>: plataformas de workflow que se integran con gestores documentales.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346e8a7765d_0_1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46e8a7765d_0_15"/>
          <p:cNvSpPr txBox="1"/>
          <p:nvPr/>
        </p:nvSpPr>
        <p:spPr>
          <a:xfrm>
            <a:off x="46625" y="815800"/>
            <a:ext cx="9036000" cy="4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¿Qué es la gestión documental en transformación digital?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En el contexto de la </a:t>
            </a:r>
            <a:r>
              <a:rPr b="1" lang="es" sz="1800">
                <a:solidFill>
                  <a:schemeClr val="dk1"/>
                </a:solidFill>
              </a:rPr>
              <a:t>transformación digital</a:t>
            </a:r>
            <a:r>
              <a:rPr lang="es" sz="1800">
                <a:solidFill>
                  <a:schemeClr val="dk1"/>
                </a:solidFill>
              </a:rPr>
              <a:t>, la gestión documental ya no es solo una forma de </a:t>
            </a:r>
            <a:r>
              <a:rPr b="1" lang="es" sz="1800">
                <a:solidFill>
                  <a:schemeClr val="dk1"/>
                </a:solidFill>
              </a:rPr>
              <a:t>almacenar archivos digitalmente</a:t>
            </a:r>
            <a:r>
              <a:rPr lang="es" sz="1800">
                <a:solidFill>
                  <a:schemeClr val="dk1"/>
                </a:solidFill>
              </a:rPr>
              <a:t>, sino una </a:t>
            </a:r>
            <a:r>
              <a:rPr b="1" lang="es" sz="1800">
                <a:solidFill>
                  <a:schemeClr val="dk1"/>
                </a:solidFill>
              </a:rPr>
              <a:t>estrategia clave</a:t>
            </a:r>
            <a:r>
              <a:rPr lang="es" sz="1800">
                <a:solidFill>
                  <a:schemeClr val="dk1"/>
                </a:solidFill>
              </a:rPr>
              <a:t> para automatizar procesos, garantizar acceso rápido a la información y mejorar la toma de decisiones.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Implica </a:t>
            </a:r>
            <a:r>
              <a:rPr b="1" lang="es" sz="1800">
                <a:solidFill>
                  <a:schemeClr val="dk1"/>
                </a:solidFill>
              </a:rPr>
              <a:t>migrar de modelos basados en papel</a:t>
            </a:r>
            <a:r>
              <a:rPr lang="es" sz="1800">
                <a:solidFill>
                  <a:schemeClr val="dk1"/>
                </a:solidFill>
              </a:rPr>
              <a:t> a sistemas digitales que integran inteligencia, automatización y conectividad en tiempo real.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4c55b4c640_0_3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4c55b4c640_0_32"/>
          <p:cNvSpPr txBox="1"/>
          <p:nvPr/>
        </p:nvSpPr>
        <p:spPr>
          <a:xfrm>
            <a:off x="46625" y="815800"/>
            <a:ext cx="9036000" cy="4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s" sz="1600">
                <a:solidFill>
                  <a:schemeClr val="dk1"/>
                </a:solidFill>
              </a:rPr>
              <a:t>Digitalización de procesos</a:t>
            </a:r>
            <a:br>
              <a:rPr b="1" lang="es" sz="1600">
                <a:solidFill>
                  <a:schemeClr val="dk1"/>
                </a:solidFill>
              </a:rPr>
            </a:br>
            <a:r>
              <a:rPr lang="es" sz="1600">
                <a:solidFill>
                  <a:schemeClr val="dk1"/>
                </a:solidFill>
              </a:rPr>
              <a:t> Escanear documentos es solo el primer paso; lo importante es </a:t>
            </a:r>
            <a:r>
              <a:rPr b="1" lang="es" sz="1600">
                <a:solidFill>
                  <a:schemeClr val="dk1"/>
                </a:solidFill>
              </a:rPr>
              <a:t>capturar, clasificar y vincular la información</a:t>
            </a:r>
            <a:r>
              <a:rPr lang="es" sz="1600">
                <a:solidFill>
                  <a:schemeClr val="dk1"/>
                </a:solidFill>
              </a:rPr>
              <a:t> al flujo de trabajo digital.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s" sz="1600">
                <a:solidFill>
                  <a:schemeClr val="dk1"/>
                </a:solidFill>
              </a:rPr>
              <a:t>Acceso remoto e instantáneo</a:t>
            </a:r>
            <a:br>
              <a:rPr b="1" lang="es" sz="1600">
                <a:solidFill>
                  <a:schemeClr val="dk1"/>
                </a:solidFill>
              </a:rPr>
            </a:br>
            <a:r>
              <a:rPr lang="es" sz="1600">
                <a:solidFill>
                  <a:schemeClr val="dk1"/>
                </a:solidFill>
              </a:rPr>
              <a:t> Facilita el </a:t>
            </a:r>
            <a:r>
              <a:rPr b="1" lang="es" sz="1600">
                <a:solidFill>
                  <a:schemeClr val="dk1"/>
                </a:solidFill>
              </a:rPr>
              <a:t>trabajo colaborativo</a:t>
            </a:r>
            <a:r>
              <a:rPr lang="es" sz="1600">
                <a:solidFill>
                  <a:schemeClr val="dk1"/>
                </a:solidFill>
              </a:rPr>
              <a:t>, el teletrabajo y la movilidad al tener todos los documentos en la nube o accesibles desde plataformas seguras.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s" sz="1600">
                <a:solidFill>
                  <a:schemeClr val="dk1"/>
                </a:solidFill>
              </a:rPr>
              <a:t>Automatización e integración</a:t>
            </a:r>
            <a:br>
              <a:rPr b="1" lang="es" sz="1600">
                <a:solidFill>
                  <a:schemeClr val="dk1"/>
                </a:solidFill>
              </a:rPr>
            </a:br>
            <a:r>
              <a:rPr lang="es" sz="1600">
                <a:solidFill>
                  <a:schemeClr val="dk1"/>
                </a:solidFill>
              </a:rPr>
              <a:t> Se integran con ERP, CRM, plataformas de firma electrónica y sistemas de workflow para eliminar tareas repetitivas y errores manuales.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s" sz="1600">
                <a:solidFill>
                  <a:schemeClr val="dk1"/>
                </a:solidFill>
              </a:rPr>
              <a:t>Seguridad y cumplimiento normativo</a:t>
            </a:r>
            <a:br>
              <a:rPr b="1" lang="es" sz="1600">
                <a:solidFill>
                  <a:schemeClr val="dk1"/>
                </a:solidFill>
              </a:rPr>
            </a:br>
            <a:r>
              <a:rPr lang="es" sz="1600">
                <a:solidFill>
                  <a:schemeClr val="dk1"/>
                </a:solidFill>
              </a:rPr>
              <a:t> Ofrece trazabilidad, control de accesos, encriptación, y políticas de retención y destrucción documental, alineadas con normativas como GDPR o ISO.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s" sz="1600">
                <a:solidFill>
                  <a:schemeClr val="dk1"/>
                </a:solidFill>
              </a:rPr>
              <a:t>Analítica y toma de decisiones</a:t>
            </a:r>
            <a:br>
              <a:rPr b="1" lang="es" sz="1600">
                <a:solidFill>
                  <a:schemeClr val="dk1"/>
                </a:solidFill>
              </a:rPr>
            </a:br>
            <a:r>
              <a:rPr lang="es" sz="1600">
                <a:solidFill>
                  <a:schemeClr val="dk1"/>
                </a:solidFill>
              </a:rPr>
              <a:t> Los sistemas modernos permiten </a:t>
            </a:r>
            <a:r>
              <a:rPr b="1" lang="es" sz="1600">
                <a:solidFill>
                  <a:schemeClr val="dk1"/>
                </a:solidFill>
              </a:rPr>
              <a:t>extraer datos</a:t>
            </a:r>
            <a:r>
              <a:rPr lang="es" sz="1600">
                <a:solidFill>
                  <a:schemeClr val="dk1"/>
                </a:solidFill>
              </a:rPr>
              <a:t> de los documentos (mediante OCR e IA) para alimentar dashboards o generar alertas automáticas.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36" name="Google Shape;136;g34c55b4c640_0_32"/>
          <p:cNvSpPr txBox="1"/>
          <p:nvPr/>
        </p:nvSpPr>
        <p:spPr>
          <a:xfrm>
            <a:off x="2494050" y="124325"/>
            <a:ext cx="35352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 Rol estratégico en la transformación digital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g34c55b4c640_0_37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4c55b4c640_0_37"/>
          <p:cNvSpPr txBox="1"/>
          <p:nvPr/>
        </p:nvSpPr>
        <p:spPr>
          <a:xfrm>
            <a:off x="2478525" y="139850"/>
            <a:ext cx="34497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Beneficios en el proceso de transformación digital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43" name="Google Shape;143;g34c55b4c640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5" y="1149900"/>
            <a:ext cx="9028300" cy="341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