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aokR1tr3jo/odoJz8obEEgE2N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1BA02C-6A80-4BA0-BD01-5099423E3828}">
  <a:tblStyle styleId="{151BA02C-6A80-4BA0-BD01-5099423E382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156db32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4156db32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4ea7738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04ea7738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04ea7738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04ea7738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4ea77380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04ea77380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4ea77380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04ea77380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4ea77380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04ea77380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4ea77380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04ea77380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4ea77380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04ea77380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4ea77380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04ea77380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4ea77380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04ea77380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04ea77380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04ea77380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4ea77380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04ea77380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4ea773802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04ea77380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4ea77380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04ea77380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04ea77380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04ea77380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04ea77380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04ea77380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4ea77380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04ea77380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4ea77380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04ea77380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DKY8cAbdhnM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{151BA02C-6A80-4BA0-BD01-5099423E3828}</a:tableStyleId>
              </a:tblPr>
              <a:tblGrid>
                <a:gridCol w="1518200"/>
                <a:gridCol w="217237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Lunes, 2</a:t>
                      </a:r>
                      <a:r>
                        <a:rPr lang="es"/>
                        <a:t>8</a:t>
                      </a:r>
                      <a:r>
                        <a:rPr lang="es" sz="1400" u="none" cap="none" strike="noStrike"/>
                        <a:t>/04/2025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cap="none" strike="noStrike"/>
                        <a:t>17:20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992650" y="2132750"/>
            <a:ext cx="514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Sección P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Erick Eden Sandoval Ramirez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4156db3297_0_1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4156db3297_0_18"/>
          <p:cNvSpPr txBox="1"/>
          <p:nvPr/>
        </p:nvSpPr>
        <p:spPr>
          <a:xfrm>
            <a:off x="2330900" y="132075"/>
            <a:ext cx="38070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Herramientas y tecnologías RPA.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4" name="Google Shape;64;g34156db3297_0_18"/>
          <p:cNvSpPr txBox="1"/>
          <p:nvPr/>
        </p:nvSpPr>
        <p:spPr>
          <a:xfrm>
            <a:off x="77700" y="776975"/>
            <a:ext cx="90207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RPA</a:t>
            </a:r>
            <a:r>
              <a:rPr lang="es" sz="1800">
                <a:solidFill>
                  <a:schemeClr val="dk1"/>
                </a:solidFill>
              </a:rPr>
              <a:t> (Robotic Process Automation) es una tecnología que usa software ("robots") para automatizar tareas repetitivas y basadas en reglas que normalmente realizan los humanos en sistemas digitales.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g34156db3297_0_18"/>
          <p:cNvSpPr txBox="1"/>
          <p:nvPr/>
        </p:nvSpPr>
        <p:spPr>
          <a:xfrm>
            <a:off x="69925" y="1763700"/>
            <a:ext cx="3364200" cy="4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Herramientas líderes de RPA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g34156db3297_0_18"/>
          <p:cNvSpPr txBox="1"/>
          <p:nvPr/>
        </p:nvSpPr>
        <p:spPr>
          <a:xfrm>
            <a:off x="124325" y="2253200"/>
            <a:ext cx="8733000" cy="2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UiPath:</a:t>
            </a:r>
            <a:r>
              <a:rPr lang="es" sz="1800">
                <a:solidFill>
                  <a:schemeClr val="dk1"/>
                </a:solidFill>
              </a:rPr>
              <a:t> Muy popular por su facilidad de uso y comunidad activa. Ofrece automatización asistida y no asistida, integración con IA, y herramientas de orquestación.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Automation Anywhere: Fuerte en bots basados en la nube, buena gestión de bots a escala empresarial.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04ea773802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04ea773802_0_0"/>
          <p:cNvSpPr txBox="1"/>
          <p:nvPr/>
        </p:nvSpPr>
        <p:spPr>
          <a:xfrm>
            <a:off x="38850" y="808050"/>
            <a:ext cx="8989500" cy="4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Blue Prism:</a:t>
            </a:r>
            <a:r>
              <a:rPr lang="es" sz="1800">
                <a:solidFill>
                  <a:schemeClr val="dk1"/>
                </a:solidFill>
              </a:rPr>
              <a:t> Pionero en RPA, enfocado en grandes organizaciones, con bots más estables pero menos flexibles sin programación avanzada.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Microsoft Power Automate: </a:t>
            </a:r>
            <a:r>
              <a:rPr lang="es" sz="1800">
                <a:solidFill>
                  <a:schemeClr val="dk1"/>
                </a:solidFill>
              </a:rPr>
              <a:t>Integra muy bien con todo el ecosistema de Microsoft 365 y Azure. Ideal para usuarios que ya trabajan en ese entorno.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Pega Robotic Automation:</a:t>
            </a:r>
            <a:r>
              <a:rPr lang="es" sz="1800">
                <a:solidFill>
                  <a:schemeClr val="dk1"/>
                </a:solidFill>
              </a:rPr>
              <a:t> Parte de la plataforma de Pega, ofrece automatización combinada con gestión de procesos empresariales (BPM).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04ea773802_0_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04ea773802_0_4"/>
          <p:cNvSpPr txBox="1"/>
          <p:nvPr/>
        </p:nvSpPr>
        <p:spPr>
          <a:xfrm>
            <a:off x="2439675" y="155400"/>
            <a:ext cx="3535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Tecnologías relacionadas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9" name="Google Shape;79;g304ea773802_0_4"/>
          <p:cNvSpPr txBox="1"/>
          <p:nvPr/>
        </p:nvSpPr>
        <p:spPr>
          <a:xfrm>
            <a:off x="46625" y="792500"/>
            <a:ext cx="90282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OCR (Reconocimiento Óptico de Caracteres):</a:t>
            </a:r>
            <a:r>
              <a:rPr lang="es" sz="1800">
                <a:solidFill>
                  <a:schemeClr val="dk1"/>
                </a:solidFill>
              </a:rPr>
              <a:t> Para que los robots puedan "leer" documentos escaneados o imágenes (por ejemplo, Abbyy FlexiCapture, Tesseract).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IA/ML (Inteligencia Artificial y Aprendizaje Automático):</a:t>
            </a:r>
            <a:r>
              <a:rPr lang="es" sz="1800">
                <a:solidFill>
                  <a:schemeClr val="dk1"/>
                </a:solidFill>
              </a:rPr>
              <a:t> Para automatizar tareas más complejas, como decisiones basadas en datos no estructurados.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Procesamiento de lenguaje natural (NLP):</a:t>
            </a:r>
            <a:r>
              <a:rPr lang="es" sz="1800">
                <a:solidFill>
                  <a:schemeClr val="dk1"/>
                </a:solidFill>
              </a:rPr>
              <a:t> Para entender y procesar textos, correos electrónicos, formularios, etc.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Integración de API:</a:t>
            </a:r>
            <a:r>
              <a:rPr lang="es" sz="1800">
                <a:solidFill>
                  <a:schemeClr val="dk1"/>
                </a:solidFill>
              </a:rPr>
              <a:t> Muchos robots modernos no solo emulan usuarios, también se conectan directamente a sistemas vía APIs.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04ea773802_0_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04ea773802_0_8"/>
          <p:cNvSpPr txBox="1"/>
          <p:nvPr/>
        </p:nvSpPr>
        <p:spPr>
          <a:xfrm>
            <a:off x="2455200" y="170925"/>
            <a:ext cx="3255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Infraestructura y soporte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6" name="Google Shape;86;g304ea773802_0_8"/>
          <p:cNvSpPr txBox="1"/>
          <p:nvPr/>
        </p:nvSpPr>
        <p:spPr>
          <a:xfrm>
            <a:off x="38850" y="815800"/>
            <a:ext cx="9036000" cy="42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Orquestadores:</a:t>
            </a:r>
            <a:r>
              <a:rPr lang="es" sz="1800">
                <a:solidFill>
                  <a:schemeClr val="dk1"/>
                </a:solidFill>
              </a:rPr>
              <a:t> Sistemas para administrar, programar y monitorizar bots en ejecución (por ejemplo, UiPath Orchestrator).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Contenedores y nube:</a:t>
            </a:r>
            <a:r>
              <a:rPr lang="es" sz="1800">
                <a:solidFill>
                  <a:schemeClr val="dk1"/>
                </a:solidFill>
              </a:rPr>
              <a:t> Muchos despliegues de bots ahora usan Kubernetes, Docker y nubes públicas (AWS, Azure, GCP) para escalar más fácil.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Seguridad y cumplimiento:</a:t>
            </a:r>
            <a:r>
              <a:rPr lang="es" sz="1800">
                <a:solidFill>
                  <a:schemeClr val="dk1"/>
                </a:solidFill>
              </a:rPr>
              <a:t> Herramientas de gestión de credenciales, encriptación de datos, y auditoría son esenciales en RPA empresarial.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04ea773802_0_1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04ea773802_0_12"/>
          <p:cNvSpPr txBox="1"/>
          <p:nvPr/>
        </p:nvSpPr>
        <p:spPr>
          <a:xfrm>
            <a:off x="2167725" y="637100"/>
            <a:ext cx="4436400" cy="5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Otras herramientas complementarias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93" name="Google Shape;93;g304ea773802_0_12"/>
          <p:cNvSpPr txBox="1"/>
          <p:nvPr/>
        </p:nvSpPr>
        <p:spPr>
          <a:xfrm>
            <a:off x="31075" y="1359675"/>
            <a:ext cx="90129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Task mining y process mining: (por ejemplo, Celonis, UiPath Process Mining) para identificar procesos que se pueden automatizar.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Low-code/no-code platforms: Ayudan a usuarios no técnicos a diseñar bots visualmente (sin o con poca programación).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4ea773802_0_1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04ea773802_0_16"/>
          <p:cNvSpPr txBox="1"/>
          <p:nvPr/>
        </p:nvSpPr>
        <p:spPr>
          <a:xfrm>
            <a:off x="2431900" y="163150"/>
            <a:ext cx="34341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Conceptos de ética y seguridad en proyectos RPA.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00" name="Google Shape;100;g304ea773802_0_16"/>
          <p:cNvSpPr txBox="1"/>
          <p:nvPr/>
        </p:nvSpPr>
        <p:spPr>
          <a:xfrm>
            <a:off x="8450" y="831325"/>
            <a:ext cx="44133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Conceptos de </a:t>
            </a:r>
            <a:r>
              <a:rPr b="1" lang="es" sz="1800">
                <a:solidFill>
                  <a:schemeClr val="dk1"/>
                </a:solidFill>
              </a:rPr>
              <a:t>Ética</a:t>
            </a:r>
            <a:r>
              <a:rPr lang="es" sz="1800">
                <a:solidFill>
                  <a:schemeClr val="dk1"/>
                </a:solidFill>
              </a:rPr>
              <a:t> en proyectos RPA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" name="Google Shape;101;g304ea773802_0_16"/>
          <p:cNvSpPr txBox="1"/>
          <p:nvPr/>
        </p:nvSpPr>
        <p:spPr>
          <a:xfrm>
            <a:off x="31075" y="1297525"/>
            <a:ext cx="9059400" cy="3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Transparencia:</a:t>
            </a:r>
            <a:r>
              <a:rPr lang="es" sz="1800">
                <a:solidFill>
                  <a:schemeClr val="dk1"/>
                </a:solidFill>
              </a:rPr>
              <a:t> Informar a los empleados, clientes y stakeholders sobre qué procesos están siendo automatizados, y qué decisiones son tomadas por robots.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Impacto laboral:</a:t>
            </a:r>
            <a:r>
              <a:rPr lang="es" sz="1800">
                <a:solidFill>
                  <a:schemeClr val="dk1"/>
                </a:solidFill>
              </a:rPr>
              <a:t> Evaluar cómo afectará la automatización a los trabajadores (por ejemplo, ¿se reasignarán a tareas de mayor valor o se eliminarán puestos de trabajo?).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Responsabilidad:</a:t>
            </a:r>
            <a:r>
              <a:rPr lang="es" sz="1800">
                <a:solidFill>
                  <a:schemeClr val="dk1"/>
                </a:solidFill>
              </a:rPr>
              <a:t> Definir claramente quién es responsable si un robot falla o toma una decisión incorrecta.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Justicia y no discriminación</a:t>
            </a:r>
            <a:r>
              <a:rPr lang="es" sz="1800">
                <a:solidFill>
                  <a:schemeClr val="dk1"/>
                </a:solidFill>
              </a:rPr>
              <a:t>: Asegurar que los bots no perpetúen sesgos o traten de manera injusta a los usuarios, especialmente si integran IA.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04ea773802_0_2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04ea773802_0_20"/>
          <p:cNvSpPr txBox="1"/>
          <p:nvPr/>
        </p:nvSpPr>
        <p:spPr>
          <a:xfrm>
            <a:off x="31075" y="808050"/>
            <a:ext cx="90750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Consentimiento y derechos humanos:</a:t>
            </a:r>
            <a:r>
              <a:rPr lang="es" sz="1800">
                <a:solidFill>
                  <a:schemeClr val="dk1"/>
                </a:solidFill>
              </a:rPr>
              <a:t> Respetar la privacidad de las personas y obtener su consentimiento cuando corresponda (por ejemplo, en el uso de datos personales).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Sostenibilidad:</a:t>
            </a:r>
            <a:r>
              <a:rPr lang="es" sz="1800">
                <a:solidFill>
                  <a:schemeClr val="dk1"/>
                </a:solidFill>
              </a:rPr>
              <a:t> Analizar el impacto de la automatización en el bienestar a largo plazo de la organización y la sociedad.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8" name="Google Shape;108;g304ea773802_0_20"/>
          <p:cNvSpPr txBox="1"/>
          <p:nvPr/>
        </p:nvSpPr>
        <p:spPr>
          <a:xfrm>
            <a:off x="46625" y="2408600"/>
            <a:ext cx="8973900" cy="26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Conceptos de </a:t>
            </a:r>
            <a:r>
              <a:rPr b="1" lang="es" sz="1800">
                <a:solidFill>
                  <a:schemeClr val="dk1"/>
                </a:solidFill>
              </a:rPr>
              <a:t>Seguridad</a:t>
            </a:r>
            <a:r>
              <a:rPr lang="es" sz="1800">
                <a:solidFill>
                  <a:schemeClr val="dk1"/>
                </a:solidFill>
              </a:rPr>
              <a:t> en proyectos RPA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Gestión de credenciales:</a:t>
            </a:r>
            <a:r>
              <a:rPr lang="es" sz="1800">
                <a:solidFill>
                  <a:schemeClr val="dk1"/>
                </a:solidFill>
              </a:rPr>
              <a:t> Usar herramientas seguras (como vaults o bóvedas digitales) para almacenar y gestionar las credenciales que usan los bots, evitando contraseñas duras en el código.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Acceso mínimo necesario ("principle of least privilege"):</a:t>
            </a:r>
            <a:r>
              <a:rPr lang="es" sz="1800">
                <a:solidFill>
                  <a:schemeClr val="dk1"/>
                </a:solidFill>
              </a:rPr>
              <a:t> Configurar los bots para que tengan solo el acceso estrictamente necesario para ejecutar sus tareas.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g304ea773802_0_2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04ea773802_0_24"/>
          <p:cNvSpPr txBox="1"/>
          <p:nvPr/>
        </p:nvSpPr>
        <p:spPr>
          <a:xfrm>
            <a:off x="31075" y="598250"/>
            <a:ext cx="9075000" cy="44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Autenticación y autorización:</a:t>
            </a:r>
            <a:r>
              <a:rPr lang="es" sz="1800">
                <a:solidFill>
                  <a:schemeClr val="dk1"/>
                </a:solidFill>
              </a:rPr>
              <a:t> Implementar mecanismos sólidos de autenticación (por ejemplo, autenticación multifactor) y controles de autorización granulares.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Auditoría y trazabilidad:</a:t>
            </a:r>
            <a:r>
              <a:rPr lang="es" sz="1800">
                <a:solidFill>
                  <a:schemeClr val="dk1"/>
                </a:solidFill>
              </a:rPr>
              <a:t> Registrar y supervisar todas las acciones de los bots para que cualquier actividad pueda ser auditada posteriormente.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Protección de datos:</a:t>
            </a:r>
            <a:r>
              <a:rPr lang="es" sz="1800">
                <a:solidFill>
                  <a:schemeClr val="dk1"/>
                </a:solidFill>
              </a:rPr>
              <a:t> Cumplir con normativas de privacidad de datos como GDPR, HIPAA, etc., asegurando que los datos que manejan los bots estén cifrados y protegidos.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Seguridad en la infraestructura:</a:t>
            </a:r>
            <a:r>
              <a:rPr lang="es" sz="1800">
                <a:solidFill>
                  <a:schemeClr val="dk1"/>
                </a:solidFill>
              </a:rPr>
              <a:t> Garantizar que los servidores, redes y plataformas donde corren los bots estén protegidos contra amenazas externas (como malware, hacking, etc.).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Planes de contingencia y recuperación:</a:t>
            </a:r>
            <a:r>
              <a:rPr lang="es" sz="1800">
                <a:solidFill>
                  <a:schemeClr val="dk1"/>
                </a:solidFill>
              </a:rPr>
              <a:t> Tener procedimientos para detectar, contener y recuperarse rápidamente de incidentes de seguridad relacionados con bots.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04ea773802_0_2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04ea773802_0_28"/>
          <p:cNvSpPr txBox="1"/>
          <p:nvPr/>
        </p:nvSpPr>
        <p:spPr>
          <a:xfrm>
            <a:off x="2408600" y="139850"/>
            <a:ext cx="35274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Conceptos de marketing.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21" name="Google Shape;121;g304ea773802_0_28"/>
          <p:cNvSpPr txBox="1"/>
          <p:nvPr/>
        </p:nvSpPr>
        <p:spPr>
          <a:xfrm>
            <a:off x="62150" y="854650"/>
            <a:ext cx="8950500" cy="42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El </a:t>
            </a:r>
            <a:r>
              <a:rPr b="1" lang="es" sz="1800">
                <a:solidFill>
                  <a:schemeClr val="dk1"/>
                </a:solidFill>
              </a:rPr>
              <a:t>marketing</a:t>
            </a:r>
            <a:r>
              <a:rPr lang="es" sz="1800">
                <a:solidFill>
                  <a:schemeClr val="dk1"/>
                </a:solidFill>
              </a:rPr>
              <a:t> es el conjunto de actividades, procesos y estrategias que tienen como objetivo </a:t>
            </a:r>
            <a:r>
              <a:rPr b="1" lang="es" sz="1800">
                <a:solidFill>
                  <a:schemeClr val="dk1"/>
                </a:solidFill>
              </a:rPr>
              <a:t>crear, comunicar, entregar e intercambiar ofertas</a:t>
            </a:r>
            <a:r>
              <a:rPr lang="es" sz="1800">
                <a:solidFill>
                  <a:schemeClr val="dk1"/>
                </a:solidFill>
              </a:rPr>
              <a:t> que tienen valor para los consumidores, clientes, socios y la sociedad en general.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En otras palabras: es entender las necesidades del mercado y ofrecer productos o servicios que las satisfagan de manera rentable.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Conceptos fundamentales de Marketing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1. Necesidades, deseos y demandas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Necesidades</a:t>
            </a:r>
            <a:r>
              <a:rPr lang="es" sz="1800">
                <a:solidFill>
                  <a:schemeClr val="dk1"/>
                </a:solidFill>
              </a:rPr>
              <a:t>: Carencias básicas humanas (comida, ropa, seguridad).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Deseos</a:t>
            </a:r>
            <a:r>
              <a:rPr lang="es" sz="1800">
                <a:solidFill>
                  <a:schemeClr val="dk1"/>
                </a:solidFill>
              </a:rPr>
              <a:t>: Formas específicas de satisfacer esas necesidades, influenciadas por la cultura y la personalidad.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Demandas</a:t>
            </a:r>
            <a:r>
              <a:rPr lang="es" sz="1800">
                <a:solidFill>
                  <a:schemeClr val="dk1"/>
                </a:solidFill>
              </a:rPr>
              <a:t>: Deseos respaldados por poder adquisitivo (capacidad real de compra).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304ea773802_0_3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04ea773802_0_32"/>
          <p:cNvSpPr txBox="1"/>
          <p:nvPr/>
        </p:nvSpPr>
        <p:spPr>
          <a:xfrm>
            <a:off x="15550" y="792500"/>
            <a:ext cx="9082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2. Producto o servicio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Todo aquello que puede ofrecerse a un mercado para satisfacer una necesidad o deseo.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3. Valor y satisfacción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Valor</a:t>
            </a:r>
            <a:r>
              <a:rPr lang="es" sz="1800">
                <a:solidFill>
                  <a:schemeClr val="dk1"/>
                </a:solidFill>
              </a:rPr>
              <a:t>: La percepción del cliente sobre los beneficios frente a los costos.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Satisfacción</a:t>
            </a:r>
            <a:r>
              <a:rPr lang="es" sz="1800">
                <a:solidFill>
                  <a:schemeClr val="dk1"/>
                </a:solidFill>
              </a:rPr>
              <a:t>: Depende de si el producto cumple o supera las expectativas del cliente.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4. Mercado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conjunto de todos los compradores reales y potenciales de un producto o servicio.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g304ea773802_0_3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304ea773802_0_36"/>
          <p:cNvSpPr txBox="1"/>
          <p:nvPr/>
        </p:nvSpPr>
        <p:spPr>
          <a:xfrm>
            <a:off x="31075" y="776975"/>
            <a:ext cx="90672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5. Intercambio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acto de obtener un producto deseado ofreciendo algo a cambio (dinero, tiempo, lealtad, etc.).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6. Segmentación de mercado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Dividir un mercado en grupos más pequeños de consumidores con necesidades, características o comportamientos similares.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7. Targeting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Seleccionar uno o más segmentos de mercado para dirigirse a ellos específicamente.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8. Posicionamiento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Diseñar la oferta y la imagen de la marca para ocupar un lugar claro, distintivo y deseable en la mente del consumidor.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04ea773802_0_4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04ea773802_0_40"/>
          <p:cNvSpPr txBox="1"/>
          <p:nvPr/>
        </p:nvSpPr>
        <p:spPr>
          <a:xfrm>
            <a:off x="38850" y="776975"/>
            <a:ext cx="9067200" cy="4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9. Marketing Mix (Las 4P)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Herramientas principales que utiliza una empresa para influir en la demanda: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	Producto (qué ofrecerás),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	Precio (cuánto costará),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	Plaza (dónde se ofrecerá),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	Promoción (cómo se comunicará).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Hoy en día, a veces se amplía a las 7P para incluir: Personas, Procesos y Evidencia física (sobre todo en servicios).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10. Fidelización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Acciones para mantener clientes satisfechos y lograr que vuelvan a comprar o recomienden la marca.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04ea773802_0_4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04ea773802_0_44"/>
          <p:cNvSpPr txBox="1"/>
          <p:nvPr/>
        </p:nvSpPr>
        <p:spPr>
          <a:xfrm>
            <a:off x="31075" y="753650"/>
            <a:ext cx="90672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Tipos de Marketing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Marketing digital:</a:t>
            </a:r>
            <a:r>
              <a:rPr lang="es" sz="1800">
                <a:solidFill>
                  <a:schemeClr val="dk1"/>
                </a:solidFill>
              </a:rPr>
              <a:t> Usa plataformas digitales (redes sociales, SEO, email marketing, etc.).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Marketing de contenidos:</a:t>
            </a:r>
            <a:r>
              <a:rPr lang="es" sz="1800">
                <a:solidFill>
                  <a:schemeClr val="dk1"/>
                </a:solidFill>
              </a:rPr>
              <a:t> Crear contenido de valor para atraer y retener clientes.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Marketing de guerrilla:</a:t>
            </a:r>
            <a:r>
              <a:rPr lang="es" sz="1800">
                <a:solidFill>
                  <a:schemeClr val="dk1"/>
                </a:solidFill>
              </a:rPr>
              <a:t> Acciones creativas y de bajo costo para generar un gran impacto.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Marketing relacional:</a:t>
            </a:r>
            <a:r>
              <a:rPr lang="es" sz="1800">
                <a:solidFill>
                  <a:schemeClr val="dk1"/>
                </a:solidFill>
              </a:rPr>
              <a:t> Construir relaciones a largo plazo con los clientes.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Inbound marketing:</a:t>
            </a:r>
            <a:r>
              <a:rPr lang="es" sz="1800">
                <a:solidFill>
                  <a:schemeClr val="dk1"/>
                </a:solidFill>
              </a:rPr>
              <a:t> Atraer a los clientes de forma no intrusiva, educándolos y acompañándolos en su decisión de compra.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El marketing no es solo vender; es entender al cliente, crear valor para él y construir relaciones duraderas.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04ea773802_0_48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04ea773802_0_48"/>
          <p:cNvSpPr txBox="1"/>
          <p:nvPr/>
        </p:nvSpPr>
        <p:spPr>
          <a:xfrm>
            <a:off x="2307575" y="132100"/>
            <a:ext cx="39081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Introducción al Marketing Digital.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52" name="Google Shape;152;g304ea773802_0_48"/>
          <p:cNvSpPr txBox="1"/>
          <p:nvPr/>
        </p:nvSpPr>
        <p:spPr>
          <a:xfrm>
            <a:off x="15550" y="769200"/>
            <a:ext cx="9075000" cy="4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El </a:t>
            </a:r>
            <a:r>
              <a:rPr b="1" lang="es" sz="1800">
                <a:solidFill>
                  <a:schemeClr val="dk1"/>
                </a:solidFill>
              </a:rPr>
              <a:t>Marketing Digital</a:t>
            </a:r>
            <a:r>
              <a:rPr lang="es" sz="1800">
                <a:solidFill>
                  <a:schemeClr val="dk1"/>
                </a:solidFill>
              </a:rPr>
              <a:t> es el conjunto de estrategias y acciones de marketing que se ejecutan en </a:t>
            </a:r>
            <a:r>
              <a:rPr b="1" lang="es" sz="1800">
                <a:solidFill>
                  <a:schemeClr val="dk1"/>
                </a:solidFill>
              </a:rPr>
              <a:t>medios y canales digitales</a:t>
            </a:r>
            <a:r>
              <a:rPr lang="es" sz="1800">
                <a:solidFill>
                  <a:schemeClr val="dk1"/>
                </a:solidFill>
              </a:rPr>
              <a:t> para promover productos, servicios o marcas, buscando conectar con clientes actuales y potenciales de manera </a:t>
            </a:r>
            <a:r>
              <a:rPr b="1" lang="es" sz="1800">
                <a:solidFill>
                  <a:schemeClr val="dk1"/>
                </a:solidFill>
              </a:rPr>
              <a:t>más rápida, personalizada y medible</a:t>
            </a:r>
            <a:r>
              <a:rPr lang="es" sz="1800">
                <a:solidFill>
                  <a:schemeClr val="dk1"/>
                </a:solidFill>
              </a:rPr>
              <a:t> que en los medios tradicionales.En pocas palabras: es llevar las ideas del marketing clásico a Internet, móviles, redes sociales y plataformas digitales.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Objetivos comunes en el Marketing Digital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Aumentar la visibilidad y conocimiento de marca (brand awareness).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Generar tráfico hacia un sitio web o app.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Convertir visitantes en clientes (conversiones).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Fidelizar a los clientes existentes.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Recoger datos sobre el comportamiento y preferencias del consumidor.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g304ea773802_0_48"/>
          <p:cNvSpPr txBox="1"/>
          <p:nvPr/>
        </p:nvSpPr>
        <p:spPr>
          <a:xfrm>
            <a:off x="93225" y="4599625"/>
            <a:ext cx="581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u="sng">
                <a:solidFill>
                  <a:schemeClr val="hlink"/>
                </a:solidFill>
                <a:hlinkClick r:id="rId4"/>
              </a:rPr>
              <a:t>https://www.youtube.com/watch?v=DKY8cAbdhnM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g304ea773802_0_52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304ea773802_0_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850" y="916825"/>
            <a:ext cx="8888474" cy="39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04ea773802_0_5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04ea773802_0_56"/>
          <p:cNvSpPr txBox="1"/>
          <p:nvPr/>
        </p:nvSpPr>
        <p:spPr>
          <a:xfrm>
            <a:off x="2361975" y="93225"/>
            <a:ext cx="37140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Herramientas de análisis y medición del marketing digital.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66" name="Google Shape;166;g304ea773802_0_56"/>
          <p:cNvSpPr txBox="1"/>
          <p:nvPr/>
        </p:nvSpPr>
        <p:spPr>
          <a:xfrm>
            <a:off x="31075" y="800275"/>
            <a:ext cx="9043800" cy="4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Google Analytics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Qué mide:</a:t>
            </a:r>
            <a:r>
              <a:rPr lang="es" sz="1800">
                <a:solidFill>
                  <a:schemeClr val="dk1"/>
                </a:solidFill>
              </a:rPr>
              <a:t> Tráfico web, comportamiento de usuarios, conversiones, fuentes de tráfico, etc.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Por qué usarlo:</a:t>
            </a:r>
            <a:r>
              <a:rPr lang="es" sz="1800">
                <a:solidFill>
                  <a:schemeClr val="dk1"/>
                </a:solidFill>
              </a:rPr>
              <a:t> Es gratis, muy completo y estándar en la industria para medir el rendimiento de sitios web y tiendas online.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Extra:</a:t>
            </a:r>
            <a:r>
              <a:rPr lang="es" sz="1800">
                <a:solidFill>
                  <a:schemeClr val="dk1"/>
                </a:solidFill>
              </a:rPr>
              <a:t> Con Google Analytics 4 (GA4), también se mide mejor el comportamiento en apps y la interacción en múltiples dispositivos.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Google Search Console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Qué mide:</a:t>
            </a:r>
            <a:r>
              <a:rPr lang="es" sz="1800">
                <a:solidFill>
                  <a:schemeClr val="dk1"/>
                </a:solidFill>
              </a:rPr>
              <a:t> Aparición en resultados de Google (SEO), clics, impresiones, errores de rastreo, keywords relevantes.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Por qué usarlo: </a:t>
            </a:r>
            <a:r>
              <a:rPr lang="es" sz="1800">
                <a:solidFill>
                  <a:schemeClr val="dk1"/>
                </a:solidFill>
              </a:rPr>
              <a:t>Ayuda a optimizar el SEO y detectar problemas que afectan la visibilidad en búsquedas.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g304ea773802_0_6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04ea773802_0_60"/>
          <p:cNvSpPr txBox="1"/>
          <p:nvPr/>
        </p:nvSpPr>
        <p:spPr>
          <a:xfrm>
            <a:off x="15550" y="792500"/>
            <a:ext cx="9067200" cy="43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Hotjar / Microsoft Clarity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Qué mide:</a:t>
            </a:r>
            <a:r>
              <a:rPr lang="es" sz="1800">
                <a:solidFill>
                  <a:schemeClr val="dk1"/>
                </a:solidFill>
              </a:rPr>
              <a:t> Mapas de calor, grabaciones de sesiones de usuarios, embudos de conversión.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Por qué usarlo:</a:t>
            </a:r>
            <a:r>
              <a:rPr lang="es" sz="1800">
                <a:solidFill>
                  <a:schemeClr val="dk1"/>
                </a:solidFill>
              </a:rPr>
              <a:t> Para entender visualmente cómo los usuarios interactúan con tu web y detectar puntos de abandono o fricción.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Meta (Facebook) Business Suite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Qué mide:</a:t>
            </a:r>
            <a:r>
              <a:rPr lang="es" sz="1800">
                <a:solidFill>
                  <a:schemeClr val="dk1"/>
                </a:solidFill>
              </a:rPr>
              <a:t> Rendimiento de campañas en Facebook e Instagram (alcance, clics, interacciones, conversiones).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Por qué usarlo:</a:t>
            </a:r>
            <a:r>
              <a:rPr lang="es" sz="1800">
                <a:solidFill>
                  <a:schemeClr val="dk1"/>
                </a:solidFill>
              </a:rPr>
              <a:t> Centraliza la gestión de anuncios, publicaciones y estadísticas en redes sociales.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04ea773802_0_6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04ea773802_0_64"/>
          <p:cNvSpPr txBox="1"/>
          <p:nvPr/>
        </p:nvSpPr>
        <p:spPr>
          <a:xfrm>
            <a:off x="46625" y="800275"/>
            <a:ext cx="9036000" cy="4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800">
                <a:solidFill>
                  <a:schemeClr val="dk1"/>
                </a:solidFill>
              </a:rPr>
              <a:t>¿Qué debes medir siempre en marketing digital?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Tráfico web:</a:t>
            </a:r>
            <a:r>
              <a:rPr lang="es" sz="1800">
                <a:solidFill>
                  <a:schemeClr val="dk1"/>
                </a:solidFill>
              </a:rPr>
              <a:t> ¿Cuántos y de dónde vienen?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Conversión:</a:t>
            </a:r>
            <a:r>
              <a:rPr lang="es" sz="1800">
                <a:solidFill>
                  <a:schemeClr val="dk1"/>
                </a:solidFill>
              </a:rPr>
              <a:t> ¿Cuántos realizan acciones deseadas (compra, registro, descarga)?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Tasa de rebote:</a:t>
            </a:r>
            <a:r>
              <a:rPr lang="es" sz="1800">
                <a:solidFill>
                  <a:schemeClr val="dk1"/>
                </a:solidFill>
              </a:rPr>
              <a:t> ¿Qué porcentaje se va sin interactuar?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Tiempo en sitio:</a:t>
            </a:r>
            <a:r>
              <a:rPr lang="es" sz="1800">
                <a:solidFill>
                  <a:schemeClr val="dk1"/>
                </a:solidFill>
              </a:rPr>
              <a:t> ¿Cuánto tiempo pasan en tus páginas?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CTR (Click Through Rate):</a:t>
            </a:r>
            <a:r>
              <a:rPr lang="es" sz="1800">
                <a:solidFill>
                  <a:schemeClr val="dk1"/>
                </a:solidFill>
              </a:rPr>
              <a:t> ¿Qué tan atractivos son tus anuncios o publicaciones?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Costo por lead / adquisición:</a:t>
            </a:r>
            <a:r>
              <a:rPr lang="es" sz="1800">
                <a:solidFill>
                  <a:schemeClr val="dk1"/>
                </a:solidFill>
              </a:rPr>
              <a:t> ¿Cuánto cuesta conseguir un cliente o lead?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ROI (Return on Investment):</a:t>
            </a:r>
            <a:r>
              <a:rPr lang="es" sz="1800">
                <a:solidFill>
                  <a:schemeClr val="dk1"/>
                </a:solidFill>
              </a:rPr>
              <a:t> ¿Qué tan rentable es la inversión en marketing?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