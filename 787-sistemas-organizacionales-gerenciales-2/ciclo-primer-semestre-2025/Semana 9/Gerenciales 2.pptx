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 roundtripDataSignature="AMtx7mi0YIPcREgh0I3sqT34ya1xmmmY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234B0C-169B-48F8-8659-D7D69B4FC19D}">
  <a:tblStyle styleId="{46234B0C-169B-48F8-8659-D7D69B4FC19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4156db329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4156db3297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4156db329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4156db3297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32684804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4326848042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432684804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432684804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32684804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34326848042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32684804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4326848042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32684804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4326848042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6e8a776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46e8a7765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6e8a7765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46e8a7765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6e8a7765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46e8a7765d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46e8a7765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46e8a7765d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6e8a7765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46e8a7765d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6e8a7765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46e8a7765d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6e8a7765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46e8a7765d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6e8a7765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46e8a7765d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6e8a7765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346e8a7765d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46e8a7765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46e8a7765d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www.youtube.com/watch?v=DtONK8ALWl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{46234B0C-169B-48F8-8659-D7D69B4FC19D}</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Lunes, </a:t>
                      </a:r>
                      <a:r>
                        <a:rPr lang="es"/>
                        <a:t>31</a:t>
                      </a:r>
                      <a:r>
                        <a:rPr lang="es" sz="1400" u="none" cap="none" strike="noStrike"/>
                        <a:t>/</a:t>
                      </a:r>
                      <a:r>
                        <a:rPr lang="es" sz="1400" u="none" cap="none" strike="noStrike"/>
                        <a:t>03/2025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992650" y="2132750"/>
            <a:ext cx="51429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SISTEMAS ORGANIZACIONALES Y GERENCIALES 2 Sección P</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34156db3297_0_1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34156db3297_0_18"/>
          <p:cNvSpPr txBox="1"/>
          <p:nvPr/>
        </p:nvSpPr>
        <p:spPr>
          <a:xfrm>
            <a:off x="2455200" y="194250"/>
            <a:ext cx="3589500" cy="49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64" name="Google Shape;64;g34156db3297_0_18"/>
          <p:cNvSpPr txBox="1"/>
          <p:nvPr/>
        </p:nvSpPr>
        <p:spPr>
          <a:xfrm>
            <a:off x="2532900" y="248625"/>
            <a:ext cx="3123300" cy="51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Business Intelligence (BI)</a:t>
            </a:r>
            <a:endParaRPr b="1" sz="1800">
              <a:solidFill>
                <a:schemeClr val="dk1"/>
              </a:solidFill>
            </a:endParaRPr>
          </a:p>
        </p:txBody>
      </p:sp>
      <p:sp>
        <p:nvSpPr>
          <p:cNvPr id="65" name="Google Shape;65;g34156db3297_0_18"/>
          <p:cNvSpPr txBox="1"/>
          <p:nvPr/>
        </p:nvSpPr>
        <p:spPr>
          <a:xfrm>
            <a:off x="116550" y="1002275"/>
            <a:ext cx="8733000" cy="3574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chemeClr val="dk1"/>
                </a:solidFill>
              </a:rPr>
              <a:t>Business Intelligence (BI)</a:t>
            </a:r>
            <a:r>
              <a:rPr lang="es" sz="1800">
                <a:solidFill>
                  <a:schemeClr val="dk1"/>
                </a:solidFill>
              </a:rPr>
              <a:t> o </a:t>
            </a:r>
            <a:r>
              <a:rPr b="1" lang="es" sz="1800">
                <a:solidFill>
                  <a:schemeClr val="dk1"/>
                </a:solidFill>
              </a:rPr>
              <a:t>Inteligencia de Negocios</a:t>
            </a:r>
            <a:r>
              <a:rPr lang="es" sz="1800">
                <a:solidFill>
                  <a:schemeClr val="dk1"/>
                </a:solidFill>
              </a:rPr>
              <a:t> es un conjunto de estrategias, tecnologías y herramientas que permiten </a:t>
            </a:r>
            <a:r>
              <a:rPr b="1" lang="es" sz="1800">
                <a:solidFill>
                  <a:schemeClr val="dk1"/>
                </a:solidFill>
              </a:rPr>
              <a:t>recopilar, analizar y visualizar datos</a:t>
            </a:r>
            <a:r>
              <a:rPr lang="es" sz="1800">
                <a:solidFill>
                  <a:schemeClr val="dk1"/>
                </a:solidFill>
              </a:rPr>
              <a:t> para tomar </a:t>
            </a:r>
            <a:r>
              <a:rPr b="1" lang="es" sz="1800">
                <a:solidFill>
                  <a:schemeClr val="dk1"/>
                </a:solidFill>
              </a:rPr>
              <a:t>decisiones empresariales informadas</a:t>
            </a:r>
            <a:r>
              <a:rPr lang="es" sz="1800">
                <a:solidFill>
                  <a:schemeClr val="dk1"/>
                </a:solidFill>
              </a:rPr>
              <a:t>.</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g34156db3297_0_2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1" name="Google Shape;71;g34156db3297_0_24"/>
          <p:cNvSpPr txBox="1"/>
          <p:nvPr/>
        </p:nvSpPr>
        <p:spPr>
          <a:xfrm>
            <a:off x="54375" y="839125"/>
            <a:ext cx="8973900" cy="423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800">
                <a:solidFill>
                  <a:schemeClr val="dk1"/>
                </a:solidFill>
              </a:rPr>
              <a:t>Características de Business Intelligence</a:t>
            </a:r>
            <a:endParaRPr b="1"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Análisis de datos</a:t>
            </a:r>
            <a:r>
              <a:rPr lang="es" sz="1800">
                <a:solidFill>
                  <a:schemeClr val="dk1"/>
                </a:solidFill>
              </a:rPr>
              <a:t> → Transforma grandes volúmenes de información en insights valiosos.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Visualización de datos</a:t>
            </a:r>
            <a:r>
              <a:rPr lang="es" sz="1800">
                <a:solidFill>
                  <a:schemeClr val="dk1"/>
                </a:solidFill>
              </a:rPr>
              <a:t> → Usa gráficos, dashboards e informes interactivos.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Automatización</a:t>
            </a:r>
            <a:r>
              <a:rPr lang="es" sz="1800">
                <a:solidFill>
                  <a:schemeClr val="dk1"/>
                </a:solidFill>
              </a:rPr>
              <a:t> → Facilita reportes en tiempo real para optimizar procesos.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Predicción</a:t>
            </a:r>
            <a:r>
              <a:rPr lang="es" sz="1800">
                <a:solidFill>
                  <a:schemeClr val="dk1"/>
                </a:solidFill>
              </a:rPr>
              <a:t> → Identifica tendencias y patrones para la toma de decisiones estratégicas.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Integración</a:t>
            </a:r>
            <a:r>
              <a:rPr lang="es" sz="1800">
                <a:solidFill>
                  <a:schemeClr val="dk1"/>
                </a:solidFill>
              </a:rPr>
              <a:t> → Se conecta con bases de datos, ERP, CRM y otros sistemas empresariales.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g34326848042_0_5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7" name="Google Shape;77;g34326848042_0_52"/>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78" name="Google Shape;78;g34326848042_0_52"/>
          <p:cNvSpPr txBox="1"/>
          <p:nvPr/>
        </p:nvSpPr>
        <p:spPr>
          <a:xfrm>
            <a:off x="31075" y="846900"/>
            <a:ext cx="9020700" cy="421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Beneficios de Business Intelligence</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Mejora en la toma de decisiones basada en datos.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Aumento de la eficiencia operativa gracias a la automatización de reportes.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Optimización de estrategias de negocio mediante análisis predictivo.</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Identificación de oportunidades y riesgos con modelos de datos avanzados.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Mayor competitividad al obtener información precisa y en tiempo real.</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g34326848042_0_6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4" name="Google Shape;84;g34326848042_0_60"/>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85" name="Google Shape;85;g34326848042_0_60"/>
          <p:cNvSpPr txBox="1"/>
          <p:nvPr/>
        </p:nvSpPr>
        <p:spPr>
          <a:xfrm>
            <a:off x="46625" y="808050"/>
            <a:ext cx="8973900" cy="425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Herramientas de Business Intelligence</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Power BI (Microsoft)</a:t>
            </a:r>
            <a:r>
              <a:rPr lang="es" sz="1800">
                <a:solidFill>
                  <a:schemeClr val="dk1"/>
                </a:solidFill>
              </a:rPr>
              <a:t> → Líder en visualización y análisis de datos.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Tableau</a:t>
            </a:r>
            <a:r>
              <a:rPr lang="es" sz="1800">
                <a:solidFill>
                  <a:schemeClr val="dk1"/>
                </a:solidFill>
              </a:rPr>
              <a:t> → Potente para dashboards interactivos.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Google Data Studio</a:t>
            </a:r>
            <a:r>
              <a:rPr lang="es" sz="1800">
                <a:solidFill>
                  <a:schemeClr val="dk1"/>
                </a:solidFill>
              </a:rPr>
              <a:t> → Integrado con herramientas de Google.</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Qlik Sense</a:t>
            </a:r>
            <a:r>
              <a:rPr lang="es" sz="1800">
                <a:solidFill>
                  <a:schemeClr val="dk1"/>
                </a:solidFill>
              </a:rPr>
              <a:t> → Análisis avanzado y exploración de datos.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SAP BusinessObjects</a:t>
            </a:r>
            <a:r>
              <a:rPr lang="es" sz="1800">
                <a:solidFill>
                  <a:schemeClr val="dk1"/>
                </a:solidFill>
              </a:rPr>
              <a:t> → Enfocado en grandes empresas.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g34326848042_0_6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1" name="Google Shape;91;g34326848042_0_68"/>
          <p:cNvSpPr txBox="1"/>
          <p:nvPr/>
        </p:nvSpPr>
        <p:spPr>
          <a:xfrm>
            <a:off x="38850" y="823575"/>
            <a:ext cx="9067200" cy="41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Aplicaciones de Business Intelligence</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Ventas y Marketing</a:t>
            </a:r>
            <a:r>
              <a:rPr lang="es" sz="1800">
                <a:solidFill>
                  <a:schemeClr val="dk1"/>
                </a:solidFill>
              </a:rPr>
              <a:t> → Análisis de clientes y predicción de tendencias.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Finanzas</a:t>
            </a:r>
            <a:r>
              <a:rPr lang="es" sz="1800">
                <a:solidFill>
                  <a:schemeClr val="dk1"/>
                </a:solidFill>
              </a:rPr>
              <a:t> → Evaluación de riesgos y optimización de presupuestos.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Salud </a:t>
            </a:r>
            <a:r>
              <a:rPr lang="es" sz="1800">
                <a:solidFill>
                  <a:schemeClr val="dk1"/>
                </a:solidFill>
              </a:rPr>
              <a:t>→ Análisis de datos clínicos y mejora de servicios médicos.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Retail </a:t>
            </a:r>
            <a:r>
              <a:rPr lang="es" sz="1800">
                <a:solidFill>
                  <a:schemeClr val="dk1"/>
                </a:solidFill>
              </a:rPr>
              <a:t>→ Gestión de inventarios y estrategias de precios.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Manufactura</a:t>
            </a:r>
            <a:r>
              <a:rPr lang="es" sz="1800">
                <a:solidFill>
                  <a:schemeClr val="dk1"/>
                </a:solidFill>
              </a:rPr>
              <a:t> → Optimización de la cadena de suministro.</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92" name="Google Shape;92;g34326848042_0_68"/>
          <p:cNvSpPr txBox="1"/>
          <p:nvPr/>
        </p:nvSpPr>
        <p:spPr>
          <a:xfrm>
            <a:off x="93225" y="4638475"/>
            <a:ext cx="62778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https://www.youtube.com/watch?v=DtONK8ALWl8</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g34326848042_0_7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8" name="Google Shape;98;g34326848042_0_76"/>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99" name="Google Shape;99;g34326848042_0_76"/>
          <p:cNvSpPr txBox="1"/>
          <p:nvPr/>
        </p:nvSpPr>
        <p:spPr>
          <a:xfrm>
            <a:off x="85475" y="784725"/>
            <a:ext cx="8989500" cy="699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s" sz="1800">
                <a:solidFill>
                  <a:schemeClr val="dk1"/>
                </a:solidFill>
              </a:rPr>
              <a:t>Business Intelligence (BI)</a:t>
            </a:r>
            <a:r>
              <a:rPr lang="es" sz="1800">
                <a:solidFill>
                  <a:schemeClr val="dk1"/>
                </a:solidFill>
              </a:rPr>
              <a:t> y </a:t>
            </a:r>
            <a:r>
              <a:rPr b="1" lang="es" sz="1800">
                <a:solidFill>
                  <a:schemeClr val="dk1"/>
                </a:solidFill>
              </a:rPr>
              <a:t>Minería de Datos (Data Mining)</a:t>
            </a:r>
            <a:r>
              <a:rPr lang="es" sz="1800">
                <a:solidFill>
                  <a:schemeClr val="dk1"/>
                </a:solidFill>
              </a:rPr>
              <a:t> son conceptos relacionados con el análisis de datos, pero tienen enfoques y objetivos distintos.</a:t>
            </a:r>
            <a:endParaRPr sz="1800">
              <a:solidFill>
                <a:schemeClr val="dk1"/>
              </a:solidFill>
            </a:endParaRPr>
          </a:p>
          <a:p>
            <a:pPr indent="0" lvl="0" marL="0" rtl="0" algn="l">
              <a:spcBef>
                <a:spcPts val="1200"/>
              </a:spcBef>
              <a:spcAft>
                <a:spcPts val="0"/>
              </a:spcAft>
              <a:buNone/>
            </a:pPr>
            <a:r>
              <a:t/>
            </a:r>
            <a:endParaRPr sz="1800">
              <a:solidFill>
                <a:schemeClr val="dk1"/>
              </a:solidFill>
            </a:endParaRPr>
          </a:p>
        </p:txBody>
      </p:sp>
      <p:pic>
        <p:nvPicPr>
          <p:cNvPr id="100" name="Google Shape;100;g34326848042_0_76"/>
          <p:cNvPicPr preferRelativeResize="0"/>
          <p:nvPr/>
        </p:nvPicPr>
        <p:blipFill>
          <a:blip r:embed="rId4">
            <a:alphaModFix/>
          </a:blip>
          <a:stretch>
            <a:fillRect/>
          </a:stretch>
        </p:blipFill>
        <p:spPr>
          <a:xfrm>
            <a:off x="85475" y="1553975"/>
            <a:ext cx="8824075" cy="3465200"/>
          </a:xfrm>
          <a:prstGeom prst="rect">
            <a:avLst/>
          </a:prstGeom>
          <a:noFill/>
          <a:ln>
            <a:noFill/>
          </a:ln>
        </p:spPr>
      </p:pic>
      <p:sp>
        <p:nvSpPr>
          <p:cNvPr id="101" name="Google Shape;101;g34326848042_0_76"/>
          <p:cNvSpPr txBox="1"/>
          <p:nvPr/>
        </p:nvSpPr>
        <p:spPr>
          <a:xfrm>
            <a:off x="2486275" y="-42725"/>
            <a:ext cx="3651900" cy="98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800">
                <a:solidFill>
                  <a:schemeClr val="dk1"/>
                </a:solidFill>
              </a:rPr>
              <a:t>Diferencia entre Business Intelligence (BI) y Minería de Datos (Data Mining)</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g34326848042_0_8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7" name="Google Shape;107;g34326848042_0_83"/>
          <p:cNvSpPr txBox="1"/>
          <p:nvPr/>
        </p:nvSpPr>
        <p:spPr>
          <a:xfrm>
            <a:off x="23300" y="808050"/>
            <a:ext cx="9082800" cy="425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Relación entre BI y Minería de Datos</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La minería de datos es una técnica dentro del BI</a:t>
            </a:r>
            <a:r>
              <a:rPr lang="es" sz="1800">
                <a:solidFill>
                  <a:schemeClr val="dk1"/>
                </a:solidFill>
              </a:rPr>
              <a:t>, ya que permite descubrir patrones ocultos que luego pueden ser visualizados en informes de Business Intelligence.</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BI analiza y muestra datos ya estructurados, mientras que la minería de datos </a:t>
            </a:r>
            <a:r>
              <a:rPr b="1" lang="es" sz="1800">
                <a:solidFill>
                  <a:schemeClr val="dk1"/>
                </a:solidFill>
              </a:rPr>
              <a:t>explora datos sin estructura para encontrar información valiosa</a:t>
            </a:r>
            <a:r>
              <a:rPr lang="es" sz="1800">
                <a:solidFill>
                  <a:schemeClr val="dk1"/>
                </a:solidFill>
              </a:rPr>
              <a:t>.</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g346e8a7765d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3" name="Google Shape;113;g346e8a7765d_0_0"/>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14" name="Google Shape;114;g346e8a7765d_0_0"/>
          <p:cNvSpPr txBox="1"/>
          <p:nvPr/>
        </p:nvSpPr>
        <p:spPr>
          <a:xfrm>
            <a:off x="62150" y="1017825"/>
            <a:ext cx="8989500" cy="402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800">
                <a:solidFill>
                  <a:schemeClr val="dk1"/>
                </a:solidFill>
              </a:rPr>
              <a:t>Conceptos Fundamentales de Workflow</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s" sz="1800">
                <a:solidFill>
                  <a:schemeClr val="dk1"/>
                </a:solidFill>
              </a:rPr>
              <a:t>Un </a:t>
            </a:r>
            <a:r>
              <a:rPr b="1" lang="es" sz="1800">
                <a:solidFill>
                  <a:schemeClr val="dk1"/>
                </a:solidFill>
              </a:rPr>
              <a:t>Workflow</a:t>
            </a:r>
            <a:r>
              <a:rPr lang="es" sz="1800">
                <a:solidFill>
                  <a:schemeClr val="dk1"/>
                </a:solidFill>
              </a:rPr>
              <a:t> (flujo de trabajo) es un conjunto de pasos secuenciales y automatizados que definen </a:t>
            </a:r>
            <a:r>
              <a:rPr b="1" lang="es" sz="1800">
                <a:solidFill>
                  <a:schemeClr val="dk1"/>
                </a:solidFill>
              </a:rPr>
              <a:t>cómo se ejecuta un proceso dentro de una organización</a:t>
            </a:r>
            <a:r>
              <a:rPr lang="es" sz="1800">
                <a:solidFill>
                  <a:schemeClr val="dk1"/>
                </a:solidFill>
              </a:rPr>
              <a:t>. Se utiliza para mejorar la eficiencia, reducir errores y optimizar la gestión de tareas.</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46e8a7765d_0_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0" name="Google Shape;120;g346e8a7765d_0_5"/>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21" name="Google Shape;121;g346e8a7765d_0_5"/>
          <p:cNvSpPr txBox="1"/>
          <p:nvPr/>
        </p:nvSpPr>
        <p:spPr>
          <a:xfrm>
            <a:off x="31075" y="815800"/>
            <a:ext cx="9028200" cy="42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Conceptos Claves en Workflow</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1. </a:t>
            </a:r>
            <a:r>
              <a:rPr b="1" lang="es" sz="1800">
                <a:solidFill>
                  <a:schemeClr val="dk1"/>
                </a:solidFill>
              </a:rPr>
              <a:t>Actividades o Tareas</a:t>
            </a:r>
            <a:r>
              <a:rPr lang="es" sz="1800">
                <a:solidFill>
                  <a:schemeClr val="dk1"/>
                </a:solidFill>
              </a:rPr>
              <a:t> → Acciones individuales que conforman el proceso.</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2. </a:t>
            </a:r>
            <a:r>
              <a:rPr b="1" lang="es" sz="1800">
                <a:solidFill>
                  <a:schemeClr val="dk1"/>
                </a:solidFill>
              </a:rPr>
              <a:t>Actores o Roles </a:t>
            </a:r>
            <a:r>
              <a:rPr lang="es" sz="1800">
                <a:solidFill>
                  <a:schemeClr val="dk1"/>
                </a:solidFill>
              </a:rPr>
              <a:t>→ Personas, equipos o sistemas responsables de ejecutar tareas.</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3. </a:t>
            </a:r>
            <a:r>
              <a:rPr b="1" lang="es" sz="1800">
                <a:solidFill>
                  <a:schemeClr val="dk1"/>
                </a:solidFill>
              </a:rPr>
              <a:t>Eventos</a:t>
            </a:r>
            <a:r>
              <a:rPr lang="es" sz="1800">
                <a:solidFill>
                  <a:schemeClr val="dk1"/>
                </a:solidFill>
              </a:rPr>
              <a:t> → Disparadores que inician, detienen o cambian el flujo del proceso.</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4. </a:t>
            </a:r>
            <a:r>
              <a:rPr b="1" lang="es" sz="1800">
                <a:solidFill>
                  <a:schemeClr val="dk1"/>
                </a:solidFill>
              </a:rPr>
              <a:t>Reglas de Negocio</a:t>
            </a:r>
            <a:r>
              <a:rPr lang="es" sz="1800">
                <a:solidFill>
                  <a:schemeClr val="dk1"/>
                </a:solidFill>
              </a:rPr>
              <a:t> → Condiciones y restricciones que determinan el flujo de ejecución.</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5. </a:t>
            </a:r>
            <a:r>
              <a:rPr b="1" lang="es" sz="1800">
                <a:solidFill>
                  <a:schemeClr val="dk1"/>
                </a:solidFill>
              </a:rPr>
              <a:t>Conectores o Transiciones</a:t>
            </a:r>
            <a:r>
              <a:rPr lang="es" sz="1800">
                <a:solidFill>
                  <a:schemeClr val="dk1"/>
                </a:solidFill>
              </a:rPr>
              <a:t> → Definen la secuencia entre tareas dentro del flujo.</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6. </a:t>
            </a:r>
            <a:r>
              <a:rPr b="1" lang="es" sz="1800">
                <a:solidFill>
                  <a:schemeClr val="dk1"/>
                </a:solidFill>
              </a:rPr>
              <a:t>Estados</a:t>
            </a:r>
            <a:r>
              <a:rPr lang="es" sz="1800">
                <a:solidFill>
                  <a:schemeClr val="dk1"/>
                </a:solidFill>
              </a:rPr>
              <a:t> → Situaciones en las que se encuentra un proceso en un momento dado.</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7. </a:t>
            </a:r>
            <a:r>
              <a:rPr b="1" lang="es" sz="1800">
                <a:solidFill>
                  <a:schemeClr val="dk1"/>
                </a:solidFill>
              </a:rPr>
              <a:t>Entrada y Salida </a:t>
            </a:r>
            <a:r>
              <a:rPr lang="es" sz="1800">
                <a:solidFill>
                  <a:schemeClr val="dk1"/>
                </a:solidFill>
              </a:rPr>
              <a:t>→ Datos o documentos que ingresan y resultan del flujo de trabajo.</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g346e8a7765d_0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7" name="Google Shape;127;g346e8a7765d_0_10"/>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28" name="Google Shape;128;g346e8a7765d_0_10"/>
          <p:cNvSpPr txBox="1"/>
          <p:nvPr/>
        </p:nvSpPr>
        <p:spPr>
          <a:xfrm>
            <a:off x="23300" y="784725"/>
            <a:ext cx="9059400" cy="435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Tipos de Workflow</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1. </a:t>
            </a:r>
            <a:r>
              <a:rPr b="1" lang="es" sz="1800">
                <a:solidFill>
                  <a:schemeClr val="dk1"/>
                </a:solidFill>
              </a:rPr>
              <a:t>Workflow Secuencial</a:t>
            </a:r>
            <a:r>
              <a:rPr lang="es" sz="1800">
                <a:solidFill>
                  <a:schemeClr val="dk1"/>
                </a:solidFill>
              </a:rPr>
              <a:t> → Sigue un orden fijo y predefinido de ejecución.</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2. </a:t>
            </a:r>
            <a:r>
              <a:rPr b="1" lang="es" sz="1800">
                <a:solidFill>
                  <a:schemeClr val="dk1"/>
                </a:solidFill>
              </a:rPr>
              <a:t>Workflow Condicional</a:t>
            </a:r>
            <a:r>
              <a:rPr lang="es" sz="1800">
                <a:solidFill>
                  <a:schemeClr val="dk1"/>
                </a:solidFill>
              </a:rPr>
              <a:t> → Se ejecuta según reglas o decisiones específicas.</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3. </a:t>
            </a:r>
            <a:r>
              <a:rPr b="1" lang="es" sz="1800">
                <a:solidFill>
                  <a:schemeClr val="dk1"/>
                </a:solidFill>
              </a:rPr>
              <a:t>Workflow Paralelo</a:t>
            </a:r>
            <a:r>
              <a:rPr lang="es" sz="1800">
                <a:solidFill>
                  <a:schemeClr val="dk1"/>
                </a:solidFill>
              </a:rPr>
              <a:t> → Permite ejecutar varias tareas simultáneamente.</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4. </a:t>
            </a:r>
            <a:r>
              <a:rPr b="1" lang="es" sz="1800">
                <a:solidFill>
                  <a:schemeClr val="dk1"/>
                </a:solidFill>
              </a:rPr>
              <a:t>Workflow Colaborativo</a:t>
            </a:r>
            <a:r>
              <a:rPr lang="es" sz="1800">
                <a:solidFill>
                  <a:schemeClr val="dk1"/>
                </a:solidFill>
              </a:rPr>
              <a:t> → Diferentes usuarios trabajan juntos en tareas interdependientes.</a:t>
            </a:r>
            <a:endParaRPr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5. </a:t>
            </a:r>
            <a:r>
              <a:rPr b="1" lang="es" sz="1800">
                <a:solidFill>
                  <a:schemeClr val="dk1"/>
                </a:solidFill>
              </a:rPr>
              <a:t>Workflow Ad-hoc</a:t>
            </a:r>
            <a:r>
              <a:rPr lang="es" sz="1800">
                <a:solidFill>
                  <a:schemeClr val="dk1"/>
                </a:solidFill>
              </a:rPr>
              <a:t> → Flexible y permite ajustes en tiempo real según necesidades.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g346e8a7765d_0_1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4" name="Google Shape;134;g346e8a7765d_0_15"/>
          <p:cNvSpPr txBox="1"/>
          <p:nvPr/>
        </p:nvSpPr>
        <p:spPr>
          <a:xfrm>
            <a:off x="23300" y="800275"/>
            <a:ext cx="9028200" cy="425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Beneficios del Workflow</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Automatización de Procesos</a:t>
            </a:r>
            <a:r>
              <a:rPr lang="es" sz="1800">
                <a:solidFill>
                  <a:schemeClr val="dk1"/>
                </a:solidFill>
              </a:rPr>
              <a:t> → Reduce tiempos y errores humanos.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Mayor Transparencia</a:t>
            </a:r>
            <a:r>
              <a:rPr lang="es" sz="1800">
                <a:solidFill>
                  <a:schemeClr val="dk1"/>
                </a:solidFill>
              </a:rPr>
              <a:t> → Facilita el seguimiento del estado de cada tarea.</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Optimización de Recursos</a:t>
            </a:r>
            <a:r>
              <a:rPr lang="es" sz="1800">
                <a:solidFill>
                  <a:schemeClr val="dk1"/>
                </a:solidFill>
              </a:rPr>
              <a:t> → Asigna tareas de manera eficiente.</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Integración con Otras Tecnologías</a:t>
            </a:r>
            <a:r>
              <a:rPr lang="es" sz="1800">
                <a:solidFill>
                  <a:schemeClr val="dk1"/>
                </a:solidFill>
              </a:rPr>
              <a:t> → Se complementa con ERP, CRM y herramientas de BI.</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Mejora la Toma de Decisiones</a:t>
            </a:r>
            <a:r>
              <a:rPr lang="es" sz="1800">
                <a:solidFill>
                  <a:schemeClr val="dk1"/>
                </a:solidFill>
              </a:rPr>
              <a:t> → Proporciona información clara sobre el rendimiento del proceso.</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346e8a7765d_0_2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0" name="Google Shape;140;g346e8a7765d_0_20"/>
          <p:cNvSpPr txBox="1"/>
          <p:nvPr/>
        </p:nvSpPr>
        <p:spPr>
          <a:xfrm>
            <a:off x="38850" y="831350"/>
            <a:ext cx="8888400" cy="419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¿Cómo crear un workflow?</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l">
              <a:spcBef>
                <a:spcPts val="0"/>
              </a:spcBef>
              <a:spcAft>
                <a:spcPts val="0"/>
              </a:spcAft>
              <a:buClr>
                <a:schemeClr val="dk1"/>
              </a:buClr>
              <a:buSzPts val="1100"/>
              <a:buFont typeface="Arial"/>
              <a:buNone/>
            </a:pPr>
            <a:r>
              <a:rPr lang="es" sz="1800">
                <a:solidFill>
                  <a:schemeClr val="dk1"/>
                </a:solidFill>
              </a:rPr>
              <a:t>Cuando deseamos crear un workflow automatizado, debemos responder tres grandes preguntas: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rPr b="1" lang="es" sz="1800">
                <a:solidFill>
                  <a:schemeClr val="dk1"/>
                </a:solidFill>
              </a:rPr>
              <a:t>¿Quiénes?</a:t>
            </a:r>
            <a:r>
              <a:rPr lang="es" sz="1800">
                <a:solidFill>
                  <a:schemeClr val="dk1"/>
                </a:solidFill>
              </a:rPr>
              <a:t> Responder esta pregunta nos permite identificar los participantes, sean humanos o sistemas, que completan las diferentes tareas de un workflow.</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rPr b="1" lang="es" sz="1800">
                <a:solidFill>
                  <a:schemeClr val="dk1"/>
                </a:solidFill>
              </a:rPr>
              <a:t>¿Qué hacen?</a:t>
            </a:r>
            <a:r>
              <a:rPr lang="es" sz="1800">
                <a:solidFill>
                  <a:schemeClr val="dk1"/>
                </a:solidFill>
              </a:rPr>
              <a:t> Esta pregunta nos obliga a identificar todas las tareas que son relevantes para la consecución del objetivo de negocio.</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b="1" lang="es" sz="1800">
                <a:solidFill>
                  <a:schemeClr val="dk1"/>
                </a:solidFill>
              </a:rPr>
              <a:t>¿Sobre qué información?</a:t>
            </a:r>
            <a:r>
              <a:rPr lang="es" sz="1800">
                <a:solidFill>
                  <a:schemeClr val="dk1"/>
                </a:solidFill>
              </a:rPr>
              <a:t> Esta última interrogante, nos ayuda a definir los datos relevantes que los participantes necesitan para completar sus tareas.</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g346e8a7765d_0_2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6" name="Google Shape;146;g346e8a7765d_0_25"/>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47" name="Google Shape;147;g346e8a7765d_0_25"/>
          <p:cNvSpPr txBox="1"/>
          <p:nvPr/>
        </p:nvSpPr>
        <p:spPr>
          <a:xfrm>
            <a:off x="62150" y="831350"/>
            <a:ext cx="9081900" cy="9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rPr>
              <a:t>El formulario asociado al workflow, que contendrá los campos relevantes. Esto corresponde al “</a:t>
            </a:r>
            <a:r>
              <a:rPr b="1" lang="es">
                <a:solidFill>
                  <a:schemeClr val="dk1"/>
                </a:solidFill>
              </a:rPr>
              <a:t>¿sobre qué información?</a:t>
            </a:r>
            <a:r>
              <a:rPr lang="es">
                <a:solidFill>
                  <a:schemeClr val="dk1"/>
                </a:solidFill>
              </a:rPr>
              <a:t>“. Estos campos almacenarán la información relevante. Continuando con el ejemplo de la “rendición de viáticos”, un campo sería el nombre de quien solicita la rendición de viáticos, la lista de gastos con sus conceptos y montos, la fecha del gasto, etc.</a:t>
            </a:r>
            <a:endParaRPr>
              <a:solidFill>
                <a:schemeClr val="dk1"/>
              </a:solidFill>
            </a:endParaRPr>
          </a:p>
        </p:txBody>
      </p:sp>
      <p:sp>
        <p:nvSpPr>
          <p:cNvPr id="148" name="Google Shape;148;g346e8a7765d_0_25"/>
          <p:cNvSpPr txBox="1"/>
          <p:nvPr/>
        </p:nvSpPr>
        <p:spPr>
          <a:xfrm>
            <a:off x="2688300" y="178700"/>
            <a:ext cx="2820300" cy="4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Ejemplo</a:t>
            </a:r>
            <a:endParaRPr sz="1800">
              <a:solidFill>
                <a:schemeClr val="dk2"/>
              </a:solidFill>
            </a:endParaRPr>
          </a:p>
        </p:txBody>
      </p:sp>
      <p:pic>
        <p:nvPicPr>
          <p:cNvPr id="149" name="Google Shape;149;g346e8a7765d_0_25"/>
          <p:cNvPicPr preferRelativeResize="0"/>
          <p:nvPr/>
        </p:nvPicPr>
        <p:blipFill>
          <a:blip r:embed="rId4">
            <a:alphaModFix/>
          </a:blip>
          <a:stretch>
            <a:fillRect/>
          </a:stretch>
        </p:blipFill>
        <p:spPr>
          <a:xfrm>
            <a:off x="365175" y="1810250"/>
            <a:ext cx="8173650" cy="3247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g346e8a7765d_0_3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5" name="Google Shape;155;g346e8a7765d_0_30"/>
          <p:cNvSpPr txBox="1"/>
          <p:nvPr/>
        </p:nvSpPr>
        <p:spPr>
          <a:xfrm>
            <a:off x="23300" y="1406300"/>
            <a:ext cx="8919600" cy="3620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El diagrama del proceso, es la representación gráfica de las tareas y condiciones que seguirá cada instancia de proceso, y quien debe completar cada una. Esto corresponde a “</a:t>
            </a:r>
            <a:r>
              <a:rPr b="1" lang="es" sz="1800">
                <a:solidFill>
                  <a:schemeClr val="dk1"/>
                </a:solidFill>
              </a:rPr>
              <a:t>¿quiénes?</a:t>
            </a:r>
            <a:r>
              <a:rPr lang="es" sz="1800">
                <a:solidFill>
                  <a:schemeClr val="dk1"/>
                </a:solidFill>
              </a:rPr>
              <a:t>” y “</a:t>
            </a:r>
            <a:r>
              <a:rPr b="1" lang="es" sz="1800">
                <a:solidFill>
                  <a:schemeClr val="dk1"/>
                </a:solidFill>
              </a:rPr>
              <a:t>¿qué hacen?</a:t>
            </a:r>
            <a:r>
              <a:rPr lang="es" sz="1800">
                <a:solidFill>
                  <a:schemeClr val="dk1"/>
                </a:solidFill>
              </a:rPr>
              <a:t>“. En el ejemplo que venimos manejando, serían las etapas de “Registrar Gasto”, “Revisar Comprobantes”, etc. Notar que este análisis paso a paso del proceso, nos permite eliminar la tarea “Recibir Comprobantes”. Esta tarea antes se hacía manualmente pero ya no es necesaria con el proceso automatizado, aumentando la productividad del negocio. Para el diagrama del proceso se puden utilizar diferentes notaciones gráficas, en INTEGRADOC utilizamos el estándar internacional mundialmente más aceptado: BPMN.</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g346e8a7765d_0_3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1" name="Google Shape;161;g346e8a7765d_0_35"/>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id="162" name="Google Shape;162;g346e8a7765d_0_35"/>
          <p:cNvPicPr preferRelativeResize="0"/>
          <p:nvPr/>
        </p:nvPicPr>
        <p:blipFill>
          <a:blip r:embed="rId4">
            <a:alphaModFix/>
          </a:blip>
          <a:stretch>
            <a:fillRect/>
          </a:stretch>
        </p:blipFill>
        <p:spPr>
          <a:xfrm>
            <a:off x="85475" y="901275"/>
            <a:ext cx="8756374" cy="4187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g346e8a7765d_0_4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8" name="Google Shape;168;g346e8a7765d_0_40"/>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69" name="Google Shape;169;g346e8a7765d_0_40"/>
          <p:cNvSpPr txBox="1"/>
          <p:nvPr/>
        </p:nvSpPr>
        <p:spPr>
          <a:xfrm>
            <a:off x="77700" y="839125"/>
            <a:ext cx="8849700" cy="418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Principios Fundamentales de la Gestión Documental.</a:t>
            </a:r>
            <a:endParaRPr b="1" sz="1800">
              <a:solidFill>
                <a:schemeClr val="dk1"/>
              </a:solidFill>
            </a:endParaRPr>
          </a:p>
          <a:p>
            <a:pPr indent="0" lvl="0" marL="0" rtl="0" algn="ctr">
              <a:spcBef>
                <a:spcPts val="0"/>
              </a:spcBef>
              <a:spcAft>
                <a:spcPts val="0"/>
              </a:spcAft>
              <a:buNone/>
            </a:pPr>
            <a:r>
              <a:t/>
            </a:r>
            <a:endParaRPr b="1" sz="1800">
              <a:solidFill>
                <a:schemeClr val="dk1"/>
              </a:solidFill>
            </a:endParaRPr>
          </a:p>
          <a:p>
            <a:pPr indent="0" lvl="0" marL="0" rtl="0" algn="ctr">
              <a:spcBef>
                <a:spcPts val="0"/>
              </a:spcBef>
              <a:spcAft>
                <a:spcPts val="0"/>
              </a:spcAft>
              <a:buNone/>
            </a:pPr>
            <a:r>
              <a:t/>
            </a:r>
            <a:endParaRPr b="1" sz="1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 sz="1800">
                <a:solidFill>
                  <a:schemeClr val="dk1"/>
                </a:solidFill>
              </a:rPr>
              <a:t>La </a:t>
            </a:r>
            <a:r>
              <a:rPr b="1" lang="es" sz="1800">
                <a:solidFill>
                  <a:schemeClr val="dk1"/>
                </a:solidFill>
              </a:rPr>
              <a:t>gestión documental</a:t>
            </a:r>
            <a:r>
              <a:rPr lang="es" sz="1800">
                <a:solidFill>
                  <a:schemeClr val="dk1"/>
                </a:solidFill>
              </a:rPr>
              <a:t> es el conjunto de procesos y normas que regulan la creación, organización, almacenamiento y disposición de documentos en una organización. Su objetivo es </a:t>
            </a:r>
            <a:r>
              <a:rPr b="1" lang="es" sz="1800">
                <a:solidFill>
                  <a:schemeClr val="dk1"/>
                </a:solidFill>
              </a:rPr>
              <a:t>garantizar la accesibilidad, seguridad y preservación de la información</a:t>
            </a:r>
            <a:r>
              <a:rPr lang="es" sz="1800">
                <a:solidFill>
                  <a:schemeClr val="dk1"/>
                </a:solidFill>
              </a:rPr>
              <a:t>.</a:t>
            </a:r>
            <a:endParaRPr sz="1800">
              <a:solidFill>
                <a:schemeClr val="dk1"/>
              </a:solidFill>
            </a:endParaRPr>
          </a:p>
          <a:p>
            <a:pPr indent="0" lvl="0" marL="0" rtl="0" algn="l">
              <a:spcBef>
                <a:spcPts val="1200"/>
              </a:spcBef>
              <a:spcAft>
                <a:spcPts val="0"/>
              </a:spcAft>
              <a:buNone/>
            </a:pPr>
            <a:r>
              <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g346e8a7765d_0_9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5" name="Google Shape;175;g346e8a7765d_0_90"/>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76" name="Google Shape;176;g346e8a7765d_0_90"/>
          <p:cNvSpPr txBox="1"/>
          <p:nvPr/>
        </p:nvSpPr>
        <p:spPr>
          <a:xfrm>
            <a:off x="77700" y="839125"/>
            <a:ext cx="8849700" cy="4187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s">
                <a:solidFill>
                  <a:schemeClr val="dk1"/>
                </a:solidFill>
              </a:rPr>
              <a:t>Autenticidad</a:t>
            </a:r>
            <a:r>
              <a:rPr lang="es">
                <a:solidFill>
                  <a:schemeClr val="dk1"/>
                </a:solidFill>
              </a:rPr>
              <a:t> → Un documento debe ser genuino, confiable y verificable, garantizando su origen.</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Integridad</a:t>
            </a:r>
            <a:r>
              <a:rPr lang="es">
                <a:solidFill>
                  <a:schemeClr val="dk1"/>
                </a:solidFill>
              </a:rPr>
              <a:t> → La información del documento no debe ser alterada sin dejar rastro, asegurando su completitud y fiabilidad.</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Disponibilidad </a:t>
            </a:r>
            <a:r>
              <a:rPr lang="es">
                <a:solidFill>
                  <a:schemeClr val="dk1"/>
                </a:solidFill>
              </a:rPr>
              <a:t>→ Los documentos deben estar accesibles cuando y donde se necesiten, según los permisos establecidos.</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Confidencialidad</a:t>
            </a:r>
            <a:r>
              <a:rPr lang="es">
                <a:solidFill>
                  <a:schemeClr val="dk1"/>
                </a:solidFill>
              </a:rPr>
              <a:t> → La información debe ser protegida para que solo personas autorizadas puedan acceder a ella.</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Organización</a:t>
            </a:r>
            <a:r>
              <a:rPr lang="es">
                <a:solidFill>
                  <a:schemeClr val="dk1"/>
                </a:solidFill>
              </a:rPr>
              <a:t> → Los documentos deben seguir una estructura lógica y clara para su fácil recuperación y gestión.</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Clasificación y Metadatos</a:t>
            </a:r>
            <a:r>
              <a:rPr lang="es">
                <a:solidFill>
                  <a:schemeClr val="dk1"/>
                </a:solidFill>
              </a:rPr>
              <a:t> → Se deben etiquetar con información clave para facilitar su búsqueda y categorización.</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Seguridad y Protección</a:t>
            </a:r>
            <a:r>
              <a:rPr lang="es">
                <a:solidFill>
                  <a:schemeClr val="dk1"/>
                </a:solidFill>
              </a:rPr>
              <a:t> → Se deben implementar copias de seguridad, cifrado y control de acceso para evitar pérdidas o accesos no autorizados.</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Ciclo de Vida Documental </a:t>
            </a:r>
            <a:r>
              <a:rPr lang="es">
                <a:solidFill>
                  <a:schemeClr val="dk1"/>
                </a:solidFill>
              </a:rPr>
              <a:t>→ Todo documento sigue un proceso desde su creación, uso, almacenamiento, conservación o eliminación.</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Cumplimiento Legal</a:t>
            </a:r>
            <a:r>
              <a:rPr lang="es">
                <a:solidFill>
                  <a:schemeClr val="dk1"/>
                </a:solidFill>
              </a:rPr>
              <a:t> → Debe alinearse con regulaciones y normativas para garantizar el cumplimiento de leyes y auditorías.</a:t>
            </a:r>
            <a:endParaRPr>
              <a:solidFill>
                <a:schemeClr val="dk1"/>
              </a:solidFill>
            </a:endParaRPr>
          </a:p>
          <a:p>
            <a:pPr indent="-317500" lvl="0" marL="457200" rtl="0" algn="l">
              <a:spcBef>
                <a:spcPts val="0"/>
              </a:spcBef>
              <a:spcAft>
                <a:spcPts val="0"/>
              </a:spcAft>
              <a:buClr>
                <a:schemeClr val="dk1"/>
              </a:buClr>
              <a:buSzPts val="1400"/>
              <a:buChar char="●"/>
            </a:pPr>
            <a:r>
              <a:rPr b="1" lang="es">
                <a:solidFill>
                  <a:schemeClr val="dk1"/>
                </a:solidFill>
              </a:rPr>
              <a:t>Digitalización y Automatización</a:t>
            </a:r>
            <a:r>
              <a:rPr lang="es">
                <a:solidFill>
                  <a:schemeClr val="dk1"/>
                </a:solidFill>
              </a:rPr>
              <a:t> → Uso de herramientas tecnológicas para mejorar la eficiencia en la gestión de documentos.</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77" name="Google Shape;177;g346e8a7765d_0_90"/>
          <p:cNvSpPr txBox="1"/>
          <p:nvPr/>
        </p:nvSpPr>
        <p:spPr>
          <a:xfrm>
            <a:off x="2540675" y="0"/>
            <a:ext cx="3201000" cy="6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800">
                <a:solidFill>
                  <a:schemeClr val="dk1"/>
                </a:solidFill>
              </a:rPr>
              <a:t>Principios Claves de la Gestión Documental</a:t>
            </a:r>
            <a:endParaRPr b="1"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