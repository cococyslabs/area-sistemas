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 roundtripDataSignature="AMtx7mhcMhL/c8oHASH0V3kIf4AikB7F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F7BA4A-8F42-4994-B74C-66ACEBA85D24}">
  <a:tblStyle styleId="{57F7BA4A-8F42-4994-B74C-66ACEBA85D2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853e9ab9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d853e9ab94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853e9ab9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d853e9ab9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853e9ab9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d853e9ab94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8fa948c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d8fa948c4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d8fa948c4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2d8fa948c4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8fa948c4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d8fa948c4e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d8fa948c4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2d8fa948c4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ef33d4d8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3ef33d4d85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8fa948c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d8fa948c4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d8fa948c4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d8fa948c4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d8fa948c4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d8fa948c4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8fa948c4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d8fa948c4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dcf99f76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2dcf99f76a9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d8fa948c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d8fa948c4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d8fa948c4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2d8fa948c4e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39a09cea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39a09cea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9a09cea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39a09cea5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9a09cea5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39a09cea5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www.youtube.com/watch?v=HvzO18fUjq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s://www.youtube.com/watch?v=8wcFCAPLQZ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{57F7BA4A-8F42-4994-B74C-66ACEBA85D24}</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Lunes, 10/03/2025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92650" y="2132750"/>
            <a:ext cx="514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SISTEMAS ORGANIZACIONALES Y GERENCIALES 2 Sección P</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d853e9ab94_0_2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d853e9ab94_0_26"/>
          <p:cNvSpPr txBox="1"/>
          <p:nvPr/>
        </p:nvSpPr>
        <p:spPr>
          <a:xfrm>
            <a:off x="3177800" y="279700"/>
            <a:ext cx="19347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Data Warehouse</a:t>
            </a:r>
            <a:endParaRPr sz="1800">
              <a:solidFill>
                <a:schemeClr val="dk1"/>
              </a:solidFill>
            </a:endParaRPr>
          </a:p>
        </p:txBody>
      </p:sp>
      <p:sp>
        <p:nvSpPr>
          <p:cNvPr id="64" name="Google Shape;64;g2d853e9ab94_0_26"/>
          <p:cNvSpPr txBox="1"/>
          <p:nvPr/>
        </p:nvSpPr>
        <p:spPr>
          <a:xfrm>
            <a:off x="93225" y="699275"/>
            <a:ext cx="8966100" cy="4351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Un Data Warehouse (Almacén de Datos) es un sistema diseñado para almacenar, integrar y analizar grandes volúmenes de datos provenientes de múltiples fuentes dentro de una empresa. Su objetivo es facilitar la toma de decisiones estratégicas mediante la consolidación y organización eficiente de la información.</a:t>
            </a:r>
            <a:endParaRPr sz="18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s" sz="1800">
                <a:solidFill>
                  <a:schemeClr val="dk1"/>
                </a:solidFill>
              </a:rPr>
              <a:t>Características Clave de un Data Warehouse</a:t>
            </a:r>
            <a:endParaRPr b="1" sz="1800">
              <a:solidFill>
                <a:schemeClr val="dk1"/>
              </a:solidFill>
            </a:endParaRPr>
          </a:p>
          <a:p>
            <a:pPr indent="0" lvl="0" marL="0" rtl="0" algn="l">
              <a:lnSpc>
                <a:spcPct val="115000"/>
              </a:lnSpc>
              <a:spcBef>
                <a:spcPts val="1200"/>
              </a:spcBef>
              <a:spcAft>
                <a:spcPts val="1200"/>
              </a:spcAft>
              <a:buNone/>
            </a:pPr>
            <a:r>
              <a:rPr lang="es" sz="1800">
                <a:solidFill>
                  <a:schemeClr val="dk1"/>
                </a:solidFill>
              </a:rPr>
              <a:t>✔ </a:t>
            </a:r>
            <a:r>
              <a:rPr b="1" lang="es" sz="1800">
                <a:solidFill>
                  <a:schemeClr val="dk1"/>
                </a:solidFill>
              </a:rPr>
              <a:t>Integración de Datos:</a:t>
            </a:r>
            <a:r>
              <a:rPr lang="es" sz="1800">
                <a:solidFill>
                  <a:schemeClr val="dk1"/>
                </a:solidFill>
              </a:rPr>
              <a:t> Reúne información de distintos sistemas (ERP, CRM, bases de datos, redes sociales, etc.).</a:t>
            </a:r>
            <a:br>
              <a:rPr lang="es" sz="1800">
                <a:solidFill>
                  <a:schemeClr val="dk1"/>
                </a:solidFill>
              </a:rPr>
            </a:br>
            <a:r>
              <a:rPr lang="es" sz="1800">
                <a:solidFill>
                  <a:schemeClr val="dk1"/>
                </a:solidFill>
              </a:rPr>
              <a:t> ✔ </a:t>
            </a:r>
            <a:r>
              <a:rPr b="1" lang="es" sz="1800">
                <a:solidFill>
                  <a:schemeClr val="dk1"/>
                </a:solidFill>
              </a:rPr>
              <a:t>Optimización para Análisis:</a:t>
            </a:r>
            <a:r>
              <a:rPr lang="es" sz="1800">
                <a:solidFill>
                  <a:schemeClr val="dk1"/>
                </a:solidFill>
              </a:rPr>
              <a:t> Diseñado para consultas rápidas y generación de reportes.</a:t>
            </a:r>
            <a:br>
              <a:rPr lang="es" sz="1800">
                <a:solidFill>
                  <a:schemeClr val="dk1"/>
                </a:solidFill>
              </a:rPr>
            </a:br>
            <a:r>
              <a:rPr lang="es" sz="1800">
                <a:solidFill>
                  <a:schemeClr val="dk1"/>
                </a:solidFill>
              </a:rPr>
              <a:t> ✔ </a:t>
            </a:r>
            <a:r>
              <a:rPr b="1" lang="es" sz="1800">
                <a:solidFill>
                  <a:schemeClr val="dk1"/>
                </a:solidFill>
              </a:rPr>
              <a:t>Histórico de Datos:</a:t>
            </a:r>
            <a:r>
              <a:rPr lang="es" sz="1800">
                <a:solidFill>
                  <a:schemeClr val="dk1"/>
                </a:solidFill>
              </a:rPr>
              <a:t> Permite almacenar información a largo plazo para análisis de tendencias.</a:t>
            </a:r>
            <a:br>
              <a:rPr lang="es" sz="1800">
                <a:solidFill>
                  <a:schemeClr val="dk1"/>
                </a:solidFill>
              </a:rPr>
            </a:br>
            <a:r>
              <a:rPr lang="es" sz="1800">
                <a:solidFill>
                  <a:schemeClr val="dk1"/>
                </a:solidFill>
              </a:rPr>
              <a:t> </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d853e9ab94_0_3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d853e9ab94_0_31"/>
          <p:cNvSpPr txBox="1"/>
          <p:nvPr/>
        </p:nvSpPr>
        <p:spPr>
          <a:xfrm>
            <a:off x="0" y="839125"/>
            <a:ext cx="9090600" cy="421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1800">
                <a:solidFill>
                  <a:schemeClr val="dk1"/>
                </a:solidFill>
              </a:rPr>
              <a:t>✔ </a:t>
            </a:r>
            <a:r>
              <a:rPr b="1" lang="es" sz="1800">
                <a:solidFill>
                  <a:schemeClr val="dk1"/>
                </a:solidFill>
              </a:rPr>
              <a:t>No Volátil:</a:t>
            </a:r>
            <a:r>
              <a:rPr lang="es" sz="1800">
                <a:solidFill>
                  <a:schemeClr val="dk1"/>
                </a:solidFill>
              </a:rPr>
              <a:t> Los datos no se modifican en tiempo real, lo que garantiza estabilidad en los análisis.</a:t>
            </a:r>
            <a:br>
              <a:rPr lang="es" sz="1800">
                <a:solidFill>
                  <a:schemeClr val="dk1"/>
                </a:solidFill>
              </a:rPr>
            </a:br>
            <a:r>
              <a:rPr lang="es" sz="1800">
                <a:solidFill>
                  <a:schemeClr val="dk1"/>
                </a:solidFill>
              </a:rPr>
              <a:t> ✔ </a:t>
            </a:r>
            <a:r>
              <a:rPr b="1" lang="es" sz="1800">
                <a:solidFill>
                  <a:schemeClr val="dk1"/>
                </a:solidFill>
              </a:rPr>
              <a:t>Estructura Multidimensional:</a:t>
            </a:r>
            <a:r>
              <a:rPr lang="es" sz="1800">
                <a:solidFill>
                  <a:schemeClr val="dk1"/>
                </a:solidFill>
              </a:rPr>
              <a:t> Organiza datos en modelos como esquemas estrella o copo de nieve.</a:t>
            </a:r>
            <a:endParaRPr sz="1800">
              <a:solidFill>
                <a:schemeClr val="dk1"/>
              </a:solidFill>
            </a:endParaRPr>
          </a:p>
          <a:p>
            <a:pPr indent="0" lvl="0" marL="0" rtl="0" algn="ctr">
              <a:lnSpc>
                <a:spcPct val="115000"/>
              </a:lnSpc>
              <a:spcBef>
                <a:spcPts val="1200"/>
              </a:spcBef>
              <a:spcAft>
                <a:spcPts val="0"/>
              </a:spcAft>
              <a:buNone/>
            </a:pPr>
            <a:r>
              <a:rPr b="1" lang="es" sz="1700">
                <a:solidFill>
                  <a:schemeClr val="dk1"/>
                </a:solidFill>
              </a:rPr>
              <a:t>¿Cómo Funciona un Data Warehouse?</a:t>
            </a:r>
            <a:endParaRPr b="1" sz="1700">
              <a:solidFill>
                <a:schemeClr val="dk1"/>
              </a:solidFill>
            </a:endParaRPr>
          </a:p>
          <a:p>
            <a:pPr indent="-336550" lvl="0" marL="457200" rtl="0" algn="l">
              <a:lnSpc>
                <a:spcPct val="115000"/>
              </a:lnSpc>
              <a:spcBef>
                <a:spcPts val="1200"/>
              </a:spcBef>
              <a:spcAft>
                <a:spcPts val="0"/>
              </a:spcAft>
              <a:buClr>
                <a:schemeClr val="dk1"/>
              </a:buClr>
              <a:buSzPts val="1700"/>
              <a:buChar char="●"/>
            </a:pPr>
            <a:r>
              <a:rPr b="1" lang="es" sz="1700">
                <a:solidFill>
                  <a:schemeClr val="dk1"/>
                </a:solidFill>
              </a:rPr>
              <a:t>Extracción de Datos:</a:t>
            </a:r>
            <a:r>
              <a:rPr lang="es" sz="1700">
                <a:solidFill>
                  <a:schemeClr val="dk1"/>
                </a:solidFill>
              </a:rPr>
              <a:t> Recopila información de diversas fuentes (ERP, CRM, bases de datos operacionales, archivos, etc.).</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s" sz="1700">
                <a:solidFill>
                  <a:schemeClr val="dk1"/>
                </a:solidFill>
              </a:rPr>
              <a:t>Transformación</a:t>
            </a:r>
            <a:r>
              <a:rPr lang="es" sz="1700">
                <a:solidFill>
                  <a:schemeClr val="dk1"/>
                </a:solidFill>
              </a:rPr>
              <a:t>: Limpia, normaliza y estructura los datos para su análisis.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s" sz="1700">
                <a:solidFill>
                  <a:schemeClr val="dk1"/>
                </a:solidFill>
              </a:rPr>
              <a:t>Carga (ETL - Extract, Transform, Load):</a:t>
            </a:r>
            <a:r>
              <a:rPr lang="es" sz="1700">
                <a:solidFill>
                  <a:schemeClr val="dk1"/>
                </a:solidFill>
              </a:rPr>
              <a:t> Almacena los datos procesados en el Data Warehouse.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s" sz="1700">
                <a:solidFill>
                  <a:schemeClr val="dk1"/>
                </a:solidFill>
              </a:rPr>
              <a:t>Consultas y Reportes:</a:t>
            </a:r>
            <a:r>
              <a:rPr lang="es" sz="1700">
                <a:solidFill>
                  <a:schemeClr val="dk1"/>
                </a:solidFill>
              </a:rPr>
              <a:t> Se generan dashboards, análisis de tendencias y reportes para la toma de decisiones.</a:t>
            </a:r>
            <a:endParaRPr sz="17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g2d853e9ab94_0_4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6" name="Google Shape;76;g2d853e9ab94_0_41"/>
          <p:cNvSpPr txBox="1"/>
          <p:nvPr/>
        </p:nvSpPr>
        <p:spPr>
          <a:xfrm>
            <a:off x="46625" y="808050"/>
            <a:ext cx="9043800" cy="433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Beneficios de un Data Warehouse</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Mejora en la toma de decisiones:</a:t>
            </a:r>
            <a:r>
              <a:rPr lang="es" sz="1800">
                <a:solidFill>
                  <a:schemeClr val="dk1"/>
                </a:solidFill>
              </a:rPr>
              <a:t> Datos consolidados y organizados para análisis confiables.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Acceso rápido a información histórica:</a:t>
            </a:r>
            <a:r>
              <a:rPr lang="es" sz="1800">
                <a:solidFill>
                  <a:schemeClr val="dk1"/>
                </a:solidFill>
              </a:rPr>
              <a:t> Facilita comparaciones y predicciones.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Optimización de procesos empresariales:</a:t>
            </a:r>
            <a:r>
              <a:rPr lang="es" sz="1800">
                <a:solidFill>
                  <a:schemeClr val="dk1"/>
                </a:solidFill>
              </a:rPr>
              <a:t> Permite detectar oportunidades y riesgos.</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Mayor eficiencia en reportes y análisis:</a:t>
            </a:r>
            <a:r>
              <a:rPr lang="es" sz="1800">
                <a:solidFill>
                  <a:schemeClr val="dk1"/>
                </a:solidFill>
              </a:rPr>
              <a:t> Reduce el tiempo de generación de informes.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2d8fa948c4e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2" name="Google Shape;82;g2d8fa948c4e_0_0"/>
          <p:cNvSpPr txBox="1"/>
          <p:nvPr/>
        </p:nvSpPr>
        <p:spPr>
          <a:xfrm>
            <a:off x="1942425" y="707025"/>
            <a:ext cx="5003700" cy="44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Modelos de Diseño de un Data Warehouse</a:t>
            </a:r>
            <a:endParaRPr b="1" sz="1800">
              <a:solidFill>
                <a:schemeClr val="dk1"/>
              </a:solidFill>
            </a:endParaRPr>
          </a:p>
        </p:txBody>
      </p:sp>
      <p:sp>
        <p:nvSpPr>
          <p:cNvPr id="83" name="Google Shape;83;g2d8fa948c4e_0_0"/>
          <p:cNvSpPr txBox="1"/>
          <p:nvPr/>
        </p:nvSpPr>
        <p:spPr>
          <a:xfrm>
            <a:off x="85050" y="1149825"/>
            <a:ext cx="8973900" cy="994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s" sz="1800">
                <a:solidFill>
                  <a:schemeClr val="dk1"/>
                </a:solidFill>
              </a:rPr>
              <a:t>El diseño de un Data Warehouse se basa en distintos modelos que estructuran la información de manera eficiente para facilitar el análisis y la toma de decisiones. Existen tres modelos principales</a:t>
            </a:r>
            <a:endParaRPr sz="1800">
              <a:solidFill>
                <a:schemeClr val="dk1"/>
              </a:solidFill>
            </a:endParaRPr>
          </a:p>
          <a:p>
            <a:pPr indent="0" lvl="0" marL="0" rtl="0" algn="just">
              <a:spcBef>
                <a:spcPts val="1200"/>
              </a:spcBef>
              <a:spcAft>
                <a:spcPts val="0"/>
              </a:spcAft>
              <a:buNone/>
            </a:pPr>
            <a:r>
              <a:t/>
            </a:r>
            <a:endParaRPr sz="1800">
              <a:solidFill>
                <a:schemeClr val="dk2"/>
              </a:solidFill>
            </a:endParaRPr>
          </a:p>
        </p:txBody>
      </p:sp>
      <p:sp>
        <p:nvSpPr>
          <p:cNvPr id="84" name="Google Shape;84;g2d8fa948c4e_0_0"/>
          <p:cNvSpPr txBox="1"/>
          <p:nvPr/>
        </p:nvSpPr>
        <p:spPr>
          <a:xfrm>
            <a:off x="38850" y="2315350"/>
            <a:ext cx="9036000" cy="282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t/>
            </a:r>
            <a:endParaRPr b="1" sz="18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s" sz="1800">
                <a:solidFill>
                  <a:schemeClr val="dk1"/>
                </a:solidFill>
              </a:rPr>
              <a:t>Esquema Estrella (Star Schema) </a:t>
            </a:r>
            <a:endParaRPr b="1"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 sz="1800">
                <a:solidFill>
                  <a:schemeClr val="dk1"/>
                </a:solidFill>
              </a:rPr>
              <a:t>Este modelo es el más simple y común. La información se organiza en una </a:t>
            </a:r>
            <a:r>
              <a:rPr b="1" lang="es" sz="1800">
                <a:solidFill>
                  <a:schemeClr val="dk1"/>
                </a:solidFill>
              </a:rPr>
              <a:t>tabla central de hechos</a:t>
            </a:r>
            <a:r>
              <a:rPr lang="es" sz="1800">
                <a:solidFill>
                  <a:schemeClr val="dk1"/>
                </a:solidFill>
              </a:rPr>
              <a:t> que se conecta con </a:t>
            </a:r>
            <a:r>
              <a:rPr b="1" lang="es" sz="1800">
                <a:solidFill>
                  <a:schemeClr val="dk1"/>
                </a:solidFill>
              </a:rPr>
              <a:t>tablas de dimensiones</a:t>
            </a:r>
            <a:r>
              <a:rPr lang="es" sz="1800">
                <a:solidFill>
                  <a:schemeClr val="dk1"/>
                </a:solidFill>
              </a:rPr>
              <a:t>.</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2d8fa948c4e_0_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0" name="Google Shape;90;g2d8fa948c4e_0_9"/>
          <p:cNvSpPr txBox="1"/>
          <p:nvPr/>
        </p:nvSpPr>
        <p:spPr>
          <a:xfrm>
            <a:off x="31075" y="940125"/>
            <a:ext cx="9051600" cy="40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91" name="Google Shape;91;g2d8fa948c4e_0_9"/>
          <p:cNvSpPr txBox="1"/>
          <p:nvPr/>
        </p:nvSpPr>
        <p:spPr>
          <a:xfrm>
            <a:off x="46625" y="854650"/>
            <a:ext cx="9005100" cy="428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s" sz="1800">
                <a:solidFill>
                  <a:schemeClr val="dk1"/>
                </a:solidFill>
              </a:rPr>
              <a:t>Tabla de hechos:</a:t>
            </a:r>
            <a:r>
              <a:rPr lang="es" sz="1800">
                <a:solidFill>
                  <a:schemeClr val="dk1"/>
                </a:solidFill>
              </a:rPr>
              <a:t> Contiene datos transaccionales (ventas, ingresos, etc.).</a:t>
            </a:r>
            <a:br>
              <a:rPr lang="es" sz="1800">
                <a:solidFill>
                  <a:schemeClr val="dk1"/>
                </a:solidFill>
              </a:rPr>
            </a:br>
            <a:r>
              <a:rPr lang="es" sz="1800">
                <a:solidFill>
                  <a:schemeClr val="dk1"/>
                </a:solidFill>
              </a:rPr>
              <a:t> </a:t>
            </a:r>
            <a:r>
              <a:rPr b="1" lang="es" sz="1800">
                <a:solidFill>
                  <a:schemeClr val="dk1"/>
                </a:solidFill>
              </a:rPr>
              <a:t>Tablas de dimensiones:</a:t>
            </a:r>
            <a:r>
              <a:rPr lang="es" sz="1800">
                <a:solidFill>
                  <a:schemeClr val="dk1"/>
                </a:solidFill>
              </a:rPr>
              <a:t> Contienen detalles descriptivos (cliente, producto, fecha, etc.).</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sz="1800">
                <a:solidFill>
                  <a:schemeClr val="dk1"/>
                </a:solidFill>
              </a:rPr>
              <a:t>Ventajas:</a:t>
            </a:r>
            <a:br>
              <a:rPr b="1" lang="es" sz="1800">
                <a:solidFill>
                  <a:schemeClr val="dk1"/>
                </a:solidFill>
              </a:rPr>
            </a:br>
            <a:r>
              <a:rPr lang="es" sz="1800">
                <a:solidFill>
                  <a:schemeClr val="dk1"/>
                </a:solidFill>
              </a:rPr>
              <a:t> ✔ Consultas rápidas y eficientes.</a:t>
            </a:r>
            <a:br>
              <a:rPr lang="es" sz="1800">
                <a:solidFill>
                  <a:schemeClr val="dk1"/>
                </a:solidFill>
              </a:rPr>
            </a:br>
            <a:r>
              <a:rPr lang="es" sz="1800">
                <a:solidFill>
                  <a:schemeClr val="dk1"/>
                </a:solidFill>
              </a:rPr>
              <a:t> ✔ Fácil de entender y administrar.</a:t>
            </a:r>
            <a:br>
              <a:rPr lang="es" sz="1800">
                <a:solidFill>
                  <a:schemeClr val="dk1"/>
                </a:solidFill>
              </a:rPr>
            </a:br>
            <a:r>
              <a:rPr lang="es" sz="1800">
                <a:solidFill>
                  <a:schemeClr val="dk1"/>
                </a:solidFill>
              </a:rPr>
              <a:t> ✔ Compatible con herramientas de BI (Power BI, Tableau).</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sz="1800">
                <a:solidFill>
                  <a:schemeClr val="dk1"/>
                </a:solidFill>
              </a:rPr>
              <a:t>Ejemplo:</a:t>
            </a:r>
            <a:br>
              <a:rPr b="1" lang="es" sz="1800">
                <a:solidFill>
                  <a:schemeClr val="dk1"/>
                </a:solidFill>
              </a:rPr>
            </a:br>
            <a:r>
              <a:rPr b="1" lang="es" sz="1800">
                <a:solidFill>
                  <a:schemeClr val="dk1"/>
                </a:solidFill>
              </a:rPr>
              <a:t>Tabla de Hechos:</a:t>
            </a:r>
            <a:r>
              <a:rPr lang="es" sz="1800">
                <a:solidFill>
                  <a:schemeClr val="dk1"/>
                </a:solidFill>
              </a:rPr>
              <a:t> Ventas (monto, cantidad vendida).</a:t>
            </a:r>
            <a:br>
              <a:rPr lang="es" sz="1800">
                <a:solidFill>
                  <a:schemeClr val="dk1"/>
                </a:solidFill>
              </a:rPr>
            </a:br>
            <a:r>
              <a:rPr b="1" lang="es" sz="1800">
                <a:solidFill>
                  <a:schemeClr val="dk1"/>
                </a:solidFill>
              </a:rPr>
              <a:t>Tablas de Dimensiones:</a:t>
            </a:r>
            <a:r>
              <a:rPr lang="es" sz="1800">
                <a:solidFill>
                  <a:schemeClr val="dk1"/>
                </a:solidFill>
              </a:rPr>
              <a:t> Cliente (nombre, ubicación), Producto (categoría, precio), Fecha (día, mes, año).</a:t>
            </a:r>
            <a:endParaRPr sz="18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92" name="Google Shape;92;g2d8fa948c4e_0_9"/>
          <p:cNvSpPr txBox="1"/>
          <p:nvPr/>
        </p:nvSpPr>
        <p:spPr>
          <a:xfrm>
            <a:off x="2548450" y="248625"/>
            <a:ext cx="3294300" cy="536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s" sz="1800">
                <a:solidFill>
                  <a:schemeClr val="dk1"/>
                </a:solidFill>
              </a:rPr>
              <a:t>Esquema Estrella</a:t>
            </a:r>
            <a:endParaRPr sz="1800">
              <a:solidFill>
                <a:schemeClr val="dk2"/>
              </a:solidFill>
            </a:endParaRPr>
          </a:p>
        </p:txBody>
      </p:sp>
      <p:sp>
        <p:nvSpPr>
          <p:cNvPr id="93" name="Google Shape;93;g2d8fa948c4e_0_9"/>
          <p:cNvSpPr txBox="1"/>
          <p:nvPr/>
        </p:nvSpPr>
        <p:spPr>
          <a:xfrm>
            <a:off x="93225" y="4716175"/>
            <a:ext cx="5982600" cy="37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https://www.youtube.com/watch?v=HvzO18fUjqY</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g2d8fa948c4e_0_1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9" name="Google Shape;99;g2d8fa948c4e_0_13"/>
          <p:cNvSpPr txBox="1"/>
          <p:nvPr/>
        </p:nvSpPr>
        <p:spPr>
          <a:xfrm>
            <a:off x="46625" y="256400"/>
            <a:ext cx="9043800" cy="47472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400"/>
              </a:spcBef>
              <a:spcAft>
                <a:spcPts val="0"/>
              </a:spcAft>
              <a:buNone/>
            </a:pPr>
            <a:r>
              <a:t/>
            </a:r>
            <a:endParaRPr b="1" sz="18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 sz="1800">
                <a:solidFill>
                  <a:schemeClr val="dk1"/>
                </a:solidFill>
              </a:rPr>
              <a:t>Esquema Copo de Nieve (Snowflake Schema)</a:t>
            </a:r>
            <a:endParaRPr b="1" sz="1800">
              <a:solidFill>
                <a:schemeClr val="dk1"/>
              </a:solidFill>
            </a:endParaRPr>
          </a:p>
          <a:p>
            <a:pPr indent="0" lvl="0" marL="0" rtl="0" algn="just">
              <a:lnSpc>
                <a:spcPct val="115000"/>
              </a:lnSpc>
              <a:spcBef>
                <a:spcPts val="1200"/>
              </a:spcBef>
              <a:spcAft>
                <a:spcPts val="0"/>
              </a:spcAft>
              <a:buNone/>
            </a:pPr>
            <a:r>
              <a:rPr lang="es" sz="1800">
                <a:solidFill>
                  <a:schemeClr val="dk1"/>
                </a:solidFill>
              </a:rPr>
              <a:t>Es una extensión del esquema estrella donde las </a:t>
            </a:r>
            <a:r>
              <a:rPr b="1" lang="es" sz="1800">
                <a:solidFill>
                  <a:schemeClr val="dk1"/>
                </a:solidFill>
              </a:rPr>
              <a:t>tablas de dimensiones están normalizadas</a:t>
            </a:r>
            <a:r>
              <a:rPr lang="es" sz="1800">
                <a:solidFill>
                  <a:schemeClr val="dk1"/>
                </a:solidFill>
              </a:rPr>
              <a:t>, es decir, divididas en subtablas para reducir redundancia.</a:t>
            </a:r>
            <a:endParaRPr sz="1800">
              <a:solidFill>
                <a:schemeClr val="dk1"/>
              </a:solidFill>
            </a:endParaRPr>
          </a:p>
          <a:p>
            <a:pPr indent="0" lvl="0" marL="0" rtl="0" algn="l">
              <a:lnSpc>
                <a:spcPct val="115000"/>
              </a:lnSpc>
              <a:spcBef>
                <a:spcPts val="1200"/>
              </a:spcBef>
              <a:spcAft>
                <a:spcPts val="0"/>
              </a:spcAft>
              <a:buNone/>
            </a:pPr>
            <a:r>
              <a:rPr b="1" lang="es" sz="1800">
                <a:solidFill>
                  <a:schemeClr val="dk1"/>
                </a:solidFill>
              </a:rPr>
              <a:t>Ventajas:</a:t>
            </a:r>
            <a:br>
              <a:rPr b="1" lang="es" sz="1800">
                <a:solidFill>
                  <a:schemeClr val="dk1"/>
                </a:solidFill>
              </a:rPr>
            </a:br>
            <a:r>
              <a:rPr lang="es" sz="1800">
                <a:solidFill>
                  <a:schemeClr val="dk1"/>
                </a:solidFill>
              </a:rPr>
              <a:t> ✔ Ahorro de espacio y reducción de redundancia.</a:t>
            </a:r>
            <a:br>
              <a:rPr lang="es" sz="1800">
                <a:solidFill>
                  <a:schemeClr val="dk1"/>
                </a:solidFill>
              </a:rPr>
            </a:br>
            <a:r>
              <a:rPr lang="es" sz="1800">
                <a:solidFill>
                  <a:schemeClr val="dk1"/>
                </a:solidFill>
              </a:rPr>
              <a:t> ✔ Útil cuando hay muchas dimensiones con datos repetitivos.</a:t>
            </a:r>
            <a:endParaRPr sz="1800">
              <a:solidFill>
                <a:schemeClr val="dk1"/>
              </a:solidFill>
            </a:endParaRPr>
          </a:p>
          <a:p>
            <a:pPr indent="0" lvl="0" marL="0" rtl="0" algn="l">
              <a:lnSpc>
                <a:spcPct val="115000"/>
              </a:lnSpc>
              <a:spcBef>
                <a:spcPts val="1200"/>
              </a:spcBef>
              <a:spcAft>
                <a:spcPts val="0"/>
              </a:spcAft>
              <a:buNone/>
            </a:pPr>
            <a:r>
              <a:rPr b="1" lang="es" sz="1800">
                <a:solidFill>
                  <a:schemeClr val="dk1"/>
                </a:solidFill>
              </a:rPr>
              <a:t>Desventajas:</a:t>
            </a:r>
            <a:br>
              <a:rPr b="1" lang="es" sz="1800">
                <a:solidFill>
                  <a:schemeClr val="dk1"/>
                </a:solidFill>
              </a:rPr>
            </a:br>
            <a:r>
              <a:rPr lang="es" sz="1800">
                <a:solidFill>
                  <a:schemeClr val="dk1"/>
                </a:solidFill>
              </a:rPr>
              <a:t> ✔</a:t>
            </a:r>
            <a:r>
              <a:rPr lang="es" sz="1800">
                <a:solidFill>
                  <a:schemeClr val="dk1"/>
                </a:solidFill>
              </a:rPr>
              <a:t> Consultas más complejas y lentas debido a múltiples uniones de tablas.</a:t>
            </a:r>
            <a:endParaRPr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sz="1800">
              <a:solidFill>
                <a:schemeClr val="dk1"/>
              </a:solidFill>
            </a:endParaRPr>
          </a:p>
          <a:p>
            <a:pPr indent="0" lvl="0" marL="0" rtl="0" algn="just">
              <a:spcBef>
                <a:spcPts val="1200"/>
              </a:spcBef>
              <a:spcAft>
                <a:spcPts val="0"/>
              </a:spcAft>
              <a:buNone/>
            </a:pPr>
            <a:r>
              <a:t/>
            </a:r>
            <a:endParaRPr sz="1800">
              <a:solidFill>
                <a:schemeClr val="dk2"/>
              </a:solidFill>
            </a:endParaRPr>
          </a:p>
        </p:txBody>
      </p:sp>
      <p:sp>
        <p:nvSpPr>
          <p:cNvPr id="100" name="Google Shape;100;g2d8fa948c4e_0_13"/>
          <p:cNvSpPr txBox="1"/>
          <p:nvPr/>
        </p:nvSpPr>
        <p:spPr>
          <a:xfrm>
            <a:off x="38850" y="4622925"/>
            <a:ext cx="6044700" cy="4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https://www.youtube.com/watch?v=8wcFCAPLQZg</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g2d8fa948c4e_0_2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6" name="Google Shape;106;g2d8fa948c4e_0_21"/>
          <p:cNvSpPr txBox="1"/>
          <p:nvPr/>
        </p:nvSpPr>
        <p:spPr>
          <a:xfrm>
            <a:off x="38850" y="792500"/>
            <a:ext cx="9059400" cy="3853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1"/>
              </a:buClr>
              <a:buSzPts val="1100"/>
              <a:buFont typeface="Arial"/>
              <a:buNone/>
            </a:pPr>
            <a:r>
              <a:rPr b="1" lang="es" sz="1800">
                <a:solidFill>
                  <a:schemeClr val="dk1"/>
                </a:solidFill>
              </a:rPr>
              <a:t>Esquema Constelación de Hechos (Fact Constellation Schema)</a:t>
            </a:r>
            <a:endParaRPr b="1" sz="18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 sz="1800">
                <a:solidFill>
                  <a:schemeClr val="dk1"/>
                </a:solidFill>
              </a:rPr>
              <a:t>Este modelo es una combinación de varios esquemas estrella y permite que múltiples tablas de hechos compartan dimensiones comunes.</a:t>
            </a:r>
            <a:endParaRPr sz="1800">
              <a:solidFill>
                <a:schemeClr val="dk1"/>
              </a:solidFill>
            </a:endParaRPr>
          </a:p>
          <a:p>
            <a:pPr indent="0" lvl="0" marL="0" rtl="0" algn="l">
              <a:lnSpc>
                <a:spcPct val="115000"/>
              </a:lnSpc>
              <a:spcBef>
                <a:spcPts val="1200"/>
              </a:spcBef>
              <a:spcAft>
                <a:spcPts val="0"/>
              </a:spcAft>
              <a:buNone/>
            </a:pPr>
            <a:r>
              <a:rPr b="1" lang="es" sz="1800">
                <a:solidFill>
                  <a:schemeClr val="dk1"/>
                </a:solidFill>
              </a:rPr>
              <a:t>Ventajas:</a:t>
            </a:r>
            <a:br>
              <a:rPr b="1" lang="es" sz="1800">
                <a:solidFill>
                  <a:schemeClr val="dk1"/>
                </a:solidFill>
              </a:rPr>
            </a:br>
            <a:r>
              <a:rPr lang="es" sz="1800">
                <a:solidFill>
                  <a:schemeClr val="dk1"/>
                </a:solidFill>
              </a:rPr>
              <a:t> ✔ Permite modelar escenarios empresariales más complejos.</a:t>
            </a:r>
            <a:br>
              <a:rPr lang="es" sz="1800">
                <a:solidFill>
                  <a:schemeClr val="dk1"/>
                </a:solidFill>
              </a:rPr>
            </a:br>
            <a:r>
              <a:rPr lang="es" sz="1800">
                <a:solidFill>
                  <a:schemeClr val="dk1"/>
                </a:solidFill>
              </a:rPr>
              <a:t> ✔ Más flexible para análisis de múltiples procesos de negocio.</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s" sz="1800">
                <a:solidFill>
                  <a:schemeClr val="dk1"/>
                </a:solidFill>
              </a:rPr>
              <a:t>Desventajas:</a:t>
            </a:r>
            <a:br>
              <a:rPr b="1" lang="es" sz="1800">
                <a:solidFill>
                  <a:schemeClr val="dk1"/>
                </a:solidFill>
              </a:rPr>
            </a:br>
            <a:r>
              <a:rPr lang="es" sz="1800">
                <a:solidFill>
                  <a:schemeClr val="dk1"/>
                </a:solidFill>
              </a:rPr>
              <a:t>  ✔ Mayor complejidad en el diseño y consultas más pesadas.</a:t>
            </a:r>
            <a:endParaRPr sz="1800">
              <a:solidFill>
                <a:schemeClr val="dk1"/>
              </a:solidFill>
            </a:endParaRPr>
          </a:p>
          <a:p>
            <a:pPr indent="0" lvl="0" marL="0" rtl="0" algn="l">
              <a:spcBef>
                <a:spcPts val="1200"/>
              </a:spcBef>
              <a:spcAft>
                <a:spcPts val="0"/>
              </a:spcAft>
              <a:buNone/>
            </a:pPr>
            <a:r>
              <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g33ef33d4d85_0_6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2" name="Google Shape;112;g33ef33d4d85_0_64"/>
          <p:cNvSpPr txBox="1"/>
          <p:nvPr/>
        </p:nvSpPr>
        <p:spPr>
          <a:xfrm>
            <a:off x="42300" y="683725"/>
            <a:ext cx="9059400" cy="4172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0"/>
              </a:spcAft>
              <a:buNone/>
            </a:pPr>
            <a:r>
              <a:rPr b="1" lang="es" sz="1800">
                <a:solidFill>
                  <a:schemeClr val="dk1"/>
                </a:solidFill>
              </a:rPr>
              <a:t>Herramientas Populares para Data Warehousing</a:t>
            </a:r>
            <a:endParaRPr b="1" sz="1800">
              <a:solidFill>
                <a:schemeClr val="dk1"/>
              </a:solidFill>
            </a:endParaRPr>
          </a:p>
          <a:p>
            <a:pPr indent="0" lvl="0" marL="0" rtl="0" algn="l">
              <a:lnSpc>
                <a:spcPct val="115000"/>
              </a:lnSpc>
              <a:spcBef>
                <a:spcPts val="1800"/>
              </a:spcBef>
              <a:spcAft>
                <a:spcPts val="0"/>
              </a:spcAft>
              <a:buNone/>
            </a:pPr>
            <a:r>
              <a:t/>
            </a:r>
            <a:endParaRPr b="1" sz="1800">
              <a:solidFill>
                <a:schemeClr val="dk1"/>
              </a:solidFill>
            </a:endParaRPr>
          </a:p>
          <a:p>
            <a:pPr indent="-342900" lvl="0" marL="457200" rtl="0" algn="l">
              <a:lnSpc>
                <a:spcPct val="115000"/>
              </a:lnSpc>
              <a:spcBef>
                <a:spcPts val="1800"/>
              </a:spcBef>
              <a:spcAft>
                <a:spcPts val="0"/>
              </a:spcAft>
              <a:buClr>
                <a:schemeClr val="dk1"/>
              </a:buClr>
              <a:buSzPts val="1800"/>
              <a:buChar char="●"/>
            </a:pPr>
            <a:r>
              <a:rPr b="1" lang="es" sz="1800">
                <a:solidFill>
                  <a:schemeClr val="dk1"/>
                </a:solidFill>
              </a:rPr>
              <a:t>Amazon Redshift – </a:t>
            </a:r>
            <a:r>
              <a:rPr lang="es" sz="1800">
                <a:solidFill>
                  <a:schemeClr val="dk1"/>
                </a:solidFill>
              </a:rPr>
              <a:t>Solución escalable en la nube.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Google BigQuery – </a:t>
            </a:r>
            <a:r>
              <a:rPr lang="es" sz="1800">
                <a:solidFill>
                  <a:schemeClr val="dk1"/>
                </a:solidFill>
              </a:rPr>
              <a:t>Análisis rápido y eficiente con Big Data.</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Microsoft Azure Synapse Analytics – </a:t>
            </a:r>
            <a:r>
              <a:rPr lang="es" sz="1800">
                <a:solidFill>
                  <a:schemeClr val="dk1"/>
                </a:solidFill>
              </a:rPr>
              <a:t>Integración con herramientas de BI.</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Snowflake – </a:t>
            </a:r>
            <a:r>
              <a:rPr lang="es" sz="1800">
                <a:solidFill>
                  <a:schemeClr val="dk1"/>
                </a:solidFill>
              </a:rPr>
              <a:t>Plataforma en la nube con alta disponibilidad.</a:t>
            </a:r>
            <a:endParaRPr sz="1800">
              <a:solidFill>
                <a:schemeClr val="dk1"/>
              </a:solidFill>
            </a:endParaRPr>
          </a:p>
          <a:p>
            <a:pPr indent="0" lvl="0" marL="0" rtl="0" algn="l">
              <a:lnSpc>
                <a:spcPct val="115000"/>
              </a:lnSpc>
              <a:spcBef>
                <a:spcPts val="1800"/>
              </a:spcBef>
              <a:spcAft>
                <a:spcPts val="0"/>
              </a:spcAft>
              <a:buNone/>
            </a:pPr>
            <a:r>
              <a:t/>
            </a:r>
            <a:endParaRPr b="1"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0" lvl="0" marL="0" rtl="0" algn="l">
              <a:spcBef>
                <a:spcPts val="1200"/>
              </a:spcBef>
              <a:spcAft>
                <a:spcPts val="0"/>
              </a:spcAft>
              <a:buNone/>
            </a:pPr>
            <a:r>
              <a:t/>
            </a:r>
            <a:endParaRPr b="1"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2d8fa948c4e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8" name="Google Shape;118;g2d8fa948c4e_0_25"/>
          <p:cNvSpPr txBox="1"/>
          <p:nvPr/>
        </p:nvSpPr>
        <p:spPr>
          <a:xfrm>
            <a:off x="2237650" y="240850"/>
            <a:ext cx="4079100" cy="6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Tipos de Datos de Data Warehouse</a:t>
            </a:r>
            <a:endParaRPr b="1" sz="1800">
              <a:solidFill>
                <a:schemeClr val="dk1"/>
              </a:solidFill>
            </a:endParaRPr>
          </a:p>
        </p:txBody>
      </p:sp>
      <p:sp>
        <p:nvSpPr>
          <p:cNvPr id="119" name="Google Shape;119;g2d8fa948c4e_0_25"/>
          <p:cNvSpPr txBox="1"/>
          <p:nvPr/>
        </p:nvSpPr>
        <p:spPr>
          <a:xfrm>
            <a:off x="42300" y="683725"/>
            <a:ext cx="9059400" cy="417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800">
              <a:solidFill>
                <a:schemeClr val="dk1"/>
              </a:solidFill>
            </a:endParaRPr>
          </a:p>
          <a:p>
            <a:pPr indent="0" lvl="0" marL="0" rtl="0" algn="ctr">
              <a:spcBef>
                <a:spcPts val="0"/>
              </a:spcBef>
              <a:spcAft>
                <a:spcPts val="0"/>
              </a:spcAft>
              <a:buNone/>
            </a:pPr>
            <a:r>
              <a:rPr b="1" lang="es" sz="1800">
                <a:solidFill>
                  <a:schemeClr val="dk1"/>
                </a:solidFill>
              </a:rPr>
              <a:t>Enterprise Data Warehouse</a:t>
            </a:r>
            <a:r>
              <a:rPr lang="es" sz="1800">
                <a:solidFill>
                  <a:schemeClr val="dk1"/>
                </a:solidFill>
              </a:rPr>
              <a:t> </a:t>
            </a:r>
            <a:endParaRPr sz="1800">
              <a:solidFill>
                <a:schemeClr val="dk1"/>
              </a:solidFill>
            </a:endParaRPr>
          </a:p>
          <a:p>
            <a:pPr indent="0" lvl="0" marL="0" rtl="0" algn="ctr">
              <a:spcBef>
                <a:spcPts val="0"/>
              </a:spcBef>
              <a:spcAft>
                <a:spcPts val="0"/>
              </a:spcAft>
              <a:buNone/>
            </a:pPr>
            <a:r>
              <a:t/>
            </a:r>
            <a:endParaRPr sz="1800">
              <a:solidFill>
                <a:schemeClr val="dk1"/>
              </a:solidFill>
            </a:endParaRPr>
          </a:p>
          <a:p>
            <a:pPr indent="0" lvl="0" marL="0" rtl="0" algn="ctr">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Es un almacenamiento de datos centralizado, unifica toda la información de una organización para que toda la empresa pueda tener acceso. Ofrece un servicio en el que apoya la toma de decisiones en la empresa. Se enfoca principalmente en organizar y representar los datos, también se obtiene la capacidad de clasificar los datos según el usuario y dar acceso de acuerdo a las restricciones internas.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g2d8fa948c4e_0_2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25" name="Google Shape;125;g2d8fa948c4e_0_29"/>
          <p:cNvPicPr preferRelativeResize="0"/>
          <p:nvPr/>
        </p:nvPicPr>
        <p:blipFill>
          <a:blip r:embed="rId4">
            <a:alphaModFix/>
          </a:blip>
          <a:stretch>
            <a:fillRect/>
          </a:stretch>
        </p:blipFill>
        <p:spPr>
          <a:xfrm>
            <a:off x="77700" y="745875"/>
            <a:ext cx="8973926" cy="4397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g2d8fa948c4e_0_1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1" name="Google Shape;131;g2d8fa948c4e_0_17"/>
          <p:cNvSpPr txBox="1"/>
          <p:nvPr/>
        </p:nvSpPr>
        <p:spPr>
          <a:xfrm>
            <a:off x="46625" y="776975"/>
            <a:ext cx="9012900" cy="376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Operational Data Store (ODS)</a:t>
            </a:r>
            <a:endParaRPr b="1" sz="1800">
              <a:solidFill>
                <a:schemeClr val="dk1"/>
              </a:solidFill>
            </a:endParaRPr>
          </a:p>
          <a:p>
            <a:pPr indent="0" lvl="0" marL="0" rtl="0" algn="ctr">
              <a:spcBef>
                <a:spcPts val="0"/>
              </a:spcBef>
              <a:spcAft>
                <a:spcPts val="0"/>
              </a:spcAft>
              <a:buNone/>
            </a:pPr>
            <a:r>
              <a:t/>
            </a:r>
            <a:endParaRPr b="1"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También conocido como ODS, es un almacén de datos, que cuando el almacenamiento de datos y los sistemas OLTP no admiten las necesidades de los informes de las organizaciones. En ODS, todo el almacenamiento de datos se actualiza en tiempo real y/o con baja latencia de actualización, y por eso mismo se utiliza habitualmente para actividades rutinarias, como es el almacenamiento de registros de la operación de la empresa y transacciones de venta. En pocas palabras, es un tipo de base de datos que se utiliza habitualmente como un área lógica provisional para un almacén de datos.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g2d8fa948c4e_0_3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37" name="Google Shape;137;g2d8fa948c4e_0_33"/>
          <p:cNvPicPr preferRelativeResize="0"/>
          <p:nvPr/>
        </p:nvPicPr>
        <p:blipFill>
          <a:blip r:embed="rId4">
            <a:alphaModFix/>
          </a:blip>
          <a:stretch>
            <a:fillRect/>
          </a:stretch>
        </p:blipFill>
        <p:spPr>
          <a:xfrm>
            <a:off x="8450" y="742925"/>
            <a:ext cx="9127100" cy="4400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g2dcf99f76a9_0_3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3" name="Google Shape;143;g2dcf99f76a9_0_39"/>
          <p:cNvSpPr txBox="1"/>
          <p:nvPr/>
        </p:nvSpPr>
        <p:spPr>
          <a:xfrm>
            <a:off x="7775" y="745875"/>
            <a:ext cx="9082800" cy="418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Data Mart</a:t>
            </a:r>
            <a:endParaRPr b="1" sz="1800">
              <a:solidFill>
                <a:schemeClr val="dk1"/>
              </a:solidFill>
            </a:endParaRPr>
          </a:p>
          <a:p>
            <a:pPr indent="0" lvl="0" marL="0" rtl="0" algn="ctr">
              <a:spcBef>
                <a:spcPts val="0"/>
              </a:spcBef>
              <a:spcAft>
                <a:spcPts val="0"/>
              </a:spcAft>
              <a:buNone/>
            </a:pPr>
            <a:r>
              <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Un Data Mart es un subconjunto del almacenamiento de datos orientado a un área específica, también conocido como base de información departamental. Está especialmente diseñado para una línea de negocio particular, como ventas o finanzas. En un Data Mart independiente, los datos pueden recopilarse directamente de las fuentes. Tiene diversas funciones como organizar la información para posteriormente analizarla, realizar indicadores (KPI), evaluar los objetivos del sector que se está analizando, etc. El objetivo es realizar un análisis detallado sobre lo que ocurre en un negocio.</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g2d8fa948c4e_0_4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9" name="Google Shape;149;g2d8fa948c4e_0_41"/>
          <p:cNvSpPr txBox="1"/>
          <p:nvPr/>
        </p:nvSpPr>
        <p:spPr>
          <a:xfrm>
            <a:off x="15550" y="730350"/>
            <a:ext cx="90438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50" name="Google Shape;150;g2d8fa948c4e_0_41"/>
          <p:cNvPicPr preferRelativeResize="0"/>
          <p:nvPr/>
        </p:nvPicPr>
        <p:blipFill>
          <a:blip r:embed="rId4">
            <a:alphaModFix/>
          </a:blip>
          <a:stretch>
            <a:fillRect/>
          </a:stretch>
        </p:blipFill>
        <p:spPr>
          <a:xfrm>
            <a:off x="62150" y="1133475"/>
            <a:ext cx="8997200" cy="3792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g2d8fa948c4e_0_3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6" name="Google Shape;156;g2d8fa948c4e_0_37"/>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g2d8fa948c4e_0_37"/>
          <p:cNvSpPr txBox="1"/>
          <p:nvPr/>
        </p:nvSpPr>
        <p:spPr>
          <a:xfrm>
            <a:off x="46625" y="800275"/>
            <a:ext cx="9043800" cy="411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800">
              <a:solidFill>
                <a:schemeClr val="dk1"/>
              </a:solidFill>
            </a:endParaRPr>
          </a:p>
          <a:p>
            <a:pPr indent="0" lvl="0" marL="0" rtl="0" algn="ctr">
              <a:spcBef>
                <a:spcPts val="0"/>
              </a:spcBef>
              <a:spcAft>
                <a:spcPts val="0"/>
              </a:spcAft>
              <a:buNone/>
            </a:pPr>
            <a:r>
              <a:rPr b="1" lang="es" sz="1800">
                <a:solidFill>
                  <a:schemeClr val="dk1"/>
                </a:solidFill>
              </a:rPr>
              <a:t>Data Lake</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Es un repositorio centrado en almacenar gran cantidad de datos estructurados y sin estructurar sin importar su escala. Permite almacenar los datos tal cual vienen sin necesidad de ser estructurados. Ejecuta diferentes tipos de análisis, dashboards y visualizaciones, además de generar procesos de big data, análisis en tiempo real y de Machine Learning que facilitan la toma de decisiones.</a:t>
            </a:r>
            <a:endParaRPr sz="18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39a09cea51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63" name="Google Shape;163;g339a09cea51_0_0"/>
          <p:cNvPicPr preferRelativeResize="0"/>
          <p:nvPr/>
        </p:nvPicPr>
        <p:blipFill>
          <a:blip r:embed="rId4">
            <a:alphaModFix/>
          </a:blip>
          <a:stretch>
            <a:fillRect/>
          </a:stretch>
        </p:blipFill>
        <p:spPr>
          <a:xfrm>
            <a:off x="8450" y="761425"/>
            <a:ext cx="9127100" cy="425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39a09cea51_0_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9" name="Google Shape;169;g339a09cea51_0_5"/>
          <p:cNvSpPr txBox="1"/>
          <p:nvPr/>
        </p:nvSpPr>
        <p:spPr>
          <a:xfrm>
            <a:off x="2470750" y="178700"/>
            <a:ext cx="3605100" cy="4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2"/>
                </a:solidFill>
              </a:rPr>
              <a:t>Flujo de Integración Data Warehouse</a:t>
            </a:r>
            <a:endParaRPr b="1" sz="1800">
              <a:solidFill>
                <a:schemeClr val="dk2"/>
              </a:solidFill>
            </a:endParaRPr>
          </a:p>
        </p:txBody>
      </p:sp>
      <p:sp>
        <p:nvSpPr>
          <p:cNvPr id="170" name="Google Shape;170;g339a09cea51_0_5"/>
          <p:cNvSpPr txBox="1"/>
          <p:nvPr/>
        </p:nvSpPr>
        <p:spPr>
          <a:xfrm>
            <a:off x="7775" y="901275"/>
            <a:ext cx="9075000" cy="413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Todas las estructuras de datos son importantes y cuentan con una gran funcionalidad según sus respectivos propósitos y perfiles de usuario. Por lo que es necesario comprender las diferencias y similitudes de cada una, para así poder identificar cual se adapta mejor a las necesidades de cada empresa o bien si se requiere de una estructura de Data Warehouse íntegra para satisfacer los requerimientos.</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implementación de un Data Warehouse en las empresas es de suma importancia, ya que permite a los usuarios acceder de una manera fácil a una gran cantidad de datos, analizarlos y proporcionar información importante sobre las diversas actividades de la organización.</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339a09cea51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6" name="Google Shape;176;g339a09cea51_0_10"/>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77" name="Google Shape;177;g339a09cea51_0_10"/>
          <p:cNvPicPr preferRelativeResize="0"/>
          <p:nvPr/>
        </p:nvPicPr>
        <p:blipFill>
          <a:blip r:embed="rId4">
            <a:alphaModFix/>
          </a:blip>
          <a:stretch>
            <a:fillRect/>
          </a:stretch>
        </p:blipFill>
        <p:spPr>
          <a:xfrm>
            <a:off x="8450" y="411800"/>
            <a:ext cx="9089799" cy="4731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